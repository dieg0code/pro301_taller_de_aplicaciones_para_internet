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notesMasterIdLst>
    <p:notesMasterId r:id="rId7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notesMaster" Target="notesMasters/notesMaster1.xml"/><Relationship Id="rId71" Type="http://schemas.openxmlformats.org/officeDocument/2006/relationships/presProps" Target="presProps.xml"/><Relationship Id="rId72" Type="http://schemas.openxmlformats.org/officeDocument/2006/relationships/viewProps" Target="viewProps.xml"/><Relationship Id="rId73" Type="http://schemas.openxmlformats.org/officeDocument/2006/relationships/theme" Target="theme/theme1.xml"/><Relationship Id="rId7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image" Target="../media/image-57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image" Target="../media/image-59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.agent\skills\slides-aiep\assets\logo-ai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566928"/>
            <a:ext cx="109728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1912925"/>
            <a:ext cx="256032" cy="58887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1910" y="1682496"/>
            <a:ext cx="307238" cy="81930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70355" y="1912925"/>
            <a:ext cx="256032" cy="58887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2578608"/>
            <a:ext cx="938174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Construcción de APIs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Profesionales e Interoperabilidad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04672" y="4041648"/>
            <a:ext cx="9381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06 · Clase 18: El puente moderno con Python 3.12 y FastAPI.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796528" y="5321808"/>
            <a:ext cx="749808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9" name="Image 1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Contexto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Ruta de la Semana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la arqueología a la integración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de trabajo con agentes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2919984" cy="3383280"/>
          </a:xfrm>
          <a:prstGeom prst="roundRect">
            <a:avLst>
              <a:gd name="adj" fmla="val 125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42416" y="2724912"/>
            <a:ext cx="91440" cy="3127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88720" y="2724912"/>
            <a:ext cx="310896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88720" y="277063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60" dirty="0"/>
          </a:p>
        </p:txBody>
      </p:sp>
      <p:sp>
        <p:nvSpPr>
          <p:cNvPr id="17" name="Text 14"/>
          <p:cNvSpPr/>
          <p:nvPr/>
        </p:nvSpPr>
        <p:spPr>
          <a:xfrm>
            <a:off x="1572768" y="2724912"/>
            <a:ext cx="2170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LUNES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1188720" y="3072384"/>
            <a:ext cx="2572512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Arqueología Técnica: Entendiendo el caos funcional del legado.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3907536" y="4178808"/>
            <a:ext cx="91440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035552" y="2596896"/>
            <a:ext cx="2919984" cy="3383280"/>
          </a:xfrm>
          <a:prstGeom prst="roundRect">
            <a:avLst>
              <a:gd name="adj" fmla="val 125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26992" y="2724912"/>
            <a:ext cx="91440" cy="3127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273296" y="2724912"/>
            <a:ext cx="310896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73296" y="277063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60" dirty="0"/>
          </a:p>
        </p:txBody>
      </p:sp>
      <p:sp>
        <p:nvSpPr>
          <p:cNvPr id="24" name="Text 21"/>
          <p:cNvSpPr/>
          <p:nvPr/>
        </p:nvSpPr>
        <p:spPr>
          <a:xfrm>
            <a:off x="4657344" y="2724912"/>
            <a:ext cx="2170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MARTES</a:t>
            </a:r>
            <a:endParaRPr lang="en-US" sz="1420" dirty="0"/>
          </a:p>
        </p:txBody>
      </p:sp>
      <p:sp>
        <p:nvSpPr>
          <p:cNvPr id="25" name="Text 22"/>
          <p:cNvSpPr/>
          <p:nvPr/>
        </p:nvSpPr>
        <p:spPr>
          <a:xfrm>
            <a:off x="4273296" y="3072384"/>
            <a:ext cx="2572512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 MVC: Ordenando las capas lógicas del sistema.</a:t>
            </a:r>
            <a:endParaRPr lang="en-US" sz="1040" dirty="0"/>
          </a:p>
        </p:txBody>
      </p:sp>
      <p:sp>
        <p:nvSpPr>
          <p:cNvPr id="26" name="Shape 23"/>
          <p:cNvSpPr/>
          <p:nvPr/>
        </p:nvSpPr>
        <p:spPr>
          <a:xfrm>
            <a:off x="6992112" y="4178808"/>
            <a:ext cx="91440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20128" y="2596896"/>
            <a:ext cx="2919984" cy="3383280"/>
          </a:xfrm>
          <a:prstGeom prst="roundRect">
            <a:avLst>
              <a:gd name="adj" fmla="val 125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211568" y="2724912"/>
            <a:ext cx="91440" cy="31272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357872" y="2724912"/>
            <a:ext cx="310896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357872" y="277063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60" dirty="0"/>
          </a:p>
        </p:txBody>
      </p:sp>
      <p:sp>
        <p:nvSpPr>
          <p:cNvPr id="31" name="Text 28"/>
          <p:cNvSpPr/>
          <p:nvPr/>
        </p:nvSpPr>
        <p:spPr>
          <a:xfrm>
            <a:off x="7741920" y="2724912"/>
            <a:ext cx="2170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HOY</a:t>
            </a:r>
            <a:endParaRPr lang="en-US" sz="1420" dirty="0"/>
          </a:p>
        </p:txBody>
      </p:sp>
      <p:sp>
        <p:nvSpPr>
          <p:cNvPr id="32" name="Text 29"/>
          <p:cNvSpPr/>
          <p:nvPr/>
        </p:nvSpPr>
        <p:spPr>
          <a:xfrm>
            <a:off x="7357872" y="3072384"/>
            <a:ext cx="2572512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Interoperabilidad: Exponiendo servicios modernos con FastAPI.</a:t>
            </a:r>
            <a:endParaRPr lang="en-US" sz="10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Visión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FastAPI en 2026?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allá de la moda: Estándar de Industria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Ventajas Competitivas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42032"/>
            <a:ext cx="2907792" cy="3383280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670048"/>
            <a:ext cx="73152" cy="3127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68833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Alto Rendimiento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980944"/>
            <a:ext cx="1956816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Basado en Starlette y Pydantic. Uno de los más rápidos en Python.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4041648" y="2542032"/>
            <a:ext cx="2907792" cy="3383280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51376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51376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4663440" y="2670048"/>
            <a:ext cx="73152" cy="3127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64608" y="268833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Tipado Estricto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4864608" y="2980944"/>
            <a:ext cx="1956816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Python 3.12 para eliminar errores de tipo en la frontera.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7132320" y="2542032"/>
            <a:ext cx="2907792" cy="3383280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242048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42048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7754112" y="2670048"/>
            <a:ext cx="73152" cy="31272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55280" y="268833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Auto-OpenAPI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7955280" y="2980944"/>
            <a:ext cx="1956816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documentación es un contrato vivo generado por el código.</a:t>
            </a:r>
            <a:endParaRPr lang="en-US" sz="10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Ingeniería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Axioma de Integridad Técnica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Envolviendo el pasado, protegiendo el futuro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2286000"/>
          </a:xfrm>
          <a:prstGeom prst="roundRect">
            <a:avLst>
              <a:gd name="adj" fmla="val 32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borramos el legado; lo dignificamos envolviéndolo en una capa de seguridad y modernidad que permite la interoperabilidad.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Objetivos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Objetivos de la Sesión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Nuestra misión técnica hoy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lograremos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PYDN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Contratos de Datos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Dominar Pydantic y el tipado de Python 3.12 para validación.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08776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CRUD Semántico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09944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Implementar ruteo profesional con Status Codes correctos.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CYBR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572768" y="4443984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73936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Blindaje de APIs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773936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Aplicar criterios de ciberseguridad en la entrada y salida.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SWGR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208776" y="4443984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9944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Documentación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409944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Consumir y validar contratos mediante OpenAPI (Swagger).</a:t>
            </a:r>
            <a:endParaRPr lang="en-US" sz="10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Mapa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de Aprendizaje: Hoy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Bloques de Alta Densidad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3291840"/>
            <a:ext cx="2194560" cy="2560320"/>
          </a:xfrm>
          <a:prstGeom prst="roundRect">
            <a:avLst>
              <a:gd name="adj" fmla="val 1250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3401568"/>
            <a:ext cx="100584" cy="23408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341985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60704" y="3694176"/>
            <a:ext cx="186537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 y Pydantic.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182112" y="3291840"/>
            <a:ext cx="2194560" cy="25603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55264" y="3401568"/>
            <a:ext cx="100584" cy="2340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38144" y="341985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438144" y="3694176"/>
            <a:ext cx="186537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 y Status Codes.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559552" y="3291840"/>
            <a:ext cx="2194560" cy="25603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32704" y="3401568"/>
            <a:ext cx="100584" cy="2340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15584" y="341985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815584" y="3694176"/>
            <a:ext cx="186537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 Cyber y Blindaje.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936992" y="3291840"/>
            <a:ext cx="2194560" cy="25603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10144" y="3401568"/>
            <a:ext cx="100584" cy="2340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93024" y="341985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193024" y="3694176"/>
            <a:ext cx="186537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y Swagger.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Importante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Hacia la Evaluación Parcial 2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Lunes 27 de Abril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32004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157984"/>
            <a:ext cx="109728" cy="29443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139696"/>
            <a:ext cx="9034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ADVERTENCIA DE INGENIERÍA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60704" y="2487168"/>
            <a:ext cx="9034272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 lo construido hoy es la pieza final del examen. El lunes no evaluamos código suelto, evaluamos la arquitectura de integración completa: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LEGADO  ──▶  MVC (Repository)  ──▶  API (FastAPI)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097280" y="54864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Foco de Evaluación: Flujo de datos seguro e interoperabilidad real.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621792"/>
            <a:ext cx="1207008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65836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</a:t>
            </a:r>
            <a:endParaRPr lang="en-US" sz="1060" dirty="0"/>
          </a:p>
        </p:txBody>
      </p:sp>
      <p:sp>
        <p:nvSpPr>
          <p:cNvPr id="6" name="Shape 3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956816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Contrato de Datos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04672" y="265176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Fundamentos de FastAPI 3.12 y Validación con Pydantic.</a:t>
            </a:r>
            <a:endParaRPr lang="en-US" sz="15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Cambio de Paradigma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'Ojalá' al 'Contrato'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manejamos la entrada?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78608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42416" y="2688336"/>
            <a:ext cx="91440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88720" y="2706624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88720" y="275234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1188720" y="29992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servidor acepta cualquier $_POST y reza para que esté bien.</a:t>
            </a:r>
            <a:endParaRPr lang="en-US" sz="1380" dirty="0"/>
          </a:p>
        </p:txBody>
      </p:sp>
      <p:sp>
        <p:nvSpPr>
          <p:cNvPr id="18" name="Text 15"/>
          <p:cNvSpPr/>
          <p:nvPr/>
        </p:nvSpPr>
        <p:spPr>
          <a:xfrm>
            <a:off x="1188720" y="3383280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Bugs en producción y validaciones manuales infinitas.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5596128" y="2578608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87568" y="2688336"/>
            <a:ext cx="91440" cy="13898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833872" y="2706624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33872" y="275234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5833872" y="29992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servidor define un Contrato (Schema) antes de ejecutar nada.</a:t>
            </a:r>
            <a:endParaRPr lang="en-US" sz="1380" dirty="0"/>
          </a:p>
        </p:txBody>
      </p:sp>
      <p:sp>
        <p:nvSpPr>
          <p:cNvPr id="24" name="Text 21"/>
          <p:cNvSpPr/>
          <p:nvPr/>
        </p:nvSpPr>
        <p:spPr>
          <a:xfrm>
            <a:off x="5833872" y="3383280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Rechazo automático (422) si el dato no cumple el estándar.</a:t>
            </a:r>
            <a:endParaRPr lang="en-US" sz="1040" dirty="0"/>
          </a:p>
        </p:txBody>
      </p:sp>
      <p:sp>
        <p:nvSpPr>
          <p:cNvPr id="25" name="Shape 22"/>
          <p:cNvSpPr/>
          <p:nvPr/>
        </p:nvSpPr>
        <p:spPr>
          <a:xfrm>
            <a:off x="950976" y="4370832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42416" y="4480560"/>
            <a:ext cx="91440" cy="13898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88720" y="4498848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88720" y="454456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</a:t>
            </a:r>
            <a:endParaRPr lang="en-US" sz="880" dirty="0"/>
          </a:p>
        </p:txBody>
      </p:sp>
      <p:sp>
        <p:nvSpPr>
          <p:cNvPr id="29" name="Text 26"/>
          <p:cNvSpPr/>
          <p:nvPr/>
        </p:nvSpPr>
        <p:spPr>
          <a:xfrm>
            <a:off x="1188720" y="479145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 dentro de la lógica de negocio.</a:t>
            </a:r>
            <a:endParaRPr lang="en-US" sz="1380" dirty="0"/>
          </a:p>
        </p:txBody>
      </p:sp>
      <p:sp>
        <p:nvSpPr>
          <p:cNvPr id="30" name="Text 27"/>
          <p:cNvSpPr/>
          <p:nvPr/>
        </p:nvSpPr>
        <p:spPr>
          <a:xfrm>
            <a:off x="1188720" y="5175504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en la frontera del sistema (FastAPI Layer).</a:t>
            </a:r>
            <a:endParaRPr lang="en-US" sz="10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Pydantic: El Guardia de Seguridad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Analogía de Proceso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en la Frontera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3685032" cy="3383280"/>
          </a:xfrm>
          <a:prstGeom prst="roundRect">
            <a:avLst>
              <a:gd name="adj" fmla="val 108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724912"/>
            <a:ext cx="109728" cy="3127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Legacy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Interna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261872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53312" y="346100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9616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Entras al club.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61872" y="3749040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53312" y="3863340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99616" y="3794760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Llegas a la barra.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261872" y="415137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53312" y="426567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99616" y="419709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barman te pide ID.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261872" y="4553712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353312" y="4668012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499616" y="459943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 gastaste recursos.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55080" y="2596896"/>
            <a:ext cx="3685032" cy="3383280"/>
          </a:xfrm>
          <a:prstGeom prst="roundRect">
            <a:avLst>
              <a:gd name="adj" fmla="val 108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64808" y="2724912"/>
            <a:ext cx="109728" cy="3127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65976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FastAPI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665976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Externa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6665976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57416" y="346100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Pydantic pide ID en la puerta.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65976" y="3749040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57416" y="3863340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03720" y="3794760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es falso, no entras.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665976" y="415137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757416" y="426567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903720" y="419709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servidor no gasta CPU.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665976" y="4553712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757416" y="466801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903720" y="459943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 lógica está a salvo.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892040" y="3474720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001768" y="3621024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074920" y="4041648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056632" y="366674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vs</a:t>
            </a:r>
            <a:endParaRPr lang="en-US" sz="1060" dirty="0"/>
          </a:p>
        </p:txBody>
      </p:sp>
      <p:sp>
        <p:nvSpPr>
          <p:cNvPr id="49" name="Text 46"/>
          <p:cNvSpPr/>
          <p:nvPr/>
        </p:nvSpPr>
        <p:spPr>
          <a:xfrm>
            <a:off x="5020056" y="445312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Eficiencia</a:t>
            </a:r>
            <a:endParaRPr lang="en-US" sz="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3.12: Tipado Estricto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Nuestra primera defensa técnica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Sintaxis Moderna y Segura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Anatomía de un Schema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Definiendo el contrato del recurso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BaseModel y Field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Cyber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 Cyber: Type Confusion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Defensa por Diseño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157984"/>
            <a:ext cx="109728" cy="15727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139696"/>
            <a:ext cx="9034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Blindaje de Parámetros de Ruta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60704" y="2487168"/>
            <a:ext cx="903427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declaramos un ID como 'int', FastAPI rechaza inyecciones de strings (como ' OR 1=1 --) en la capa de red. El atacante no llega a tocar la base de datos.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4672" y="4041648"/>
            <a:ext cx="9381744" cy="2139696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32688" y="416966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42416" y="424281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Cadena de Custodia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950976" y="4553712"/>
            <a:ext cx="2907792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60704" y="468172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60704" y="472744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1572768" y="4681728"/>
            <a:ext cx="73152" cy="11155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773936" y="470001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Recibe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773936" y="4992624"/>
            <a:ext cx="19568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Petición HTTP.</a:t>
            </a:r>
            <a:endParaRPr lang="en-US" sz="1060" dirty="0"/>
          </a:p>
        </p:txBody>
      </p:sp>
      <p:sp>
        <p:nvSpPr>
          <p:cNvPr id="23" name="Shape 20"/>
          <p:cNvSpPr/>
          <p:nvPr/>
        </p:nvSpPr>
        <p:spPr>
          <a:xfrm>
            <a:off x="4041648" y="4553712"/>
            <a:ext cx="2907792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51376" y="468172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51376" y="472744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4663440" y="4681728"/>
            <a:ext cx="73152" cy="11155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64608" y="470001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Tipea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4864608" y="4992624"/>
            <a:ext cx="19568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 vs Schema.</a:t>
            </a:r>
            <a:endParaRPr lang="en-US" sz="1060" dirty="0"/>
          </a:p>
        </p:txBody>
      </p:sp>
      <p:sp>
        <p:nvSpPr>
          <p:cNvPr id="29" name="Shape 26"/>
          <p:cNvSpPr/>
          <p:nvPr/>
        </p:nvSpPr>
        <p:spPr>
          <a:xfrm>
            <a:off x="7132320" y="4553712"/>
            <a:ext cx="2907792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242048" y="468172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242048" y="472744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7754112" y="4681728"/>
            <a:ext cx="73152" cy="11155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955280" y="470001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Ejecuta</a:t>
            </a:r>
            <a:endParaRPr lang="en-US" sz="1360" dirty="0"/>
          </a:p>
        </p:txBody>
      </p:sp>
      <p:sp>
        <p:nvSpPr>
          <p:cNvPr id="34" name="Text 31"/>
          <p:cNvSpPr/>
          <p:nvPr/>
        </p:nvSpPr>
        <p:spPr>
          <a:xfrm>
            <a:off x="7955280" y="4992624"/>
            <a:ext cx="19568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Lógica de Negocio.</a:t>
            </a:r>
            <a:endParaRPr lang="en-US" sz="10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Error 422: Unprocessable Entity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Anatomía de un rechazo exitoso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automática de FastAPI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IA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Huella IA: Generación de Contratos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Metodología Agentic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078224"/>
          </a:xfrm>
          <a:prstGeom prst="roundRect">
            <a:avLst>
              <a:gd name="adj" fmla="val 89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Mapeando el Legado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4462272" cy="3072384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50976" y="2596896"/>
            <a:ext cx="73152" cy="30723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15568" y="2743200"/>
            <a:ext cx="4151376" cy="310896"/>
          </a:xfrm>
          <a:prstGeom prst="roundRect">
            <a:avLst>
              <a:gd name="adj" fmla="val 882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07008" y="2816352"/>
            <a:ext cx="3968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Débil</a:t>
            </a:r>
            <a:endParaRPr lang="en-US" sz="1180" dirty="0"/>
          </a:p>
        </p:txBody>
      </p:sp>
      <p:sp>
        <p:nvSpPr>
          <p:cNvPr id="17" name="Text 14"/>
          <p:cNvSpPr/>
          <p:nvPr/>
        </p:nvSpPr>
        <p:spPr>
          <a:xfrm>
            <a:off x="1152144" y="3127248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contexto técnico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1115568" y="3383280"/>
            <a:ext cx="4151376" cy="932688"/>
          </a:xfrm>
          <a:prstGeom prst="roundRect">
            <a:avLst>
              <a:gd name="adj" fmla="val 392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25296" y="34930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'Hazme un esquema para una tabla de usuarios'.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1170432" y="4599432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80160" y="448056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Esquema genérico.</a:t>
            </a:r>
            <a:endParaRPr lang="en-US" sz="740" dirty="0"/>
          </a:p>
        </p:txBody>
      </p:sp>
      <p:sp>
        <p:nvSpPr>
          <p:cNvPr id="22" name="Shape 19"/>
          <p:cNvSpPr/>
          <p:nvPr/>
        </p:nvSpPr>
        <p:spPr>
          <a:xfrm>
            <a:off x="1170432" y="4965192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80160" y="484632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Tipos de datos adivinados.</a:t>
            </a:r>
            <a:endParaRPr lang="en-US" sz="740" dirty="0"/>
          </a:p>
        </p:txBody>
      </p:sp>
      <p:sp>
        <p:nvSpPr>
          <p:cNvPr id="24" name="Shape 21"/>
          <p:cNvSpPr/>
          <p:nvPr/>
        </p:nvSpPr>
        <p:spPr>
          <a:xfrm>
            <a:off x="1170432" y="5330952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80160" y="521208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validaciones reales.</a:t>
            </a:r>
            <a:endParaRPr lang="en-US" sz="740" dirty="0"/>
          </a:p>
        </p:txBody>
      </p:sp>
      <p:sp>
        <p:nvSpPr>
          <p:cNvPr id="26" name="Shape 23"/>
          <p:cNvSpPr/>
          <p:nvPr/>
        </p:nvSpPr>
        <p:spPr>
          <a:xfrm>
            <a:off x="5577840" y="2596896"/>
            <a:ext cx="4462272" cy="3072384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577840" y="2596896"/>
            <a:ext cx="73152" cy="30723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742432" y="2743200"/>
            <a:ext cx="4151376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33872" y="2816352"/>
            <a:ext cx="3968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de Ingeniería</a:t>
            </a:r>
            <a:endParaRPr lang="en-US" sz="1180" dirty="0"/>
          </a:p>
        </p:txBody>
      </p:sp>
      <p:sp>
        <p:nvSpPr>
          <p:cNvPr id="30" name="Text 27"/>
          <p:cNvSpPr/>
          <p:nvPr/>
        </p:nvSpPr>
        <p:spPr>
          <a:xfrm>
            <a:off x="5779008" y="3127248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Basado en Especificación</a:t>
            </a:r>
            <a:endParaRPr lang="en-US" sz="780" dirty="0"/>
          </a:p>
        </p:txBody>
      </p:sp>
      <p:sp>
        <p:nvSpPr>
          <p:cNvPr id="31" name="Shape 28"/>
          <p:cNvSpPr/>
          <p:nvPr/>
        </p:nvSpPr>
        <p:spPr>
          <a:xfrm>
            <a:off x="5742432" y="3383280"/>
            <a:ext cx="4151376" cy="932688"/>
          </a:xfrm>
          <a:prstGeom prst="roundRect">
            <a:avLst>
              <a:gd name="adj" fmla="val 392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52160" y="34930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'Analiza esta tabla SQL legacy (adjunta). Genera un esquema de Pydantic v2.7 usando tipado de Python 3.12 y validando rangos para los IDs'.</a:t>
            </a:r>
            <a:endParaRPr lang="en-US" sz="780" dirty="0"/>
          </a:p>
        </p:txBody>
      </p:sp>
      <p:sp>
        <p:nvSpPr>
          <p:cNvPr id="33" name="Shape 30"/>
          <p:cNvSpPr/>
          <p:nvPr/>
        </p:nvSpPr>
        <p:spPr>
          <a:xfrm>
            <a:off x="5797296" y="4599432"/>
            <a:ext cx="54864" cy="548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07024" y="448056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Extrae reglas reales.</a:t>
            </a:r>
            <a:endParaRPr lang="en-US" sz="740" dirty="0"/>
          </a:p>
        </p:txBody>
      </p:sp>
      <p:sp>
        <p:nvSpPr>
          <p:cNvPr id="35" name="Shape 32"/>
          <p:cNvSpPr/>
          <p:nvPr/>
        </p:nvSpPr>
        <p:spPr>
          <a:xfrm>
            <a:off x="5797296" y="4965192"/>
            <a:ext cx="54864" cy="548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07024" y="484632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Garantiza integridad.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5797296" y="5330952"/>
            <a:ext cx="54864" cy="548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07024" y="521208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Ahorra tiempo de mapeo.</a:t>
            </a:r>
            <a:endParaRPr lang="en-US" sz="740" dirty="0"/>
          </a:p>
        </p:txBody>
      </p:sp>
      <p:sp>
        <p:nvSpPr>
          <p:cNvPr id="39" name="Text 36"/>
          <p:cNvSpPr/>
          <p:nvPr/>
        </p:nvSpPr>
        <p:spPr>
          <a:xfrm>
            <a:off x="987552" y="5943600"/>
            <a:ext cx="9015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IA propone el mapeo; tú validas la regla de negocio.</a:t>
            </a:r>
            <a:endParaRPr lang="en-US" sz="8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Mapa del Contrato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042416"/>
          </a:xfrm>
          <a:prstGeom prst="roundRect">
            <a:avLst>
              <a:gd name="adj" fmla="val 614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contrato de datos es la frontera infranqueable que protege nuestra lógica del caos exterior.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419856"/>
            <a:ext cx="100584" cy="16642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Tipado 3.12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60704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Defensa cyber nativa en el lenguaje.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950208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23360" y="3419856"/>
            <a:ext cx="100584" cy="16642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06240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Pydantic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206240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guardia que valida los esquemas en la puerta.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095744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68896" y="3419856"/>
            <a:ext cx="100584" cy="16642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51776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422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351776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Comunicación clara de que el contrato falló.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04672" y="5413248"/>
            <a:ext cx="9381744" cy="566928"/>
          </a:xfrm>
          <a:prstGeom prst="roundRect">
            <a:avLst>
              <a:gd name="adj" fmla="val 4839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77824" y="5522976"/>
            <a:ext cx="100584" cy="3474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60704" y="5541264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 Bloque → CRUD y Status Codes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621792"/>
            <a:ext cx="1207008" cy="310896"/>
          </a:xfrm>
          <a:prstGeom prst="roundRect">
            <a:avLst>
              <a:gd name="adj" fmla="val 14706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65836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</a:t>
            </a:r>
            <a:endParaRPr lang="en-US" sz="1060" dirty="0"/>
          </a:p>
        </p:txBody>
      </p:sp>
      <p:sp>
        <p:nvSpPr>
          <p:cNvPr id="6" name="Shape 3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956816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Semántica REST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04672" y="265176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Verbos HTTP y Códigos de Estado Profesionales.</a:t>
            </a:r>
            <a:endParaRPr lang="en-US" sz="15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 Verbos son Intenciones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Mapeo de Acciones REST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Verbos HTTP vs. Acciones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(Read)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Obtener datos. Sin efectos secundarios. Seguro e Idempotente.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08776" y="2670048"/>
            <a:ext cx="73152" cy="13533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Creación (Create)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09944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Generar un nuevo recurso. No es idempotente.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572768" y="4443984"/>
            <a:ext cx="73152" cy="13533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73936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Reemplazo (Update)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773936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Actualización total de un recurso. Idempotente.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4443984"/>
            <a:ext cx="420624" cy="219456"/>
          </a:xfrm>
          <a:prstGeom prst="roundRect">
            <a:avLst>
              <a:gd name="adj" fmla="val 20833"/>
            </a:avLst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4489704"/>
            <a:ext cx="4206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8CF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245352" y="4443984"/>
            <a:ext cx="73152" cy="1353312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46520" y="4462272"/>
            <a:ext cx="3465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Baja (Delete)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446520" y="4754880"/>
            <a:ext cx="34655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Eliminación o desactivación lógica. Idempotente.</a:t>
            </a:r>
            <a:endParaRPr lang="en-US" sz="106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Archivos a Recursos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Evolución de la URL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nombramos las rutas?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78608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42416" y="2688336"/>
            <a:ext cx="91440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88720" y="2706624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88720" y="275234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1188720" y="29992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/usuarios/editar_usuario.php?id=5 (Verbo en la URL)</a:t>
            </a:r>
            <a:endParaRPr lang="en-US" sz="1380" dirty="0"/>
          </a:p>
        </p:txBody>
      </p:sp>
      <p:sp>
        <p:nvSpPr>
          <p:cNvPr id="18" name="Text 15"/>
          <p:cNvSpPr/>
          <p:nvPr/>
        </p:nvSpPr>
        <p:spPr>
          <a:xfrm>
            <a:off x="1188720" y="3383280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Caos de nombres y dependencia del disco físico.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5596128" y="2578608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87568" y="2688336"/>
            <a:ext cx="91440" cy="13898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833872" y="2706624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33872" y="275234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MODERNO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5833872" y="29992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PUT /users/5 (Sustantivo + Verbo HTTP)</a:t>
            </a:r>
            <a:endParaRPr lang="en-US" sz="1380" dirty="0"/>
          </a:p>
        </p:txBody>
      </p:sp>
      <p:sp>
        <p:nvSpPr>
          <p:cNvPr id="24" name="Text 21"/>
          <p:cNvSpPr/>
          <p:nvPr/>
        </p:nvSpPr>
        <p:spPr>
          <a:xfrm>
            <a:off x="5833872" y="3383280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Semántica pura, desacoplada de la estructura de archivos.</a:t>
            </a:r>
            <a:endParaRPr lang="en-US" sz="1040" dirty="0"/>
          </a:p>
        </p:txBody>
      </p:sp>
      <p:sp>
        <p:nvSpPr>
          <p:cNvPr id="25" name="Shape 22"/>
          <p:cNvSpPr/>
          <p:nvPr/>
        </p:nvSpPr>
        <p:spPr>
          <a:xfrm>
            <a:off x="950976" y="4370832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42416" y="4480560"/>
            <a:ext cx="91440" cy="13898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88720" y="4498848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88720" y="454456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</a:t>
            </a:r>
            <a:endParaRPr lang="en-US" sz="880" dirty="0"/>
          </a:p>
        </p:txBody>
      </p:sp>
      <p:sp>
        <p:nvSpPr>
          <p:cNvPr id="29" name="Text 26"/>
          <p:cNvSpPr/>
          <p:nvPr/>
        </p:nvSpPr>
        <p:spPr>
          <a:xfrm>
            <a:off x="1188720" y="479145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URL es el 'Qué' (Recurso).</a:t>
            </a:r>
            <a:endParaRPr lang="en-US" sz="1380" dirty="0"/>
          </a:p>
        </p:txBody>
      </p:sp>
      <p:sp>
        <p:nvSpPr>
          <p:cNvPr id="30" name="Text 27"/>
          <p:cNvSpPr/>
          <p:nvPr/>
        </p:nvSpPr>
        <p:spPr>
          <a:xfrm>
            <a:off x="1188720" y="5175504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Verbo HTTP es el 'Cómo' (Acción).</a:t>
            </a:r>
            <a:endParaRPr lang="en-US" sz="10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Status Codes: El Semáforo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El Idioma Universal de la Web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Clasificación Profesional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42032"/>
            <a:ext cx="2907792" cy="3383280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2xx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670048"/>
            <a:ext cx="73152" cy="3127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68833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ÉXITO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980944"/>
            <a:ext cx="1956816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 (OK)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 (Created)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204 (No Content)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4041648" y="2542032"/>
            <a:ext cx="2907792" cy="3383280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51376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51376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4xx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4663440" y="2670048"/>
            <a:ext cx="73152" cy="3127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64608" y="268833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CLIENTE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4864608" y="2980944"/>
            <a:ext cx="1956816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400 (Bad Request)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404 (Not Found)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422 (Val. Error)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7132320" y="2542032"/>
            <a:ext cx="2907792" cy="3383280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242048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42048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5xx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7754112" y="2670048"/>
            <a:ext cx="73152" cy="31272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55280" y="268833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SERVER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7955280" y="2980944"/>
            <a:ext cx="1956816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 (Internal Error)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503 (Service Unav.)</a:t>
            </a:r>
            <a:endParaRPr lang="en-US" sz="106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Implementación: 201 Created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Éxito en Creación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Decorador status_code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Implementación: 204 No Content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Éxito en Eliminación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sin cuerpo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Interrupción: HTTPException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Manejo de Errores Controlados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Cortando el flujo de forma limpia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Cyber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Pecado del 'Always 200'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Mala Práctica de Interoperabilidad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2286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157984"/>
            <a:ext cx="109728" cy="20299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139696"/>
            <a:ext cx="9034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evitar el error dentro del éxito?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60704" y="2487168"/>
            <a:ext cx="903427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Muchos sistemas legacy devuelven '200 OK' y un JSON con { 'error': true }. Esto obliga al desarrollador de frontend a leer el cuerpo de cada petición para saber si falló. Es ineficiente y rompe el estándar HTTP.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4672" y="4754880"/>
            <a:ext cx="9381744" cy="914400"/>
          </a:xfrm>
          <a:prstGeom prst="roundRect">
            <a:avLst>
              <a:gd name="adj" fmla="val 4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4919472"/>
            <a:ext cx="89794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Usa los Status Codes para que el navegador y el frontend sepan qué pasó sin abrir el paquete.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Práctica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Casos de Negocio vs. Codes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Escenarios Reales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código devuelvo?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3685032" cy="3383280"/>
          </a:xfrm>
          <a:prstGeom prst="roundRect">
            <a:avLst>
              <a:gd name="adj" fmla="val 108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724912"/>
            <a:ext cx="109728" cy="3127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400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 Request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261872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53312" y="346100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9616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 insuficiente.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61872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53312" y="389991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99616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Saldo menor al cobro.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261872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53312" y="433882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99616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usuario ya existe.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355080" y="2596896"/>
            <a:ext cx="3685032" cy="3383280"/>
          </a:xfrm>
          <a:prstGeom prst="roundRect">
            <a:avLst>
              <a:gd name="adj" fmla="val 108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64808" y="2724912"/>
            <a:ext cx="109728" cy="3127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65976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404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665976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Found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6665976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757416" y="346100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03720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no existe.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665976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57416" y="389991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mal escrita.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65976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57416" y="433882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03720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Recurso eliminado.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892040" y="3474720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01768" y="3621024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074920" y="4041648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56632" y="366674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vs</a:t>
            </a:r>
            <a:endParaRPr lang="en-US" sz="1060" dirty="0"/>
          </a:p>
        </p:txBody>
      </p:sp>
      <p:sp>
        <p:nvSpPr>
          <p:cNvPr id="43" name="Text 40"/>
          <p:cNvSpPr/>
          <p:nvPr/>
        </p:nvSpPr>
        <p:spPr>
          <a:xfrm>
            <a:off x="5020056" y="445312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Lógica</a:t>
            </a:r>
            <a:endParaRPr lang="en-US" sz="7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Práctica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Casos de Negocio vs. Codes II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Escenarios Reales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código devuelvo?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3685032" cy="3383280"/>
          </a:xfrm>
          <a:prstGeom prst="roundRect">
            <a:avLst>
              <a:gd name="adj" fmla="val 108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724912"/>
            <a:ext cx="109728" cy="3127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422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Unprocessable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261872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53312" y="346100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9616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inválido.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61872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53312" y="389991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99616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Username muy corto.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261872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53312" y="433882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99616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Faltan campos obligatorios.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355080" y="2596896"/>
            <a:ext cx="3685032" cy="3383280"/>
          </a:xfrm>
          <a:prstGeom prst="roundRect">
            <a:avLst>
              <a:gd name="adj" fmla="val 108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64808" y="2724912"/>
            <a:ext cx="109728" cy="31272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65976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500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665976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 Error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6665976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757416" y="3461004"/>
            <a:ext cx="82296" cy="8229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03720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de Datos caída.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665976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57416" y="3899916"/>
            <a:ext cx="82296" cy="8229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en el código.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65976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57416" y="4338828"/>
            <a:ext cx="82296" cy="8229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03720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Falta de conexión al legado.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892040" y="3474720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01768" y="3621024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074920" y="4041648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56632" y="366674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vs</a:t>
            </a:r>
            <a:endParaRPr lang="en-US" sz="1060" dirty="0"/>
          </a:p>
        </p:txBody>
      </p:sp>
      <p:sp>
        <p:nvSpPr>
          <p:cNvPr id="43" name="Text 40"/>
          <p:cNvSpPr/>
          <p:nvPr/>
        </p:nvSpPr>
        <p:spPr>
          <a:xfrm>
            <a:off x="5020056" y="445312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Origen</a:t>
            </a:r>
            <a:endParaRPr lang="en-US" sz="7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IA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Huella IA: Diseñador de Endpoints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Metodología Agentic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078224"/>
          </a:xfrm>
          <a:prstGeom prst="roundRect">
            <a:avLst>
              <a:gd name="adj" fmla="val 89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Diseñando la Suite CRUD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4462272" cy="3072384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50976" y="2596896"/>
            <a:ext cx="73152" cy="30723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15568" y="2743200"/>
            <a:ext cx="4151376" cy="310896"/>
          </a:xfrm>
          <a:prstGeom prst="roundRect">
            <a:avLst>
              <a:gd name="adj" fmla="val 882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07008" y="2816352"/>
            <a:ext cx="3968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Genérico</a:t>
            </a:r>
            <a:endParaRPr lang="en-US" sz="1180" dirty="0"/>
          </a:p>
        </p:txBody>
      </p:sp>
      <p:sp>
        <p:nvSpPr>
          <p:cNvPr id="17" name="Text 14"/>
          <p:cNvSpPr/>
          <p:nvPr/>
        </p:nvSpPr>
        <p:spPr>
          <a:xfrm>
            <a:off x="1152144" y="3127248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semántica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1115568" y="3383280"/>
            <a:ext cx="4151376" cy="932688"/>
          </a:xfrm>
          <a:prstGeom prst="roundRect">
            <a:avLst>
              <a:gd name="adj" fmla="val 392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25296" y="34930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'Crea las rutas para mi API de usuarios'.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1170432" y="4599432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80160" y="448056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POST para todo.</a:t>
            </a:r>
            <a:endParaRPr lang="en-US" sz="740" dirty="0"/>
          </a:p>
        </p:txBody>
      </p:sp>
      <p:sp>
        <p:nvSpPr>
          <p:cNvPr id="22" name="Shape 19"/>
          <p:cNvSpPr/>
          <p:nvPr/>
        </p:nvSpPr>
        <p:spPr>
          <a:xfrm>
            <a:off x="1170432" y="4965192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80160" y="484632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Devuelve 200 en errores.</a:t>
            </a:r>
            <a:endParaRPr lang="en-US" sz="740" dirty="0"/>
          </a:p>
        </p:txBody>
      </p:sp>
      <p:sp>
        <p:nvSpPr>
          <p:cNvPr id="24" name="Shape 21"/>
          <p:cNvSpPr/>
          <p:nvPr/>
        </p:nvSpPr>
        <p:spPr>
          <a:xfrm>
            <a:off x="1170432" y="5330952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80160" y="521208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Rutas poco claras.</a:t>
            </a:r>
            <a:endParaRPr lang="en-US" sz="740" dirty="0"/>
          </a:p>
        </p:txBody>
      </p:sp>
      <p:sp>
        <p:nvSpPr>
          <p:cNvPr id="26" name="Shape 23"/>
          <p:cNvSpPr/>
          <p:nvPr/>
        </p:nvSpPr>
        <p:spPr>
          <a:xfrm>
            <a:off x="5577840" y="2596896"/>
            <a:ext cx="4462272" cy="3072384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577840" y="2596896"/>
            <a:ext cx="73152" cy="30723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742432" y="2743200"/>
            <a:ext cx="4151376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33872" y="2816352"/>
            <a:ext cx="3968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de Arquitectura</a:t>
            </a:r>
            <a:endParaRPr lang="en-US" sz="1180" dirty="0"/>
          </a:p>
        </p:txBody>
      </p:sp>
      <p:sp>
        <p:nvSpPr>
          <p:cNvPr id="30" name="Text 27"/>
          <p:cNvSpPr/>
          <p:nvPr/>
        </p:nvSpPr>
        <p:spPr>
          <a:xfrm>
            <a:off x="5779008" y="3127248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 Semántico</a:t>
            </a:r>
            <a:endParaRPr lang="en-US" sz="780" dirty="0"/>
          </a:p>
        </p:txBody>
      </p:sp>
      <p:sp>
        <p:nvSpPr>
          <p:cNvPr id="31" name="Shape 28"/>
          <p:cNvSpPr/>
          <p:nvPr/>
        </p:nvSpPr>
        <p:spPr>
          <a:xfrm>
            <a:off x="5742432" y="3383280"/>
            <a:ext cx="4151376" cy="932688"/>
          </a:xfrm>
          <a:prstGeom prst="roundRect">
            <a:avLst>
              <a:gd name="adj" fmla="val 392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52160" y="34930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'Genera los endpoints CRUD en FastAPI para este recurso. Usa Status Codes 201 y 204 cuando corresponda y maneja excepciones de negocio con 400'.</a:t>
            </a:r>
            <a:endParaRPr lang="en-US" sz="780" dirty="0"/>
          </a:p>
        </p:txBody>
      </p:sp>
      <p:sp>
        <p:nvSpPr>
          <p:cNvPr id="33" name="Shape 30"/>
          <p:cNvSpPr/>
          <p:nvPr/>
        </p:nvSpPr>
        <p:spPr>
          <a:xfrm>
            <a:off x="5797296" y="4599432"/>
            <a:ext cx="54864" cy="548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07024" y="448056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profesional.</a:t>
            </a:r>
            <a:endParaRPr lang="en-US" sz="740" dirty="0"/>
          </a:p>
        </p:txBody>
      </p:sp>
      <p:sp>
        <p:nvSpPr>
          <p:cNvPr id="35" name="Shape 32"/>
          <p:cNvSpPr/>
          <p:nvPr/>
        </p:nvSpPr>
        <p:spPr>
          <a:xfrm>
            <a:off x="5797296" y="4965192"/>
            <a:ext cx="54864" cy="548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07024" y="484632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Fácil de integrar.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5797296" y="5330952"/>
            <a:ext cx="54864" cy="548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07024" y="521208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Documentación lista.</a:t>
            </a:r>
            <a:endParaRPr lang="en-US" sz="740" dirty="0"/>
          </a:p>
        </p:txBody>
      </p:sp>
      <p:sp>
        <p:nvSpPr>
          <p:cNvPr id="39" name="Text 36"/>
          <p:cNvSpPr/>
          <p:nvPr/>
        </p:nvSpPr>
        <p:spPr>
          <a:xfrm>
            <a:off x="987552" y="5943600"/>
            <a:ext cx="9015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IA construye la estructura; tú validas la semántica HTTP.</a:t>
            </a:r>
            <a:endParaRPr lang="en-US" sz="8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2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Mapa del Ruteo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042416"/>
          </a:xfrm>
          <a:prstGeom prst="roundRect">
            <a:avLst>
              <a:gd name="adj" fmla="val 614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semántica HTTP es el lenguaje universal que permite que nuestra API sea entendida por cualquier sistema del mundo.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419856"/>
            <a:ext cx="100584" cy="16642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Verbos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60704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 la intención: GET leer, POST crear, PUT editar.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950208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23360" y="3419856"/>
            <a:ext cx="100584" cy="16642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06240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Status Codes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206240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semáforo universal de la API (2xx, 4xx).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095744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68896" y="3419856"/>
            <a:ext cx="100584" cy="16642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51776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Excepciones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351776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HTTPException para interrumpir flujos de forma controlada.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04672" y="5413248"/>
            <a:ext cx="9381744" cy="566928"/>
          </a:xfrm>
          <a:prstGeom prst="roundRect">
            <a:avLst>
              <a:gd name="adj" fmla="val 4839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77824" y="5522976"/>
            <a:ext cx="100584" cy="3474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60704" y="5541264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 Bloque → Eje Cyber y Blindaje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621792"/>
            <a:ext cx="1207008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65836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</a:t>
            </a:r>
            <a:endParaRPr lang="en-US" sz="1060" dirty="0"/>
          </a:p>
        </p:txBody>
      </p:sp>
      <p:sp>
        <p:nvSpPr>
          <p:cNvPr id="6" name="Shape 3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956816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by Design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04672" y="265176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Blindaje de Payloads y Protección de Datos Sensibles.</a:t>
            </a:r>
            <a:endParaRPr lang="en-US" sz="15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Cyber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Hacker Mindset en APIs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Pensando como el atacante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2286000"/>
          </a:xfrm>
          <a:prstGeom prst="roundRect">
            <a:avLst>
              <a:gd name="adj" fmla="val 32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no restringes el tamaño y el formato de tus campos, le estás dando al atacante las herramientas para tirar tu servidor.</a:t>
            </a:r>
            <a:endParaRPr lang="en-US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Cyber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Frontera es el Objetivo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Superficie de Ataque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Puntos de Entrada Críticos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42032"/>
            <a:ext cx="2907792" cy="3383280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URL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670048"/>
            <a:ext cx="73152" cy="3127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68833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Path Params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980944"/>
            <a:ext cx="1956816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 inyectados para acceder a otros recursos (IDOR).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4041648" y="2542032"/>
            <a:ext cx="2907792" cy="3383280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51376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51376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4663440" y="2670048"/>
            <a:ext cx="73152" cy="3127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64608" y="268833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Request Body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4864608" y="2980944"/>
            <a:ext cx="1956816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Payloads radiactivos para saturar memoria o inyectar lógica.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7132320" y="2542032"/>
            <a:ext cx="2907792" cy="3383280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242048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42048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7754112" y="2670048"/>
            <a:ext cx="73152" cy="3127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55280" y="268833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Headers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7955280" y="2980944"/>
            <a:ext cx="1956816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 malformados o Content-Types inesperados.</a:t>
            </a:r>
            <a:endParaRPr lang="en-US" sz="106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Cyber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Ataque 1: Payload Radiactivo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Escenario de DoS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Intento de Denegación de Servicio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Defensa 1: Restricción de Field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Previniendo el DoS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Blindaje con Pydantic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Ingeniería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Ingeniería de Pydantic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Ahorro de Recursos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Pydantic salva tu RAM?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78608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42416" y="2688336"/>
            <a:ext cx="91440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88720" y="2706624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88720" y="275234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1188720" y="29992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Recibir el dato, parsearlo y luego validar con 'strlen()'.</a:t>
            </a:r>
            <a:endParaRPr lang="en-US" sz="1380" dirty="0"/>
          </a:p>
        </p:txBody>
      </p:sp>
      <p:sp>
        <p:nvSpPr>
          <p:cNvPr id="18" name="Text 15"/>
          <p:cNvSpPr/>
          <p:nvPr/>
        </p:nvSpPr>
        <p:spPr>
          <a:xfrm>
            <a:off x="1188720" y="3383280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 cargaste 10MB basura en la memoria RAM del servidor.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5596128" y="2578608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87568" y="2688336"/>
            <a:ext cx="91440" cy="13898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833872" y="2706624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33872" y="275234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5833872" y="29992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FastAPI/Pydantic valida mientras el Stream llega.</a:t>
            </a:r>
            <a:endParaRPr lang="en-US" sz="1380" dirty="0"/>
          </a:p>
        </p:txBody>
      </p:sp>
      <p:sp>
        <p:nvSpPr>
          <p:cNvPr id="24" name="Text 21"/>
          <p:cNvSpPr/>
          <p:nvPr/>
        </p:nvSpPr>
        <p:spPr>
          <a:xfrm>
            <a:off x="5833872" y="3383280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Cierra la conexión HTTP si el buffer excede el max_length definido.</a:t>
            </a:r>
            <a:endParaRPr lang="en-US" sz="1040" dirty="0"/>
          </a:p>
        </p:txBody>
      </p:sp>
      <p:sp>
        <p:nvSpPr>
          <p:cNvPr id="25" name="Shape 22"/>
          <p:cNvSpPr/>
          <p:nvPr/>
        </p:nvSpPr>
        <p:spPr>
          <a:xfrm>
            <a:off x="950976" y="4370832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42416" y="4480560"/>
            <a:ext cx="91440" cy="13898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88720" y="4498848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88720" y="454456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</a:t>
            </a:r>
            <a:endParaRPr lang="en-US" sz="880" dirty="0"/>
          </a:p>
        </p:txBody>
      </p:sp>
      <p:sp>
        <p:nvSpPr>
          <p:cNvPr id="29" name="Text 26"/>
          <p:cNvSpPr/>
          <p:nvPr/>
        </p:nvSpPr>
        <p:spPr>
          <a:xfrm>
            <a:off x="1188720" y="479145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 por conveniencia.</a:t>
            </a:r>
            <a:endParaRPr lang="en-US" sz="1380" dirty="0"/>
          </a:p>
        </p:txBody>
      </p:sp>
      <p:sp>
        <p:nvSpPr>
          <p:cNvPr id="30" name="Text 27"/>
          <p:cNvSpPr/>
          <p:nvPr/>
        </p:nvSpPr>
        <p:spPr>
          <a:xfrm>
            <a:off x="1188720" y="5175504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por supervivencia del servicio.</a:t>
            </a:r>
            <a:endParaRPr lang="en-US" sz="104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Field: Más allá de lo básico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Control Numérico y de Texto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Parámetros de Seguridad en Field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Cyber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Ataque 2: Inyección al Legado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El Puente Débil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de trabajo con agentes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2919984" cy="3383280"/>
          </a:xfrm>
          <a:prstGeom prst="roundRect">
            <a:avLst>
              <a:gd name="adj" fmla="val 125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42416" y="2724912"/>
            <a:ext cx="91440" cy="3127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88720" y="2724912"/>
            <a:ext cx="310896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88720" y="277063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60" dirty="0"/>
          </a:p>
        </p:txBody>
      </p:sp>
      <p:sp>
        <p:nvSpPr>
          <p:cNvPr id="17" name="Text 14"/>
          <p:cNvSpPr/>
          <p:nvPr/>
        </p:nvSpPr>
        <p:spPr>
          <a:xfrm>
            <a:off x="1572768" y="2724912"/>
            <a:ext cx="2170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INYECCIÓN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1188720" y="3072384"/>
            <a:ext cx="2572512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atacante envía 'diego' OR 1=1 -- en el JSON de la API.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3907536" y="4178808"/>
            <a:ext cx="91440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035552" y="2596896"/>
            <a:ext cx="2919984" cy="3383280"/>
          </a:xfrm>
          <a:prstGeom prst="roundRect">
            <a:avLst>
              <a:gd name="adj" fmla="val 125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26992" y="2724912"/>
            <a:ext cx="91440" cy="3127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273296" y="2724912"/>
            <a:ext cx="310896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73296" y="277063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60" dirty="0"/>
          </a:p>
        </p:txBody>
      </p:sp>
      <p:sp>
        <p:nvSpPr>
          <p:cNvPr id="24" name="Text 21"/>
          <p:cNvSpPr/>
          <p:nvPr/>
        </p:nvSpPr>
        <p:spPr>
          <a:xfrm>
            <a:off x="4657344" y="2724912"/>
            <a:ext cx="2170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TRANSPORTE</a:t>
            </a:r>
            <a:endParaRPr lang="en-US" sz="1420" dirty="0"/>
          </a:p>
        </p:txBody>
      </p:sp>
      <p:sp>
        <p:nvSpPr>
          <p:cNvPr id="25" name="Text 22"/>
          <p:cNvSpPr/>
          <p:nvPr/>
        </p:nvSpPr>
        <p:spPr>
          <a:xfrm>
            <a:off x="4273296" y="3072384"/>
            <a:ext cx="2572512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API no valida y le pasa el string al Repositorio legacy.</a:t>
            </a:r>
            <a:endParaRPr lang="en-US" sz="1040" dirty="0"/>
          </a:p>
        </p:txBody>
      </p:sp>
      <p:sp>
        <p:nvSpPr>
          <p:cNvPr id="26" name="Shape 23"/>
          <p:cNvSpPr/>
          <p:nvPr/>
        </p:nvSpPr>
        <p:spPr>
          <a:xfrm>
            <a:off x="6992112" y="4178808"/>
            <a:ext cx="91440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20128" y="2596896"/>
            <a:ext cx="2919984" cy="3383280"/>
          </a:xfrm>
          <a:prstGeom prst="roundRect">
            <a:avLst>
              <a:gd name="adj" fmla="val 125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211568" y="2724912"/>
            <a:ext cx="91440" cy="31272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357872" y="2724912"/>
            <a:ext cx="310896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357872" y="277063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60" dirty="0"/>
          </a:p>
        </p:txBody>
      </p:sp>
      <p:sp>
        <p:nvSpPr>
          <p:cNvPr id="31" name="Text 28"/>
          <p:cNvSpPr/>
          <p:nvPr/>
        </p:nvSpPr>
        <p:spPr>
          <a:xfrm>
            <a:off x="7741920" y="2724912"/>
            <a:ext cx="2170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EXPLOTACIÓN</a:t>
            </a:r>
            <a:endParaRPr lang="en-US" sz="1420" dirty="0"/>
          </a:p>
        </p:txBody>
      </p:sp>
      <p:sp>
        <p:nvSpPr>
          <p:cNvPr id="32" name="Text 29"/>
          <p:cNvSpPr/>
          <p:nvPr/>
        </p:nvSpPr>
        <p:spPr>
          <a:xfrm>
            <a:off x="7357872" y="3072384"/>
            <a:ext cx="2572512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PHP viejo ejecuta el SQL malicioso. DB comprometida.</a:t>
            </a:r>
            <a:endParaRPr lang="en-US" sz="104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Defensa 2: Regex como Escudo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Pattern Enforcement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Bloqueando caracteres especiales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Ingeniería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Anatomía del Escudo Regex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Entendiendo el Pattern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^[a-zA-Z0-9]+$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^ $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Anclas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Obligan a que todo el string cumpla la regla, no solo una parte.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08776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Rango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09944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el conjunto permitido (letras y números).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572768" y="4443984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73936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Cuantificador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773936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menos un carácter, hasta el infinito (restringido por max_length).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208776" y="4443984"/>
            <a:ext cx="73152" cy="13533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9944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Bloqueo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409944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Impide caracteres de escape como ', ", ;, --, /*.</a:t>
            </a:r>
            <a:endParaRPr lang="en-US" sz="106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Defensa 3: Validadores de Lógica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@field_validator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2286000"/>
          </a:xfrm>
          <a:prstGeom prst="roundRect">
            <a:avLst>
              <a:gd name="adj" fmla="val 32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Cuando las reglas de tipo (int, str) no bastan, debemos programar nuestra propia lógica de seguridad.</a:t>
            </a:r>
            <a:endParaRPr lang="en-US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Filtro de Palabras Clave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Protección Activa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Prohibiendo SQL en el Esquema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Cyber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Ataque 3: Exposición (API3)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El Error del Desarrollador Flojo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Vulnerabilidad: Return Model Directo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Arquitectura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Defensa 3: Esquemas de Salida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El Principio de Mínimo Privilegio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2286000"/>
          </a:xfrm>
          <a:prstGeom prst="roundRect">
            <a:avLst>
              <a:gd name="adj" fmla="val 3200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Jamás devuelvas el modelo de la base de datos al cliente. Define un 'Contrato de Salida' estricto.</a:t>
            </a:r>
            <a:endParaRPr lang="en-US" sz="2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Arquitectura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 vs. Output Schemas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Desacoplamiento de Seguridad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Separación de Responsabilidades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3685032" cy="3383280"/>
          </a:xfrm>
          <a:prstGeom prst="roundRect">
            <a:avLst>
              <a:gd name="adj" fmla="val 108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724912"/>
            <a:ext cx="109728" cy="3127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UserCreate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recibo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261872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53312" y="346100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9616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username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61872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53312" y="389991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99616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261872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53312" y="433882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99616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password (plain)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355080" y="2596896"/>
            <a:ext cx="3685032" cy="338328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64808" y="2724912"/>
            <a:ext cx="109728" cy="31272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65976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UserRead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665976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devuelvo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6665976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757416" y="3461004"/>
            <a:ext cx="82296" cy="8229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03720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665976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57416" y="3899916"/>
            <a:ext cx="82296" cy="8229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username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65976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57416" y="4338828"/>
            <a:ext cx="82296" cy="8229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03720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892040" y="3474720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01768" y="3621024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074920" y="4041648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56632" y="366674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-&gt;</a:t>
            </a:r>
            <a:endParaRPr lang="en-US" sz="1060" dirty="0"/>
          </a:p>
        </p:txBody>
      </p:sp>
      <p:sp>
        <p:nvSpPr>
          <p:cNvPr id="43" name="Text 40"/>
          <p:cNvSpPr/>
          <p:nvPr/>
        </p:nvSpPr>
        <p:spPr>
          <a:xfrm>
            <a:off x="5020056" y="445312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Filtrado</a:t>
            </a:r>
            <a:endParaRPr lang="en-US" sz="72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Response Model en Acción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Protección Automatizada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Forzando el contrato de salida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Cyber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Ataque 4: Type Confusion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Rompiendo la lógica interna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Enviando objetos donde van números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Tipado Python 3.12 como Armadura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Seguridad de Red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de tipos nativa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Cyber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Anatomía del Error 422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La respuesta de la Armadura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Detalle técnico para el Atacante (o Developer)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 de Lógica de Negocio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Protección de Datos Coherentes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Validando integridad entre campos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Ingeniería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 Multicampo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El Poder de model_validator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¿Cuándo usar validación de modelo?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Comparación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Verificar que la fecha de fin sea posterior a la de inicio.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08776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Consistencia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09944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país es 'CL', el RUT debe ser obligatorio.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572768" y="4443984"/>
            <a:ext cx="73152" cy="13533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73936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773936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Bloquear combinaciones de datos sospechosas.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208776" y="4443984"/>
            <a:ext cx="73152" cy="13533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9944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Contexto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409944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el objeto completo antes de enviarlo al Repositorio.</a:t>
            </a:r>
            <a:endParaRPr lang="en-US" sz="106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IA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Huella IA: Pentester de Contratos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Metodología Agentic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078224"/>
          </a:xfrm>
          <a:prstGeom prst="roundRect">
            <a:avLst>
              <a:gd name="adj" fmla="val 89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Auditoría de Esquemas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4462272" cy="3072384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50976" y="2596896"/>
            <a:ext cx="73152" cy="30723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15568" y="2743200"/>
            <a:ext cx="4151376" cy="310896"/>
          </a:xfrm>
          <a:prstGeom prst="roundRect">
            <a:avLst>
              <a:gd name="adj" fmla="val 882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07008" y="2816352"/>
            <a:ext cx="3968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Débil</a:t>
            </a:r>
            <a:endParaRPr lang="en-US" sz="1180" dirty="0"/>
          </a:p>
        </p:txBody>
      </p:sp>
      <p:sp>
        <p:nvSpPr>
          <p:cNvPr id="17" name="Text 14"/>
          <p:cNvSpPr/>
          <p:nvPr/>
        </p:nvSpPr>
        <p:spPr>
          <a:xfrm>
            <a:off x="1152144" y="3127248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Superficial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1115568" y="3383280"/>
            <a:ext cx="4151376" cy="932688"/>
          </a:xfrm>
          <a:prstGeom prst="roundRect">
            <a:avLst>
              <a:gd name="adj" fmla="val 392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25296" y="34930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'¿Mi esquema de Pydantic es seguro?'.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1170432" y="4599432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80160" y="448056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dirá que 'parece bien'.</a:t>
            </a:r>
            <a:endParaRPr lang="en-US" sz="740" dirty="0"/>
          </a:p>
        </p:txBody>
      </p:sp>
      <p:sp>
        <p:nvSpPr>
          <p:cNvPr id="22" name="Shape 19"/>
          <p:cNvSpPr/>
          <p:nvPr/>
        </p:nvSpPr>
        <p:spPr>
          <a:xfrm>
            <a:off x="1170432" y="4965192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80160" y="484632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detecta fallas lógicas.</a:t>
            </a:r>
            <a:endParaRPr lang="en-US" sz="740" dirty="0"/>
          </a:p>
        </p:txBody>
      </p:sp>
      <p:sp>
        <p:nvSpPr>
          <p:cNvPr id="24" name="Shape 21"/>
          <p:cNvSpPr/>
          <p:nvPr/>
        </p:nvSpPr>
        <p:spPr>
          <a:xfrm>
            <a:off x="1170432" y="5330952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80160" y="521208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sugiere restricciones.</a:t>
            </a:r>
            <a:endParaRPr lang="en-US" sz="740" dirty="0"/>
          </a:p>
        </p:txBody>
      </p:sp>
      <p:sp>
        <p:nvSpPr>
          <p:cNvPr id="26" name="Shape 23"/>
          <p:cNvSpPr/>
          <p:nvPr/>
        </p:nvSpPr>
        <p:spPr>
          <a:xfrm>
            <a:off x="5577840" y="2596896"/>
            <a:ext cx="4462272" cy="3072384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577840" y="2596896"/>
            <a:ext cx="73152" cy="30723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742432" y="2743200"/>
            <a:ext cx="4151376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33872" y="2816352"/>
            <a:ext cx="3968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de Seguridad</a:t>
            </a:r>
            <a:endParaRPr lang="en-US" sz="1180" dirty="0"/>
          </a:p>
        </p:txBody>
      </p:sp>
      <p:sp>
        <p:nvSpPr>
          <p:cNvPr id="30" name="Text 27"/>
          <p:cNvSpPr/>
          <p:nvPr/>
        </p:nvSpPr>
        <p:spPr>
          <a:xfrm>
            <a:off x="5779008" y="3127248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de Riesgo</a:t>
            </a:r>
            <a:endParaRPr lang="en-US" sz="780" dirty="0"/>
          </a:p>
        </p:txBody>
      </p:sp>
      <p:sp>
        <p:nvSpPr>
          <p:cNvPr id="31" name="Shape 28"/>
          <p:cNvSpPr/>
          <p:nvPr/>
        </p:nvSpPr>
        <p:spPr>
          <a:xfrm>
            <a:off x="5742432" y="3383280"/>
            <a:ext cx="4151376" cy="932688"/>
          </a:xfrm>
          <a:prstGeom prst="roundRect">
            <a:avLst>
              <a:gd name="adj" fmla="val 392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52160" y="34930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'Actúa como un analista de ciberseguridad. Encuentra vectores de ataque en este esquema de Pydantic y genera las restricciones de Field (max_length, pattern) necesarias para mitigarlos'.</a:t>
            </a:r>
            <a:endParaRPr lang="en-US" sz="780" dirty="0"/>
          </a:p>
        </p:txBody>
      </p:sp>
      <p:sp>
        <p:nvSpPr>
          <p:cNvPr id="33" name="Shape 30"/>
          <p:cNvSpPr/>
          <p:nvPr/>
        </p:nvSpPr>
        <p:spPr>
          <a:xfrm>
            <a:off x="5797296" y="4599432"/>
            <a:ext cx="54864" cy="548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07024" y="448056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Mapea ataques DoS.</a:t>
            </a:r>
            <a:endParaRPr lang="en-US" sz="740" dirty="0"/>
          </a:p>
        </p:txBody>
      </p:sp>
      <p:sp>
        <p:nvSpPr>
          <p:cNvPr id="35" name="Shape 32"/>
          <p:cNvSpPr/>
          <p:nvPr/>
        </p:nvSpPr>
        <p:spPr>
          <a:xfrm>
            <a:off x="5797296" y="4965192"/>
            <a:ext cx="54864" cy="548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07024" y="484632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Previene inyecciones.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5797296" y="5330952"/>
            <a:ext cx="54864" cy="548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07024" y="521208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Blindaje profesional.</a:t>
            </a:r>
            <a:endParaRPr lang="en-US" sz="740" dirty="0"/>
          </a:p>
        </p:txBody>
      </p:sp>
      <p:sp>
        <p:nvSpPr>
          <p:cNvPr id="39" name="Text 36"/>
          <p:cNvSpPr/>
          <p:nvPr/>
        </p:nvSpPr>
        <p:spPr>
          <a:xfrm>
            <a:off x="987552" y="5943600"/>
            <a:ext cx="9015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IA audita con 'malicia' para que tú repares con maestría.</a:t>
            </a:r>
            <a:endParaRPr lang="en-US" sz="84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Cyber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Simulacro Red Team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El Ataque Real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Payload Atacante Detonado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Cyber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 Blue Team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La API Inexpugnable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2286000"/>
          </a:xfrm>
          <a:prstGeom prst="roundRect">
            <a:avLst>
              <a:gd name="adj" fmla="val 1600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157984"/>
            <a:ext cx="109728" cy="20299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139696"/>
            <a:ext cx="9034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ESTADO: BLOQUEADO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60704" y="2487168"/>
            <a:ext cx="903427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petición fue rechazada en 0.002s por el motor de Pydantic. El código malicioso nunca llegó al controlador. La base de datos sigue intacta y el servidor no sufrió picos de CPU.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4672" y="4754880"/>
            <a:ext cx="9381744" cy="914400"/>
          </a:xfrm>
          <a:prstGeom prst="roundRect">
            <a:avLst>
              <a:gd name="adj" fmla="val 4000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4919472"/>
            <a:ext cx="89794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HTTP 422: El contrato de datos es tu mejor Firewall.</a:t>
            </a:r>
            <a:endParaRPr lang="en-US" sz="1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3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por Diseño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042416"/>
          </a:xfrm>
          <a:prstGeom prst="roundRect">
            <a:avLst>
              <a:gd name="adj" fmla="val 614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validamos para que el usuario no se equivoque; validamos para que el atacante no nos destruya.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419856"/>
            <a:ext cx="100584" cy="16642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 Shield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60704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Restringir tamaño y formato con Field.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950208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23360" y="3419856"/>
            <a:ext cx="100584" cy="16642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06240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 Filter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206240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Nunca devolver el modelo de DB directamente.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095744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68896" y="3419856"/>
            <a:ext cx="100584" cy="16642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51776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 Audit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351776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agentes para encontrar huecos en los contratos.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04672" y="5413248"/>
            <a:ext cx="9381744" cy="566928"/>
          </a:xfrm>
          <a:prstGeom prst="roundRect">
            <a:avLst>
              <a:gd name="adj" fmla="val 4839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77824" y="5522976"/>
            <a:ext cx="100584" cy="3474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60704" y="5541264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 Bloque → Interoperabilidad Real y Cierre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621792"/>
            <a:ext cx="1207008" cy="310896"/>
          </a:xfrm>
          <a:prstGeom prst="roundRect">
            <a:avLst>
              <a:gd name="adj" fmla="val 14706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65836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</a:t>
            </a:r>
            <a:endParaRPr lang="en-US" sz="1060" dirty="0"/>
          </a:p>
        </p:txBody>
      </p:sp>
      <p:sp>
        <p:nvSpPr>
          <p:cNvPr id="6" name="Shape 3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956816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Puente Real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04672" y="265176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Patrón Facade, CORS y el Camino a la Evaluación.</a:t>
            </a:r>
            <a:endParaRPr lang="en-US" sz="152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Arquitectura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Patrón Facade: La Cara Pro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Rescatando el sistema 2014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2286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157984"/>
            <a:ext cx="109728" cy="20299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139696"/>
            <a:ext cx="9034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Abstracción de Deuda Técnica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60704" y="2487168"/>
            <a:ext cx="903427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fachada (FastAPI) nos permite ocultar la complejidad y el desorden del sistema legacy. El cliente solo ve una API REST moderna, mientras nosotros gestionamos el 'monstruo' por detrás.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4672" y="4754880"/>
            <a:ext cx="9381744" cy="914400"/>
          </a:xfrm>
          <a:prstGeom prst="roundRect">
            <a:avLst>
              <a:gd name="adj" fmla="val 4000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4919472"/>
            <a:ext cx="89794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cliente no necesita saber que tus datos vienen de una DB sin normalizar.</a:t>
            </a:r>
            <a:endParaRPr lang="en-US" sz="1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Interoperabilidad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FastAPI como Escudo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Flujo de Interoperabilidad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de trabajo con agentes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2919984" cy="3383280"/>
          </a:xfrm>
          <a:prstGeom prst="roundRect">
            <a:avLst>
              <a:gd name="adj" fmla="val 125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42416" y="2724912"/>
            <a:ext cx="91440" cy="3127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88720" y="2724912"/>
            <a:ext cx="310896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88720" y="277063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60" dirty="0"/>
          </a:p>
        </p:txBody>
      </p:sp>
      <p:sp>
        <p:nvSpPr>
          <p:cNvPr id="17" name="Text 14"/>
          <p:cNvSpPr/>
          <p:nvPr/>
        </p:nvSpPr>
        <p:spPr>
          <a:xfrm>
            <a:off x="1572768" y="2724912"/>
            <a:ext cx="2170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LEGACY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1188720" y="3072384"/>
            <a:ext cx="2572512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sucios, nulos inesperados y nombres de columnas crípticos.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3907536" y="4178808"/>
            <a:ext cx="91440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035552" y="2596896"/>
            <a:ext cx="2919984" cy="3383280"/>
          </a:xfrm>
          <a:prstGeom prst="roundRect">
            <a:avLst>
              <a:gd name="adj" fmla="val 125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26992" y="2724912"/>
            <a:ext cx="91440" cy="3127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273296" y="2724912"/>
            <a:ext cx="310896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73296" y="277063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60" dirty="0"/>
          </a:p>
        </p:txBody>
      </p:sp>
      <p:sp>
        <p:nvSpPr>
          <p:cNvPr id="24" name="Text 21"/>
          <p:cNvSpPr/>
          <p:nvPr/>
        </p:nvSpPr>
        <p:spPr>
          <a:xfrm>
            <a:off x="4657344" y="2724912"/>
            <a:ext cx="2170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LAYER</a:t>
            </a:r>
            <a:endParaRPr lang="en-US" sz="1420" dirty="0"/>
          </a:p>
        </p:txBody>
      </p:sp>
      <p:sp>
        <p:nvSpPr>
          <p:cNvPr id="25" name="Text 22"/>
          <p:cNvSpPr/>
          <p:nvPr/>
        </p:nvSpPr>
        <p:spPr>
          <a:xfrm>
            <a:off x="4273296" y="3072384"/>
            <a:ext cx="2572512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Limpieza, validación de tipos y renombramiento semántico.</a:t>
            </a:r>
            <a:endParaRPr lang="en-US" sz="1040" dirty="0"/>
          </a:p>
        </p:txBody>
      </p:sp>
      <p:sp>
        <p:nvSpPr>
          <p:cNvPr id="26" name="Shape 23"/>
          <p:cNvSpPr/>
          <p:nvPr/>
        </p:nvSpPr>
        <p:spPr>
          <a:xfrm>
            <a:off x="6992112" y="4178808"/>
            <a:ext cx="91440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20128" y="2596896"/>
            <a:ext cx="2919984" cy="3383280"/>
          </a:xfrm>
          <a:prstGeom prst="roundRect">
            <a:avLst>
              <a:gd name="adj" fmla="val 125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211568" y="2724912"/>
            <a:ext cx="91440" cy="31272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357872" y="2724912"/>
            <a:ext cx="310896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357872" y="277063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60" dirty="0"/>
          </a:p>
        </p:txBody>
      </p:sp>
      <p:sp>
        <p:nvSpPr>
          <p:cNvPr id="31" name="Text 28"/>
          <p:cNvSpPr/>
          <p:nvPr/>
        </p:nvSpPr>
        <p:spPr>
          <a:xfrm>
            <a:off x="7741920" y="2724912"/>
            <a:ext cx="2170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CLIENTE</a:t>
            </a:r>
            <a:endParaRPr lang="en-US" sz="1420" dirty="0"/>
          </a:p>
        </p:txBody>
      </p:sp>
      <p:sp>
        <p:nvSpPr>
          <p:cNvPr id="32" name="Text 29"/>
          <p:cNvSpPr/>
          <p:nvPr/>
        </p:nvSpPr>
        <p:spPr>
          <a:xfrm>
            <a:off x="7357872" y="3072384"/>
            <a:ext cx="2572512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Recibe JSON puro, seguro y listo para renderizar en React.</a:t>
            </a:r>
            <a:endParaRPr lang="en-US" sz="104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Interoperabilidad de Datos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Mapeo Semántico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Cambiando el pasado en el Esquema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Interoperabilidad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CORS: El Dragón de la Web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¿Por qué el navegador me bloquea?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Entendiendo el bloqueo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78608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42416" y="2688336"/>
            <a:ext cx="91440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88720" y="2706624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88720" y="275234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1188720" y="29992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navegador bloquea la petición por un error de código.</a:t>
            </a:r>
            <a:endParaRPr lang="en-US" sz="1380" dirty="0"/>
          </a:p>
        </p:txBody>
      </p:sp>
      <p:sp>
        <p:nvSpPr>
          <p:cNvPr id="18" name="Text 15"/>
          <p:cNvSpPr/>
          <p:nvPr/>
        </p:nvSpPr>
        <p:spPr>
          <a:xfrm>
            <a:off x="1188720" y="3383280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una medida de seguridad para evitar ataques CSRF.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5596128" y="2578608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87568" y="2688336"/>
            <a:ext cx="91440" cy="13898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833872" y="2706624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33872" y="275234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5833872" y="29992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ambos están en localhost, no hay problema.</a:t>
            </a:r>
            <a:endParaRPr lang="en-US" sz="1380" dirty="0"/>
          </a:p>
        </p:txBody>
      </p:sp>
      <p:sp>
        <p:nvSpPr>
          <p:cNvPr id="24" name="Text 21"/>
          <p:cNvSpPr/>
          <p:nvPr/>
        </p:nvSpPr>
        <p:spPr>
          <a:xfrm>
            <a:off x="5833872" y="3383280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Diferente puerto (3000 vs 8000) = Diferente Origen.</a:t>
            </a:r>
            <a:endParaRPr lang="en-US" sz="1040" dirty="0"/>
          </a:p>
        </p:txBody>
      </p:sp>
      <p:sp>
        <p:nvSpPr>
          <p:cNvPr id="25" name="Shape 22"/>
          <p:cNvSpPr/>
          <p:nvPr/>
        </p:nvSpPr>
        <p:spPr>
          <a:xfrm>
            <a:off x="950976" y="4370832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42416" y="4480560"/>
            <a:ext cx="91440" cy="13898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88720" y="4498848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88720" y="454456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</a:t>
            </a:r>
            <a:endParaRPr lang="en-US" sz="880" dirty="0"/>
          </a:p>
        </p:txBody>
      </p:sp>
      <p:sp>
        <p:nvSpPr>
          <p:cNvPr id="29" name="Text 26"/>
          <p:cNvSpPr/>
          <p:nvPr/>
        </p:nvSpPr>
        <p:spPr>
          <a:xfrm>
            <a:off x="1188720" y="479145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API debe estar abierta a todo el mundo (*).</a:t>
            </a:r>
            <a:endParaRPr lang="en-US" sz="1380" dirty="0"/>
          </a:p>
        </p:txBody>
      </p:sp>
      <p:sp>
        <p:nvSpPr>
          <p:cNvPr id="30" name="Text 27"/>
          <p:cNvSpPr/>
          <p:nvPr/>
        </p:nvSpPr>
        <p:spPr>
          <a:xfrm>
            <a:off x="1188720" y="5175504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debemos autorizar orígenes de confianza (Whitelisting).</a:t>
            </a:r>
            <a:endParaRPr lang="en-US" sz="104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Configuración de CORSMiddleware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Seguridad Transversal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Habilitando el acceso al Frontend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Cyber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CORS: Riesgos de Seguridad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Vigilancia Cyber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2286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157984"/>
            <a:ext cx="109728" cy="20299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139696"/>
            <a:ext cx="9034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Peligro: allow_origins=['*']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60704" y="2487168"/>
            <a:ext cx="903427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el comodín '*' en producción permite que CUALQUIER sitio malicioso haga peticiones a tu API a nombre del usuario. Esto facilita ataques de robo de sesión y exfiltración de datos.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4672" y="4754880"/>
            <a:ext cx="9381744" cy="914400"/>
          </a:xfrm>
          <a:prstGeom prst="roundRect">
            <a:avLst>
              <a:gd name="adj" fmla="val 4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4919472"/>
            <a:ext cx="89794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Configura tus orígenes de forma explícita en cada entorno (Dev/Prod).</a:t>
            </a:r>
            <a:endParaRPr lang="en-US" sz="1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Interoperabilidad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Documentación como Código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OpenAPI / Swagger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2286000"/>
          </a:xfrm>
          <a:prstGeom prst="roundRect">
            <a:avLst>
              <a:gd name="adj" fmla="val 32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2026, si tu API no tiene un Swagger actualizado y funcional, técnicamente no existe para el resto del equipo.</a:t>
            </a:r>
            <a:endParaRPr lang="en-US" sz="2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Interoperabilidad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Explorando el /docs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El Contrato Vivo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Capacidades de la Interfaz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Ejecución Real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Botón 'Try it out' para enviar peticiones desde el browser.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08776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openapi.json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09944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Descarga la especificación técnica para herramientas de QA.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572768" y="4443984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73936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Status Codes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773936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Visualización clara de qué respuestas esperar (200, 422, etc).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208776" y="4443984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9944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Auto-Update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409944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Cualquier cambio en Pydantic se refleja al recargar la página.</a:t>
            </a:r>
            <a:endParaRPr lang="en-US" sz="106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Ingeniería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Estandarización Universal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El valor de OpenAPI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32004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157984"/>
            <a:ext cx="109728" cy="29443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139696"/>
            <a:ext cx="9034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Lenguaje Común de Ingeniería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60704" y="2487168"/>
            <a:ext cx="9034272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OpenAPI es el estándar que permite que un equipo de Java consuma tu Python, o que una herramienta de IA genere un cliente de C# automáticamente. Tu código es ahora el manual de instrucciones del sistema.</a:t>
            </a:r>
            <a:endParaRPr lang="en-US" sz="12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IA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Huella IA: Ingeniero de QA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Metodología Agentic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078224"/>
          </a:xfrm>
          <a:prstGeom prst="roundRect">
            <a:avLst>
              <a:gd name="adj" fmla="val 89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Estrategia de Pruebas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4462272" cy="3072384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50976" y="2596896"/>
            <a:ext cx="73152" cy="30723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15568" y="2743200"/>
            <a:ext cx="4151376" cy="310896"/>
          </a:xfrm>
          <a:prstGeom prst="roundRect">
            <a:avLst>
              <a:gd name="adj" fmla="val 882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07008" y="2816352"/>
            <a:ext cx="3968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Débil</a:t>
            </a:r>
            <a:endParaRPr lang="en-US" sz="1180" dirty="0"/>
          </a:p>
        </p:txBody>
      </p:sp>
      <p:sp>
        <p:nvSpPr>
          <p:cNvPr id="17" name="Text 14"/>
          <p:cNvSpPr/>
          <p:nvPr/>
        </p:nvSpPr>
        <p:spPr>
          <a:xfrm>
            <a:off x="1152144" y="3127248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Genérico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1115568" y="3383280"/>
            <a:ext cx="4151376" cy="932688"/>
          </a:xfrm>
          <a:prstGeom prst="roundRect">
            <a:avLst>
              <a:gd name="adj" fmla="val 392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25296" y="34930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'¿Cómo pruebo mi API de usuarios?'.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1170432" y="4599432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80160" y="448056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da pasos obvios.</a:t>
            </a:r>
            <a:endParaRPr lang="en-US" sz="740" dirty="0"/>
          </a:p>
        </p:txBody>
      </p:sp>
      <p:sp>
        <p:nvSpPr>
          <p:cNvPr id="22" name="Shape 19"/>
          <p:cNvSpPr/>
          <p:nvPr/>
        </p:nvSpPr>
        <p:spPr>
          <a:xfrm>
            <a:off x="1170432" y="4965192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80160" y="484632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conoce tu lógica.</a:t>
            </a:r>
            <a:endParaRPr lang="en-US" sz="740" dirty="0"/>
          </a:p>
        </p:txBody>
      </p:sp>
      <p:sp>
        <p:nvSpPr>
          <p:cNvPr id="24" name="Shape 21"/>
          <p:cNvSpPr/>
          <p:nvPr/>
        </p:nvSpPr>
        <p:spPr>
          <a:xfrm>
            <a:off x="1170432" y="5330952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80160" y="521208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profundidad técnica.</a:t>
            </a:r>
            <a:endParaRPr lang="en-US" sz="740" dirty="0"/>
          </a:p>
        </p:txBody>
      </p:sp>
      <p:sp>
        <p:nvSpPr>
          <p:cNvPr id="26" name="Shape 23"/>
          <p:cNvSpPr/>
          <p:nvPr/>
        </p:nvSpPr>
        <p:spPr>
          <a:xfrm>
            <a:off x="5577840" y="2596896"/>
            <a:ext cx="4462272" cy="3072384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577840" y="2596896"/>
            <a:ext cx="73152" cy="30723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742432" y="2743200"/>
            <a:ext cx="4151376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33872" y="2816352"/>
            <a:ext cx="3968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de QA</a:t>
            </a:r>
            <a:endParaRPr lang="en-US" sz="1180" dirty="0"/>
          </a:p>
        </p:txBody>
      </p:sp>
      <p:sp>
        <p:nvSpPr>
          <p:cNvPr id="30" name="Text 27"/>
          <p:cNvSpPr/>
          <p:nvPr/>
        </p:nvSpPr>
        <p:spPr>
          <a:xfrm>
            <a:off x="5779008" y="3127248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Estructurado</a:t>
            </a:r>
            <a:endParaRPr lang="en-US" sz="780" dirty="0"/>
          </a:p>
        </p:txBody>
      </p:sp>
      <p:sp>
        <p:nvSpPr>
          <p:cNvPr id="31" name="Shape 28"/>
          <p:cNvSpPr/>
          <p:nvPr/>
        </p:nvSpPr>
        <p:spPr>
          <a:xfrm>
            <a:off x="5742432" y="3383280"/>
            <a:ext cx="4151376" cy="932688"/>
          </a:xfrm>
          <a:prstGeom prst="roundRect">
            <a:avLst>
              <a:gd name="adj" fmla="val 392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52160" y="34930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'Actúa como un QA Engineer. Basado en este esquema de FastAPI, genera una colección de Postman que cubra: 1. Éxito (201), 2. Error de tipo (422) y 3. Ataque de inyección lógica'.</a:t>
            </a:r>
            <a:endParaRPr lang="en-US" sz="780" dirty="0"/>
          </a:p>
        </p:txBody>
      </p:sp>
      <p:sp>
        <p:nvSpPr>
          <p:cNvPr id="33" name="Shape 30"/>
          <p:cNvSpPr/>
          <p:nvPr/>
        </p:nvSpPr>
        <p:spPr>
          <a:xfrm>
            <a:off x="5797296" y="4599432"/>
            <a:ext cx="54864" cy="548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07024" y="448056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 casos de borde.</a:t>
            </a:r>
            <a:endParaRPr lang="en-US" sz="740" dirty="0"/>
          </a:p>
        </p:txBody>
      </p:sp>
      <p:sp>
        <p:nvSpPr>
          <p:cNvPr id="35" name="Shape 32"/>
          <p:cNvSpPr/>
          <p:nvPr/>
        </p:nvSpPr>
        <p:spPr>
          <a:xfrm>
            <a:off x="5797296" y="4965192"/>
            <a:ext cx="54864" cy="548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07024" y="484632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Automatiza el testeo.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5797296" y="5330952"/>
            <a:ext cx="54864" cy="548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07024" y="521208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Garantiza la calidad.</a:t>
            </a:r>
            <a:endParaRPr lang="en-US" sz="740" dirty="0"/>
          </a:p>
        </p:txBody>
      </p:sp>
      <p:sp>
        <p:nvSpPr>
          <p:cNvPr id="39" name="Text 36"/>
          <p:cNvSpPr/>
          <p:nvPr/>
        </p:nvSpPr>
        <p:spPr>
          <a:xfrm>
            <a:off x="987552" y="5943600"/>
            <a:ext cx="9015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IA propone el plan; tú ejecutas y validas el resultado real.</a:t>
            </a:r>
            <a:endParaRPr lang="en-US" sz="84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Práctica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Pruebas de Integración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Validando el Puente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de trabajo con agentes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2919984" cy="3383280"/>
          </a:xfrm>
          <a:prstGeom prst="roundRect">
            <a:avLst>
              <a:gd name="adj" fmla="val 125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42416" y="2724912"/>
            <a:ext cx="91440" cy="3127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88720" y="2724912"/>
            <a:ext cx="310896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88720" y="277063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60" dirty="0"/>
          </a:p>
        </p:txBody>
      </p:sp>
      <p:sp>
        <p:nvSpPr>
          <p:cNvPr id="17" name="Text 14"/>
          <p:cNvSpPr/>
          <p:nvPr/>
        </p:nvSpPr>
        <p:spPr>
          <a:xfrm>
            <a:off x="1572768" y="2724912"/>
            <a:ext cx="2170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ESPECIFICAR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1188720" y="3072384"/>
            <a:ext cx="2572512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 el caso (ej: Login con clave errónea) en Postman.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3907536" y="4178808"/>
            <a:ext cx="91440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035552" y="2596896"/>
            <a:ext cx="2919984" cy="3383280"/>
          </a:xfrm>
          <a:prstGeom prst="roundRect">
            <a:avLst>
              <a:gd name="adj" fmla="val 125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26992" y="2724912"/>
            <a:ext cx="91440" cy="3127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273296" y="2724912"/>
            <a:ext cx="310896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73296" y="277063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60" dirty="0"/>
          </a:p>
        </p:txBody>
      </p:sp>
      <p:sp>
        <p:nvSpPr>
          <p:cNvPr id="24" name="Text 21"/>
          <p:cNvSpPr/>
          <p:nvPr/>
        </p:nvSpPr>
        <p:spPr>
          <a:xfrm>
            <a:off x="4657344" y="2724912"/>
            <a:ext cx="2170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EJECUTAR</a:t>
            </a:r>
            <a:endParaRPr lang="en-US" sz="1420" dirty="0"/>
          </a:p>
        </p:txBody>
      </p:sp>
      <p:sp>
        <p:nvSpPr>
          <p:cNvPr id="25" name="Text 22"/>
          <p:cNvSpPr/>
          <p:nvPr/>
        </p:nvSpPr>
        <p:spPr>
          <a:xfrm>
            <a:off x="4273296" y="3072384"/>
            <a:ext cx="2572512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Lanzar la petición real contra el servidor FastAPI.</a:t>
            </a:r>
            <a:endParaRPr lang="en-US" sz="1040" dirty="0"/>
          </a:p>
        </p:txBody>
      </p:sp>
      <p:sp>
        <p:nvSpPr>
          <p:cNvPr id="26" name="Shape 23"/>
          <p:cNvSpPr/>
          <p:nvPr/>
        </p:nvSpPr>
        <p:spPr>
          <a:xfrm>
            <a:off x="6992112" y="4178808"/>
            <a:ext cx="91440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20128" y="2596896"/>
            <a:ext cx="2919984" cy="3383280"/>
          </a:xfrm>
          <a:prstGeom prst="roundRect">
            <a:avLst>
              <a:gd name="adj" fmla="val 125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211568" y="2724912"/>
            <a:ext cx="91440" cy="31272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357872" y="2724912"/>
            <a:ext cx="310896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357872" y="277063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60" dirty="0"/>
          </a:p>
        </p:txBody>
      </p:sp>
      <p:sp>
        <p:nvSpPr>
          <p:cNvPr id="31" name="Text 28"/>
          <p:cNvSpPr/>
          <p:nvPr/>
        </p:nvSpPr>
        <p:spPr>
          <a:xfrm>
            <a:off x="7741920" y="2724912"/>
            <a:ext cx="2170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</a:t>
            </a:r>
            <a:endParaRPr lang="en-US" sz="1420" dirty="0"/>
          </a:p>
        </p:txBody>
      </p:sp>
      <p:sp>
        <p:nvSpPr>
          <p:cNvPr id="32" name="Text 29"/>
          <p:cNvSpPr/>
          <p:nvPr/>
        </p:nvSpPr>
        <p:spPr>
          <a:xfrm>
            <a:off x="7357872" y="3072384"/>
            <a:ext cx="2572512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Verificar que el Status Code sea 401 y el JSON sea correcto.</a:t>
            </a:r>
            <a:endParaRPr lang="en-US" sz="104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Estrategia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de Competencias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Rumbo al Examen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debo dominar para el lunes?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Arqueología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código PHP legacy y mapear su base de datos.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08776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09944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la capa MVC y el Repositorio de acceso a datos.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572768" y="4443984"/>
            <a:ext cx="73152" cy="13533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73936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773936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Blindar esquemas con Pydantic y restringir Payloads.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208776" y="4443984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9944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Layer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409944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Implementar FastAPI con Status Codes y CORS configurado.</a:t>
            </a:r>
            <a:endParaRPr lang="en-US" sz="106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18 · Importante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Lunes: Evaluación Parcial 2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Simulacro Final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32004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157984"/>
            <a:ext cx="109728" cy="29443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139696"/>
            <a:ext cx="9034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RECOMENDACIÓN DE ORO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60704" y="2487168"/>
            <a:ext cx="9034272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enfoquen solo en que 'compile'. El lunes evaluaremos el flujo del dato: cómo un registro sucio del 2014 viaja de forma segura hasta una interfaz moderna gracias a su arquitectura.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4672" y="5486400"/>
            <a:ext cx="9381744" cy="548640"/>
          </a:xfrm>
          <a:prstGeom prst="roundRect">
            <a:avLst>
              <a:gd name="adj" fmla="val 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5650992"/>
            <a:ext cx="8979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arquitectura es la solución al caos del tiempo.</a:t>
            </a:r>
            <a:endParaRPr lang="en-US" sz="16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1956816"/>
            <a:ext cx="841248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 Paso: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Evaluación Parcial 2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804672" y="3310128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lunes 27 pondremos a prueba nuestra capacidad de integrar sistemas legados mediante arquitecturas modernas. Repasen el flujo completo: Arqueología -&gt; MVC -&gt; API Layer.</a:t>
            </a:r>
            <a:endParaRPr lang="en-US" sz="1520" dirty="0"/>
          </a:p>
        </p:txBody>
      </p:sp>
      <p:sp>
        <p:nvSpPr>
          <p:cNvPr id="9" name="Shape 6"/>
          <p:cNvSpPr/>
          <p:nvPr/>
        </p:nvSpPr>
        <p:spPr>
          <a:xfrm>
            <a:off x="804672" y="5321808"/>
            <a:ext cx="9381744" cy="749808"/>
          </a:xfrm>
          <a:prstGeom prst="roundRect">
            <a:avLst>
              <a:gd name="adj" fmla="val 4878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5486400"/>
            <a:ext cx="8979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Nos vemos el lunes 27 de abril para la Evaluación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68</Slides>
  <Notes>68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</vt:vector>
  </TitlesOfParts>
  <Company>AIEP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Construcción de APIs Profesionales e Interoperabilidad</dc:title>
  <dc:subject>Clase 18</dc:subject>
  <dc:creator>Diego Obando</dc:creator>
  <cp:lastModifiedBy>Diego Obando</cp:lastModifiedBy>
  <cp:revision>1</cp:revision>
  <dcterms:created xsi:type="dcterms:W3CDTF">2026-04-19T23:32:54Z</dcterms:created>
  <dcterms:modified xsi:type="dcterms:W3CDTF">2026-04-19T23:32:54Z</dcterms:modified>
</cp:coreProperties>
</file>