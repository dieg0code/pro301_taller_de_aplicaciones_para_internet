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66928"/>
            <a:ext cx="109728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912925"/>
            <a:ext cx="256032" cy="5888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1910" y="1682496"/>
            <a:ext cx="307238" cy="81930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70355" y="1912925"/>
            <a:ext cx="256032" cy="5888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2578608"/>
            <a:ext cx="93817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e Integración con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Código Legado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04672" y="4041648"/>
            <a:ext cx="9381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06 · Clase 01: El valor del mantenimiento y la arqueología técnica.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796528" y="5321808"/>
            <a:ext cx="749808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9" name="Image 1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16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¿PHP está muerto?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meme vs. la Realidad Laboral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24128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77% de la Web todavía corre sobre PHP. Los sistemas que hoy facturan millones suelen ser 'Legacy'.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04672" y="3493008"/>
            <a:ext cx="2926080" cy="21945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602736"/>
            <a:ext cx="100584" cy="19751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62102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Sistemas Vivos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950208" y="3493008"/>
            <a:ext cx="2926080" cy="21945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23360" y="3602736"/>
            <a:ext cx="100584" cy="19751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06240" y="362102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Misión Crítica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095744" y="3493008"/>
            <a:ext cx="2926080" cy="21945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68896" y="3602736"/>
            <a:ext cx="100584" cy="19751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51776" y="362102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Oportunidad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16 · Mentalidad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Perfil del Ingeniero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somos solo 'creadores de apps'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Médicos de Sistemas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Amateur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Destructivo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Dice: 'esto es basura'.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Quiere borrar y reescribir.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Ignora los riesgos del negocio.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Profesional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Quirúrgico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Dice: '¿cómo funciona?'.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Hace cambios incrementales.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 el Axioma de Integridad.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474720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621024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4041648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66674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45312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técnico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16 · Objetivos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 la Sesión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Nuestra misión para hoy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lograremos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Identificar Estructuras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Diferenciar Arquitectura de Archivos vs Recursos.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Técnica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PHP legacy sin entrar en pánico.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Gestionar Estado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Dominar sesiones y cookies nativas de servidor.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Mantenimiento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Aplicar el Axioma de Integridad en un CRUD real.</a:t>
            </a:r>
            <a:endParaRPr lang="en-US" sz="10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16 · Mapa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 Aprendizaje: Hoy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Bloques de Arqueología Técnica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3291840"/>
            <a:ext cx="2194560" cy="2560320"/>
          </a:xfrm>
          <a:prstGeom prst="roundRect">
            <a:avLst>
              <a:gd name="adj" fmla="val 1250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3401568"/>
            <a:ext cx="100584" cy="23408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34198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60704" y="3694176"/>
            <a:ext cx="18653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Psicología y Valor del Legado.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182112" y="3291840"/>
            <a:ext cx="2194560" cy="25603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55264" y="3401568"/>
            <a:ext cx="100584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38144" y="34198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38144" y="3694176"/>
            <a:ext cx="18653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PHP Esencial y Superglobales.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559552" y="3291840"/>
            <a:ext cx="2194560" cy="25603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632704" y="3401568"/>
            <a:ext cx="100584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15584" y="34198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15584" y="3694176"/>
            <a:ext cx="18653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Sesiones y Estado del Usuario.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936992" y="3291840"/>
            <a:ext cx="2194560" cy="25603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10144" y="3401568"/>
            <a:ext cx="100584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93024" y="34198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193024" y="3694176"/>
            <a:ext cx="186537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Mantenimiento Quirúrgico CRUD.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16 · Ingeniería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Principio de Integridad Técnica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Estabilidad vs. Impulso de Reescritura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2286000"/>
          </a:xfrm>
          <a:prstGeom prst="roundRect">
            <a:avLst>
              <a:gd name="adj" fmla="val 32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sistemas de misión crítica, la estabilidad es el activo más valioso. Un ingeniero profesional no borra: comprende, protege e interviene con precisión.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56816"/>
            <a:ext cx="841248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Psicología y Valor del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Código Legado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04672" y="33101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Entendiendo por qué lo 'viejo' sostiene el presente.</a:t>
            </a:r>
            <a:endParaRPr lang="en-US" sz="15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realmente el Código Legado?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1.1 El valor del negocio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Cambiando la perspectiva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688336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MITO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188720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'Es código basura escrito por alguien que no sabía'.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1188720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código que ha sobrevivido al tiempo y ataques reales.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596128" y="2578608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87568" y="2688336"/>
            <a:ext cx="91440" cy="13898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33872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33872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MITO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833872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'Es aburrido y no tiene valor tecnológico'.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5833872" y="3383280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el sistema que paga los sueldos y sostiene el negocio.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950976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42416" y="4480560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88720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88720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1188720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código legacy es un activo.</a:t>
            </a:r>
            <a:endParaRPr lang="en-US" sz="1380" dirty="0"/>
          </a:p>
        </p:txBody>
      </p:sp>
      <p:sp>
        <p:nvSpPr>
          <p:cNvPr id="30" name="Text 27"/>
          <p:cNvSpPr/>
          <p:nvPr/>
        </p:nvSpPr>
        <p:spPr>
          <a:xfrm>
            <a:off x="1188720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Contiene décadas de reglas de negocio que nadie documentó.</a:t>
            </a:r>
            <a:endParaRPr lang="en-US" sz="1040" dirty="0"/>
          </a:p>
        </p:txBody>
      </p:sp>
      <p:sp>
        <p:nvSpPr>
          <p:cNvPr id="31" name="Shape 28"/>
          <p:cNvSpPr/>
          <p:nvPr/>
        </p:nvSpPr>
        <p:spPr>
          <a:xfrm>
            <a:off x="5596128" y="4370832"/>
            <a:ext cx="4443984" cy="1609344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87568" y="4480560"/>
            <a:ext cx="91440" cy="13898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33872" y="449884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33872" y="454456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5833872" y="4791456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Mantenimiento = Ingeniería.</a:t>
            </a:r>
            <a:endParaRPr lang="en-US" sz="1380" dirty="0"/>
          </a:p>
        </p:txBody>
      </p:sp>
      <p:sp>
        <p:nvSpPr>
          <p:cNvPr id="36" name="Text 33"/>
          <p:cNvSpPr/>
          <p:nvPr/>
        </p:nvSpPr>
        <p:spPr>
          <a:xfrm>
            <a:off x="5833872" y="5175504"/>
            <a:ext cx="4096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requiere más nivel para reparar que para crear de cero.</a:t>
            </a:r>
            <a:endParaRPr lang="en-US" sz="10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Archivos vs. Recursos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1.2 Diferencia Estructural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llegamos al dato?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724912"/>
            <a:ext cx="109728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FastAPI (Moderno)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Recursos Lógicos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 abstraída (/users/5).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framework rutea.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Independiente del disco.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2596896"/>
            <a:ext cx="3685032" cy="3383280"/>
          </a:xfrm>
          <a:prstGeom prst="roundRect">
            <a:avLst>
              <a:gd name="adj" fmla="val 108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4808" y="2724912"/>
            <a:ext cx="109728" cy="3127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PHP Legacy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 Físicos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 directa (detalle.php).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carpeta es la API.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archivo no está, la ruta cae.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892040" y="3474720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01768" y="3621024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4920" y="4041648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56632" y="366674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vs</a:t>
            </a:r>
            <a:endParaRPr lang="en-US" sz="1060" dirty="0"/>
          </a:p>
        </p:txBody>
      </p:sp>
      <p:sp>
        <p:nvSpPr>
          <p:cNvPr id="43" name="Text 40"/>
          <p:cNvSpPr/>
          <p:nvPr/>
        </p:nvSpPr>
        <p:spPr>
          <a:xfrm>
            <a:off x="5020056" y="4453128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organización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Carpeta es la API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1.2 Organización física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749808"/>
          </a:xfrm>
          <a:prstGeom prst="roundRect">
            <a:avLst>
              <a:gd name="adj" fmla="val 487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el legado, si mueves o renombras un archivo físico, destruyes el punto de acceso.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3127248"/>
            <a:ext cx="2926080" cy="256032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236976"/>
            <a:ext cx="100584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25526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/index.php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60704" y="3529584"/>
            <a:ext cx="259689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Página de inicio.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950208" y="3127248"/>
            <a:ext cx="2926080" cy="256032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23360" y="3236976"/>
            <a:ext cx="100584" cy="2340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0" y="325526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/login.php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206240" y="3529584"/>
            <a:ext cx="259689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Procesador de acceso.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95744" y="3127248"/>
            <a:ext cx="2926080" cy="256032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68896" y="3236976"/>
            <a:ext cx="100584" cy="23408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51776" y="325526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/admin/edit.php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351776" y="3529584"/>
            <a:ext cx="259689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de administración.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Patrón 'Espagueti'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1.3 Mezcla de responsabilidades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463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57984"/>
            <a:ext cx="109728" cy="12070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139696"/>
            <a:ext cx="9034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todo está mezclado?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" y="2487168"/>
            <a:ext cx="9034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PHP legacy, es normal encontrar SQL, lógica de negocio y HTML en el mismo archivo. Era el estándar de inmediatez antes de los frameworks.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4672" y="3675888"/>
            <a:ext cx="9381744" cy="2505456"/>
          </a:xfrm>
          <a:prstGeom prst="roundRect">
            <a:avLst>
              <a:gd name="adj" fmla="val 146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2688" y="378561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42416" y="3858768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Anatomía de un archivo mezclado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4242816"/>
            <a:ext cx="8961120" cy="17556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16 · 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 como Arqueóloga de Software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1.4 Estrategia de Exploración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560320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688336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173A5A"/>
          </a:solidFill>
          <a:ln w="12700">
            <a:solidFill>
              <a:srgbClr val="173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761488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como intérprete de sistemas antiguos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4946904" y="4498848"/>
            <a:ext cx="1097280" cy="109728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46904" y="4864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 flipH="1">
            <a:off x="4149325" y="5047488"/>
            <a:ext cx="1346219" cy="777240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3417805" y="5413248"/>
            <a:ext cx="1463040" cy="822960"/>
          </a:xfrm>
          <a:prstGeom prst="roundRect">
            <a:avLst>
              <a:gd name="adj" fmla="val 4444"/>
            </a:avLst>
          </a:prstGeom>
          <a:solidFill>
            <a:srgbClr val="173A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17805" y="54589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17805" y="573328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MEMORIA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417805" y="591616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.md / Contexto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5495544" y="5047488"/>
            <a:ext cx="1346219" cy="777240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6110243" y="5413248"/>
            <a:ext cx="1463040" cy="822960"/>
          </a:xfrm>
          <a:prstGeom prst="roundRect">
            <a:avLst>
              <a:gd name="adj" fmla="val 4444"/>
            </a:avLst>
          </a:prstGeom>
          <a:solidFill>
            <a:srgbClr val="173A5A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10243" y="54589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🛠️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110243" y="573328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110243" y="591616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Filesystem / DB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 flipH="1">
            <a:off x="5495544" y="3493008"/>
            <a:ext cx="0" cy="1554480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4764024" y="3081528"/>
            <a:ext cx="1463040" cy="822960"/>
          </a:xfrm>
          <a:prstGeom prst="roundRect">
            <a:avLst>
              <a:gd name="adj" fmla="val 4444"/>
            </a:avLst>
          </a:prstGeom>
          <a:solidFill>
            <a:srgbClr val="173A5A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64024" y="3127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764024" y="340156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SUB-AGENTES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764024" y="35844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Especialistas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Estrategia de Exploración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1.4 ¿Qué leer primero?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de reconocimiento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50976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1572768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73936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Conexión</a:t>
            </a:r>
            <a:endParaRPr lang="en-US" sz="1360" dirty="0"/>
          </a:p>
        </p:txBody>
      </p:sp>
      <p:sp>
        <p:nvSpPr>
          <p:cNvPr id="18" name="Text 15"/>
          <p:cNvSpPr/>
          <p:nvPr/>
        </p:nvSpPr>
        <p:spPr>
          <a:xfrm>
            <a:off x="1773936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'include' o 'require' de config.php.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5586984" y="2542032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96712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96712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208776" y="2670048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2688336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Entradas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6409944" y="2980944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 las variables $_POST enviadas.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950976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0704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1572768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73936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Queries</a:t>
            </a:r>
            <a:endParaRPr lang="en-US" sz="1360" dirty="0"/>
          </a:p>
        </p:txBody>
      </p:sp>
      <p:sp>
        <p:nvSpPr>
          <p:cNvPr id="30" name="Text 27"/>
          <p:cNvSpPr/>
          <p:nvPr/>
        </p:nvSpPr>
        <p:spPr>
          <a:xfrm>
            <a:off x="1773936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Localiza los comandos INSERT / UPDATE.</a:t>
            </a:r>
            <a:endParaRPr lang="en-US" sz="1060" dirty="0"/>
          </a:p>
        </p:txBody>
      </p:sp>
      <p:sp>
        <p:nvSpPr>
          <p:cNvPr id="31" name="Shape 28"/>
          <p:cNvSpPr/>
          <p:nvPr/>
        </p:nvSpPr>
        <p:spPr>
          <a:xfrm>
            <a:off x="5586984" y="4315968"/>
            <a:ext cx="445312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96712" y="444398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96712" y="4489704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6208776" y="4443984"/>
            <a:ext cx="73152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9944" y="4462272"/>
            <a:ext cx="3502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Inyección</a:t>
            </a:r>
            <a:endParaRPr lang="en-US" sz="1360" dirty="0"/>
          </a:p>
        </p:txBody>
      </p:sp>
      <p:sp>
        <p:nvSpPr>
          <p:cNvPr id="36" name="Text 33"/>
          <p:cNvSpPr/>
          <p:nvPr/>
        </p:nvSpPr>
        <p:spPr>
          <a:xfrm>
            <a:off x="6409944" y="4754880"/>
            <a:ext cx="3502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dónde se imprimen datos en el HTML.</a:t>
            </a:r>
            <a:endParaRPr lang="en-US" sz="10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402336"/>
            <a:ext cx="3108960" cy="27432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3891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GUÍA — BLOQUE 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" y="106070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463040" y="1024128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proponer una 'reescritura total' es un riesgo financiero?</a:t>
            </a:r>
            <a:endParaRPr lang="en-US" sz="1560" dirty="0"/>
          </a:p>
        </p:txBody>
      </p:sp>
      <p:sp>
        <p:nvSpPr>
          <p:cNvPr id="8" name="Shape 5"/>
          <p:cNvSpPr/>
          <p:nvPr/>
        </p:nvSpPr>
        <p:spPr>
          <a:xfrm>
            <a:off x="804672" y="2596896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85292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463040" y="2816352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significa que la estructura de carpetas sea la API en PHP legacy?</a:t>
            </a:r>
            <a:endParaRPr lang="en-US" sz="1560" dirty="0"/>
          </a:p>
        </p:txBody>
      </p:sp>
      <p:sp>
        <p:nvSpPr>
          <p:cNvPr id="11" name="Shape 8"/>
          <p:cNvSpPr/>
          <p:nvPr/>
        </p:nvSpPr>
        <p:spPr>
          <a:xfrm>
            <a:off x="804672" y="4389120"/>
            <a:ext cx="94000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64515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CFC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1463040" y="4608576"/>
            <a:ext cx="79735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puede un agente de IA ayudar a entender un archivo de 500 líneas?</a:t>
            </a:r>
            <a:endParaRPr lang="en-US" sz="15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16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del Bloque 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Dignificando el Legado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04672" y="2029968"/>
            <a:ext cx="9381744" cy="1042416"/>
          </a:xfrm>
          <a:prstGeom prst="roundRect">
            <a:avLst>
              <a:gd name="adj" fmla="val 614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94560"/>
            <a:ext cx="8979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legado no es un estorbo, es un activo funcional que requiere respeto y maestría técnica.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04672" y="5413248"/>
            <a:ext cx="9381744" cy="566928"/>
          </a:xfrm>
          <a:prstGeom prst="roundRect">
            <a:avLst>
              <a:gd name="adj" fmla="val 4839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5522976"/>
            <a:ext cx="100584" cy="3474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5541264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 Bloque → PHP Esencial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Lectura e Integración con Código Legado</dc:title>
  <dc:subject>Clase 16</dc:subject>
  <dc:creator>Diego Obando</dc:creator>
  <cp:lastModifiedBy>Diego Obando</cp:lastModifiedBy>
  <cp:revision>1</cp:revision>
  <dcterms:created xsi:type="dcterms:W3CDTF">2026-04-19T18:50:53Z</dcterms:created>
  <dcterms:modified xsi:type="dcterms:W3CDTF">2026-04-19T18:50:53Z</dcterms:modified>
</cp:coreProperties>
</file>