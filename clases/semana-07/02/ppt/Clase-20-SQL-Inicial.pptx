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66928"/>
            <a:ext cx="109728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912925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1910" y="1682496"/>
            <a:ext cx="307238" cy="81930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70355" y="1912925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2615184"/>
            <a:ext cx="938174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inicial: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DDL, DML y CRUD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04672" y="4261104"/>
            <a:ext cx="9381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07 · Clase 20: Del modelo de datos a la persistencia controlada.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796528" y="5321808"/>
            <a:ext cx="749808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9" name="Image 1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Ruta de la Semana 07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evaluación a seguridad aplicada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técnica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2907792" cy="3383280"/>
          </a:xfrm>
          <a:prstGeom prst="roundRect">
            <a:avLst>
              <a:gd name="adj" fmla="val 1258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 Parcial 2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19568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conectada a API o servicio legado con uso documentado de agentes.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542032"/>
            <a:ext cx="2907792" cy="3383280"/>
          </a:xfrm>
          <a:prstGeom prst="roundRect">
            <a:avLst>
              <a:gd name="adj" fmla="val 1258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670048"/>
            <a:ext cx="73152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inicial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980944"/>
            <a:ext cx="19568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estructuras, manipular registros y consultar con criterio técnico.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542032"/>
            <a:ext cx="2907792" cy="3383280"/>
          </a:xfrm>
          <a:prstGeom prst="roundRect">
            <a:avLst>
              <a:gd name="adj" fmla="val 1258"/>
            </a:avLst>
          </a:prstGeom>
          <a:solidFill>
            <a:srgbClr val="FBF3D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MIÉ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670048"/>
            <a:ext cx="73152" cy="3127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aplicada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980944"/>
            <a:ext cx="19568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Validación, autenticación básica, errores e higiene frente a inyección SQL.</a:t>
            </a:r>
            <a:endParaRPr lang="en-US" sz="10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Cambia Hoy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no basta con recibir datos: hay que persistirlos bien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315968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029968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249424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Aplicación web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688336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 · API · Validación inicial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200400"/>
            <a:ext cx="369417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31012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intención del usuario.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1115568" y="3858768"/>
            <a:ext cx="369417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968496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datos en JSON.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1115568" y="4517136"/>
            <a:ext cx="369417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626864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rápido.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1115568" y="5175504"/>
            <a:ext cx="369417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28523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fallar sin destruir todo.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5321808" y="3547872"/>
            <a:ext cx="786384" cy="512064"/>
          </a:xfrm>
          <a:prstGeom prst="roundRect">
            <a:avLst>
              <a:gd name="adj" fmla="val 714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22976" y="37124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309360" y="2029968"/>
            <a:ext cx="3877056" cy="3968496"/>
          </a:xfrm>
          <a:prstGeom prst="roundRect">
            <a:avLst>
              <a:gd name="adj" fmla="val 141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09360" y="2029968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20256" y="2249424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datos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6620256" y="2688336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· Integridad · Memoria</a:t>
            </a:r>
            <a:endParaRPr lang="en-US" sz="1220" dirty="0"/>
          </a:p>
        </p:txBody>
      </p:sp>
      <p:sp>
        <p:nvSpPr>
          <p:cNvPr id="28" name="Shape 25"/>
          <p:cNvSpPr/>
          <p:nvPr/>
        </p:nvSpPr>
        <p:spPr>
          <a:xfrm>
            <a:off x="6620256" y="3200400"/>
            <a:ext cx="325526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84848" y="33101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 la verdad operativa.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6620256" y="3858768"/>
            <a:ext cx="325526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84848" y="39684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 datos inválidos.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6620256" y="4517136"/>
            <a:ext cx="325526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84848" y="46268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 estructura.</a:t>
            </a:r>
            <a:endParaRPr lang="en-US" sz="1140" dirty="0"/>
          </a:p>
        </p:txBody>
      </p:sp>
      <p:sp>
        <p:nvSpPr>
          <p:cNvPr id="34" name="Shape 31"/>
          <p:cNvSpPr/>
          <p:nvPr/>
        </p:nvSpPr>
        <p:spPr>
          <a:xfrm>
            <a:off x="6620256" y="5175504"/>
            <a:ext cx="325526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84848" y="5285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error puede persistir años.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Objetivos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la Sesión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Nuestra misión técnica hoy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lograremos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DDL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Diferenciar sublenguajes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estructura, contenido y consulta sin mezclar responsabilidades.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Construir esquemas sólidos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tipos, claves y restricciones como contrato técnico.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Ejecutar operaciones base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 el ciclo Crear, Leer, Actualizar y Eliminar con precisión.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SQL asistido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atajos peligrosos del agente antes de ejecutar código.</a:t>
            </a:r>
            <a:endParaRPr lang="en-US" sz="10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Mapa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Aprendizaje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bloques, una misma pregunta: ¿cómo cuidamos los datos?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3072384"/>
            <a:ext cx="2194560" cy="2688336"/>
          </a:xfrm>
          <a:prstGeom prst="roundRect">
            <a:avLst>
              <a:gd name="adj" fmla="val 1250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3182112"/>
            <a:ext cx="100584" cy="24688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3200400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0704" y="3474720"/>
            <a:ext cx="1865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DDL: definir el contenedor y endurecer el esquema.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3182112" y="3072384"/>
            <a:ext cx="2194560" cy="2688336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55264" y="3182112"/>
            <a:ext cx="100584" cy="24688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38144" y="3200400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38144" y="3474720"/>
            <a:ext cx="1865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DML: poblar, modificar y borrar con responsabilidad.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5559552" y="3072384"/>
            <a:ext cx="2194560" cy="2688336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32704" y="3182112"/>
            <a:ext cx="100584" cy="24688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15584" y="3200400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15584" y="3474720"/>
            <a:ext cx="1865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DQL: preguntar sin exponer datos innecesarios.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7936992" y="3072384"/>
            <a:ext cx="2194560" cy="2688336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10144" y="3182112"/>
            <a:ext cx="100584" cy="24688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93024" y="3200400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93024" y="3474720"/>
            <a:ext cx="1865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CRUD: conectar acciones web con operaciones SQL.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Idea central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No Es Solo Escribir Consultas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definir reglas para que el sistema no mienta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463040"/>
          </a:xfrm>
          <a:prstGeom prst="roundRect">
            <a:avLst>
              <a:gd name="adj" fmla="val 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base de datos es la memoria institucional de una aplicación. Si el esquema acepta basura, el sistema terminará trabajando con basura.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" y="3822192"/>
            <a:ext cx="9381744" cy="2231136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3950208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4023360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responsabilidades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950976" y="4334256"/>
            <a:ext cx="2907792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46227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450799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572768" y="4462272"/>
            <a:ext cx="73152" cy="1207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73936" y="448056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Definir</a:t>
            </a:r>
            <a:endParaRPr lang="en-US" sz="1360" dirty="0"/>
          </a:p>
        </p:txBody>
      </p:sp>
      <p:sp>
        <p:nvSpPr>
          <p:cNvPr id="20" name="Text 17"/>
          <p:cNvSpPr/>
          <p:nvPr/>
        </p:nvSpPr>
        <p:spPr>
          <a:xfrm>
            <a:off x="1773936" y="4773168"/>
            <a:ext cx="19568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forma tienen los datos.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4041648" y="4334256"/>
            <a:ext cx="2907792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51376" y="446227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51376" y="450799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4663440" y="4462272"/>
            <a:ext cx="73152" cy="12070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64608" y="448056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Proteger</a:t>
            </a:r>
            <a:endParaRPr lang="en-US" sz="1360" dirty="0"/>
          </a:p>
        </p:txBody>
      </p:sp>
      <p:sp>
        <p:nvSpPr>
          <p:cNvPr id="26" name="Text 23"/>
          <p:cNvSpPr/>
          <p:nvPr/>
        </p:nvSpPr>
        <p:spPr>
          <a:xfrm>
            <a:off x="4864608" y="4773168"/>
            <a:ext cx="19568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datos se aceptan o rechazan.</a:t>
            </a:r>
            <a:endParaRPr lang="en-US" sz="1060" dirty="0"/>
          </a:p>
        </p:txBody>
      </p:sp>
      <p:sp>
        <p:nvSpPr>
          <p:cNvPr id="27" name="Shape 24"/>
          <p:cNvSpPr/>
          <p:nvPr/>
        </p:nvSpPr>
        <p:spPr>
          <a:xfrm>
            <a:off x="7132320" y="4334256"/>
            <a:ext cx="2907792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42048" y="446227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42048" y="450799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7754112" y="4462272"/>
            <a:ext cx="73152" cy="12070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55280" y="448056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Consultar</a:t>
            </a:r>
            <a:endParaRPr lang="en-US" sz="1360" dirty="0"/>
          </a:p>
        </p:txBody>
      </p:sp>
      <p:sp>
        <p:nvSpPr>
          <p:cNvPr id="32" name="Text 29"/>
          <p:cNvSpPr/>
          <p:nvPr/>
        </p:nvSpPr>
        <p:spPr>
          <a:xfrm>
            <a:off x="7955280" y="4773168"/>
            <a:ext cx="19568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información sale hacia la aplicación.</a:t>
            </a:r>
            <a:endParaRPr lang="en-US" sz="10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Definiendo el Contenedor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265176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DDL: el lenguaje que convierte requerimientos en estructura persistente.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23036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53949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del bloque: diseñar tablas que protejan integridad, rendimiento y seguridad desde el origen.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Relacional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creamos listas: definimos entidades, atributos y reglas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Vocabulario base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2907792" cy="3383280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Entidad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19568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 relevante del negocio: usuario, sesión, compra, producto.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542032"/>
            <a:ext cx="2907792" cy="3383280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670048"/>
            <a:ext cx="73152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Atributo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980944"/>
            <a:ext cx="19568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Propiedad de la entidad: correo, monto, estado, fecha.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542032"/>
            <a:ext cx="2907792" cy="3383280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TUP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670048"/>
            <a:ext cx="73152" cy="3127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Tupla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980944"/>
            <a:ext cx="19568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Fila concreta: una instancia real de esa entidad.</a:t>
            </a:r>
            <a:endParaRPr lang="en-US" sz="10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Tabla Como Contrato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backend no debería adivinar la forma de los datos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11680"/>
            <a:ext cx="4480560" cy="4005072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2011680"/>
            <a:ext cx="4480560" cy="420624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sesiones_seguras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87552" y="254203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2596896" y="25420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3877056" y="2542032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4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950976" y="2871216"/>
            <a:ext cx="4096512" cy="0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301752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token_uuid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2596896" y="301752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CHAR(36)</a:t>
            </a:r>
            <a:endParaRPr lang="en-US" sz="980" dirty="0"/>
          </a:p>
        </p:txBody>
      </p:sp>
      <p:sp>
        <p:nvSpPr>
          <p:cNvPr id="18" name="Text 15"/>
          <p:cNvSpPr/>
          <p:nvPr/>
        </p:nvSpPr>
        <p:spPr>
          <a:xfrm>
            <a:off x="3877056" y="3017520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950976" y="3346704"/>
            <a:ext cx="4096512" cy="0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7552" y="349300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usuario_id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2596896" y="349300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3877056" y="3493008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950976" y="3822192"/>
            <a:ext cx="4096512" cy="0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7552" y="396849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direccion_ip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2596896" y="396849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VARCHAR(45)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3877056" y="3968496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950976" y="4297680"/>
            <a:ext cx="4096512" cy="0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444398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ultima_actividad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2596896" y="44439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980" dirty="0"/>
          </a:p>
        </p:txBody>
      </p:sp>
      <p:sp>
        <p:nvSpPr>
          <p:cNvPr id="30" name="Text 27"/>
          <p:cNvSpPr/>
          <p:nvPr/>
        </p:nvSpPr>
        <p:spPr>
          <a:xfrm>
            <a:off x="3877056" y="4443984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940" dirty="0"/>
          </a:p>
        </p:txBody>
      </p:sp>
      <p:sp>
        <p:nvSpPr>
          <p:cNvPr id="31" name="Shape 28"/>
          <p:cNvSpPr/>
          <p:nvPr/>
        </p:nvSpPr>
        <p:spPr>
          <a:xfrm>
            <a:off x="950976" y="4773168"/>
            <a:ext cx="4096512" cy="0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87552" y="491947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es_valida</a:t>
            </a:r>
            <a:endParaRPr lang="en-US" sz="1080" dirty="0"/>
          </a:p>
        </p:txBody>
      </p:sp>
      <p:sp>
        <p:nvSpPr>
          <p:cNvPr id="33" name="Text 30"/>
          <p:cNvSpPr/>
          <p:nvPr/>
        </p:nvSpPr>
        <p:spPr>
          <a:xfrm>
            <a:off x="2596896" y="49194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980" dirty="0"/>
          </a:p>
        </p:txBody>
      </p:sp>
      <p:sp>
        <p:nvSpPr>
          <p:cNvPr id="34" name="Text 31"/>
          <p:cNvSpPr/>
          <p:nvPr/>
        </p:nvSpPr>
        <p:spPr>
          <a:xfrm>
            <a:off x="3877056" y="4919472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940" dirty="0"/>
          </a:p>
        </p:txBody>
      </p:sp>
      <p:sp>
        <p:nvSpPr>
          <p:cNvPr id="35" name="Shape 32"/>
          <p:cNvSpPr/>
          <p:nvPr/>
        </p:nvSpPr>
        <p:spPr>
          <a:xfrm>
            <a:off x="5596128" y="2011680"/>
            <a:ext cx="4590288" cy="1097280"/>
          </a:xfrm>
          <a:prstGeom prst="roundRect">
            <a:avLst>
              <a:gd name="adj" fmla="val 3333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687568" y="2139696"/>
            <a:ext cx="109728" cy="841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52160" y="2121408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Contrato estructural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852160" y="2468880"/>
            <a:ext cx="4242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dato no cumple el plano, la base de datos debe rechazarlo antes de que contamine el sistema.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5596128" y="3364992"/>
            <a:ext cx="4590288" cy="109728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687568" y="3493008"/>
            <a:ext cx="109728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52160" y="3474720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Integridad técnica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852160" y="3822192"/>
            <a:ext cx="4242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Tipos, claves y restricciones reducen errores del backend y previenen estados imposibles.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5596128" y="4718304"/>
            <a:ext cx="4590288" cy="1097280"/>
          </a:xfrm>
          <a:prstGeom prst="roundRect">
            <a:avLst>
              <a:gd name="adj" fmla="val 3333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687568" y="4846320"/>
            <a:ext cx="109728" cy="841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852160" y="482803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para seguridad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5852160" y="5175504"/>
            <a:ext cx="4242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esquema estricto limita payloads inesperados y ayuda a controlar exposición de datos.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 CREATE TABLE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línea toma una decisión de diseño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4315968"/>
          </a:xfrm>
          <a:prstGeom prst="roundRect">
            <a:avLst>
              <a:gd name="adj" fmla="val 84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 de gestión de sesiones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896112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DDL Como Profesional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memorices sintaxis: detecta intención técnica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56816"/>
            <a:ext cx="5266944" cy="4133088"/>
          </a:xfrm>
          <a:prstGeom prst="roundRect">
            <a:avLst>
              <a:gd name="adj" fmla="val 8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66544"/>
            <a:ext cx="50109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39696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Fragmento crítico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23744"/>
            <a:ext cx="4846320" cy="33832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45936" y="1993392"/>
            <a:ext cx="384048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37376" y="2121408"/>
            <a:ext cx="109728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01968" y="210312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CHAR(36)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601968" y="245059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UUID fijo: evita longitud variable innecesaria.</a:t>
            </a:r>
            <a:endParaRPr lang="en-US" sz="870" dirty="0"/>
          </a:p>
        </p:txBody>
      </p:sp>
      <p:sp>
        <p:nvSpPr>
          <p:cNvPr id="18" name="Shape 14"/>
          <p:cNvSpPr/>
          <p:nvPr/>
        </p:nvSpPr>
        <p:spPr>
          <a:xfrm>
            <a:off x="6345936" y="2962656"/>
            <a:ext cx="384048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37376" y="3090672"/>
            <a:ext cx="109728" cy="5120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01968" y="3072384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NULL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601968" y="341985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sesión no existe si falta usuario o IP.</a:t>
            </a:r>
            <a:endParaRPr lang="en-US" sz="870" dirty="0"/>
          </a:p>
        </p:txBody>
      </p:sp>
      <p:sp>
        <p:nvSpPr>
          <p:cNvPr id="22" name="Shape 18"/>
          <p:cNvSpPr/>
          <p:nvPr/>
        </p:nvSpPr>
        <p:spPr>
          <a:xfrm>
            <a:off x="6345936" y="3950208"/>
            <a:ext cx="384048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37376" y="4078224"/>
            <a:ext cx="109728" cy="5120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601968" y="405993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UNIQUE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601968" y="440740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pueden existir dos tokens públicos iguales.</a:t>
            </a:r>
            <a:endParaRPr lang="en-US" sz="870" dirty="0"/>
          </a:p>
        </p:txBody>
      </p:sp>
      <p:sp>
        <p:nvSpPr>
          <p:cNvPr id="26" name="Shape 22"/>
          <p:cNvSpPr/>
          <p:nvPr/>
        </p:nvSpPr>
        <p:spPr>
          <a:xfrm>
            <a:off x="6345936" y="4937760"/>
            <a:ext cx="384048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437376" y="5065776"/>
            <a:ext cx="109728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601968" y="504748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InnoDB + utf8mb4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601968" y="539496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transaccional y codificación segura.</a:t>
            </a:r>
            <a:endParaRPr lang="en-US" sz="8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 de Datos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elección tiene costo en memoria, índices y precisión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029968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Decisión floja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 hoy, duele después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VARCHAR para todo.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1115568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BIGINT por si acaso.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1115568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FLOAT para montos.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1115568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aunque el dato sea corto.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5687568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2029968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98464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Decisión técnica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98464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tipo expresa intención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98464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63056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 para valores fijos.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5998464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63056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suficiente cuando el rango calza.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5998464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63056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DECIMAL(p,s) para dinero.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5998464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63056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VARCHAR medido antes que TEXT.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Constraints: Guardias 24/7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de datos también defiende reglas de negocio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Restricciones esenciales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2907792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PK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KEY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19568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 única y estable para cada fila.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542032"/>
            <a:ext cx="2907792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NN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NULL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980944"/>
            <a:ext cx="19568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registros incompletos en campos obligatorios.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542032"/>
            <a:ext cx="2907792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UQ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670048"/>
            <a:ext cx="73152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UNIQUE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980944"/>
            <a:ext cx="19568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Previene duplicidad lógica: correo, token, código.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950976" y="4315968"/>
            <a:ext cx="2907792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CK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773936" y="446227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1773936" y="4754880"/>
            <a:ext cx="19568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 rangos o estados permitidos desde la BD.</a:t>
            </a:r>
            <a:endParaRPr lang="en-US" sz="10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Hardening Estructural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seguridad empieza antes del primer INSERT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9381744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011680"/>
            <a:ext cx="109728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93392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clave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340864"/>
            <a:ext cx="9034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columna innecesaria aumenta superficie de ataque. Cada tipo laxo aumenta posibilidades de datos corruptos.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3218688"/>
            <a:ext cx="9381744" cy="2816352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2688" y="334670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2416" y="341985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defensas desde DDL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950976" y="3730752"/>
            <a:ext cx="2907792" cy="2048256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60704" y="385876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39044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572768" y="3858768"/>
            <a:ext cx="73152" cy="17922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773936" y="387705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Exposición mínima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773936" y="4169664"/>
            <a:ext cx="1956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negocio no necesita el dato, no se modela.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4041648" y="3730752"/>
            <a:ext cx="2907792" cy="2048256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51376" y="385876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51376" y="39044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4663440" y="3858768"/>
            <a:ext cx="73152" cy="17922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64608" y="387705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Firewall de tipos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4864608" y="4169664"/>
            <a:ext cx="1956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campo INT rechaza strings maliciosos antes de llegar a la lógica.</a:t>
            </a:r>
            <a:endParaRPr lang="en-US" sz="1060" dirty="0"/>
          </a:p>
        </p:txBody>
      </p:sp>
      <p:sp>
        <p:nvSpPr>
          <p:cNvPr id="29" name="Shape 26"/>
          <p:cNvSpPr/>
          <p:nvPr/>
        </p:nvSpPr>
        <p:spPr>
          <a:xfrm>
            <a:off x="7132320" y="3730752"/>
            <a:ext cx="2907792" cy="2048256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242048" y="385876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242048" y="39044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UTF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7754112" y="3858768"/>
            <a:ext cx="73152" cy="17922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55280" y="387705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utf8mb4</a:t>
            </a:r>
            <a:endParaRPr lang="en-US" sz="1360" dirty="0"/>
          </a:p>
        </p:txBody>
      </p:sp>
      <p:sp>
        <p:nvSpPr>
          <p:cNvPr id="34" name="Text 31"/>
          <p:cNvSpPr/>
          <p:nvPr/>
        </p:nvSpPr>
        <p:spPr>
          <a:xfrm>
            <a:off x="7955280" y="4169664"/>
            <a:ext cx="1956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Codificación moderna para evitar truncamientos y errores de caracteres.</a:t>
            </a:r>
            <a:endParaRPr lang="en-US" sz="10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Evolución y Riesgo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 mantiene; DROP destruye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029968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ALTER TABLE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controlado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 columnas de auditoría.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1115568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Ajusta longitudes.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1115568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ir en migraciones.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1115568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pruebas y respaldo.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5687568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2029968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98464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DROP TABLE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98464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Destrucción atómica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98464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63056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 estructura y datos.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5998464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63056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ejecuta manualmente en producción.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5998464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63056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 respaldo previo.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5998464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63056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estar fuera del usuario web.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Huella IA: La Trampa del VARCHAR(255)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acelera, pero no conoce tu modelo real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029968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 débil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dominio ni restricciones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"Crea una tabla para sesiones".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1115568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Probable VARCHAR(255) para todo.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1115568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omitir motor y charset.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1115568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justifica índices.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5687568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2029968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98464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 técnico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98464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contexto verificable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98464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63056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8 + InnoDB + utf8mb4.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5998464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63056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UUID público fijo.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5998464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63056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IPv4/IPv6 obligatorio.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5998464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63056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Índices justificados.</a:t>
            </a:r>
            <a:endParaRPr lang="en-US" sz="11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DDL define la forma y los límites de la verdad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56816"/>
            <a:ext cx="9381744" cy="1188720"/>
          </a:xfrm>
          <a:prstGeom prst="roundRect">
            <a:avLst>
              <a:gd name="adj" fmla="val 53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21408"/>
            <a:ext cx="89794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tabla bien diseñada reduce errores, hace más simple el backend y obliga a que los datos respeten reglas antes de entrar al sistema.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04672" y="3730752"/>
            <a:ext cx="2194560" cy="1993392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840480"/>
            <a:ext cx="100584" cy="17739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0704" y="4133088"/>
            <a:ext cx="186537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Entidad, atributo y tupla organizan el problema.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3182112" y="3730752"/>
            <a:ext cx="2194560" cy="1993392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55264" y="3840480"/>
            <a:ext cx="100584" cy="17739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3814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438144" y="4133088"/>
            <a:ext cx="186537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tipo afecta precisión, memoria y rendimiento.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5559552" y="3730752"/>
            <a:ext cx="2194560" cy="1993392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32704" y="3840480"/>
            <a:ext cx="100584" cy="17739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1558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Restricciones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815584" y="4133088"/>
            <a:ext cx="186537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PK, NOT NULL, UNIQUE y CHECK defienden integridad.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7936992" y="3730752"/>
            <a:ext cx="2194560" cy="1993392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10144" y="3840480"/>
            <a:ext cx="100584" cy="17739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193024" y="4133088"/>
            <a:ext cx="186537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ayuda, pero los tipos e índices se validan manualmente.</a:t>
            </a:r>
            <a:endParaRPr lang="en-US" sz="9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DDL y contrato estructural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10972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303580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031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91056" y="206654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`token_uuid` identifica públicamente una sesión, ¿qué problema evita combinar `CHAR(36)` con `UNIQUE`?</a:t>
            </a:r>
            <a:endParaRPr lang="en-US" sz="1380" dirty="0"/>
          </a:p>
        </p:txBody>
      </p:sp>
      <p:sp>
        <p:nvSpPr>
          <p:cNvPr id="14" name="Text 11"/>
          <p:cNvSpPr/>
          <p:nvPr/>
        </p:nvSpPr>
        <p:spPr>
          <a:xfrm>
            <a:off x="1591056" y="2798064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longitud fija, duplicidad y exposición de identificadores internos.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04672" y="3273552"/>
            <a:ext cx="109728" cy="1133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4128" y="440740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34747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91056" y="343814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`usuario_id` y `direccion_ip` deberían ser `NOT NULL` y no depender solo de la validación del backend?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1591056" y="4169664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ubica la base de datos como última línea de defensa de integridad.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804672" y="4645152"/>
            <a:ext cx="109728" cy="11338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4128" y="577900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" y="48463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591056" y="480974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 agente propone `VARCHAR(255)` para casi todas las columnas, ¿qué revisarías antes de aceptar el DDL?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1591056" y="5541264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contrasta regla de negocio, tamaño real, índices y costo de almacenamiento.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Poblando el Mundo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26517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DML: el lenguaje que modifica la verdad persistente del sistema.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23036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53949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del bloque: insertar, actualizar y eliminar registros sin romper integridad, trazabilidad ni seguridad.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DML Cambia la Verdad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DDL define el plano; DML modifica los datos que el negocio usa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1115568"/>
          </a:xfrm>
          <a:prstGeom prst="roundRect">
            <a:avLst>
              <a:gd name="adj" fmla="val 573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66544"/>
            <a:ext cx="89794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error DDL rompe el contenedor. Un error DML puede dejar datos falsos, borrar evidencia o alterar decisiones reales.</a:t>
            </a:r>
            <a:endParaRPr lang="en-US" sz="1940" dirty="0"/>
          </a:p>
        </p:txBody>
      </p:sp>
      <p:sp>
        <p:nvSpPr>
          <p:cNvPr id="12" name="Shape 9"/>
          <p:cNvSpPr/>
          <p:nvPr/>
        </p:nvSpPr>
        <p:spPr>
          <a:xfrm>
            <a:off x="804672" y="3401568"/>
            <a:ext cx="9381744" cy="2615184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35295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6027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 que hay que controlar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950976" y="3913632"/>
            <a:ext cx="2907792" cy="1847088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0416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40873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572768" y="4041648"/>
            <a:ext cx="73152" cy="15910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73936" y="40599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Integridad</a:t>
            </a:r>
            <a:endParaRPr lang="en-US" sz="1360" dirty="0"/>
          </a:p>
        </p:txBody>
      </p:sp>
      <p:sp>
        <p:nvSpPr>
          <p:cNvPr id="20" name="Text 17"/>
          <p:cNvSpPr/>
          <p:nvPr/>
        </p:nvSpPr>
        <p:spPr>
          <a:xfrm>
            <a:off x="1773936" y="4352544"/>
            <a:ext cx="19568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violar tipos, claves ni restricciones.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4041648" y="3913632"/>
            <a:ext cx="2907792" cy="1847088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51376" y="40416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51376" y="40873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4663440" y="4041648"/>
            <a:ext cx="73152" cy="15910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64608" y="40599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Auditabilidad</a:t>
            </a:r>
            <a:endParaRPr lang="en-US" sz="1360" dirty="0"/>
          </a:p>
        </p:txBody>
      </p:sp>
      <p:sp>
        <p:nvSpPr>
          <p:cNvPr id="26" name="Text 23"/>
          <p:cNvSpPr/>
          <p:nvPr/>
        </p:nvSpPr>
        <p:spPr>
          <a:xfrm>
            <a:off x="4864608" y="4352544"/>
            <a:ext cx="19568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Saber qué cambió, cuándo y por qué.</a:t>
            </a:r>
            <a:endParaRPr lang="en-US" sz="1060" dirty="0"/>
          </a:p>
        </p:txBody>
      </p:sp>
      <p:sp>
        <p:nvSpPr>
          <p:cNvPr id="27" name="Shape 24"/>
          <p:cNvSpPr/>
          <p:nvPr/>
        </p:nvSpPr>
        <p:spPr>
          <a:xfrm>
            <a:off x="7132320" y="3913632"/>
            <a:ext cx="2907792" cy="1847088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42048" y="40416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42048" y="40873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7754112" y="4041648"/>
            <a:ext cx="73152" cy="15910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55280" y="40599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</a:t>
            </a:r>
            <a:endParaRPr lang="en-US" sz="1360" dirty="0"/>
          </a:p>
        </p:txBody>
      </p:sp>
      <p:sp>
        <p:nvSpPr>
          <p:cNvPr id="32" name="Text 29"/>
          <p:cNvSpPr/>
          <p:nvPr/>
        </p:nvSpPr>
        <p:spPr>
          <a:xfrm>
            <a:off x="7955280" y="4352544"/>
            <a:ext cx="19568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payloads, borrados masivos y exposición.</a:t>
            </a:r>
            <a:endParaRPr lang="en-US" sz="10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DML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comandos, cuatro niveles de responsabilidad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93392"/>
            <a:ext cx="4535424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21408"/>
            <a:ext cx="109728" cy="13167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03120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0704" y="2450592"/>
            <a:ext cx="4187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 registros nuevos. Debe respetar columnas obligatorias y valores únicos.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5577840" y="1993392"/>
            <a:ext cx="4535424" cy="1572768"/>
          </a:xfrm>
          <a:prstGeom prst="roundRect">
            <a:avLst>
              <a:gd name="adj" fmla="val 2326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0" y="2121408"/>
            <a:ext cx="109728" cy="13167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33872" y="2103120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833872" y="2450592"/>
            <a:ext cx="4187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 registros existentes. Sin WHERE, afecta toda la tabla.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804672" y="4023360"/>
            <a:ext cx="4535424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6112" y="4151376"/>
            <a:ext cx="109728" cy="13167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413308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DELETE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60704" y="4480560"/>
            <a:ext cx="4187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 filas filtradas. Puede ser transaccional y auditable.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5577840" y="4023360"/>
            <a:ext cx="4535424" cy="1572768"/>
          </a:xfrm>
          <a:prstGeom prst="roundRect">
            <a:avLst>
              <a:gd name="adj" fmla="val 2326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0" y="4151376"/>
            <a:ext cx="109728" cy="13167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33872" y="413308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TRUNCATE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833872" y="4480560"/>
            <a:ext cx="4187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Vacía una tabla completa. Es rápido, drástico y de alto riesgo.</a:t>
            </a:r>
            <a:endParaRPr lang="en-US" sz="11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Profesional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claridad supera a la brevedad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2852928"/>
          </a:xfrm>
          <a:prstGeom prst="roundRect">
            <a:avLst>
              <a:gd name="adj" fmla="val 128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Inserción explícita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8961120" cy="21031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4672" y="5029200"/>
            <a:ext cx="2907792" cy="10058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7824" y="5138928"/>
            <a:ext cx="100584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60704" y="515721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Legibilidad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60704" y="543153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entiende qué dato entra.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3968496" y="5029200"/>
            <a:ext cx="2907792" cy="10058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041648" y="5138928"/>
            <a:ext cx="100584" cy="7863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24528" y="515721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Resiliencia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224528" y="543153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Soporta cambios de orden.</a:t>
            </a:r>
            <a:endParaRPr lang="en-US" sz="960" dirty="0"/>
          </a:p>
        </p:txBody>
      </p:sp>
      <p:sp>
        <p:nvSpPr>
          <p:cNvPr id="22" name="Shape 18"/>
          <p:cNvSpPr/>
          <p:nvPr/>
        </p:nvSpPr>
        <p:spPr>
          <a:xfrm>
            <a:off x="7132320" y="5029200"/>
            <a:ext cx="2907792" cy="10058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05472" y="5138928"/>
            <a:ext cx="100584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88352" y="515721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88352" y="543153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 revisar constraints.</a:t>
            </a:r>
            <a:endParaRPr lang="en-US" sz="9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Posicional vs Explícito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consulta corta puede ser una deuda futura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029968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Posicional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 del orden físico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INTO tabla VALUES (...)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1115568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rompe si cambia el DDL.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1115568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Oculta qué dato va en cada campo.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1115568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Difícil de auditar en revisión.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5687568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2029968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98464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Explícito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98464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 intención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98464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63056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Nombra cada columna.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5998464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63056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Tolera columnas nuevas con DEFAULT.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5998464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63056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leer reglas de negocio.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5998464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63056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más seguro para mantenimiento.</a:t>
            </a:r>
            <a:endParaRPr lang="en-US" sz="11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Bulk Insert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velocidad, más necesidad de revisar datos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669280" cy="4187952"/>
          </a:xfrm>
          <a:prstGeom prst="roundRect">
            <a:avLst>
              <a:gd name="adj" fmla="val 8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41324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5193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Inserción múltiple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5248656" cy="34381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11696" y="1901952"/>
            <a:ext cx="3474720" cy="1170432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03136" y="2029968"/>
            <a:ext cx="10972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67728" y="2011680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Cuándo sirve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967728" y="235915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 inicial, semillas de prueba o importación controlada.</a:t>
            </a:r>
            <a:endParaRPr lang="en-US" sz="1040" dirty="0"/>
          </a:p>
        </p:txBody>
      </p:sp>
      <p:sp>
        <p:nvSpPr>
          <p:cNvPr id="18" name="Shape 14"/>
          <p:cNvSpPr/>
          <p:nvPr/>
        </p:nvSpPr>
        <p:spPr>
          <a:xfrm>
            <a:off x="6711696" y="3401568"/>
            <a:ext cx="3474720" cy="1170432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03136" y="3529584"/>
            <a:ext cx="109728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67728" y="351129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6967728" y="3858768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solo valor duplicado o NULL indebido puede abortar la operación.</a:t>
            </a:r>
            <a:endParaRPr lang="en-US" sz="1040" dirty="0"/>
          </a:p>
        </p:txBody>
      </p:sp>
      <p:sp>
        <p:nvSpPr>
          <p:cNvPr id="22" name="Shape 18"/>
          <p:cNvSpPr/>
          <p:nvPr/>
        </p:nvSpPr>
        <p:spPr>
          <a:xfrm>
            <a:off x="6711696" y="4901184"/>
            <a:ext cx="3474720" cy="1170432"/>
          </a:xfrm>
          <a:prstGeom prst="roundRect">
            <a:avLst>
              <a:gd name="adj" fmla="val 3125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803136" y="5029200"/>
            <a:ext cx="109728" cy="9144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67728" y="501091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6967728" y="5358384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datos sintéticos antes de insertarlos masivamente.</a:t>
            </a:r>
            <a:endParaRPr lang="en-US" sz="10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 Sin WHERE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desastre clásico de DML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56816"/>
            <a:ext cx="5248656" cy="2212848"/>
          </a:xfrm>
          <a:prstGeom prst="roundRect">
            <a:avLst>
              <a:gd name="adj" fmla="val 165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66544"/>
            <a:ext cx="499262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39696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peligroso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23744"/>
            <a:ext cx="4828032" cy="1463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27648" y="1956816"/>
            <a:ext cx="3858768" cy="2212848"/>
          </a:xfrm>
          <a:prstGeom prst="roundRect">
            <a:avLst>
              <a:gd name="adj" fmla="val 1653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19088" y="2084832"/>
            <a:ext cx="109728" cy="19568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83680" y="2066544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Impacto real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583680" y="2414016"/>
            <a:ext cx="351129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de datos no adivina tu intención. Sin filtro, invalida todas las sesiones de la tabla.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4672" y="4736592"/>
            <a:ext cx="9381744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05840" y="4901184"/>
            <a:ext cx="8979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de oro: escribir y revisar el WHERE antes de ejecutar el UPDATE.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Patrón Seguro Para UPDATE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cambiar datos, confirma el alcance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103120"/>
            <a:ext cx="2194560" cy="210312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212848"/>
            <a:ext cx="100584" cy="18836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2311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SELECT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60704" y="2505456"/>
            <a:ext cx="186537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qué filas serán afectadas.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3182112" y="2103120"/>
            <a:ext cx="2194560" cy="210312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55264" y="2212848"/>
            <a:ext cx="100584" cy="18836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38144" y="22311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WHERE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438144" y="2505456"/>
            <a:ext cx="186537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por clave, token o criterio verificable.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5559552" y="2103120"/>
            <a:ext cx="2194560" cy="210312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32704" y="2212848"/>
            <a:ext cx="100584" cy="18836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15584" y="22311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UPDATE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815584" y="2505456"/>
            <a:ext cx="186537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Modificar solo las columnas necesarias.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7936992" y="2103120"/>
            <a:ext cx="2194560" cy="210312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10144" y="2212848"/>
            <a:ext cx="100584" cy="18836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93024" y="22311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Verificar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193024" y="2505456"/>
            <a:ext cx="186537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resultado y registrar evidencia.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804672" y="4443984"/>
            <a:ext cx="9381744" cy="1664208"/>
          </a:xfrm>
          <a:prstGeom prst="roundRect">
            <a:avLst>
              <a:gd name="adj" fmla="val 219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32688" y="4553712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42416" y="4626864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Actualización acotada</a:t>
            </a:r>
            <a:endParaRPr lang="en-US" sz="10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5010912"/>
            <a:ext cx="896112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DELETE vs TRUNCATE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toda eliminación tiene el mismo riesgo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029968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DELETE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Eliminación filtrada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WHERE.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1115568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generar logs.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1115568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ser parte de transacción.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1115568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lento, pero controlable.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5687568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2029968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98464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TRUNCATE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98464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Vaciamiento completo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98464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63056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permite WHERE.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5998464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63056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Vacía toda la tabla.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5998464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63056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Resetea espacio/contadores según motor.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5998464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63056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pertenece al usuario web.</a:t>
            </a:r>
            <a:endParaRPr lang="en-US" sz="11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 Delete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Borrar para la interfaz sin destruir evidencia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029968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 delete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Desaparece el registro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FROM usuarios WHERE id = 5.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1115568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Pierde trazabilidad.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1115568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Complica auditoría.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1115568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difícil.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5687568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2029968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98464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 delete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98464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 el registro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98464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63056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usuarios SET eliminado_en = NOW().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5998464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63056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Mantiene evidencia.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5998464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63056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restaurar.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5998464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63056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 con eliminado_en IS NULL.</a:t>
            </a:r>
            <a:endParaRPr lang="en-US" sz="11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 Cyber: Inyección SQL en DML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atacante intenta convertir datos en instrucciones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358384" cy="4059936"/>
          </a:xfrm>
          <a:prstGeom prst="roundRect">
            <a:avLst>
              <a:gd name="adj" fmla="val 90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1023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4882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Construcción insegura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4937760" cy="33101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00800" y="1901952"/>
            <a:ext cx="3785616" cy="4059936"/>
          </a:xfrm>
          <a:prstGeom prst="roundRect">
            <a:avLst>
              <a:gd name="adj" fmla="val 96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28816" y="2029968"/>
            <a:ext cx="352958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38544" y="21031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Defensa mínima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6547104" y="2414016"/>
            <a:ext cx="3493008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656832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56832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7168896" y="2542032"/>
            <a:ext cx="73152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70064" y="256032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Parámetros</a:t>
            </a:r>
            <a:endParaRPr lang="en-US" sz="1360" dirty="0"/>
          </a:p>
        </p:txBody>
      </p:sp>
      <p:sp>
        <p:nvSpPr>
          <p:cNvPr id="22" name="Text 18"/>
          <p:cNvSpPr/>
          <p:nvPr/>
        </p:nvSpPr>
        <p:spPr>
          <a:xfrm>
            <a:off x="7370064" y="285292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concatenar strings del usuario.</a:t>
            </a:r>
            <a:endParaRPr lang="en-US" sz="1060" dirty="0"/>
          </a:p>
        </p:txBody>
      </p:sp>
      <p:sp>
        <p:nvSpPr>
          <p:cNvPr id="23" name="Shape 19"/>
          <p:cNvSpPr/>
          <p:nvPr/>
        </p:nvSpPr>
        <p:spPr>
          <a:xfrm>
            <a:off x="6547104" y="3566160"/>
            <a:ext cx="3493008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656832" y="369417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656832" y="373989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7168896" y="3694176"/>
            <a:ext cx="73152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370064" y="371246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360" dirty="0"/>
          </a:p>
        </p:txBody>
      </p:sp>
      <p:sp>
        <p:nvSpPr>
          <p:cNvPr id="28" name="Text 24"/>
          <p:cNvSpPr/>
          <p:nvPr/>
        </p:nvSpPr>
        <p:spPr>
          <a:xfrm>
            <a:off x="7370064" y="400507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 y rangos antes del SQL.</a:t>
            </a:r>
            <a:endParaRPr lang="en-US" sz="1060" dirty="0"/>
          </a:p>
        </p:txBody>
      </p:sp>
      <p:sp>
        <p:nvSpPr>
          <p:cNvPr id="29" name="Shape 25"/>
          <p:cNvSpPr/>
          <p:nvPr/>
        </p:nvSpPr>
        <p:spPr>
          <a:xfrm>
            <a:off x="6547104" y="4718304"/>
            <a:ext cx="3493008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656832" y="48463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656832" y="48920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7168896" y="4846320"/>
            <a:ext cx="73152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370064" y="486460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Privilegios</a:t>
            </a:r>
            <a:endParaRPr lang="en-US" sz="1360" dirty="0"/>
          </a:p>
        </p:txBody>
      </p:sp>
      <p:sp>
        <p:nvSpPr>
          <p:cNvPr id="34" name="Text 30"/>
          <p:cNvSpPr/>
          <p:nvPr/>
        </p:nvSpPr>
        <p:spPr>
          <a:xfrm>
            <a:off x="7370064" y="515721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web no debe tener DROP/TRUNCATE.</a:t>
            </a:r>
            <a:endParaRPr lang="en-US" sz="106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Huella IA: Datos Sintéticos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 uso: generar casos de prueba; mal uso: insertar sin revisar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029968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ayuda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Acelera cobertura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Nombres con tildes.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1115568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Correos largos.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1115568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Fechas pasadas y futuras.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1115568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 distintos.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5687568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2029968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98464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Tú validas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98464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BD real manda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98464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63056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no duplicado.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5998464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63056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NULL completo.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5998464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63056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 correctos.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5998464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63056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actual de la tabla.</a:t>
            </a:r>
            <a:endParaRPr lang="en-US" sz="11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DML es poder operativo sobre datos reales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1115568"/>
          </a:xfrm>
          <a:prstGeom prst="roundRect">
            <a:avLst>
              <a:gd name="adj" fmla="val 573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66544"/>
            <a:ext cx="89794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Insertar, actualizar o eliminar no son gestos administrativos: son cambios sobre la memoria del sistema.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04672" y="3675888"/>
            <a:ext cx="2194560" cy="2048256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785616"/>
            <a:ext cx="100584" cy="18288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8039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60704" y="4078224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Explícito y coherente con constraints.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3182112" y="3675888"/>
            <a:ext cx="2194560" cy="2048256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55264" y="3785616"/>
            <a:ext cx="100584" cy="18288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38144" y="38039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438144" y="4078224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Siempre acotado por WHERE verificable.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5559552" y="3675888"/>
            <a:ext cx="2194560" cy="2048256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32704" y="3785616"/>
            <a:ext cx="100584" cy="18288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15584" y="38039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DELETE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815584" y="4078224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Preferir trazabilidad cuando importa auditoría.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7936992" y="3675888"/>
            <a:ext cx="2194560" cy="2048256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10144" y="3785616"/>
            <a:ext cx="100584" cy="18288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38039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193024" y="4078224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para datos de prueba, no para ejecutar sin revisión.</a:t>
            </a:r>
            <a:endParaRPr lang="en-US" sz="9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DML y cambios sobre datos reales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109728" cy="1133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303580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031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91056" y="206654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ejecutar un `UPDATE`, ¿qué `SELECT` harías para confirmar que el `WHERE` afecta solo las filas correctas?</a:t>
            </a:r>
            <a:endParaRPr lang="en-US" sz="1380" dirty="0"/>
          </a:p>
        </p:txBody>
      </p:sp>
      <p:sp>
        <p:nvSpPr>
          <p:cNvPr id="14" name="Text 11"/>
          <p:cNvSpPr/>
          <p:nvPr/>
        </p:nvSpPr>
        <p:spPr>
          <a:xfrm>
            <a:off x="1591056" y="2798064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el objetivo es medir alcance antes de modificar la memoria del sistema.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04672" y="3273552"/>
            <a:ext cx="10972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4128" y="440740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34747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91056" y="343814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una aplicación auditada, ¿por qué `Soft Delete` puede ser más seguro que `DELETE` físico?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1591056" y="4169664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trazabilidad, recuperación y evidencia frente a errores o ataques.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804672" y="4645152"/>
            <a:ext cx="109728" cy="11338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4128" y="577900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" y="48463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591056" y="480974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 agente genera datos sintéticos para un `INSERT` masivo, ¿qué constraints revisarías antes de ejecutarlo?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1591056" y="5541264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parte por `UNIQUE`, `NOT NULL`, tipos de dato y estado actual de la tabla.</a:t>
            </a:r>
            <a:endParaRPr lang="en-US" sz="10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Consultando con Propósito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26517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DQL: preguntar a la base de datos sin exponer ni traer de más.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23036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53949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del bloque: recuperar información precisa, segura y útil para la interfaz, evitando fugas y consultas irresponsables.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DQL No Es Traer Datos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formular una pregunta técnica con intención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1170432"/>
          </a:xfrm>
          <a:prstGeom prst="roundRect">
            <a:avLst>
              <a:gd name="adj" fmla="val 546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66544"/>
            <a:ext cx="8979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consulta profesional no trae todo lo que existe: trae solo lo necesario, en el orden adecuado y con el menor riesgo posible.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04672" y="3438144"/>
            <a:ext cx="9381744" cy="2578608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3566160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639312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preguntas antes de escribir SELECT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950976" y="3950208"/>
            <a:ext cx="2907792" cy="181051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07822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41239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572768" y="4078224"/>
            <a:ext cx="73152" cy="15544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73936" y="409651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Columnas</a:t>
            </a:r>
            <a:endParaRPr lang="en-US" sz="1360" dirty="0"/>
          </a:p>
        </p:txBody>
      </p:sp>
      <p:sp>
        <p:nvSpPr>
          <p:cNvPr id="20" name="Text 17"/>
          <p:cNvSpPr/>
          <p:nvPr/>
        </p:nvSpPr>
        <p:spPr>
          <a:xfrm>
            <a:off x="1773936" y="4389120"/>
            <a:ext cx="195681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campos necesita realmente la interfaz?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4041648" y="3950208"/>
            <a:ext cx="2907792" cy="181051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51376" y="407822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51376" y="41239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4663440" y="4078224"/>
            <a:ext cx="73152" cy="15544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64608" y="409651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Filtro</a:t>
            </a:r>
            <a:endParaRPr lang="en-US" sz="1360" dirty="0"/>
          </a:p>
        </p:txBody>
      </p:sp>
      <p:sp>
        <p:nvSpPr>
          <p:cNvPr id="26" name="Text 23"/>
          <p:cNvSpPr/>
          <p:nvPr/>
        </p:nvSpPr>
        <p:spPr>
          <a:xfrm>
            <a:off x="4864608" y="4389120"/>
            <a:ext cx="195681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registros corresponden al caso?</a:t>
            </a:r>
            <a:endParaRPr lang="en-US" sz="1060" dirty="0"/>
          </a:p>
        </p:txBody>
      </p:sp>
      <p:sp>
        <p:nvSpPr>
          <p:cNvPr id="27" name="Shape 24"/>
          <p:cNvSpPr/>
          <p:nvPr/>
        </p:nvSpPr>
        <p:spPr>
          <a:xfrm>
            <a:off x="7132320" y="3950208"/>
            <a:ext cx="2907792" cy="181051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42048" y="407822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42048" y="41239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7754112" y="4078224"/>
            <a:ext cx="73152" cy="15544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55280" y="409651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Volumen</a:t>
            </a:r>
            <a:endParaRPr lang="en-US" sz="1360" dirty="0"/>
          </a:p>
        </p:txBody>
      </p:sp>
      <p:sp>
        <p:nvSpPr>
          <p:cNvPr id="32" name="Text 29"/>
          <p:cNvSpPr/>
          <p:nvPr/>
        </p:nvSpPr>
        <p:spPr>
          <a:xfrm>
            <a:off x="7955280" y="4389120"/>
            <a:ext cx="195681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¿Cuántos datos deberían salir de la BD?</a:t>
            </a:r>
            <a:endParaRPr lang="en-US" sz="106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 SELECT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cláusula reduce incertidumbre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687568" cy="4187952"/>
          </a:xfrm>
          <a:prstGeom prst="roundRect">
            <a:avLst>
              <a:gd name="adj" fmla="val 8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43153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base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5266944" cy="34381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29984" y="1901952"/>
            <a:ext cx="3456432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21424" y="2029968"/>
            <a:ext cx="109728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86016" y="20116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986016" y="235915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columnas visibles.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729984" y="3310128"/>
            <a:ext cx="3456432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21424" y="3438144"/>
            <a:ext cx="109728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86016" y="34198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6986016" y="37673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el conjunto de filas.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729984" y="4718304"/>
            <a:ext cx="3456432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821424" y="4846320"/>
            <a:ext cx="109728" cy="7680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86016" y="48280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 + LIMIT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6986016" y="517550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 consumo de UI.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Pecado del SELECT *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asterisco es cómodo, pero no inocente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029968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 *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Trae todo por defecto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sensibles.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1115568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pesadas.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1115568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que la UI no usa.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1115568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Cambios futuros inesperados.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5687568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2029968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98464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 explícito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98464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 exposición permitida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98464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63056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columnas necesarias.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5998464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63056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red y memoria.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5998464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63056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estable para backend.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5998464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63056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fuga de información.</a:t>
            </a:r>
            <a:endParaRPr lang="en-US" sz="114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Selección Explícita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consulta también es una frontera de seguridad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3218688"/>
          </a:xfrm>
          <a:prstGeom prst="roundRect">
            <a:avLst>
              <a:gd name="adj" fmla="val 11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público de usuario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8961120" cy="2468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4672" y="5358384"/>
            <a:ext cx="9381744" cy="566928"/>
          </a:xfrm>
          <a:prstGeom prst="roundRect">
            <a:avLst>
              <a:gd name="adj" fmla="val 645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" y="5522976"/>
            <a:ext cx="8979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no sale: `password_hash`, `token_reset`, flags internos ni columnas de auditoría.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Como Motor de Reglas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no es accesorio: define el caso de negocio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93392"/>
            <a:ext cx="2907792" cy="3895344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21408"/>
            <a:ext cx="109728" cy="3639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031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BETWEEN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0704" y="2450592"/>
            <a:ext cx="256032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Rangos de fechas, precios o montos.</a:t>
            </a:r>
            <a:endParaRPr lang="en-US" sz="1130" dirty="0"/>
          </a:p>
          <a:p>
            <a:pPr algn="l" indent="0" marL="0">
              <a:buNone/>
            </a:pP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 BETWEEN 100 AND 500</a:t>
            </a:r>
            <a:endParaRPr lang="en-US" sz="1130" dirty="0"/>
          </a:p>
        </p:txBody>
      </p:sp>
      <p:sp>
        <p:nvSpPr>
          <p:cNvPr id="14" name="Shape 11"/>
          <p:cNvSpPr/>
          <p:nvPr/>
        </p:nvSpPr>
        <p:spPr>
          <a:xfrm>
            <a:off x="3968496" y="1993392"/>
            <a:ext cx="2907792" cy="3895344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59936" y="2121408"/>
            <a:ext cx="109728" cy="3639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24528" y="21031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224528" y="2450592"/>
            <a:ext cx="256032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Conjunto acotado de estados válidos.</a:t>
            </a:r>
            <a:endParaRPr lang="en-US" sz="1130" dirty="0"/>
          </a:p>
          <a:p>
            <a:pPr algn="l" indent="0" marL="0">
              <a:buNone/>
            </a:pP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IN ('activo','pendiente')</a:t>
            </a:r>
            <a:endParaRPr lang="en-US" sz="1130" dirty="0"/>
          </a:p>
        </p:txBody>
      </p:sp>
      <p:sp>
        <p:nvSpPr>
          <p:cNvPr id="18" name="Shape 15"/>
          <p:cNvSpPr/>
          <p:nvPr/>
        </p:nvSpPr>
        <p:spPr>
          <a:xfrm>
            <a:off x="7132320" y="1993392"/>
            <a:ext cx="2907792" cy="3895344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23760" y="2121408"/>
            <a:ext cx="109728" cy="3639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88352" y="21031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LIKE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388352" y="2450592"/>
            <a:ext cx="256032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Patrones de texto con comodines.</a:t>
            </a:r>
            <a:endParaRPr lang="en-US" sz="1130" dirty="0"/>
          </a:p>
          <a:p>
            <a:pPr algn="l" indent="0" marL="0">
              <a:buNone/>
            </a:pP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LIKE '%@aiep.cl'</a:t>
            </a:r>
            <a:endParaRPr lang="en-US" sz="113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Lógica del NULL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 no es un valor: es ausencia de valor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029968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Incorrecto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imposible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eliminado_en = NULL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1115568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significa 'sin fecha'.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1115568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Suele retornar vacío.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1115568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Oculta errores de lógica.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5687568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2029968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98464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Correcto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98464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por ausencia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98464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63056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eliminado_en IS NULL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5998464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63056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 registros vivos.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5998464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63056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Calza con Soft Delete.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5998464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63056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Expresa intención real.</a:t>
            </a:r>
            <a:endParaRPr lang="en-US" sz="11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AND, OR y Paréntesis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consulta puede compilar y aun así estar lógicamente mal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2999232"/>
          </a:xfrm>
          <a:prstGeom prst="roundRect">
            <a:avLst>
              <a:gd name="adj" fmla="val 12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 visibles en oferta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8961120" cy="224942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4672" y="5102352"/>
            <a:ext cx="2907792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7824" y="5212080"/>
            <a:ext cx="100584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60704" y="523036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Agrupar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60704" y="5504688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alternativo va entre paréntesis.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3968496" y="5102352"/>
            <a:ext cx="2907792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041648" y="5212080"/>
            <a:ext cx="100584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24528" y="523036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Exigir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224528" y="5504688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y oferta aplican a todo.</a:t>
            </a:r>
            <a:endParaRPr lang="en-US" sz="960" dirty="0"/>
          </a:p>
        </p:txBody>
      </p:sp>
      <p:sp>
        <p:nvSpPr>
          <p:cNvPr id="22" name="Shape 18"/>
          <p:cNvSpPr/>
          <p:nvPr/>
        </p:nvSpPr>
        <p:spPr>
          <a:xfrm>
            <a:off x="7132320" y="5102352"/>
            <a:ext cx="2907792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05472" y="5212080"/>
            <a:ext cx="100584" cy="7680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88352" y="523036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Evitar ruido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88352" y="5504688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mostrar productos inválidos.</a:t>
            </a:r>
            <a:endParaRPr lang="en-US" sz="96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 BY + LIMIT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prepara datos para una interfaz usable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468112" cy="4096512"/>
          </a:xfrm>
          <a:prstGeom prst="roundRect">
            <a:avLst>
              <a:gd name="adj" fmla="val 89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21208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4992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Paginación simple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5047488" cy="334670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47104" y="1901952"/>
            <a:ext cx="3639312" cy="1133856"/>
          </a:xfrm>
          <a:prstGeom prst="roundRect">
            <a:avLst>
              <a:gd name="adj" fmla="val 3226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638544" y="2029968"/>
            <a:ext cx="109728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03136" y="20116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UX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803136" y="23591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ve resultados ordenados, recientes y manejables.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6547104" y="3364992"/>
            <a:ext cx="3639312" cy="1133856"/>
          </a:xfrm>
          <a:prstGeom prst="roundRect">
            <a:avLst>
              <a:gd name="adj" fmla="val 3226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638544" y="3493008"/>
            <a:ext cx="109728" cy="8778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03136" y="34747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Rendimiento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6803136" y="38221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transferir miles de registros que nadie puede leer.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6547104" y="4828032"/>
            <a:ext cx="3639312" cy="1133856"/>
          </a:xfrm>
          <a:prstGeom prst="roundRect">
            <a:avLst>
              <a:gd name="adj" fmla="val 3226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638544" y="4956048"/>
            <a:ext cx="109728" cy="877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03136" y="49377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6803136" y="52852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riesgo de DoS por consultas enormes desde la API.</a:t>
            </a:r>
            <a:endParaRPr lang="en-US" sz="10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 Cyber: Data Leakage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consulta amplia puede filtrar más que un bug visual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029968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Fuga accidental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API devuelve más de lo necesario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password_hash.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1115568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 de recuperación.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1115568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flags internos.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1115568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de usuarios eliminados.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5687568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2029968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98464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Exposición mínima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98464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consulta actúa como filtro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98464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63056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explícitas.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5998464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63056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por permisos.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5998464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63056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delete aplicado.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5998464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63056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 para volumen.</a:t>
            </a:r>
            <a:endParaRPr lang="en-US" sz="114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SQL También Filtran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mensaje técnico mal expuesto revela estructura interna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358384" cy="4059936"/>
          </a:xfrm>
          <a:prstGeom prst="roundRect">
            <a:avLst>
              <a:gd name="adj" fmla="val 90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1023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4882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que no debería ver el cliente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4937760" cy="33101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00800" y="1901952"/>
            <a:ext cx="3785616" cy="4059936"/>
          </a:xfrm>
          <a:prstGeom prst="roundRect">
            <a:avLst>
              <a:gd name="adj" fmla="val 96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28816" y="2029968"/>
            <a:ext cx="352958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38544" y="21031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segura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6547104" y="2414016"/>
            <a:ext cx="3493008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656832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56832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7168896" y="2542032"/>
            <a:ext cx="73152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70064" y="256032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Mensaje genérico</a:t>
            </a:r>
            <a:endParaRPr lang="en-US" sz="1360" dirty="0"/>
          </a:p>
        </p:txBody>
      </p:sp>
      <p:sp>
        <p:nvSpPr>
          <p:cNvPr id="22" name="Text 18"/>
          <p:cNvSpPr/>
          <p:nvPr/>
        </p:nvSpPr>
        <p:spPr>
          <a:xfrm>
            <a:off x="7370064" y="285292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revelar tabla ni columna.</a:t>
            </a:r>
            <a:endParaRPr lang="en-US" sz="1060" dirty="0"/>
          </a:p>
        </p:txBody>
      </p:sp>
      <p:sp>
        <p:nvSpPr>
          <p:cNvPr id="23" name="Shape 19"/>
          <p:cNvSpPr/>
          <p:nvPr/>
        </p:nvSpPr>
        <p:spPr>
          <a:xfrm>
            <a:off x="6547104" y="3566160"/>
            <a:ext cx="3493008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656832" y="369417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656832" y="373989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7168896" y="3694176"/>
            <a:ext cx="73152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370064" y="371246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Detalle en logs</a:t>
            </a:r>
            <a:endParaRPr lang="en-US" sz="1360" dirty="0"/>
          </a:p>
        </p:txBody>
      </p:sp>
      <p:sp>
        <p:nvSpPr>
          <p:cNvPr id="28" name="Text 24"/>
          <p:cNvSpPr/>
          <p:nvPr/>
        </p:nvSpPr>
        <p:spPr>
          <a:xfrm>
            <a:off x="7370064" y="400507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error para diagnóstico.</a:t>
            </a:r>
            <a:endParaRPr lang="en-US" sz="1060" dirty="0"/>
          </a:p>
        </p:txBody>
      </p:sp>
      <p:sp>
        <p:nvSpPr>
          <p:cNvPr id="29" name="Shape 25"/>
          <p:cNvSpPr/>
          <p:nvPr/>
        </p:nvSpPr>
        <p:spPr>
          <a:xfrm>
            <a:off x="6547104" y="4718304"/>
            <a:ext cx="3493008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656832" y="48463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656832" y="48920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7168896" y="4846320"/>
            <a:ext cx="73152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370064" y="486460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 de incidente</a:t>
            </a:r>
            <a:endParaRPr lang="en-US" sz="1360" dirty="0"/>
          </a:p>
        </p:txBody>
      </p:sp>
      <p:sp>
        <p:nvSpPr>
          <p:cNvPr id="34" name="Text 30"/>
          <p:cNvSpPr/>
          <p:nvPr/>
        </p:nvSpPr>
        <p:spPr>
          <a:xfrm>
            <a:off x="7370064" y="515721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rastreo sin exponer internals.</a:t>
            </a:r>
            <a:endParaRPr lang="en-US" sz="106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Huella IA: Auditar SELECT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traduce intención; tú controlas exposición y rendimiento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029968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 del agente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que parece útil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SELECT *.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1115568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Olvida Soft Delete.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1115568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limita volumen.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1115568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 por columnas sin índice.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5687568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2029968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98464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Revisión humana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98464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mínimo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98464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63056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explícitas.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5998464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63056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correcto.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5998464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63056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+ LIMIT.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5998464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63056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Índices alineados al filtro.</a:t>
            </a:r>
            <a:endParaRPr lang="en-US" sz="114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 Correcta ≠ Consulta Eficiente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WHERE debería conversar con los índices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577840" cy="4096512"/>
          </a:xfrm>
          <a:prstGeom prst="roundRect">
            <a:avLst>
              <a:gd name="adj" fmla="val 89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32180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510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 frecuente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5157216" cy="334670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56832" y="1901952"/>
            <a:ext cx="3529584" cy="1188720"/>
          </a:xfrm>
          <a:prstGeom prst="roundRect">
            <a:avLst>
              <a:gd name="adj" fmla="val 3077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748272" y="2029968"/>
            <a:ext cx="109728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12864" y="201168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índice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912864" y="2359152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encuentra filas por una ruta optimizada.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6656832" y="3401568"/>
            <a:ext cx="3529584" cy="1188720"/>
          </a:xfrm>
          <a:prstGeom prst="roundRect">
            <a:avLst>
              <a:gd name="adj" fmla="val 3077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48272" y="3529584"/>
            <a:ext cx="109728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12864" y="351129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índice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912864" y="385876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puede revisar muchas filas para responder.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6656832" y="4901184"/>
            <a:ext cx="3529584" cy="1188720"/>
          </a:xfrm>
          <a:prstGeom prst="roundRect">
            <a:avLst>
              <a:gd name="adj" fmla="val 3077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48272" y="5029200"/>
            <a:ext cx="109728" cy="9326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12864" y="501091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912864" y="53583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Filtros frecuentes merecen diseño, no improvisación.</a:t>
            </a:r>
            <a:endParaRPr lang="en-US" sz="10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DQL debe traer lo necesario, no todo lo disponible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1115568"/>
          </a:xfrm>
          <a:prstGeom prst="roundRect">
            <a:avLst>
              <a:gd name="adj" fmla="val 573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66544"/>
            <a:ext cx="89794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Consultar bien es proteger rendimiento, privacidad y claridad de la aplicación.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04672" y="3675888"/>
            <a:ext cx="2194560" cy="2048256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785616"/>
            <a:ext cx="100584" cy="18288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8039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Columnas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60704" y="4078224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Explícitas y justificadas.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3182112" y="3675888"/>
            <a:ext cx="2194560" cy="2048256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55264" y="3785616"/>
            <a:ext cx="100584" cy="18288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38144" y="38039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Filtros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438144" y="4078224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con lógica correcta.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5559552" y="3675888"/>
            <a:ext cx="2194560" cy="2048256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32704" y="3785616"/>
            <a:ext cx="100584" cy="18288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15584" y="38039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Volumen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815584" y="4078224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BY y LIMIT para UI.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7936992" y="3675888"/>
            <a:ext cx="2194560" cy="2048256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10144" y="3785616"/>
            <a:ext cx="100584" cy="18288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38039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Cyber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193024" y="4078224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fugas por datos o errores.</a:t>
            </a:r>
            <a:endParaRPr lang="en-US" sz="98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DQL y exposición mínima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109728" cy="1133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303580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031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91056" y="206654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una API usa `SELECT *` para devolver perfiles públicos, ¿qué campos revisarías primero por riesgo de fuga?</a:t>
            </a:r>
            <a:endParaRPr lang="en-US" sz="1380" dirty="0"/>
          </a:p>
        </p:txBody>
      </p:sp>
      <p:sp>
        <p:nvSpPr>
          <p:cNvPr id="14" name="Text 11"/>
          <p:cNvSpPr/>
          <p:nvPr/>
        </p:nvSpPr>
        <p:spPr>
          <a:xfrm>
            <a:off x="1591056" y="2798064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busca secretos, hashes, tokens, flags internos y datos de auditoría.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04672" y="3273552"/>
            <a:ext cx="10972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4128" y="440740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34747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91056" y="343814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diferencia práctica hay entre `eliminado_en = NULL` y `eliminado_en IS NULL` en un sistema con Soft Delete?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1591056" y="4169664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recuerda que NULL representa ausencia y no se compara como un valor normal.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804672" y="4645152"/>
            <a:ext cx="109728" cy="11338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4128" y="577900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" y="48463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591056" y="480974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una IA genera una consulta DQL, ¿qué tres elementos revisarías antes de usarla en una API real?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1591056" y="5541264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parte por columnas explícitas, filtro correcto y control de volumen.</a:t>
            </a:r>
            <a:endParaRPr lang="en-US" sz="108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Integración CRUD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26517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acción del usuario a la persistencia controlada.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23036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53949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del bloque: mapear acciones web hacia SQL con criterio de seguridad, privilegios mínimos y validación humana.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CRUD Es El Puente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aplicación web traduce intención humana en operaciones SQL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1207008"/>
          </a:xfrm>
          <a:prstGeom prst="roundRect">
            <a:avLst>
              <a:gd name="adj" fmla="val 530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66544"/>
            <a:ext cx="8979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botón, formulario o pantalla termina convirtiéndose en una operación sobre datos. El trabajo profesional consiste en controlar esa traducción.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04672" y="3529584"/>
            <a:ext cx="9381744" cy="2487168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3657600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730752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correcta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950976" y="404164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169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421538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572768" y="4169664"/>
            <a:ext cx="73152" cy="1463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73936" y="418795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Intención</a:t>
            </a:r>
            <a:endParaRPr lang="en-US" sz="1360" dirty="0"/>
          </a:p>
        </p:txBody>
      </p:sp>
      <p:sp>
        <p:nvSpPr>
          <p:cNvPr id="20" name="Text 17"/>
          <p:cNvSpPr/>
          <p:nvPr/>
        </p:nvSpPr>
        <p:spPr>
          <a:xfrm>
            <a:off x="1773936" y="448056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quiso hacer el usuario?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4041648" y="404164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51376" y="4169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51376" y="421538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4663440" y="4169664"/>
            <a:ext cx="73152" cy="1463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64608" y="418795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</a:t>
            </a:r>
            <a:endParaRPr lang="en-US" sz="1360" dirty="0"/>
          </a:p>
        </p:txBody>
      </p:sp>
      <p:sp>
        <p:nvSpPr>
          <p:cNvPr id="26" name="Text 23"/>
          <p:cNvSpPr/>
          <p:nvPr/>
        </p:nvSpPr>
        <p:spPr>
          <a:xfrm>
            <a:off x="4864608" y="448056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valida la aplicación?</a:t>
            </a:r>
            <a:endParaRPr lang="en-US" sz="1060" dirty="0"/>
          </a:p>
        </p:txBody>
      </p:sp>
      <p:sp>
        <p:nvSpPr>
          <p:cNvPr id="27" name="Shape 24"/>
          <p:cNvSpPr/>
          <p:nvPr/>
        </p:nvSpPr>
        <p:spPr>
          <a:xfrm>
            <a:off x="7132320" y="404164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42048" y="41696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42048" y="421538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7754112" y="4169664"/>
            <a:ext cx="73152" cy="14630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55280" y="418795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Persistencia</a:t>
            </a:r>
            <a:endParaRPr lang="en-US" sz="1360" dirty="0"/>
          </a:p>
        </p:txBody>
      </p:sp>
      <p:sp>
        <p:nvSpPr>
          <p:cNvPr id="32" name="Text 29"/>
          <p:cNvSpPr/>
          <p:nvPr/>
        </p:nvSpPr>
        <p:spPr>
          <a:xfrm>
            <a:off x="7955280" y="448056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cambia en la base?</a:t>
            </a:r>
            <a:endParaRPr lang="en-US" sz="106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 CRUD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 de interfaz, verbo HTTP, operación SQL y riesgo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9381744" cy="4334256"/>
          </a:xfrm>
          <a:prstGeom prst="roundRect">
            <a:avLst>
              <a:gd name="adj" fmla="val 10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20482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Acción UI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35808" y="20482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0" y="2048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2048256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 técnico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4672" y="2633472"/>
            <a:ext cx="109728" cy="475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2743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3035808" y="2743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0" y="274320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92240" y="2743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Duplicados o datos incompletos</a:t>
            </a:r>
            <a:endParaRPr lang="en-US" sz="1160" dirty="0"/>
          </a:p>
        </p:txBody>
      </p:sp>
      <p:sp>
        <p:nvSpPr>
          <p:cNvPr id="20" name="Shape 17"/>
          <p:cNvSpPr/>
          <p:nvPr/>
        </p:nvSpPr>
        <p:spPr>
          <a:xfrm>
            <a:off x="1005840" y="3236976"/>
            <a:ext cx="885139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4672" y="3419856"/>
            <a:ext cx="109728" cy="4754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4128" y="3529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Listar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3035808" y="3529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0" y="352958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92240" y="35295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Exposición excesiva</a:t>
            </a:r>
            <a:endParaRPr lang="en-US" sz="1160" dirty="0"/>
          </a:p>
        </p:txBody>
      </p:sp>
      <p:sp>
        <p:nvSpPr>
          <p:cNvPr id="26" name="Shape 23"/>
          <p:cNvSpPr/>
          <p:nvPr/>
        </p:nvSpPr>
        <p:spPr>
          <a:xfrm>
            <a:off x="1005840" y="4023360"/>
            <a:ext cx="885139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4672" y="4206240"/>
            <a:ext cx="109728" cy="4754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24128" y="4315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Editar</a:t>
            </a:r>
            <a:endParaRPr lang="en-US" sz="1220" dirty="0"/>
          </a:p>
        </p:txBody>
      </p:sp>
      <p:sp>
        <p:nvSpPr>
          <p:cNvPr id="29" name="Text 26"/>
          <p:cNvSpPr/>
          <p:nvPr/>
        </p:nvSpPr>
        <p:spPr>
          <a:xfrm>
            <a:off x="3035808" y="43159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0" y="431596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92240" y="4315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masivo sin WHERE</a:t>
            </a:r>
            <a:endParaRPr lang="en-US" sz="1160" dirty="0"/>
          </a:p>
        </p:txBody>
      </p:sp>
      <p:sp>
        <p:nvSpPr>
          <p:cNvPr id="32" name="Shape 29"/>
          <p:cNvSpPr/>
          <p:nvPr/>
        </p:nvSpPr>
        <p:spPr>
          <a:xfrm>
            <a:off x="1005840" y="4809744"/>
            <a:ext cx="885139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4672" y="4992624"/>
            <a:ext cx="109728" cy="4754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24128" y="51023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Eliminar</a:t>
            </a:r>
            <a:endParaRPr lang="en-US" sz="1220" dirty="0"/>
          </a:p>
        </p:txBody>
      </p:sp>
      <p:sp>
        <p:nvSpPr>
          <p:cNvPr id="35" name="Text 32"/>
          <p:cNvSpPr/>
          <p:nvPr/>
        </p:nvSpPr>
        <p:spPr>
          <a:xfrm>
            <a:off x="3035808" y="5102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72000" y="510235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/ DELETE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492240" y="5102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Pérdida de trazabilidad</a:t>
            </a:r>
            <a:endParaRPr lang="en-US" sz="1160" dirty="0"/>
          </a:p>
        </p:txBody>
      </p:sp>
      <p:sp>
        <p:nvSpPr>
          <p:cNvPr id="38" name="Shape 35"/>
          <p:cNvSpPr/>
          <p:nvPr/>
        </p:nvSpPr>
        <p:spPr>
          <a:xfrm>
            <a:off x="1005840" y="5596128"/>
            <a:ext cx="885139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CREATE: Formulario a INSERT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no es solo guardar: es validar una nueva entidad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614416" cy="4096512"/>
          </a:xfrm>
          <a:prstGeom prst="roundRect">
            <a:avLst>
              <a:gd name="adj" fmla="val 89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35838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de compra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5193792" cy="334670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75120" y="1901952"/>
            <a:ext cx="3511296" cy="4096512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03136" y="2029968"/>
            <a:ext cx="325526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12864" y="210312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del INSERT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6821424" y="2414016"/>
            <a:ext cx="3218688" cy="999744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931152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31152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7443216" y="2542032"/>
            <a:ext cx="73152" cy="7437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644384" y="256032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Requeridos</a:t>
            </a:r>
            <a:endParaRPr lang="en-US" sz="1360" dirty="0"/>
          </a:p>
        </p:txBody>
      </p:sp>
      <p:sp>
        <p:nvSpPr>
          <p:cNvPr id="22" name="Text 18"/>
          <p:cNvSpPr/>
          <p:nvPr/>
        </p:nvSpPr>
        <p:spPr>
          <a:xfrm>
            <a:off x="7644384" y="2852928"/>
            <a:ext cx="22677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obligatorios completos.</a:t>
            </a:r>
            <a:endParaRPr lang="en-US" sz="1060" dirty="0"/>
          </a:p>
        </p:txBody>
      </p:sp>
      <p:sp>
        <p:nvSpPr>
          <p:cNvPr id="23" name="Shape 19"/>
          <p:cNvSpPr/>
          <p:nvPr/>
        </p:nvSpPr>
        <p:spPr>
          <a:xfrm>
            <a:off x="6821424" y="3578352"/>
            <a:ext cx="3218688" cy="999744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31152" y="370636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31152" y="37520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7443216" y="3706368"/>
            <a:ext cx="73152" cy="7437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644384" y="372465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</a:t>
            </a:r>
            <a:endParaRPr lang="en-US" sz="1360" dirty="0"/>
          </a:p>
        </p:txBody>
      </p:sp>
      <p:sp>
        <p:nvSpPr>
          <p:cNvPr id="28" name="Text 24"/>
          <p:cNvSpPr/>
          <p:nvPr/>
        </p:nvSpPr>
        <p:spPr>
          <a:xfrm>
            <a:off x="7644384" y="4017264"/>
            <a:ext cx="22677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Monto, estado y usuario válidos.</a:t>
            </a:r>
            <a:endParaRPr lang="en-US" sz="1060" dirty="0"/>
          </a:p>
        </p:txBody>
      </p:sp>
      <p:sp>
        <p:nvSpPr>
          <p:cNvPr id="29" name="Shape 25"/>
          <p:cNvSpPr/>
          <p:nvPr/>
        </p:nvSpPr>
        <p:spPr>
          <a:xfrm>
            <a:off x="6821424" y="4742688"/>
            <a:ext cx="3218688" cy="999744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931152" y="487070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931152" y="491642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7443216" y="4870704"/>
            <a:ext cx="73152" cy="7437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644384" y="488899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Negocio</a:t>
            </a:r>
            <a:endParaRPr lang="en-US" sz="1360" dirty="0"/>
          </a:p>
        </p:txBody>
      </p:sp>
      <p:sp>
        <p:nvSpPr>
          <p:cNvPr id="34" name="Text 30"/>
          <p:cNvSpPr/>
          <p:nvPr/>
        </p:nvSpPr>
        <p:spPr>
          <a:xfrm>
            <a:off x="7644384" y="5181600"/>
            <a:ext cx="22677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compra cumplida.</a:t>
            </a:r>
            <a:endParaRPr lang="en-US" sz="106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READ: Listado a SELECT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bien significa mostrar lo justo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614416" cy="4096512"/>
          </a:xfrm>
          <a:prstGeom prst="roundRect">
            <a:avLst>
              <a:gd name="adj" fmla="val 89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35838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Listado paginado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5193792" cy="334670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75120" y="1901952"/>
            <a:ext cx="3511296" cy="4096512"/>
          </a:xfrm>
          <a:prstGeom prst="roundRect">
            <a:avLst>
              <a:gd name="adj" fmla="val 1563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675120" y="1901952"/>
            <a:ext cx="109728" cy="40965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86016" y="2121408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986016" y="2560320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visible en UI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6986016" y="3072384"/>
            <a:ext cx="288950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50608" y="3182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explícitas.</a:t>
            </a:r>
            <a:endParaRPr lang="en-US" sz="1140" dirty="0"/>
          </a:p>
        </p:txBody>
      </p:sp>
      <p:sp>
        <p:nvSpPr>
          <p:cNvPr id="20" name="Shape 16"/>
          <p:cNvSpPr/>
          <p:nvPr/>
        </p:nvSpPr>
        <p:spPr>
          <a:xfrm>
            <a:off x="6986016" y="3730752"/>
            <a:ext cx="288950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50608" y="3840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 por usuario.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6986016" y="4389120"/>
            <a:ext cx="288950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50608" y="4498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delete aplicado.</a:t>
            </a:r>
            <a:endParaRPr lang="en-US" sz="1140" dirty="0"/>
          </a:p>
        </p:txBody>
      </p:sp>
      <p:sp>
        <p:nvSpPr>
          <p:cNvPr id="24" name="Shape 20"/>
          <p:cNvSpPr/>
          <p:nvPr/>
        </p:nvSpPr>
        <p:spPr>
          <a:xfrm>
            <a:off x="6986016" y="5047488"/>
            <a:ext cx="288950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150608" y="51572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Volumen limitado.</a:t>
            </a:r>
            <a:endParaRPr lang="en-US" sz="114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UPDATE: Edición a Cambio Acotado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Editar exige confirmar identidad y alcance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614416" cy="4096512"/>
          </a:xfrm>
          <a:prstGeom prst="roundRect">
            <a:avLst>
              <a:gd name="adj" fmla="val 89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35838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estado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5193792" cy="334670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75120" y="1901952"/>
            <a:ext cx="3511296" cy="4096512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03136" y="2029968"/>
            <a:ext cx="325526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12864" y="210312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Defensas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6821424" y="2414016"/>
            <a:ext cx="3218688" cy="999744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931152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31152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7443216" y="2542032"/>
            <a:ext cx="73152" cy="7437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644384" y="256032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</a:t>
            </a:r>
            <a:endParaRPr lang="en-US" sz="1360" dirty="0"/>
          </a:p>
        </p:txBody>
      </p:sp>
      <p:sp>
        <p:nvSpPr>
          <p:cNvPr id="22" name="Text 18"/>
          <p:cNvSpPr/>
          <p:nvPr/>
        </p:nvSpPr>
        <p:spPr>
          <a:xfrm>
            <a:off x="7644384" y="2852928"/>
            <a:ext cx="22677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por id del recurso.</a:t>
            </a:r>
            <a:endParaRPr lang="en-US" sz="1060" dirty="0"/>
          </a:p>
        </p:txBody>
      </p:sp>
      <p:sp>
        <p:nvSpPr>
          <p:cNvPr id="23" name="Shape 19"/>
          <p:cNvSpPr/>
          <p:nvPr/>
        </p:nvSpPr>
        <p:spPr>
          <a:xfrm>
            <a:off x="6821424" y="3578352"/>
            <a:ext cx="3218688" cy="999744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31152" y="370636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31152" y="37520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7443216" y="3706368"/>
            <a:ext cx="73152" cy="7437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644384" y="372465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Dueño</a:t>
            </a:r>
            <a:endParaRPr lang="en-US" sz="1360" dirty="0"/>
          </a:p>
        </p:txBody>
      </p:sp>
      <p:sp>
        <p:nvSpPr>
          <p:cNvPr id="28" name="Text 24"/>
          <p:cNvSpPr/>
          <p:nvPr/>
        </p:nvSpPr>
        <p:spPr>
          <a:xfrm>
            <a:off x="7644384" y="4017264"/>
            <a:ext cx="22677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por usuario autorizado.</a:t>
            </a:r>
            <a:endParaRPr lang="en-US" sz="1060" dirty="0"/>
          </a:p>
        </p:txBody>
      </p:sp>
      <p:sp>
        <p:nvSpPr>
          <p:cNvPr id="29" name="Shape 25"/>
          <p:cNvSpPr/>
          <p:nvPr/>
        </p:nvSpPr>
        <p:spPr>
          <a:xfrm>
            <a:off x="6821424" y="4742688"/>
            <a:ext cx="3218688" cy="999744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931152" y="487070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931152" y="491642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7443216" y="4870704"/>
            <a:ext cx="73152" cy="7437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644384" y="488899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</a:t>
            </a:r>
            <a:endParaRPr lang="en-US" sz="1360" dirty="0"/>
          </a:p>
        </p:txBody>
      </p:sp>
      <p:sp>
        <p:nvSpPr>
          <p:cNvPr id="34" name="Text 30"/>
          <p:cNvSpPr/>
          <p:nvPr/>
        </p:nvSpPr>
        <p:spPr>
          <a:xfrm>
            <a:off x="7644384" y="5181600"/>
            <a:ext cx="22677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transiciones inválidas.</a:t>
            </a:r>
            <a:endParaRPr lang="en-US" sz="106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DELETE: Acción de UI a Soft Delete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Eliminar en la interfaz no siempre debe destruir en base de datos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614416" cy="4096512"/>
          </a:xfrm>
          <a:prstGeom prst="roundRect">
            <a:avLst>
              <a:gd name="adj" fmla="val 89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35838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Borrado lógico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5193792" cy="334670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75120" y="1901952"/>
            <a:ext cx="3511296" cy="4096512"/>
          </a:xfrm>
          <a:prstGeom prst="roundRect">
            <a:avLst>
              <a:gd name="adj" fmla="val 1563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675120" y="1901952"/>
            <a:ext cx="109728" cy="40965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86016" y="2121408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986016" y="2560320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 y recuperación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6986016" y="3072384"/>
            <a:ext cx="288950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50608" y="3182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 evidencia.</a:t>
            </a:r>
            <a:endParaRPr lang="en-US" sz="1140" dirty="0"/>
          </a:p>
        </p:txBody>
      </p:sp>
      <p:sp>
        <p:nvSpPr>
          <p:cNvPr id="20" name="Shape 16"/>
          <p:cNvSpPr/>
          <p:nvPr/>
        </p:nvSpPr>
        <p:spPr>
          <a:xfrm>
            <a:off x="6986016" y="3730752"/>
            <a:ext cx="288950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50608" y="3840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restaurar.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6986016" y="4389120"/>
            <a:ext cx="288950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50608" y="4498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daño por error.</a:t>
            </a:r>
            <a:endParaRPr lang="en-US" sz="1140" dirty="0"/>
          </a:p>
        </p:txBody>
      </p:sp>
      <p:sp>
        <p:nvSpPr>
          <p:cNvPr id="24" name="Shape 20"/>
          <p:cNvSpPr/>
          <p:nvPr/>
        </p:nvSpPr>
        <p:spPr>
          <a:xfrm>
            <a:off x="6986016" y="5047488"/>
            <a:ext cx="288950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150608" y="51572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 investigación.</a:t>
            </a:r>
            <a:endParaRPr lang="en-US" sz="114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Completo de Datos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clic a la respuesta HTTP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395728"/>
            <a:ext cx="1682496" cy="1993392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505456"/>
            <a:ext cx="100584" cy="17739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52374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1060704" y="2798064"/>
            <a:ext cx="135331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 en interfaz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42032" y="3383280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706624" y="2395728"/>
            <a:ext cx="1682496" cy="1993392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79776" y="2505456"/>
            <a:ext cx="100584" cy="17739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62656" y="252374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2962656" y="2798064"/>
            <a:ext cx="135331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 / request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443984" y="3383280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608576" y="2395728"/>
            <a:ext cx="1682496" cy="1993392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81728" y="2505456"/>
            <a:ext cx="100584" cy="17739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64608" y="252374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4864608" y="2798064"/>
            <a:ext cx="135331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y validación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345936" y="3383280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510528" y="2395728"/>
            <a:ext cx="1682496" cy="1993392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0" y="2505456"/>
            <a:ext cx="100584" cy="17739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66560" y="252374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</a:t>
            </a:r>
            <a:endParaRPr lang="en-US" sz="1320" dirty="0"/>
          </a:p>
        </p:txBody>
      </p:sp>
      <p:sp>
        <p:nvSpPr>
          <p:cNvPr id="28" name="Text 25"/>
          <p:cNvSpPr/>
          <p:nvPr/>
        </p:nvSpPr>
        <p:spPr>
          <a:xfrm>
            <a:off x="6766560" y="2798064"/>
            <a:ext cx="135331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acotada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247888" y="3383280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412480" y="2395728"/>
            <a:ext cx="1682496" cy="1993392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85632" y="2505456"/>
            <a:ext cx="100584" cy="17739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68512" y="252374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</a:t>
            </a:r>
            <a:endParaRPr lang="en-US" sz="1320" dirty="0"/>
          </a:p>
        </p:txBody>
      </p:sp>
      <p:sp>
        <p:nvSpPr>
          <p:cNvPr id="33" name="Text 30"/>
          <p:cNvSpPr/>
          <p:nvPr/>
        </p:nvSpPr>
        <p:spPr>
          <a:xfrm>
            <a:off x="8668512" y="2798064"/>
            <a:ext cx="135331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y datos seguros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04672" y="5102352"/>
            <a:ext cx="9381744" cy="676656"/>
          </a:xfrm>
          <a:prstGeom prst="roundRect">
            <a:avLst>
              <a:gd name="adj" fmla="val 54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05840" y="5266944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en una sola capa no basta: cada frontera debe reducir riesgo.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Contrato Entre Capas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capa valida algo distinto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2907792" cy="3968496"/>
          </a:xfrm>
          <a:prstGeom prst="roundRect">
            <a:avLst>
              <a:gd name="adj" fmla="val 1887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029968"/>
            <a:ext cx="109728" cy="39684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2494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688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al usuario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200400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31012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inicial.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1115568" y="3858768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96849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requeridos.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1115568" y="4517136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62686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rápido.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1115568" y="5175504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28523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frontera final.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4114800" y="2029968"/>
            <a:ext cx="2907792" cy="3968496"/>
          </a:xfrm>
          <a:prstGeom prst="roundRect">
            <a:avLst>
              <a:gd name="adj" fmla="val 1887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0" y="2029968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25696" y="22494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4425696" y="2688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negocio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4425696" y="3200400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90288" y="331012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Autorización.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4425696" y="3858768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90288" y="396849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 válidos.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4425696" y="4517136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90288" y="462686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Parámetros seguros.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4425696" y="5175504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90288" y="528523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controlados.</a:t>
            </a:r>
            <a:endParaRPr lang="en-US" sz="1140" dirty="0"/>
          </a:p>
        </p:txBody>
      </p:sp>
      <p:sp>
        <p:nvSpPr>
          <p:cNvPr id="34" name="Shape 31"/>
          <p:cNvSpPr/>
          <p:nvPr/>
        </p:nvSpPr>
        <p:spPr>
          <a:xfrm>
            <a:off x="7333488" y="2029968"/>
            <a:ext cx="2852928" cy="3968496"/>
          </a:xfrm>
          <a:prstGeom prst="roundRect">
            <a:avLst>
              <a:gd name="adj" fmla="val 1923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33488" y="2029968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44384" y="2249424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datos</a:t>
            </a:r>
            <a:endParaRPr lang="en-US" sz="1900" dirty="0"/>
          </a:p>
        </p:txBody>
      </p:sp>
      <p:sp>
        <p:nvSpPr>
          <p:cNvPr id="37" name="Text 34"/>
          <p:cNvSpPr/>
          <p:nvPr/>
        </p:nvSpPr>
        <p:spPr>
          <a:xfrm>
            <a:off x="7644384" y="2688336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Integridad final</a:t>
            </a:r>
            <a:endParaRPr lang="en-US" sz="1220" dirty="0"/>
          </a:p>
        </p:txBody>
      </p:sp>
      <p:sp>
        <p:nvSpPr>
          <p:cNvPr id="38" name="Shape 35"/>
          <p:cNvSpPr/>
          <p:nvPr/>
        </p:nvSpPr>
        <p:spPr>
          <a:xfrm>
            <a:off x="7644384" y="3200400"/>
            <a:ext cx="223113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08976" y="331012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Tipos.</a:t>
            </a:r>
            <a:endParaRPr lang="en-US" sz="1140" dirty="0"/>
          </a:p>
        </p:txBody>
      </p:sp>
      <p:sp>
        <p:nvSpPr>
          <p:cNvPr id="40" name="Shape 37"/>
          <p:cNvSpPr/>
          <p:nvPr/>
        </p:nvSpPr>
        <p:spPr>
          <a:xfrm>
            <a:off x="7644384" y="3858768"/>
            <a:ext cx="223113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08976" y="396849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Constraints.</a:t>
            </a:r>
            <a:endParaRPr lang="en-US" sz="1140" dirty="0"/>
          </a:p>
        </p:txBody>
      </p:sp>
      <p:sp>
        <p:nvSpPr>
          <p:cNvPr id="42" name="Shape 39"/>
          <p:cNvSpPr/>
          <p:nvPr/>
        </p:nvSpPr>
        <p:spPr>
          <a:xfrm>
            <a:off x="7644384" y="4517136"/>
            <a:ext cx="223113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808976" y="462686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Índices.</a:t>
            </a:r>
            <a:endParaRPr lang="en-US" sz="1140" dirty="0"/>
          </a:p>
        </p:txBody>
      </p:sp>
      <p:sp>
        <p:nvSpPr>
          <p:cNvPr id="44" name="Shape 41"/>
          <p:cNvSpPr/>
          <p:nvPr/>
        </p:nvSpPr>
        <p:spPr>
          <a:xfrm>
            <a:off x="7644384" y="5175504"/>
            <a:ext cx="223113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808976" y="528523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Privilegios.</a:t>
            </a:r>
            <a:endParaRPr lang="en-US" sz="114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 Cyber: Menor Privilegio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aplicación no debe conectarse como root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029968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root / admin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Poder excesivo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borrar tablas.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1115568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alterar esquema.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1115568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Amplifica SQL injection.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1115568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debe usarse desde backend web.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5687568" y="2029968"/>
            <a:ext cx="4498848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2029968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98464" y="224942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web_app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98464" y="26883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Permisos acotados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98464" y="3200400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63056" y="33101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controlado.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5998464" y="3858768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63056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donde corresponde.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5998464" y="4517136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63056" y="46268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limitado.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5998464" y="5175504"/>
            <a:ext cx="387705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63056" y="5285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DROP ni TRUNCATE.</a:t>
            </a:r>
            <a:endParaRPr lang="en-US" sz="114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Perfiles de Permisos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todas las pantallas necesitan el mismo poder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20240"/>
            <a:ext cx="9381744" cy="4187952"/>
          </a:xfrm>
          <a:prstGeom prst="roundRect">
            <a:avLst>
              <a:gd name="adj" fmla="val 8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4825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21408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 permisos por contexto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432304"/>
            <a:ext cx="2907792" cy="3419856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603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6060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60320"/>
            <a:ext cx="73152" cy="3163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78608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Panel estadístico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71216"/>
            <a:ext cx="19568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`SELECT` sobre vistas o consultas acotadas.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432304"/>
            <a:ext cx="2907792" cy="3419856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5603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6060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560320"/>
            <a:ext cx="73152" cy="31638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578608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Panel operativo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871216"/>
            <a:ext cx="19568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`SELECT`, `INSERT` y `UPDATE` sobre tablas específicas.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432304"/>
            <a:ext cx="2907792" cy="3419856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5603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6060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560320"/>
            <a:ext cx="73152" cy="3163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578608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Proceso interno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871216"/>
            <a:ext cx="19568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Permisos ampliados, aislados y auditados.</a:t>
            </a:r>
            <a:endParaRPr lang="en-US" sz="106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Metodología Agentic Para SQL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delegar ejecución: delegar borrador y revisión guiada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139696"/>
            <a:ext cx="2194560" cy="2121408"/>
          </a:xfrm>
          <a:prstGeom prst="roundRect">
            <a:avLst>
              <a:gd name="adj" fmla="val 1293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249424"/>
            <a:ext cx="100584" cy="19019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26771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60704" y="2542032"/>
            <a:ext cx="18653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DDL, objetivo y restricciones.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82112" y="2139696"/>
            <a:ext cx="2194560" cy="2121408"/>
          </a:xfrm>
          <a:prstGeom prst="roundRect">
            <a:avLst>
              <a:gd name="adj" fmla="val 1293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55264" y="2249424"/>
            <a:ext cx="100584" cy="19019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38144" y="226771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Intención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38144" y="2542032"/>
            <a:ext cx="18653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consulta se necesita.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59552" y="2139696"/>
            <a:ext cx="2194560" cy="2121408"/>
          </a:xfrm>
          <a:prstGeom prst="roundRect">
            <a:avLst>
              <a:gd name="adj" fmla="val 1293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32704" y="2249424"/>
            <a:ext cx="100584" cy="19019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15584" y="226771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Inspección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815584" y="2542032"/>
            <a:ext cx="18653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SELECT, WHERE, LIMIT.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936992" y="2139696"/>
            <a:ext cx="2194560" cy="2121408"/>
          </a:xfrm>
          <a:prstGeom prst="roundRect">
            <a:avLst>
              <a:gd name="adj" fmla="val 1293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10144" y="2249424"/>
            <a:ext cx="100584" cy="19019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93024" y="226771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193024" y="2542032"/>
            <a:ext cx="18653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 en desarrollo.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04672" y="495604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05840" y="512064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 acelerar el borrador; la decisión de ejecutar sigue siendo humana.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Crítico: Falta el WHERE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también puede producir SQL peligroso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614416" cy="2852928"/>
          </a:xfrm>
          <a:prstGeom prst="roundRect">
            <a:avLst>
              <a:gd name="adj" fmla="val 128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35838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peligrosa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5193792" cy="21031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75120" y="1901952"/>
            <a:ext cx="3511296" cy="2852928"/>
          </a:xfrm>
          <a:prstGeom prst="roundRect">
            <a:avLst>
              <a:gd name="adj" fmla="val 128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766560" y="2029968"/>
            <a:ext cx="109728" cy="25968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31152" y="201168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Diagnóstico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931152" y="2359152"/>
            <a:ext cx="316382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consulta compila, pero cambia todos los usuarios. El problema no es sintaxis: es alcance.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804672" y="5230368"/>
            <a:ext cx="9381744" cy="676656"/>
          </a:xfrm>
          <a:prstGeom prst="roundRect">
            <a:avLst>
              <a:gd name="adj" fmla="val 540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05840" y="5394960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Saber ver el error antes de ejecutar es parte central del oficio.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Humano Antes de Ejecutar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Especialmente si el SQL fue generado por IA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4187952"/>
          </a:xfrm>
          <a:prstGeom prst="roundRect">
            <a:avLst>
              <a:gd name="adj" fmla="val 8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29968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03120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mínimo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414016"/>
            <a:ext cx="29077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DDL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42032"/>
            <a:ext cx="73152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6032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Calza con esquema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52928"/>
            <a:ext cx="1956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Columnas, tipos y constraints existen.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414016"/>
            <a:ext cx="29077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542032"/>
            <a:ext cx="73152" cy="13716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56032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 acotado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852928"/>
            <a:ext cx="1956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Filtros precisos antes de UPDATE/DELETE.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414016"/>
            <a:ext cx="29077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542032"/>
            <a:ext cx="73152" cy="13716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56032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expone secretos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852928"/>
            <a:ext cx="1956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explícito y sin campos sensibles.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950976" y="4206240"/>
            <a:ext cx="29077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60704" y="433425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60704" y="43799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572768" y="4334256"/>
            <a:ext cx="73152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773936" y="43525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Controla volumen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1773936" y="4645152"/>
            <a:ext cx="1956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 o paginación cuando corresponde.</a:t>
            </a:r>
            <a:endParaRPr lang="en-US" sz="1060" dirty="0"/>
          </a:p>
        </p:txBody>
      </p:sp>
      <p:sp>
        <p:nvSpPr>
          <p:cNvPr id="37" name="Shape 34"/>
          <p:cNvSpPr/>
          <p:nvPr/>
        </p:nvSpPr>
        <p:spPr>
          <a:xfrm>
            <a:off x="4041648" y="4206240"/>
            <a:ext cx="29077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51376" y="433425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51376" y="43799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4663440" y="4334256"/>
            <a:ext cx="73152" cy="13716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64608" y="43525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Permiso correcto</a:t>
            </a:r>
            <a:endParaRPr lang="en-US" sz="1360" dirty="0"/>
          </a:p>
        </p:txBody>
      </p:sp>
      <p:sp>
        <p:nvSpPr>
          <p:cNvPr id="42" name="Text 39"/>
          <p:cNvSpPr/>
          <p:nvPr/>
        </p:nvSpPr>
        <p:spPr>
          <a:xfrm>
            <a:off x="4864608" y="4645152"/>
            <a:ext cx="1956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 de BD con privilegio mínimo.</a:t>
            </a:r>
            <a:endParaRPr lang="en-US" sz="1060" dirty="0"/>
          </a:p>
        </p:txBody>
      </p:sp>
      <p:sp>
        <p:nvSpPr>
          <p:cNvPr id="43" name="Shape 40"/>
          <p:cNvSpPr/>
          <p:nvPr/>
        </p:nvSpPr>
        <p:spPr>
          <a:xfrm>
            <a:off x="7132320" y="4206240"/>
            <a:ext cx="29077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42048" y="433425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242048" y="43799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7754112" y="4334256"/>
            <a:ext cx="73152" cy="13716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55280" y="43525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primero</a:t>
            </a:r>
            <a:endParaRPr lang="en-US" sz="1360" dirty="0"/>
          </a:p>
        </p:txBody>
      </p:sp>
      <p:sp>
        <p:nvSpPr>
          <p:cNvPr id="48" name="Text 45"/>
          <p:cNvSpPr/>
          <p:nvPr/>
        </p:nvSpPr>
        <p:spPr>
          <a:xfrm>
            <a:off x="7955280" y="4645152"/>
            <a:ext cx="1956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 de desarrollo antes de producción.</a:t>
            </a:r>
            <a:endParaRPr lang="en-US" sz="106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une web, backend y persistencia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1115568"/>
          </a:xfrm>
          <a:prstGeom prst="roundRect">
            <a:avLst>
              <a:gd name="adj" fmla="val 573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66544"/>
            <a:ext cx="89794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CRUD no es una lista de comandos: es el contrato operativo entre usuario, aplicación y base de datos.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04672" y="3675888"/>
            <a:ext cx="2194560" cy="2048256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785616"/>
            <a:ext cx="100584" cy="18288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8039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60704" y="4078224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Insertar datos válidos.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3182112" y="3675888"/>
            <a:ext cx="2194560" cy="2048256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55264" y="3785616"/>
            <a:ext cx="100584" cy="18288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38144" y="38039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438144" y="4078224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lo necesario.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5559552" y="3675888"/>
            <a:ext cx="2194560" cy="2048256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32704" y="3785616"/>
            <a:ext cx="100584" cy="18288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15584" y="38039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815584" y="4078224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Modificar con alcance.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7936992" y="3675888"/>
            <a:ext cx="2194560" cy="2048256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10144" y="3785616"/>
            <a:ext cx="100584" cy="18288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38039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DELETE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193024" y="4078224"/>
            <a:ext cx="1865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Eliminar con trazabilidad.</a:t>
            </a:r>
            <a:endParaRPr lang="en-US" sz="98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CRUD, privilegios y agentes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10972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303580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031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91056" y="206654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una pantalla solo muestra estadísticas, ¿por qué su usuario de base de datos no debería tener permisos de `UPDATE`?</a:t>
            </a:r>
            <a:endParaRPr lang="en-US" sz="1380" dirty="0"/>
          </a:p>
        </p:txBody>
      </p:sp>
      <p:sp>
        <p:nvSpPr>
          <p:cNvPr id="14" name="Text 11"/>
          <p:cNvSpPr/>
          <p:nvPr/>
        </p:nvSpPr>
        <p:spPr>
          <a:xfrm>
            <a:off x="1591056" y="2798064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relaciona privilegio mínimo con reducción de daño ante una vulnerabilidad.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04672" y="3273552"/>
            <a:ext cx="109728" cy="1133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4128" y="440740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34747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91056" y="343814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una ruta `PATCH /compras/:id`, ¿qué condiciones deberían aparecer en el `WHERE` además del `id`?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1591056" y="4169664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dueño del recurso, estado actual y alcance autorizado.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804672" y="4645152"/>
            <a:ext cx="109728" cy="11338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4128" y="577900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" y="48463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591056" y="480974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parte del flujo SQL puede apoyar un agente y qué parte no deberías delegar nunca sin revisar?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1591056" y="5541264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separa borrador, explicación y checklist de la decisión de ejecutar.</a:t>
            </a:r>
            <a:endParaRPr lang="en-US" sz="108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Final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estructura a aplicación web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4187952"/>
          </a:xfrm>
          <a:prstGeom prst="roundRect">
            <a:avLst>
              <a:gd name="adj" fmla="val 8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29968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03120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construimos hoy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414016"/>
            <a:ext cx="29077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DDL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42032"/>
            <a:ext cx="73152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6032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52928"/>
            <a:ext cx="1956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Tablas, tipos y restricciones.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414016"/>
            <a:ext cx="29077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DML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542032"/>
            <a:ext cx="73152" cy="13716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56032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Cambios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852928"/>
            <a:ext cx="1956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Insertar, actualizar y borrar.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414016"/>
            <a:ext cx="29077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DQL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542032"/>
            <a:ext cx="73152" cy="13716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56032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852928"/>
            <a:ext cx="1956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con precisión.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950976" y="4206240"/>
            <a:ext cx="29077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60704" y="433425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60704" y="43799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572768" y="4334256"/>
            <a:ext cx="73152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773936" y="43525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1773936" y="4645152"/>
            <a:ext cx="1956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Mapear acciones a SQL.</a:t>
            </a:r>
            <a:endParaRPr lang="en-US" sz="106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Mental SQL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secuencia para razonar sistemas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560320"/>
            <a:ext cx="2194560" cy="2359152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670048"/>
            <a:ext cx="100584" cy="21396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6883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60704" y="2962656"/>
            <a:ext cx="18653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forma deben tener los datos?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3182112" y="2560320"/>
            <a:ext cx="2194560" cy="2359152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55264" y="2670048"/>
            <a:ext cx="100584" cy="21396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38144" y="26883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Modificar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38144" y="2962656"/>
            <a:ext cx="18653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operación cambia la verdad?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5559552" y="2560320"/>
            <a:ext cx="2194560" cy="2359152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32704" y="2670048"/>
            <a:ext cx="100584" cy="21396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15584" y="26883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815584" y="2962656"/>
            <a:ext cx="18653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información debería salir?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7936992" y="2560320"/>
            <a:ext cx="2194560" cy="2359152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10144" y="2670048"/>
            <a:ext cx="100584" cy="21396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93024" y="26883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193024" y="2962656"/>
            <a:ext cx="18653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acción web dispara el flujo?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804672" y="5376672"/>
            <a:ext cx="9381744" cy="585216"/>
          </a:xfrm>
          <a:prstGeom prst="roundRect">
            <a:avLst>
              <a:gd name="adj" fmla="val 625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05840" y="5541264"/>
            <a:ext cx="8979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base de datos no es un accesorio del backend: es parte central del contrato de la aplicación.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Transversal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seguridad apareció en cada sublenguaje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4187952"/>
          </a:xfrm>
          <a:prstGeom prst="roundRect">
            <a:avLst>
              <a:gd name="adj" fmla="val 8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29968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03120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Defensas acumuladas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414016"/>
            <a:ext cx="29077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42032"/>
            <a:ext cx="73152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6032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 estrictos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52928"/>
            <a:ext cx="1956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DDL rechaza formas inválidas.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414016"/>
            <a:ext cx="29077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WHR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542032"/>
            <a:ext cx="73152" cy="13716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56032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obligatorio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852928"/>
            <a:ext cx="1956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DML controla alcance.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414016"/>
            <a:ext cx="29077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542032"/>
            <a:ext cx="73152" cy="13716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56032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 explícito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852928"/>
            <a:ext cx="1956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DQL reduce exposición.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950976" y="4206240"/>
            <a:ext cx="29077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60704" y="433425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60704" y="43799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572768" y="4334256"/>
            <a:ext cx="73152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773936" y="43525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 delete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1773936" y="4645152"/>
            <a:ext cx="1956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Mantiene trazabilidad.</a:t>
            </a:r>
            <a:endParaRPr lang="en-US" sz="1060" dirty="0"/>
          </a:p>
        </p:txBody>
      </p:sp>
      <p:sp>
        <p:nvSpPr>
          <p:cNvPr id="37" name="Shape 34"/>
          <p:cNvSpPr/>
          <p:nvPr/>
        </p:nvSpPr>
        <p:spPr>
          <a:xfrm>
            <a:off x="4041648" y="4206240"/>
            <a:ext cx="29077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51376" y="433425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51376" y="43799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4663440" y="4334256"/>
            <a:ext cx="73152" cy="13716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64608" y="43525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Menor privilegio</a:t>
            </a:r>
            <a:endParaRPr lang="en-US" sz="1360" dirty="0"/>
          </a:p>
        </p:txBody>
      </p:sp>
      <p:sp>
        <p:nvSpPr>
          <p:cNvPr id="42" name="Text 39"/>
          <p:cNvSpPr/>
          <p:nvPr/>
        </p:nvSpPr>
        <p:spPr>
          <a:xfrm>
            <a:off x="4864608" y="4645152"/>
            <a:ext cx="1956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 daño potencial.</a:t>
            </a:r>
            <a:endParaRPr lang="en-US" sz="1060" dirty="0"/>
          </a:p>
        </p:txBody>
      </p:sp>
      <p:sp>
        <p:nvSpPr>
          <p:cNvPr id="43" name="Shape 40"/>
          <p:cNvSpPr/>
          <p:nvPr/>
        </p:nvSpPr>
        <p:spPr>
          <a:xfrm>
            <a:off x="7132320" y="4206240"/>
            <a:ext cx="29077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42048" y="433425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242048" y="43799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7754112" y="4334256"/>
            <a:ext cx="73152" cy="13716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55280" y="43525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seguros</a:t>
            </a:r>
            <a:endParaRPr lang="en-US" sz="1360" dirty="0"/>
          </a:p>
        </p:txBody>
      </p:sp>
      <p:sp>
        <p:nvSpPr>
          <p:cNvPr id="48" name="Text 45"/>
          <p:cNvSpPr/>
          <p:nvPr/>
        </p:nvSpPr>
        <p:spPr>
          <a:xfrm>
            <a:off x="7955280" y="4645152"/>
            <a:ext cx="1956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filtrar estructura interna.</a:t>
            </a:r>
            <a:endParaRPr lang="en-US" sz="106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Paso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Mañana: seguridad aplicada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1298448"/>
          </a:xfrm>
          <a:prstGeom prst="roundRect">
            <a:avLst>
              <a:gd name="adj" fmla="val 49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66544"/>
            <a:ext cx="89794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Mañana tomaremos estas operaciones SQL y las blindaremos desde la aplicación: validación de entradas, autenticación básica, manejo de errores e inyección SQL.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04672" y="3657600"/>
            <a:ext cx="9381744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378561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858768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directa con esta clase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950976" y="4169664"/>
            <a:ext cx="2907792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29768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43434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572768" y="4297680"/>
            <a:ext cx="73152" cy="12618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73936" y="4315968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Entradas</a:t>
            </a:r>
            <a:endParaRPr lang="en-US" sz="1360" dirty="0"/>
          </a:p>
        </p:txBody>
      </p:sp>
      <p:sp>
        <p:nvSpPr>
          <p:cNvPr id="20" name="Text 17"/>
          <p:cNvSpPr/>
          <p:nvPr/>
        </p:nvSpPr>
        <p:spPr>
          <a:xfrm>
            <a:off x="1773936" y="4608576"/>
            <a:ext cx="1956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confiar en datos del usuario.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4041648" y="4169664"/>
            <a:ext cx="2907792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51376" y="429768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51376" y="43434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4663440" y="4297680"/>
            <a:ext cx="73152" cy="12618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64608" y="4315968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Autenticación</a:t>
            </a:r>
            <a:endParaRPr lang="en-US" sz="1360" dirty="0"/>
          </a:p>
        </p:txBody>
      </p:sp>
      <p:sp>
        <p:nvSpPr>
          <p:cNvPr id="26" name="Text 23"/>
          <p:cNvSpPr/>
          <p:nvPr/>
        </p:nvSpPr>
        <p:spPr>
          <a:xfrm>
            <a:off x="4864608" y="4608576"/>
            <a:ext cx="1956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Saber quién ejecuta la acción.</a:t>
            </a:r>
            <a:endParaRPr lang="en-US" sz="1060" dirty="0"/>
          </a:p>
        </p:txBody>
      </p:sp>
      <p:sp>
        <p:nvSpPr>
          <p:cNvPr id="27" name="Shape 24"/>
          <p:cNvSpPr/>
          <p:nvPr/>
        </p:nvSpPr>
        <p:spPr>
          <a:xfrm>
            <a:off x="7132320" y="4169664"/>
            <a:ext cx="2907792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42048" y="429768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42048" y="43434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7754112" y="4297680"/>
            <a:ext cx="73152" cy="12618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55280" y="4315968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</a:t>
            </a:r>
            <a:endParaRPr lang="en-US" sz="1360" dirty="0"/>
          </a:p>
        </p:txBody>
      </p:sp>
      <p:sp>
        <p:nvSpPr>
          <p:cNvPr id="32" name="Text 29"/>
          <p:cNvSpPr/>
          <p:nvPr/>
        </p:nvSpPr>
        <p:spPr>
          <a:xfrm>
            <a:off x="7955280" y="4608576"/>
            <a:ext cx="1956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sin filtrar internals.</a:t>
            </a:r>
            <a:endParaRPr lang="en-US" sz="106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20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Salida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general de la clase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10972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999232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06654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91056" y="2029968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diferencia práctica hay entre diseñar una tabla y poblarla con registros?</a:t>
            </a:r>
            <a:endParaRPr lang="en-US" sz="1380" dirty="0"/>
          </a:p>
        </p:txBody>
      </p:sp>
      <p:sp>
        <p:nvSpPr>
          <p:cNvPr id="14" name="Text 11"/>
          <p:cNvSpPr/>
          <p:nvPr/>
        </p:nvSpPr>
        <p:spPr>
          <a:xfrm>
            <a:off x="1591056" y="2761488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separa DDL de DML: estructura versus contenido.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04672" y="3054096"/>
            <a:ext cx="109728" cy="1133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4128" y="4187952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325526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91056" y="3218688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¿Cuál es el riesgo técnico más grave de ejecutar `UPDATE` o `DELETE` sin filtro?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1591056" y="3950208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alcance masivo y corrupción de datos.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804672" y="4242816"/>
            <a:ext cx="109728" cy="11338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4128" y="5376672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" y="44439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591056" y="4407408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`SELECT *` es una mala práctica en código de producción?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1591056" y="5138928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relaciona rendimiento, mantenibilidad y fuga de datos.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804672" y="5431536"/>
            <a:ext cx="10972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24128" y="6565392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97280" y="563270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591056" y="5596128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validación harías antes de ejecutar SQL sugerido por un agente?</a:t>
            </a:r>
            <a:endParaRPr lang="en-US" sz="1380" dirty="0"/>
          </a:p>
        </p:txBody>
      </p:sp>
      <p:sp>
        <p:nvSpPr>
          <p:cNvPr id="29" name="Text 26"/>
          <p:cNvSpPr/>
          <p:nvPr/>
        </p:nvSpPr>
        <p:spPr>
          <a:xfrm>
            <a:off x="1591056" y="6327648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revisa esquema, alcance, datos sensibles y entorno de prueba.</a:t>
            </a:r>
            <a:endParaRPr lang="en-US" sz="108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1847088"/>
            <a:ext cx="841248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inicial: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antes de ejecución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04672" y="3310128"/>
            <a:ext cx="7680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4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de datos conserva decisiones. Por eso cada comando debe ser leído, entendido y validado antes de ejecutarse.</a:t>
            </a:r>
            <a:endParaRPr lang="en-US" sz="1540" dirty="0"/>
          </a:p>
        </p:txBody>
      </p:sp>
      <p:sp>
        <p:nvSpPr>
          <p:cNvPr id="9" name="Shape 6"/>
          <p:cNvSpPr/>
          <p:nvPr/>
        </p:nvSpPr>
        <p:spPr>
          <a:xfrm>
            <a:off x="804672" y="523036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53949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Próxima clase: Seguridad aplicada e inyección SQL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inicial: DDL, DML, consultas básicas y operaciones CRUD</dc:title>
  <dc:subject>Clase 20</dc:subject>
  <dc:creator>Diego Obando</dc:creator>
  <cp:lastModifiedBy>Diego Obando</cp:lastModifiedBy>
  <cp:revision>1</cp:revision>
  <dcterms:created xsi:type="dcterms:W3CDTF">2026-04-26T19:34:40Z</dcterms:created>
  <dcterms:modified xsi:type="dcterms:W3CDTF">2026-04-26T19:34:40Z</dcterms:modified>
</cp:coreProperties>
</file>