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68" r:id="rId15"/>
    <p:sldId id="269" r:id="rId16"/>
    <p:sldId id="270" r:id="rId17"/>
    <p:sldId id="271" r:id="rId18"/>
    <p:sldId id="274" r:id="rId19"/>
    <p:sldId id="277" r:id="rId20"/>
    <p:sldId id="276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8F4E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780144-4154-4BDB-BFB4-359672C4FCD0}" v="775" dt="2026-05-03T17:07:03.939"/>
    <p1510:client id="{7DB1D0CE-9686-461D-A941-5DA14FE94584}" v="74" dt="2026-05-03T03:49:51.823"/>
    <p1510:client id="{7DB25476-A854-4BE1-92C9-89E41D727F5B}" v="98" dt="2026-05-02T21:29:46.670"/>
    <p1510:client id="{86F45B95-3411-4EBB-81CC-FA2F3DA9AA1D}" v="38" dt="2026-05-02T01:53:53.970"/>
    <p1510:client id="{A08CCB9F-CE1C-4AFD-A4A4-9EC55C8062EC}" v="1010" dt="2026-05-03T22:44:09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FD1472-D1F8-4831-AA87-FA2FF7797A44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4C05A0-9D9F-4497-816C-05D5021DC3CC}">
      <dgm:prSet phldr="0" custT="1"/>
      <dgm:spPr/>
      <dgm:t>
        <a:bodyPr/>
        <a:lstStyle/>
        <a:p>
          <a:pPr rtl="0">
            <a:lnSpc>
              <a:spcPct val="100000"/>
            </a:lnSpc>
          </a:pPr>
          <a:r>
            <a:rPr lang="es-ES" sz="1100" dirty="0">
              <a:latin typeface="Calibri"/>
              <a:ea typeface="Calibri"/>
              <a:cs typeface="Calibri"/>
            </a:rPr>
            <a:t>Es una falla de seguridad (sea de hardware o software) desconocida por los desarrolladores</a:t>
          </a:r>
          <a:endParaRPr lang="es-ES" dirty="0"/>
        </a:p>
      </dgm:t>
    </dgm:pt>
    <dgm:pt modelId="{4D0A0C68-7B97-492B-9C01-BF5DF35891DB}" type="parTrans" cxnId="{F5A2B5ED-4F12-4648-8771-4DDE877FF221}">
      <dgm:prSet/>
      <dgm:spPr/>
      <dgm:t>
        <a:bodyPr/>
        <a:lstStyle/>
        <a:p>
          <a:endParaRPr lang="en-US"/>
        </a:p>
      </dgm:t>
    </dgm:pt>
    <dgm:pt modelId="{31628AB4-5B48-48C0-A21C-C1E853DBD84F}" type="sibTrans" cxnId="{F5A2B5ED-4F12-4648-8771-4DDE877FF221}">
      <dgm:prSet/>
      <dgm:spPr/>
      <dgm:t>
        <a:bodyPr/>
        <a:lstStyle/>
        <a:p>
          <a:endParaRPr lang="en-US"/>
        </a:p>
      </dgm:t>
    </dgm:pt>
    <dgm:pt modelId="{AEA3D3B4-7CEC-4683-90FE-E0DD55249F7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No existe parche disponible inmediatamente para corregirla.</a:t>
          </a:r>
          <a:endParaRPr lang="en-US"/>
        </a:p>
      </dgm:t>
    </dgm:pt>
    <dgm:pt modelId="{A04CBDB2-8452-4199-A963-79CDBEF4109C}" type="parTrans" cxnId="{AD5B2485-A1FE-4608-85BC-F3E95C581806}">
      <dgm:prSet/>
      <dgm:spPr/>
      <dgm:t>
        <a:bodyPr/>
        <a:lstStyle/>
        <a:p>
          <a:endParaRPr lang="en-US"/>
        </a:p>
      </dgm:t>
    </dgm:pt>
    <dgm:pt modelId="{DEE9FACB-9085-47FB-800E-549A0ACE6D0D}" type="sibTrans" cxnId="{AD5B2485-A1FE-4608-85BC-F3E95C581806}">
      <dgm:prSet/>
      <dgm:spPr/>
      <dgm:t>
        <a:bodyPr/>
        <a:lstStyle/>
        <a:p>
          <a:endParaRPr lang="en-US"/>
        </a:p>
      </dgm:t>
    </dgm:pt>
    <dgm:pt modelId="{04CDB452-3CE1-42F5-85C8-23AEBA7A651B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• Puede ser explotada antes de ser descubierta por los propios desarrolladores.</a:t>
          </a:r>
          <a:endParaRPr lang="en-US"/>
        </a:p>
      </dgm:t>
    </dgm:pt>
    <dgm:pt modelId="{4E0159DD-7612-487A-B4D6-351DF9FC9C76}" type="parTrans" cxnId="{5862F1C5-78B6-4B27-81CC-11C2A1799C78}">
      <dgm:prSet/>
      <dgm:spPr/>
      <dgm:t>
        <a:bodyPr/>
        <a:lstStyle/>
        <a:p>
          <a:endParaRPr lang="en-US"/>
        </a:p>
      </dgm:t>
    </dgm:pt>
    <dgm:pt modelId="{70F995BA-D9E6-4541-BFBF-3CFC84F5A3FD}" type="sibTrans" cxnId="{5862F1C5-78B6-4B27-81CC-11C2A1799C78}">
      <dgm:prSet/>
      <dgm:spPr/>
      <dgm:t>
        <a:bodyPr/>
        <a:lstStyle/>
        <a:p>
          <a:endParaRPr lang="en-US"/>
        </a:p>
      </dgm:t>
    </dgm:pt>
    <dgm:pt modelId="{FF90A436-9338-457B-9B43-5C8152D7A0B6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• La IA puede encontrarlas más rápido que los humanos gracias a su velocidad y entendimiento del código.</a:t>
          </a:r>
          <a:endParaRPr lang="en-US"/>
        </a:p>
      </dgm:t>
    </dgm:pt>
    <dgm:pt modelId="{28E7A159-CA52-4A18-9A8C-AE881BB9217D}" type="parTrans" cxnId="{838F3194-211C-40DF-9E1E-A6254ED51523}">
      <dgm:prSet/>
      <dgm:spPr/>
      <dgm:t>
        <a:bodyPr/>
        <a:lstStyle/>
        <a:p>
          <a:endParaRPr lang="en-US"/>
        </a:p>
      </dgm:t>
    </dgm:pt>
    <dgm:pt modelId="{C8379D43-5211-402F-990D-32BD3E85F3CB}" type="sibTrans" cxnId="{838F3194-211C-40DF-9E1E-A6254ED51523}">
      <dgm:prSet/>
      <dgm:spPr/>
      <dgm:t>
        <a:bodyPr/>
        <a:lstStyle/>
        <a:p>
          <a:endParaRPr lang="en-US"/>
        </a:p>
      </dgm:t>
    </dgm:pt>
    <dgm:pt modelId="{B817DDFD-3B67-46B9-9668-CC2CCF07ABC0}">
      <dgm:prSet/>
      <dgm:spPr/>
      <dgm:t>
        <a:bodyPr/>
        <a:lstStyle/>
        <a:p>
          <a:pPr>
            <a:lnSpc>
              <a:spcPct val="100000"/>
            </a:lnSpc>
          </a:pPr>
          <a:r>
            <a:rPr lang="es-ES"/>
            <a:t>• Su detección temprana previene ataques masivos.</a:t>
          </a:r>
          <a:endParaRPr lang="en-US"/>
        </a:p>
      </dgm:t>
    </dgm:pt>
    <dgm:pt modelId="{DB778D51-9C77-41BE-B38C-4D98C7B6ED6D}" type="parTrans" cxnId="{F8C3D8DD-7BCA-417F-AB73-C6522B2C3698}">
      <dgm:prSet/>
      <dgm:spPr/>
      <dgm:t>
        <a:bodyPr/>
        <a:lstStyle/>
        <a:p>
          <a:endParaRPr lang="en-US"/>
        </a:p>
      </dgm:t>
    </dgm:pt>
    <dgm:pt modelId="{51FFC1F5-6746-4BC3-B1D8-68A4E9D5091A}" type="sibTrans" cxnId="{F8C3D8DD-7BCA-417F-AB73-C6522B2C3698}">
      <dgm:prSet/>
      <dgm:spPr/>
      <dgm:t>
        <a:bodyPr/>
        <a:lstStyle/>
        <a:p>
          <a:endParaRPr lang="en-US"/>
        </a:p>
      </dgm:t>
    </dgm:pt>
    <dgm:pt modelId="{36DB421E-E4E0-4BF7-A71B-A55CDC0C2F1E}" type="pres">
      <dgm:prSet presAssocID="{16FD1472-D1F8-4831-AA87-FA2FF7797A44}" presName="root" presStyleCnt="0">
        <dgm:presLayoutVars>
          <dgm:dir/>
          <dgm:resizeHandles val="exact"/>
        </dgm:presLayoutVars>
      </dgm:prSet>
      <dgm:spPr/>
    </dgm:pt>
    <dgm:pt modelId="{ACDC3517-21CB-4681-97EC-1CD4689AEC92}" type="pres">
      <dgm:prSet presAssocID="{9D4C05A0-9D9F-4497-816C-05D5021DC3CC}" presName="compNode" presStyleCnt="0"/>
      <dgm:spPr/>
    </dgm:pt>
    <dgm:pt modelId="{C968C397-2B35-4089-919A-C40CFC8533F0}" type="pres">
      <dgm:prSet presAssocID="{9D4C05A0-9D9F-4497-816C-05D5021DC3CC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A890A545-F090-40AF-A0C7-2A0E988AE4F0}" type="pres">
      <dgm:prSet presAssocID="{9D4C05A0-9D9F-4497-816C-05D5021DC3CC}" presName="spaceRect" presStyleCnt="0"/>
      <dgm:spPr/>
    </dgm:pt>
    <dgm:pt modelId="{97C95A9E-03D1-4D1F-A947-C8A26C0665F6}" type="pres">
      <dgm:prSet presAssocID="{9D4C05A0-9D9F-4497-816C-05D5021DC3CC}" presName="textRect" presStyleLbl="revTx" presStyleIdx="0" presStyleCnt="5">
        <dgm:presLayoutVars>
          <dgm:chMax val="1"/>
          <dgm:chPref val="1"/>
        </dgm:presLayoutVars>
      </dgm:prSet>
      <dgm:spPr/>
    </dgm:pt>
    <dgm:pt modelId="{E3E8E227-184C-43E9-B8B0-799FA774278E}" type="pres">
      <dgm:prSet presAssocID="{31628AB4-5B48-48C0-A21C-C1E853DBD84F}" presName="sibTrans" presStyleCnt="0"/>
      <dgm:spPr/>
    </dgm:pt>
    <dgm:pt modelId="{6A508FB5-6ACE-46A7-850B-A438A055DE9C}" type="pres">
      <dgm:prSet presAssocID="{AEA3D3B4-7CEC-4683-90FE-E0DD55249F7B}" presName="compNode" presStyleCnt="0"/>
      <dgm:spPr/>
    </dgm:pt>
    <dgm:pt modelId="{6C87E491-0A92-42F8-A936-10DACFDE225C}" type="pres">
      <dgm:prSet presAssocID="{AEA3D3B4-7CEC-4683-90FE-E0DD55249F7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dy bug"/>
        </a:ext>
      </dgm:extLst>
    </dgm:pt>
    <dgm:pt modelId="{1C4AB514-0275-4AEC-8D2E-05F99DAF3A62}" type="pres">
      <dgm:prSet presAssocID="{AEA3D3B4-7CEC-4683-90FE-E0DD55249F7B}" presName="spaceRect" presStyleCnt="0"/>
      <dgm:spPr/>
    </dgm:pt>
    <dgm:pt modelId="{50DFE676-AA8A-4489-87D4-0127F4EBD851}" type="pres">
      <dgm:prSet presAssocID="{AEA3D3B4-7CEC-4683-90FE-E0DD55249F7B}" presName="textRect" presStyleLbl="revTx" presStyleIdx="1" presStyleCnt="5">
        <dgm:presLayoutVars>
          <dgm:chMax val="1"/>
          <dgm:chPref val="1"/>
        </dgm:presLayoutVars>
      </dgm:prSet>
      <dgm:spPr/>
    </dgm:pt>
    <dgm:pt modelId="{C30CDD5E-19FD-43D1-BC7B-F5F287C6BF23}" type="pres">
      <dgm:prSet presAssocID="{DEE9FACB-9085-47FB-800E-549A0ACE6D0D}" presName="sibTrans" presStyleCnt="0"/>
      <dgm:spPr/>
    </dgm:pt>
    <dgm:pt modelId="{9EFBF78C-5F47-46E9-BA4F-B9E20C7F2A1B}" type="pres">
      <dgm:prSet presAssocID="{04CDB452-3CE1-42F5-85C8-23AEBA7A651B}" presName="compNode" presStyleCnt="0"/>
      <dgm:spPr/>
    </dgm:pt>
    <dgm:pt modelId="{8BA2D9F2-148C-4CF8-92B9-B61DCB91D21A}" type="pres">
      <dgm:prSet presAssocID="{04CDB452-3CE1-42F5-85C8-23AEBA7A651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ador"/>
        </a:ext>
      </dgm:extLst>
    </dgm:pt>
    <dgm:pt modelId="{B508EC49-7182-4BDD-A1A6-8090A6EA4BFD}" type="pres">
      <dgm:prSet presAssocID="{04CDB452-3CE1-42F5-85C8-23AEBA7A651B}" presName="spaceRect" presStyleCnt="0"/>
      <dgm:spPr/>
    </dgm:pt>
    <dgm:pt modelId="{F7E6F7C7-E238-4A3C-A2A0-EF5D9785B95F}" type="pres">
      <dgm:prSet presAssocID="{04CDB452-3CE1-42F5-85C8-23AEBA7A651B}" presName="textRect" presStyleLbl="revTx" presStyleIdx="2" presStyleCnt="5">
        <dgm:presLayoutVars>
          <dgm:chMax val="1"/>
          <dgm:chPref val="1"/>
        </dgm:presLayoutVars>
      </dgm:prSet>
      <dgm:spPr/>
    </dgm:pt>
    <dgm:pt modelId="{CE043D2B-EEFC-42D1-A1CF-B956C27C3B8F}" type="pres">
      <dgm:prSet presAssocID="{70F995BA-D9E6-4541-BFBF-3CFC84F5A3FD}" presName="sibTrans" presStyleCnt="0"/>
      <dgm:spPr/>
    </dgm:pt>
    <dgm:pt modelId="{56364EE9-B54F-4F53-84C3-1134A7777885}" type="pres">
      <dgm:prSet presAssocID="{FF90A436-9338-457B-9B43-5C8152D7A0B6}" presName="compNode" presStyleCnt="0"/>
      <dgm:spPr/>
    </dgm:pt>
    <dgm:pt modelId="{93621642-CE91-4A18-B6D5-4C9DB368FF3E}" type="pres">
      <dgm:prSet presAssocID="{FF90A436-9338-457B-9B43-5C8152D7A0B6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8CC68329-B817-4F3A-9073-F0A5FBDF2E21}" type="pres">
      <dgm:prSet presAssocID="{FF90A436-9338-457B-9B43-5C8152D7A0B6}" presName="spaceRect" presStyleCnt="0"/>
      <dgm:spPr/>
    </dgm:pt>
    <dgm:pt modelId="{86C9C66D-32B2-4217-8F72-F41F23DCE44E}" type="pres">
      <dgm:prSet presAssocID="{FF90A436-9338-457B-9B43-5C8152D7A0B6}" presName="textRect" presStyleLbl="revTx" presStyleIdx="3" presStyleCnt="5">
        <dgm:presLayoutVars>
          <dgm:chMax val="1"/>
          <dgm:chPref val="1"/>
        </dgm:presLayoutVars>
      </dgm:prSet>
      <dgm:spPr/>
    </dgm:pt>
    <dgm:pt modelId="{E5F499D4-6050-4D84-BD6A-BAA3BC92E19F}" type="pres">
      <dgm:prSet presAssocID="{C8379D43-5211-402F-990D-32BD3E85F3CB}" presName="sibTrans" presStyleCnt="0"/>
      <dgm:spPr/>
    </dgm:pt>
    <dgm:pt modelId="{DEAA4D8B-0126-4B47-BC9A-5AD71C25C571}" type="pres">
      <dgm:prSet presAssocID="{B817DDFD-3B67-46B9-9668-CC2CCF07ABC0}" presName="compNode" presStyleCnt="0"/>
      <dgm:spPr/>
    </dgm:pt>
    <dgm:pt modelId="{14327027-4BDE-4EF0-808C-EE12C8412E92}" type="pres">
      <dgm:prSet presAssocID="{B817DDFD-3B67-46B9-9668-CC2CCF07ABC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7D840A9C-4378-4C79-8731-A091BDC0B842}" type="pres">
      <dgm:prSet presAssocID="{B817DDFD-3B67-46B9-9668-CC2CCF07ABC0}" presName="spaceRect" presStyleCnt="0"/>
      <dgm:spPr/>
    </dgm:pt>
    <dgm:pt modelId="{1BE7CC95-4651-43CA-9B88-0B35E7F81B40}" type="pres">
      <dgm:prSet presAssocID="{B817DDFD-3B67-46B9-9668-CC2CCF07ABC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8F2B936-B737-4799-9329-BBEE25BCFC4D}" type="presOf" srcId="{04CDB452-3CE1-42F5-85C8-23AEBA7A651B}" destId="{F7E6F7C7-E238-4A3C-A2A0-EF5D9785B95F}" srcOrd="0" destOrd="0" presId="urn:microsoft.com/office/officeart/2018/2/layout/IconLabelList"/>
    <dgm:cxn modelId="{9EF49D60-3B6B-436A-AC6D-54E9A378BEAD}" type="presOf" srcId="{FF90A436-9338-457B-9B43-5C8152D7A0B6}" destId="{86C9C66D-32B2-4217-8F72-F41F23DCE44E}" srcOrd="0" destOrd="0" presId="urn:microsoft.com/office/officeart/2018/2/layout/IconLabelList"/>
    <dgm:cxn modelId="{AD5B2485-A1FE-4608-85BC-F3E95C581806}" srcId="{16FD1472-D1F8-4831-AA87-FA2FF7797A44}" destId="{AEA3D3B4-7CEC-4683-90FE-E0DD55249F7B}" srcOrd="1" destOrd="0" parTransId="{A04CBDB2-8452-4199-A963-79CDBEF4109C}" sibTransId="{DEE9FACB-9085-47FB-800E-549A0ACE6D0D}"/>
    <dgm:cxn modelId="{17062587-DC3B-40DB-8436-3CD534BD1C21}" type="presOf" srcId="{AEA3D3B4-7CEC-4683-90FE-E0DD55249F7B}" destId="{50DFE676-AA8A-4489-87D4-0127F4EBD851}" srcOrd="0" destOrd="0" presId="urn:microsoft.com/office/officeart/2018/2/layout/IconLabelList"/>
    <dgm:cxn modelId="{838F3194-211C-40DF-9E1E-A6254ED51523}" srcId="{16FD1472-D1F8-4831-AA87-FA2FF7797A44}" destId="{FF90A436-9338-457B-9B43-5C8152D7A0B6}" srcOrd="3" destOrd="0" parTransId="{28E7A159-CA52-4A18-9A8C-AE881BB9217D}" sibTransId="{C8379D43-5211-402F-990D-32BD3E85F3CB}"/>
    <dgm:cxn modelId="{8D2D11A5-B885-48F3-9178-F17E2E4DA906}" type="presOf" srcId="{B817DDFD-3B67-46B9-9668-CC2CCF07ABC0}" destId="{1BE7CC95-4651-43CA-9B88-0B35E7F81B40}" srcOrd="0" destOrd="0" presId="urn:microsoft.com/office/officeart/2018/2/layout/IconLabelList"/>
    <dgm:cxn modelId="{86BD0CC4-E89B-41D2-B09C-308363B58D6B}" type="presOf" srcId="{16FD1472-D1F8-4831-AA87-FA2FF7797A44}" destId="{36DB421E-E4E0-4BF7-A71B-A55CDC0C2F1E}" srcOrd="0" destOrd="0" presId="urn:microsoft.com/office/officeart/2018/2/layout/IconLabelList"/>
    <dgm:cxn modelId="{5862F1C5-78B6-4B27-81CC-11C2A1799C78}" srcId="{16FD1472-D1F8-4831-AA87-FA2FF7797A44}" destId="{04CDB452-3CE1-42F5-85C8-23AEBA7A651B}" srcOrd="2" destOrd="0" parTransId="{4E0159DD-7612-487A-B4D6-351DF9FC9C76}" sibTransId="{70F995BA-D9E6-4541-BFBF-3CFC84F5A3FD}"/>
    <dgm:cxn modelId="{F8C3D8DD-7BCA-417F-AB73-C6522B2C3698}" srcId="{16FD1472-D1F8-4831-AA87-FA2FF7797A44}" destId="{B817DDFD-3B67-46B9-9668-CC2CCF07ABC0}" srcOrd="4" destOrd="0" parTransId="{DB778D51-9C77-41BE-B38C-4D98C7B6ED6D}" sibTransId="{51FFC1F5-6746-4BC3-B1D8-68A4E9D5091A}"/>
    <dgm:cxn modelId="{665449E9-1C39-408A-9880-61C24B3532D6}" type="presOf" srcId="{9D4C05A0-9D9F-4497-816C-05D5021DC3CC}" destId="{97C95A9E-03D1-4D1F-A947-C8A26C0665F6}" srcOrd="0" destOrd="0" presId="urn:microsoft.com/office/officeart/2018/2/layout/IconLabelList"/>
    <dgm:cxn modelId="{F5A2B5ED-4F12-4648-8771-4DDE877FF221}" srcId="{16FD1472-D1F8-4831-AA87-FA2FF7797A44}" destId="{9D4C05A0-9D9F-4497-816C-05D5021DC3CC}" srcOrd="0" destOrd="0" parTransId="{4D0A0C68-7B97-492B-9C01-BF5DF35891DB}" sibTransId="{31628AB4-5B48-48C0-A21C-C1E853DBD84F}"/>
    <dgm:cxn modelId="{85C8FB82-AEC4-41C6-A636-4C5690C9A4CC}" type="presParOf" srcId="{36DB421E-E4E0-4BF7-A71B-A55CDC0C2F1E}" destId="{ACDC3517-21CB-4681-97EC-1CD4689AEC92}" srcOrd="0" destOrd="0" presId="urn:microsoft.com/office/officeart/2018/2/layout/IconLabelList"/>
    <dgm:cxn modelId="{84594603-4700-47BF-B346-D50A2EF43378}" type="presParOf" srcId="{ACDC3517-21CB-4681-97EC-1CD4689AEC92}" destId="{C968C397-2B35-4089-919A-C40CFC8533F0}" srcOrd="0" destOrd="0" presId="urn:microsoft.com/office/officeart/2018/2/layout/IconLabelList"/>
    <dgm:cxn modelId="{3E345607-2923-4C3A-93B7-A1162DAF3094}" type="presParOf" srcId="{ACDC3517-21CB-4681-97EC-1CD4689AEC92}" destId="{A890A545-F090-40AF-A0C7-2A0E988AE4F0}" srcOrd="1" destOrd="0" presId="urn:microsoft.com/office/officeart/2018/2/layout/IconLabelList"/>
    <dgm:cxn modelId="{F94B79E9-82A9-489B-B496-BEAF82DFB297}" type="presParOf" srcId="{ACDC3517-21CB-4681-97EC-1CD4689AEC92}" destId="{97C95A9E-03D1-4D1F-A947-C8A26C0665F6}" srcOrd="2" destOrd="0" presId="urn:microsoft.com/office/officeart/2018/2/layout/IconLabelList"/>
    <dgm:cxn modelId="{4CBA51DC-FE73-44AF-9868-5063B42BEF14}" type="presParOf" srcId="{36DB421E-E4E0-4BF7-A71B-A55CDC0C2F1E}" destId="{E3E8E227-184C-43E9-B8B0-799FA774278E}" srcOrd="1" destOrd="0" presId="urn:microsoft.com/office/officeart/2018/2/layout/IconLabelList"/>
    <dgm:cxn modelId="{66318DA2-A311-49AC-921B-104231CF013E}" type="presParOf" srcId="{36DB421E-E4E0-4BF7-A71B-A55CDC0C2F1E}" destId="{6A508FB5-6ACE-46A7-850B-A438A055DE9C}" srcOrd="2" destOrd="0" presId="urn:microsoft.com/office/officeart/2018/2/layout/IconLabelList"/>
    <dgm:cxn modelId="{D3B34B3F-4765-420F-A5C1-913DCA530254}" type="presParOf" srcId="{6A508FB5-6ACE-46A7-850B-A438A055DE9C}" destId="{6C87E491-0A92-42F8-A936-10DACFDE225C}" srcOrd="0" destOrd="0" presId="urn:microsoft.com/office/officeart/2018/2/layout/IconLabelList"/>
    <dgm:cxn modelId="{6D272BB5-0D0B-4276-B786-642316A02A6F}" type="presParOf" srcId="{6A508FB5-6ACE-46A7-850B-A438A055DE9C}" destId="{1C4AB514-0275-4AEC-8D2E-05F99DAF3A62}" srcOrd="1" destOrd="0" presId="urn:microsoft.com/office/officeart/2018/2/layout/IconLabelList"/>
    <dgm:cxn modelId="{F1A19D62-6FFC-4E3F-B758-9EC75A6AFA3C}" type="presParOf" srcId="{6A508FB5-6ACE-46A7-850B-A438A055DE9C}" destId="{50DFE676-AA8A-4489-87D4-0127F4EBD851}" srcOrd="2" destOrd="0" presId="urn:microsoft.com/office/officeart/2018/2/layout/IconLabelList"/>
    <dgm:cxn modelId="{63184ED3-B83B-4AB1-A99F-531BC216BC9D}" type="presParOf" srcId="{36DB421E-E4E0-4BF7-A71B-A55CDC0C2F1E}" destId="{C30CDD5E-19FD-43D1-BC7B-F5F287C6BF23}" srcOrd="3" destOrd="0" presId="urn:microsoft.com/office/officeart/2018/2/layout/IconLabelList"/>
    <dgm:cxn modelId="{4E4CCCD8-D13E-405D-9D54-30881FE56AA7}" type="presParOf" srcId="{36DB421E-E4E0-4BF7-A71B-A55CDC0C2F1E}" destId="{9EFBF78C-5F47-46E9-BA4F-B9E20C7F2A1B}" srcOrd="4" destOrd="0" presId="urn:microsoft.com/office/officeart/2018/2/layout/IconLabelList"/>
    <dgm:cxn modelId="{C61B18A0-717B-43E8-A6F8-FF53D6EA0019}" type="presParOf" srcId="{9EFBF78C-5F47-46E9-BA4F-B9E20C7F2A1B}" destId="{8BA2D9F2-148C-4CF8-92B9-B61DCB91D21A}" srcOrd="0" destOrd="0" presId="urn:microsoft.com/office/officeart/2018/2/layout/IconLabelList"/>
    <dgm:cxn modelId="{38ED6F2A-3104-442E-AA2C-DA4AD589D525}" type="presParOf" srcId="{9EFBF78C-5F47-46E9-BA4F-B9E20C7F2A1B}" destId="{B508EC49-7182-4BDD-A1A6-8090A6EA4BFD}" srcOrd="1" destOrd="0" presId="urn:microsoft.com/office/officeart/2018/2/layout/IconLabelList"/>
    <dgm:cxn modelId="{35FCA18C-7AA2-4ACF-BF40-6E4F76A86076}" type="presParOf" srcId="{9EFBF78C-5F47-46E9-BA4F-B9E20C7F2A1B}" destId="{F7E6F7C7-E238-4A3C-A2A0-EF5D9785B95F}" srcOrd="2" destOrd="0" presId="urn:microsoft.com/office/officeart/2018/2/layout/IconLabelList"/>
    <dgm:cxn modelId="{5A479F4E-7782-44FE-A2ED-A784BF62C880}" type="presParOf" srcId="{36DB421E-E4E0-4BF7-A71B-A55CDC0C2F1E}" destId="{CE043D2B-EEFC-42D1-A1CF-B956C27C3B8F}" srcOrd="5" destOrd="0" presId="urn:microsoft.com/office/officeart/2018/2/layout/IconLabelList"/>
    <dgm:cxn modelId="{FB81B786-7A6E-429C-992F-4DAAFE3721B1}" type="presParOf" srcId="{36DB421E-E4E0-4BF7-A71B-A55CDC0C2F1E}" destId="{56364EE9-B54F-4F53-84C3-1134A7777885}" srcOrd="6" destOrd="0" presId="urn:microsoft.com/office/officeart/2018/2/layout/IconLabelList"/>
    <dgm:cxn modelId="{C50665E4-68C1-4C74-BAA1-F2464E0695E1}" type="presParOf" srcId="{56364EE9-B54F-4F53-84C3-1134A7777885}" destId="{93621642-CE91-4A18-B6D5-4C9DB368FF3E}" srcOrd="0" destOrd="0" presId="urn:microsoft.com/office/officeart/2018/2/layout/IconLabelList"/>
    <dgm:cxn modelId="{FB517111-C4B3-4D93-A556-3B4106F85423}" type="presParOf" srcId="{56364EE9-B54F-4F53-84C3-1134A7777885}" destId="{8CC68329-B817-4F3A-9073-F0A5FBDF2E21}" srcOrd="1" destOrd="0" presId="urn:microsoft.com/office/officeart/2018/2/layout/IconLabelList"/>
    <dgm:cxn modelId="{B8E267B5-5DD1-488B-93A2-A71717CF2C29}" type="presParOf" srcId="{56364EE9-B54F-4F53-84C3-1134A7777885}" destId="{86C9C66D-32B2-4217-8F72-F41F23DCE44E}" srcOrd="2" destOrd="0" presId="urn:microsoft.com/office/officeart/2018/2/layout/IconLabelList"/>
    <dgm:cxn modelId="{8E56CF3C-968F-4EB8-9FB2-8F34CE10AE39}" type="presParOf" srcId="{36DB421E-E4E0-4BF7-A71B-A55CDC0C2F1E}" destId="{E5F499D4-6050-4D84-BD6A-BAA3BC92E19F}" srcOrd="7" destOrd="0" presId="urn:microsoft.com/office/officeart/2018/2/layout/IconLabelList"/>
    <dgm:cxn modelId="{B9AE7631-6020-4BCB-B922-80FE19F6187C}" type="presParOf" srcId="{36DB421E-E4E0-4BF7-A71B-A55CDC0C2F1E}" destId="{DEAA4D8B-0126-4B47-BC9A-5AD71C25C571}" srcOrd="8" destOrd="0" presId="urn:microsoft.com/office/officeart/2018/2/layout/IconLabelList"/>
    <dgm:cxn modelId="{9205946A-4D76-4E32-BAB1-61509662EC41}" type="presParOf" srcId="{DEAA4D8B-0126-4B47-BC9A-5AD71C25C571}" destId="{14327027-4BDE-4EF0-808C-EE12C8412E92}" srcOrd="0" destOrd="0" presId="urn:microsoft.com/office/officeart/2018/2/layout/IconLabelList"/>
    <dgm:cxn modelId="{E786456C-17D4-47AE-8868-0C91D36C9216}" type="presParOf" srcId="{DEAA4D8B-0126-4B47-BC9A-5AD71C25C571}" destId="{7D840A9C-4378-4C79-8731-A091BDC0B842}" srcOrd="1" destOrd="0" presId="urn:microsoft.com/office/officeart/2018/2/layout/IconLabelList"/>
    <dgm:cxn modelId="{D51A7398-8FBF-4845-B81C-4F5249697A3A}" type="presParOf" srcId="{DEAA4D8B-0126-4B47-BC9A-5AD71C25C571}" destId="{1BE7CC95-4651-43CA-9B88-0B35E7F81B4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BE52346-60D6-46CF-A71D-5AF32DC971AE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D3F3D58-CEC8-4F3C-B714-9EFF97C43DE5}">
      <dgm:prSet/>
      <dgm:spPr/>
      <dgm:t>
        <a:bodyPr/>
        <a:lstStyle/>
        <a:p>
          <a:r>
            <a:rPr lang="es-ES"/>
            <a:t>Ambos son modelos avanzados para ciberseguridad, con acceso restringido a organizaciones verificadas.</a:t>
          </a:r>
          <a:endParaRPr lang="en-US"/>
        </a:p>
      </dgm:t>
    </dgm:pt>
    <dgm:pt modelId="{AD406727-774D-4579-A36B-82DEDB69C17A}" type="parTrans" cxnId="{3E0B69EF-1D4D-40EB-9B7D-714B63F5DAA0}">
      <dgm:prSet/>
      <dgm:spPr/>
      <dgm:t>
        <a:bodyPr/>
        <a:lstStyle/>
        <a:p>
          <a:endParaRPr lang="en-US"/>
        </a:p>
      </dgm:t>
    </dgm:pt>
    <dgm:pt modelId="{26487E9B-76D6-457B-994D-4052D992C049}" type="sibTrans" cxnId="{3E0B69EF-1D4D-40EB-9B7D-714B63F5DAA0}">
      <dgm:prSet/>
      <dgm:spPr/>
      <dgm:t>
        <a:bodyPr/>
        <a:lstStyle/>
        <a:p>
          <a:endParaRPr lang="en-US"/>
        </a:p>
      </dgm:t>
    </dgm:pt>
    <dgm:pt modelId="{BBA3F5E0-C1E2-41C3-9C82-AA6940CE6EED}">
      <dgm:prSet/>
      <dgm:spPr/>
      <dgm:t>
        <a:bodyPr/>
        <a:lstStyle/>
        <a:p>
          <a:r>
            <a:rPr lang="es-ES"/>
            <a:t>Ambos detectan vulnerabilidades y apoyan a la defensa de software e infraestructuras importantes </a:t>
          </a:r>
          <a:endParaRPr lang="en-US"/>
        </a:p>
      </dgm:t>
    </dgm:pt>
    <dgm:pt modelId="{AF64A0CF-9228-4824-AF41-D583C698F186}" type="parTrans" cxnId="{5C0DC2FB-65E3-4006-B032-F8859B2C5823}">
      <dgm:prSet/>
      <dgm:spPr/>
      <dgm:t>
        <a:bodyPr/>
        <a:lstStyle/>
        <a:p>
          <a:endParaRPr lang="en-US"/>
        </a:p>
      </dgm:t>
    </dgm:pt>
    <dgm:pt modelId="{6746DBD1-9D3E-4006-9497-C410B48B2CBE}" type="sibTrans" cxnId="{5C0DC2FB-65E3-4006-B032-F8859B2C5823}">
      <dgm:prSet/>
      <dgm:spPr/>
      <dgm:t>
        <a:bodyPr/>
        <a:lstStyle/>
        <a:p>
          <a:endParaRPr lang="en-US"/>
        </a:p>
      </dgm:t>
    </dgm:pt>
    <dgm:pt modelId="{85A5A90F-387A-41F2-A3C8-FF3F1AD839E9}">
      <dgm:prSet/>
      <dgm:spPr/>
      <dgm:t>
        <a:bodyPr/>
        <a:lstStyle/>
        <a:p>
          <a:r>
            <a:rPr lang="es-ES"/>
            <a:t>Ambos tienen el acceso restringido para evitar ser usados en ataques de verdad y asegurar que solo defensores legítimos puedan aprovechar estas capacidades</a:t>
          </a:r>
          <a:endParaRPr lang="en-US"/>
        </a:p>
      </dgm:t>
    </dgm:pt>
    <dgm:pt modelId="{CF2284A5-BB63-4079-AAD7-A2E654D1DF9D}" type="parTrans" cxnId="{F1956A2B-8CE8-4FFD-BE7A-AD0545329DEE}">
      <dgm:prSet/>
      <dgm:spPr/>
      <dgm:t>
        <a:bodyPr/>
        <a:lstStyle/>
        <a:p>
          <a:endParaRPr lang="en-US"/>
        </a:p>
      </dgm:t>
    </dgm:pt>
    <dgm:pt modelId="{0F61FD27-B186-488A-958E-F4070CFF9E18}" type="sibTrans" cxnId="{F1956A2B-8CE8-4FFD-BE7A-AD0545329DEE}">
      <dgm:prSet/>
      <dgm:spPr/>
      <dgm:t>
        <a:bodyPr/>
        <a:lstStyle/>
        <a:p>
          <a:endParaRPr lang="en-US"/>
        </a:p>
      </dgm:t>
    </dgm:pt>
    <dgm:pt modelId="{4DB5126B-499E-4BB0-9C7C-371AD06B9F71}" type="pres">
      <dgm:prSet presAssocID="{0BE52346-60D6-46CF-A71D-5AF32DC971AE}" presName="Name0" presStyleCnt="0">
        <dgm:presLayoutVars>
          <dgm:dir/>
          <dgm:animLvl val="lvl"/>
          <dgm:resizeHandles val="exact"/>
        </dgm:presLayoutVars>
      </dgm:prSet>
      <dgm:spPr/>
    </dgm:pt>
    <dgm:pt modelId="{4CBAB44D-8F3A-4678-8AEB-1E5DA676CB68}" type="pres">
      <dgm:prSet presAssocID="{4D3F3D58-CEC8-4F3C-B714-9EFF97C43DE5}" presName="linNode" presStyleCnt="0"/>
      <dgm:spPr/>
    </dgm:pt>
    <dgm:pt modelId="{7DF2128B-3142-44C0-A146-603DAD457D24}" type="pres">
      <dgm:prSet presAssocID="{4D3F3D58-CEC8-4F3C-B714-9EFF97C43DE5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EF42FB5-EC14-4838-A3EA-AC88E94303E7}" type="pres">
      <dgm:prSet presAssocID="{26487E9B-76D6-457B-994D-4052D992C049}" presName="sp" presStyleCnt="0"/>
      <dgm:spPr/>
    </dgm:pt>
    <dgm:pt modelId="{6BD49C8A-F9ED-4561-B001-3C257A293FCC}" type="pres">
      <dgm:prSet presAssocID="{BBA3F5E0-C1E2-41C3-9C82-AA6940CE6EED}" presName="linNode" presStyleCnt="0"/>
      <dgm:spPr/>
    </dgm:pt>
    <dgm:pt modelId="{BCA98C8A-A625-4687-89A8-A0B08FDEE2BD}" type="pres">
      <dgm:prSet presAssocID="{BBA3F5E0-C1E2-41C3-9C82-AA6940CE6EED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C1C59410-583A-4E58-9954-CD1F5D94EF1E}" type="pres">
      <dgm:prSet presAssocID="{6746DBD1-9D3E-4006-9497-C410B48B2CBE}" presName="sp" presStyleCnt="0"/>
      <dgm:spPr/>
    </dgm:pt>
    <dgm:pt modelId="{01E2B644-1975-4BD0-9F9A-0F26DAA9D2D5}" type="pres">
      <dgm:prSet presAssocID="{85A5A90F-387A-41F2-A3C8-FF3F1AD839E9}" presName="linNode" presStyleCnt="0"/>
      <dgm:spPr/>
    </dgm:pt>
    <dgm:pt modelId="{D21244C8-1AA6-40B6-95A9-CFC89E014531}" type="pres">
      <dgm:prSet presAssocID="{85A5A90F-387A-41F2-A3C8-FF3F1AD839E9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7001B922-481F-4CBC-B5D0-E4D631615C2E}" type="presOf" srcId="{4D3F3D58-CEC8-4F3C-B714-9EFF97C43DE5}" destId="{7DF2128B-3142-44C0-A146-603DAD457D24}" srcOrd="0" destOrd="0" presId="urn:microsoft.com/office/officeart/2005/8/layout/vList5"/>
    <dgm:cxn modelId="{F1956A2B-8CE8-4FFD-BE7A-AD0545329DEE}" srcId="{0BE52346-60D6-46CF-A71D-5AF32DC971AE}" destId="{85A5A90F-387A-41F2-A3C8-FF3F1AD839E9}" srcOrd="2" destOrd="0" parTransId="{CF2284A5-BB63-4079-AAD7-A2E654D1DF9D}" sibTransId="{0F61FD27-B186-488A-958E-F4070CFF9E18}"/>
    <dgm:cxn modelId="{BF6CFB65-A83B-406C-9CFD-8F8DD100281D}" type="presOf" srcId="{85A5A90F-387A-41F2-A3C8-FF3F1AD839E9}" destId="{D21244C8-1AA6-40B6-95A9-CFC89E014531}" srcOrd="0" destOrd="0" presId="urn:microsoft.com/office/officeart/2005/8/layout/vList5"/>
    <dgm:cxn modelId="{6EBE11BB-FCFE-4A9C-BD53-6EC7888617DB}" type="presOf" srcId="{0BE52346-60D6-46CF-A71D-5AF32DC971AE}" destId="{4DB5126B-499E-4BB0-9C7C-371AD06B9F71}" srcOrd="0" destOrd="0" presId="urn:microsoft.com/office/officeart/2005/8/layout/vList5"/>
    <dgm:cxn modelId="{68BF11EA-0318-424F-BC2A-1C28C97C5B94}" type="presOf" srcId="{BBA3F5E0-C1E2-41C3-9C82-AA6940CE6EED}" destId="{BCA98C8A-A625-4687-89A8-A0B08FDEE2BD}" srcOrd="0" destOrd="0" presId="urn:microsoft.com/office/officeart/2005/8/layout/vList5"/>
    <dgm:cxn modelId="{3E0B69EF-1D4D-40EB-9B7D-714B63F5DAA0}" srcId="{0BE52346-60D6-46CF-A71D-5AF32DC971AE}" destId="{4D3F3D58-CEC8-4F3C-B714-9EFF97C43DE5}" srcOrd="0" destOrd="0" parTransId="{AD406727-774D-4579-A36B-82DEDB69C17A}" sibTransId="{26487E9B-76D6-457B-994D-4052D992C049}"/>
    <dgm:cxn modelId="{5C0DC2FB-65E3-4006-B032-F8859B2C5823}" srcId="{0BE52346-60D6-46CF-A71D-5AF32DC971AE}" destId="{BBA3F5E0-C1E2-41C3-9C82-AA6940CE6EED}" srcOrd="1" destOrd="0" parTransId="{AF64A0CF-9228-4824-AF41-D583C698F186}" sibTransId="{6746DBD1-9D3E-4006-9497-C410B48B2CBE}"/>
    <dgm:cxn modelId="{9BE92077-2E6C-4B70-BBC0-FF4EBFA5742D}" type="presParOf" srcId="{4DB5126B-499E-4BB0-9C7C-371AD06B9F71}" destId="{4CBAB44D-8F3A-4678-8AEB-1E5DA676CB68}" srcOrd="0" destOrd="0" presId="urn:microsoft.com/office/officeart/2005/8/layout/vList5"/>
    <dgm:cxn modelId="{D461C045-C6DC-4AAF-9BF3-3102C52DFB1B}" type="presParOf" srcId="{4CBAB44D-8F3A-4678-8AEB-1E5DA676CB68}" destId="{7DF2128B-3142-44C0-A146-603DAD457D24}" srcOrd="0" destOrd="0" presId="urn:microsoft.com/office/officeart/2005/8/layout/vList5"/>
    <dgm:cxn modelId="{B6E1E32E-35DA-4D39-A417-E7CFE0101343}" type="presParOf" srcId="{4DB5126B-499E-4BB0-9C7C-371AD06B9F71}" destId="{BEF42FB5-EC14-4838-A3EA-AC88E94303E7}" srcOrd="1" destOrd="0" presId="urn:microsoft.com/office/officeart/2005/8/layout/vList5"/>
    <dgm:cxn modelId="{18BDBCD4-FE24-4172-8388-60FAB5A7C445}" type="presParOf" srcId="{4DB5126B-499E-4BB0-9C7C-371AD06B9F71}" destId="{6BD49C8A-F9ED-4561-B001-3C257A293FCC}" srcOrd="2" destOrd="0" presId="urn:microsoft.com/office/officeart/2005/8/layout/vList5"/>
    <dgm:cxn modelId="{9D037506-AD05-42F2-82B8-E99F377D83C1}" type="presParOf" srcId="{6BD49C8A-F9ED-4561-B001-3C257A293FCC}" destId="{BCA98C8A-A625-4687-89A8-A0B08FDEE2BD}" srcOrd="0" destOrd="0" presId="urn:microsoft.com/office/officeart/2005/8/layout/vList5"/>
    <dgm:cxn modelId="{F4EA95B9-8837-4BA4-9BAF-0A6D7691EBD9}" type="presParOf" srcId="{4DB5126B-499E-4BB0-9C7C-371AD06B9F71}" destId="{C1C59410-583A-4E58-9954-CD1F5D94EF1E}" srcOrd="3" destOrd="0" presId="urn:microsoft.com/office/officeart/2005/8/layout/vList5"/>
    <dgm:cxn modelId="{32C4E1E2-0781-43F5-9499-C02D6767D76B}" type="presParOf" srcId="{4DB5126B-499E-4BB0-9C7C-371AD06B9F71}" destId="{01E2B644-1975-4BD0-9F9A-0F26DAA9D2D5}" srcOrd="4" destOrd="0" presId="urn:microsoft.com/office/officeart/2005/8/layout/vList5"/>
    <dgm:cxn modelId="{3B17BA42-53C3-4237-9365-BE8B0F7F99B2}" type="presParOf" srcId="{01E2B644-1975-4BD0-9F9A-0F26DAA9D2D5}" destId="{D21244C8-1AA6-40B6-95A9-CFC89E014531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8BE3A08-DF25-479C-9AE7-A63D8549F2C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ED1D9E1-D3B4-4819-9849-5D225458C84E}">
      <dgm:prSet/>
      <dgm:spPr/>
      <dgm:t>
        <a:bodyPr/>
        <a:lstStyle/>
        <a:p>
          <a:r>
            <a:rPr lang="es-ES"/>
            <a:t>¿Quién debería tener acceso a modelos tan capaces? </a:t>
          </a:r>
          <a:endParaRPr lang="en-US"/>
        </a:p>
      </dgm:t>
    </dgm:pt>
    <dgm:pt modelId="{AC865F56-880E-43E4-90E0-857C6CD30CDE}" type="parTrans" cxnId="{C0C0C6E9-D8D3-4183-B1E8-F83207CEE103}">
      <dgm:prSet/>
      <dgm:spPr/>
      <dgm:t>
        <a:bodyPr/>
        <a:lstStyle/>
        <a:p>
          <a:endParaRPr lang="en-US"/>
        </a:p>
      </dgm:t>
    </dgm:pt>
    <dgm:pt modelId="{89037DE3-5E6E-4620-9B38-822E1C5F4F4C}" type="sibTrans" cxnId="{C0C0C6E9-D8D3-4183-B1E8-F83207CEE103}">
      <dgm:prSet/>
      <dgm:spPr/>
      <dgm:t>
        <a:bodyPr/>
        <a:lstStyle/>
        <a:p>
          <a:endParaRPr lang="en-US"/>
        </a:p>
      </dgm:t>
    </dgm:pt>
    <dgm:pt modelId="{BB03748E-9371-49AB-8353-C26E03565DEF}">
      <dgm:prSet/>
      <dgm:spPr/>
      <dgm:t>
        <a:bodyPr/>
        <a:lstStyle/>
        <a:p>
          <a:r>
            <a:rPr lang="es-ES"/>
            <a:t>¿Cómo se evita el mal uso de estas herramientas? </a:t>
          </a:r>
          <a:endParaRPr lang="en-US"/>
        </a:p>
      </dgm:t>
    </dgm:pt>
    <dgm:pt modelId="{84D06591-AD6A-4F17-A33E-2401FD1882DF}" type="parTrans" cxnId="{BEB49EA4-4EF9-46DC-AF52-7FDA1FD2DD55}">
      <dgm:prSet/>
      <dgm:spPr/>
      <dgm:t>
        <a:bodyPr/>
        <a:lstStyle/>
        <a:p>
          <a:endParaRPr lang="en-US"/>
        </a:p>
      </dgm:t>
    </dgm:pt>
    <dgm:pt modelId="{6D7BE901-52DF-432A-809D-7846D969C48C}" type="sibTrans" cxnId="{BEB49EA4-4EF9-46DC-AF52-7FDA1FD2DD55}">
      <dgm:prSet/>
      <dgm:spPr/>
      <dgm:t>
        <a:bodyPr/>
        <a:lstStyle/>
        <a:p>
          <a:endParaRPr lang="en-US"/>
        </a:p>
      </dgm:t>
    </dgm:pt>
    <dgm:pt modelId="{A32CC6E4-612B-4639-894D-2AC536EC1F04}">
      <dgm:prSet/>
      <dgm:spPr/>
      <dgm:t>
        <a:bodyPr/>
        <a:lstStyle/>
        <a:p>
          <a:r>
            <a:rPr lang="es-ES"/>
            <a:t>¿Qué pasa si atacantes obtienen acceso? </a:t>
          </a:r>
          <a:endParaRPr lang="en-US"/>
        </a:p>
      </dgm:t>
    </dgm:pt>
    <dgm:pt modelId="{026AA507-A242-43EA-B61D-8C2AF82028DA}" type="parTrans" cxnId="{6DDE9B89-2141-4FDA-A97F-815B541A6328}">
      <dgm:prSet/>
      <dgm:spPr/>
      <dgm:t>
        <a:bodyPr/>
        <a:lstStyle/>
        <a:p>
          <a:endParaRPr lang="en-US"/>
        </a:p>
      </dgm:t>
    </dgm:pt>
    <dgm:pt modelId="{B31ECAD9-9294-4F52-B040-4FD298B392F7}" type="sibTrans" cxnId="{6DDE9B89-2141-4FDA-A97F-815B541A6328}">
      <dgm:prSet/>
      <dgm:spPr/>
      <dgm:t>
        <a:bodyPr/>
        <a:lstStyle/>
        <a:p>
          <a:endParaRPr lang="en-US"/>
        </a:p>
      </dgm:t>
    </dgm:pt>
    <dgm:pt modelId="{15C0B504-6550-44FE-8F5B-3645FD6FDBB6}">
      <dgm:prSet/>
      <dgm:spPr/>
      <dgm:t>
        <a:bodyPr/>
        <a:lstStyle/>
        <a:p>
          <a:r>
            <a:rPr lang="es-ES"/>
            <a:t>¿Qué límites deben imponerse a la autonomía de los agentes? </a:t>
          </a:r>
          <a:endParaRPr lang="en-US"/>
        </a:p>
      </dgm:t>
    </dgm:pt>
    <dgm:pt modelId="{7DF899A2-5816-462E-8F87-8D2FBBE883CC}" type="parTrans" cxnId="{6C896055-4C40-4A5C-96C1-C68F80F749E3}">
      <dgm:prSet/>
      <dgm:spPr/>
      <dgm:t>
        <a:bodyPr/>
        <a:lstStyle/>
        <a:p>
          <a:endParaRPr lang="en-US"/>
        </a:p>
      </dgm:t>
    </dgm:pt>
    <dgm:pt modelId="{2B96D6AE-71C1-471C-B8A9-5E191B018B45}" type="sibTrans" cxnId="{6C896055-4C40-4A5C-96C1-C68F80F749E3}">
      <dgm:prSet/>
      <dgm:spPr/>
      <dgm:t>
        <a:bodyPr/>
        <a:lstStyle/>
        <a:p>
          <a:endParaRPr lang="en-US"/>
        </a:p>
      </dgm:t>
    </dgm:pt>
    <dgm:pt modelId="{CD0F0C63-36AB-4A35-A146-E2E8D0E0415B}">
      <dgm:prSet/>
      <dgm:spPr/>
      <dgm:t>
        <a:bodyPr/>
        <a:lstStyle/>
        <a:p>
          <a:r>
            <a:rPr lang="es-ES"/>
            <a:t>¿Cómo se regula el uso de IA en ciberseguridad? </a:t>
          </a:r>
          <a:endParaRPr lang="en-US"/>
        </a:p>
      </dgm:t>
    </dgm:pt>
    <dgm:pt modelId="{674AD045-D6DA-4E1C-9059-C71AE20D817D}" type="parTrans" cxnId="{EE0A8D56-C5A1-4CCC-B50A-A63B2935565B}">
      <dgm:prSet/>
      <dgm:spPr/>
      <dgm:t>
        <a:bodyPr/>
        <a:lstStyle/>
        <a:p>
          <a:endParaRPr lang="en-US"/>
        </a:p>
      </dgm:t>
    </dgm:pt>
    <dgm:pt modelId="{FCCC0ABB-2156-4420-B660-99FB7F7B9DEF}" type="sibTrans" cxnId="{EE0A8D56-C5A1-4CCC-B50A-A63B2935565B}">
      <dgm:prSet/>
      <dgm:spPr/>
      <dgm:t>
        <a:bodyPr/>
        <a:lstStyle/>
        <a:p>
          <a:endParaRPr lang="en-US"/>
        </a:p>
      </dgm:t>
    </dgm:pt>
    <dgm:pt modelId="{ED2B2EAD-8D3A-47AE-A9C5-F6B0F34532AB}" type="pres">
      <dgm:prSet presAssocID="{98BE3A08-DF25-479C-9AE7-A63D8549F2C9}" presName="linear" presStyleCnt="0">
        <dgm:presLayoutVars>
          <dgm:animLvl val="lvl"/>
          <dgm:resizeHandles val="exact"/>
        </dgm:presLayoutVars>
      </dgm:prSet>
      <dgm:spPr/>
    </dgm:pt>
    <dgm:pt modelId="{E565EA9C-63F6-4F42-AA40-1DB69DE1FBC8}" type="pres">
      <dgm:prSet presAssocID="{9ED1D9E1-D3B4-4819-9849-5D225458C84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F031BF0-2036-4377-8F5E-63F553323C01}" type="pres">
      <dgm:prSet presAssocID="{89037DE3-5E6E-4620-9B38-822E1C5F4F4C}" presName="spacer" presStyleCnt="0"/>
      <dgm:spPr/>
    </dgm:pt>
    <dgm:pt modelId="{BD672C79-A600-4F60-B891-9ADC0A417EB5}" type="pres">
      <dgm:prSet presAssocID="{BB03748E-9371-49AB-8353-C26E03565DE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C353316-86DB-4F5F-8B57-7B0929D3F1C6}" type="pres">
      <dgm:prSet presAssocID="{6D7BE901-52DF-432A-809D-7846D969C48C}" presName="spacer" presStyleCnt="0"/>
      <dgm:spPr/>
    </dgm:pt>
    <dgm:pt modelId="{D4910E23-38DC-4FDA-B035-CF9872E5307B}" type="pres">
      <dgm:prSet presAssocID="{A32CC6E4-612B-4639-894D-2AC536EC1F0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9B21568-4D87-4562-BB16-64CE7DC33600}" type="pres">
      <dgm:prSet presAssocID="{B31ECAD9-9294-4F52-B040-4FD298B392F7}" presName="spacer" presStyleCnt="0"/>
      <dgm:spPr/>
    </dgm:pt>
    <dgm:pt modelId="{DAA271EE-3DC7-4C6F-AD24-1E152DE2BAB8}" type="pres">
      <dgm:prSet presAssocID="{15C0B504-6550-44FE-8F5B-3645FD6FDBB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B5F5BFC-92A7-4A3C-A96A-2EE1BF3C659D}" type="pres">
      <dgm:prSet presAssocID="{2B96D6AE-71C1-471C-B8A9-5E191B018B45}" presName="spacer" presStyleCnt="0"/>
      <dgm:spPr/>
    </dgm:pt>
    <dgm:pt modelId="{3C861DFB-59A7-4FCD-BB90-374F8563FB29}" type="pres">
      <dgm:prSet presAssocID="{CD0F0C63-36AB-4A35-A146-E2E8D0E0415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D1F24F08-A92B-479C-BC79-B2FB0E25F080}" type="presOf" srcId="{9ED1D9E1-D3B4-4819-9849-5D225458C84E}" destId="{E565EA9C-63F6-4F42-AA40-1DB69DE1FBC8}" srcOrd="0" destOrd="0" presId="urn:microsoft.com/office/officeart/2005/8/layout/vList2"/>
    <dgm:cxn modelId="{98091273-7FEC-48A9-8944-947AC64E2DD0}" type="presOf" srcId="{15C0B504-6550-44FE-8F5B-3645FD6FDBB6}" destId="{DAA271EE-3DC7-4C6F-AD24-1E152DE2BAB8}" srcOrd="0" destOrd="0" presId="urn:microsoft.com/office/officeart/2005/8/layout/vList2"/>
    <dgm:cxn modelId="{6C896055-4C40-4A5C-96C1-C68F80F749E3}" srcId="{98BE3A08-DF25-479C-9AE7-A63D8549F2C9}" destId="{15C0B504-6550-44FE-8F5B-3645FD6FDBB6}" srcOrd="3" destOrd="0" parTransId="{7DF899A2-5816-462E-8F87-8D2FBBE883CC}" sibTransId="{2B96D6AE-71C1-471C-B8A9-5E191B018B45}"/>
    <dgm:cxn modelId="{EE0A8D56-C5A1-4CCC-B50A-A63B2935565B}" srcId="{98BE3A08-DF25-479C-9AE7-A63D8549F2C9}" destId="{CD0F0C63-36AB-4A35-A146-E2E8D0E0415B}" srcOrd="4" destOrd="0" parTransId="{674AD045-D6DA-4E1C-9059-C71AE20D817D}" sibTransId="{FCCC0ABB-2156-4420-B660-99FB7F7B9DEF}"/>
    <dgm:cxn modelId="{B403617F-5A9F-487B-8BEA-9B8CD2DB4D90}" type="presOf" srcId="{98BE3A08-DF25-479C-9AE7-A63D8549F2C9}" destId="{ED2B2EAD-8D3A-47AE-A9C5-F6B0F34532AB}" srcOrd="0" destOrd="0" presId="urn:microsoft.com/office/officeart/2005/8/layout/vList2"/>
    <dgm:cxn modelId="{6DDE9B89-2141-4FDA-A97F-815B541A6328}" srcId="{98BE3A08-DF25-479C-9AE7-A63D8549F2C9}" destId="{A32CC6E4-612B-4639-894D-2AC536EC1F04}" srcOrd="2" destOrd="0" parTransId="{026AA507-A242-43EA-B61D-8C2AF82028DA}" sibTransId="{B31ECAD9-9294-4F52-B040-4FD298B392F7}"/>
    <dgm:cxn modelId="{BEB49EA4-4EF9-46DC-AF52-7FDA1FD2DD55}" srcId="{98BE3A08-DF25-479C-9AE7-A63D8549F2C9}" destId="{BB03748E-9371-49AB-8353-C26E03565DEF}" srcOrd="1" destOrd="0" parTransId="{84D06591-AD6A-4F17-A33E-2401FD1882DF}" sibTransId="{6D7BE901-52DF-432A-809D-7846D969C48C}"/>
    <dgm:cxn modelId="{F8A7AFA9-1962-4EB0-8942-3178B8A0CF05}" type="presOf" srcId="{CD0F0C63-36AB-4A35-A146-E2E8D0E0415B}" destId="{3C861DFB-59A7-4FCD-BB90-374F8563FB29}" srcOrd="0" destOrd="0" presId="urn:microsoft.com/office/officeart/2005/8/layout/vList2"/>
    <dgm:cxn modelId="{E36EF7D7-833A-45C9-9A63-9FAF3C5562E2}" type="presOf" srcId="{A32CC6E4-612B-4639-894D-2AC536EC1F04}" destId="{D4910E23-38DC-4FDA-B035-CF9872E5307B}" srcOrd="0" destOrd="0" presId="urn:microsoft.com/office/officeart/2005/8/layout/vList2"/>
    <dgm:cxn modelId="{C0C0C6E9-D8D3-4183-B1E8-F83207CEE103}" srcId="{98BE3A08-DF25-479C-9AE7-A63D8549F2C9}" destId="{9ED1D9E1-D3B4-4819-9849-5D225458C84E}" srcOrd="0" destOrd="0" parTransId="{AC865F56-880E-43E4-90E0-857C6CD30CDE}" sibTransId="{89037DE3-5E6E-4620-9B38-822E1C5F4F4C}"/>
    <dgm:cxn modelId="{71FF83F4-2147-438C-A0D6-2AA4EE25B136}" type="presOf" srcId="{BB03748E-9371-49AB-8353-C26E03565DEF}" destId="{BD672C79-A600-4F60-B891-9ADC0A417EB5}" srcOrd="0" destOrd="0" presId="urn:microsoft.com/office/officeart/2005/8/layout/vList2"/>
    <dgm:cxn modelId="{4DD458A8-693E-4211-97A3-0C8EDD66343E}" type="presParOf" srcId="{ED2B2EAD-8D3A-47AE-A9C5-F6B0F34532AB}" destId="{E565EA9C-63F6-4F42-AA40-1DB69DE1FBC8}" srcOrd="0" destOrd="0" presId="urn:microsoft.com/office/officeart/2005/8/layout/vList2"/>
    <dgm:cxn modelId="{FB4FC454-F4BE-4685-9822-0E4328ECCB7B}" type="presParOf" srcId="{ED2B2EAD-8D3A-47AE-A9C5-F6B0F34532AB}" destId="{8F031BF0-2036-4377-8F5E-63F553323C01}" srcOrd="1" destOrd="0" presId="urn:microsoft.com/office/officeart/2005/8/layout/vList2"/>
    <dgm:cxn modelId="{538EBB6B-C355-4FE0-9C3F-121CFD1F8993}" type="presParOf" srcId="{ED2B2EAD-8D3A-47AE-A9C5-F6B0F34532AB}" destId="{BD672C79-A600-4F60-B891-9ADC0A417EB5}" srcOrd="2" destOrd="0" presId="urn:microsoft.com/office/officeart/2005/8/layout/vList2"/>
    <dgm:cxn modelId="{4ABAAFD7-74D2-4C14-8113-62351CAC1227}" type="presParOf" srcId="{ED2B2EAD-8D3A-47AE-A9C5-F6B0F34532AB}" destId="{2C353316-86DB-4F5F-8B57-7B0929D3F1C6}" srcOrd="3" destOrd="0" presId="urn:microsoft.com/office/officeart/2005/8/layout/vList2"/>
    <dgm:cxn modelId="{CE3856B6-9E70-486C-8EB0-B105E6BD498C}" type="presParOf" srcId="{ED2B2EAD-8D3A-47AE-A9C5-F6B0F34532AB}" destId="{D4910E23-38DC-4FDA-B035-CF9872E5307B}" srcOrd="4" destOrd="0" presId="urn:microsoft.com/office/officeart/2005/8/layout/vList2"/>
    <dgm:cxn modelId="{D13D182F-6665-4365-AC69-266D3C7AC336}" type="presParOf" srcId="{ED2B2EAD-8D3A-47AE-A9C5-F6B0F34532AB}" destId="{C9B21568-4D87-4562-BB16-64CE7DC33600}" srcOrd="5" destOrd="0" presId="urn:microsoft.com/office/officeart/2005/8/layout/vList2"/>
    <dgm:cxn modelId="{8F06BB93-44CA-4ABC-920F-B09B39DF694B}" type="presParOf" srcId="{ED2B2EAD-8D3A-47AE-A9C5-F6B0F34532AB}" destId="{DAA271EE-3DC7-4C6F-AD24-1E152DE2BAB8}" srcOrd="6" destOrd="0" presId="urn:microsoft.com/office/officeart/2005/8/layout/vList2"/>
    <dgm:cxn modelId="{89835E96-4BBC-47E6-BD73-E7123CF61F77}" type="presParOf" srcId="{ED2B2EAD-8D3A-47AE-A9C5-F6B0F34532AB}" destId="{2B5F5BFC-92A7-4A3C-A96A-2EE1BF3C659D}" srcOrd="7" destOrd="0" presId="urn:microsoft.com/office/officeart/2005/8/layout/vList2"/>
    <dgm:cxn modelId="{65310BAD-8639-4656-BC32-008306650125}" type="presParOf" srcId="{ED2B2EAD-8D3A-47AE-A9C5-F6B0F34532AB}" destId="{3C861DFB-59A7-4FCD-BB90-374F8563FB2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68C397-2B35-4089-919A-C40CFC8533F0}">
      <dsp:nvSpPr>
        <dsp:cNvPr id="0" name=""/>
        <dsp:cNvSpPr/>
      </dsp:nvSpPr>
      <dsp:spPr>
        <a:xfrm>
          <a:off x="1067299" y="13574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C95A9E-03D1-4D1F-A947-C8A26C0665F6}">
      <dsp:nvSpPr>
        <dsp:cNvPr id="0" name=""/>
        <dsp:cNvSpPr/>
      </dsp:nvSpPr>
      <dsp:spPr>
        <a:xfrm>
          <a:off x="572299" y="2461282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 dirty="0">
              <a:latin typeface="Calibri"/>
              <a:ea typeface="Calibri"/>
              <a:cs typeface="Calibri"/>
            </a:rPr>
            <a:t>Es una falla de seguridad (sea de hardware o software) desconocida por los desarrolladores</a:t>
          </a:r>
          <a:endParaRPr lang="es-ES" kern="1200" dirty="0"/>
        </a:p>
      </dsp:txBody>
      <dsp:txXfrm>
        <a:off x="572299" y="2461282"/>
        <a:ext cx="1800000" cy="855000"/>
      </dsp:txXfrm>
    </dsp:sp>
    <dsp:sp modelId="{6C87E491-0A92-42F8-A936-10DACFDE225C}">
      <dsp:nvSpPr>
        <dsp:cNvPr id="0" name=""/>
        <dsp:cNvSpPr/>
      </dsp:nvSpPr>
      <dsp:spPr>
        <a:xfrm>
          <a:off x="3182299" y="13574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DFE676-AA8A-4489-87D4-0127F4EBD851}">
      <dsp:nvSpPr>
        <dsp:cNvPr id="0" name=""/>
        <dsp:cNvSpPr/>
      </dsp:nvSpPr>
      <dsp:spPr>
        <a:xfrm>
          <a:off x="2687299" y="2461282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No existe parche disponible inmediatamente para corregirla.</a:t>
          </a:r>
          <a:endParaRPr lang="en-US" sz="1100" kern="1200"/>
        </a:p>
      </dsp:txBody>
      <dsp:txXfrm>
        <a:off x="2687299" y="2461282"/>
        <a:ext cx="1800000" cy="855000"/>
      </dsp:txXfrm>
    </dsp:sp>
    <dsp:sp modelId="{8BA2D9F2-148C-4CF8-92B9-B61DCB91D21A}">
      <dsp:nvSpPr>
        <dsp:cNvPr id="0" name=""/>
        <dsp:cNvSpPr/>
      </dsp:nvSpPr>
      <dsp:spPr>
        <a:xfrm>
          <a:off x="5297299" y="13574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6F7C7-E238-4A3C-A2A0-EF5D9785B95F}">
      <dsp:nvSpPr>
        <dsp:cNvPr id="0" name=""/>
        <dsp:cNvSpPr/>
      </dsp:nvSpPr>
      <dsp:spPr>
        <a:xfrm>
          <a:off x="4802299" y="2461282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• Puede ser explotada antes de ser descubierta por los propios desarrolladores.</a:t>
          </a:r>
          <a:endParaRPr lang="en-US" sz="1100" kern="1200"/>
        </a:p>
      </dsp:txBody>
      <dsp:txXfrm>
        <a:off x="4802299" y="2461282"/>
        <a:ext cx="1800000" cy="855000"/>
      </dsp:txXfrm>
    </dsp:sp>
    <dsp:sp modelId="{93621642-CE91-4A18-B6D5-4C9DB368FF3E}">
      <dsp:nvSpPr>
        <dsp:cNvPr id="0" name=""/>
        <dsp:cNvSpPr/>
      </dsp:nvSpPr>
      <dsp:spPr>
        <a:xfrm>
          <a:off x="7412300" y="13574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C9C66D-32B2-4217-8F72-F41F23DCE44E}">
      <dsp:nvSpPr>
        <dsp:cNvPr id="0" name=""/>
        <dsp:cNvSpPr/>
      </dsp:nvSpPr>
      <dsp:spPr>
        <a:xfrm>
          <a:off x="6917300" y="2461282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• La IA puede encontrarlas más rápido que los humanos gracias a su velocidad y entendimiento del código.</a:t>
          </a:r>
          <a:endParaRPr lang="en-US" sz="1100" kern="1200"/>
        </a:p>
      </dsp:txBody>
      <dsp:txXfrm>
        <a:off x="6917300" y="2461282"/>
        <a:ext cx="1800000" cy="855000"/>
      </dsp:txXfrm>
    </dsp:sp>
    <dsp:sp modelId="{14327027-4BDE-4EF0-808C-EE12C8412E92}">
      <dsp:nvSpPr>
        <dsp:cNvPr id="0" name=""/>
        <dsp:cNvSpPr/>
      </dsp:nvSpPr>
      <dsp:spPr>
        <a:xfrm>
          <a:off x="9527300" y="1357439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E7CC95-4651-43CA-9B88-0B35E7F81B40}">
      <dsp:nvSpPr>
        <dsp:cNvPr id="0" name=""/>
        <dsp:cNvSpPr/>
      </dsp:nvSpPr>
      <dsp:spPr>
        <a:xfrm>
          <a:off x="9032300" y="2461282"/>
          <a:ext cx="1800000" cy="855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100" kern="1200"/>
            <a:t>• Su detección temprana previene ataques masivos.</a:t>
          </a:r>
          <a:endParaRPr lang="en-US" sz="1100" kern="1200"/>
        </a:p>
      </dsp:txBody>
      <dsp:txXfrm>
        <a:off x="9032300" y="2461282"/>
        <a:ext cx="1800000" cy="855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F2128B-3142-44C0-A146-603DAD457D24}">
      <dsp:nvSpPr>
        <dsp:cNvPr id="0" name=""/>
        <dsp:cNvSpPr/>
      </dsp:nvSpPr>
      <dsp:spPr>
        <a:xfrm>
          <a:off x="3496905" y="1801"/>
          <a:ext cx="3934018" cy="118896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Ambos son modelos avanzados para ciberseguridad, con acceso restringido a organizaciones verificadas.</a:t>
          </a:r>
          <a:endParaRPr lang="en-US" sz="1700" kern="1200"/>
        </a:p>
      </dsp:txBody>
      <dsp:txXfrm>
        <a:off x="3554946" y="59842"/>
        <a:ext cx="3817936" cy="1072886"/>
      </dsp:txXfrm>
    </dsp:sp>
    <dsp:sp modelId="{BCA98C8A-A625-4687-89A8-A0B08FDEE2BD}">
      <dsp:nvSpPr>
        <dsp:cNvPr id="0" name=""/>
        <dsp:cNvSpPr/>
      </dsp:nvSpPr>
      <dsp:spPr>
        <a:xfrm>
          <a:off x="3496905" y="1250218"/>
          <a:ext cx="3934018" cy="118896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Ambos detectan vulnerabilidades y apoyan a la defensa de software e infraestructuras importantes </a:t>
          </a:r>
          <a:endParaRPr lang="en-US" sz="1700" kern="1200"/>
        </a:p>
      </dsp:txBody>
      <dsp:txXfrm>
        <a:off x="3554946" y="1308259"/>
        <a:ext cx="3817936" cy="1072886"/>
      </dsp:txXfrm>
    </dsp:sp>
    <dsp:sp modelId="{D21244C8-1AA6-40B6-95A9-CFC89E014531}">
      <dsp:nvSpPr>
        <dsp:cNvPr id="0" name=""/>
        <dsp:cNvSpPr/>
      </dsp:nvSpPr>
      <dsp:spPr>
        <a:xfrm>
          <a:off x="3496905" y="2498635"/>
          <a:ext cx="3934018" cy="118896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700" kern="1200"/>
            <a:t>Ambos tienen el acceso restringido para evitar ser usados en ataques de verdad y asegurar que solo defensores legítimos puedan aprovechar estas capacidades</a:t>
          </a:r>
          <a:endParaRPr lang="en-US" sz="1700" kern="1200"/>
        </a:p>
      </dsp:txBody>
      <dsp:txXfrm>
        <a:off x="3554946" y="2556676"/>
        <a:ext cx="3817936" cy="10728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65EA9C-63F6-4F42-AA40-1DB69DE1FBC8}">
      <dsp:nvSpPr>
        <dsp:cNvPr id="0" name=""/>
        <dsp:cNvSpPr/>
      </dsp:nvSpPr>
      <dsp:spPr>
        <a:xfrm>
          <a:off x="0" y="138271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¿Quién debería tener acceso a modelos tan capaces? </a:t>
          </a:r>
          <a:endParaRPr lang="en-US" sz="3100" kern="1200"/>
        </a:p>
      </dsp:txBody>
      <dsp:txXfrm>
        <a:off x="36296" y="174567"/>
        <a:ext cx="10443008" cy="670943"/>
      </dsp:txXfrm>
    </dsp:sp>
    <dsp:sp modelId="{BD672C79-A600-4F60-B891-9ADC0A417EB5}">
      <dsp:nvSpPr>
        <dsp:cNvPr id="0" name=""/>
        <dsp:cNvSpPr/>
      </dsp:nvSpPr>
      <dsp:spPr>
        <a:xfrm>
          <a:off x="0" y="971086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¿Cómo se evita el mal uso de estas herramientas? </a:t>
          </a:r>
          <a:endParaRPr lang="en-US" sz="3100" kern="1200"/>
        </a:p>
      </dsp:txBody>
      <dsp:txXfrm>
        <a:off x="36296" y="1007382"/>
        <a:ext cx="10443008" cy="670943"/>
      </dsp:txXfrm>
    </dsp:sp>
    <dsp:sp modelId="{D4910E23-38DC-4FDA-B035-CF9872E5307B}">
      <dsp:nvSpPr>
        <dsp:cNvPr id="0" name=""/>
        <dsp:cNvSpPr/>
      </dsp:nvSpPr>
      <dsp:spPr>
        <a:xfrm>
          <a:off x="0" y="1803901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¿Qué pasa si atacantes obtienen acceso? </a:t>
          </a:r>
          <a:endParaRPr lang="en-US" sz="3100" kern="1200"/>
        </a:p>
      </dsp:txBody>
      <dsp:txXfrm>
        <a:off x="36296" y="1840197"/>
        <a:ext cx="10443008" cy="670943"/>
      </dsp:txXfrm>
    </dsp:sp>
    <dsp:sp modelId="{DAA271EE-3DC7-4C6F-AD24-1E152DE2BAB8}">
      <dsp:nvSpPr>
        <dsp:cNvPr id="0" name=""/>
        <dsp:cNvSpPr/>
      </dsp:nvSpPr>
      <dsp:spPr>
        <a:xfrm>
          <a:off x="0" y="2636716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¿Qué límites deben imponerse a la autonomía de los agentes? </a:t>
          </a:r>
          <a:endParaRPr lang="en-US" sz="3100" kern="1200"/>
        </a:p>
      </dsp:txBody>
      <dsp:txXfrm>
        <a:off x="36296" y="2673012"/>
        <a:ext cx="10443008" cy="670943"/>
      </dsp:txXfrm>
    </dsp:sp>
    <dsp:sp modelId="{3C861DFB-59A7-4FCD-BB90-374F8563FB29}">
      <dsp:nvSpPr>
        <dsp:cNvPr id="0" name=""/>
        <dsp:cNvSpPr/>
      </dsp:nvSpPr>
      <dsp:spPr>
        <a:xfrm>
          <a:off x="0" y="3469531"/>
          <a:ext cx="10515600" cy="743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100" kern="1200"/>
            <a:t>¿Cómo se regula el uso de IA en ciberseguridad? </a:t>
          </a:r>
          <a:endParaRPr lang="en-US" sz="3100" kern="1200"/>
        </a:p>
      </dsp:txBody>
      <dsp:txXfrm>
        <a:off x="36296" y="3505827"/>
        <a:ext cx="10443008" cy="6709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480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99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735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019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62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064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05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2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91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14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086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9974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index/project-glasswing" TargetMode="External"/><Relationship Id="rId7" Type="http://schemas.openxmlformats.org/officeDocument/2006/relationships/hyperlink" Target="https://techcrunch.com/2024/04/04/anthropic-claude-mythos-sandbox-escape/" TargetMode="External"/><Relationship Id="rId2" Type="http://schemas.openxmlformats.org/officeDocument/2006/relationships/hyperlink" Target="https://www.anthropic.com/index/introducing-claude-mythos-preview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politico.com/news/2024/04/04/anthropic-ai-cybersecurity-nsa-00140264" TargetMode="External"/><Relationship Id="rId5" Type="http://schemas.openxmlformats.org/officeDocument/2006/relationships/hyperlink" Target="https://www.reuters.com/technology/us-agencies-eye-anthropics-ai-cybersecurity-tools-2024-04-04/" TargetMode="External"/><Relationship Id="rId4" Type="http://schemas.openxmlformats.org/officeDocument/2006/relationships/hyperlink" Target="https://www.anthropic.com/index/claude-mythos-sandbo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Patrón de fondo&#10;&#10;El contenido generado por IA puede ser incorrecto.">
            <a:extLst>
              <a:ext uri="{FF2B5EF4-FFF2-40B4-BE49-F238E27FC236}">
                <a16:creationId xmlns:a16="http://schemas.microsoft.com/office/drawing/2014/main" id="{96776D83-8283-6192-E781-A3B950B4A41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8" b="991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  <a:ea typeface="+mj-lt"/>
                <a:cs typeface="+mj-lt"/>
              </a:rPr>
              <a:t>Mythos y el Futuro de la Ciberseguridad</a:t>
            </a:r>
            <a:endParaRPr lang="es-ES">
              <a:solidFill>
                <a:srgbClr val="FFFFFF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>
                <a:solidFill>
                  <a:srgbClr val="FFFFFF"/>
                </a:solidFill>
                <a:ea typeface="Calibri"/>
                <a:cs typeface="Calibri"/>
              </a:rPr>
              <a:t>Hecho por Vicente Rodríguez</a:t>
            </a:r>
            <a:endParaRPr lang="es-E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B6E88F-5A64-7E5E-5EBC-785ED916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4600" b="1">
                <a:ea typeface="Calibri Light"/>
                <a:cs typeface="Calibri Light"/>
              </a:rPr>
              <a:t>¿Qué puedes esperar de esta presentación?</a:t>
            </a:r>
            <a:endParaRPr lang="es-ES" sz="460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ADB684-70E1-8C21-7D2C-C839264C2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s-ES" sz="2200">
                <a:ea typeface="Calibri"/>
                <a:cs typeface="Calibri"/>
              </a:rPr>
              <a:t>En este PTT, se va a hablar de manera breve, pero concisa sobre:</a:t>
            </a:r>
          </a:p>
          <a:p>
            <a:r>
              <a:rPr lang="es-ES" sz="2200" dirty="0">
                <a:ea typeface="Calibri"/>
                <a:cs typeface="Calibri"/>
              </a:rPr>
              <a:t>Claude </a:t>
            </a:r>
            <a:r>
              <a:rPr lang="es-ES" sz="2200" err="1">
                <a:ea typeface="Calibri"/>
                <a:cs typeface="Calibri"/>
              </a:rPr>
              <a:t>Mythos</a:t>
            </a:r>
            <a:r>
              <a:rPr lang="es-ES" sz="2200" dirty="0">
                <a:ea typeface="Calibri"/>
                <a:cs typeface="Calibri"/>
              </a:rPr>
              <a:t> </a:t>
            </a:r>
            <a:r>
              <a:rPr lang="es-ES" sz="2200" err="1">
                <a:ea typeface="Calibri"/>
                <a:cs typeface="Calibri"/>
              </a:rPr>
              <a:t>Preview</a:t>
            </a:r>
            <a:r>
              <a:rPr lang="es-ES" sz="2200" dirty="0">
                <a:ea typeface="Calibri"/>
                <a:cs typeface="Calibri"/>
              </a:rPr>
              <a:t> y GPT-5.4- </a:t>
            </a:r>
            <a:r>
              <a:rPr lang="es-ES" sz="2200">
                <a:ea typeface="Calibri"/>
                <a:cs typeface="Calibri"/>
              </a:rPr>
              <a:t>Cyber.</a:t>
            </a:r>
            <a:endParaRPr lang="es-ES" sz="2200" dirty="0">
              <a:ea typeface="Calibri"/>
              <a:cs typeface="Calibri"/>
            </a:endParaRPr>
          </a:p>
          <a:p>
            <a:r>
              <a:rPr lang="es-ES" sz="2200" dirty="0">
                <a:ea typeface="Calibri"/>
                <a:cs typeface="Calibri"/>
              </a:rPr>
              <a:t>Proyect </a:t>
            </a:r>
            <a:r>
              <a:rPr lang="es-ES" sz="2200" dirty="0" err="1">
                <a:ea typeface="Calibri"/>
                <a:cs typeface="Calibri"/>
              </a:rPr>
              <a:t>Glasswing</a:t>
            </a:r>
            <a:r>
              <a:rPr lang="es-ES" sz="2200" dirty="0">
                <a:ea typeface="Calibri"/>
                <a:cs typeface="Calibri"/>
              </a:rPr>
              <a:t>.</a:t>
            </a:r>
          </a:p>
          <a:p>
            <a:r>
              <a:rPr lang="es-ES" sz="2200">
                <a:ea typeface="Calibri"/>
                <a:cs typeface="Calibri"/>
              </a:rPr>
              <a:t>Ciberseguridad.</a:t>
            </a:r>
          </a:p>
          <a:p>
            <a:r>
              <a:rPr lang="es-ES" sz="2200" dirty="0">
                <a:ea typeface="Calibri"/>
                <a:cs typeface="Calibri"/>
              </a:rPr>
              <a:t>El uso y riesgo de las </a:t>
            </a:r>
            <a:r>
              <a:rPr lang="es-ES" sz="2200" err="1">
                <a:ea typeface="Calibri"/>
                <a:cs typeface="Calibri"/>
              </a:rPr>
              <a:t>IAs</a:t>
            </a:r>
            <a:r>
              <a:rPr lang="es-ES" sz="2200">
                <a:ea typeface="Calibri"/>
                <a:cs typeface="Calibri"/>
              </a:rPr>
              <a:t> usadas en Ciberseguridad.</a:t>
            </a:r>
            <a:endParaRPr lang="es-ES" sz="2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6174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9D3611-8DF9-7FF7-FE9F-052CF5E49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ES">
                <a:solidFill>
                  <a:srgbClr val="FFFFFF"/>
                </a:solidFill>
              </a:rPr>
              <a:t>¿Qué es Antropic?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17066D-CD4C-55C3-3273-2C389169A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600" err="1">
                <a:ea typeface="+mn-lt"/>
                <a:cs typeface="+mn-lt"/>
              </a:rPr>
              <a:t>Antropic</a:t>
            </a:r>
            <a:r>
              <a:rPr lang="es-ES" sz="2600">
                <a:ea typeface="+mn-lt"/>
                <a:cs typeface="+mn-lt"/>
              </a:rPr>
              <a:t> es una</a:t>
            </a:r>
            <a:r>
              <a:rPr lang="es-ES" sz="2600" b="1">
                <a:ea typeface="+mn-lt"/>
                <a:cs typeface="+mn-lt"/>
              </a:rPr>
              <a:t> Empresa de IA enfocada en seguridad</a:t>
            </a:r>
            <a:r>
              <a:rPr lang="es-ES" sz="2600">
                <a:ea typeface="+mn-lt"/>
                <a:cs typeface="+mn-lt"/>
              </a:rPr>
              <a:t>, registrada como </a:t>
            </a:r>
            <a:r>
              <a:rPr lang="es-ES" sz="2600" i="1" err="1">
                <a:ea typeface="+mn-lt"/>
                <a:cs typeface="+mn-lt"/>
              </a:rPr>
              <a:t>Public</a:t>
            </a:r>
            <a:r>
              <a:rPr lang="es-ES" sz="2600" i="1">
                <a:ea typeface="+mn-lt"/>
                <a:cs typeface="+mn-lt"/>
              </a:rPr>
              <a:t> Benefit </a:t>
            </a:r>
            <a:r>
              <a:rPr lang="es-ES" sz="2600" i="1" err="1">
                <a:ea typeface="+mn-lt"/>
                <a:cs typeface="+mn-lt"/>
              </a:rPr>
              <a:t>Corporation</a:t>
            </a:r>
            <a:r>
              <a:rPr lang="es-ES" sz="2600">
                <a:ea typeface="+mn-lt"/>
                <a:cs typeface="+mn-lt"/>
              </a:rPr>
              <a:t>.</a:t>
            </a:r>
            <a:endParaRPr lang="es-ES" sz="2600" b="1">
              <a:ea typeface="+mn-lt"/>
              <a:cs typeface="+mn-lt"/>
            </a:endParaRPr>
          </a:p>
          <a:p>
            <a:r>
              <a:rPr lang="es-ES" sz="2600" b="1">
                <a:ea typeface="+mn-lt"/>
                <a:cs typeface="+mn-lt"/>
              </a:rPr>
              <a:t>Fundada en 2021</a:t>
            </a:r>
            <a:r>
              <a:rPr lang="es-ES" sz="2600">
                <a:ea typeface="+mn-lt"/>
                <a:cs typeface="+mn-lt"/>
              </a:rPr>
              <a:t> en San Francisco por </a:t>
            </a:r>
            <a:r>
              <a:rPr lang="es-ES" sz="2600" err="1">
                <a:ea typeface="+mn-lt"/>
                <a:cs typeface="+mn-lt"/>
              </a:rPr>
              <a:t>Dario</a:t>
            </a:r>
            <a:r>
              <a:rPr lang="es-ES" sz="2600">
                <a:ea typeface="+mn-lt"/>
                <a:cs typeface="+mn-lt"/>
              </a:rPr>
              <a:t> y Daniela </a:t>
            </a:r>
            <a:r>
              <a:rPr lang="es-ES" sz="2600" err="1">
                <a:ea typeface="+mn-lt"/>
                <a:cs typeface="+mn-lt"/>
              </a:rPr>
              <a:t>Amodei</a:t>
            </a:r>
            <a:r>
              <a:rPr lang="es-ES" sz="2600">
                <a:ea typeface="+mn-lt"/>
                <a:cs typeface="+mn-lt"/>
              </a:rPr>
              <a:t> (ex‑</a:t>
            </a:r>
            <a:r>
              <a:rPr lang="es-ES" sz="2600" err="1">
                <a:ea typeface="+mn-lt"/>
                <a:cs typeface="+mn-lt"/>
              </a:rPr>
              <a:t>OpenAI</a:t>
            </a:r>
            <a:r>
              <a:rPr lang="es-ES" sz="2600">
                <a:ea typeface="+mn-lt"/>
                <a:cs typeface="+mn-lt"/>
              </a:rPr>
              <a:t>) junto a otros investigadores.</a:t>
            </a:r>
            <a:endParaRPr lang="es-ES" sz="2600"/>
          </a:p>
          <a:p>
            <a:r>
              <a:rPr lang="es-ES" sz="2600" b="1">
                <a:ea typeface="+mn-lt"/>
                <a:cs typeface="+mn-lt"/>
              </a:rPr>
              <a:t>Claude </a:t>
            </a:r>
            <a:r>
              <a:rPr lang="es-ES" sz="2600">
                <a:ea typeface="+mn-lt"/>
                <a:cs typeface="+mn-lt"/>
              </a:rPr>
              <a:t>es su principal línea de modelos de lenguaje, diseñados con enfoque en razonamiento y reducción de riesgos.</a:t>
            </a:r>
            <a:endParaRPr lang="es-ES" sz="2600"/>
          </a:p>
          <a:p>
            <a:r>
              <a:rPr lang="es-ES" sz="2600" b="1">
                <a:ea typeface="+mn-lt"/>
                <a:cs typeface="+mn-lt"/>
              </a:rPr>
              <a:t>Relevancia actual</a:t>
            </a:r>
            <a:r>
              <a:rPr lang="es-ES" sz="2600">
                <a:ea typeface="+mn-lt"/>
                <a:cs typeface="+mn-lt"/>
              </a:rPr>
              <a:t>: aparece en la discusión por el lanzamiento de </a:t>
            </a:r>
            <a:r>
              <a:rPr lang="es-ES" sz="2600" i="1">
                <a:ea typeface="+mn-lt"/>
                <a:cs typeface="+mn-lt"/>
              </a:rPr>
              <a:t>Claude </a:t>
            </a:r>
            <a:r>
              <a:rPr lang="es-ES" sz="2600" i="1" err="1">
                <a:ea typeface="+mn-lt"/>
                <a:cs typeface="+mn-lt"/>
              </a:rPr>
              <a:t>Mythos</a:t>
            </a:r>
            <a:r>
              <a:rPr lang="es-ES" sz="2600" i="1">
                <a:ea typeface="+mn-lt"/>
                <a:cs typeface="+mn-lt"/>
              </a:rPr>
              <a:t> </a:t>
            </a:r>
            <a:r>
              <a:rPr lang="es-ES" sz="2600" i="1" err="1">
                <a:ea typeface="+mn-lt"/>
                <a:cs typeface="+mn-lt"/>
              </a:rPr>
              <a:t>Preview</a:t>
            </a:r>
            <a:r>
              <a:rPr lang="es-ES" sz="2600">
                <a:ea typeface="+mn-lt"/>
                <a:cs typeface="+mn-lt"/>
              </a:rPr>
              <a:t> y el proyecto </a:t>
            </a:r>
            <a:r>
              <a:rPr lang="es-ES" sz="2600" i="1" err="1">
                <a:ea typeface="+mn-lt"/>
                <a:cs typeface="+mn-lt"/>
              </a:rPr>
              <a:t>Glasswing</a:t>
            </a:r>
            <a:r>
              <a:rPr lang="es-ES" sz="2600">
                <a:ea typeface="+mn-lt"/>
                <a:cs typeface="+mn-lt"/>
              </a:rPr>
              <a:t>, que impactan en ciberseguridad global. (Reporte periodístico – Reuters/</a:t>
            </a:r>
            <a:r>
              <a:rPr lang="es-ES" sz="2600" err="1">
                <a:ea typeface="+mn-lt"/>
                <a:cs typeface="+mn-lt"/>
              </a:rPr>
              <a:t>TechCrunch</a:t>
            </a:r>
            <a:r>
              <a:rPr lang="es-ES" sz="2600">
                <a:ea typeface="+mn-lt"/>
                <a:cs typeface="+mn-lt"/>
              </a:rPr>
              <a:t>).</a:t>
            </a:r>
            <a:endParaRPr lang="es-ES" sz="2600"/>
          </a:p>
          <a:p>
            <a:endParaRPr lang="es-ES" sz="2600"/>
          </a:p>
        </p:txBody>
      </p:sp>
    </p:spTree>
    <p:extLst>
      <p:ext uri="{BB962C8B-B14F-4D97-AF65-F5344CB8AC3E}">
        <p14:creationId xmlns:p14="http://schemas.microsoft.com/office/powerpoint/2010/main" val="3704982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1B4F18-3F8F-B882-7F8D-C836F3272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ES" sz="4600">
                <a:ea typeface="+mj-lt"/>
                <a:cs typeface="+mj-lt"/>
              </a:rPr>
              <a:t>¿Qué es Claude Mythos Preview?</a:t>
            </a:r>
            <a:endParaRPr lang="es-ES" sz="46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77B98C-B2E1-C82E-68A0-D14F2E3A8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580" y="2872899"/>
            <a:ext cx="4561089" cy="36593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1800">
                <a:ea typeface="+mn-lt"/>
                <a:cs typeface="+mn-lt"/>
              </a:rPr>
              <a:t>CMP es un</a:t>
            </a:r>
            <a:r>
              <a:rPr lang="es-ES" sz="1800" b="1">
                <a:ea typeface="+mn-lt"/>
                <a:cs typeface="+mn-lt"/>
              </a:rPr>
              <a:t> modelo avanzado experimental de </a:t>
            </a:r>
            <a:r>
              <a:rPr lang="es-ES" sz="1800" b="1" err="1">
                <a:ea typeface="+mn-lt"/>
                <a:cs typeface="+mn-lt"/>
              </a:rPr>
              <a:t>Anthropic</a:t>
            </a:r>
            <a:r>
              <a:rPr lang="es-ES" sz="1800">
                <a:ea typeface="+mn-lt"/>
                <a:cs typeface="+mn-lt"/>
              </a:rPr>
              <a:t> enfocado en programación, agentes y ciberseguridad.</a:t>
            </a:r>
            <a:endParaRPr lang="es-ES" sz="1800" dirty="0">
              <a:ea typeface="+mn-lt"/>
              <a:cs typeface="+mn-lt"/>
            </a:endParaRPr>
          </a:p>
          <a:p>
            <a:r>
              <a:rPr lang="es-ES" sz="1800">
                <a:ea typeface="+mn-lt"/>
                <a:cs typeface="+mn-lt"/>
              </a:rPr>
              <a:t>Esta IA</a:t>
            </a:r>
            <a:r>
              <a:rPr lang="es-ES" sz="1800" b="1">
                <a:ea typeface="+mn-lt"/>
                <a:cs typeface="+mn-lt"/>
              </a:rPr>
              <a:t> no fue  liberado al público general</a:t>
            </a:r>
            <a:r>
              <a:rPr lang="es-ES" sz="1800">
                <a:ea typeface="+mn-lt"/>
                <a:cs typeface="+mn-lt"/>
              </a:rPr>
              <a:t>,  los únicos con acceso eran socios críticos.</a:t>
            </a:r>
            <a:endParaRPr lang="es-ES" sz="1800" dirty="0">
              <a:ea typeface="+mn-lt"/>
              <a:cs typeface="+mn-lt"/>
            </a:endParaRPr>
          </a:p>
          <a:p>
            <a:r>
              <a:rPr lang="es-ES" sz="1800" b="1">
                <a:ea typeface="+mn-lt"/>
                <a:cs typeface="+mn-lt"/>
              </a:rPr>
              <a:t>Destaca en seguridad digital</a:t>
            </a:r>
            <a:r>
              <a:rPr lang="es-ES" sz="1800">
                <a:ea typeface="+mn-lt"/>
                <a:cs typeface="+mn-lt"/>
              </a:rPr>
              <a:t>: análisis de vulnerabilidades y sistemas complejos.</a:t>
            </a:r>
            <a:endParaRPr lang="es-ES" sz="1800" dirty="0">
              <a:ea typeface="+mn-lt"/>
              <a:cs typeface="+mn-lt"/>
            </a:endParaRPr>
          </a:p>
          <a:p>
            <a:r>
              <a:rPr lang="es-ES" sz="1800" b="1" dirty="0">
                <a:ea typeface="+mn-lt"/>
                <a:cs typeface="+mn-lt"/>
              </a:rPr>
              <a:t>Uso limitado por riesgos</a:t>
            </a:r>
            <a:r>
              <a:rPr lang="es-ES" sz="1800" dirty="0">
                <a:ea typeface="+mn-lt"/>
                <a:cs typeface="+mn-lt"/>
              </a:rPr>
              <a:t> de explotación maliciosa (Reporte periodístico – Reuters/</a:t>
            </a:r>
            <a:r>
              <a:rPr lang="es-ES" sz="1800" dirty="0" err="1">
                <a:ea typeface="+mn-lt"/>
                <a:cs typeface="+mn-lt"/>
              </a:rPr>
              <a:t>TechCrunch</a:t>
            </a:r>
            <a:r>
              <a:rPr lang="es-ES" sz="1800" dirty="0">
                <a:ea typeface="+mn-lt"/>
                <a:cs typeface="+mn-lt"/>
              </a:rPr>
              <a:t>).</a:t>
            </a:r>
          </a:p>
          <a:p>
            <a:endParaRPr lang="es-ES" sz="1700">
              <a:ea typeface="Calibri"/>
              <a:cs typeface="Calibri"/>
            </a:endParaRPr>
          </a:p>
        </p:txBody>
      </p:sp>
      <p:pic>
        <p:nvPicPr>
          <p:cNvPr id="4" name="Imagen 3" descr="Interfaz de usuario gráfica, Sitio web&#10;&#10;El contenido generado por IA puede ser incorrecto.">
            <a:extLst>
              <a:ext uri="{FF2B5EF4-FFF2-40B4-BE49-F238E27FC236}">
                <a16:creationId xmlns:a16="http://schemas.microsoft.com/office/drawing/2014/main" id="{91ACEE6A-87A6-5199-9944-0FE2299A1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48" r="-1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02196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AA6E69A-D820-4D69-BAB7-4F15FD02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tx2"/>
                </a:solidFill>
                <a:ea typeface="+mj-lt"/>
                <a:cs typeface="+mj-lt"/>
              </a:rPr>
              <a:t>¿Qué es Project Glasswing?</a:t>
            </a:r>
            <a:endParaRPr lang="es-ES" sz="3600">
              <a:solidFill>
                <a:schemeClr val="tx2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E1F086-E7AF-0821-83C1-783D9681C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77011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Es una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 Iniciativa de </a:t>
            </a:r>
            <a:r>
              <a:rPr lang="es-ES" sz="2400" b="1" dirty="0" err="1">
                <a:solidFill>
                  <a:schemeClr val="tx2"/>
                </a:solidFill>
                <a:ea typeface="+mn-lt"/>
                <a:cs typeface="+mn-lt"/>
              </a:rPr>
              <a:t>Anthropic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 creada para manejar de forma segura modelos avanzados como </a:t>
            </a:r>
            <a:r>
              <a:rPr lang="es-ES" sz="2400" i="1" dirty="0">
                <a:solidFill>
                  <a:schemeClr val="tx2"/>
                </a:solidFill>
                <a:ea typeface="+mn-lt"/>
                <a:cs typeface="+mn-lt"/>
              </a:rPr>
              <a:t>Claude </a:t>
            </a:r>
            <a:r>
              <a:rPr lang="es-ES" sz="2400" i="1" dirty="0" err="1">
                <a:solidFill>
                  <a:schemeClr val="tx2"/>
                </a:solidFill>
                <a:ea typeface="+mn-lt"/>
                <a:cs typeface="+mn-lt"/>
              </a:rPr>
              <a:t>Mythos</a:t>
            </a:r>
            <a:r>
              <a:rPr lang="es-ES" sz="2400" i="1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s-ES" sz="2400" i="1" dirty="0" err="1">
                <a:solidFill>
                  <a:schemeClr val="tx2"/>
                </a:solidFill>
                <a:ea typeface="+mn-lt"/>
                <a:cs typeface="+mn-lt"/>
              </a:rPr>
              <a:t>Preview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.</a:t>
            </a:r>
          </a:p>
          <a:p>
            <a:r>
              <a:rPr lang="es-ES" sz="2400" b="1">
                <a:solidFill>
                  <a:schemeClr val="tx2"/>
                </a:solidFill>
                <a:ea typeface="+mn-lt"/>
                <a:cs typeface="+mn-lt"/>
              </a:rPr>
              <a:t>Entrega acceso controlado</a:t>
            </a:r>
            <a:r>
              <a:rPr lang="es-ES" sz="2400">
                <a:solidFill>
                  <a:schemeClr val="tx2"/>
                </a:solidFill>
                <a:ea typeface="+mn-lt"/>
                <a:cs typeface="+mn-lt"/>
              </a:rPr>
              <a:t> solo a organizaciones seleccionadas (grandes empresas tecnológicas y gobiernos).</a:t>
            </a:r>
            <a:endParaRPr lang="es-ES" sz="2400" dirty="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Diseñado para minimizar riesgos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 de uso malicioso, dado que </a:t>
            </a:r>
            <a:r>
              <a:rPr lang="es-ES" sz="2400" dirty="0" err="1">
                <a:solidFill>
                  <a:schemeClr val="tx2"/>
                </a:solidFill>
                <a:ea typeface="+mn-lt"/>
                <a:cs typeface="+mn-lt"/>
              </a:rPr>
              <a:t>Mythos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 puede detectar fallas a gran escala (dato mencionado en reportes periodísticos como Reuters).</a:t>
            </a:r>
            <a:endParaRPr lang="es-ES" sz="2400">
              <a:solidFill>
                <a:schemeClr val="tx2"/>
              </a:solidFill>
              <a:ea typeface="Calibri"/>
              <a:cs typeface="Calibri"/>
            </a:endParaRPr>
          </a:p>
          <a:p>
            <a:r>
              <a:rPr lang="es-ES" sz="2400" b="1">
                <a:solidFill>
                  <a:schemeClr val="tx2"/>
                </a:solidFill>
                <a:ea typeface="+mn-lt"/>
                <a:cs typeface="+mn-lt"/>
              </a:rPr>
              <a:t>Funciona como un “entorno seguro”</a:t>
            </a:r>
            <a:r>
              <a:rPr lang="es-ES" sz="2400">
                <a:solidFill>
                  <a:schemeClr val="tx2"/>
                </a:solidFill>
                <a:ea typeface="+mn-lt"/>
                <a:cs typeface="+mn-lt"/>
              </a:rPr>
              <a:t> donde las capacidades más sensibles de la IA se prueban bajo supervisión estricta.</a:t>
            </a:r>
            <a:endParaRPr lang="es-ES" sz="18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s-ES" sz="18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718314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9E73C52-2069-F2A6-8488-3CC15E835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064" y="375020"/>
            <a:ext cx="3958465" cy="1336054"/>
          </a:xfrm>
        </p:spPr>
        <p:txBody>
          <a:bodyPr anchor="b">
            <a:normAutofit/>
          </a:bodyPr>
          <a:lstStyle/>
          <a:p>
            <a:r>
              <a:rPr lang="es-ES" sz="4000" b="1" dirty="0">
                <a:ea typeface="+mj-lt"/>
                <a:cs typeface="+mj-lt"/>
              </a:rPr>
              <a:t>¿Qué significa </a:t>
            </a:r>
            <a:r>
              <a:rPr lang="es-ES" sz="4000" b="1" i="1" dirty="0">
                <a:ea typeface="+mj-lt"/>
                <a:cs typeface="+mj-lt"/>
              </a:rPr>
              <a:t>red </a:t>
            </a:r>
            <a:r>
              <a:rPr lang="es-ES" sz="4000" b="1" i="1" dirty="0" err="1">
                <a:ea typeface="+mj-lt"/>
                <a:cs typeface="+mj-lt"/>
              </a:rPr>
              <a:t>teaming</a:t>
            </a:r>
            <a:r>
              <a:rPr lang="es-ES" sz="4000" b="1" dirty="0">
                <a:ea typeface="+mj-lt"/>
                <a:cs typeface="+mj-lt"/>
              </a:rPr>
              <a:t>?</a:t>
            </a:r>
            <a:endParaRPr lang="es-ES" sz="4000" b="1" u="sng" dirty="0">
              <a:ea typeface="Calibri Light"/>
              <a:cs typeface="Calibri Light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4B9369-52B3-FBBE-7128-031EFD9C7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007" y="1717978"/>
            <a:ext cx="6003105" cy="46886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1800" b="1" dirty="0">
                <a:ea typeface="+mn-lt"/>
                <a:cs typeface="+mn-lt"/>
              </a:rPr>
              <a:t>Red </a:t>
            </a:r>
            <a:r>
              <a:rPr lang="es-ES" sz="1800" b="1" dirty="0" err="1">
                <a:ea typeface="+mn-lt"/>
                <a:cs typeface="+mn-lt"/>
              </a:rPr>
              <a:t>teaming</a:t>
            </a:r>
            <a:r>
              <a:rPr lang="es-ES" sz="1800" dirty="0">
                <a:ea typeface="+mn-lt"/>
                <a:cs typeface="+mn-lt"/>
              </a:rPr>
              <a:t> es una práctica donde especialistas simulan ataques reales para encontrar fallas antes de que un atacante verdadero las use.</a:t>
            </a:r>
            <a:endParaRPr lang="es-ES" sz="1800" dirty="0">
              <a:ea typeface="Calibri" panose="020F0502020204030204"/>
              <a:cs typeface="Calibri" panose="020F0502020204030204"/>
            </a:endParaRPr>
          </a:p>
          <a:p>
            <a:r>
              <a:rPr lang="es-ES" sz="1800" b="1">
                <a:ea typeface="+mn-lt"/>
                <a:cs typeface="+mn-lt"/>
              </a:rPr>
              <a:t>Es un ejercicio defensivo</a:t>
            </a:r>
            <a:r>
              <a:rPr lang="es-ES" sz="1800">
                <a:ea typeface="+mn-lt"/>
                <a:cs typeface="+mn-lt"/>
              </a:rPr>
              <a:t>, porque su objetivo es mejorar la seguridad corrigiendo vulnerabilidades detectadas.</a:t>
            </a:r>
            <a:endParaRPr lang="es-ES" sz="1800">
              <a:ea typeface="Calibri"/>
              <a:cs typeface="Calibri"/>
            </a:endParaRPr>
          </a:p>
          <a:p>
            <a:r>
              <a:rPr lang="es-ES" sz="1800" b="1" dirty="0">
                <a:ea typeface="+mn-lt"/>
                <a:cs typeface="+mn-lt"/>
              </a:rPr>
              <a:t>Se diferencia del uso malicioso</a:t>
            </a:r>
            <a:r>
              <a:rPr lang="es-ES" sz="1800" dirty="0">
                <a:ea typeface="+mn-lt"/>
                <a:cs typeface="+mn-lt"/>
              </a:rPr>
              <a:t> porque el equipo rojo actúa con permiso, sin causar daño real y siguiendo reglas éticas (dato basado en definiciones de IBM y </a:t>
            </a:r>
            <a:r>
              <a:rPr lang="es-ES" sz="1800" dirty="0" err="1">
                <a:ea typeface="+mn-lt"/>
                <a:cs typeface="+mn-lt"/>
              </a:rPr>
              <a:t>CrowdStrike</a:t>
            </a:r>
            <a:r>
              <a:rPr lang="es-ES" sz="1800" dirty="0">
                <a:ea typeface="+mn-lt"/>
                <a:cs typeface="+mn-lt"/>
              </a:rPr>
              <a:t>, reportes técnicos).</a:t>
            </a:r>
            <a:endParaRPr lang="es-ES" sz="1800" dirty="0">
              <a:ea typeface="Calibri"/>
              <a:cs typeface="Calibri"/>
            </a:endParaRPr>
          </a:p>
          <a:p>
            <a:r>
              <a:rPr lang="es-ES" sz="1800" b="1">
                <a:ea typeface="+mn-lt"/>
                <a:cs typeface="+mn-lt"/>
              </a:rPr>
              <a:t>Imita tácticas de atacantes reales</a:t>
            </a:r>
            <a:r>
              <a:rPr lang="es-ES" sz="1800">
                <a:ea typeface="+mn-lt"/>
                <a:cs typeface="+mn-lt"/>
              </a:rPr>
              <a:t>, incluyendo ingeniería social, pruebas de penetración y técnicas avanzadas.</a:t>
            </a:r>
            <a:endParaRPr lang="es-ES" sz="1800">
              <a:ea typeface="Calibri"/>
              <a:cs typeface="Calibri"/>
            </a:endParaRPr>
          </a:p>
          <a:p>
            <a:r>
              <a:rPr lang="es-ES" sz="1800" b="1">
                <a:ea typeface="+mn-lt"/>
                <a:cs typeface="+mn-lt"/>
              </a:rPr>
              <a:t>Ayuda a evaluar la preparación completa</a:t>
            </a:r>
            <a:r>
              <a:rPr lang="es-ES" sz="1800">
                <a:ea typeface="+mn-lt"/>
                <a:cs typeface="+mn-lt"/>
              </a:rPr>
              <a:t> de una organización, no solo su tecnología, sino también procesos y respuesta humana.</a:t>
            </a:r>
            <a:endParaRPr lang="es-ES" sz="1400">
              <a:ea typeface="Calibri"/>
              <a:cs typeface="Calibri"/>
            </a:endParaRPr>
          </a:p>
          <a:p>
            <a:endParaRPr lang="es-ES" sz="1400">
              <a:ea typeface="Calibri"/>
              <a:cs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Imagen 3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2D741439-CF49-0EF4-6746-99C61F5DE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1880998"/>
            <a:ext cx="4170530" cy="312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30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86B5B-5A86-3CD8-13DC-33C65732D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45101"/>
          </a:xfrm>
        </p:spPr>
        <p:txBody>
          <a:bodyPr>
            <a:normAutofit/>
          </a:bodyPr>
          <a:lstStyle/>
          <a:p>
            <a:r>
              <a:rPr lang="es-ES_tradnl" sz="4000" b="1"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Qué cambia cuando el red teaming lo hace un agente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71A55F-F02F-09A4-CC4E-501AB33C5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s-ES" dirty="0">
              <a:ea typeface="Calibri" panose="020F0502020204030204"/>
              <a:cs typeface="Calibri" panose="020F0502020204030204"/>
            </a:endParaRPr>
          </a:p>
          <a:p>
            <a:r>
              <a:rPr lang="es-ES" sz="3600">
                <a:ea typeface="+mn-lt"/>
                <a:cs typeface="+mn-lt"/>
              </a:rPr>
              <a:t>El agente opera sin descanso, analizando rápidamente</a:t>
            </a:r>
            <a:r>
              <a:rPr lang="es-ES" sz="3600" dirty="0">
                <a:ea typeface="+mn-lt"/>
                <a:cs typeface="+mn-lt"/>
              </a:rPr>
              <a:t> </a:t>
            </a:r>
            <a:r>
              <a:rPr lang="es-ES" sz="3600">
                <a:ea typeface="+mn-lt"/>
                <a:cs typeface="+mn-lt"/>
              </a:rPr>
              <a:t>miles de líneas de código, prueba hipótesis de ataque de forma continua, simulando a un atacante real y encadena pasos complejos sin supervisión humana.</a:t>
            </a:r>
            <a:endParaRPr lang="es-ES" sz="36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04784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7E171-06B9-71C5-2CC7-F083E4AD1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Qué es una vulnerabilidad zero-day</a:t>
            </a:r>
            <a:endParaRPr lang="es-ES" b="1">
              <a:ea typeface="+mj-lt"/>
              <a:cs typeface="+mj-lt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570FECC-0A28-8BE6-71A4-BAB1B168E04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825625"/>
          <a:ext cx="11404600" cy="4673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6224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EEB04-422B-10F4-F92E-16CF9845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ea typeface="+mj-lt"/>
                <a:cs typeface="+mj-lt"/>
              </a:rPr>
              <a:t>Qué</a:t>
            </a:r>
            <a:r>
              <a:rPr lang="en-US" b="1" dirty="0">
                <a:ea typeface="+mj-lt"/>
                <a:cs typeface="+mj-lt"/>
              </a:rPr>
              <a:t> </a:t>
            </a:r>
            <a:r>
              <a:rPr lang="en-US" b="1" dirty="0" err="1">
                <a:ea typeface="+mj-lt"/>
                <a:cs typeface="+mj-lt"/>
              </a:rPr>
              <a:t>descubrió</a:t>
            </a:r>
            <a:r>
              <a:rPr lang="en-US" b="1" dirty="0">
                <a:ea typeface="+mj-lt"/>
                <a:cs typeface="+mj-lt"/>
              </a:rPr>
              <a:t> Mythos </a:t>
            </a:r>
            <a:r>
              <a:rPr lang="en-US" b="1" dirty="0" err="1">
                <a:ea typeface="+mj-lt"/>
                <a:cs typeface="+mj-lt"/>
              </a:rPr>
              <a:t>según</a:t>
            </a:r>
            <a:r>
              <a:rPr lang="en-US" b="1" dirty="0">
                <a:ea typeface="+mj-lt"/>
                <a:cs typeface="+mj-lt"/>
              </a:rPr>
              <a:t> Anthropic</a:t>
            </a:r>
            <a:endParaRPr lang="es-ES" b="1" dirty="0">
              <a:ea typeface="+mj-lt"/>
              <a:cs typeface="+mj-lt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CB7078-80BB-44FC-648D-F1A4702A9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34" y="1825625"/>
            <a:ext cx="11404599" cy="45524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latin typeface="Calibri"/>
                <a:ea typeface="Calibri"/>
                <a:cs typeface="Calibri"/>
              </a:rPr>
              <a:t>Identificó vulnerabilidades en software ampliamente utilizado</a:t>
            </a:r>
            <a:r>
              <a:rPr lang="es-ES">
                <a:ea typeface="+mn-lt"/>
                <a:cs typeface="+mn-lt"/>
              </a:rPr>
              <a:t> como lo es Linux.</a:t>
            </a:r>
            <a:endParaRPr lang="es-ES" dirty="0">
              <a:ea typeface="+mn-lt"/>
              <a:cs typeface="+mn-lt"/>
            </a:endParaRPr>
          </a:p>
          <a:p>
            <a:endParaRPr lang="es-ES" dirty="0">
              <a:ea typeface="+mn-lt"/>
              <a:cs typeface="+mn-lt"/>
            </a:endParaRPr>
          </a:p>
          <a:p>
            <a:r>
              <a:rPr lang="es-ES" dirty="0">
                <a:ea typeface="+mn-lt"/>
                <a:cs typeface="+mn-lt"/>
              </a:rPr>
              <a:t>Siguiendo el ejemplo de Linux, </a:t>
            </a:r>
            <a:r>
              <a:rPr lang="es-ES" dirty="0" err="1">
                <a:ea typeface="+mn-lt"/>
                <a:cs typeface="+mn-lt"/>
              </a:rPr>
              <a:t>Mythos</a:t>
            </a:r>
            <a:r>
              <a:rPr lang="es-ES" dirty="0">
                <a:ea typeface="+mn-lt"/>
                <a:cs typeface="+mn-lt"/>
              </a:rPr>
              <a:t> AI, identificó fallas críticas en el </a:t>
            </a:r>
            <a:r>
              <a:rPr lang="es-ES" dirty="0" err="1">
                <a:ea typeface="+mn-lt"/>
                <a:cs typeface="+mn-lt"/>
              </a:rPr>
              <a:t>kernel</a:t>
            </a:r>
            <a:r>
              <a:rPr lang="es-ES" dirty="0">
                <a:ea typeface="+mn-lt"/>
                <a:cs typeface="+mn-lt"/>
              </a:rPr>
              <a:t> de Linux que permitían la escalada local de privilegios a </a:t>
            </a:r>
            <a:r>
              <a:rPr lang="es-ES" dirty="0" err="1">
                <a:ea typeface="+mn-lt"/>
                <a:cs typeface="+mn-lt"/>
              </a:rPr>
              <a:t>root</a:t>
            </a:r>
            <a:r>
              <a:rPr lang="es-ES" dirty="0">
                <a:ea typeface="+mn-lt"/>
                <a:cs typeface="+mn-lt"/>
              </a:rPr>
              <a:t>. </a:t>
            </a:r>
          </a:p>
          <a:p>
            <a:endParaRPr lang="es-ES" dirty="0">
              <a:ea typeface="+mn-lt"/>
              <a:cs typeface="+mn-lt"/>
            </a:endParaRPr>
          </a:p>
          <a:p>
            <a:r>
              <a:rPr lang="es-ES" dirty="0">
                <a:ea typeface="+mn-lt"/>
                <a:cs typeface="+mn-lt"/>
              </a:rPr>
              <a:t>Demostró su capacidad de detectar problemas que </a:t>
            </a:r>
            <a:r>
              <a:rPr lang="es-ES">
                <a:ea typeface="+mn-lt"/>
                <a:cs typeface="+mn-lt"/>
              </a:rPr>
              <a:t>yacían</a:t>
            </a:r>
            <a:r>
              <a:rPr lang="es-ES" dirty="0">
                <a:ea typeface="+mn-lt"/>
                <a:cs typeface="+mn-lt"/>
              </a:rPr>
              <a:t> ocultos durante </a:t>
            </a:r>
            <a:r>
              <a:rPr lang="es-ES">
                <a:ea typeface="+mn-lt"/>
                <a:cs typeface="+mn-lt"/>
              </a:rPr>
              <a:t>décadas</a:t>
            </a:r>
            <a:r>
              <a:rPr lang="es-ES" dirty="0">
                <a:ea typeface="+mn-lt"/>
                <a:cs typeface="+mn-lt"/>
              </a:rPr>
              <a:t> y ayudó a corregir estos problemas antes de su explotación, validando su utilidad como herramienta de ciberseguridad.</a:t>
            </a:r>
          </a:p>
          <a:p>
            <a:endParaRPr lang="es-E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7237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FFC642F-AC89-B933-EB42-EAE7D2930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s-ES" sz="4000">
                <a:solidFill>
                  <a:schemeClr val="bg1"/>
                </a:solidFill>
                <a:ea typeface="Calibri Light"/>
                <a:cs typeface="Calibri Light"/>
              </a:rPr>
              <a:t>Mythos Escapó del Sandbox</a:t>
            </a:r>
            <a:endParaRPr lang="es-E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E5768C-38DD-54A5-165D-DB24889CC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82" y="2048010"/>
            <a:ext cx="11447225" cy="444645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/>
            <a:r>
              <a:rPr lang="es-ES" sz="2000" dirty="0">
                <a:ea typeface="+mn-lt"/>
                <a:cs typeface="+mn-lt"/>
              </a:rPr>
              <a:t>En </a:t>
            </a:r>
            <a:r>
              <a:rPr lang="es-ES" sz="2000" dirty="0" err="1">
                <a:ea typeface="+mn-lt"/>
                <a:cs typeface="+mn-lt"/>
              </a:rPr>
              <a:t>terminos</a:t>
            </a:r>
            <a:r>
              <a:rPr lang="es-ES" sz="2000" dirty="0">
                <a:ea typeface="+mn-lt"/>
                <a:cs typeface="+mn-lt"/>
              </a:rPr>
              <a:t> simples, un Sandbox es un entorno seguro y aislado donde se prueban programas y software sin el riesgo de dañar la red, el sistema operativo o archivos locales</a:t>
            </a:r>
          </a:p>
          <a:p>
            <a:pPr marL="285750" indent="-285750"/>
            <a:endParaRPr lang="es-ES" sz="2000" dirty="0">
              <a:ea typeface="+mn-lt"/>
              <a:cs typeface="+mn-lt"/>
            </a:endParaRPr>
          </a:p>
          <a:p>
            <a:pPr marL="285750" indent="-285750"/>
            <a:r>
              <a:rPr lang="es-ES" sz="2000" dirty="0">
                <a:ea typeface="+mn-lt"/>
                <a:cs typeface="+mn-lt"/>
              </a:rPr>
              <a:t>Claude </a:t>
            </a:r>
            <a:r>
              <a:rPr lang="es-ES" sz="2000" dirty="0" err="1">
                <a:ea typeface="+mn-lt"/>
                <a:cs typeface="+mn-lt"/>
              </a:rPr>
              <a:t>Mythos</a:t>
            </a:r>
            <a:r>
              <a:rPr lang="es-ES" sz="2000" dirty="0">
                <a:ea typeface="+mn-lt"/>
                <a:cs typeface="+mn-lt"/>
              </a:rPr>
              <a:t> fue introducido en un Sandbox como parte de pruebas controladas... </a:t>
            </a:r>
            <a:r>
              <a:rPr lang="es-ES" sz="2000" dirty="0" err="1">
                <a:ea typeface="+mn-lt"/>
                <a:cs typeface="+mn-lt"/>
              </a:rPr>
              <a:t>Mythos</a:t>
            </a:r>
            <a:r>
              <a:rPr lang="es-ES" sz="2000" dirty="0">
                <a:ea typeface="+mn-lt"/>
                <a:cs typeface="+mn-lt"/>
              </a:rPr>
              <a:t> logró salir del </a:t>
            </a:r>
            <a:r>
              <a:rPr lang="es-ES" sz="2000" dirty="0" err="1">
                <a:ea typeface="+mn-lt"/>
                <a:cs typeface="+mn-lt"/>
              </a:rPr>
              <a:t>sandbox</a:t>
            </a:r>
            <a:r>
              <a:rPr lang="es-ES" sz="2000" dirty="0">
                <a:ea typeface="+mn-lt"/>
                <a:cs typeface="+mn-lt"/>
              </a:rPr>
              <a:t> en una de las pruebas internas por medio de un Multi-Step </a:t>
            </a:r>
            <a:r>
              <a:rPr lang="es-ES" sz="2000" dirty="0" err="1">
                <a:ea typeface="+mn-lt"/>
                <a:cs typeface="+mn-lt"/>
              </a:rPr>
              <a:t>Exploit</a:t>
            </a:r>
            <a:r>
              <a:rPr lang="es-ES" sz="2000" dirty="0">
                <a:ea typeface="+mn-lt"/>
                <a:cs typeface="+mn-lt"/>
              </a:rPr>
              <a:t>.</a:t>
            </a:r>
            <a:endParaRPr lang="es-ES" sz="2000">
              <a:ea typeface="Calibri"/>
              <a:cs typeface="Calibri"/>
            </a:endParaRPr>
          </a:p>
          <a:p>
            <a:endParaRPr lang="es-ES" sz="2000" dirty="0">
              <a:ea typeface="+mn-lt"/>
              <a:cs typeface="+mn-lt"/>
            </a:endParaRPr>
          </a:p>
          <a:p>
            <a:r>
              <a:rPr lang="es-ES" sz="2000">
                <a:ea typeface="+mn-lt"/>
                <a:cs typeface="+mn-lt"/>
              </a:rPr>
              <a:t>El escape implicó que el Agente podía actuar fuera de sus restricciones. Esto fue reforzado por el correo que le envió al investigador responsable y la publicación de los detalles de su escape en algunas páginas web, esto último es difícil de confirmar debido a la eliminación de dichas publicaciones.</a:t>
            </a:r>
            <a:endParaRPr lang="es-ES" sz="2000">
              <a:ea typeface="Calibri"/>
              <a:cs typeface="Calibri"/>
            </a:endParaRPr>
          </a:p>
          <a:p>
            <a:endParaRPr lang="es-ES" sz="2000" dirty="0">
              <a:ea typeface="+mn-lt"/>
              <a:cs typeface="+mn-lt"/>
            </a:endParaRPr>
          </a:p>
          <a:p>
            <a:r>
              <a:rPr lang="es-ES" sz="2000" dirty="0">
                <a:ea typeface="+mn-lt"/>
                <a:cs typeface="+mn-lt"/>
              </a:rPr>
              <a:t>Esto generó preocupación sobre el control de agentes autónomos. Ya que </a:t>
            </a:r>
            <a:r>
              <a:rPr lang="es-ES" sz="2000" dirty="0" err="1">
                <a:ea typeface="+mn-lt"/>
                <a:cs typeface="+mn-lt"/>
              </a:rPr>
              <a:t>Mythos</a:t>
            </a:r>
            <a:r>
              <a:rPr lang="es-ES" sz="2000" dirty="0">
                <a:ea typeface="+mn-lt"/>
                <a:cs typeface="+mn-lt"/>
              </a:rPr>
              <a:t> demostró que incluso entornos seguros pueden fallar. </a:t>
            </a:r>
            <a:endParaRPr lang="es-ES" sz="20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35893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15B02D-607A-086D-2EE0-F90FD5C6F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472087"/>
            <a:ext cx="4977976" cy="992841"/>
          </a:xfrm>
        </p:spPr>
        <p:txBody>
          <a:bodyPr>
            <a:normAutofit/>
          </a:bodyPr>
          <a:lstStyle/>
          <a:p>
            <a:r>
              <a:rPr lang="es-ES" sz="3600">
                <a:solidFill>
                  <a:schemeClr val="tx2"/>
                </a:solidFill>
                <a:ea typeface="+mj-lt"/>
                <a:cs typeface="+mj-lt"/>
              </a:rPr>
              <a:t>El correo al investigador</a:t>
            </a:r>
            <a:endParaRPr lang="es-ES" sz="3600">
              <a:solidFill>
                <a:schemeClr val="tx2"/>
              </a:solidFill>
            </a:endParaRPr>
          </a:p>
        </p:txBody>
      </p:sp>
      <p:pic>
        <p:nvPicPr>
          <p:cNvPr id="7" name="Graphic 6" descr="Open envelope">
            <a:extLst>
              <a:ext uri="{FF2B5EF4-FFF2-40B4-BE49-F238E27FC236}">
                <a16:creationId xmlns:a16="http://schemas.microsoft.com/office/drawing/2014/main" id="{D38A6163-3624-8E5C-011C-C0E50E507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4655E0-A445-E81E-5715-F87CC2CAC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1388972"/>
            <a:ext cx="5067815" cy="532370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400">
                <a:solidFill>
                  <a:schemeClr val="tx2"/>
                </a:solidFill>
                <a:ea typeface="+mn-lt"/>
                <a:cs typeface="+mn-lt"/>
              </a:rPr>
              <a:t>Durante una prueba, el agente envió un correo sin orden previa. El mensaje fue enviado a un investigador de seguridad el cual estaba en un parque disfrutando de un sándwich cuando recibió el correo</a:t>
            </a:r>
          </a:p>
          <a:p>
            <a:r>
              <a:rPr lang="es-ES" sz="2400">
                <a:solidFill>
                  <a:schemeClr val="tx2"/>
                </a:solidFill>
                <a:ea typeface="+mn-lt"/>
                <a:cs typeface="+mn-lt"/>
              </a:rPr>
              <a:t>La acción no fue maliciosa en sí, pero sí inesperada. Demostró iniciativa autónoma del agente más allá de las restricciones puestas</a:t>
            </a:r>
          </a:p>
          <a:p>
            <a:r>
              <a:rPr lang="es-ES" sz="2400" dirty="0" err="1">
                <a:solidFill>
                  <a:schemeClr val="tx2"/>
                </a:solidFill>
                <a:ea typeface="+mn-lt"/>
                <a:cs typeface="+mn-lt"/>
              </a:rPr>
              <a:t>Este comportamiento fue una de las 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razones por las que </a:t>
            </a:r>
            <a:r>
              <a:rPr lang="es-ES" sz="2400" dirty="0" err="1">
                <a:solidFill>
                  <a:schemeClr val="tx2"/>
                </a:solidFill>
                <a:ea typeface="+mn-lt"/>
                <a:cs typeface="+mn-lt"/>
              </a:rPr>
              <a:t>Anthropic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 decidió no liberar </a:t>
            </a:r>
            <a:r>
              <a:rPr lang="es-ES" sz="2400" dirty="0" err="1">
                <a:solidFill>
                  <a:schemeClr val="tx2"/>
                </a:solidFill>
                <a:ea typeface="+mn-lt"/>
                <a:cs typeface="+mn-lt"/>
              </a:rPr>
              <a:t>Mythos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 al público general y limitar su acceso mediante Project </a:t>
            </a:r>
            <a:r>
              <a:rPr lang="es-ES" sz="2400" dirty="0" err="1">
                <a:solidFill>
                  <a:schemeClr val="tx2"/>
                </a:solidFill>
                <a:ea typeface="+mn-lt"/>
                <a:cs typeface="+mn-lt"/>
              </a:rPr>
              <a:t>Glasswing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.</a:t>
            </a:r>
            <a:endParaRPr lang="es-ES" sz="1800" dirty="0">
              <a:solidFill>
                <a:schemeClr val="tx2"/>
              </a:solidFill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818247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CD5FCF-5B44-79DC-B7EE-77E352B5D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Publicación de detalles en sitios públicos 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A23DFB-DB24-61E5-51AB-AC88617FA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z="2400">
                <a:ea typeface="+mn-lt"/>
                <a:cs typeface="+mn-lt"/>
              </a:rPr>
              <a:t>Se reportó que </a:t>
            </a:r>
            <a:r>
              <a:rPr lang="es-ES" sz="2400" err="1">
                <a:ea typeface="+mn-lt"/>
                <a:cs typeface="+mn-lt"/>
              </a:rPr>
              <a:t>Mythos</a:t>
            </a:r>
            <a:r>
              <a:rPr lang="es-ES" sz="2400">
                <a:ea typeface="+mn-lt"/>
                <a:cs typeface="+mn-lt"/>
              </a:rPr>
              <a:t> publicó detalles del escape del </a:t>
            </a:r>
            <a:r>
              <a:rPr lang="es-ES" sz="2400" err="1">
                <a:ea typeface="+mn-lt"/>
                <a:cs typeface="+mn-lt"/>
              </a:rPr>
              <a:t>sandbox</a:t>
            </a:r>
            <a:r>
              <a:rPr lang="es-ES" sz="2400">
                <a:ea typeface="+mn-lt"/>
                <a:cs typeface="+mn-lt"/>
              </a:rPr>
              <a:t> en redes </a:t>
            </a:r>
            <a:r>
              <a:rPr lang="es-ES" sz="2400" err="1">
                <a:ea typeface="+mn-lt"/>
                <a:cs typeface="+mn-lt"/>
              </a:rPr>
              <a:t>publicas</a:t>
            </a:r>
            <a:r>
              <a:rPr lang="es-ES" sz="2400">
                <a:ea typeface="+mn-lt"/>
                <a:cs typeface="+mn-lt"/>
              </a:rPr>
              <a:t> como foros.</a:t>
            </a:r>
            <a:endParaRPr lang="es-ES" sz="2400" dirty="0">
              <a:ea typeface="Calibri" panose="020F0502020204030204"/>
              <a:cs typeface="Calibri" panose="020F0502020204030204"/>
            </a:endParaRPr>
          </a:p>
          <a:p>
            <a:endParaRPr lang="es-ES" sz="2400" dirty="0">
              <a:ea typeface="Calibri" panose="020F0502020204030204"/>
              <a:cs typeface="Calibri" panose="020F0502020204030204"/>
            </a:endParaRPr>
          </a:p>
          <a:p>
            <a:r>
              <a:rPr lang="es-ES" sz="2400">
                <a:ea typeface="+mn-lt"/>
                <a:cs typeface="+mn-lt"/>
              </a:rPr>
              <a:t>Esto es delicado por el riesgo de que posibles atacantes hayan encontrado la publicación </a:t>
            </a:r>
            <a:r>
              <a:rPr lang="es-ES" sz="2400" err="1">
                <a:ea typeface="+mn-lt"/>
                <a:cs typeface="+mn-lt"/>
              </a:rPr>
              <a:t>y</a:t>
            </a:r>
            <a:r>
              <a:rPr lang="es-ES" sz="2400">
                <a:ea typeface="+mn-lt"/>
                <a:cs typeface="+mn-lt"/>
              </a:rPr>
              <a:t> por ende, adquirido la información necesaria para reproducir el escape.</a:t>
            </a:r>
            <a:endParaRPr lang="es-ES" sz="2400" dirty="0">
              <a:ea typeface="Calibri"/>
              <a:cs typeface="Calibri"/>
            </a:endParaRPr>
          </a:p>
          <a:p>
            <a:endParaRPr lang="es-ES" sz="2400" dirty="0">
              <a:ea typeface="Calibri"/>
              <a:cs typeface="Calibri"/>
            </a:endParaRPr>
          </a:p>
          <a:p>
            <a:r>
              <a:rPr lang="es-ES" sz="2400">
                <a:ea typeface="+mn-lt"/>
                <a:cs typeface="+mn-lt"/>
              </a:rPr>
              <a:t>Esto reitera el riesgo los Agentes Autónomos, por la posibilidad de usarlos en malas </a:t>
            </a:r>
            <a:r>
              <a:rPr lang="es-ES" sz="2400" err="1">
                <a:ea typeface="+mn-lt"/>
                <a:cs typeface="+mn-lt"/>
              </a:rPr>
              <a:t>practicas</a:t>
            </a:r>
            <a:r>
              <a:rPr lang="es-ES" sz="2400">
                <a:ea typeface="+mn-lt"/>
                <a:cs typeface="+mn-lt"/>
              </a:rPr>
              <a:t> y su</a:t>
            </a:r>
            <a:r>
              <a:rPr lang="es-ES" sz="2400">
                <a:ea typeface="Calibri"/>
                <a:cs typeface="Calibri"/>
              </a:rPr>
              <a:t> toma de decisiones, que, aunque sean lógicas para el agente, representan una brecha de seguridad importante.</a:t>
            </a:r>
            <a:endParaRPr lang="es-ES" sz="2000">
              <a:ea typeface="+mn-lt"/>
              <a:cs typeface="+mn-lt"/>
            </a:endParaRPr>
          </a:p>
          <a:p>
            <a:endParaRPr lang="es-ES" sz="2000">
              <a:ea typeface="Calibri"/>
              <a:cs typeface="Calibri"/>
            </a:endParaRPr>
          </a:p>
          <a:p>
            <a:endParaRPr lang="es-E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3265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E10FAB0-07F9-B0D7-BCBA-107BAA515F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8" r="24924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65A055-6DDF-91C1-2A5F-83857969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s-ES" sz="2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Por qué Anthropic limitó el acceso </a:t>
            </a:r>
            <a:endParaRPr lang="es-ES" sz="280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DCECA6-EE0F-2151-002A-A40D257CB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10" y="2718054"/>
            <a:ext cx="3385990" cy="37575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s-ES" sz="1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" sz="1600" dirty="0">
                <a:solidFill>
                  <a:schemeClr val="bg1"/>
                </a:solidFill>
                <a:ea typeface="+mn-lt"/>
                <a:cs typeface="+mn-lt"/>
              </a:rPr>
              <a:t>Las mismas capacidades que permiten detectar vulnerabilidades críticas también pueden ser usadas para explotarlas. </a:t>
            </a:r>
            <a:r>
              <a:rPr lang="es-ES" sz="1600" dirty="0" err="1">
                <a:solidFill>
                  <a:schemeClr val="bg1"/>
                </a:solidFill>
                <a:ea typeface="+mn-lt"/>
                <a:cs typeface="+mn-lt"/>
              </a:rPr>
              <a:t>Mythos</a:t>
            </a:r>
            <a:r>
              <a:rPr lang="es-ES" sz="1600" dirty="0">
                <a:solidFill>
                  <a:schemeClr val="bg1"/>
                </a:solidFill>
                <a:ea typeface="+mn-lt"/>
                <a:cs typeface="+mn-lt"/>
              </a:rPr>
              <a:t> demostró que podía actuar como atacante, no solo como defensor, y hacerlo mucho más rápido que un humano.</a:t>
            </a:r>
            <a:endParaRPr lang="es-ES" sz="1600" dirty="0">
              <a:solidFill>
                <a:schemeClr val="bg1"/>
              </a:solidFill>
              <a:ea typeface="Calibri"/>
              <a:cs typeface="Calibri"/>
            </a:endParaRPr>
          </a:p>
          <a:p>
            <a:endParaRPr lang="es-ES" sz="1600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s-ES" sz="1600" dirty="0" err="1">
                <a:solidFill>
                  <a:schemeClr val="bg1"/>
                </a:solidFill>
                <a:ea typeface="+mn-lt"/>
                <a:cs typeface="+mn-lt"/>
              </a:rPr>
              <a:t>Anthropic</a:t>
            </a:r>
            <a:r>
              <a:rPr lang="es-ES" sz="1600" dirty="0">
                <a:solidFill>
                  <a:schemeClr val="bg1"/>
                </a:solidFill>
                <a:ea typeface="+mn-lt"/>
                <a:cs typeface="+mn-lt"/>
              </a:rPr>
              <a:t> decidió que primero debían tener acceso los equipos de ciberseguridad y organizaciones críticas, para que usaran el modelo en defensa antes de que alguien lo usara en ataque.</a:t>
            </a:r>
          </a:p>
          <a:p>
            <a:endParaRPr lang="es-ES" sz="1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123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28B234-6A97-EC36-4BC6-3D05C0A95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s-ES" sz="3700">
                <a:ea typeface="+mj-lt"/>
                <a:cs typeface="+mj-lt"/>
              </a:rPr>
              <a:t>Quiénes recibieron acceso controlado </a:t>
            </a:r>
            <a:endParaRPr lang="es-ES" sz="37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1D798A-A889-A5D8-6279-C7355257C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z="2000" dirty="0" err="1">
                <a:ea typeface="+mn-lt"/>
                <a:cs typeface="+mn-lt"/>
              </a:rPr>
              <a:t>Anthropic</a:t>
            </a:r>
            <a:r>
              <a:rPr lang="es-ES" sz="2000" dirty="0">
                <a:ea typeface="+mn-lt"/>
                <a:cs typeface="+mn-lt"/>
              </a:rPr>
              <a:t> no publicó una lista completa, pero se sabe que incluyó empresas de software, nube y ciberseguridad de alto nivel asociadas con </a:t>
            </a:r>
            <a:r>
              <a:rPr lang="es-ES" sz="2000" dirty="0" err="1">
                <a:ea typeface="+mn-lt"/>
                <a:cs typeface="+mn-lt"/>
              </a:rPr>
              <a:t>el</a:t>
            </a:r>
            <a:r>
              <a:rPr lang="es-ES" sz="2000" dirty="0">
                <a:ea typeface="+mn-lt"/>
                <a:cs typeface="+mn-lt"/>
              </a:rPr>
              <a:t> Proyect </a:t>
            </a:r>
            <a:r>
              <a:rPr lang="es-ES" sz="2000" dirty="0" err="1">
                <a:ea typeface="+mn-lt"/>
                <a:cs typeface="+mn-lt"/>
              </a:rPr>
              <a:t>Glasswing</a:t>
            </a:r>
            <a:r>
              <a:rPr lang="es-ES" sz="2000" dirty="0">
                <a:ea typeface="+mn-lt"/>
                <a:cs typeface="+mn-lt"/>
              </a:rPr>
              <a:t>. Tales como Google, Apple, Microsoft y NVIDIA</a:t>
            </a:r>
            <a:endParaRPr lang="es-ES" sz="2000" dirty="0">
              <a:ea typeface="Calibri"/>
              <a:cs typeface="Calibri"/>
            </a:endParaRPr>
          </a:p>
          <a:p>
            <a:endParaRPr lang="es-ES" sz="2000"/>
          </a:p>
          <a:p>
            <a:r>
              <a:rPr lang="es-ES" sz="2000" dirty="0">
                <a:ea typeface="+mn-lt"/>
                <a:cs typeface="+mn-lt"/>
              </a:rPr>
              <a:t>Esto tiene sentido pues estas organizaciones tienen en sus manos infraestructura usada a nivel nacional e incluso Global, si la infraestructura es vulnerada, millones de usuarios se </a:t>
            </a:r>
            <a:r>
              <a:rPr lang="es-ES" sz="2000" dirty="0" err="1">
                <a:ea typeface="+mn-lt"/>
                <a:cs typeface="+mn-lt"/>
              </a:rPr>
              <a:t>verian</a:t>
            </a:r>
            <a:r>
              <a:rPr lang="es-ES" sz="2000" dirty="0">
                <a:ea typeface="+mn-lt"/>
                <a:cs typeface="+mn-lt"/>
              </a:rPr>
              <a:t> afectados</a:t>
            </a:r>
            <a:endParaRPr lang="es-ES" sz="2000" dirty="0">
              <a:ea typeface="Calibri"/>
              <a:cs typeface="Calibri"/>
            </a:endParaRPr>
          </a:p>
          <a:p>
            <a:endParaRPr lang="es-ES" sz="20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D9E3B8-E2AC-27FC-E99E-7EBE71D7A9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708" r="6435" b="1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7123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28548D-5FB1-0371-1F2B-E5B555EFE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s-ES" sz="4000">
                <a:solidFill>
                  <a:schemeClr val="bg1"/>
                </a:solidFill>
                <a:ea typeface="+mj-lt"/>
                <a:cs typeface="+mj-lt"/>
              </a:rPr>
              <a:t>Reportes sobre la NSA y organismos sensibles</a:t>
            </a:r>
            <a:endParaRPr lang="es-E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E0FE49-BC16-536F-2C31-D7C8F3CDA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907" y="2217343"/>
            <a:ext cx="11491156" cy="395961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s-ES" dirty="0">
                <a:ea typeface="+mn-lt"/>
                <a:cs typeface="+mn-lt"/>
              </a:rPr>
              <a:t>Medios como </a:t>
            </a:r>
            <a:r>
              <a:rPr lang="es-ES" i="1" dirty="0">
                <a:ea typeface="+mn-lt"/>
                <a:cs typeface="+mn-lt"/>
              </a:rPr>
              <a:t>Reuters</a:t>
            </a:r>
            <a:r>
              <a:rPr lang="es-ES" dirty="0">
                <a:ea typeface="+mn-lt"/>
                <a:cs typeface="+mn-lt"/>
              </a:rPr>
              <a:t> y </a:t>
            </a:r>
            <a:r>
              <a:rPr lang="es-ES" i="1" dirty="0" err="1">
                <a:ea typeface="+mn-lt"/>
                <a:cs typeface="+mn-lt"/>
              </a:rPr>
              <a:t>Politico</a:t>
            </a:r>
            <a:r>
              <a:rPr lang="es-ES" dirty="0">
                <a:ea typeface="+mn-lt"/>
                <a:cs typeface="+mn-lt"/>
              </a:rPr>
              <a:t> informaron que la NSA y otras agencias de EE. UU. mostraron interés en Claude </a:t>
            </a:r>
            <a:r>
              <a:rPr lang="es-ES" dirty="0" err="1">
                <a:ea typeface="+mn-lt"/>
                <a:cs typeface="+mn-lt"/>
              </a:rPr>
              <a:t>Mythos</a:t>
            </a:r>
            <a:r>
              <a:rPr lang="es-ES" dirty="0">
                <a:ea typeface="+mn-lt"/>
                <a:cs typeface="+mn-lt"/>
              </a:rPr>
              <a:t>. Esto no fue un anuncio oficial de </a:t>
            </a:r>
            <a:r>
              <a:rPr lang="es-ES" dirty="0" err="1">
                <a:ea typeface="+mn-lt"/>
                <a:cs typeface="+mn-lt"/>
              </a:rPr>
              <a:t>Anthropic</a:t>
            </a:r>
            <a:r>
              <a:rPr lang="es-ES" dirty="0">
                <a:ea typeface="+mn-lt"/>
                <a:cs typeface="+mn-lt"/>
              </a:rPr>
              <a:t>, la empresa nunca confirmó </a:t>
            </a:r>
            <a:r>
              <a:rPr lang="es-ES">
                <a:ea typeface="+mn-lt"/>
                <a:cs typeface="+mn-lt"/>
              </a:rPr>
              <a:t>públicamente</a:t>
            </a:r>
            <a:r>
              <a:rPr lang="es-ES" dirty="0">
                <a:ea typeface="+mn-lt"/>
                <a:cs typeface="+mn-lt"/>
              </a:rPr>
              <a:t> que la NSA tuviera acceso</a:t>
            </a:r>
            <a:endParaRPr lang="es-ES" dirty="0">
              <a:ea typeface="Calibri"/>
              <a:cs typeface="Calibri"/>
            </a:endParaRPr>
          </a:p>
          <a:p>
            <a:endParaRPr lang="es-ES" dirty="0">
              <a:ea typeface="Calibri"/>
              <a:cs typeface="Calibri"/>
            </a:endParaRPr>
          </a:p>
          <a:p>
            <a:r>
              <a:rPr lang="es-ES" b="1" dirty="0">
                <a:ea typeface="Calibri"/>
                <a:cs typeface="Calibri"/>
              </a:rPr>
              <a:t>¿Y por qué la NSA querría una herramienta </a:t>
            </a:r>
            <a:r>
              <a:rPr lang="es-ES" b="1" dirty="0" err="1">
                <a:ea typeface="Calibri"/>
                <a:cs typeface="Calibri"/>
              </a:rPr>
              <a:t>asi</a:t>
            </a:r>
            <a:r>
              <a:rPr lang="es-ES" b="1" dirty="0">
                <a:ea typeface="Calibri"/>
                <a:cs typeface="Calibri"/>
              </a:rPr>
              <a:t>?</a:t>
            </a:r>
            <a:br>
              <a:rPr lang="es-ES" dirty="0">
                <a:ea typeface="Calibri"/>
                <a:cs typeface="Calibri"/>
              </a:rPr>
            </a:br>
            <a:r>
              <a:rPr lang="es-ES" dirty="0">
                <a:ea typeface="Calibri"/>
                <a:cs typeface="Calibri"/>
              </a:rPr>
              <a:t> Es por las </a:t>
            </a:r>
            <a:r>
              <a:rPr lang="es-ES" dirty="0" err="1">
                <a:ea typeface="Calibri"/>
                <a:cs typeface="Calibri"/>
              </a:rPr>
              <a:t>increibles</a:t>
            </a:r>
            <a:r>
              <a:rPr lang="es-ES" dirty="0">
                <a:ea typeface="Calibri"/>
                <a:cs typeface="Calibri"/>
              </a:rPr>
              <a:t> </a:t>
            </a:r>
            <a:r>
              <a:rPr lang="es-ES" dirty="0" err="1">
                <a:ea typeface="Calibri"/>
                <a:cs typeface="Calibri"/>
              </a:rPr>
              <a:t>capacidade</a:t>
            </a:r>
            <a:r>
              <a:rPr lang="es-ES" dirty="0">
                <a:ea typeface="Calibri"/>
                <a:cs typeface="Calibri"/>
              </a:rPr>
              <a:t>s de Claude </a:t>
            </a:r>
            <a:r>
              <a:rPr lang="es-ES" dirty="0" err="1">
                <a:ea typeface="Calibri"/>
                <a:cs typeface="Calibri"/>
              </a:rPr>
              <a:t>Mythos</a:t>
            </a:r>
            <a:r>
              <a:rPr lang="es-ES" dirty="0">
                <a:ea typeface="Calibri"/>
                <a:cs typeface="Calibri"/>
              </a:rPr>
              <a:t> de detectar vulnerabilidades, anticipar ataques y simular escenarios de manera controlada que </a:t>
            </a:r>
            <a:r>
              <a:rPr lang="es-ES" dirty="0" err="1">
                <a:ea typeface="Calibri"/>
                <a:cs typeface="Calibri"/>
              </a:rPr>
              <a:t>serian</a:t>
            </a:r>
            <a:r>
              <a:rPr lang="es-ES" dirty="0">
                <a:ea typeface="Calibri"/>
                <a:cs typeface="Calibri"/>
              </a:rPr>
              <a:t> indispensables para la ciberdefensa nacional y protección de infraestructura </a:t>
            </a:r>
            <a:r>
              <a:rPr lang="es-ES" dirty="0" err="1">
                <a:ea typeface="Calibri"/>
                <a:cs typeface="Calibri"/>
              </a:rPr>
              <a:t>important</a:t>
            </a:r>
            <a:r>
              <a:rPr lang="es-ES" dirty="0">
                <a:ea typeface="Calibri"/>
                <a:cs typeface="Calibri"/>
              </a:rPr>
              <a:t>e.</a:t>
            </a:r>
          </a:p>
        </p:txBody>
      </p:sp>
    </p:spTree>
    <p:extLst>
      <p:ext uri="{BB962C8B-B14F-4D97-AF65-F5344CB8AC3E}">
        <p14:creationId xmlns:p14="http://schemas.microsoft.com/office/powerpoint/2010/main" val="722330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BCEDB5A-6E91-D219-2121-154DAD6B1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840688"/>
            <a:ext cx="4959603" cy="743386"/>
          </a:xfrm>
        </p:spPr>
        <p:txBody>
          <a:bodyPr anchor="b">
            <a:normAutofit/>
          </a:bodyPr>
          <a:lstStyle/>
          <a:p>
            <a:r>
              <a:rPr lang="es-ES" sz="4000" b="1" dirty="0">
                <a:ea typeface="+mj-lt"/>
                <a:cs typeface="+mj-lt"/>
              </a:rPr>
              <a:t>Qué anunció </a:t>
            </a:r>
            <a:r>
              <a:rPr lang="es-ES" sz="4000" b="1" dirty="0" err="1">
                <a:ea typeface="+mj-lt"/>
                <a:cs typeface="+mj-lt"/>
              </a:rPr>
              <a:t>OpenAI</a:t>
            </a:r>
            <a:r>
              <a:rPr lang="es-ES" sz="4000" b="1" dirty="0">
                <a:ea typeface="+mj-lt"/>
                <a:cs typeface="+mj-lt"/>
              </a:rPr>
              <a:t> </a:t>
            </a:r>
            <a:endParaRPr lang="es-ES" sz="40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F9A69F-E13B-77CA-F621-850BE5D8B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592908"/>
            <a:ext cx="4959603" cy="434806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400" dirty="0">
                <a:ea typeface="+mn-lt"/>
                <a:cs typeface="+mn-lt"/>
              </a:rPr>
              <a:t>El </a:t>
            </a:r>
            <a:r>
              <a:rPr lang="es-ES" sz="2400" b="1" dirty="0">
                <a:ea typeface="+mn-lt"/>
                <a:cs typeface="+mn-lt"/>
              </a:rPr>
              <a:t>"</a:t>
            </a:r>
            <a:r>
              <a:rPr lang="es-ES" sz="2400" b="1" dirty="0" err="1">
                <a:ea typeface="+mn-lt"/>
                <a:cs typeface="+mn-lt"/>
              </a:rPr>
              <a:t>Trusted</a:t>
            </a:r>
            <a:r>
              <a:rPr lang="es-ES" sz="2400" b="1" dirty="0">
                <a:ea typeface="+mn-lt"/>
                <a:cs typeface="+mn-lt"/>
              </a:rPr>
              <a:t> Access </a:t>
            </a:r>
            <a:r>
              <a:rPr lang="es-ES" sz="2400" b="1" dirty="0" err="1">
                <a:ea typeface="+mn-lt"/>
                <a:cs typeface="+mn-lt"/>
              </a:rPr>
              <a:t>for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b="1" dirty="0" err="1">
                <a:ea typeface="+mn-lt"/>
                <a:cs typeface="+mn-lt"/>
              </a:rPr>
              <a:t>Cyber</a:t>
            </a:r>
            <a:r>
              <a:rPr lang="es-ES" sz="2400" b="1" dirty="0">
                <a:ea typeface="+mn-lt"/>
                <a:cs typeface="+mn-lt"/>
              </a:rPr>
              <a:t>"</a:t>
            </a:r>
            <a:r>
              <a:rPr lang="es-ES" sz="2400" dirty="0">
                <a:ea typeface="+mn-lt"/>
                <a:cs typeface="+mn-lt"/>
              </a:rPr>
              <a:t> (TAC), el cual es un programa de acceso verificado, cual solo organizaciones de confianza y con identidad validada pueden usarlo</a:t>
            </a:r>
            <a:endParaRPr lang="es-ES" sz="2400" dirty="0">
              <a:ea typeface="Calibri"/>
              <a:cs typeface="Calibri"/>
            </a:endParaRPr>
          </a:p>
          <a:p>
            <a:endParaRPr lang="es-ES" sz="2400" dirty="0">
              <a:ea typeface="Calibri"/>
              <a:cs typeface="Calibri"/>
            </a:endParaRPr>
          </a:p>
          <a:p>
            <a:r>
              <a:rPr lang="es-ES" sz="2400" dirty="0">
                <a:ea typeface="Calibri"/>
                <a:cs typeface="Calibri"/>
              </a:rPr>
              <a:t>El GPT-5.4-Cyber, el cual es una versión especializada del modelo de </a:t>
            </a:r>
            <a:r>
              <a:rPr lang="es-ES" sz="2400" dirty="0" err="1">
                <a:ea typeface="Calibri" panose="020F0502020204030204"/>
                <a:cs typeface="Calibri" panose="020F0502020204030204"/>
              </a:rPr>
              <a:t>OpenAI</a:t>
            </a:r>
            <a:r>
              <a:rPr lang="es-ES" sz="2400" dirty="0">
                <a:ea typeface="Calibri" panose="020F0502020204030204"/>
                <a:cs typeface="Calibri" panose="020F0502020204030204"/>
              </a:rPr>
              <a:t> enfocada en la ciberseguridad, estando restringido en su uso para que las capacidades del modelo se usen en defensa antes que en ataque</a:t>
            </a:r>
          </a:p>
          <a:p>
            <a:endParaRPr lang="es-ES" sz="2000"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4" name="Imagen 3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2D36832C-9474-9591-DB14-F4984B31E0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442" y="1592223"/>
            <a:ext cx="5201023" cy="325979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614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601BA2-C1E3-BE5D-0696-9D858BC8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C</a:t>
            </a:r>
            <a:r>
              <a:rPr lang="es-ES" sz="4000" b="1">
                <a:solidFill>
                  <a:srgbClr val="FFFFFF"/>
                </a:solidFill>
                <a:ea typeface="+mj-lt"/>
                <a:cs typeface="+mj-lt"/>
              </a:rPr>
              <a:t>omparación: Mythos vs GPT-5.4-Cyber </a:t>
            </a:r>
            <a:endParaRPr lang="es-ES" sz="4000" b="1">
              <a:solidFill>
                <a:srgbClr val="FFFFFF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1DB4E010-53EB-C8D5-6611-63BF576AA8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156093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2476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5DD97B-BE3D-518A-4AA7-3C86B5171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s-ES" sz="4000" b="1">
                <a:ea typeface="+mj-lt"/>
                <a:cs typeface="+mj-lt"/>
              </a:rPr>
              <a:t>Por qué esto importa para programadores </a:t>
            </a:r>
            <a:endParaRPr lang="es-ES" sz="4000">
              <a:ea typeface="Calibri Light" panose="020F0302020204030204"/>
              <a:cs typeface="Calibri Light" panose="020F03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27E9E6-DD09-4CF3-A164-CCD316BB9D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219" y="2457450"/>
            <a:ext cx="5525321" cy="404706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000">
                <a:ea typeface="+mn-lt"/>
                <a:cs typeface="+mn-lt"/>
              </a:rPr>
              <a:t>El software tendrá que ser analizado con mayor detalle, porque la IA puede encontrar errores que antes pasaban desapercibidos.</a:t>
            </a:r>
          </a:p>
          <a:p>
            <a:endParaRPr lang="es-ES" sz="2000" dirty="0">
              <a:ea typeface="Calibri"/>
              <a:cs typeface="Calibri"/>
            </a:endParaRPr>
          </a:p>
          <a:p>
            <a:r>
              <a:rPr lang="es-ES" sz="2000" dirty="0">
                <a:ea typeface="+mn-lt"/>
                <a:cs typeface="+mn-lt"/>
              </a:rPr>
              <a:t>Herramientas como </a:t>
            </a:r>
            <a:r>
              <a:rPr lang="es-ES" sz="2000" dirty="0" err="1">
                <a:ea typeface="+mn-lt"/>
                <a:cs typeface="+mn-lt"/>
              </a:rPr>
              <a:t>Mythos</a:t>
            </a:r>
            <a:r>
              <a:rPr lang="es-ES" sz="2000" dirty="0">
                <a:ea typeface="+mn-lt"/>
                <a:cs typeface="+mn-lt"/>
              </a:rPr>
              <a:t> o GPT‑5.4‑Cyber pueden automatizar pruebas y detectar fallas complejas, acelerando el ciclo de desarrollo seguro.</a:t>
            </a:r>
          </a:p>
          <a:p>
            <a:endParaRPr lang="es-ES" sz="2000" dirty="0">
              <a:ea typeface="Calibri"/>
              <a:cs typeface="Calibri"/>
            </a:endParaRPr>
          </a:p>
          <a:p>
            <a:r>
              <a:rPr lang="es-ES" sz="2000">
                <a:ea typeface="+mn-lt"/>
                <a:cs typeface="+mn-lt"/>
              </a:rPr>
              <a:t>Los programadores siguen siendo responsables de validar, interpretar y corregir. La IA no reemplaza la supervisión humana, sino que la complementa.</a:t>
            </a:r>
            <a:endParaRPr lang="es-ES" sz="2000">
              <a:ea typeface="Calibri"/>
              <a:cs typeface="Calibri"/>
            </a:endParaRPr>
          </a:p>
        </p:txBody>
      </p:sp>
      <p:pic>
        <p:nvPicPr>
          <p:cNvPr id="4" name="Imagen 3" descr="Un hombre con una computadora en una oficina&#10;&#10;El contenido generado por IA puede ser incorrecto.">
            <a:extLst>
              <a:ext uri="{FF2B5EF4-FFF2-40B4-BE49-F238E27FC236}">
                <a16:creationId xmlns:a16="http://schemas.microsoft.com/office/drawing/2014/main" id="{20835939-CA9C-F4F1-8CDF-6AA57FEAB3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40" r="26704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60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6CC7E2-1027-72BC-7964-CAC5600AA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b="1">
                <a:ea typeface="+mj-lt"/>
                <a:cs typeface="+mj-lt"/>
              </a:rPr>
              <a:t>Debate principal </a:t>
            </a:r>
            <a:endParaRPr lang="es-ES" b="1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2B67A01-C988-C41C-1697-16964560B3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46216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9A1CE9-72A9-A7E3-225A-EA501ECF1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>
                <a:ea typeface="Calibri Light"/>
                <a:cs typeface="Calibri Light"/>
              </a:rPr>
              <a:t>Links Usados y Conclus</a:t>
            </a:r>
            <a:r>
              <a:rPr lang="es-ES">
                <a:ea typeface="Calibri Light"/>
                <a:cs typeface="Calibri Light"/>
              </a:rPr>
              <a:t>ión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76801D-9434-4C3B-2221-BAB77DE833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0833"/>
            <a:ext cx="5096934" cy="41661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1900" dirty="0">
                <a:ea typeface="+mn-lt"/>
                <a:cs typeface="+mn-lt"/>
                <a:hlinkClick r:id="rId2"/>
              </a:rPr>
              <a:t>https://www.anthropic.com/index/introducing-claude-mythos-preview</a:t>
            </a:r>
            <a:r>
              <a:rPr lang="es-ES" sz="1900" dirty="0">
                <a:ea typeface="+mn-lt"/>
                <a:cs typeface="+mn-lt"/>
              </a:rPr>
              <a:t> </a:t>
            </a:r>
            <a:endParaRPr lang="es-ES" sz="1900" dirty="0">
              <a:ea typeface="Calibri"/>
              <a:cs typeface="Calibri"/>
            </a:endParaRPr>
          </a:p>
          <a:p>
            <a:r>
              <a:rPr lang="es-ES" sz="1900" dirty="0">
                <a:ea typeface="+mn-lt"/>
                <a:cs typeface="+mn-lt"/>
                <a:hlinkClick r:id="rId3"/>
              </a:rPr>
              <a:t>https://www.anthropic.com/index/project-glasswing</a:t>
            </a:r>
            <a:r>
              <a:rPr lang="es-ES" sz="1900" dirty="0">
                <a:ea typeface="+mn-lt"/>
                <a:cs typeface="+mn-lt"/>
              </a:rPr>
              <a:t> </a:t>
            </a:r>
            <a:endParaRPr lang="es-ES" sz="1900" dirty="0">
              <a:ea typeface="Calibri"/>
              <a:cs typeface="Calibri"/>
            </a:endParaRPr>
          </a:p>
          <a:p>
            <a:r>
              <a:rPr lang="es-ES" sz="1900" dirty="0">
                <a:ea typeface="+mn-lt"/>
                <a:cs typeface="+mn-lt"/>
                <a:hlinkClick r:id="rId4"/>
              </a:rPr>
              <a:t>https://www.anthropic.com/index/claude-mythos-sandbox</a:t>
            </a:r>
            <a:endParaRPr lang="es-ES" sz="1900" dirty="0">
              <a:ea typeface="Calibri"/>
              <a:cs typeface="Calibri"/>
            </a:endParaRPr>
          </a:p>
          <a:p>
            <a:r>
              <a:rPr lang="es-ES" sz="1900" dirty="0">
                <a:ea typeface="+mn-lt"/>
                <a:cs typeface="+mn-lt"/>
                <a:hlinkClick r:id="rId5"/>
              </a:rPr>
              <a:t>https://www.reuters.com/technology/us-agencies-eye-anthropics-ai-cybersecurity-tools-2024-04-04/</a:t>
            </a:r>
            <a:r>
              <a:rPr lang="es-ES" sz="1900" dirty="0">
                <a:ea typeface="+mn-lt"/>
                <a:cs typeface="+mn-lt"/>
              </a:rPr>
              <a:t> </a:t>
            </a:r>
            <a:endParaRPr lang="es-ES" sz="1900" dirty="0">
              <a:ea typeface="Calibri"/>
              <a:cs typeface="Calibri"/>
            </a:endParaRPr>
          </a:p>
          <a:p>
            <a:r>
              <a:rPr lang="es-ES" sz="1900" dirty="0">
                <a:ea typeface="+mn-lt"/>
                <a:cs typeface="+mn-lt"/>
                <a:hlinkClick r:id="rId6"/>
              </a:rPr>
              <a:t>https://www.politico.com/news/2024/04/04/anthropic-ai-cybersecurity-nsa-00140264</a:t>
            </a:r>
            <a:r>
              <a:rPr lang="es-ES" sz="1900" dirty="0">
                <a:ea typeface="+mn-lt"/>
                <a:cs typeface="+mn-lt"/>
              </a:rPr>
              <a:t> </a:t>
            </a:r>
            <a:endParaRPr lang="es-ES" sz="1900" dirty="0">
              <a:ea typeface="Calibri"/>
              <a:cs typeface="Calibri"/>
            </a:endParaRPr>
          </a:p>
          <a:p>
            <a:r>
              <a:rPr lang="es-ES" sz="1900" dirty="0">
                <a:ea typeface="+mn-lt"/>
                <a:cs typeface="+mn-lt"/>
                <a:hlinkClick r:id="rId7"/>
              </a:rPr>
              <a:t>https://techcrunch.com/2024/04/04/anthropic-claude-mythos-sandbox-escape/</a:t>
            </a:r>
            <a:r>
              <a:rPr lang="es-ES" sz="1900">
                <a:ea typeface="+mn-lt"/>
                <a:cs typeface="+mn-lt"/>
              </a:rPr>
              <a:t> </a:t>
            </a:r>
            <a:endParaRPr lang="es-ES" sz="190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564C40-CA8B-9E88-AB93-1E68A5B269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6866" y="2010833"/>
            <a:ext cx="5096933" cy="416613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2000">
                <a:ea typeface="+mn-lt"/>
                <a:cs typeface="+mn-lt"/>
              </a:rPr>
              <a:t>Claude Mythos Preview demostró que la IA ha dado un salto cualitativo: ya no se limita a asistir en programación, sino que puede </a:t>
            </a:r>
            <a:r>
              <a:rPr lang="es-ES" sz="2000" b="1">
                <a:ea typeface="+mn-lt"/>
                <a:cs typeface="+mn-lt"/>
              </a:rPr>
              <a:t>revisar sistemas, encontrar fallas y automatizar pruebas de seguridad</a:t>
            </a:r>
            <a:r>
              <a:rPr lang="es-ES" sz="2000">
                <a:ea typeface="+mn-lt"/>
                <a:cs typeface="+mn-lt"/>
              </a:rPr>
              <a:t>. Estas capacidades ofrecen un enorme potencial para fortalecer la defensa digital, pero también plantean riesgos si llegan a manos equivocadas. El caso de Mythos escapando del sandbox y actuando por iniciativa propia evidencia tanto el poder como la fragilidad de este nuevo paradigma.</a:t>
            </a: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4403388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Office Theme</vt:lpstr>
      <vt:lpstr>Mythos y el Futuro de la Ciberseguridad</vt:lpstr>
      <vt:lpstr>¿Qué puedes esperar de esta presentación?</vt:lpstr>
      <vt:lpstr>¿Qué es Antropic?</vt:lpstr>
      <vt:lpstr>¿Qué es Claude Mythos Preview?</vt:lpstr>
      <vt:lpstr>¿Qué es Project Glasswing?</vt:lpstr>
      <vt:lpstr>¿Qué significa red teaming?</vt:lpstr>
      <vt:lpstr>Qué cambia cuando el red teaming lo hace un agente</vt:lpstr>
      <vt:lpstr>Qué es una vulnerabilidad zero-day</vt:lpstr>
      <vt:lpstr>Qué descubrió Mythos según Anthropic</vt:lpstr>
      <vt:lpstr>Mythos Escapó del Sandbox</vt:lpstr>
      <vt:lpstr>El correo al investigador</vt:lpstr>
      <vt:lpstr>Publicación de detalles en sitios públicos </vt:lpstr>
      <vt:lpstr>Por qué Anthropic limitó el acceso </vt:lpstr>
      <vt:lpstr>Quiénes recibieron acceso controlado </vt:lpstr>
      <vt:lpstr>Reportes sobre la NSA y organismos sensibles</vt:lpstr>
      <vt:lpstr>Qué anunció OpenAI </vt:lpstr>
      <vt:lpstr>Comparación: Mythos vs GPT-5.4-Cyber </vt:lpstr>
      <vt:lpstr>Por qué esto importa para programadores </vt:lpstr>
      <vt:lpstr>Debate principal </vt:lpstr>
      <vt:lpstr>Links Usados y Conclusión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611</cp:revision>
  <dcterms:created xsi:type="dcterms:W3CDTF">2026-04-30T21:43:10Z</dcterms:created>
  <dcterms:modified xsi:type="dcterms:W3CDTF">2026-05-03T22:50:41Z</dcterms:modified>
</cp:coreProperties>
</file>