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svg"/><Relationship Id="rId4" Type="http://schemas.openxmlformats.org/officeDocument/2006/relationships/image" Target="../media/image-24-4.png"/><Relationship Id="rId5" Type="http://schemas.openxmlformats.org/officeDocument/2006/relationships/image" Target="../media/image-2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svg"/><Relationship Id="rId4" Type="http://schemas.openxmlformats.org/officeDocument/2006/relationships/image" Target="../media/image-28-4.png"/><Relationship Id="rId5" Type="http://schemas.openxmlformats.org/officeDocument/2006/relationships/image" Target="../media/image-28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svg"/><Relationship Id="rId4" Type="http://schemas.openxmlformats.org/officeDocument/2006/relationships/image" Target="../media/image-41-4.png"/><Relationship Id="rId5" Type="http://schemas.openxmlformats.org/officeDocument/2006/relationships/image" Target="../media/image-4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svg"/><Relationship Id="rId4" Type="http://schemas.openxmlformats.org/officeDocument/2006/relationships/image" Target="../media/image-56-4.png"/><Relationship Id="rId5" Type="http://schemas.openxmlformats.org/officeDocument/2006/relationships/image" Target="../media/image-56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svg"/><Relationship Id="rId4" Type="http://schemas.openxmlformats.org/officeDocument/2006/relationships/image" Target="../media/image-59-4.png"/><Relationship Id="rId5" Type="http://schemas.openxmlformats.org/officeDocument/2006/relationships/image" Target="../media/image-5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94637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1910" y="1664208"/>
            <a:ext cx="307238" cy="81930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0355" y="1894637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487168"/>
            <a:ext cx="9601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aplicada: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validar, autenticar y fallar bien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804672" y="4315968"/>
            <a:ext cx="9381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07 · Clase 21: de un CRUD funcional a un CRUD defendible.</a:t>
            </a:r>
            <a:endParaRPr lang="en-US" sz="1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la Semana 07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Evaluación, persistencia y seguridad aplicada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75104"/>
            <a:ext cx="9381744" cy="4224528"/>
          </a:xfrm>
          <a:prstGeom prst="roundRect">
            <a:avLst>
              <a:gd name="adj" fmla="val 86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0312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76272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técnica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87168"/>
            <a:ext cx="2907792" cy="3456432"/>
          </a:xfrm>
          <a:prstGeom prst="roundRect">
            <a:avLst>
              <a:gd name="adj" fmla="val 1258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151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6609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15184"/>
            <a:ext cx="73152" cy="3200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3347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Parcial 2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26080"/>
            <a:ext cx="1956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conectada a API o servicio legado.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487168"/>
            <a:ext cx="2907792" cy="3456432"/>
          </a:xfrm>
          <a:prstGeom prst="roundRect">
            <a:avLst>
              <a:gd name="adj" fmla="val 1258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6151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6609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615184"/>
            <a:ext cx="73152" cy="3200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63347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inicial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926080"/>
            <a:ext cx="1956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DDL, DML, DQL y CRUD sobre datos persistentes.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487168"/>
            <a:ext cx="2907792" cy="3456432"/>
          </a:xfrm>
          <a:prstGeom prst="roundRect">
            <a:avLst>
              <a:gd name="adj" fmla="val 1258"/>
            </a:avLst>
          </a:prstGeom>
          <a:solidFill>
            <a:srgbClr val="FBF3D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6151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6609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MIÉ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615184"/>
            <a:ext cx="73152" cy="3200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63347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aplicada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926080"/>
            <a:ext cx="1956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Validación, autenticación, errores y límites de ejecución.</a:t>
            </a:r>
            <a:endParaRPr lang="en-US" sz="10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Funcionar No Es Estar Seguro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demo exitosa puede esconder riesgos críticos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170432"/>
          </a:xfrm>
          <a:prstGeom prst="roundRect">
            <a:avLst>
              <a:gd name="adj" fmla="val 546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caso feliz demuestra que algo responde; la seguridad demuestra que resiste entradas incorrectas, permisos débiles y fallos reales.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877056"/>
            <a:ext cx="290779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986784"/>
            <a:ext cx="100584" cy="14081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40050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Acepta basura</a:t>
            </a:r>
            <a:endParaRPr lang="en-US" sz="1560" dirty="0"/>
          </a:p>
        </p:txBody>
      </p:sp>
      <p:sp>
        <p:nvSpPr>
          <p:cNvPr id="15" name="Text 12"/>
          <p:cNvSpPr/>
          <p:nvPr/>
        </p:nvSpPr>
        <p:spPr>
          <a:xfrm>
            <a:off x="1060704" y="4279392"/>
            <a:ext cx="25786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malformados pasan al backend.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68496" y="3877056"/>
            <a:ext cx="290779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986784"/>
            <a:ext cx="100584" cy="14081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24528" y="40050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Confía en cliente</a:t>
            </a:r>
            <a:endParaRPr lang="en-US" sz="1560" dirty="0"/>
          </a:p>
        </p:txBody>
      </p:sp>
      <p:sp>
        <p:nvSpPr>
          <p:cNvPr id="19" name="Text 16"/>
          <p:cNvSpPr/>
          <p:nvPr/>
        </p:nvSpPr>
        <p:spPr>
          <a:xfrm>
            <a:off x="4224528" y="4279392"/>
            <a:ext cx="25786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decide id, rol o estado.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132320" y="3877056"/>
            <a:ext cx="2907792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05472" y="3986784"/>
            <a:ext cx="100584" cy="14081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88352" y="40050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Filtra errores</a:t>
            </a:r>
            <a:endParaRPr lang="en-US" sz="1560" dirty="0"/>
          </a:p>
        </p:txBody>
      </p:sp>
      <p:sp>
        <p:nvSpPr>
          <p:cNvPr id="23" name="Text 20"/>
          <p:cNvSpPr/>
          <p:nvPr/>
        </p:nvSpPr>
        <p:spPr>
          <a:xfrm>
            <a:off x="7388352" y="4279392"/>
            <a:ext cx="25786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revela SQL o estructura.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Mapa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Superficie de Ataque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frontera puede reducir o amplificar el riesgo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58368" y="2359152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468880"/>
            <a:ext cx="100584" cy="18653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48716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914400" y="2761488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manipulable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87168" y="3401568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651760" y="2359152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24912" y="2468880"/>
            <a:ext cx="100584" cy="18653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07792" y="248716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2907792" y="2761488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y permisos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480560" y="3401568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645152" y="2359152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18304" y="2468880"/>
            <a:ext cx="100584" cy="18653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01184" y="248716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4901184" y="2761488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Parámetros y alcance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73952" y="3401568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638544" y="2359152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11696" y="2468880"/>
            <a:ext cx="100584" cy="18653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94576" y="248716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</a:t>
            </a:r>
            <a:endParaRPr lang="en-US" sz="1320" dirty="0"/>
          </a:p>
        </p:txBody>
      </p:sp>
      <p:sp>
        <p:nvSpPr>
          <p:cNvPr id="28" name="Text 25"/>
          <p:cNvSpPr/>
          <p:nvPr/>
        </p:nvSpPr>
        <p:spPr>
          <a:xfrm>
            <a:off x="6894576" y="2761488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real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467344" y="3401568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631936" y="2359152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05088" y="2468880"/>
            <a:ext cx="100584" cy="18653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87968" y="248716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8887968" y="2761488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filtrar internals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4672" y="5102352"/>
            <a:ext cx="9381744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5840" y="5266944"/>
            <a:ext cx="8979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seguridad no vive en una sola capa: se acumula frontera por frontera.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Sesión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deberíamos poder explicar y revisar al cerrar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370832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técnicas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4453128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entradas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3502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UX de controles obligatorios de backend.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414016"/>
            <a:ext cx="4453128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542032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Detectar inyección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852928"/>
            <a:ext cx="3502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cuándo el dato modifica la instrucción.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297680"/>
            <a:ext cx="4453128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2569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7141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25696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4398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identidad y permisos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36592"/>
            <a:ext cx="3502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Autenticación no equivale a autorización.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297680"/>
            <a:ext cx="4453128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2569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7141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25696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4398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Fallar sin filtrar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36592"/>
            <a:ext cx="3502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seguro y registrar lo necesario.</a:t>
            </a:r>
            <a:endParaRPr lang="en-US" sz="10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Mapa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del Deck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 diapositivas para cerrar seguridad aplicada con criterio técnico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75104"/>
            <a:ext cx="2907792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084832"/>
            <a:ext cx="100584" cy="11704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0312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060704" y="2377440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seguridad entra justo después de SQL.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3968496" y="1975104"/>
            <a:ext cx="2907792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41648" y="2084832"/>
            <a:ext cx="100584" cy="11704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24528" y="210312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4224528" y="2377440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 no confiables y validación real.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7132320" y="1975104"/>
            <a:ext cx="2907792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05472" y="2084832"/>
            <a:ext cx="100584" cy="11704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88352" y="210312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7388352" y="2377440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Inyección SQL y consultas parametrizadas.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804672" y="3877056"/>
            <a:ext cx="2907792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" y="3986784"/>
            <a:ext cx="100584" cy="11704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40050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1060704" y="4279392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Autenticación, sesiones y permisos.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3968496" y="3877056"/>
            <a:ext cx="2907792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041648" y="3986784"/>
            <a:ext cx="100584" cy="11704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24528" y="40050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4224528" y="4279392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seguros, logs y hardening.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7132320" y="3877056"/>
            <a:ext cx="2907792" cy="138988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205472" y="3986784"/>
            <a:ext cx="100584" cy="11704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88352" y="40050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</a:t>
            </a:r>
            <a:endParaRPr lang="en-US" sz="1420" dirty="0"/>
          </a:p>
        </p:txBody>
      </p:sp>
      <p:sp>
        <p:nvSpPr>
          <p:cNvPr id="33" name="Text 30"/>
          <p:cNvSpPr/>
          <p:nvPr/>
        </p:nvSpPr>
        <p:spPr>
          <a:xfrm>
            <a:off x="7388352" y="4279392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final y puente a SQL intermedio.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804672" y="5596128"/>
            <a:ext cx="9381744" cy="420624"/>
          </a:xfrm>
          <a:prstGeom prst="roundRect">
            <a:avLst>
              <a:gd name="adj" fmla="val 869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5840" y="5760720"/>
            <a:ext cx="8979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visual: ejemplos técnicos grandes, comparaciones legibles y sin actividades dentro del deck.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Desde SQL Inicial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correcta todavía puede ser peligrosa si el flujo no controla entradas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93392"/>
            <a:ext cx="5138928" cy="3328416"/>
          </a:xfrm>
          <a:prstGeom prst="roundRect">
            <a:avLst>
              <a:gd name="adj" fmla="val 109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03120"/>
            <a:ext cx="48828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76272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válida, frontera débil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60320"/>
            <a:ext cx="4718304" cy="25786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36208" y="1993392"/>
            <a:ext cx="3950208" cy="3328416"/>
          </a:xfrm>
          <a:prstGeom prst="roundRect">
            <a:avLst>
              <a:gd name="adj" fmla="val 1648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36208" y="1993392"/>
            <a:ext cx="109728" cy="33284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47104" y="22128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falta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47104" y="265176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flujo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6547104" y="3163824"/>
            <a:ext cx="332841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11696" y="326440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ejecuta?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6547104" y="3694176"/>
            <a:ext cx="332841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11696" y="379476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compra es suya?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6547104" y="4224528"/>
            <a:ext cx="332841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11696" y="432511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estado puede cambiar?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6547104" y="4754880"/>
            <a:ext cx="332841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11696" y="485546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pasa si falla?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804672" y="5596128"/>
            <a:ext cx="9381744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5840" y="5760720"/>
            <a:ext cx="8979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 miramos el recorrido completo, no solo el SQL aislado.</a:t>
            </a:r>
            <a:endParaRPr lang="en-US" sz="15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852574"/>
            <a:ext cx="310896" cy="7150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7747" y="1572768"/>
            <a:ext cx="373075" cy="99486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3002" y="1852574"/>
            <a:ext cx="310896" cy="7150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505456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entrada es la primera frontera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327355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Todo dato externo es no confiable hasta que el backend lo valida.</a:t>
            </a:r>
            <a:endParaRPr lang="en-US" sz="1560" dirty="0"/>
          </a:p>
        </p:txBody>
      </p:sp>
      <p:sp>
        <p:nvSpPr>
          <p:cNvPr id="7" name="Shape 5"/>
          <p:cNvSpPr/>
          <p:nvPr/>
        </p:nvSpPr>
        <p:spPr>
          <a:xfrm>
            <a:off x="804672" y="5138928"/>
            <a:ext cx="9381744" cy="658368"/>
          </a:xfrm>
          <a:prstGeom prst="roundRect">
            <a:avLst>
              <a:gd name="adj" fmla="val 555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303520"/>
            <a:ext cx="8979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distinguir guía de interfaz, control de backend e integridad de base de datos.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 Entrada Es Sospechosa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por paranoia: porque el cliente es modificable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381744" cy="91440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48256"/>
            <a:ext cx="8979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backend no recibe verdad; recibe una afirmación que debe verificar.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04672" y="3694176"/>
            <a:ext cx="2907792" cy="1609344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803904"/>
            <a:ext cx="100584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8221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</a:t>
            </a:r>
            <a:endParaRPr lang="en-US" sz="1520" dirty="0"/>
          </a:p>
        </p:txBody>
      </p:sp>
      <p:sp>
        <p:nvSpPr>
          <p:cNvPr id="15" name="Text 12"/>
          <p:cNvSpPr/>
          <p:nvPr/>
        </p:nvSpPr>
        <p:spPr>
          <a:xfrm>
            <a:off x="1060704" y="4096512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editables, ocultos o manipulados.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68496" y="3694176"/>
            <a:ext cx="2907792" cy="1609344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803904"/>
            <a:ext cx="100584" cy="13898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24528" y="38221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URL</a:t>
            </a:r>
            <a:endParaRPr lang="en-US" sz="1520" dirty="0"/>
          </a:p>
        </p:txBody>
      </p:sp>
      <p:sp>
        <p:nvSpPr>
          <p:cNvPr id="19" name="Text 16"/>
          <p:cNvSpPr/>
          <p:nvPr/>
        </p:nvSpPr>
        <p:spPr>
          <a:xfrm>
            <a:off x="4224528" y="4096512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IDs, filtros y parámetros alterables.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132320" y="3694176"/>
            <a:ext cx="2907792" cy="1609344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05472" y="3803904"/>
            <a:ext cx="100584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88352" y="38221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7388352" y="4096512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externo, scripts o clientes manuales.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Que Parecen Simples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campo puede romper una suposición del sistema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381744" cy="4370832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 problemáticas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23744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Precio como texto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`gratis`, `-1` o `NaN` en campo numérico.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23744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Correo inválido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roto o demasiado largo.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23744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 alterado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Negativo, ajeno o inexistente.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950976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0704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60704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72768" y="4407408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Comentario gigante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73936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de miles de caracteres.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4041648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51376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51376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663440" y="4407408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 enviado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4864608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intenta decidir permisos.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7132320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42048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42048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754112" y="4407408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55280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forzado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7955280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`pagado` o `admin` desde UI.</a:t>
            </a:r>
            <a:endParaRPr lang="en-US" sz="10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Capas, Tres Responsabilidades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dos veces no significa validar lo mismo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2907792" cy="4059936"/>
          </a:xfrm>
          <a:prstGeom prst="roundRect">
            <a:avLst>
              <a:gd name="adj" fmla="val 1887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01952"/>
            <a:ext cx="109728" cy="40599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214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60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UX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072384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17296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 rápidos.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15568" y="3730752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3133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esperado.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15568" y="4389120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48970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errores simples.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115568" y="5047488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4807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frontera final.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4114800" y="1901952"/>
            <a:ext cx="2907792" cy="4059936"/>
          </a:xfrm>
          <a:prstGeom prst="roundRect">
            <a:avLst>
              <a:gd name="adj" fmla="val 188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0" y="1901952"/>
            <a:ext cx="109728" cy="40599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25696" y="21214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425696" y="2560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de entrada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4425696" y="3072384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90288" y="317296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aunque la UI falle.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4425696" y="3730752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90288" y="383133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 reglas.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4425696" y="4389120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90288" y="448970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permisos.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4425696" y="5047488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90288" y="514807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 basura.</a:t>
            </a:r>
            <a:endParaRPr lang="en-US" sz="1120" dirty="0"/>
          </a:p>
        </p:txBody>
      </p:sp>
      <p:sp>
        <p:nvSpPr>
          <p:cNvPr id="34" name="Shape 31"/>
          <p:cNvSpPr/>
          <p:nvPr/>
        </p:nvSpPr>
        <p:spPr>
          <a:xfrm>
            <a:off x="7333488" y="1901952"/>
            <a:ext cx="2852928" cy="4059936"/>
          </a:xfrm>
          <a:prstGeom prst="roundRect">
            <a:avLst>
              <a:gd name="adj" fmla="val 192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33488" y="1901952"/>
            <a:ext cx="109728" cy="40599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44384" y="212140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datos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7644384" y="25603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Integridad final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7644384" y="3072384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08976" y="317296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estrictos.</a:t>
            </a:r>
            <a:endParaRPr lang="en-US" sz="1120" dirty="0"/>
          </a:p>
        </p:txBody>
      </p:sp>
      <p:sp>
        <p:nvSpPr>
          <p:cNvPr id="40" name="Shape 37"/>
          <p:cNvSpPr/>
          <p:nvPr/>
        </p:nvSpPr>
        <p:spPr>
          <a:xfrm>
            <a:off x="7644384" y="3730752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08976" y="383133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Constraints.</a:t>
            </a:r>
            <a:endParaRPr lang="en-US" sz="1120" dirty="0"/>
          </a:p>
        </p:txBody>
      </p:sp>
      <p:sp>
        <p:nvSpPr>
          <p:cNvPr id="42" name="Shape 39"/>
          <p:cNvSpPr/>
          <p:nvPr/>
        </p:nvSpPr>
        <p:spPr>
          <a:xfrm>
            <a:off x="7644384" y="4389120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08976" y="4489704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Índices.</a:t>
            </a:r>
            <a:endParaRPr lang="en-US" sz="1120" dirty="0"/>
          </a:p>
        </p:txBody>
      </p:sp>
      <p:sp>
        <p:nvSpPr>
          <p:cNvPr id="44" name="Shape 41"/>
          <p:cNvSpPr/>
          <p:nvPr/>
        </p:nvSpPr>
        <p:spPr>
          <a:xfrm>
            <a:off x="7644384" y="5047488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808976" y="514807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única defensa.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`required` No Es Seguridad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ayuda a la interfaz; no controla clientes externos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443984" cy="3438144"/>
          </a:xfrm>
          <a:prstGeom prst="roundRect">
            <a:avLst>
              <a:gd name="adj" fmla="val 10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41879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en frontend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023360" cy="26883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559552" y="1901952"/>
            <a:ext cx="4626864" cy="3438144"/>
          </a:xfrm>
          <a:prstGeom prst="roundRect">
            <a:avLst>
              <a:gd name="adj" fmla="val 10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87568" y="2011680"/>
            <a:ext cx="437083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97296" y="2084832"/>
            <a:ext cx="4151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Petición manual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9008" y="2468880"/>
            <a:ext cx="4206240" cy="268833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04672" y="5559552"/>
            <a:ext cx="9381744" cy="493776"/>
          </a:xfrm>
          <a:prstGeom prst="roundRect">
            <a:avLst>
              <a:gd name="adj" fmla="val 740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5840" y="5724144"/>
            <a:ext cx="8979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backend no valida, cualquier cliente puede saltarse la intención del formulario.</a:t>
            </a:r>
            <a:endParaRPr lang="en-US" sz="15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Es Revisar Dimensiones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preguntar si viene vacío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9381744" cy="4407408"/>
          </a:xfrm>
          <a:prstGeom prst="roundRect">
            <a:avLst>
              <a:gd name="adj" fmla="val 8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93392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66544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mínimo de entrada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377440"/>
            <a:ext cx="2907792" cy="1103376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054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511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05456"/>
            <a:ext cx="73152" cy="8473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237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Presencia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16352"/>
            <a:ext cx="1956816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campo obligatorio existe.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377440"/>
            <a:ext cx="2907792" cy="1103376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054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511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05456"/>
            <a:ext cx="73152" cy="8473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237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16352"/>
            <a:ext cx="1956816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Número, texto, fecha o booleano.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377440"/>
            <a:ext cx="2907792" cy="1103376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054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511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05456"/>
            <a:ext cx="73152" cy="8473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237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16352"/>
            <a:ext cx="1956816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Correo, RUT, UUID, código.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950976" y="3645408"/>
            <a:ext cx="2907792" cy="1103376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0704" y="37734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60704" y="38191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72768" y="3773424"/>
            <a:ext cx="73152" cy="8473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37917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Longitud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73936" y="4084320"/>
            <a:ext cx="1956816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 vacío ni gigante.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4041648" y="3645408"/>
            <a:ext cx="2907792" cy="1103376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51376" y="37734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51376" y="38191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663440" y="3773424"/>
            <a:ext cx="73152" cy="8473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37917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Rango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4864608" y="4084320"/>
            <a:ext cx="1956816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Montos y fechas razonables.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7132320" y="3645408"/>
            <a:ext cx="2907792" cy="1103376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42048" y="37734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42048" y="38191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754112" y="3773424"/>
            <a:ext cx="73152" cy="8473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55280" y="37917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7955280" y="4084320"/>
            <a:ext cx="1956816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permitidos.</a:t>
            </a:r>
            <a:endParaRPr lang="en-US" sz="1060" dirty="0"/>
          </a:p>
        </p:txBody>
      </p:sp>
      <p:sp>
        <p:nvSpPr>
          <p:cNvPr id="49" name="Shape 46"/>
          <p:cNvSpPr/>
          <p:nvPr/>
        </p:nvSpPr>
        <p:spPr>
          <a:xfrm>
            <a:off x="950976" y="4913376"/>
            <a:ext cx="2907792" cy="1103376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60704" y="504139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60704" y="508711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1572768" y="5041392"/>
            <a:ext cx="73152" cy="8473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773936" y="505968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Negocio</a:t>
            </a:r>
            <a:endParaRPr lang="en-US" sz="1360" dirty="0"/>
          </a:p>
        </p:txBody>
      </p:sp>
      <p:sp>
        <p:nvSpPr>
          <p:cNvPr id="54" name="Text 51"/>
          <p:cNvSpPr/>
          <p:nvPr/>
        </p:nvSpPr>
        <p:spPr>
          <a:xfrm>
            <a:off x="1773936" y="5352288"/>
            <a:ext cx="1956816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acción tiene sentido.</a:t>
            </a:r>
            <a:endParaRPr lang="en-US" sz="1060" dirty="0"/>
          </a:p>
        </p:txBody>
      </p:sp>
      <p:sp>
        <p:nvSpPr>
          <p:cNvPr id="55" name="Shape 52"/>
          <p:cNvSpPr/>
          <p:nvPr/>
        </p:nvSpPr>
        <p:spPr>
          <a:xfrm>
            <a:off x="4041648" y="4913376"/>
            <a:ext cx="2907792" cy="1103376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151376" y="504139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151376" y="508711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4663440" y="5041392"/>
            <a:ext cx="73152" cy="8473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864608" y="505968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Permiso</a:t>
            </a:r>
            <a:endParaRPr lang="en-US" sz="1360" dirty="0"/>
          </a:p>
        </p:txBody>
      </p:sp>
      <p:sp>
        <p:nvSpPr>
          <p:cNvPr id="60" name="Text 57"/>
          <p:cNvSpPr/>
          <p:nvPr/>
        </p:nvSpPr>
        <p:spPr>
          <a:xfrm>
            <a:off x="4864608" y="5352288"/>
            <a:ext cx="1956816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puede hacerlo.</a:t>
            </a:r>
            <a:endParaRPr lang="en-US" sz="10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Aplicada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backend decide si el payload entra al sistema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6144768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8887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compra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724144" cy="3438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223760" y="1901952"/>
            <a:ext cx="2962656" cy="4187952"/>
          </a:xfrm>
          <a:prstGeom prst="roundRect">
            <a:avLst>
              <a:gd name="adj" fmla="val 185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3760" y="1901952"/>
            <a:ext cx="109728" cy="41879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34656" y="212140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534656" y="256032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solo sintaxis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534656" y="3072384"/>
            <a:ext cx="234086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99248" y="3172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correcto.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7534656" y="3730752"/>
            <a:ext cx="234086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699248" y="38313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razonable.</a:t>
            </a:r>
            <a:endParaRPr lang="en-US" sz="1120" dirty="0"/>
          </a:p>
        </p:txBody>
      </p:sp>
      <p:sp>
        <p:nvSpPr>
          <p:cNvPr id="22" name="Shape 18"/>
          <p:cNvSpPr/>
          <p:nvPr/>
        </p:nvSpPr>
        <p:spPr>
          <a:xfrm>
            <a:off x="7534656" y="4389120"/>
            <a:ext cx="234086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699248" y="44897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negocio.</a:t>
            </a:r>
            <a:endParaRPr lang="en-US" sz="1120" dirty="0"/>
          </a:p>
        </p:txBody>
      </p:sp>
      <p:sp>
        <p:nvSpPr>
          <p:cNvPr id="24" name="Shape 20"/>
          <p:cNvSpPr/>
          <p:nvPr/>
        </p:nvSpPr>
        <p:spPr>
          <a:xfrm>
            <a:off x="7534656" y="5047488"/>
            <a:ext cx="2340864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99248" y="5148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Rechazo explícito.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Normalizar ≠ Sanitizar ≠ Validar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acciones distintas, tres riesgos distintos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20240"/>
            <a:ext cx="2907792" cy="4041648"/>
          </a:xfrm>
          <a:prstGeom prst="roundRect">
            <a:avLst>
              <a:gd name="adj" fmla="val 1887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20240"/>
            <a:ext cx="109728" cy="40416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39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786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consistente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090672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191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Trim.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15568" y="3749040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4962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Minúsculas.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15568" y="4407408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50799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común.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115568" y="5065776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663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decide aceptación.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4114800" y="1920240"/>
            <a:ext cx="2907792" cy="4041648"/>
          </a:xfrm>
          <a:prstGeom prst="roundRect">
            <a:avLst>
              <a:gd name="adj" fmla="val 188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0" y="1920240"/>
            <a:ext cx="109728" cy="4041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25696" y="2139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Sanitizar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425696" y="25786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de salida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4425696" y="3090672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90288" y="3191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Escapar HTML.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4425696" y="3749040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90288" y="384962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logs con secretos.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4425696" y="4407408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90288" y="450799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del destino.</a:t>
            </a:r>
            <a:endParaRPr lang="en-US" sz="1060" dirty="0"/>
          </a:p>
        </p:txBody>
      </p:sp>
      <p:sp>
        <p:nvSpPr>
          <p:cNvPr id="32" name="Shape 29"/>
          <p:cNvSpPr/>
          <p:nvPr/>
        </p:nvSpPr>
        <p:spPr>
          <a:xfrm>
            <a:off x="4425696" y="5065776"/>
            <a:ext cx="2286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90288" y="51663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reemplaza parámetros.</a:t>
            </a:r>
            <a:endParaRPr lang="en-US" sz="1060" dirty="0"/>
          </a:p>
        </p:txBody>
      </p:sp>
      <p:sp>
        <p:nvSpPr>
          <p:cNvPr id="34" name="Shape 31"/>
          <p:cNvSpPr/>
          <p:nvPr/>
        </p:nvSpPr>
        <p:spPr>
          <a:xfrm>
            <a:off x="7333488" y="1920240"/>
            <a:ext cx="2852928" cy="4041648"/>
          </a:xfrm>
          <a:prstGeom prst="roundRect">
            <a:avLst>
              <a:gd name="adj" fmla="val 192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33488" y="1920240"/>
            <a:ext cx="109728" cy="40416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44384" y="213969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7644384" y="257860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o rechazar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7644384" y="3090672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08976" y="319125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Tipo.</a:t>
            </a:r>
            <a:endParaRPr lang="en-US" sz="1120" dirty="0"/>
          </a:p>
        </p:txBody>
      </p:sp>
      <p:sp>
        <p:nvSpPr>
          <p:cNvPr id="40" name="Shape 37"/>
          <p:cNvSpPr/>
          <p:nvPr/>
        </p:nvSpPr>
        <p:spPr>
          <a:xfrm>
            <a:off x="7644384" y="3749040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08976" y="3849624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Rango.</a:t>
            </a:r>
            <a:endParaRPr lang="en-US" sz="1120" dirty="0"/>
          </a:p>
        </p:txBody>
      </p:sp>
      <p:sp>
        <p:nvSpPr>
          <p:cNvPr id="42" name="Shape 39"/>
          <p:cNvSpPr/>
          <p:nvPr/>
        </p:nvSpPr>
        <p:spPr>
          <a:xfrm>
            <a:off x="7644384" y="4407408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08976" y="45079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Formato.</a:t>
            </a:r>
            <a:endParaRPr lang="en-US" sz="1120" dirty="0"/>
          </a:p>
        </p:txBody>
      </p:sp>
      <p:sp>
        <p:nvSpPr>
          <p:cNvPr id="44" name="Shape 41"/>
          <p:cNvSpPr/>
          <p:nvPr/>
        </p:nvSpPr>
        <p:spPr>
          <a:xfrm>
            <a:off x="7644384" y="5065776"/>
            <a:ext cx="22311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808976" y="51663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negocio.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Confíes en Campos del Cliente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campo oculto también se puede editar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535424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42793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peligroso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114800" cy="2761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50992" y="1901952"/>
            <a:ext cx="4535424" cy="3511296"/>
          </a:xfrm>
          <a:prstGeom prst="roundRect">
            <a:avLst>
              <a:gd name="adj" fmla="val 156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50992" y="1901952"/>
            <a:ext cx="109728" cy="3511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6188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está mal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96188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decide demasiado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596188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2648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 elegir usuario.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5961888" y="3602736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26480" y="37033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Fuerza estado de pago.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5961888" y="41330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26480" y="42336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saltar reglas.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5961888" y="466344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26480" y="476402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Confunde UI con autoridad.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804672" y="5614416"/>
            <a:ext cx="9381744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5840" y="5779008"/>
            <a:ext cx="8979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interfaz propone una acción; el servidor decide si es válida.</a:t>
            </a:r>
            <a:endParaRPr lang="en-US" sz="15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Payload Mínimo, Decisión en Backend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poder para el cliente, más control para el servidor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059936" cy="2615184"/>
          </a:xfrm>
          <a:prstGeom prst="roundRect">
            <a:avLst>
              <a:gd name="adj" fmla="val 139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380390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3584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envía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3639312" cy="18653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30368" y="2029968"/>
            <a:ext cx="2304288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03520" y="2139696"/>
            <a:ext cx="100584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0" y="215798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Identidad</a:t>
            </a:r>
            <a:endParaRPr lang="en-US" sz="1240" dirty="0"/>
          </a:p>
        </p:txBody>
      </p:sp>
      <p:sp>
        <p:nvSpPr>
          <p:cNvPr id="17" name="Text 13"/>
          <p:cNvSpPr/>
          <p:nvPr/>
        </p:nvSpPr>
        <p:spPr>
          <a:xfrm>
            <a:off x="5486400" y="2432304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 de sesión/token.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7772400" y="2029968"/>
            <a:ext cx="2304288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45552" y="2139696"/>
            <a:ext cx="100584" cy="859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028432" y="215798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Precio</a:t>
            </a:r>
            <a:endParaRPr lang="en-US" sz="1240" dirty="0"/>
          </a:p>
        </p:txBody>
      </p:sp>
      <p:sp>
        <p:nvSpPr>
          <p:cNvPr id="21" name="Text 17"/>
          <p:cNvSpPr/>
          <p:nvPr/>
        </p:nvSpPr>
        <p:spPr>
          <a:xfrm>
            <a:off x="8028432" y="2432304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 del catálogo real.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5230368" y="3438144"/>
            <a:ext cx="2304288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03520" y="3547872"/>
            <a:ext cx="100584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86400" y="356616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</a:t>
            </a:r>
            <a:endParaRPr lang="en-US" sz="1240" dirty="0"/>
          </a:p>
        </p:txBody>
      </p:sp>
      <p:sp>
        <p:nvSpPr>
          <p:cNvPr id="25" name="Text 21"/>
          <p:cNvSpPr/>
          <p:nvPr/>
        </p:nvSpPr>
        <p:spPr>
          <a:xfrm>
            <a:off x="5486400" y="3840480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define la regla del backend.</a:t>
            </a:r>
            <a:endParaRPr lang="en-US" sz="880" dirty="0"/>
          </a:p>
        </p:txBody>
      </p:sp>
      <p:sp>
        <p:nvSpPr>
          <p:cNvPr id="26" name="Shape 22"/>
          <p:cNvSpPr/>
          <p:nvPr/>
        </p:nvSpPr>
        <p:spPr>
          <a:xfrm>
            <a:off x="7772400" y="3438144"/>
            <a:ext cx="2304288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45552" y="3547872"/>
            <a:ext cx="100584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28432" y="356616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Stock</a:t>
            </a:r>
            <a:endParaRPr lang="en-US" sz="1240" dirty="0"/>
          </a:p>
        </p:txBody>
      </p:sp>
      <p:sp>
        <p:nvSpPr>
          <p:cNvPr id="29" name="Text 25"/>
          <p:cNvSpPr/>
          <p:nvPr/>
        </p:nvSpPr>
        <p:spPr>
          <a:xfrm>
            <a:off x="8028432" y="3840480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verifica antes de persistir.</a:t>
            </a:r>
            <a:endParaRPr lang="en-US" sz="880" dirty="0"/>
          </a:p>
        </p:txBody>
      </p:sp>
      <p:sp>
        <p:nvSpPr>
          <p:cNvPr id="30" name="Shape 26"/>
          <p:cNvSpPr/>
          <p:nvPr/>
        </p:nvSpPr>
        <p:spPr>
          <a:xfrm>
            <a:off x="804672" y="5358384"/>
            <a:ext cx="9381744" cy="566928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05840" y="5522976"/>
            <a:ext cx="8979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crítico no viaja desde el cliente: se resuelve en una capa confiable.</a:t>
            </a:r>
            <a:endParaRPr lang="en-US" sz="1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Como Revisor de Payloads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ampliar la mirada, no para delegar la decisión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340096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0840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operativo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919472" cy="3438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73952" y="1901952"/>
            <a:ext cx="3712464" cy="4187952"/>
          </a:xfrm>
          <a:prstGeom prst="roundRect">
            <a:avLst>
              <a:gd name="adj" fmla="val 1478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73952" y="1901952"/>
            <a:ext cx="109728" cy="41879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84848" y="212140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Tú verificas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784848" y="256032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humano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6784848" y="3072384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9440" y="3172968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real de sesión.</a:t>
            </a:r>
            <a:endParaRPr lang="en-US" sz="1060" dirty="0"/>
          </a:p>
        </p:txBody>
      </p:sp>
      <p:sp>
        <p:nvSpPr>
          <p:cNvPr id="20" name="Shape 16"/>
          <p:cNvSpPr/>
          <p:nvPr/>
        </p:nvSpPr>
        <p:spPr>
          <a:xfrm>
            <a:off x="6784848" y="3730752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9440" y="383133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negocio.</a:t>
            </a:r>
            <a:endParaRPr lang="en-US" sz="1060" dirty="0"/>
          </a:p>
        </p:txBody>
      </p:sp>
      <p:sp>
        <p:nvSpPr>
          <p:cNvPr id="22" name="Shape 18"/>
          <p:cNvSpPr/>
          <p:nvPr/>
        </p:nvSpPr>
        <p:spPr>
          <a:xfrm>
            <a:off x="6784848" y="4389120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49440" y="4489704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calculados.</a:t>
            </a:r>
            <a:endParaRPr lang="en-US" sz="1060" dirty="0"/>
          </a:p>
        </p:txBody>
      </p:sp>
      <p:sp>
        <p:nvSpPr>
          <p:cNvPr id="24" name="Shape 20"/>
          <p:cNvSpPr/>
          <p:nvPr/>
        </p:nvSpPr>
        <p:spPr>
          <a:xfrm>
            <a:off x="6784848" y="5047488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49440" y="5148072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con payloads inválidos.</a:t>
            </a:r>
            <a:endParaRPr lang="en-US" sz="10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empieza antes de tocar SQL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115568"/>
          </a:xfrm>
          <a:prstGeom prst="roundRect">
            <a:avLst>
              <a:gd name="adj" fmla="val 57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entradas no es decoración: es decidir qué datos merecen entrar al sistema.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840480"/>
            <a:ext cx="100584" cy="17556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Guía, no frontera final.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318211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55264" y="3840480"/>
            <a:ext cx="100584" cy="1755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343814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 o rechaza.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555955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840480"/>
            <a:ext cx="100584" cy="17556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datos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581558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Preserva contrato.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793699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0144" y="3840480"/>
            <a:ext cx="100584" cy="17556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</a:t>
            </a:r>
            <a:endParaRPr lang="en-US" sz="1380" dirty="0"/>
          </a:p>
        </p:txBody>
      </p:sp>
      <p:sp>
        <p:nvSpPr>
          <p:cNvPr id="27" name="Text 24"/>
          <p:cNvSpPr/>
          <p:nvPr/>
        </p:nvSpPr>
        <p:spPr>
          <a:xfrm>
            <a:off x="819302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Revisa, no decide.</a:t>
            </a:r>
            <a:endParaRPr lang="en-US" sz="9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validación de entradas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30358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214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91056" y="20665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 `&lt;input required&gt;` evita enviar un formulario vacío, ¿por qué el backend debe validar igual?</a:t>
            </a:r>
            <a:endParaRPr lang="en-US" sz="1360" dirty="0"/>
          </a:p>
        </p:txBody>
      </p:sp>
      <p:sp>
        <p:nvSpPr>
          <p:cNvPr id="14" name="Text 11"/>
          <p:cNvSpPr/>
          <p:nvPr/>
        </p:nvSpPr>
        <p:spPr>
          <a:xfrm>
            <a:off x="1591056" y="2779776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curl, DevTools, scripts y clientes que no usan tu HTML.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04672" y="3310128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4128" y="4443984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5295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91056" y="3474720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 payload de compra, ¿por qué `usuario_id` y `estado` no deberían venir decididos por el cliente?</a:t>
            </a:r>
            <a:endParaRPr lang="en-US" sz="1360" dirty="0"/>
          </a:p>
        </p:txBody>
      </p:sp>
      <p:sp>
        <p:nvSpPr>
          <p:cNvPr id="19" name="Text 16"/>
          <p:cNvSpPr/>
          <p:nvPr/>
        </p:nvSpPr>
        <p:spPr>
          <a:xfrm>
            <a:off x="1591056" y="4187952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separa datos de intención de decisiones de negocio y autorización.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804672" y="4718304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5852160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4937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91056" y="4882896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práctica hay entre normalizar, sanitizar y validar un dato?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1591056" y="5596128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uno ajusta forma, otro protege por contexto y otro acepta o rechaza.</a:t>
            </a:r>
            <a:endParaRPr lang="en-US" sz="10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852574"/>
            <a:ext cx="310896" cy="7150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7747" y="1572768"/>
            <a:ext cx="373075" cy="99486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3002" y="1852574"/>
            <a:ext cx="310896" cy="7150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38528" y="2322576"/>
            <a:ext cx="8266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Inyección SQL: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el dato se vuelve instrucción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38528" y="3566160"/>
            <a:ext cx="8156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Separar valores de usuario y estructura SQL no es opcional.</a:t>
            </a:r>
            <a:endParaRPr lang="en-US" sz="1560" dirty="0"/>
          </a:p>
        </p:txBody>
      </p:sp>
      <p:sp>
        <p:nvSpPr>
          <p:cNvPr id="7" name="Shape 5"/>
          <p:cNvSpPr/>
          <p:nvPr/>
        </p:nvSpPr>
        <p:spPr>
          <a:xfrm>
            <a:off x="804672" y="5138928"/>
            <a:ext cx="9381744" cy="658368"/>
          </a:xfrm>
          <a:prstGeom prst="roundRect">
            <a:avLst>
              <a:gd name="adj" fmla="val 555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303520"/>
            <a:ext cx="8979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reconocer consultas vulnerables y reemplazarlas por parámetros, listas blancas y menor privilegio.</a:t>
            </a:r>
            <a:endParaRPr lang="en-US" sz="16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Inyección SQL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dato deja de ser dato y altera la consulta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097280"/>
          </a:xfrm>
          <a:prstGeom prst="roundRect">
            <a:avLst>
              <a:gd name="adj" fmla="val 5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inyección SQL ocurre cuando una entrada del usuario modifica la instrucción que la base de datos termina ejecutando.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913632"/>
            <a:ext cx="2907792" cy="155448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4023360"/>
            <a:ext cx="100584" cy="13350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4041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Esperado</a:t>
            </a:r>
            <a:endParaRPr lang="en-US" sz="1520" dirty="0"/>
          </a:p>
        </p:txBody>
      </p:sp>
      <p:sp>
        <p:nvSpPr>
          <p:cNvPr id="15" name="Text 12"/>
          <p:cNvSpPr/>
          <p:nvPr/>
        </p:nvSpPr>
        <p:spPr>
          <a:xfrm>
            <a:off x="1060704" y="4315968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entrega un valor.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68496" y="3913632"/>
            <a:ext cx="2907792" cy="155448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4023360"/>
            <a:ext cx="100584" cy="13350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24528" y="4041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Falla</a:t>
            </a:r>
            <a:endParaRPr lang="en-US" sz="1520" dirty="0"/>
          </a:p>
        </p:txBody>
      </p:sp>
      <p:sp>
        <p:nvSpPr>
          <p:cNvPr id="19" name="Text 16"/>
          <p:cNvSpPr/>
          <p:nvPr/>
        </p:nvSpPr>
        <p:spPr>
          <a:xfrm>
            <a:off x="4224528" y="4315968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se pega al SQL.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132320" y="3913632"/>
            <a:ext cx="2907792" cy="155448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05472" y="4023360"/>
            <a:ext cx="100584" cy="13350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88352" y="4041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7388352" y="4315968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SQL cambia de intención.</a:t>
            </a:r>
            <a:endParaRPr lang="en-US" sz="11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Patrón Vulnerable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Concatenar datos externos dentro del SQL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797296" cy="3968496"/>
          </a:xfrm>
          <a:prstGeom prst="roundRect">
            <a:avLst>
              <a:gd name="adj" fmla="val 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5412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321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inseguro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376672" cy="32186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76288" y="1901952"/>
            <a:ext cx="3310128" cy="3968496"/>
          </a:xfrm>
          <a:prstGeom prst="roundRect">
            <a:avLst>
              <a:gd name="adj" fmla="val 165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76288" y="1901952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87184" y="212140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187184" y="256032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como instrucción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187184" y="3072384"/>
            <a:ext cx="26883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51776" y="317296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Cierra comillas.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7187184" y="3730752"/>
            <a:ext cx="26883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51776" y="383133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 condiciones.</a:t>
            </a:r>
            <a:endParaRPr lang="en-US" sz="1120" dirty="0"/>
          </a:p>
        </p:txBody>
      </p:sp>
      <p:sp>
        <p:nvSpPr>
          <p:cNvPr id="22" name="Shape 18"/>
          <p:cNvSpPr/>
          <p:nvPr/>
        </p:nvSpPr>
        <p:spPr>
          <a:xfrm>
            <a:off x="7187184" y="4389120"/>
            <a:ext cx="26883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51776" y="448970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Comenta el resto.</a:t>
            </a:r>
            <a:endParaRPr lang="en-US" sz="1120" dirty="0"/>
          </a:p>
        </p:txBody>
      </p:sp>
      <p:sp>
        <p:nvSpPr>
          <p:cNvPr id="24" name="Shape 20"/>
          <p:cNvSpPr/>
          <p:nvPr/>
        </p:nvSpPr>
        <p:spPr>
          <a:xfrm>
            <a:off x="7187184" y="5047488"/>
            <a:ext cx="268833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51776" y="514807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intención.</a:t>
            </a:r>
            <a:endParaRPr lang="en-US" sz="11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 Vulnerable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ataque no necesita magia: solo cambiar la lógica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4791456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93392"/>
            <a:ext cx="45354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66544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maliciosa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50592"/>
            <a:ext cx="4370832" cy="3438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52160" y="1883664"/>
            <a:ext cx="4334256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80176" y="1993392"/>
            <a:ext cx="40782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89904" y="2066544"/>
            <a:ext cx="3858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alterada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616" y="2450592"/>
            <a:ext cx="3913632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Mecanismo del Ataque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memorizar payloads: entender la transformación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304288"/>
            <a:ext cx="2194560" cy="2084832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414016"/>
            <a:ext cx="100584" cy="18653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4323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App espera correo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1060704" y="2706624"/>
            <a:ext cx="18653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aparentemente normal.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3054096" y="332841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182112" y="2304288"/>
            <a:ext cx="2194560" cy="2084832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55264" y="2414016"/>
            <a:ext cx="100584" cy="18653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24323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Usuario envía SQL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3438144" y="2706624"/>
            <a:ext cx="18653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con comillas y lógica.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5431536" y="332841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559552" y="2304288"/>
            <a:ext cx="2194560" cy="2084832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2414016"/>
            <a:ext cx="100584" cy="18653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24323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Backend concatena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5815584" y="2706624"/>
            <a:ext cx="18653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entrada entra al query.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7808976" y="332841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936992" y="2304288"/>
            <a:ext cx="2194560" cy="2084832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10144" y="2414016"/>
            <a:ext cx="100584" cy="18653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93024" y="24323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BD ejecuta</a:t>
            </a:r>
            <a:endParaRPr lang="en-US" sz="1260" dirty="0"/>
          </a:p>
        </p:txBody>
      </p:sp>
      <p:sp>
        <p:nvSpPr>
          <p:cNvPr id="28" name="Text 25"/>
          <p:cNvSpPr/>
          <p:nvPr/>
        </p:nvSpPr>
        <p:spPr>
          <a:xfrm>
            <a:off x="8193024" y="2706624"/>
            <a:ext cx="18653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 la instrucción recibida.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804672" y="5175504"/>
            <a:ext cx="9381744" cy="603504"/>
          </a:xfrm>
          <a:prstGeom prst="roundRect">
            <a:avLst>
              <a:gd name="adj" fmla="val 606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" y="5340096"/>
            <a:ext cx="8979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base de datos ejecuta lo que recibe, no lo que el desarrollador quería decir.</a:t>
            </a:r>
            <a:endParaRPr lang="en-US" sz="17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Impacto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inyección SQL no vive solo en el login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381744" cy="4370832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Zonas afectadas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23744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Saltar acceso o enumerar usuarios.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23744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Buscador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Extraer datos fuera del filtro.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23744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Perfil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datos de otra persona.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950976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0704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60704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72768" y="4407408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 admin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73936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Alterar roles, estados o precios.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4041648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51376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51376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663440" y="4407408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Eliminación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4864608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Borrar fuera del alcance esperado.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7132320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42048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42048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754112" y="4407408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55280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7955280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Revelar tablas, columnas o motor.</a:t>
            </a:r>
            <a:endParaRPr lang="en-US" sz="10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Según Operación SQL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anterior ahora se lee con lente defensivo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93392"/>
            <a:ext cx="938174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93392"/>
            <a:ext cx="128016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1396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2743200" y="2139696"/>
            <a:ext cx="7059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 datos sensibles o ajenos.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804672" y="2852928"/>
            <a:ext cx="938174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" y="2852928"/>
            <a:ext cx="128016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2999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2743200" y="2999232"/>
            <a:ext cx="7059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 más filas de las esperadas.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804672" y="3712464"/>
            <a:ext cx="938174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4672" y="3712464"/>
            <a:ext cx="128016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78992" y="3858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2743200" y="3858768"/>
            <a:ext cx="7059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Destruye evidencia o registros críticos.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804672" y="4572000"/>
            <a:ext cx="938174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" y="4572000"/>
            <a:ext cx="128016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8992" y="47183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2743200" y="4718304"/>
            <a:ext cx="7059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controlar estructura si no hay lista blanca.</a:t>
            </a:r>
            <a:endParaRPr lang="en-US" sz="1280" dirty="0"/>
          </a:p>
        </p:txBody>
      </p:sp>
      <p:sp>
        <p:nvSpPr>
          <p:cNvPr id="26" name="Shape 23"/>
          <p:cNvSpPr/>
          <p:nvPr/>
        </p:nvSpPr>
        <p:spPr>
          <a:xfrm>
            <a:off x="804672" y="5486400"/>
            <a:ext cx="9381744" cy="493776"/>
          </a:xfrm>
          <a:prstGeom prst="roundRect">
            <a:avLst>
              <a:gd name="adj" fmla="val 740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5840" y="5650992"/>
            <a:ext cx="8979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mismo error de entrada cambia de severidad según qué instrucción toca.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 Parametrizada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instrucción y los valores viajan separados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4626864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437083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48256"/>
            <a:ext cx="4151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Vulnerable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32304"/>
            <a:ext cx="4206240" cy="3438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87568" y="1865376"/>
            <a:ext cx="4498848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15584" y="1975104"/>
            <a:ext cx="424281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25312" y="204825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Parametrizada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7024" y="2432304"/>
            <a:ext cx="4078224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Estructura y Valores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venir del usuario y qué no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535424" cy="4078224"/>
          </a:xfrm>
          <a:prstGeom prst="roundRect">
            <a:avLst>
              <a:gd name="adj" fmla="val 134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01952"/>
            <a:ext cx="109728" cy="4078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SQL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define el desarrollador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 tabla.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15568" y="373075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3133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 columna.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15568" y="438912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489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Operador lógico.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115568" y="50474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48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del query.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650992" y="1901952"/>
            <a:ext cx="4535424" cy="4078224"/>
          </a:xfrm>
          <a:prstGeom prst="roundRect">
            <a:avLst>
              <a:gd name="adj" fmla="val 134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50992" y="1901952"/>
            <a:ext cx="109728" cy="40782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Valores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6188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venir del usuario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6188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buscado.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5961888" y="373075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83133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filtrado.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5961888" y="438912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489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de búsqueda.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5961888" y="50474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0" y="5148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validado.</a:t>
            </a:r>
            <a:endParaRPr lang="en-US" sz="11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No Reemplaza Parametrizar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defensas distintas y complementarias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846320" cy="3127248"/>
          </a:xfrm>
          <a:prstGeom prst="roundRect">
            <a:avLst>
              <a:gd name="adj" fmla="val 11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459028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370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425696" cy="23774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25312" y="1901952"/>
            <a:ext cx="4261104" cy="3127248"/>
          </a:xfrm>
          <a:prstGeom prst="roundRect">
            <a:avLst>
              <a:gd name="adj" fmla="val 1754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25312" y="1901952"/>
            <a:ext cx="109728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36208" y="2121408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cubre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236208" y="256032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de entrada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6236208" y="3072384"/>
            <a:ext cx="363931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317296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 basura.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6236208" y="3566160"/>
            <a:ext cx="363931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0" y="36667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casos inválidos.</a:t>
            </a:r>
            <a:endParaRPr lang="en-US" sz="960" dirty="0"/>
          </a:p>
        </p:txBody>
      </p:sp>
      <p:sp>
        <p:nvSpPr>
          <p:cNvPr id="22" name="Shape 18"/>
          <p:cNvSpPr/>
          <p:nvPr/>
        </p:nvSpPr>
        <p:spPr>
          <a:xfrm>
            <a:off x="6236208" y="4059936"/>
            <a:ext cx="363931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0800" y="4160520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separa SQL.</a:t>
            </a:r>
            <a:endParaRPr lang="en-US" sz="960" dirty="0"/>
          </a:p>
        </p:txBody>
      </p:sp>
      <p:sp>
        <p:nvSpPr>
          <p:cNvPr id="24" name="Shape 20"/>
          <p:cNvSpPr/>
          <p:nvPr/>
        </p:nvSpPr>
        <p:spPr>
          <a:xfrm>
            <a:off x="6236208" y="4553712"/>
            <a:ext cx="363931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00800" y="465429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reemplaza parámetros.</a:t>
            </a:r>
            <a:endParaRPr lang="en-US" sz="960" dirty="0"/>
          </a:p>
        </p:txBody>
      </p:sp>
      <p:sp>
        <p:nvSpPr>
          <p:cNvPr id="26" name="Shape 22"/>
          <p:cNvSpPr/>
          <p:nvPr/>
        </p:nvSpPr>
        <p:spPr>
          <a:xfrm>
            <a:off x="804672" y="5522976"/>
            <a:ext cx="9381744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5840" y="5687568"/>
            <a:ext cx="8979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decide si el dato entra; parametrizar impide que cambie la instrucción.</a:t>
            </a:r>
            <a:endParaRPr lang="en-US" sz="16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`ORDER BY` Dinámico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 se puede parametrizar como un valor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650992" cy="3968496"/>
          </a:xfrm>
          <a:prstGeom prst="roundRect">
            <a:avLst>
              <a:gd name="adj" fmla="val 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3949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175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inseguro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230368" cy="32186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48272" y="1901952"/>
            <a:ext cx="3438144" cy="3968496"/>
          </a:xfrm>
          <a:prstGeom prst="roundRect">
            <a:avLst>
              <a:gd name="adj" fmla="val 1596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48272" y="1901952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59168" y="2121408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059168" y="256032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elige estructura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059168" y="3072384"/>
            <a:ext cx="281635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223760" y="317296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valor.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7059168" y="3730752"/>
            <a:ext cx="281635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23760" y="38313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parte del SQL.</a:t>
            </a:r>
            <a:endParaRPr lang="en-US" sz="1120" dirty="0"/>
          </a:p>
        </p:txBody>
      </p:sp>
      <p:sp>
        <p:nvSpPr>
          <p:cNvPr id="22" name="Shape 18"/>
          <p:cNvSpPr/>
          <p:nvPr/>
        </p:nvSpPr>
        <p:spPr>
          <a:xfrm>
            <a:off x="7059168" y="4389120"/>
            <a:ext cx="281635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223760" y="448970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alterar query.</a:t>
            </a:r>
            <a:endParaRPr lang="en-US" sz="1120" dirty="0"/>
          </a:p>
        </p:txBody>
      </p:sp>
      <p:sp>
        <p:nvSpPr>
          <p:cNvPr id="24" name="Shape 20"/>
          <p:cNvSpPr/>
          <p:nvPr/>
        </p:nvSpPr>
        <p:spPr>
          <a:xfrm>
            <a:off x="7059168" y="5047488"/>
            <a:ext cx="281635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23760" y="514807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Necesita lista blanca.</a:t>
            </a:r>
            <a:endParaRPr lang="en-US" sz="11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 Blanca Para Estructura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elige una opción, no una columna arbitraria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6016752" cy="4334256"/>
          </a:xfrm>
          <a:prstGeom prst="roundRect">
            <a:avLst>
              <a:gd name="adj" fmla="val 84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57607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4825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Ordenamiento seguro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32304"/>
            <a:ext cx="5596128" cy="35844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095744" y="1865376"/>
            <a:ext cx="3090672" cy="4334256"/>
          </a:xfrm>
          <a:prstGeom prst="roundRect">
            <a:avLst>
              <a:gd name="adj" fmla="val 17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95744" y="1865376"/>
            <a:ext cx="109728" cy="43342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06640" y="20848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406640" y="25237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Permitido explícito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406640" y="3035808"/>
            <a:ext cx="24688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71232" y="3136392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Claves conocidas.</a:t>
            </a:r>
            <a:endParaRPr lang="en-US" sz="1040" dirty="0"/>
          </a:p>
        </p:txBody>
      </p:sp>
      <p:sp>
        <p:nvSpPr>
          <p:cNvPr id="20" name="Shape 16"/>
          <p:cNvSpPr/>
          <p:nvPr/>
        </p:nvSpPr>
        <p:spPr>
          <a:xfrm>
            <a:off x="7406640" y="3694176"/>
            <a:ext cx="24688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71232" y="379476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seguro.</a:t>
            </a:r>
            <a:endParaRPr lang="en-US" sz="1040" dirty="0"/>
          </a:p>
        </p:txBody>
      </p:sp>
      <p:sp>
        <p:nvSpPr>
          <p:cNvPr id="22" name="Shape 18"/>
          <p:cNvSpPr/>
          <p:nvPr/>
        </p:nvSpPr>
        <p:spPr>
          <a:xfrm>
            <a:off x="7406640" y="4352544"/>
            <a:ext cx="24688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571232" y="4453128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texto libre.</a:t>
            </a:r>
            <a:endParaRPr lang="en-US" sz="1040" dirty="0"/>
          </a:p>
        </p:txBody>
      </p:sp>
      <p:sp>
        <p:nvSpPr>
          <p:cNvPr id="24" name="Shape 20"/>
          <p:cNvSpPr/>
          <p:nvPr/>
        </p:nvSpPr>
        <p:spPr>
          <a:xfrm>
            <a:off x="7406640" y="5010912"/>
            <a:ext cx="24688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71232" y="5111496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siguen con parámetros.</a:t>
            </a:r>
            <a:endParaRPr lang="en-US" sz="10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Menor Privilegio en Base de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capa falla, el daño debe quedar acotado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535424" cy="4078224"/>
          </a:xfrm>
          <a:prstGeom prst="roundRect">
            <a:avLst>
              <a:gd name="adj" fmla="val 134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01952"/>
            <a:ext cx="109728" cy="4078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root / admin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Daño amplificado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borrar tablas.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15568" y="373075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3133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alterar esquema.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15568" y="438912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489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Amplifica inyección.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115568" y="50474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48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usar desde backend.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650992" y="1901952"/>
            <a:ext cx="4535424" cy="4078224"/>
          </a:xfrm>
          <a:prstGeom prst="roundRect">
            <a:avLst>
              <a:gd name="adj" fmla="val 134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50992" y="1901952"/>
            <a:ext cx="109728" cy="40782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web_app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6188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Permisos acotados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6188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necesario.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5961888" y="373075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83133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permitido.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5961888" y="438912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489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limitado.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5961888" y="50474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0" y="5148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DROP/TRUNCATE.</a:t>
            </a:r>
            <a:endParaRPr lang="en-US" sz="11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Como Auditor SQL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detectar patrones, no para aprobar ejecución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340096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0840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auditoría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919472" cy="3438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73952" y="1901952"/>
            <a:ext cx="3712464" cy="4187952"/>
          </a:xfrm>
          <a:prstGeom prst="roundRect">
            <a:avLst>
              <a:gd name="adj" fmla="val 1478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73952" y="1901952"/>
            <a:ext cx="109728" cy="41879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84848" y="212140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Tú confirmas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784848" y="256032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humana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6784848" y="3072384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9440" y="3172968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 real.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6784848" y="3730752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9440" y="383133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existentes.</a:t>
            </a:r>
            <a:endParaRPr lang="en-US" sz="1120" dirty="0"/>
          </a:p>
        </p:txBody>
      </p:sp>
      <p:sp>
        <p:nvSpPr>
          <p:cNvPr id="22" name="Shape 18"/>
          <p:cNvSpPr/>
          <p:nvPr/>
        </p:nvSpPr>
        <p:spPr>
          <a:xfrm>
            <a:off x="6784848" y="4389120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49440" y="4489704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Índices.</a:t>
            </a:r>
            <a:endParaRPr lang="en-US" sz="1120" dirty="0"/>
          </a:p>
        </p:txBody>
      </p:sp>
      <p:sp>
        <p:nvSpPr>
          <p:cNvPr id="24" name="Shape 20"/>
          <p:cNvSpPr/>
          <p:nvPr/>
        </p:nvSpPr>
        <p:spPr>
          <a:xfrm>
            <a:off x="6784848" y="5047488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49440" y="5148072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Permisos de BD.</a:t>
            </a:r>
            <a:endParaRPr lang="en-US" sz="11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seguro separa intención, valores y permisos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115568"/>
          </a:xfrm>
          <a:prstGeom prst="roundRect">
            <a:avLst>
              <a:gd name="adj" fmla="val 57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defensa no es limpiar strings: es impedir que el usuario escriba la estructura del SQL.</a:t>
            </a:r>
            <a:endParaRPr lang="en-US" sz="2120" dirty="0"/>
          </a:p>
        </p:txBody>
      </p:sp>
      <p:sp>
        <p:nvSpPr>
          <p:cNvPr id="12" name="Shape 9"/>
          <p:cNvSpPr/>
          <p:nvPr/>
        </p:nvSpPr>
        <p:spPr>
          <a:xfrm>
            <a:off x="80467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840480"/>
            <a:ext cx="100584" cy="17556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Parámetros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separados.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318211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55264" y="3840480"/>
            <a:ext cx="100584" cy="17556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 blanca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343814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controlada.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555955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840480"/>
            <a:ext cx="100584" cy="1755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581558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explícito.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793699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0144" y="3840480"/>
            <a:ext cx="100584" cy="17556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Privilegios</a:t>
            </a:r>
            <a:endParaRPr lang="en-US" sz="1380" dirty="0"/>
          </a:p>
        </p:txBody>
      </p:sp>
      <p:sp>
        <p:nvSpPr>
          <p:cNvPr id="27" name="Text 24"/>
          <p:cNvSpPr/>
          <p:nvPr/>
        </p:nvSpPr>
        <p:spPr>
          <a:xfrm>
            <a:off x="819302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Daño limitado.</a:t>
            </a:r>
            <a:endParaRPr lang="en-US" sz="9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inyección SQL y parámetros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30358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214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91056" y="20665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 que un dato del usuario pase a modificar la instrucción SQL?</a:t>
            </a:r>
            <a:endParaRPr lang="en-US" sz="1360" dirty="0"/>
          </a:p>
        </p:txBody>
      </p:sp>
      <p:sp>
        <p:nvSpPr>
          <p:cNvPr id="14" name="Text 11"/>
          <p:cNvSpPr/>
          <p:nvPr/>
        </p:nvSpPr>
        <p:spPr>
          <a:xfrm>
            <a:off x="1591056" y="2779776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comillas, condiciones agregadas y comentarios dentro del query.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04672" y="3310128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4128" y="4443984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5295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91056" y="3474720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parametrizar protege mejor que intentar borrar palabras como `DROP` o `SELECT`?</a:t>
            </a:r>
            <a:endParaRPr lang="en-US" sz="1360" dirty="0"/>
          </a:p>
        </p:txBody>
      </p:sp>
      <p:sp>
        <p:nvSpPr>
          <p:cNvPr id="19" name="Text 16"/>
          <p:cNvSpPr/>
          <p:nvPr/>
        </p:nvSpPr>
        <p:spPr>
          <a:xfrm>
            <a:off x="1591056" y="4187952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separa valores de estructura en vez de perseguir todos los payloads posibles.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804672" y="4718304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5852160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4937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91056" y="4882896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usuario puede ordenar por columna, ¿por qué conviene usar una lista blanca?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1591056" y="5596128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los nombres de columna son estructura SQL, no valores normales.</a:t>
            </a:r>
            <a:endParaRPr lang="en-US" sz="106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852574"/>
            <a:ext cx="310896" cy="7150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7747" y="1572768"/>
            <a:ext cx="373075" cy="99486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3002" y="1852574"/>
            <a:ext cx="310896" cy="7150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38528" y="2267712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Autenticación y autorización: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quién eres y qué puedes hacer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938528" y="3547872"/>
            <a:ext cx="8156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login no protege nada si las operaciones no verifican permisos.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804672" y="5138928"/>
            <a:ext cx="9381744" cy="658368"/>
          </a:xfrm>
          <a:prstGeom prst="roundRect">
            <a:avLst>
              <a:gd name="adj" fmla="val 555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303520"/>
            <a:ext cx="8979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separar identidad, sesión/token y autorización antes de tocar datos protegidos.</a:t>
            </a:r>
            <a:endParaRPr lang="en-US" sz="16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Autenticación No Es Autorización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preguntas distintas, dos controles distintos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20240"/>
            <a:ext cx="4535424" cy="4005072"/>
          </a:xfrm>
          <a:prstGeom prst="roundRect">
            <a:avLst>
              <a:gd name="adj" fmla="val 1370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20240"/>
            <a:ext cx="109728" cy="40050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3969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Autenticación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7860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eres?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09067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19125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y contraseña.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15568" y="374904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4962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o token.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15568" y="440740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50799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verificable.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115568" y="5065776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6636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401 si falta.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650992" y="1920240"/>
            <a:ext cx="4535424" cy="4005072"/>
          </a:xfrm>
          <a:prstGeom prst="roundRect">
            <a:avLst>
              <a:gd name="adj" fmla="val 1370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50992" y="1920240"/>
            <a:ext cx="109728" cy="40050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13969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Autorización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61888" y="257860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puedes hacer?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61888" y="309067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19125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Dueño del recurso.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5961888" y="374904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84962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 o permiso.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5961888" y="440740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50799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permitido.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5961888" y="5065776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0" y="516636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403 si no puede.</a:t>
            </a:r>
            <a:endParaRPr lang="en-US" sz="11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 Como Flujo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solo un formulario con dos campos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58368" y="2286000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395728"/>
            <a:ext cx="100584" cy="18653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41401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914400" y="2688336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y contraseña.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2487168" y="332841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651760" y="2286000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24912" y="2395728"/>
            <a:ext cx="100584" cy="18653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07792" y="241401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2907792" y="2688336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y presencia.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80560" y="332841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645152" y="2286000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18304" y="2395728"/>
            <a:ext cx="100584" cy="18653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01184" y="241401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Búsqueda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4901184" y="2688336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en BD.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6473952" y="332841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638544" y="2286000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11696" y="2395728"/>
            <a:ext cx="100584" cy="18653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94576" y="241401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Verificación</a:t>
            </a:r>
            <a:endParaRPr lang="en-US" sz="1260" dirty="0"/>
          </a:p>
        </p:txBody>
      </p:sp>
      <p:sp>
        <p:nvSpPr>
          <p:cNvPr id="28" name="Text 25"/>
          <p:cNvSpPr/>
          <p:nvPr/>
        </p:nvSpPr>
        <p:spPr>
          <a:xfrm>
            <a:off x="6894576" y="2688336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 contra hash.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8467344" y="332841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631936" y="2286000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05088" y="2395728"/>
            <a:ext cx="100584" cy="18653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87968" y="241401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Credencial</a:t>
            </a:r>
            <a:endParaRPr lang="en-US" sz="1260" dirty="0"/>
          </a:p>
        </p:txBody>
      </p:sp>
      <p:sp>
        <p:nvSpPr>
          <p:cNvPr id="33" name="Text 30"/>
          <p:cNvSpPr/>
          <p:nvPr/>
        </p:nvSpPr>
        <p:spPr>
          <a:xfrm>
            <a:off x="8887968" y="2688336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o token.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804672" y="5138928"/>
            <a:ext cx="9381744" cy="603504"/>
          </a:xfrm>
          <a:prstGeom prst="roundRect">
            <a:avLst>
              <a:gd name="adj" fmla="val 606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5840" y="5303520"/>
            <a:ext cx="8979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servidor debe recordar identidad sin volver a pedir contraseña en cada request.</a:t>
            </a:r>
            <a:endParaRPr lang="en-US" sz="17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Contraseñas: Nunca Texto Plano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no necesita recordar la clave original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535424" cy="4078224"/>
          </a:xfrm>
          <a:prstGeom prst="roundRect">
            <a:avLst>
              <a:gd name="adj" fmla="val 134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01952"/>
            <a:ext cx="109728" cy="4078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Mala práctica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inmediata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= "123456"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1115568" y="373075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3133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en fuga de BD.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1115568" y="438912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489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aparecer en logs.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1115568" y="50474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48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Reutilizable en otros sitios.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5650992" y="1901952"/>
            <a:ext cx="4535424" cy="4078224"/>
          </a:xfrm>
          <a:prstGeom prst="roundRect">
            <a:avLst>
              <a:gd name="adj" fmla="val 134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50992" y="1901952"/>
            <a:ext cx="109728" cy="40782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 criterio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6188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protegida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6188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password_hash.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5961888" y="373075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83133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con librería.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5961888" y="438912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489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inventar hashing.</a:t>
            </a:r>
            <a:endParaRPr lang="en-US" sz="1040" dirty="0"/>
          </a:p>
        </p:txBody>
      </p:sp>
      <p:sp>
        <p:nvSpPr>
          <p:cNvPr id="32" name="Shape 29"/>
          <p:cNvSpPr/>
          <p:nvPr/>
        </p:nvSpPr>
        <p:spPr>
          <a:xfrm>
            <a:off x="5961888" y="50474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0" y="5148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devolver ni loguear.</a:t>
            </a:r>
            <a:endParaRPr lang="en-US" sz="104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Depurar No Justifica Filtrar Secretos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logs también son superficie de ataque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535424" cy="3328416"/>
          </a:xfrm>
          <a:prstGeom prst="roundRect">
            <a:avLst>
              <a:gd name="adj" fmla="val 109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42793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 práctica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114800" cy="25786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50992" y="1901952"/>
            <a:ext cx="4535424" cy="3328416"/>
          </a:xfrm>
          <a:prstGeom prst="roundRect">
            <a:avLst>
              <a:gd name="adj" fmla="val 109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79008" y="2011680"/>
            <a:ext cx="42793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88736" y="2084832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0448" y="2468880"/>
            <a:ext cx="4114800" cy="257860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04672" y="5577840"/>
            <a:ext cx="9381744" cy="475488"/>
          </a:xfrm>
          <a:prstGeom prst="roundRect">
            <a:avLst>
              <a:gd name="adj" fmla="val 7692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5840" y="5742432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Contraseñas, tokens y secretos nunca deben quedar en consola, logs ni respuestas.</a:t>
            </a:r>
            <a:endParaRPr lang="en-US" sz="15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Sesiones y Tokens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no recuerda identidad por sí solo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38528"/>
            <a:ext cx="4535424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3852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5798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con cookie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968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controlado por servidor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10896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20954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 identifica sesión.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15568" y="376732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6791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Servidor resuelve usuario.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15568" y="4425696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52628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revocarse.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115568" y="508406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8464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protección.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650992" y="1938528"/>
            <a:ext cx="4535424" cy="3968496"/>
          </a:xfrm>
          <a:prstGeom prst="roundRect">
            <a:avLst>
              <a:gd name="adj" fmla="val 1382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50992" y="1938528"/>
            <a:ext cx="109728" cy="39684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15798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61888" y="25968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Credencial enviada por cliente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61888" y="310896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20954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verificarse.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5961888" y="376732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86791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expirar.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5961888" y="4425696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52628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exponer en logs.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5961888" y="508406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0" y="518464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confiar sin firma.</a:t>
            </a:r>
            <a:endParaRPr lang="en-US" sz="11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`usuario_id` Desde Frontend Es Riesgo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no debe inventar su identidad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535424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42793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débil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114800" cy="2761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50992" y="1901952"/>
            <a:ext cx="4535424" cy="3511296"/>
          </a:xfrm>
          <a:prstGeom prst="roundRect">
            <a:avLst>
              <a:gd name="adj" fmla="val 156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50992" y="1901952"/>
            <a:ext cx="109728" cy="3511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6188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Ataque simple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96188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 número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596188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2648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otro id.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5961888" y="3602736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26480" y="37033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datos ajenos.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5961888" y="41330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26480" y="42336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Automatizar enumeración.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5961888" y="466344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26480" y="476402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Saltar ownership.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804672" y="5614416"/>
            <a:ext cx="9381744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5840" y="5779008"/>
            <a:ext cx="8979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backend debe resolver la identidad desde una credencial verificada.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Protegida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servidor pregunta a la sesión, no al JSON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907024" cy="4078224"/>
          </a:xfrm>
          <a:prstGeom prst="roundRect">
            <a:avLst>
              <a:gd name="adj" fmla="val 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6509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más seguro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486400" cy="33284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86016" y="1901952"/>
            <a:ext cx="3200400" cy="4078224"/>
          </a:xfrm>
          <a:prstGeom prst="roundRect">
            <a:avLst>
              <a:gd name="adj" fmla="val 1714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86016" y="1901952"/>
            <a:ext cx="109728" cy="40782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96912" y="2121408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296912" y="2560320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confiable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296912" y="3072384"/>
            <a:ext cx="257860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61504" y="317296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 auth.</a:t>
            </a:r>
            <a:endParaRPr lang="en-US" sz="1040" dirty="0"/>
          </a:p>
        </p:txBody>
      </p:sp>
      <p:sp>
        <p:nvSpPr>
          <p:cNvPr id="20" name="Shape 16"/>
          <p:cNvSpPr/>
          <p:nvPr/>
        </p:nvSpPr>
        <p:spPr>
          <a:xfrm>
            <a:off x="7296912" y="3730752"/>
            <a:ext cx="257860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61504" y="383133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desde sesión.</a:t>
            </a:r>
            <a:endParaRPr lang="en-US" sz="1040" dirty="0"/>
          </a:p>
        </p:txBody>
      </p:sp>
      <p:sp>
        <p:nvSpPr>
          <p:cNvPr id="22" name="Shape 18"/>
          <p:cNvSpPr/>
          <p:nvPr/>
        </p:nvSpPr>
        <p:spPr>
          <a:xfrm>
            <a:off x="7296912" y="4389120"/>
            <a:ext cx="257860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461504" y="4489704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explícito.</a:t>
            </a:r>
            <a:endParaRPr lang="en-US" sz="1040" dirty="0"/>
          </a:p>
        </p:txBody>
      </p:sp>
      <p:sp>
        <p:nvSpPr>
          <p:cNvPr id="24" name="Shape 20"/>
          <p:cNvSpPr/>
          <p:nvPr/>
        </p:nvSpPr>
        <p:spPr>
          <a:xfrm>
            <a:off x="7296912" y="5047488"/>
            <a:ext cx="257860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461504" y="514807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por usuario.</a:t>
            </a:r>
            <a:endParaRPr lang="en-US" sz="104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Autorizar Por Recurso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`PATCH /compras/:id` necesita más que estar logueado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907024" cy="4078224"/>
          </a:xfrm>
          <a:prstGeom prst="roundRect">
            <a:avLst>
              <a:gd name="adj" fmla="val 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6509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correcto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486400" cy="33284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86016" y="1901952"/>
            <a:ext cx="3200400" cy="4078224"/>
          </a:xfrm>
          <a:prstGeom prst="roundRect">
            <a:avLst>
              <a:gd name="adj" fmla="val 1714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86016" y="1901952"/>
            <a:ext cx="109728" cy="4078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96912" y="2121408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296912" y="2560320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cambiar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296912" y="3072384"/>
            <a:ext cx="257860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61504" y="317296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Existe.</a:t>
            </a:r>
            <a:endParaRPr lang="en-US" sz="1040" dirty="0"/>
          </a:p>
        </p:txBody>
      </p:sp>
      <p:sp>
        <p:nvSpPr>
          <p:cNvPr id="20" name="Shape 16"/>
          <p:cNvSpPr/>
          <p:nvPr/>
        </p:nvSpPr>
        <p:spPr>
          <a:xfrm>
            <a:off x="7296912" y="3730752"/>
            <a:ext cx="257860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61504" y="383133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Pertenece al usuario.</a:t>
            </a:r>
            <a:endParaRPr lang="en-US" sz="1040" dirty="0"/>
          </a:p>
        </p:txBody>
      </p:sp>
      <p:sp>
        <p:nvSpPr>
          <p:cNvPr id="22" name="Shape 18"/>
          <p:cNvSpPr/>
          <p:nvPr/>
        </p:nvSpPr>
        <p:spPr>
          <a:xfrm>
            <a:off x="7296912" y="4389120"/>
            <a:ext cx="257860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461504" y="4489704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permite cambio.</a:t>
            </a:r>
            <a:endParaRPr lang="en-US" sz="1040" dirty="0"/>
          </a:p>
        </p:txBody>
      </p:sp>
      <p:sp>
        <p:nvSpPr>
          <p:cNvPr id="24" name="Shape 20"/>
          <p:cNvSpPr/>
          <p:nvPr/>
        </p:nvSpPr>
        <p:spPr>
          <a:xfrm>
            <a:off x="7296912" y="5047488"/>
            <a:ext cx="257860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461504" y="514807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permitido.</a:t>
            </a:r>
            <a:endParaRPr lang="en-US" sz="10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Revelar Más de lo Necesario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veces un 404 protege mejor que explicar de más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535424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01952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riesgosa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pista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compra existe.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15568" y="373075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3133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tuya.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15568" y="438912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489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otros IDs.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115568" y="50474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48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 enumeración.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650992" y="1901952"/>
            <a:ext cx="4535424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50992" y="1901952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prudente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6188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información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6188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 no disponible.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5961888" y="373075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83133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confirmar existencia.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5961888" y="438912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489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interno conserva detalle.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5961888" y="50474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0" y="5148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maneja caso.</a:t>
            </a:r>
            <a:endParaRPr lang="en-US" sz="11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Roles y Permisos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Ocultar botones no protege endpoints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75104"/>
            <a:ext cx="9381744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75104"/>
            <a:ext cx="128016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122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Visitante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2798064" y="211226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contenido público.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6327648" y="211226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o editar datos privados.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2798064"/>
            <a:ext cx="9381744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2798064"/>
            <a:ext cx="128016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29352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2798064" y="293522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Gestionar recursos propios.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6327648" y="293522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recursos ajenos.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804672" y="3621024"/>
            <a:ext cx="9381744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4672" y="3621024"/>
            <a:ext cx="128016" cy="585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375818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Operador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2798064" y="375818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registros asignados.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6327648" y="375818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Administrar usuarios.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804672" y="4443984"/>
            <a:ext cx="9381744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" y="4443984"/>
            <a:ext cx="128016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5811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</a:t>
            </a:r>
            <a:endParaRPr lang="en-US" sz="1280" dirty="0"/>
          </a:p>
        </p:txBody>
      </p:sp>
      <p:sp>
        <p:nvSpPr>
          <p:cNvPr id="28" name="Text 25"/>
          <p:cNvSpPr/>
          <p:nvPr/>
        </p:nvSpPr>
        <p:spPr>
          <a:xfrm>
            <a:off x="2798064" y="45811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Configurar sistema.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6327648" y="458114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Saltarse auditoría.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804672" y="5504688"/>
            <a:ext cx="9381744" cy="493776"/>
          </a:xfrm>
          <a:prstGeom prst="roundRect">
            <a:avLst>
              <a:gd name="adj" fmla="val 740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5840" y="5669280"/>
            <a:ext cx="8979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frontend puede ocultar acciones; el backend debe bloquearlas.</a:t>
            </a:r>
            <a:endParaRPr lang="en-US" sz="162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`401` vs `403`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Ambos son seguridad, pero responden problemas distintos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38528"/>
            <a:ext cx="4535424" cy="3968496"/>
          </a:xfrm>
          <a:prstGeom prst="roundRect">
            <a:avLst>
              <a:gd name="adj" fmla="val 1382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38528"/>
            <a:ext cx="109728" cy="39684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5798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401 Unauthorized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968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identidad válida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10896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20954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inició sesión.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15568" y="376732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6791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ausente.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15568" y="4425696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52628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inválido.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115568" y="508406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8464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autenticarse.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650992" y="1938528"/>
            <a:ext cx="4535424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50992" y="1938528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15798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403 Forbidden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61888" y="25968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identidad, falta permiso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61888" y="310896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20954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válido.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5961888" y="376732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86791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 insuficiente.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5961888" y="4425696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52628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 ajeno.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5961888" y="508406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0" y="518464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prohibida.</a:t>
            </a:r>
            <a:endParaRPr lang="en-US" sz="112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Típicos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puede funcionar y seguir expuesto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381744" cy="4370832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de fallas frecuentes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PWD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23744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plano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Contraseñas guardadas o logueadas.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23744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Secretos en URL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 o passwords visibles.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23744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Confía en cliente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`usuario_id` desde JSON.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950976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0704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60704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72768" y="4407408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Solo oculta botón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73936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sigue abierto.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4041648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51376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51376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663440" y="4407408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revisa dueño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4864608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 recursos ajenos.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7132320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42048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42048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TTL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754112" y="4407408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55280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expiración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7955280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Sesiones o tokens eternos.</a:t>
            </a:r>
            <a:endParaRPr lang="en-US" sz="106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Como Revisor de Autenticación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detectar huecos, peligroso si aprueba sin pruebas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340096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0840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revisión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919472" cy="3438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73952" y="1901952"/>
            <a:ext cx="3712464" cy="4187952"/>
          </a:xfrm>
          <a:prstGeom prst="roundRect">
            <a:avLst>
              <a:gd name="adj" fmla="val 1478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73952" y="1901952"/>
            <a:ext cx="109728" cy="41879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84848" y="212140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Tú pruebas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784848" y="256032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la explicación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6784848" y="3072384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9440" y="3172968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user_id.</a:t>
            </a:r>
            <a:endParaRPr lang="en-US" sz="1040" dirty="0"/>
          </a:p>
        </p:txBody>
      </p:sp>
      <p:sp>
        <p:nvSpPr>
          <p:cNvPr id="20" name="Shape 16"/>
          <p:cNvSpPr/>
          <p:nvPr/>
        </p:nvSpPr>
        <p:spPr>
          <a:xfrm>
            <a:off x="6784848" y="3730752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9440" y="383133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recurso ajeno.</a:t>
            </a:r>
            <a:endParaRPr lang="en-US" sz="1040" dirty="0"/>
          </a:p>
        </p:txBody>
      </p:sp>
      <p:sp>
        <p:nvSpPr>
          <p:cNvPr id="22" name="Shape 18"/>
          <p:cNvSpPr/>
          <p:nvPr/>
        </p:nvSpPr>
        <p:spPr>
          <a:xfrm>
            <a:off x="6784848" y="4389120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49440" y="4489704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logs.</a:t>
            </a:r>
            <a:endParaRPr lang="en-US" sz="1040" dirty="0"/>
          </a:p>
        </p:txBody>
      </p:sp>
      <p:sp>
        <p:nvSpPr>
          <p:cNvPr id="24" name="Shape 20"/>
          <p:cNvSpPr/>
          <p:nvPr/>
        </p:nvSpPr>
        <p:spPr>
          <a:xfrm>
            <a:off x="6784848" y="5047488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49440" y="5148072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expiración.</a:t>
            </a:r>
            <a:endParaRPr lang="en-US" sz="104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sin autorización sigue siendo una puerta abierta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115568"/>
          </a:xfrm>
          <a:prstGeom prst="roundRect">
            <a:avLst>
              <a:gd name="adj" fmla="val 57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Autenticarse identifica al usuario; autorizar limita lo que puede hacer con cada recurso.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840480"/>
            <a:ext cx="100584" cy="17556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Identidad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o token verificado.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318211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55264" y="3840480"/>
            <a:ext cx="100584" cy="1755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Ownership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343814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 propio.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555955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840480"/>
            <a:ext cx="100584" cy="17556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Permisos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581558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 y acción permitida.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793699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0144" y="3840480"/>
            <a:ext cx="100584" cy="17556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</a:t>
            </a:r>
            <a:endParaRPr lang="en-US" sz="1380" dirty="0"/>
          </a:p>
        </p:txBody>
      </p:sp>
      <p:sp>
        <p:nvSpPr>
          <p:cNvPr id="27" name="Text 24"/>
          <p:cNvSpPr/>
          <p:nvPr/>
        </p:nvSpPr>
        <p:spPr>
          <a:xfrm>
            <a:off x="819302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revelar de más.</a:t>
            </a:r>
            <a:endParaRPr lang="en-US" sz="96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autenticación y autorización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30358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214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91056" y="20665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práctica hay entre saber quién es el usuario y saber qué puede modificar?</a:t>
            </a:r>
            <a:endParaRPr lang="en-US" sz="1360" dirty="0"/>
          </a:p>
        </p:txBody>
      </p:sp>
      <p:sp>
        <p:nvSpPr>
          <p:cNvPr id="14" name="Text 11"/>
          <p:cNvSpPr/>
          <p:nvPr/>
        </p:nvSpPr>
        <p:spPr>
          <a:xfrm>
            <a:off x="1591056" y="2779776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separa autenticación de autorización por recurso.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04672" y="3310128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4128" y="4443984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5295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91056" y="3474720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`usuario_id` enviado desde el frontend no debería decidir qué compras consultar?</a:t>
            </a:r>
            <a:endParaRPr lang="en-US" sz="1360" dirty="0"/>
          </a:p>
        </p:txBody>
      </p:sp>
      <p:sp>
        <p:nvSpPr>
          <p:cNvPr id="19" name="Text 16"/>
          <p:cNvSpPr/>
          <p:nvPr/>
        </p:nvSpPr>
        <p:spPr>
          <a:xfrm>
            <a:off x="1591056" y="4187952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manipulación del JSON y enumeración de IDs.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804672" y="4718304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5852160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4937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91056" y="4882896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ejecutar `PATCH /compras/:id`, ¿qué condiciones debería revisar el backend?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1591056" y="5596128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identidad, dueño del recurso, estado actual y campos permitidos.</a:t>
            </a:r>
            <a:endParaRPr lang="en-US" sz="106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852574"/>
            <a:ext cx="310896" cy="7150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7747" y="1572768"/>
            <a:ext cx="373075" cy="99486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3002" y="1852574"/>
            <a:ext cx="310896" cy="7150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38528" y="228600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seguros: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fallar sin regalar información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38528" y="3547872"/>
            <a:ext cx="8156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error también es una respuesta pública del sistema.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804672" y="5138928"/>
            <a:ext cx="9381744" cy="658368"/>
          </a:xfrm>
          <a:prstGeom prst="roundRect">
            <a:avLst>
              <a:gd name="adj" fmla="val 555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303520"/>
            <a:ext cx="8979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diagnosticar sin exponer SQL, rutas internas, secretos ni estructura de base de datos.</a:t>
            </a:r>
            <a:endParaRPr lang="en-US" sz="163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Error También Comunica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orientar al usuario o ayudar al atacante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042416"/>
          </a:xfrm>
          <a:prstGeom prst="roundRect">
            <a:avLst>
              <a:gd name="adj" fmla="val 350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una app falla, decide qué información queda fuera y qué queda solo para el equipo técnico.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822192"/>
            <a:ext cx="2194560" cy="170078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931920"/>
            <a:ext cx="100584" cy="14813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9502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4224528"/>
            <a:ext cx="18653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Queries, tablas o columnas.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182112" y="3822192"/>
            <a:ext cx="2194560" cy="170078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55264" y="3931920"/>
            <a:ext cx="100584" cy="14813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39502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3438144" y="4224528"/>
            <a:ext cx="18653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Rutas, archivos o stack trace.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5559552" y="3822192"/>
            <a:ext cx="2194560" cy="170078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931920"/>
            <a:ext cx="100584" cy="14813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9502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Versiones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5815584" y="4224528"/>
            <a:ext cx="18653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BD o librerías.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7936992" y="3822192"/>
            <a:ext cx="2194560" cy="170078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0144" y="3931920"/>
            <a:ext cx="100584" cy="14813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9502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Secretos</a:t>
            </a:r>
            <a:endParaRPr lang="en-US" sz="1380" dirty="0"/>
          </a:p>
        </p:txBody>
      </p:sp>
      <p:sp>
        <p:nvSpPr>
          <p:cNvPr id="27" name="Text 24"/>
          <p:cNvSpPr/>
          <p:nvPr/>
        </p:nvSpPr>
        <p:spPr>
          <a:xfrm>
            <a:off x="8193024" y="4224528"/>
            <a:ext cx="18653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Tokens, hashes o credenciales.</a:t>
            </a:r>
            <a:endParaRPr lang="en-US" sz="94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Insegura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depurar, peligrosa para publicar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815584" cy="4078224"/>
          </a:xfrm>
          <a:prstGeom prst="roundRect">
            <a:avLst>
              <a:gd name="adj" fmla="val 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5595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340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filtrado al cliente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394960" cy="33284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94576" y="1901952"/>
            <a:ext cx="3291840" cy="4078224"/>
          </a:xfrm>
          <a:prstGeom prst="roundRect">
            <a:avLst>
              <a:gd name="adj" fmla="val 166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94576" y="1901952"/>
            <a:ext cx="109728" cy="4078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05472" y="21214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Filtra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205472" y="256032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Pistas técnicas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205472" y="3072384"/>
            <a:ext cx="267004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70064" y="317296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 sensible.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7205472" y="3730752"/>
            <a:ext cx="267004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70064" y="383133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interna.</a:t>
            </a:r>
            <a:endParaRPr lang="en-US" sz="1120" dirty="0"/>
          </a:p>
        </p:txBody>
      </p:sp>
      <p:sp>
        <p:nvSpPr>
          <p:cNvPr id="22" name="Shape 18"/>
          <p:cNvSpPr/>
          <p:nvPr/>
        </p:nvSpPr>
        <p:spPr>
          <a:xfrm>
            <a:off x="7205472" y="4389120"/>
            <a:ext cx="267004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70064" y="448970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Fragmento SQL.</a:t>
            </a:r>
            <a:endParaRPr lang="en-US" sz="1120" dirty="0"/>
          </a:p>
        </p:txBody>
      </p:sp>
      <p:sp>
        <p:nvSpPr>
          <p:cNvPr id="24" name="Shape 20"/>
          <p:cNvSpPr/>
          <p:nvPr/>
        </p:nvSpPr>
        <p:spPr>
          <a:xfrm>
            <a:off x="7205472" y="5047488"/>
            <a:ext cx="2670048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70064" y="51480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del servidor.</a:t>
            </a:r>
            <a:endParaRPr lang="en-US" sz="112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 vs Log Técnico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audiencias, dos niveles de detalle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443984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41879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recibe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023360" cy="2761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559552" y="1901952"/>
            <a:ext cx="4626864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87568" y="2011680"/>
            <a:ext cx="437083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97296" y="2084832"/>
            <a:ext cx="4151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interno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9008" y="2468880"/>
            <a:ext cx="4206240" cy="276148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04672" y="5596128"/>
            <a:ext cx="9381744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5840" y="5760720"/>
            <a:ext cx="8979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detalle técnico se conserva, pero no se expone públicamente.</a:t>
            </a:r>
            <a:endParaRPr lang="en-US" sz="15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Códigos HTTP Seguros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 error debe terminar en 500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381744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883664"/>
            <a:ext cx="109728" cy="4754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0253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1901952" y="200253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inválidos.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5285232" y="2002536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la solicitud.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4672" y="2505456"/>
            <a:ext cx="9381744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2505456"/>
            <a:ext cx="109728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26243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1901952" y="262432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identidad válida.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5285232" y="2624328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Debes iniciar sesión.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04672" y="3127248"/>
            <a:ext cx="9381744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4672" y="3127248"/>
            <a:ext cx="109728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324612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1901952" y="3246120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permiso.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5285232" y="3246120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no permitida.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804672" y="3749040"/>
            <a:ext cx="9381744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" y="3749040"/>
            <a:ext cx="109728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86791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1240" dirty="0"/>
          </a:p>
        </p:txBody>
      </p:sp>
      <p:sp>
        <p:nvSpPr>
          <p:cNvPr id="28" name="Text 25"/>
          <p:cNvSpPr/>
          <p:nvPr/>
        </p:nvSpPr>
        <p:spPr>
          <a:xfrm>
            <a:off x="1901952" y="386791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 no disponible.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5285232" y="3867912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 no encontrado.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804672" y="4370832"/>
            <a:ext cx="9381744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4672" y="4370832"/>
            <a:ext cx="109728" cy="4754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60704" y="448970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</a:t>
            </a:r>
            <a:endParaRPr lang="en-US" sz="1240" dirty="0"/>
          </a:p>
        </p:txBody>
      </p:sp>
      <p:sp>
        <p:nvSpPr>
          <p:cNvPr id="33" name="Text 30"/>
          <p:cNvSpPr/>
          <p:nvPr/>
        </p:nvSpPr>
        <p:spPr>
          <a:xfrm>
            <a:off x="1901952" y="448970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Conflicto de estado.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5285232" y="4489704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puede modificarse ahora.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804672" y="4992624"/>
            <a:ext cx="9381744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4672" y="4992624"/>
            <a:ext cx="109728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60704" y="511149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240" dirty="0"/>
          </a:p>
        </p:txBody>
      </p:sp>
      <p:sp>
        <p:nvSpPr>
          <p:cNvPr id="38" name="Text 35"/>
          <p:cNvSpPr/>
          <p:nvPr/>
        </p:nvSpPr>
        <p:spPr>
          <a:xfrm>
            <a:off x="1901952" y="511149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Fallo interno.</a:t>
            </a:r>
            <a:endParaRPr lang="en-US" sz="1080" dirty="0"/>
          </a:p>
        </p:txBody>
      </p:sp>
      <p:sp>
        <p:nvSpPr>
          <p:cNvPr id="39" name="Text 36"/>
          <p:cNvSpPr/>
          <p:nvPr/>
        </p:nvSpPr>
        <p:spPr>
          <a:xfrm>
            <a:off x="5285232" y="5111496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fue posible procesar.</a:t>
            </a:r>
            <a:endParaRPr lang="en-US" sz="1080" dirty="0"/>
          </a:p>
        </p:txBody>
      </p:sp>
      <p:sp>
        <p:nvSpPr>
          <p:cNvPr id="40" name="Shape 37"/>
          <p:cNvSpPr/>
          <p:nvPr/>
        </p:nvSpPr>
        <p:spPr>
          <a:xfrm>
            <a:off x="804672" y="5650992"/>
            <a:ext cx="9381744" cy="384048"/>
          </a:xfrm>
          <a:prstGeom prst="roundRect">
            <a:avLst>
              <a:gd name="adj" fmla="val 95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5840" y="5815584"/>
            <a:ext cx="89794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código correcto ayuda al frontend sin revelar internals.</a:t>
            </a:r>
            <a:endParaRPr lang="en-US" sz="136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Login: No Enumerar Usuarios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error no debe confirmar si un correo existe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535424" cy="3968496"/>
          </a:xfrm>
          <a:prstGeom prst="roundRect">
            <a:avLst>
              <a:gd name="adj" fmla="val 138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01952"/>
            <a:ext cx="109728" cy="3968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Riesgoso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pista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email existe.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15568" y="373075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3133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clave está mal.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15568" y="438912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489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otro password.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115568" y="50474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48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enumerar cuentas.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650992" y="1901952"/>
            <a:ext cx="4535424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50992" y="1901952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1214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seguro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61888" y="25603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uniforme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61888" y="307238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172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Credenciales inválidas.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5961888" y="3730752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83133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confirma existencia.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5961888" y="438912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489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interno conserva causa.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5961888" y="504748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0" y="5148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muestra acción clara.</a:t>
            </a:r>
            <a:endParaRPr lang="en-US" sz="112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de Base de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 errores técnicos a respuestas seguras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828032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45720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Filtración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407408" cy="2834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25312" y="1901952"/>
            <a:ext cx="4261104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53328" y="2011680"/>
            <a:ext cx="40050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63056" y="2084832"/>
            <a:ext cx="3785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4768" y="2468880"/>
            <a:ext cx="3840480" cy="28346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04672" y="5596128"/>
            <a:ext cx="9381744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5840" y="5760720"/>
            <a:ext cx="8979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cliente no necesita conocer nombres de índices, tablas o constraints.</a:t>
            </a:r>
            <a:endParaRPr lang="en-US" sz="15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Hardening Mínimo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base defensiva para cualquier CRUD inicial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381744" cy="4370832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mínimos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23744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backend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Tipos, rangos, formatos.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23744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Parámetros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separados del query.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23744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Sesión/token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verificada.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950976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0704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60704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72768" y="4407408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Ownership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73936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Dueño, rol o permiso.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4041648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51376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51376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663440" y="4407408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seguros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4864608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SQL ni stack trace.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7132320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42048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42048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754112" y="4407408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55280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Menor privilegio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7955280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permisos administrativos.</a:t>
            </a:r>
            <a:endParaRPr lang="en-US" sz="106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Negativas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lo que no debería funcionar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381744" cy="4370832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que deben fallar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23744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 negativo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 ruta inválida.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23744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Correo roto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aceptar formato inválido.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395728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23744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420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 ajeno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34640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editar datos de otro.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950976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0704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60704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572768" y="4407408"/>
            <a:ext cx="73152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73936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gigante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1773936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Controlar longitud.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4041648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51376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51376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663440" y="4407408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Campos extra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4864608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Ignorar o rechazar.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7132320" y="4279392"/>
            <a:ext cx="2907792" cy="171907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42048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42048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754112" y="4407408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55280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Payload SQL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7955280" y="4718304"/>
            <a:ext cx="1956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alterar consulta.</a:t>
            </a:r>
            <a:endParaRPr lang="en-US" sz="106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Payload Que Debe Fallar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negativa simple revela decisiones de seguridad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6071616" cy="4005072"/>
          </a:xfrm>
          <a:prstGeom prst="roundRect">
            <a:avLst>
              <a:gd name="adj" fmla="val 91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81558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5596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manual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5650992" cy="32552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50608" y="1901952"/>
            <a:ext cx="3035808" cy="4005072"/>
          </a:xfrm>
          <a:prstGeom prst="roundRect">
            <a:avLst>
              <a:gd name="adj" fmla="val 180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50608" y="1901952"/>
            <a:ext cx="109728" cy="40050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61504" y="212140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Debe revisar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461504" y="256032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461504" y="3072384"/>
            <a:ext cx="241401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26096" y="317296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Ignorar user_id.</a:t>
            </a:r>
            <a:endParaRPr lang="en-US" sz="1040" dirty="0"/>
          </a:p>
        </p:txBody>
      </p:sp>
      <p:sp>
        <p:nvSpPr>
          <p:cNvPr id="20" name="Shape 16"/>
          <p:cNvSpPr/>
          <p:nvPr/>
        </p:nvSpPr>
        <p:spPr>
          <a:xfrm>
            <a:off x="7461504" y="3730752"/>
            <a:ext cx="241401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626096" y="383133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 estado.</a:t>
            </a:r>
            <a:endParaRPr lang="en-US" sz="1040" dirty="0"/>
          </a:p>
        </p:txBody>
      </p:sp>
      <p:sp>
        <p:nvSpPr>
          <p:cNvPr id="22" name="Shape 18"/>
          <p:cNvSpPr/>
          <p:nvPr/>
        </p:nvSpPr>
        <p:spPr>
          <a:xfrm>
            <a:off x="7461504" y="4389120"/>
            <a:ext cx="241401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626096" y="448970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Resolver sesión.</a:t>
            </a:r>
            <a:endParaRPr lang="en-US" sz="1040" dirty="0"/>
          </a:p>
        </p:txBody>
      </p:sp>
      <p:sp>
        <p:nvSpPr>
          <p:cNvPr id="24" name="Shape 20"/>
          <p:cNvSpPr/>
          <p:nvPr/>
        </p:nvSpPr>
        <p:spPr>
          <a:xfrm>
            <a:off x="7461504" y="5047488"/>
            <a:ext cx="2414016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26096" y="514807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persistir basura.</a:t>
            </a:r>
            <a:endParaRPr lang="en-US" sz="104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Como QA de Seguridad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 casos, pero no reemplaza ejecución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340096" cy="4187952"/>
          </a:xfrm>
          <a:prstGeom prst="roundRect">
            <a:avLst>
              <a:gd name="adj" fmla="val 8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50840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cierre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919472" cy="3438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73952" y="1901952"/>
            <a:ext cx="3712464" cy="4187952"/>
          </a:xfrm>
          <a:prstGeom prst="roundRect">
            <a:avLst>
              <a:gd name="adj" fmla="val 1478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73952" y="1901952"/>
            <a:ext cx="109728" cy="41879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84848" y="212140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Tú compruebas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784848" y="256032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real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6784848" y="3072384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9440" y="3172968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pruebas.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6784848" y="3730752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9440" y="383133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respuestas.</a:t>
            </a:r>
            <a:endParaRPr lang="en-US" sz="1120" dirty="0"/>
          </a:p>
        </p:txBody>
      </p:sp>
      <p:sp>
        <p:nvSpPr>
          <p:cNvPr id="22" name="Shape 18"/>
          <p:cNvSpPr/>
          <p:nvPr/>
        </p:nvSpPr>
        <p:spPr>
          <a:xfrm>
            <a:off x="6784848" y="4389120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49440" y="4489704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logs.</a:t>
            </a:r>
            <a:endParaRPr lang="en-US" sz="1120" dirty="0"/>
          </a:p>
        </p:txBody>
      </p:sp>
      <p:sp>
        <p:nvSpPr>
          <p:cNvPr id="24" name="Shape 20"/>
          <p:cNvSpPr/>
          <p:nvPr/>
        </p:nvSpPr>
        <p:spPr>
          <a:xfrm>
            <a:off x="6784848" y="5047488"/>
            <a:ext cx="309067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49440" y="5148072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BD.</a:t>
            </a:r>
            <a:endParaRPr lang="en-US" sz="112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Fallar bien también es parte de la seguridad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115568"/>
          </a:xfrm>
          <a:prstGeom prst="roundRect">
            <a:avLst>
              <a:gd name="adj" fmla="val 57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usuario necesita una respuesta útil; el atacante no necesita tu arquitectura interna.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840480"/>
            <a:ext cx="100584" cy="17556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Responder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seguro.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318211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55264" y="3840480"/>
            <a:ext cx="100584" cy="17556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Registrar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343814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 controlado.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555955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840480"/>
            <a:ext cx="100584" cy="1755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581558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negativos.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7936992" y="3730752"/>
            <a:ext cx="2194560" cy="1975104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0144" y="3840480"/>
            <a:ext cx="100584" cy="17556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587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</a:t>
            </a:r>
            <a:endParaRPr lang="en-US" sz="1380" dirty="0"/>
          </a:p>
        </p:txBody>
      </p:sp>
      <p:sp>
        <p:nvSpPr>
          <p:cNvPr id="27" name="Text 24"/>
          <p:cNvSpPr/>
          <p:nvPr/>
        </p:nvSpPr>
        <p:spPr>
          <a:xfrm>
            <a:off x="8193024" y="4133088"/>
            <a:ext cx="18653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mínimo.</a:t>
            </a:r>
            <a:endParaRPr lang="en-US" sz="96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errores seguros y hardening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303580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214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91056" y="206654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query SQL o stack trace no debería aparecer en una respuesta pública?</a:t>
            </a:r>
            <a:endParaRPr lang="en-US" sz="1360" dirty="0"/>
          </a:p>
        </p:txBody>
      </p:sp>
      <p:sp>
        <p:nvSpPr>
          <p:cNvPr id="14" name="Text 11"/>
          <p:cNvSpPr/>
          <p:nvPr/>
        </p:nvSpPr>
        <p:spPr>
          <a:xfrm>
            <a:off x="1591056" y="2779776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relaciona estructura interna, pistas para ataques y exposición de datos.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04672" y="3310128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4128" y="4443984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5295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91056" y="3474720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hay entre registrar un error en logs y mostrarlo al usuario?</a:t>
            </a:r>
            <a:endParaRPr lang="en-US" sz="1360" dirty="0"/>
          </a:p>
        </p:txBody>
      </p:sp>
      <p:sp>
        <p:nvSpPr>
          <p:cNvPr id="19" name="Text 16"/>
          <p:cNvSpPr/>
          <p:nvPr/>
        </p:nvSpPr>
        <p:spPr>
          <a:xfrm>
            <a:off x="1591056" y="4187952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audiencias distintas y niveles de detalle distintos.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804672" y="4718304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5852160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49377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91056" y="4882896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prueba negativa harías para verificar que una compra no acepta `usuario_id` del cliente?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1591056" y="5596128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envía un payload manipulado y revisa respuesta, logs y base de datos.</a:t>
            </a:r>
            <a:endParaRPr lang="en-US" sz="106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Final de Capas Defensivas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se acumula en cada frontera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58368" y="2395728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505456"/>
            <a:ext cx="100584" cy="18653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914400" y="2798064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2487168" y="341985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651760" y="2395728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24912" y="2505456"/>
            <a:ext cx="100584" cy="18653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07792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2907792" y="2798064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Parametrizar.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4480560" y="341985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645152" y="2395728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18304" y="2505456"/>
            <a:ext cx="100584" cy="18653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01184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Identidad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4901184" y="2798064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Autenticar.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6473952" y="341985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638544" y="2395728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11696" y="2505456"/>
            <a:ext cx="100584" cy="18653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94576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</a:t>
            </a:r>
            <a:endParaRPr lang="en-US" sz="1320" dirty="0"/>
          </a:p>
        </p:txBody>
      </p:sp>
      <p:sp>
        <p:nvSpPr>
          <p:cNvPr id="28" name="Text 25"/>
          <p:cNvSpPr/>
          <p:nvPr/>
        </p:nvSpPr>
        <p:spPr>
          <a:xfrm>
            <a:off x="6894576" y="2798064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Autorizar.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8467344" y="3419856"/>
            <a:ext cx="31089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631936" y="2395728"/>
            <a:ext cx="1755648" cy="208483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05088" y="2505456"/>
            <a:ext cx="100584" cy="18653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87968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8887968" y="2798064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filtrar.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04672" y="5230368"/>
            <a:ext cx="9381744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5840" y="5394960"/>
            <a:ext cx="8979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app defendible no depende de una sola barrera.</a:t>
            </a:r>
            <a:endParaRPr lang="en-US" sz="174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Antes de Entregar un CRUD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Diez preguntas mínimas antes de decir “listo”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381744" cy="4370832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final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395728"/>
            <a:ext cx="4453128" cy="109118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23744"/>
            <a:ext cx="73152" cy="835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4203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valida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34640"/>
            <a:ext cx="3502152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Obligatorios, tipos, formatos y rangos.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395728"/>
            <a:ext cx="4453128" cy="109118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523744"/>
            <a:ext cx="73152" cy="835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54203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parametrizado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834640"/>
            <a:ext cx="3502152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concatenación de entradas.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3651504"/>
            <a:ext cx="4453128" cy="109118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37795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8252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3779520"/>
            <a:ext cx="73152" cy="8351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379780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Identidad verificada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090416"/>
            <a:ext cx="3502152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Sesión/token, no user_id desde cliente.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3651504"/>
            <a:ext cx="4453128" cy="109118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37795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38252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3779520"/>
            <a:ext cx="73152" cy="835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379780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Permisos revisados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090416"/>
            <a:ext cx="3502152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Dueño, rol, estado y acción permitida.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950976" y="4907280"/>
            <a:ext cx="4453128" cy="109118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60704" y="503529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60704" y="508101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1572768" y="5035296"/>
            <a:ext cx="73152" cy="835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773936" y="505358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seguros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1773936" y="5346192"/>
            <a:ext cx="3502152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SQL, rutas, stack traces ni secretos.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5586984" y="4907280"/>
            <a:ext cx="4453128" cy="109118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96712" y="503529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96712" y="508101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6208776" y="5035296"/>
            <a:ext cx="73152" cy="8351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9944" y="505358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negativas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6409944" y="5346192"/>
            <a:ext cx="3502152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inválidos realmente ejecutados.</a:t>
            </a:r>
            <a:endParaRPr lang="en-US" sz="106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“Funciona” a “Resiste”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estándar sube cuando hay datos reales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38528"/>
            <a:ext cx="4535424" cy="3968496"/>
          </a:xfrm>
          <a:prstGeom prst="roundRect">
            <a:avLst>
              <a:gd name="adj" fmla="val 1382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938528"/>
            <a:ext cx="109728" cy="39684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5798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5968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feliz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15568" y="310896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20954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 envía.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1115568" y="376732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86791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responde.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1115568" y="4425696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0160" y="452628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guarda.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1115568" y="508406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518464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se ve bien.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650992" y="1938528"/>
            <a:ext cx="4535424" cy="3968496"/>
          </a:xfrm>
          <a:prstGeom prst="roundRect">
            <a:avLst>
              <a:gd name="adj" fmla="val 1382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50992" y="1938528"/>
            <a:ext cx="109728" cy="3968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15798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Resiste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61888" y="25968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profesional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5961888" y="3108960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20954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 basura.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5961888" y="3767328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86791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permisos.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5961888" y="4425696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52628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filtra errores.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5961888" y="5084064"/>
            <a:ext cx="391363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0" y="518464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fallos.</a:t>
            </a:r>
            <a:endParaRPr lang="en-US" sz="112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 Semana 08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intermedio sobre una base más segura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1243584"/>
          </a:xfrm>
          <a:prstGeom prst="roundRect">
            <a:avLst>
              <a:gd name="adj" fmla="val 51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8979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próxima semana las consultas serán más potentes: joins, agregaciones y conexión aplicación-base de datos. La seguridad de hoy será la base para usarlas con criterio.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04672" y="3712464"/>
            <a:ext cx="9381744" cy="2267712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84048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913632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arrastra a SQL intermedio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4224528"/>
            <a:ext cx="2907792" cy="1499616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3525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3982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352544"/>
            <a:ext cx="73152" cy="12435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3708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Exposición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66344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tablas, más cuidado.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4041648" y="4224528"/>
            <a:ext cx="2907792" cy="1499616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51376" y="43525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51376" y="43982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663440" y="4352544"/>
            <a:ext cx="73152" cy="12435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43708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Volumen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4864608" y="466344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datos, más límites.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7132320" y="4224528"/>
            <a:ext cx="2907792" cy="1499616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42048" y="43525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42048" y="43982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7754112" y="4352544"/>
            <a:ext cx="73152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55280" y="43708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Integración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7955280" y="466344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flujo, más validación.</a:t>
            </a:r>
            <a:endParaRPr lang="en-US" sz="106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21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Salida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general de la clase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980944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06654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91056" y="2011680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control aplicarías primero si una API acepta cualquier JSON que le llega?</a:t>
            </a:r>
            <a:endParaRPr lang="en-US" sz="1360" dirty="0"/>
          </a:p>
        </p:txBody>
      </p:sp>
      <p:sp>
        <p:nvSpPr>
          <p:cNvPr id="14" name="Text 11"/>
          <p:cNvSpPr/>
          <p:nvPr/>
        </p:nvSpPr>
        <p:spPr>
          <a:xfrm>
            <a:off x="1591056" y="2724912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parte por validación de backend y separación de campos permitidos.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04672" y="3054096"/>
            <a:ext cx="109728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4128" y="4187952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2735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91056" y="3218688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¿Cuál es la diferencia entre parametrizar SQL y validar formato de entrada?</a:t>
            </a:r>
            <a:endParaRPr lang="en-US" sz="1360" dirty="0"/>
          </a:p>
        </p:txBody>
      </p:sp>
      <p:sp>
        <p:nvSpPr>
          <p:cNvPr id="19" name="Text 16"/>
          <p:cNvSpPr/>
          <p:nvPr/>
        </p:nvSpPr>
        <p:spPr>
          <a:xfrm>
            <a:off x="1591056" y="3931920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una defensa revisa el dato; la otra separa dato e instrucción.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804672" y="4261104"/>
            <a:ext cx="109728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5394960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44805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91056" y="4425696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login correcto no basta para permitir editar cualquier recurso?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1591056" y="5138928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falta autorización: dueño, rol, estado y acción.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804672" y="5468112"/>
            <a:ext cx="10972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24128" y="6601968"/>
            <a:ext cx="916228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97280" y="56875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591056" y="5632704"/>
            <a:ext cx="8302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debería revisar un agente y qué debes comprobar tú antes de confiar en su sugerencia?</a:t>
            </a:r>
            <a:endParaRPr lang="en-US" sz="1360" dirty="0"/>
          </a:p>
        </p:txBody>
      </p:sp>
      <p:sp>
        <p:nvSpPr>
          <p:cNvPr id="29" name="Text 26"/>
          <p:cNvSpPr/>
          <p:nvPr/>
        </p:nvSpPr>
        <p:spPr>
          <a:xfrm>
            <a:off x="1591056" y="6345936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distingue auditoría sugerida de pruebas reales con datos y respuestas.</a:t>
            </a:r>
            <a:endParaRPr lang="en-US" sz="106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728216"/>
            <a:ext cx="274320" cy="6309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" y="1481328"/>
            <a:ext cx="329184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1728216"/>
            <a:ext cx="274320" cy="6309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487168"/>
            <a:ext cx="9052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aplicada: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antes de ejecución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04672" y="3822192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aplicación profesional no solo guarda datos: controla quién entra, qué cambia, qué expone y cómo falla.</a:t>
            </a:r>
            <a:endParaRPr lang="en-US" sz="1580" dirty="0"/>
          </a:p>
        </p:txBody>
      </p:sp>
      <p:sp>
        <p:nvSpPr>
          <p:cNvPr id="7" name="Shape 5"/>
          <p:cNvSpPr/>
          <p:nvPr/>
        </p:nvSpPr>
        <p:spPr>
          <a:xfrm>
            <a:off x="804672" y="5321808"/>
            <a:ext cx="9381744" cy="566928"/>
          </a:xfrm>
          <a:prstGeom prst="roundRect">
            <a:avLst>
              <a:gd name="adj" fmla="val 6452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486400"/>
            <a:ext cx="8979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Próxima clase: SQL intermedio, joins y agregaciones.</a:t>
            </a:r>
            <a:endParaRPr lang="en-US" sz="1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aplicada: validación, autenticación y manejo de errores</dc:title>
  <dc:subject>Clase 21</dc:subject>
  <dc:creator>Diego Obando</dc:creator>
  <cp:lastModifiedBy>Diego Obando</cp:lastModifiedBy>
  <cp:revision>1</cp:revision>
  <dcterms:created xsi:type="dcterms:W3CDTF">2026-04-26T23:44:30Z</dcterms:created>
  <dcterms:modified xsi:type="dcterms:W3CDTF">2026-04-26T23:44:30Z</dcterms:modified>
</cp:coreProperties>
</file>