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</p:sldIdLst>
  <p:notesMasterIdLst>
    <p:notesMasterId r:id="rId9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notesMaster" Target="notesMasters/notesMaster1.xml"/><Relationship Id="rId96" Type="http://schemas.openxmlformats.org/officeDocument/2006/relationships/presProps" Target="presProps.xml"/><Relationship Id="rId97" Type="http://schemas.openxmlformats.org/officeDocument/2006/relationships/viewProps" Target="viewProps.xml"/><Relationship Id="rId98" Type="http://schemas.openxmlformats.org/officeDocument/2006/relationships/theme" Target="theme/theme1.xml"/><Relationship Id="rId9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iego Obando\dev\pro301-taller-de-aplicaciones-para-internet\.agent\skills\slides-aiep\assets\logo-ai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566928"/>
            <a:ext cx="1097280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4672" y="1585935"/>
            <a:ext cx="197510" cy="45427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41684" y="1408176"/>
            <a:ext cx="237012" cy="632033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318199" y="1585935"/>
            <a:ext cx="197510" cy="45427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" y="2029968"/>
            <a:ext cx="804672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Fundamentos de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deep learning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804672" y="3822192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Neuronas, perceptrón, entrenamiento y generalización</a:t>
            </a:r>
            <a:endParaRPr lang="en-US" sz="1720" dirty="0"/>
          </a:p>
        </p:txBody>
      </p:sp>
      <p:sp>
        <p:nvSpPr>
          <p:cNvPr id="8" name="Text 5"/>
          <p:cNvSpPr/>
          <p:nvPr/>
        </p:nvSpPr>
        <p:spPr>
          <a:xfrm>
            <a:off x="804672" y="523036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E2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Semana 08 · Clase 23 · Unidad 03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741664" y="1225296"/>
            <a:ext cx="2340864" cy="4133088"/>
          </a:xfrm>
          <a:prstGeom prst="roundRect">
            <a:avLst>
              <a:gd name="adj" fmla="val 2344"/>
            </a:avLst>
          </a:prstGeom>
          <a:solidFill>
            <a:srgbClr val="183B63">
              <a:alpha val="88000"/>
            </a:srgbClr>
          </a:solidFill>
          <a:ln w="12700">
            <a:solidFill>
              <a:srgbClr val="244F7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491472" y="1572768"/>
            <a:ext cx="530352" cy="530352"/>
          </a:xfrm>
          <a:prstGeom prst="ellipse">
            <a:avLst/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491472" y="168249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9756648" y="2103120"/>
            <a:ext cx="0" cy="329184"/>
          </a:xfrm>
          <a:prstGeom prst="line">
            <a:avLst/>
          </a:prstGeom>
          <a:noFill/>
          <a:ln w="12700">
            <a:solidFill>
              <a:srgbClr val="E0BC5A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9491472" y="2267712"/>
            <a:ext cx="530352" cy="530352"/>
          </a:xfrm>
          <a:prstGeom prst="ellipse">
            <a:avLst/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491472" y="2377440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9756648" y="2798064"/>
            <a:ext cx="0" cy="329184"/>
          </a:xfrm>
          <a:prstGeom prst="line">
            <a:avLst/>
          </a:prstGeom>
          <a:noFill/>
          <a:ln w="12700">
            <a:solidFill>
              <a:srgbClr val="E0BC5A"/>
            </a:solidFill>
            <a:prstDash val="solid"/>
            <a:headEnd type="none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9491472" y="2962656"/>
            <a:ext cx="530352" cy="530352"/>
          </a:xfrm>
          <a:prstGeom prst="ellipse">
            <a:avLst/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491472" y="307238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9756648" y="3493008"/>
            <a:ext cx="0" cy="329184"/>
          </a:xfrm>
          <a:prstGeom prst="line">
            <a:avLst/>
          </a:prstGeom>
          <a:noFill/>
          <a:ln w="12700">
            <a:solidFill>
              <a:srgbClr val="E0BC5A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9491472" y="3657600"/>
            <a:ext cx="530352" cy="530352"/>
          </a:xfrm>
          <a:prstGeom prst="ellipse">
            <a:avLst/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491472" y="376732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9756648" y="4187952"/>
            <a:ext cx="0" cy="329184"/>
          </a:xfrm>
          <a:prstGeom prst="line">
            <a:avLst/>
          </a:prstGeom>
          <a:noFill/>
          <a:ln w="12700">
            <a:solidFill>
              <a:srgbClr val="E0BC5A"/>
            </a:solidFill>
            <a:prstDash val="solid"/>
            <a:headEnd type="none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9491472" y="4352544"/>
            <a:ext cx="530352" cy="53035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491472" y="446227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ŷ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9070848" y="4956048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leer procesos,</a:t>
            </a:r>
            <a:endParaRPr lang="en-US" sz="1160" dirty="0"/>
          </a:p>
          <a:p>
            <a:pPr algn="ctr" indent="0" marL="0">
              <a:buNone/>
            </a:pPr>
            <a:r>
              <a:rPr lang="en-US" sz="11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memorizar símbolos</a:t>
            </a:r>
            <a:endParaRPr lang="en-US" sz="11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Introducción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Mapa De La Clase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ruta desde señales biológicas hasta evaluación de modelos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04672" y="1993392"/>
            <a:ext cx="2340864" cy="3127248"/>
          </a:xfrm>
          <a:prstGeom prst="roundRect">
            <a:avLst>
              <a:gd name="adj" fmla="val 156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4400" y="2139696"/>
            <a:ext cx="109728" cy="28346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176272"/>
            <a:ext cx="1883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01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1115568" y="2432304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Inspiración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115568" y="2871216"/>
            <a:ext cx="1865376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neurona biológica a abstracción artificial.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3200400" y="3529584"/>
            <a:ext cx="164592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3383280" y="1993392"/>
            <a:ext cx="2340864" cy="3127248"/>
          </a:xfrm>
          <a:prstGeom prst="roundRect">
            <a:avLst>
              <a:gd name="adj" fmla="val 1563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493008" y="2139696"/>
            <a:ext cx="109728" cy="28346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94176" y="2176272"/>
            <a:ext cx="1883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02</a:t>
            </a:r>
            <a:endParaRPr lang="en-US" sz="840" dirty="0"/>
          </a:p>
        </p:txBody>
      </p:sp>
      <p:sp>
        <p:nvSpPr>
          <p:cNvPr id="19" name="Text 16"/>
          <p:cNvSpPr/>
          <p:nvPr/>
        </p:nvSpPr>
        <p:spPr>
          <a:xfrm>
            <a:off x="3694176" y="2432304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Decisión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3694176" y="2871216"/>
            <a:ext cx="1865376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Perceptrón, clasificación binaria y umbral.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5779008" y="3529584"/>
            <a:ext cx="164592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5961888" y="1993392"/>
            <a:ext cx="2340864" cy="3127248"/>
          </a:xfrm>
          <a:prstGeom prst="roundRect">
            <a:avLst>
              <a:gd name="adj" fmla="val 156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071616" y="2139696"/>
            <a:ext cx="109728" cy="28346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72784" y="2176272"/>
            <a:ext cx="1883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03</a:t>
            </a:r>
            <a:endParaRPr lang="en-US" sz="840" dirty="0"/>
          </a:p>
        </p:txBody>
      </p:sp>
      <p:sp>
        <p:nvSpPr>
          <p:cNvPr id="25" name="Text 22"/>
          <p:cNvSpPr/>
          <p:nvPr/>
        </p:nvSpPr>
        <p:spPr>
          <a:xfrm>
            <a:off x="6272784" y="2432304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Aprendizaje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272784" y="2871216"/>
            <a:ext cx="1865376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Predicción, error, pérdida y ajuste.</a:t>
            </a:r>
            <a:endParaRPr lang="en-US" sz="1020" dirty="0"/>
          </a:p>
        </p:txBody>
      </p:sp>
      <p:sp>
        <p:nvSpPr>
          <p:cNvPr id="27" name="Shape 24"/>
          <p:cNvSpPr/>
          <p:nvPr/>
        </p:nvSpPr>
        <p:spPr>
          <a:xfrm>
            <a:off x="8357616" y="3529584"/>
            <a:ext cx="164592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8540496" y="1993392"/>
            <a:ext cx="2340864" cy="3127248"/>
          </a:xfrm>
          <a:prstGeom prst="roundRect">
            <a:avLst>
              <a:gd name="adj" fmla="val 15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650224" y="2139696"/>
            <a:ext cx="109728" cy="2834640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851392" y="2176272"/>
            <a:ext cx="1883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04</a:t>
            </a:r>
            <a:endParaRPr lang="en-US" sz="840" dirty="0"/>
          </a:p>
        </p:txBody>
      </p:sp>
      <p:sp>
        <p:nvSpPr>
          <p:cNvPr id="31" name="Text 28"/>
          <p:cNvSpPr/>
          <p:nvPr/>
        </p:nvSpPr>
        <p:spPr>
          <a:xfrm>
            <a:off x="8851392" y="2432304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Evaluación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8851392" y="2871216"/>
            <a:ext cx="1865376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Generalización, overfitting y seguridad.</a:t>
            </a:r>
            <a:endParaRPr lang="en-US" sz="1020" dirty="0"/>
          </a:p>
        </p:txBody>
      </p:sp>
      <p:sp>
        <p:nvSpPr>
          <p:cNvPr id="33" name="Shape 30"/>
          <p:cNvSpPr/>
          <p:nvPr/>
        </p:nvSpPr>
        <p:spPr>
          <a:xfrm>
            <a:off x="786384" y="5376672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87552" y="5513832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meta no es dominar cálculo hoy: es entender qué representa cada operación.</a:t>
            </a:r>
            <a:endParaRPr lang="en-US" sz="14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Introducción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 Qué Esta Clase Importa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usar LLMs y agentes, necesitamos entender qué hace un modelo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41248" y="1901952"/>
            <a:ext cx="6583680" cy="1847088"/>
          </a:xfrm>
          <a:prstGeom prst="roundRect">
            <a:avLst>
              <a:gd name="adj" fmla="val 198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42416" y="2066544"/>
            <a:ext cx="6181344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IA útil no aparece por magia: transforma datos, calcula predicciones y debe ser evaluada.</a:t>
            </a:r>
            <a:endParaRPr lang="en-US" sz="2300" dirty="0"/>
          </a:p>
        </p:txBody>
      </p:sp>
      <p:sp>
        <p:nvSpPr>
          <p:cNvPr id="12" name="Shape 9"/>
          <p:cNvSpPr/>
          <p:nvPr/>
        </p:nvSpPr>
        <p:spPr>
          <a:xfrm>
            <a:off x="7735824" y="1901952"/>
            <a:ext cx="2743200" cy="1847088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845552" y="2048256"/>
            <a:ext cx="109728" cy="155448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46720" y="2084832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</a:t>
            </a:r>
            <a:endParaRPr lang="en-US" sz="840" dirty="0"/>
          </a:p>
        </p:txBody>
      </p:sp>
      <p:sp>
        <p:nvSpPr>
          <p:cNvPr id="15" name="Text 12"/>
          <p:cNvSpPr/>
          <p:nvPr/>
        </p:nvSpPr>
        <p:spPr>
          <a:xfrm>
            <a:off x="8046720" y="2340864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usar sin entender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046720" y="2779776"/>
            <a:ext cx="226771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el modelo falla, automatiza errores con apariencia técnica.</a:t>
            </a:r>
            <a:endParaRPr lang="en-US" sz="1030" dirty="0"/>
          </a:p>
        </p:txBody>
      </p:sp>
      <p:sp>
        <p:nvSpPr>
          <p:cNvPr id="17" name="Shape 14"/>
          <p:cNvSpPr/>
          <p:nvPr/>
        </p:nvSpPr>
        <p:spPr>
          <a:xfrm>
            <a:off x="841248" y="4151376"/>
            <a:ext cx="3017520" cy="950976"/>
          </a:xfrm>
          <a:prstGeom prst="roundRect">
            <a:avLst>
              <a:gd name="adj" fmla="val 2885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14400" y="4261104"/>
            <a:ext cx="100584" cy="7315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97280" y="4279392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Dato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1097280" y="4553712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entra al sistema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041648" y="4151376"/>
            <a:ext cx="3017520" cy="950976"/>
          </a:xfrm>
          <a:prstGeom prst="roundRect">
            <a:avLst>
              <a:gd name="adj" fmla="val 2885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114800" y="4261104"/>
            <a:ext cx="100584" cy="73152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297680" y="4279392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4297680" y="4553712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transforma señales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7242048" y="4151376"/>
            <a:ext cx="3236976" cy="950976"/>
          </a:xfrm>
          <a:prstGeom prst="roundRect">
            <a:avLst>
              <a:gd name="adj" fmla="val 2885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315200" y="4261104"/>
            <a:ext cx="100584" cy="73152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498080" y="4279392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Validación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7498080" y="4553712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qué no basta con acertar una vez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Introducción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Es Magia, Es Un Proceso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vocabulario correcto evita explicaciones falsas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41248" y="1993392"/>
            <a:ext cx="4572000" cy="2926080"/>
          </a:xfrm>
          <a:prstGeom prst="roundRect">
            <a:avLst>
              <a:gd name="adj" fmla="val 125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0976" y="2139696"/>
            <a:ext cx="109728" cy="263347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52144" y="21762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MALA LECTURA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1152144" y="2432304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red piensa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152144" y="2871216"/>
            <a:ext cx="4096512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Suena intuitivo, pero confunde cálculo con comprensión humana. Una red produce una salida según datos, parámetros y entrenamiento.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760720" y="1993392"/>
            <a:ext cx="4572000" cy="2926080"/>
          </a:xfrm>
          <a:prstGeom prst="roundRect">
            <a:avLst>
              <a:gd name="adj" fmla="val 125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70448" y="2139696"/>
            <a:ext cx="109728" cy="263347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71616" y="21762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TÉCNICA</a:t>
            </a:r>
            <a:endParaRPr lang="en-US" sz="840" dirty="0"/>
          </a:p>
        </p:txBody>
      </p:sp>
      <p:sp>
        <p:nvSpPr>
          <p:cNvPr id="18" name="Text 15"/>
          <p:cNvSpPr/>
          <p:nvPr/>
        </p:nvSpPr>
        <p:spPr>
          <a:xfrm>
            <a:off x="6071616" y="2432304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red calcula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071616" y="2871216"/>
            <a:ext cx="4096512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Combina entradas, pesos y sesgos; transforma señales; predice; luego debe medirse contra datos reales.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86384" y="5376672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87552" y="5513832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IA aplicada, una predicción no es una verdad: es una salida que debe evaluarse.</a:t>
            </a:r>
            <a:endParaRPr lang="en-US" sz="14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Introducción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Las Fórmulas Serán Pocas, Pero Importantes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leeremos como procesos, no como decoración matemática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41248" y="1874520"/>
            <a:ext cx="4443984" cy="1664208"/>
          </a:xfrm>
          <a:prstGeom prst="roundRect">
            <a:avLst>
              <a:gd name="adj" fmla="val 274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0976" y="2020824"/>
            <a:ext cx="109728" cy="137160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33856" y="2002536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Señal total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1097280" y="2404872"/>
            <a:ext cx="3931920" cy="384048"/>
          </a:xfrm>
          <a:prstGeom prst="roundRect">
            <a:avLst>
              <a:gd name="adj" fmla="val 952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25296" y="2542032"/>
            <a:ext cx="3675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w1*x1 + w2*x2 + ... + b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097280" y="28620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entrada aporta según su peso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1097280" y="3191256"/>
            <a:ext cx="1249680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70432" y="3241548"/>
            <a:ext cx="1103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2438400" y="3191256"/>
            <a:ext cx="1249680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511552" y="3241548"/>
            <a:ext cx="1103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peso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3779520" y="3191256"/>
            <a:ext cx="1249680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852672" y="3241548"/>
            <a:ext cx="1103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sesgo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5632704" y="1874520"/>
            <a:ext cx="4443984" cy="1664208"/>
          </a:xfrm>
          <a:prstGeom prst="roundRect">
            <a:avLst>
              <a:gd name="adj" fmla="val 274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742432" y="2020824"/>
            <a:ext cx="109728" cy="137160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25312" y="2002536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</a:t>
            </a:r>
            <a:endParaRPr lang="en-US" sz="1450" dirty="0"/>
          </a:p>
        </p:txBody>
      </p:sp>
      <p:sp>
        <p:nvSpPr>
          <p:cNvPr id="25" name="Shape 22"/>
          <p:cNvSpPr/>
          <p:nvPr/>
        </p:nvSpPr>
        <p:spPr>
          <a:xfrm>
            <a:off x="5888736" y="2404872"/>
            <a:ext cx="3931920" cy="384048"/>
          </a:xfrm>
          <a:prstGeom prst="roundRect">
            <a:avLst>
              <a:gd name="adj" fmla="val 952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016752" y="2542032"/>
            <a:ext cx="3675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= y - ŷ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888736" y="28620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 lo correcto con lo predicho</a:t>
            </a:r>
            <a:endParaRPr lang="en-US" sz="1080" dirty="0"/>
          </a:p>
        </p:txBody>
      </p:sp>
      <p:sp>
        <p:nvSpPr>
          <p:cNvPr id="28" name="Shape 25"/>
          <p:cNvSpPr/>
          <p:nvPr/>
        </p:nvSpPr>
        <p:spPr>
          <a:xfrm>
            <a:off x="5888736" y="3191256"/>
            <a:ext cx="1920240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61888" y="3241548"/>
            <a:ext cx="1773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</a:t>
            </a:r>
            <a:endParaRPr lang="en-US" sz="780" dirty="0"/>
          </a:p>
        </p:txBody>
      </p:sp>
      <p:sp>
        <p:nvSpPr>
          <p:cNvPr id="30" name="Shape 27"/>
          <p:cNvSpPr/>
          <p:nvPr/>
        </p:nvSpPr>
        <p:spPr>
          <a:xfrm>
            <a:off x="7900416" y="3191256"/>
            <a:ext cx="1920240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973568" y="3241548"/>
            <a:ext cx="1773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predicción</a:t>
            </a:r>
            <a:endParaRPr lang="en-US" sz="780" dirty="0"/>
          </a:p>
        </p:txBody>
      </p:sp>
      <p:sp>
        <p:nvSpPr>
          <p:cNvPr id="32" name="Shape 29"/>
          <p:cNvSpPr/>
          <p:nvPr/>
        </p:nvSpPr>
        <p:spPr>
          <a:xfrm>
            <a:off x="3236976" y="3931920"/>
            <a:ext cx="4443984" cy="1664208"/>
          </a:xfrm>
          <a:prstGeom prst="roundRect">
            <a:avLst>
              <a:gd name="adj" fmla="val 274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346704" y="4078224"/>
            <a:ext cx="109728" cy="137160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29584" y="4059936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Pérdida</a:t>
            </a:r>
            <a:endParaRPr lang="en-US" sz="1450" dirty="0"/>
          </a:p>
        </p:txBody>
      </p:sp>
      <p:sp>
        <p:nvSpPr>
          <p:cNvPr id="35" name="Shape 32"/>
          <p:cNvSpPr/>
          <p:nvPr/>
        </p:nvSpPr>
        <p:spPr>
          <a:xfrm>
            <a:off x="3493008" y="4462272"/>
            <a:ext cx="3931920" cy="384048"/>
          </a:xfrm>
          <a:prstGeom prst="roundRect">
            <a:avLst>
              <a:gd name="adj" fmla="val 952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621024" y="4599432"/>
            <a:ext cx="3675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(y - ŷ)^2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3493008" y="49194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mide qué tan lejos estuvo el modelo</a:t>
            </a:r>
            <a:endParaRPr lang="en-US" sz="1080" dirty="0"/>
          </a:p>
        </p:txBody>
      </p:sp>
      <p:sp>
        <p:nvSpPr>
          <p:cNvPr id="38" name="Shape 35"/>
          <p:cNvSpPr/>
          <p:nvPr/>
        </p:nvSpPr>
        <p:spPr>
          <a:xfrm>
            <a:off x="3493008" y="5248656"/>
            <a:ext cx="1249680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566160" y="5298948"/>
            <a:ext cx="1103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medir</a:t>
            </a:r>
            <a:endParaRPr lang="en-US" sz="780" dirty="0"/>
          </a:p>
        </p:txBody>
      </p:sp>
      <p:sp>
        <p:nvSpPr>
          <p:cNvPr id="40" name="Shape 37"/>
          <p:cNvSpPr/>
          <p:nvPr/>
        </p:nvSpPr>
        <p:spPr>
          <a:xfrm>
            <a:off x="4834128" y="5248656"/>
            <a:ext cx="1249680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907280" y="5298948"/>
            <a:ext cx="1103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comparar</a:t>
            </a:r>
            <a:endParaRPr lang="en-US" sz="780" dirty="0"/>
          </a:p>
        </p:txBody>
      </p:sp>
      <p:sp>
        <p:nvSpPr>
          <p:cNvPr id="42" name="Shape 39"/>
          <p:cNvSpPr/>
          <p:nvPr/>
        </p:nvSpPr>
        <p:spPr>
          <a:xfrm>
            <a:off x="6175248" y="5248656"/>
            <a:ext cx="1249680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248400" y="5298948"/>
            <a:ext cx="1103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ajustar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566928"/>
            <a:ext cx="658368" cy="3474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4672" y="829544"/>
            <a:ext cx="190195" cy="437449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32906" y="658368"/>
            <a:ext cx="228234" cy="608625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99180" y="829544"/>
            <a:ext cx="190195" cy="437449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" y="149961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04672" y="2066544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la neurona biológica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la neurona artificial</a:t>
            </a:r>
            <a:endParaRPr lang="en-US" sz="3500" dirty="0"/>
          </a:p>
        </p:txBody>
      </p:sp>
      <p:sp>
        <p:nvSpPr>
          <p:cNvPr id="8" name="Text 5"/>
          <p:cNvSpPr/>
          <p:nvPr/>
        </p:nvSpPr>
        <p:spPr>
          <a:xfrm>
            <a:off x="841248" y="387705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D9E2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idea clave: muchas señales pequeñas pueden combinarse para producir una respuesta.</a:t>
            </a:r>
            <a:endParaRPr lang="en-US" sz="1620" dirty="0"/>
          </a:p>
        </p:txBody>
      </p:sp>
      <p:sp>
        <p:nvSpPr>
          <p:cNvPr id="9" name="Shape 6"/>
          <p:cNvSpPr/>
          <p:nvPr/>
        </p:nvSpPr>
        <p:spPr>
          <a:xfrm>
            <a:off x="7242048" y="4407408"/>
            <a:ext cx="3218688" cy="1225296"/>
          </a:xfrm>
          <a:prstGeom prst="roundRect">
            <a:avLst>
              <a:gd name="adj" fmla="val 3731"/>
            </a:avLst>
          </a:prstGeom>
          <a:solidFill>
            <a:srgbClr val="183B63"/>
          </a:solidFill>
          <a:ln w="12700">
            <a:solidFill>
              <a:srgbClr val="244F7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51776" y="4553712"/>
            <a:ext cx="109728" cy="9326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34656" y="4535424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Primera fórmula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552944" y="4864608"/>
            <a:ext cx="2596896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0" y="4965192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Σ(wi*xi) + b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552944" y="5285232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señales con importancia</a:t>
            </a:r>
            <a:endParaRPr lang="en-US" sz="8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 Qué Se Llaman Redes Neuronales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nombre viene de una inspiración, no de una copia literal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41248" y="1901952"/>
            <a:ext cx="9619488" cy="1115568"/>
          </a:xfrm>
          <a:prstGeom prst="roundRect">
            <a:avLst>
              <a:gd name="adj" fmla="val 327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42416" y="2066544"/>
            <a:ext cx="92171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neurona recibe señales, las integra y puede activar una respuesta.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841248" y="3438144"/>
            <a:ext cx="2889504" cy="1481328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50976" y="3584448"/>
            <a:ext cx="109728" cy="11887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52144" y="3621024"/>
            <a:ext cx="2432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1</a:t>
            </a:r>
            <a:endParaRPr lang="en-US" sz="840" dirty="0"/>
          </a:p>
        </p:txBody>
      </p:sp>
      <p:sp>
        <p:nvSpPr>
          <p:cNvPr id="15" name="Text 12"/>
          <p:cNvSpPr/>
          <p:nvPr/>
        </p:nvSpPr>
        <p:spPr>
          <a:xfrm>
            <a:off x="1152144" y="3877056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Recibe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152144" y="4315968"/>
            <a:ext cx="2414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llegan señales desde otras neuronas</a:t>
            </a:r>
            <a:endParaRPr lang="en-US" sz="1020" dirty="0"/>
          </a:p>
        </p:txBody>
      </p:sp>
      <p:sp>
        <p:nvSpPr>
          <p:cNvPr id="17" name="Shape 14"/>
          <p:cNvSpPr/>
          <p:nvPr/>
        </p:nvSpPr>
        <p:spPr>
          <a:xfrm>
            <a:off x="4078224" y="3438144"/>
            <a:ext cx="2889504" cy="1481328"/>
          </a:xfrm>
          <a:prstGeom prst="roundRect">
            <a:avLst>
              <a:gd name="adj" fmla="val 2469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87952" y="3584448"/>
            <a:ext cx="109728" cy="118872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389120" y="3621024"/>
            <a:ext cx="2432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2</a:t>
            </a:r>
            <a:endParaRPr lang="en-US" sz="840" dirty="0"/>
          </a:p>
        </p:txBody>
      </p:sp>
      <p:sp>
        <p:nvSpPr>
          <p:cNvPr id="20" name="Text 17"/>
          <p:cNvSpPr/>
          <p:nvPr/>
        </p:nvSpPr>
        <p:spPr>
          <a:xfrm>
            <a:off x="4389120" y="3877056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Integra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389120" y="4315968"/>
            <a:ext cx="2414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señal acumulada se combina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7315200" y="3438144"/>
            <a:ext cx="2889504" cy="1481328"/>
          </a:xfrm>
          <a:prstGeom prst="roundRect">
            <a:avLst>
              <a:gd name="adj" fmla="val 246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424928" y="3584448"/>
            <a:ext cx="109728" cy="118872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626096" y="3621024"/>
            <a:ext cx="2432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3</a:t>
            </a:r>
            <a:endParaRPr lang="en-US" sz="840" dirty="0"/>
          </a:p>
        </p:txBody>
      </p:sp>
      <p:sp>
        <p:nvSpPr>
          <p:cNvPr id="25" name="Text 22"/>
          <p:cNvSpPr/>
          <p:nvPr/>
        </p:nvSpPr>
        <p:spPr>
          <a:xfrm>
            <a:off x="7626096" y="3877056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Activa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626096" y="4315968"/>
            <a:ext cx="24140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supera un umbral, produce respuesta</a:t>
            </a:r>
            <a:endParaRPr lang="en-US" sz="1020" dirty="0"/>
          </a:p>
        </p:txBody>
      </p:sp>
      <p:sp>
        <p:nvSpPr>
          <p:cNvPr id="27" name="Shape 24"/>
          <p:cNvSpPr/>
          <p:nvPr/>
        </p:nvSpPr>
        <p:spPr>
          <a:xfrm>
            <a:off x="786384" y="5376672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87552" y="5513832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abstracción artificial conserva la estructura: entrada, combinación, activación y salida.</a:t>
            </a:r>
            <a:endParaRPr lang="en-US" sz="14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Anatomía Mínima De Una Neurona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necesitamos neurociencia profunda: necesitamos el patrón funcional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41248" y="1938528"/>
            <a:ext cx="5084064" cy="3584448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0976" y="2084832"/>
            <a:ext cx="109728" cy="32918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810512" y="2962656"/>
            <a:ext cx="384048" cy="493776"/>
          </a:xfrm>
          <a:prstGeom prst="line">
            <a:avLst/>
          </a:prstGeom>
          <a:noFill/>
          <a:ln w="12700">
            <a:solidFill>
              <a:srgbClr val="B65A66"/>
            </a:solidFill>
            <a:prstDash val="solid"/>
            <a:headEnd type="none"/>
            <a:tailEnd type="none"/>
          </a:ln>
        </p:spPr>
      </p:sp>
      <p:sp>
        <p:nvSpPr>
          <p:cNvPr id="13" name="Shape 10"/>
          <p:cNvSpPr/>
          <p:nvPr/>
        </p:nvSpPr>
        <p:spPr>
          <a:xfrm>
            <a:off x="1280160" y="2377440"/>
            <a:ext cx="530352" cy="585216"/>
          </a:xfrm>
          <a:prstGeom prst="line">
            <a:avLst/>
          </a:prstGeom>
          <a:noFill/>
          <a:ln w="12700">
            <a:solidFill>
              <a:srgbClr val="B65A66"/>
            </a:solidFill>
            <a:prstDash val="solid"/>
            <a:headEnd type="none"/>
            <a:tailEnd type="none"/>
          </a:ln>
        </p:spPr>
      </p:sp>
      <p:sp>
        <p:nvSpPr>
          <p:cNvPr id="14" name="Shape 11"/>
          <p:cNvSpPr/>
          <p:nvPr/>
        </p:nvSpPr>
        <p:spPr>
          <a:xfrm>
            <a:off x="1243584" y="2340864"/>
            <a:ext cx="73152" cy="73152"/>
          </a:xfrm>
          <a:prstGeom prst="ellipse">
            <a:avLst/>
          </a:prstGeom>
          <a:solidFill>
            <a:srgbClr val="F8C4CA"/>
          </a:solidFill>
          <a:ln w="12700">
            <a:solidFill>
              <a:srgbClr val="B65A6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499616" y="2743200"/>
            <a:ext cx="310896" cy="219456"/>
          </a:xfrm>
          <a:prstGeom prst="line">
            <a:avLst/>
          </a:prstGeom>
          <a:noFill/>
          <a:ln w="12700">
            <a:solidFill>
              <a:srgbClr val="B65A66"/>
            </a:solidFill>
            <a:prstDash val="solid"/>
            <a:headEnd type="none"/>
            <a:tailEnd type="none"/>
          </a:ln>
        </p:spPr>
      </p:sp>
      <p:sp>
        <p:nvSpPr>
          <p:cNvPr id="16" name="Shape 13"/>
          <p:cNvSpPr/>
          <p:nvPr/>
        </p:nvSpPr>
        <p:spPr>
          <a:xfrm>
            <a:off x="1463040" y="2706624"/>
            <a:ext cx="73152" cy="73152"/>
          </a:xfrm>
          <a:prstGeom prst="ellipse">
            <a:avLst/>
          </a:prstGeom>
          <a:solidFill>
            <a:srgbClr val="F8C4CA"/>
          </a:solidFill>
          <a:ln w="12700">
            <a:solidFill>
              <a:srgbClr val="B65A6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flipH="1">
            <a:off x="1316736" y="2962656"/>
            <a:ext cx="493776" cy="274320"/>
          </a:xfrm>
          <a:prstGeom prst="line">
            <a:avLst/>
          </a:prstGeom>
          <a:noFill/>
          <a:ln w="12700">
            <a:solidFill>
              <a:srgbClr val="B65A66"/>
            </a:solidFill>
            <a:prstDash val="solid"/>
            <a:headEnd type="none"/>
            <a:tailEnd type="none"/>
          </a:ln>
        </p:spPr>
      </p:sp>
      <p:sp>
        <p:nvSpPr>
          <p:cNvPr id="18" name="Shape 15"/>
          <p:cNvSpPr/>
          <p:nvPr/>
        </p:nvSpPr>
        <p:spPr>
          <a:xfrm>
            <a:off x="1280160" y="3200400"/>
            <a:ext cx="73152" cy="73152"/>
          </a:xfrm>
          <a:prstGeom prst="ellipse">
            <a:avLst/>
          </a:prstGeom>
          <a:solidFill>
            <a:srgbClr val="F8C4CA"/>
          </a:solidFill>
          <a:ln w="12700">
            <a:solidFill>
              <a:srgbClr val="B65A6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flipH="1">
            <a:off x="1810512" y="2432304"/>
            <a:ext cx="128016" cy="530352"/>
          </a:xfrm>
          <a:prstGeom prst="line">
            <a:avLst/>
          </a:prstGeom>
          <a:noFill/>
          <a:ln w="12700">
            <a:solidFill>
              <a:srgbClr val="B65A66"/>
            </a:solidFill>
            <a:prstDash val="solid"/>
            <a:headEnd type="none"/>
            <a:tailEnd type="none"/>
          </a:ln>
        </p:spPr>
      </p:sp>
      <p:sp>
        <p:nvSpPr>
          <p:cNvPr id="20" name="Shape 17"/>
          <p:cNvSpPr/>
          <p:nvPr/>
        </p:nvSpPr>
        <p:spPr>
          <a:xfrm>
            <a:off x="1901952" y="2395728"/>
            <a:ext cx="73152" cy="73152"/>
          </a:xfrm>
          <a:prstGeom prst="ellipse">
            <a:avLst/>
          </a:prstGeom>
          <a:solidFill>
            <a:srgbClr val="F8C4CA"/>
          </a:solidFill>
          <a:ln w="12700">
            <a:solidFill>
              <a:srgbClr val="B65A6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 flipH="1">
            <a:off x="1645920" y="3749040"/>
            <a:ext cx="384048" cy="36576"/>
          </a:xfrm>
          <a:prstGeom prst="line">
            <a:avLst/>
          </a:prstGeom>
          <a:noFill/>
          <a:ln w="12700">
            <a:solidFill>
              <a:srgbClr val="B65A66"/>
            </a:solidFill>
            <a:prstDash val="solid"/>
            <a:headEnd type="none"/>
            <a:tailEnd type="none"/>
          </a:ln>
        </p:spPr>
      </p:sp>
      <p:sp>
        <p:nvSpPr>
          <p:cNvPr id="22" name="Shape 19"/>
          <p:cNvSpPr/>
          <p:nvPr/>
        </p:nvSpPr>
        <p:spPr>
          <a:xfrm>
            <a:off x="1152144" y="3456432"/>
            <a:ext cx="493776" cy="329184"/>
          </a:xfrm>
          <a:prstGeom prst="line">
            <a:avLst/>
          </a:prstGeom>
          <a:noFill/>
          <a:ln w="12700">
            <a:solidFill>
              <a:srgbClr val="B65A66"/>
            </a:solidFill>
            <a:prstDash val="solid"/>
            <a:headEnd type="none"/>
            <a:tailEnd type="none"/>
          </a:ln>
        </p:spPr>
      </p:sp>
      <p:sp>
        <p:nvSpPr>
          <p:cNvPr id="23" name="Shape 20"/>
          <p:cNvSpPr/>
          <p:nvPr/>
        </p:nvSpPr>
        <p:spPr>
          <a:xfrm>
            <a:off x="1115568" y="3419856"/>
            <a:ext cx="73152" cy="73152"/>
          </a:xfrm>
          <a:prstGeom prst="ellipse">
            <a:avLst/>
          </a:prstGeom>
          <a:solidFill>
            <a:srgbClr val="F8C4CA"/>
          </a:solidFill>
          <a:ln w="12700">
            <a:solidFill>
              <a:srgbClr val="B65A6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 flipH="1">
            <a:off x="1097280" y="3785616"/>
            <a:ext cx="548640" cy="256032"/>
          </a:xfrm>
          <a:prstGeom prst="line">
            <a:avLst/>
          </a:prstGeom>
          <a:noFill/>
          <a:ln w="12700">
            <a:solidFill>
              <a:srgbClr val="B65A66"/>
            </a:solidFill>
            <a:prstDash val="solid"/>
            <a:headEnd type="none"/>
            <a:tailEnd type="none"/>
          </a:ln>
        </p:spPr>
      </p:sp>
      <p:sp>
        <p:nvSpPr>
          <p:cNvPr id="25" name="Shape 22"/>
          <p:cNvSpPr/>
          <p:nvPr/>
        </p:nvSpPr>
        <p:spPr>
          <a:xfrm>
            <a:off x="1060704" y="4005072"/>
            <a:ext cx="73152" cy="73152"/>
          </a:xfrm>
          <a:prstGeom prst="ellipse">
            <a:avLst/>
          </a:prstGeom>
          <a:solidFill>
            <a:srgbClr val="F8C4CA"/>
          </a:solidFill>
          <a:ln w="12700">
            <a:solidFill>
              <a:srgbClr val="B65A6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 flipH="1">
            <a:off x="1463040" y="3785616"/>
            <a:ext cx="182880" cy="603504"/>
          </a:xfrm>
          <a:prstGeom prst="line">
            <a:avLst/>
          </a:prstGeom>
          <a:noFill/>
          <a:ln w="12700">
            <a:solidFill>
              <a:srgbClr val="B65A66"/>
            </a:solidFill>
            <a:prstDash val="solid"/>
            <a:headEnd type="none"/>
            <a:tailEnd type="none"/>
          </a:ln>
        </p:spPr>
      </p:sp>
      <p:sp>
        <p:nvSpPr>
          <p:cNvPr id="27" name="Shape 24"/>
          <p:cNvSpPr/>
          <p:nvPr/>
        </p:nvSpPr>
        <p:spPr>
          <a:xfrm>
            <a:off x="1426464" y="4352544"/>
            <a:ext cx="73152" cy="73152"/>
          </a:xfrm>
          <a:prstGeom prst="ellipse">
            <a:avLst/>
          </a:prstGeom>
          <a:solidFill>
            <a:srgbClr val="F8C4CA"/>
          </a:solidFill>
          <a:ln w="12700">
            <a:solidFill>
              <a:srgbClr val="B65A6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261872" y="3767328"/>
            <a:ext cx="384048" cy="18288"/>
          </a:xfrm>
          <a:prstGeom prst="line">
            <a:avLst/>
          </a:prstGeom>
          <a:noFill/>
          <a:ln w="12700">
            <a:solidFill>
              <a:srgbClr val="B65A66"/>
            </a:solidFill>
            <a:prstDash val="solid"/>
            <a:headEnd type="none"/>
            <a:tailEnd type="none"/>
          </a:ln>
        </p:spPr>
      </p:sp>
      <p:sp>
        <p:nvSpPr>
          <p:cNvPr id="29" name="Shape 26"/>
          <p:cNvSpPr/>
          <p:nvPr/>
        </p:nvSpPr>
        <p:spPr>
          <a:xfrm>
            <a:off x="1225296" y="3730752"/>
            <a:ext cx="73152" cy="73152"/>
          </a:xfrm>
          <a:prstGeom prst="ellipse">
            <a:avLst/>
          </a:prstGeom>
          <a:solidFill>
            <a:srgbClr val="F8C4CA"/>
          </a:solidFill>
          <a:ln w="12700">
            <a:solidFill>
              <a:srgbClr val="B65A6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 flipH="1">
            <a:off x="1828800" y="4187952"/>
            <a:ext cx="420624" cy="493776"/>
          </a:xfrm>
          <a:prstGeom prst="line">
            <a:avLst/>
          </a:prstGeom>
          <a:noFill/>
          <a:ln w="12700">
            <a:solidFill>
              <a:srgbClr val="B65A66"/>
            </a:solidFill>
            <a:prstDash val="solid"/>
            <a:headEnd type="none"/>
            <a:tailEnd type="none"/>
          </a:ln>
        </p:spPr>
      </p:sp>
      <p:sp>
        <p:nvSpPr>
          <p:cNvPr id="31" name="Shape 28"/>
          <p:cNvSpPr/>
          <p:nvPr/>
        </p:nvSpPr>
        <p:spPr>
          <a:xfrm flipH="1">
            <a:off x="1280160" y="4681728"/>
            <a:ext cx="548640" cy="493776"/>
          </a:xfrm>
          <a:prstGeom prst="line">
            <a:avLst/>
          </a:prstGeom>
          <a:noFill/>
          <a:ln w="12700">
            <a:solidFill>
              <a:srgbClr val="B65A66"/>
            </a:solidFill>
            <a:prstDash val="solid"/>
            <a:headEnd type="none"/>
            <a:tailEnd type="none"/>
          </a:ln>
        </p:spPr>
      </p:sp>
      <p:sp>
        <p:nvSpPr>
          <p:cNvPr id="32" name="Shape 29"/>
          <p:cNvSpPr/>
          <p:nvPr/>
        </p:nvSpPr>
        <p:spPr>
          <a:xfrm>
            <a:off x="1243584" y="5138928"/>
            <a:ext cx="73152" cy="73152"/>
          </a:xfrm>
          <a:prstGeom prst="ellipse">
            <a:avLst/>
          </a:prstGeom>
          <a:solidFill>
            <a:srgbClr val="F8C4CA"/>
          </a:solidFill>
          <a:ln w="12700">
            <a:solidFill>
              <a:srgbClr val="B65A66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 flipH="1">
            <a:off x="1682496" y="4681728"/>
            <a:ext cx="146304" cy="347472"/>
          </a:xfrm>
          <a:prstGeom prst="line">
            <a:avLst/>
          </a:prstGeom>
          <a:noFill/>
          <a:ln w="12700">
            <a:solidFill>
              <a:srgbClr val="B65A66"/>
            </a:solidFill>
            <a:prstDash val="solid"/>
            <a:headEnd type="none"/>
            <a:tailEnd type="none"/>
          </a:ln>
        </p:spPr>
      </p:sp>
      <p:sp>
        <p:nvSpPr>
          <p:cNvPr id="34" name="Shape 31"/>
          <p:cNvSpPr/>
          <p:nvPr/>
        </p:nvSpPr>
        <p:spPr>
          <a:xfrm>
            <a:off x="1645920" y="4992624"/>
            <a:ext cx="73152" cy="73152"/>
          </a:xfrm>
          <a:prstGeom prst="ellipse">
            <a:avLst/>
          </a:prstGeom>
          <a:solidFill>
            <a:srgbClr val="F8C4CA"/>
          </a:solidFill>
          <a:ln w="12700">
            <a:solidFill>
              <a:srgbClr val="B65A66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408176" y="4590288"/>
            <a:ext cx="420624" cy="91440"/>
          </a:xfrm>
          <a:prstGeom prst="line">
            <a:avLst/>
          </a:prstGeom>
          <a:noFill/>
          <a:ln w="12700">
            <a:solidFill>
              <a:srgbClr val="B65A66"/>
            </a:solidFill>
            <a:prstDash val="solid"/>
            <a:headEnd type="none"/>
            <a:tailEnd type="none"/>
          </a:ln>
        </p:spPr>
      </p:sp>
      <p:sp>
        <p:nvSpPr>
          <p:cNvPr id="36" name="Shape 33"/>
          <p:cNvSpPr/>
          <p:nvPr/>
        </p:nvSpPr>
        <p:spPr>
          <a:xfrm>
            <a:off x="1371600" y="4553712"/>
            <a:ext cx="73152" cy="73152"/>
          </a:xfrm>
          <a:prstGeom prst="ellipse">
            <a:avLst/>
          </a:prstGeom>
          <a:solidFill>
            <a:srgbClr val="F8C4CA"/>
          </a:solidFill>
          <a:ln w="12700">
            <a:solidFill>
              <a:srgbClr val="B65A66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828800" y="4681728"/>
            <a:ext cx="237744" cy="420624"/>
          </a:xfrm>
          <a:prstGeom prst="line">
            <a:avLst/>
          </a:prstGeom>
          <a:noFill/>
          <a:ln w="12700">
            <a:solidFill>
              <a:srgbClr val="B65A66"/>
            </a:solidFill>
            <a:prstDash val="solid"/>
            <a:headEnd type="none"/>
            <a:tailEnd type="none"/>
          </a:ln>
        </p:spPr>
      </p:sp>
      <p:sp>
        <p:nvSpPr>
          <p:cNvPr id="38" name="Shape 35"/>
          <p:cNvSpPr/>
          <p:nvPr/>
        </p:nvSpPr>
        <p:spPr>
          <a:xfrm>
            <a:off x="2029968" y="5065776"/>
            <a:ext cx="73152" cy="73152"/>
          </a:xfrm>
          <a:prstGeom prst="ellipse">
            <a:avLst/>
          </a:prstGeom>
          <a:solidFill>
            <a:srgbClr val="F8C4CA"/>
          </a:solidFill>
          <a:ln w="12700">
            <a:solidFill>
              <a:srgbClr val="B65A66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468880" y="2743200"/>
            <a:ext cx="54864" cy="530352"/>
          </a:xfrm>
          <a:prstGeom prst="line">
            <a:avLst/>
          </a:prstGeom>
          <a:noFill/>
          <a:ln w="12700">
            <a:solidFill>
              <a:srgbClr val="B65A66"/>
            </a:solidFill>
            <a:prstDash val="solid"/>
            <a:headEnd type="none"/>
            <a:tailEnd type="none"/>
          </a:ln>
        </p:spPr>
      </p:sp>
      <p:sp>
        <p:nvSpPr>
          <p:cNvPr id="40" name="Shape 37"/>
          <p:cNvSpPr/>
          <p:nvPr/>
        </p:nvSpPr>
        <p:spPr>
          <a:xfrm>
            <a:off x="2139696" y="2286000"/>
            <a:ext cx="329184" cy="457200"/>
          </a:xfrm>
          <a:prstGeom prst="line">
            <a:avLst/>
          </a:prstGeom>
          <a:noFill/>
          <a:ln w="12700">
            <a:solidFill>
              <a:srgbClr val="B65A66"/>
            </a:solidFill>
            <a:prstDash val="solid"/>
            <a:headEnd type="none"/>
            <a:tailEnd type="none"/>
          </a:ln>
        </p:spPr>
      </p:sp>
      <p:sp>
        <p:nvSpPr>
          <p:cNvPr id="41" name="Shape 38"/>
          <p:cNvSpPr/>
          <p:nvPr/>
        </p:nvSpPr>
        <p:spPr>
          <a:xfrm>
            <a:off x="2103120" y="2249424"/>
            <a:ext cx="73152" cy="73152"/>
          </a:xfrm>
          <a:prstGeom prst="ellipse">
            <a:avLst/>
          </a:prstGeom>
          <a:solidFill>
            <a:srgbClr val="F8C4CA"/>
          </a:solidFill>
          <a:ln w="12700">
            <a:solidFill>
              <a:srgbClr val="B65A66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 flipH="1">
            <a:off x="2468880" y="2249424"/>
            <a:ext cx="219456" cy="493776"/>
          </a:xfrm>
          <a:prstGeom prst="line">
            <a:avLst/>
          </a:prstGeom>
          <a:noFill/>
          <a:ln w="12700">
            <a:solidFill>
              <a:srgbClr val="B65A66"/>
            </a:solidFill>
            <a:prstDash val="solid"/>
            <a:headEnd type="none"/>
            <a:tailEnd type="none"/>
          </a:ln>
        </p:spPr>
      </p:sp>
      <p:sp>
        <p:nvSpPr>
          <p:cNvPr id="43" name="Shape 40"/>
          <p:cNvSpPr/>
          <p:nvPr/>
        </p:nvSpPr>
        <p:spPr>
          <a:xfrm>
            <a:off x="2651760" y="2212848"/>
            <a:ext cx="73152" cy="73152"/>
          </a:xfrm>
          <a:prstGeom prst="ellipse">
            <a:avLst/>
          </a:prstGeom>
          <a:solidFill>
            <a:srgbClr val="F8C4CA"/>
          </a:solidFill>
          <a:ln w="12700">
            <a:solidFill>
              <a:srgbClr val="B65A66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 flipH="1">
            <a:off x="2468880" y="2633472"/>
            <a:ext cx="493776" cy="109728"/>
          </a:xfrm>
          <a:prstGeom prst="line">
            <a:avLst/>
          </a:prstGeom>
          <a:noFill/>
          <a:ln w="12700">
            <a:solidFill>
              <a:srgbClr val="B65A66"/>
            </a:solidFill>
            <a:prstDash val="solid"/>
            <a:headEnd type="none"/>
            <a:tailEnd type="none"/>
          </a:ln>
        </p:spPr>
      </p:sp>
      <p:sp>
        <p:nvSpPr>
          <p:cNvPr id="45" name="Shape 42"/>
          <p:cNvSpPr/>
          <p:nvPr/>
        </p:nvSpPr>
        <p:spPr>
          <a:xfrm>
            <a:off x="2926080" y="2596896"/>
            <a:ext cx="73152" cy="73152"/>
          </a:xfrm>
          <a:prstGeom prst="ellipse">
            <a:avLst/>
          </a:prstGeom>
          <a:solidFill>
            <a:srgbClr val="F8C4CA"/>
          </a:solidFill>
          <a:ln w="12700">
            <a:solidFill>
              <a:srgbClr val="B65A66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1810512" y="3346704"/>
            <a:ext cx="1298448" cy="987552"/>
          </a:xfrm>
          <a:prstGeom prst="ellipse">
            <a:avLst/>
          </a:prstGeom>
          <a:solidFill>
            <a:srgbClr val="B85B66">
              <a:alpha val="16000"/>
            </a:srgbClr>
          </a:solidFill>
          <a:ln w="12700">
            <a:solidFill>
              <a:srgbClr val="B85B66">
                <a:alpha val="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1828800" y="3218688"/>
            <a:ext cx="1353312" cy="1078992"/>
          </a:xfrm>
          <a:prstGeom prst="ellipse">
            <a:avLst/>
          </a:prstGeom>
          <a:solidFill>
            <a:srgbClr val="F2A0A8">
              <a:alpha val="96000"/>
            </a:srgbClr>
          </a:solidFill>
          <a:ln w="12700">
            <a:solidFill>
              <a:srgbClr val="B65A6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1975104" y="3401568"/>
            <a:ext cx="987552" cy="658368"/>
          </a:xfrm>
          <a:prstGeom prst="ellipse">
            <a:avLst/>
          </a:prstGeom>
          <a:solidFill>
            <a:srgbClr val="F7B6BE">
              <a:alpha val="58000"/>
            </a:srgbClr>
          </a:solidFill>
          <a:ln w="12700">
            <a:solidFill>
              <a:srgbClr val="B65A66">
                <a:alpha val="65000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2103120" y="3547872"/>
            <a:ext cx="896112" cy="530352"/>
          </a:xfrm>
          <a:prstGeom prst="arc">
            <a:avLst/>
          </a:prstGeom>
          <a:noFill/>
          <a:ln w="12700">
            <a:solidFill>
              <a:srgbClr val="AA4D5B">
                <a:alpha val="8500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2276856" y="3566160"/>
            <a:ext cx="457200" cy="411480"/>
          </a:xfrm>
          <a:prstGeom prst="ellipse">
            <a:avLst/>
          </a:prstGeom>
          <a:solidFill>
            <a:srgbClr val="8A3E4D">
              <a:alpha val="97000"/>
            </a:srgbClr>
          </a:solidFill>
          <a:ln w="12700">
            <a:solidFill>
              <a:srgbClr val="6F2634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 flipH="1">
            <a:off x="3072384" y="3749040"/>
            <a:ext cx="256032" cy="18288"/>
          </a:xfrm>
          <a:prstGeom prst="line">
            <a:avLst/>
          </a:prstGeom>
          <a:noFill/>
          <a:ln w="12700">
            <a:solidFill>
              <a:srgbClr val="C56B76"/>
            </a:solidFill>
            <a:prstDash val="solid"/>
            <a:headEnd type="none"/>
            <a:tailEnd type="none"/>
          </a:ln>
        </p:spPr>
      </p:sp>
      <p:sp>
        <p:nvSpPr>
          <p:cNvPr id="52" name="Shape 49"/>
          <p:cNvSpPr/>
          <p:nvPr/>
        </p:nvSpPr>
        <p:spPr>
          <a:xfrm>
            <a:off x="3328416" y="3749040"/>
            <a:ext cx="822960" cy="73152"/>
          </a:xfrm>
          <a:prstGeom prst="line">
            <a:avLst/>
          </a:prstGeom>
          <a:noFill/>
          <a:ln w="12700">
            <a:solidFill>
              <a:srgbClr val="C56B76"/>
            </a:solidFill>
            <a:prstDash val="solid"/>
            <a:headEnd type="none"/>
            <a:tailEnd type="none"/>
          </a:ln>
        </p:spPr>
      </p:sp>
      <p:sp>
        <p:nvSpPr>
          <p:cNvPr id="53" name="Shape 50"/>
          <p:cNvSpPr/>
          <p:nvPr/>
        </p:nvSpPr>
        <p:spPr>
          <a:xfrm flipH="1">
            <a:off x="4151376" y="3675888"/>
            <a:ext cx="969264" cy="146304"/>
          </a:xfrm>
          <a:prstGeom prst="line">
            <a:avLst/>
          </a:prstGeom>
          <a:noFill/>
          <a:ln w="12700">
            <a:solidFill>
              <a:srgbClr val="C56B76"/>
            </a:solidFill>
            <a:prstDash val="solid"/>
            <a:headEnd type="none"/>
            <a:tailEnd type="none"/>
          </a:ln>
        </p:spPr>
      </p:sp>
      <p:sp>
        <p:nvSpPr>
          <p:cNvPr id="54" name="Shape 51"/>
          <p:cNvSpPr/>
          <p:nvPr/>
        </p:nvSpPr>
        <p:spPr>
          <a:xfrm rot="420000">
            <a:off x="3200400" y="3547872"/>
            <a:ext cx="438912" cy="347472"/>
          </a:xfrm>
          <a:prstGeom prst="roundRect">
            <a:avLst>
              <a:gd name="adj" fmla="val 21053"/>
            </a:avLst>
          </a:prstGeom>
          <a:solidFill>
            <a:srgbClr val="F0C44D"/>
          </a:solidFill>
          <a:ln w="12700">
            <a:solidFill>
              <a:srgbClr val="BF7F1E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 rot="420000">
            <a:off x="3236976" y="3602736"/>
            <a:ext cx="347472" cy="146304"/>
          </a:xfrm>
          <a:prstGeom prst="arc">
            <a:avLst/>
          </a:prstGeom>
          <a:noFill/>
          <a:ln w="12700">
            <a:solidFill>
              <a:srgbClr val="FFE293">
                <a:alpha val="90000"/>
              </a:srgbClr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 rot="420000">
            <a:off x="3328416" y="3666744"/>
            <a:ext cx="128016" cy="82296"/>
          </a:xfrm>
          <a:prstGeom prst="ellipse">
            <a:avLst/>
          </a:prstGeom>
          <a:solidFill>
            <a:srgbClr val="8A3E4D">
              <a:alpha val="85000"/>
            </a:srgbClr>
          </a:solidFill>
          <a:ln w="12700">
            <a:solidFill>
              <a:srgbClr val="BF7F1E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 rot="420000">
            <a:off x="3675888" y="3621024"/>
            <a:ext cx="438912" cy="347472"/>
          </a:xfrm>
          <a:prstGeom prst="roundRect">
            <a:avLst>
              <a:gd name="adj" fmla="val 21053"/>
            </a:avLst>
          </a:prstGeom>
          <a:solidFill>
            <a:srgbClr val="F0C44D"/>
          </a:solidFill>
          <a:ln w="12700">
            <a:solidFill>
              <a:srgbClr val="BF7F1E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 rot="420000">
            <a:off x="3712464" y="3675888"/>
            <a:ext cx="347472" cy="146304"/>
          </a:xfrm>
          <a:prstGeom prst="arc">
            <a:avLst/>
          </a:prstGeom>
          <a:noFill/>
          <a:ln w="12700">
            <a:solidFill>
              <a:srgbClr val="FFE293">
                <a:alpha val="90000"/>
              </a:srgbClr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 rot="420000">
            <a:off x="3803904" y="3739896"/>
            <a:ext cx="128016" cy="82296"/>
          </a:xfrm>
          <a:prstGeom prst="ellipse">
            <a:avLst/>
          </a:prstGeom>
          <a:solidFill>
            <a:srgbClr val="8A3E4D">
              <a:alpha val="85000"/>
            </a:srgbClr>
          </a:solidFill>
          <a:ln w="12700">
            <a:solidFill>
              <a:srgbClr val="BF7F1E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 rot="-480000">
            <a:off x="4169664" y="3547872"/>
            <a:ext cx="438912" cy="347472"/>
          </a:xfrm>
          <a:prstGeom prst="roundRect">
            <a:avLst>
              <a:gd name="adj" fmla="val 21053"/>
            </a:avLst>
          </a:prstGeom>
          <a:solidFill>
            <a:srgbClr val="F0C44D"/>
          </a:solidFill>
          <a:ln w="12700">
            <a:solidFill>
              <a:srgbClr val="BF7F1E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 rot="-480000">
            <a:off x="4206240" y="3602736"/>
            <a:ext cx="347472" cy="146304"/>
          </a:xfrm>
          <a:prstGeom prst="arc">
            <a:avLst/>
          </a:prstGeom>
          <a:noFill/>
          <a:ln w="12700">
            <a:solidFill>
              <a:srgbClr val="FFE293">
                <a:alpha val="90000"/>
              </a:srgbClr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 rot="-480000">
            <a:off x="4297680" y="3666744"/>
            <a:ext cx="128016" cy="82296"/>
          </a:xfrm>
          <a:prstGeom prst="ellipse">
            <a:avLst/>
          </a:prstGeom>
          <a:solidFill>
            <a:srgbClr val="8A3E4D">
              <a:alpha val="85000"/>
            </a:srgbClr>
          </a:solidFill>
          <a:ln w="12700">
            <a:solidFill>
              <a:srgbClr val="BF7F1E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 flipH="1">
            <a:off x="5120640" y="3090672"/>
            <a:ext cx="347472" cy="585216"/>
          </a:xfrm>
          <a:prstGeom prst="line">
            <a:avLst/>
          </a:prstGeom>
          <a:noFill/>
          <a:ln w="12700">
            <a:solidFill>
              <a:srgbClr val="B65A66"/>
            </a:solidFill>
            <a:prstDash val="solid"/>
            <a:headEnd type="none"/>
            <a:tailEnd type="none"/>
          </a:ln>
        </p:spPr>
      </p:sp>
      <p:sp>
        <p:nvSpPr>
          <p:cNvPr id="64" name="Shape 61"/>
          <p:cNvSpPr/>
          <p:nvPr/>
        </p:nvSpPr>
        <p:spPr>
          <a:xfrm>
            <a:off x="5417820" y="3040380"/>
            <a:ext cx="100584" cy="100584"/>
          </a:xfrm>
          <a:prstGeom prst="ellipse">
            <a:avLst/>
          </a:prstGeom>
          <a:solidFill>
            <a:srgbClr val="F8C4CA"/>
          </a:solidFill>
          <a:ln w="12700">
            <a:solidFill>
              <a:srgbClr val="B65A66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 flipH="1">
            <a:off x="5120640" y="3566160"/>
            <a:ext cx="493776" cy="109728"/>
          </a:xfrm>
          <a:prstGeom prst="line">
            <a:avLst/>
          </a:prstGeom>
          <a:noFill/>
          <a:ln w="12700">
            <a:solidFill>
              <a:srgbClr val="B65A66"/>
            </a:solidFill>
            <a:prstDash val="solid"/>
            <a:headEnd type="none"/>
            <a:tailEnd type="none"/>
          </a:ln>
        </p:spPr>
      </p:sp>
      <p:sp>
        <p:nvSpPr>
          <p:cNvPr id="66" name="Shape 63"/>
          <p:cNvSpPr/>
          <p:nvPr/>
        </p:nvSpPr>
        <p:spPr>
          <a:xfrm>
            <a:off x="5564124" y="3515868"/>
            <a:ext cx="100584" cy="100584"/>
          </a:xfrm>
          <a:prstGeom prst="ellipse">
            <a:avLst/>
          </a:prstGeom>
          <a:solidFill>
            <a:srgbClr val="F8C4CA"/>
          </a:solidFill>
          <a:ln w="12700">
            <a:solidFill>
              <a:srgbClr val="B65A66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5120640" y="3675888"/>
            <a:ext cx="329184" cy="438912"/>
          </a:xfrm>
          <a:prstGeom prst="line">
            <a:avLst/>
          </a:prstGeom>
          <a:noFill/>
          <a:ln w="12700">
            <a:solidFill>
              <a:srgbClr val="B65A66"/>
            </a:solidFill>
            <a:prstDash val="solid"/>
            <a:headEnd type="none"/>
            <a:tailEnd type="none"/>
          </a:ln>
        </p:spPr>
      </p:sp>
      <p:sp>
        <p:nvSpPr>
          <p:cNvPr id="68" name="Shape 65"/>
          <p:cNvSpPr/>
          <p:nvPr/>
        </p:nvSpPr>
        <p:spPr>
          <a:xfrm>
            <a:off x="5399532" y="4064508"/>
            <a:ext cx="100584" cy="100584"/>
          </a:xfrm>
          <a:prstGeom prst="ellipse">
            <a:avLst/>
          </a:prstGeom>
          <a:solidFill>
            <a:srgbClr val="F8C4CA"/>
          </a:solidFill>
          <a:ln w="12700">
            <a:solidFill>
              <a:srgbClr val="B65A66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5047488" y="3712464"/>
            <a:ext cx="237744" cy="804672"/>
          </a:xfrm>
          <a:prstGeom prst="line">
            <a:avLst/>
          </a:prstGeom>
          <a:noFill/>
          <a:ln w="12700">
            <a:solidFill>
              <a:srgbClr val="B65A66"/>
            </a:solidFill>
            <a:prstDash val="solid"/>
            <a:headEnd type="none"/>
            <a:tailEnd type="none"/>
          </a:ln>
        </p:spPr>
      </p:sp>
      <p:sp>
        <p:nvSpPr>
          <p:cNvPr id="70" name="Shape 67"/>
          <p:cNvSpPr/>
          <p:nvPr/>
        </p:nvSpPr>
        <p:spPr>
          <a:xfrm>
            <a:off x="5234940" y="4466844"/>
            <a:ext cx="100584" cy="100584"/>
          </a:xfrm>
          <a:prstGeom prst="ellipse">
            <a:avLst/>
          </a:prstGeom>
          <a:solidFill>
            <a:srgbClr val="F8C4CA"/>
          </a:solidFill>
          <a:ln w="12700">
            <a:solidFill>
              <a:srgbClr val="B65A66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1152144" y="2121408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dendritas</a:t>
            </a:r>
            <a:endParaRPr lang="en-US" sz="1150" dirty="0"/>
          </a:p>
        </p:txBody>
      </p:sp>
      <p:sp>
        <p:nvSpPr>
          <p:cNvPr id="72" name="Text 69"/>
          <p:cNvSpPr/>
          <p:nvPr/>
        </p:nvSpPr>
        <p:spPr>
          <a:xfrm>
            <a:off x="2194560" y="438912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soma</a:t>
            </a:r>
            <a:endParaRPr lang="en-US" sz="1050" dirty="0"/>
          </a:p>
        </p:txBody>
      </p:sp>
      <p:sp>
        <p:nvSpPr>
          <p:cNvPr id="73" name="Text 70"/>
          <p:cNvSpPr/>
          <p:nvPr/>
        </p:nvSpPr>
        <p:spPr>
          <a:xfrm>
            <a:off x="3584448" y="4151376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axón</a:t>
            </a:r>
            <a:endParaRPr lang="en-US" sz="1050" dirty="0"/>
          </a:p>
        </p:txBody>
      </p:sp>
      <p:sp>
        <p:nvSpPr>
          <p:cNvPr id="74" name="Text 71"/>
          <p:cNvSpPr/>
          <p:nvPr/>
        </p:nvSpPr>
        <p:spPr>
          <a:xfrm>
            <a:off x="3730752" y="3163824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BF7F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mielina</a:t>
            </a:r>
            <a:endParaRPr lang="en-US" sz="960" dirty="0"/>
          </a:p>
        </p:txBody>
      </p:sp>
      <p:sp>
        <p:nvSpPr>
          <p:cNvPr id="75" name="Text 72"/>
          <p:cNvSpPr/>
          <p:nvPr/>
        </p:nvSpPr>
        <p:spPr>
          <a:xfrm>
            <a:off x="4901184" y="4754880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5260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terminales</a:t>
            </a:r>
            <a:endParaRPr lang="en-US" sz="940" dirty="0"/>
          </a:p>
        </p:txBody>
      </p:sp>
      <p:sp>
        <p:nvSpPr>
          <p:cNvPr id="76" name="Shape 73"/>
          <p:cNvSpPr/>
          <p:nvPr/>
        </p:nvSpPr>
        <p:spPr>
          <a:xfrm>
            <a:off x="6254496" y="1938528"/>
            <a:ext cx="4224528" cy="950976"/>
          </a:xfrm>
          <a:prstGeom prst="roundRect">
            <a:avLst>
              <a:gd name="adj" fmla="val 384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6364224" y="2084832"/>
            <a:ext cx="109728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6565392" y="2121408"/>
            <a:ext cx="3767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DENDRITAS</a:t>
            </a:r>
            <a:endParaRPr lang="en-US" sz="840" dirty="0"/>
          </a:p>
        </p:txBody>
      </p:sp>
      <p:sp>
        <p:nvSpPr>
          <p:cNvPr id="79" name="Text 76"/>
          <p:cNvSpPr/>
          <p:nvPr/>
        </p:nvSpPr>
        <p:spPr>
          <a:xfrm>
            <a:off x="6565392" y="237744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puntos de entrada</a:t>
            </a:r>
            <a:endParaRPr lang="en-US" sz="1350" dirty="0"/>
          </a:p>
        </p:txBody>
      </p:sp>
      <p:sp>
        <p:nvSpPr>
          <p:cNvPr id="80" name="Text 77"/>
          <p:cNvSpPr/>
          <p:nvPr/>
        </p:nvSpPr>
        <p:spPr>
          <a:xfrm>
            <a:off x="6565392" y="2651760"/>
            <a:ext cx="3749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reciben señales desde otras neuronas</a:t>
            </a:r>
            <a:endParaRPr lang="en-US" sz="920" dirty="0"/>
          </a:p>
        </p:txBody>
      </p:sp>
      <p:sp>
        <p:nvSpPr>
          <p:cNvPr id="81" name="Shape 78"/>
          <p:cNvSpPr/>
          <p:nvPr/>
        </p:nvSpPr>
        <p:spPr>
          <a:xfrm>
            <a:off x="6254496" y="3090672"/>
            <a:ext cx="4224528" cy="950976"/>
          </a:xfrm>
          <a:prstGeom prst="roundRect">
            <a:avLst>
              <a:gd name="adj" fmla="val 3846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6364224" y="3236976"/>
            <a:ext cx="109728" cy="65836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6565392" y="3273552"/>
            <a:ext cx="3767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SOMA</a:t>
            </a:r>
            <a:endParaRPr lang="en-US" sz="840" dirty="0"/>
          </a:p>
        </p:txBody>
      </p:sp>
      <p:sp>
        <p:nvSpPr>
          <p:cNvPr id="84" name="Text 81"/>
          <p:cNvSpPr/>
          <p:nvPr/>
        </p:nvSpPr>
        <p:spPr>
          <a:xfrm>
            <a:off x="6565392" y="352958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integra señales</a:t>
            </a:r>
            <a:endParaRPr lang="en-US" sz="1350" dirty="0"/>
          </a:p>
        </p:txBody>
      </p:sp>
      <p:sp>
        <p:nvSpPr>
          <p:cNvPr id="85" name="Text 82"/>
          <p:cNvSpPr/>
          <p:nvPr/>
        </p:nvSpPr>
        <p:spPr>
          <a:xfrm>
            <a:off x="6565392" y="3803904"/>
            <a:ext cx="3749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combina la intensidad recibida</a:t>
            </a:r>
            <a:endParaRPr lang="en-US" sz="920" dirty="0"/>
          </a:p>
        </p:txBody>
      </p:sp>
      <p:sp>
        <p:nvSpPr>
          <p:cNvPr id="86" name="Shape 83"/>
          <p:cNvSpPr/>
          <p:nvPr/>
        </p:nvSpPr>
        <p:spPr>
          <a:xfrm>
            <a:off x="6254496" y="4242816"/>
            <a:ext cx="4224528" cy="950976"/>
          </a:xfrm>
          <a:prstGeom prst="roundRect">
            <a:avLst>
              <a:gd name="adj" fmla="val 3846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6364224" y="4389120"/>
            <a:ext cx="109728" cy="65836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6565392" y="4425696"/>
            <a:ext cx="3767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AXÓN</a:t>
            </a:r>
            <a:endParaRPr lang="en-US" sz="840" dirty="0"/>
          </a:p>
        </p:txBody>
      </p:sp>
      <p:sp>
        <p:nvSpPr>
          <p:cNvPr id="89" name="Text 86"/>
          <p:cNvSpPr/>
          <p:nvPr/>
        </p:nvSpPr>
        <p:spPr>
          <a:xfrm>
            <a:off x="6565392" y="468172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salida de la respuesta</a:t>
            </a:r>
            <a:endParaRPr lang="en-US" sz="1350" dirty="0"/>
          </a:p>
        </p:txBody>
      </p:sp>
      <p:sp>
        <p:nvSpPr>
          <p:cNvPr id="90" name="Text 87"/>
          <p:cNvSpPr/>
          <p:nvPr/>
        </p:nvSpPr>
        <p:spPr>
          <a:xfrm>
            <a:off x="6565392" y="4956048"/>
            <a:ext cx="3749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transmite si hubo suficiente activación</a:t>
            </a:r>
            <a:endParaRPr lang="en-US" sz="9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Patrón Que Nos Interesa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puente hacia IA está en el recorrido funcional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786384" y="1993392"/>
            <a:ext cx="2322576" cy="2816352"/>
          </a:xfrm>
          <a:prstGeom prst="roundRect">
            <a:avLst>
              <a:gd name="adj" fmla="val 157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6112" y="2139696"/>
            <a:ext cx="109728" cy="252374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176272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1097280" y="2432304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entran señales</a:t>
            </a:r>
            <a:endParaRPr lang="en-US" sz="1520" dirty="0"/>
          </a:p>
        </p:txBody>
      </p:sp>
      <p:sp>
        <p:nvSpPr>
          <p:cNvPr id="14" name="Text 11"/>
          <p:cNvSpPr/>
          <p:nvPr/>
        </p:nvSpPr>
        <p:spPr>
          <a:xfrm>
            <a:off x="1097280" y="2871216"/>
            <a:ext cx="18470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o estímulos llegan al sistema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3145536" y="3401568"/>
            <a:ext cx="201168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3364992" y="1993392"/>
            <a:ext cx="2322576" cy="2816352"/>
          </a:xfrm>
          <a:prstGeom prst="roundRect">
            <a:avLst>
              <a:gd name="adj" fmla="val 157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474720" y="2139696"/>
            <a:ext cx="109728" cy="252374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75888" y="2176272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40" dirty="0"/>
          </a:p>
        </p:txBody>
      </p:sp>
      <p:sp>
        <p:nvSpPr>
          <p:cNvPr id="19" name="Text 16"/>
          <p:cNvSpPr/>
          <p:nvPr/>
        </p:nvSpPr>
        <p:spPr>
          <a:xfrm>
            <a:off x="3675888" y="2432304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 combinan</a:t>
            </a:r>
            <a:endParaRPr lang="en-US" sz="1520" dirty="0"/>
          </a:p>
        </p:txBody>
      </p:sp>
      <p:sp>
        <p:nvSpPr>
          <p:cNvPr id="20" name="Text 17"/>
          <p:cNvSpPr/>
          <p:nvPr/>
        </p:nvSpPr>
        <p:spPr>
          <a:xfrm>
            <a:off x="3675888" y="2871216"/>
            <a:ext cx="18470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señales no pesan todas igual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5724144" y="3401568"/>
            <a:ext cx="201168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5943600" y="1993392"/>
            <a:ext cx="2322576" cy="2816352"/>
          </a:xfrm>
          <a:prstGeom prst="roundRect">
            <a:avLst>
              <a:gd name="adj" fmla="val 1575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053328" y="2139696"/>
            <a:ext cx="109728" cy="2523744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54496" y="2176272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40" dirty="0"/>
          </a:p>
        </p:txBody>
      </p:sp>
      <p:sp>
        <p:nvSpPr>
          <p:cNvPr id="25" name="Text 22"/>
          <p:cNvSpPr/>
          <p:nvPr/>
        </p:nvSpPr>
        <p:spPr>
          <a:xfrm>
            <a:off x="6254496" y="2432304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hay umbral</a:t>
            </a:r>
            <a:endParaRPr lang="en-US" sz="1520" dirty="0"/>
          </a:p>
        </p:txBody>
      </p:sp>
      <p:sp>
        <p:nvSpPr>
          <p:cNvPr id="26" name="Text 23"/>
          <p:cNvSpPr/>
          <p:nvPr/>
        </p:nvSpPr>
        <p:spPr>
          <a:xfrm>
            <a:off x="6254496" y="2871216"/>
            <a:ext cx="18470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cualquier señal activa respuesta</a:t>
            </a:r>
            <a:endParaRPr lang="en-US" sz="1020" dirty="0"/>
          </a:p>
        </p:txBody>
      </p:sp>
      <p:sp>
        <p:nvSpPr>
          <p:cNvPr id="27" name="Shape 24"/>
          <p:cNvSpPr/>
          <p:nvPr/>
        </p:nvSpPr>
        <p:spPr>
          <a:xfrm>
            <a:off x="8302752" y="3401568"/>
            <a:ext cx="201168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8522208" y="1993392"/>
            <a:ext cx="2322576" cy="2816352"/>
          </a:xfrm>
          <a:prstGeom prst="roundRect">
            <a:avLst>
              <a:gd name="adj" fmla="val 157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631936" y="2139696"/>
            <a:ext cx="109728" cy="25237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833104" y="2176272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40" dirty="0"/>
          </a:p>
        </p:txBody>
      </p:sp>
      <p:sp>
        <p:nvSpPr>
          <p:cNvPr id="31" name="Text 28"/>
          <p:cNvSpPr/>
          <p:nvPr/>
        </p:nvSpPr>
        <p:spPr>
          <a:xfrm>
            <a:off x="8833104" y="2432304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sale respuesta</a:t>
            </a:r>
            <a:endParaRPr lang="en-US" sz="1520" dirty="0"/>
          </a:p>
        </p:txBody>
      </p:sp>
      <p:sp>
        <p:nvSpPr>
          <p:cNvPr id="32" name="Text 29"/>
          <p:cNvSpPr/>
          <p:nvPr/>
        </p:nvSpPr>
        <p:spPr>
          <a:xfrm>
            <a:off x="8833104" y="2871216"/>
            <a:ext cx="18470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resultado puede influir en otra pieza</a:t>
            </a:r>
            <a:endParaRPr lang="en-US" sz="1020" dirty="0"/>
          </a:p>
        </p:txBody>
      </p:sp>
      <p:sp>
        <p:nvSpPr>
          <p:cNvPr id="33" name="Shape 30"/>
          <p:cNvSpPr/>
          <p:nvPr/>
        </p:nvSpPr>
        <p:spPr>
          <a:xfrm>
            <a:off x="786384" y="5376672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87552" y="5513832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neurona artificial convierte este patrón en números y operaciones.</a:t>
            </a:r>
            <a:endParaRPr lang="en-US" sz="14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Traducción: De Biología A Modelo Artificial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pieza biológica se convierte en una pieza matemática aproximada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22960" y="1792224"/>
            <a:ext cx="9802368" cy="4407408"/>
          </a:xfrm>
          <a:prstGeom prst="roundRect">
            <a:avLst>
              <a:gd name="adj" fmla="val 103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42416" y="1938528"/>
            <a:ext cx="9363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Equivalencias útiles para aprender deep learning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042416" y="2258568"/>
            <a:ext cx="9363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Inspiración conceptual: no copia literal del cerebro</a:t>
            </a:r>
            <a:endParaRPr lang="en-US" sz="1020" dirty="0"/>
          </a:p>
        </p:txBody>
      </p:sp>
      <p:sp>
        <p:nvSpPr>
          <p:cNvPr id="13" name="Text 10"/>
          <p:cNvSpPr/>
          <p:nvPr/>
        </p:nvSpPr>
        <p:spPr>
          <a:xfrm>
            <a:off x="1042416" y="2505456"/>
            <a:ext cx="30767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Neurona biologica</a:t>
            </a:r>
            <a:endParaRPr lang="en-US" sz="980" dirty="0"/>
          </a:p>
        </p:txBody>
      </p:sp>
      <p:sp>
        <p:nvSpPr>
          <p:cNvPr id="14" name="Text 11"/>
          <p:cNvSpPr/>
          <p:nvPr/>
        </p:nvSpPr>
        <p:spPr>
          <a:xfrm>
            <a:off x="7365675" y="2505456"/>
            <a:ext cx="30767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Neurona artificial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1024128" y="2724912"/>
            <a:ext cx="3003621" cy="563270"/>
          </a:xfrm>
          <a:prstGeom prst="roundRect">
            <a:avLst>
              <a:gd name="adj" fmla="val 649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52144" y="2834640"/>
            <a:ext cx="274758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Dendritas</a:t>
            </a:r>
            <a:endParaRPr lang="en-US" sz="1220" dirty="0"/>
          </a:p>
        </p:txBody>
      </p:sp>
      <p:sp>
        <p:nvSpPr>
          <p:cNvPr id="17" name="Text 14"/>
          <p:cNvSpPr/>
          <p:nvPr/>
        </p:nvSpPr>
        <p:spPr>
          <a:xfrm>
            <a:off x="1152144" y="3054096"/>
            <a:ext cx="274758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señales que llegan</a:t>
            </a:r>
            <a:endParaRPr lang="en-US" sz="940" dirty="0"/>
          </a:p>
        </p:txBody>
      </p:sp>
      <p:sp>
        <p:nvSpPr>
          <p:cNvPr id="18" name="Shape 15"/>
          <p:cNvSpPr/>
          <p:nvPr/>
        </p:nvSpPr>
        <p:spPr>
          <a:xfrm>
            <a:off x="4082613" y="3006547"/>
            <a:ext cx="3008742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7365675" y="2724912"/>
            <a:ext cx="3058485" cy="563270"/>
          </a:xfrm>
          <a:prstGeom prst="roundRect">
            <a:avLst>
              <a:gd name="adj" fmla="val 649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93691" y="2889504"/>
            <a:ext cx="28024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Entradas x</a:t>
            </a:r>
            <a:endParaRPr lang="en-US" sz="1240" dirty="0"/>
          </a:p>
        </p:txBody>
      </p:sp>
      <p:sp>
        <p:nvSpPr>
          <p:cNvPr id="21" name="Shape 18"/>
          <p:cNvSpPr/>
          <p:nvPr/>
        </p:nvSpPr>
        <p:spPr>
          <a:xfrm>
            <a:off x="1024128" y="3397910"/>
            <a:ext cx="3003621" cy="563270"/>
          </a:xfrm>
          <a:prstGeom prst="roundRect">
            <a:avLst>
              <a:gd name="adj" fmla="val 649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52144" y="3507638"/>
            <a:ext cx="274758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Sinapsis</a:t>
            </a:r>
            <a:endParaRPr lang="en-US" sz="1220" dirty="0"/>
          </a:p>
        </p:txBody>
      </p:sp>
      <p:sp>
        <p:nvSpPr>
          <p:cNvPr id="23" name="Text 20"/>
          <p:cNvSpPr/>
          <p:nvPr/>
        </p:nvSpPr>
        <p:spPr>
          <a:xfrm>
            <a:off x="1152144" y="3727094"/>
            <a:ext cx="274758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fuerza de conexión</a:t>
            </a:r>
            <a:endParaRPr lang="en-US" sz="940" dirty="0"/>
          </a:p>
        </p:txBody>
      </p:sp>
      <p:sp>
        <p:nvSpPr>
          <p:cNvPr id="24" name="Shape 21"/>
          <p:cNvSpPr/>
          <p:nvPr/>
        </p:nvSpPr>
        <p:spPr>
          <a:xfrm>
            <a:off x="4082613" y="3679546"/>
            <a:ext cx="3008742" cy="0"/>
          </a:xfrm>
          <a:prstGeom prst="line">
            <a:avLst/>
          </a:prstGeom>
          <a:noFill/>
          <a:ln w="12700">
            <a:solidFill>
              <a:srgbClr val="E0BC5A"/>
            </a:solidFill>
            <a:prstDash val="solid"/>
            <a:headEnd type="none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7365675" y="3397910"/>
            <a:ext cx="3058485" cy="563270"/>
          </a:xfrm>
          <a:prstGeom prst="roundRect">
            <a:avLst>
              <a:gd name="adj" fmla="val 6494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493691" y="3562502"/>
            <a:ext cx="28024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Pesos w</a:t>
            </a:r>
            <a:endParaRPr lang="en-US" sz="1240" dirty="0"/>
          </a:p>
        </p:txBody>
      </p:sp>
      <p:sp>
        <p:nvSpPr>
          <p:cNvPr id="27" name="Shape 24"/>
          <p:cNvSpPr/>
          <p:nvPr/>
        </p:nvSpPr>
        <p:spPr>
          <a:xfrm>
            <a:off x="1024128" y="4070909"/>
            <a:ext cx="3003621" cy="563270"/>
          </a:xfrm>
          <a:prstGeom prst="roundRect">
            <a:avLst>
              <a:gd name="adj" fmla="val 649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52144" y="4180637"/>
            <a:ext cx="274758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Soma</a:t>
            </a:r>
            <a:endParaRPr lang="en-US" sz="1220" dirty="0"/>
          </a:p>
        </p:txBody>
      </p:sp>
      <p:sp>
        <p:nvSpPr>
          <p:cNvPr id="29" name="Text 26"/>
          <p:cNvSpPr/>
          <p:nvPr/>
        </p:nvSpPr>
        <p:spPr>
          <a:xfrm>
            <a:off x="1152144" y="4400093"/>
            <a:ext cx="274758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 señales</a:t>
            </a:r>
            <a:endParaRPr lang="en-US" sz="940" dirty="0"/>
          </a:p>
        </p:txBody>
      </p:sp>
      <p:sp>
        <p:nvSpPr>
          <p:cNvPr id="30" name="Shape 27"/>
          <p:cNvSpPr/>
          <p:nvPr/>
        </p:nvSpPr>
        <p:spPr>
          <a:xfrm>
            <a:off x="4082613" y="4352544"/>
            <a:ext cx="3008742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7365675" y="4070909"/>
            <a:ext cx="3058485" cy="563270"/>
          </a:xfrm>
          <a:prstGeom prst="roundRect">
            <a:avLst>
              <a:gd name="adj" fmla="val 649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493691" y="4235501"/>
            <a:ext cx="28024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Suma z</a:t>
            </a:r>
            <a:endParaRPr lang="en-US" sz="1240" dirty="0"/>
          </a:p>
        </p:txBody>
      </p:sp>
      <p:sp>
        <p:nvSpPr>
          <p:cNvPr id="33" name="Shape 30"/>
          <p:cNvSpPr/>
          <p:nvPr/>
        </p:nvSpPr>
        <p:spPr>
          <a:xfrm>
            <a:off x="1024128" y="4743907"/>
            <a:ext cx="3003621" cy="563270"/>
          </a:xfrm>
          <a:prstGeom prst="roundRect">
            <a:avLst>
              <a:gd name="adj" fmla="val 649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152144" y="4853635"/>
            <a:ext cx="274758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Umbral</a:t>
            </a:r>
            <a:endParaRPr lang="en-US" sz="1220" dirty="0"/>
          </a:p>
        </p:txBody>
      </p:sp>
      <p:sp>
        <p:nvSpPr>
          <p:cNvPr id="35" name="Text 32"/>
          <p:cNvSpPr/>
          <p:nvPr/>
        </p:nvSpPr>
        <p:spPr>
          <a:xfrm>
            <a:off x="1152144" y="5073091"/>
            <a:ext cx="274758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 respuesta</a:t>
            </a:r>
            <a:endParaRPr lang="en-US" sz="940" dirty="0"/>
          </a:p>
        </p:txBody>
      </p:sp>
      <p:sp>
        <p:nvSpPr>
          <p:cNvPr id="36" name="Shape 33"/>
          <p:cNvSpPr/>
          <p:nvPr/>
        </p:nvSpPr>
        <p:spPr>
          <a:xfrm>
            <a:off x="4082613" y="5025542"/>
            <a:ext cx="3008742" cy="0"/>
          </a:xfrm>
          <a:prstGeom prst="line">
            <a:avLst/>
          </a:prstGeom>
          <a:noFill/>
          <a:ln w="12700">
            <a:solidFill>
              <a:srgbClr val="E0BC5A"/>
            </a:solidFill>
            <a:prstDash val="solid"/>
            <a:headEnd type="none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7365675" y="4743907"/>
            <a:ext cx="3058485" cy="563270"/>
          </a:xfrm>
          <a:prstGeom prst="roundRect">
            <a:avLst>
              <a:gd name="adj" fmla="val 6494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493691" y="4908499"/>
            <a:ext cx="28024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Activación</a:t>
            </a:r>
            <a:endParaRPr lang="en-US" sz="1240" dirty="0"/>
          </a:p>
        </p:txBody>
      </p:sp>
      <p:sp>
        <p:nvSpPr>
          <p:cNvPr id="39" name="Shape 36"/>
          <p:cNvSpPr/>
          <p:nvPr/>
        </p:nvSpPr>
        <p:spPr>
          <a:xfrm>
            <a:off x="1024128" y="5416906"/>
            <a:ext cx="3003621" cy="563270"/>
          </a:xfrm>
          <a:prstGeom prst="roundRect">
            <a:avLst>
              <a:gd name="adj" fmla="val 649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152144" y="5526634"/>
            <a:ext cx="274758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Axón</a:t>
            </a:r>
            <a:endParaRPr lang="en-US" sz="1220" dirty="0"/>
          </a:p>
        </p:txBody>
      </p:sp>
      <p:sp>
        <p:nvSpPr>
          <p:cNvPr id="41" name="Text 38"/>
          <p:cNvSpPr/>
          <p:nvPr/>
        </p:nvSpPr>
        <p:spPr>
          <a:xfrm>
            <a:off x="1152144" y="5746090"/>
            <a:ext cx="274758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del modelo</a:t>
            </a:r>
            <a:endParaRPr lang="en-US" sz="940" dirty="0"/>
          </a:p>
        </p:txBody>
      </p:sp>
      <p:sp>
        <p:nvSpPr>
          <p:cNvPr id="42" name="Shape 39"/>
          <p:cNvSpPr/>
          <p:nvPr/>
        </p:nvSpPr>
        <p:spPr>
          <a:xfrm>
            <a:off x="4082613" y="5698541"/>
            <a:ext cx="3008742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43" name="Shape 40"/>
          <p:cNvSpPr/>
          <p:nvPr/>
        </p:nvSpPr>
        <p:spPr>
          <a:xfrm>
            <a:off x="7365675" y="5416906"/>
            <a:ext cx="3058485" cy="563270"/>
          </a:xfrm>
          <a:prstGeom prst="roundRect">
            <a:avLst>
              <a:gd name="adj" fmla="val 649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493691" y="5581498"/>
            <a:ext cx="28024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Salida ŷ</a:t>
            </a:r>
            <a:endParaRPr lang="en-US" sz="12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Inspiración No Es Equivalencia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 distinción evita el error más común al explicar IA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41248" y="1828800"/>
            <a:ext cx="4498848" cy="3328416"/>
          </a:xfrm>
          <a:prstGeom prst="roundRect">
            <a:avLst>
              <a:gd name="adj" fmla="val 109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0976" y="1975104"/>
            <a:ext cx="109728" cy="30358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52144" y="2011680"/>
            <a:ext cx="4041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1152144" y="226771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 un cerebro digital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1152144" y="2706624"/>
            <a:ext cx="4023360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red neuronal artificial no siente, no tiene intención y no comprende como una persona.</a:t>
            </a:r>
            <a:endParaRPr lang="en-US" sz="1220" dirty="0"/>
          </a:p>
        </p:txBody>
      </p:sp>
      <p:sp>
        <p:nvSpPr>
          <p:cNvPr id="15" name="Shape 12"/>
          <p:cNvSpPr/>
          <p:nvPr/>
        </p:nvSpPr>
        <p:spPr>
          <a:xfrm>
            <a:off x="5852160" y="1828800"/>
            <a:ext cx="4498848" cy="3328416"/>
          </a:xfrm>
          <a:prstGeom prst="roundRect">
            <a:avLst>
              <a:gd name="adj" fmla="val 109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961888" y="1975104"/>
            <a:ext cx="109728" cy="30358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63056" y="2011680"/>
            <a:ext cx="4041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PRECISIÓN</a:t>
            </a:r>
            <a:endParaRPr lang="en-US" sz="840" dirty="0"/>
          </a:p>
        </p:txBody>
      </p:sp>
      <p:sp>
        <p:nvSpPr>
          <p:cNvPr id="18" name="Text 15"/>
          <p:cNvSpPr/>
          <p:nvPr/>
        </p:nvSpPr>
        <p:spPr>
          <a:xfrm>
            <a:off x="6163056" y="226771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 un modelo matemático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6163056" y="2706624"/>
            <a:ext cx="4023360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Recibe números, aplica parámetros, transforma señales y produce una salida evaluable.</a:t>
            </a:r>
            <a:endParaRPr lang="en-US" sz="1220" dirty="0"/>
          </a:p>
        </p:txBody>
      </p:sp>
      <p:sp>
        <p:nvSpPr>
          <p:cNvPr id="20" name="Shape 17"/>
          <p:cNvSpPr/>
          <p:nvPr/>
        </p:nvSpPr>
        <p:spPr>
          <a:xfrm>
            <a:off x="786384" y="5376672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87552" y="5513832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comparación biológica ayuda a imaginar el flujo; la explicación técnica vive en las operaciones.</a:t>
            </a:r>
            <a:endParaRPr lang="en-US" sz="14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Las Señales Se Vuelven Números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que un computador calcule, la señal debe representarse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41248" y="1920240"/>
            <a:ext cx="4187952" cy="338328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0976" y="2066544"/>
            <a:ext cx="109728" cy="309067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212848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Ejemplo: correo sospechoso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170432" y="2761488"/>
            <a:ext cx="530352" cy="347472"/>
          </a:xfrm>
          <a:prstGeom prst="roundRect">
            <a:avLst>
              <a:gd name="adj" fmla="val 1052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70432" y="2852928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x1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865376" y="2852928"/>
            <a:ext cx="19933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tiene enlace extraño</a:t>
            </a:r>
            <a:endParaRPr lang="en-US" sz="920" dirty="0"/>
          </a:p>
        </p:txBody>
      </p:sp>
      <p:sp>
        <p:nvSpPr>
          <p:cNvPr id="16" name="Text 13"/>
          <p:cNvSpPr/>
          <p:nvPr/>
        </p:nvSpPr>
        <p:spPr>
          <a:xfrm>
            <a:off x="4059936" y="2852928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170432" y="3346704"/>
            <a:ext cx="530352" cy="347472"/>
          </a:xfrm>
          <a:prstGeom prst="roundRect">
            <a:avLst>
              <a:gd name="adj" fmla="val 1052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70432" y="3438144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x2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865376" y="3438144"/>
            <a:ext cx="19933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remitente desconocido</a:t>
            </a:r>
            <a:endParaRPr lang="en-US" sz="920" dirty="0"/>
          </a:p>
        </p:txBody>
      </p:sp>
      <p:sp>
        <p:nvSpPr>
          <p:cNvPr id="20" name="Text 17"/>
          <p:cNvSpPr/>
          <p:nvPr/>
        </p:nvSpPr>
        <p:spPr>
          <a:xfrm>
            <a:off x="4059936" y="3438144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1170432" y="3931920"/>
            <a:ext cx="530352" cy="347472"/>
          </a:xfrm>
          <a:prstGeom prst="roundRect">
            <a:avLst>
              <a:gd name="adj" fmla="val 1052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70432" y="4023360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x3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1865376" y="4023360"/>
            <a:ext cx="19933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asunto urgente</a:t>
            </a:r>
            <a:endParaRPr lang="en-US" sz="920" dirty="0"/>
          </a:p>
        </p:txBody>
      </p:sp>
      <p:sp>
        <p:nvSpPr>
          <p:cNvPr id="24" name="Text 21"/>
          <p:cNvSpPr/>
          <p:nvPr/>
        </p:nvSpPr>
        <p:spPr>
          <a:xfrm>
            <a:off x="4059936" y="402336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559552" y="1920240"/>
            <a:ext cx="4736592" cy="1444752"/>
          </a:xfrm>
          <a:prstGeom prst="roundRect">
            <a:avLst>
              <a:gd name="adj" fmla="val 253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669280" y="2066544"/>
            <a:ext cx="109728" cy="115214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870448" y="2103120"/>
            <a:ext cx="4279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REPRESENTAR</a:t>
            </a:r>
            <a:endParaRPr lang="en-US" sz="840" dirty="0"/>
          </a:p>
        </p:txBody>
      </p:sp>
      <p:sp>
        <p:nvSpPr>
          <p:cNvPr id="28" name="Text 25"/>
          <p:cNvSpPr/>
          <p:nvPr/>
        </p:nvSpPr>
        <p:spPr>
          <a:xfrm>
            <a:off x="5870448" y="2359152"/>
            <a:ext cx="4261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 o 1 no son la realidad completa</a:t>
            </a:r>
            <a:endParaRPr lang="en-US" sz="1540" dirty="0"/>
          </a:p>
        </p:txBody>
      </p:sp>
      <p:sp>
        <p:nvSpPr>
          <p:cNvPr id="29" name="Text 26"/>
          <p:cNvSpPr/>
          <p:nvPr/>
        </p:nvSpPr>
        <p:spPr>
          <a:xfrm>
            <a:off x="5870448" y="2798064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 una forma simple de codificar presencia o ausencia para poder calcular.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5559552" y="3803904"/>
            <a:ext cx="4736592" cy="1444752"/>
          </a:xfrm>
          <a:prstGeom prst="roundRect">
            <a:avLst>
              <a:gd name="adj" fmla="val 253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669280" y="3950208"/>
            <a:ext cx="109728" cy="115214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870448" y="3986784"/>
            <a:ext cx="4279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</a:t>
            </a:r>
            <a:endParaRPr lang="en-US" sz="840" dirty="0"/>
          </a:p>
        </p:txBody>
      </p:sp>
      <p:sp>
        <p:nvSpPr>
          <p:cNvPr id="33" name="Text 30"/>
          <p:cNvSpPr/>
          <p:nvPr/>
        </p:nvSpPr>
        <p:spPr>
          <a:xfrm>
            <a:off x="5870448" y="4242816"/>
            <a:ext cx="4261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entrada elegida condiciona el modelo</a:t>
            </a:r>
            <a:endParaRPr lang="en-US" sz="1540" dirty="0"/>
          </a:p>
        </p:txBody>
      </p:sp>
      <p:sp>
        <p:nvSpPr>
          <p:cNvPr id="34" name="Text 31"/>
          <p:cNvSpPr/>
          <p:nvPr/>
        </p:nvSpPr>
        <p:spPr>
          <a:xfrm>
            <a:off x="5870448" y="4681728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las señales no describen bien el problema, la predicción será débil aunque la fórmula esté correcta.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Primera Fórmula Importante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Suma ponderada: entradas con distinta importancia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96112" y="1847088"/>
            <a:ext cx="9107424" cy="2084832"/>
          </a:xfrm>
          <a:prstGeom prst="roundRect">
            <a:avLst>
              <a:gd name="adj" fmla="val 219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5840" y="1993392"/>
            <a:ext cx="109728" cy="17922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88720" y="1975104"/>
            <a:ext cx="8668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Suma ponderada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188720" y="2295144"/>
            <a:ext cx="8668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señal total antes de activar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1152144" y="2487168"/>
            <a:ext cx="8595360" cy="713232"/>
          </a:xfrm>
          <a:prstGeom prst="roundRect">
            <a:avLst>
              <a:gd name="adj" fmla="val 5128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80160" y="2670048"/>
            <a:ext cx="8339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w1*x1 + w2*x2 + ... + wn*xn + b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1152144" y="327355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señal total = entradas multiplicadas por importancia + ajuste interno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1152144" y="3584448"/>
            <a:ext cx="2080260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25296" y="3634740"/>
            <a:ext cx="19339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x: entrada</a:t>
            </a:r>
            <a:endParaRPr lang="en-US" sz="780" dirty="0"/>
          </a:p>
        </p:txBody>
      </p:sp>
      <p:sp>
        <p:nvSpPr>
          <p:cNvPr id="19" name="Shape 16"/>
          <p:cNvSpPr/>
          <p:nvPr/>
        </p:nvSpPr>
        <p:spPr>
          <a:xfrm>
            <a:off x="3323844" y="3584448"/>
            <a:ext cx="2080260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396996" y="3634740"/>
            <a:ext cx="19339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w: peso</a:t>
            </a:r>
            <a:endParaRPr lang="en-US" sz="780" dirty="0"/>
          </a:p>
        </p:txBody>
      </p:sp>
      <p:sp>
        <p:nvSpPr>
          <p:cNvPr id="21" name="Shape 18"/>
          <p:cNvSpPr/>
          <p:nvPr/>
        </p:nvSpPr>
        <p:spPr>
          <a:xfrm>
            <a:off x="5495544" y="3584448"/>
            <a:ext cx="2080260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568696" y="3634740"/>
            <a:ext cx="19339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b: sesgo</a:t>
            </a:r>
            <a:endParaRPr lang="en-US" sz="780" dirty="0"/>
          </a:p>
        </p:txBody>
      </p:sp>
      <p:sp>
        <p:nvSpPr>
          <p:cNvPr id="23" name="Shape 20"/>
          <p:cNvSpPr/>
          <p:nvPr/>
        </p:nvSpPr>
        <p:spPr>
          <a:xfrm>
            <a:off x="7667244" y="3584448"/>
            <a:ext cx="2080260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40396" y="3634740"/>
            <a:ext cx="19339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z: señal total</a:t>
            </a:r>
            <a:endParaRPr lang="en-US" sz="780" dirty="0"/>
          </a:p>
        </p:txBody>
      </p:sp>
      <p:sp>
        <p:nvSpPr>
          <p:cNvPr id="25" name="Shape 22"/>
          <p:cNvSpPr/>
          <p:nvPr/>
        </p:nvSpPr>
        <p:spPr>
          <a:xfrm>
            <a:off x="1389888" y="4334256"/>
            <a:ext cx="8119872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554480" y="4453128"/>
            <a:ext cx="7790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 rápida de símbolos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1499616" y="4809744"/>
            <a:ext cx="1728216" cy="566928"/>
          </a:xfrm>
          <a:prstGeom prst="roundRect">
            <a:avLst>
              <a:gd name="adj" fmla="val 645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572768" y="4837176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1993392" y="4855464"/>
            <a:ext cx="1161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 de entrada</a:t>
            </a:r>
            <a:endParaRPr lang="en-US" sz="880" dirty="0"/>
          </a:p>
        </p:txBody>
      </p:sp>
      <p:sp>
        <p:nvSpPr>
          <p:cNvPr id="30" name="Shape 27"/>
          <p:cNvSpPr/>
          <p:nvPr/>
        </p:nvSpPr>
        <p:spPr>
          <a:xfrm>
            <a:off x="3557016" y="4809744"/>
            <a:ext cx="1728216" cy="566928"/>
          </a:xfrm>
          <a:prstGeom prst="roundRect">
            <a:avLst>
              <a:gd name="adj" fmla="val 645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630168" y="4837176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4050792" y="4855464"/>
            <a:ext cx="1161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importancia</a:t>
            </a:r>
            <a:endParaRPr lang="en-US" sz="880" dirty="0"/>
          </a:p>
        </p:txBody>
      </p:sp>
      <p:sp>
        <p:nvSpPr>
          <p:cNvPr id="33" name="Shape 30"/>
          <p:cNvSpPr/>
          <p:nvPr/>
        </p:nvSpPr>
        <p:spPr>
          <a:xfrm>
            <a:off x="5614416" y="4809744"/>
            <a:ext cx="1728216" cy="566928"/>
          </a:xfrm>
          <a:prstGeom prst="roundRect">
            <a:avLst>
              <a:gd name="adj" fmla="val 645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687568" y="4837176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6108192" y="4855464"/>
            <a:ext cx="1161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ajuste</a:t>
            </a:r>
            <a:endParaRPr lang="en-US" sz="880" dirty="0"/>
          </a:p>
        </p:txBody>
      </p:sp>
      <p:sp>
        <p:nvSpPr>
          <p:cNvPr id="36" name="Shape 33"/>
          <p:cNvSpPr/>
          <p:nvPr/>
        </p:nvSpPr>
        <p:spPr>
          <a:xfrm>
            <a:off x="7671816" y="4809744"/>
            <a:ext cx="1728216" cy="566928"/>
          </a:xfrm>
          <a:prstGeom prst="roundRect">
            <a:avLst>
              <a:gd name="adj" fmla="val 645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744968" y="4837176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8165592" y="4855464"/>
            <a:ext cx="1161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señal total</a:t>
            </a:r>
            <a:endParaRPr lang="en-US" sz="8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Dice Un Peso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peso indica cuánto empuja una entrada la decisión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41248" y="1865376"/>
            <a:ext cx="2816352" cy="1901952"/>
          </a:xfrm>
          <a:prstGeom prst="roundRect">
            <a:avLst>
              <a:gd name="adj" fmla="val 192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0976" y="2011680"/>
            <a:ext cx="109728" cy="160934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52144" y="2048256"/>
            <a:ext cx="2359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 = 3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1152144" y="2304288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Peso alto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152144" y="2743200"/>
            <a:ext cx="2340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señal influye mucho en el resultado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4023360" y="1865376"/>
            <a:ext cx="2816352" cy="1901952"/>
          </a:xfrm>
          <a:prstGeom prst="roundRect">
            <a:avLst>
              <a:gd name="adj" fmla="val 1923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133088" y="2011680"/>
            <a:ext cx="109728" cy="160934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334256" y="2048256"/>
            <a:ext cx="2359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 = 0.4</a:t>
            </a:r>
            <a:endParaRPr lang="en-US" sz="840" dirty="0"/>
          </a:p>
        </p:txBody>
      </p:sp>
      <p:sp>
        <p:nvSpPr>
          <p:cNvPr id="18" name="Text 15"/>
          <p:cNvSpPr/>
          <p:nvPr/>
        </p:nvSpPr>
        <p:spPr>
          <a:xfrm>
            <a:off x="4334256" y="2304288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Peso bajo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4334256" y="2743200"/>
            <a:ext cx="2340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señal influye poco en el resultado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7205472" y="1865376"/>
            <a:ext cx="2816352" cy="1901952"/>
          </a:xfrm>
          <a:prstGeom prst="roundRect">
            <a:avLst>
              <a:gd name="adj" fmla="val 192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15200" y="2011680"/>
            <a:ext cx="109728" cy="16093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516368" y="2048256"/>
            <a:ext cx="2359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 = -2</a:t>
            </a:r>
            <a:endParaRPr lang="en-US" sz="840" dirty="0"/>
          </a:p>
        </p:txBody>
      </p:sp>
      <p:sp>
        <p:nvSpPr>
          <p:cNvPr id="23" name="Text 20"/>
          <p:cNvSpPr/>
          <p:nvPr/>
        </p:nvSpPr>
        <p:spPr>
          <a:xfrm>
            <a:off x="7516368" y="2304288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Peso negativo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7516368" y="2743200"/>
            <a:ext cx="2340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señal empuja en sentido contrario</a:t>
            </a:r>
            <a:endParaRPr lang="en-US" sz="1080" dirty="0"/>
          </a:p>
        </p:txBody>
      </p:sp>
      <p:sp>
        <p:nvSpPr>
          <p:cNvPr id="25" name="Shape 22"/>
          <p:cNvSpPr/>
          <p:nvPr/>
        </p:nvSpPr>
        <p:spPr>
          <a:xfrm>
            <a:off x="1078992" y="4261104"/>
            <a:ext cx="9144000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188720" y="4407408"/>
            <a:ext cx="109728" cy="78638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371600" y="4389120"/>
            <a:ext cx="8705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 operativa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1389888" y="4718304"/>
            <a:ext cx="8522208" cy="347472"/>
          </a:xfrm>
          <a:prstGeom prst="roundRect">
            <a:avLst>
              <a:gd name="adj" fmla="val 1052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517904" y="4818888"/>
            <a:ext cx="8266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aporte = entrada * peso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1389888" y="5138928"/>
            <a:ext cx="8522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misma entrada puede cambiar mucho o poco según su peso</a:t>
            </a:r>
            <a:endParaRPr lang="en-US" sz="8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Sesgo Ajusta El Umbral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viene del dato: modifica qué tan fácil es activar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77824" y="1938528"/>
            <a:ext cx="4498848" cy="1627632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2084832"/>
            <a:ext cx="109728" cy="13350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066544"/>
            <a:ext cx="4059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Sesgo menos exigente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1133856" y="2468880"/>
            <a:ext cx="3986784" cy="384048"/>
          </a:xfrm>
          <a:prstGeom prst="roundRect">
            <a:avLst>
              <a:gd name="adj" fmla="val 952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61872" y="2606040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3 + 2 + 0 - 2 = 3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133856" y="2926080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señal queda positiva y se acerca a activar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1133856" y="3218688"/>
            <a:ext cx="1947672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07008" y="3268980"/>
            <a:ext cx="1801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= -2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3172968" y="3218688"/>
            <a:ext cx="1947672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46120" y="3268980"/>
            <a:ext cx="1801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 = 3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5687568" y="1938528"/>
            <a:ext cx="4498848" cy="1627632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797296" y="2084832"/>
            <a:ext cx="109728" cy="133502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80176" y="2066544"/>
            <a:ext cx="4059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Sesgo más exigente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5943600" y="2468880"/>
            <a:ext cx="3986784" cy="384048"/>
          </a:xfrm>
          <a:prstGeom prst="roundRect">
            <a:avLst>
              <a:gd name="adj" fmla="val 952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071616" y="2606040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3 + 2 + 0 - 6 = -1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5943600" y="2926080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mismas entradas ya no alcanzan</a:t>
            </a:r>
            <a:endParaRPr lang="en-US" sz="1080" dirty="0"/>
          </a:p>
        </p:txBody>
      </p:sp>
      <p:sp>
        <p:nvSpPr>
          <p:cNvPr id="26" name="Shape 23"/>
          <p:cNvSpPr/>
          <p:nvPr/>
        </p:nvSpPr>
        <p:spPr>
          <a:xfrm>
            <a:off x="5943600" y="3218688"/>
            <a:ext cx="1947672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016752" y="3268980"/>
            <a:ext cx="1801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= -6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7982712" y="3218688"/>
            <a:ext cx="1947672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055864" y="3268980"/>
            <a:ext cx="1801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 = -1</a:t>
            </a:r>
            <a:endParaRPr lang="en-US" sz="780" dirty="0"/>
          </a:p>
        </p:txBody>
      </p:sp>
      <p:sp>
        <p:nvSpPr>
          <p:cNvPr id="30" name="Shape 27"/>
          <p:cNvSpPr/>
          <p:nvPr/>
        </p:nvSpPr>
        <p:spPr>
          <a:xfrm>
            <a:off x="1078992" y="4315968"/>
            <a:ext cx="8887968" cy="841248"/>
          </a:xfrm>
          <a:prstGeom prst="roundRect">
            <a:avLst>
              <a:gd name="adj" fmla="val 434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280160" y="4480560"/>
            <a:ext cx="8485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Los pesos dicen qué señales importan; el sesgo ajusta cuánta evidencia se necesita.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Cálculo Manual: Señales De Un Correo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ejemplo pequeño permite leer la fórmula sin miedo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04672" y="1865376"/>
            <a:ext cx="9838944" cy="2907792"/>
          </a:xfrm>
          <a:prstGeom prst="roundRect">
            <a:avLst>
              <a:gd name="adj" fmla="val 125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60704" y="212140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4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3*1 + 2*1 + 1*0 - 2</a:t>
            </a:r>
            <a:endParaRPr lang="en-US" sz="1640" dirty="0"/>
          </a:p>
        </p:txBody>
      </p:sp>
      <p:sp>
        <p:nvSpPr>
          <p:cNvPr id="12" name="Text 9"/>
          <p:cNvSpPr/>
          <p:nvPr/>
        </p:nvSpPr>
        <p:spPr>
          <a:xfrm>
            <a:off x="1060704" y="2523744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enlace extraño + remitente desconocido + urgencia + sesgo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1060704" y="3035808"/>
            <a:ext cx="1737360" cy="1115568"/>
          </a:xfrm>
          <a:prstGeom prst="roundRect">
            <a:avLst>
              <a:gd name="adj" fmla="val 327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323697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3*1</a:t>
            </a:r>
            <a:endParaRPr lang="en-US" sz="1420" dirty="0"/>
          </a:p>
        </p:txBody>
      </p:sp>
      <p:sp>
        <p:nvSpPr>
          <p:cNvPr id="15" name="Text 12"/>
          <p:cNvSpPr/>
          <p:nvPr/>
        </p:nvSpPr>
        <p:spPr>
          <a:xfrm>
            <a:off x="1060704" y="356616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enlace</a:t>
            </a:r>
            <a:endParaRPr lang="en-US" sz="980" dirty="0"/>
          </a:p>
        </p:txBody>
      </p:sp>
      <p:sp>
        <p:nvSpPr>
          <p:cNvPr id="16" name="Text 13"/>
          <p:cNvSpPr/>
          <p:nvPr/>
        </p:nvSpPr>
        <p:spPr>
          <a:xfrm>
            <a:off x="1060704" y="385876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3</a:t>
            </a:r>
            <a:endParaRPr lang="en-US" sz="1080" dirty="0"/>
          </a:p>
        </p:txBody>
      </p:sp>
      <p:sp>
        <p:nvSpPr>
          <p:cNvPr id="17" name="Text 14"/>
          <p:cNvSpPr/>
          <p:nvPr/>
        </p:nvSpPr>
        <p:spPr>
          <a:xfrm>
            <a:off x="2852928" y="345643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260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072384" y="3035808"/>
            <a:ext cx="1737360" cy="1115568"/>
          </a:xfrm>
          <a:prstGeom prst="roundRect">
            <a:avLst>
              <a:gd name="adj" fmla="val 327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072384" y="323697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2*1</a:t>
            </a:r>
            <a:endParaRPr lang="en-US" sz="1420" dirty="0"/>
          </a:p>
        </p:txBody>
      </p:sp>
      <p:sp>
        <p:nvSpPr>
          <p:cNvPr id="20" name="Text 17"/>
          <p:cNvSpPr/>
          <p:nvPr/>
        </p:nvSpPr>
        <p:spPr>
          <a:xfrm>
            <a:off x="3072384" y="356616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remitente</a:t>
            </a:r>
            <a:endParaRPr lang="en-US" sz="980" dirty="0"/>
          </a:p>
        </p:txBody>
      </p:sp>
      <p:sp>
        <p:nvSpPr>
          <p:cNvPr id="21" name="Text 18"/>
          <p:cNvSpPr/>
          <p:nvPr/>
        </p:nvSpPr>
        <p:spPr>
          <a:xfrm>
            <a:off x="3072384" y="385876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2</a:t>
            </a:r>
            <a:endParaRPr lang="en-US" sz="1080" dirty="0"/>
          </a:p>
        </p:txBody>
      </p:sp>
      <p:sp>
        <p:nvSpPr>
          <p:cNvPr id="22" name="Text 19"/>
          <p:cNvSpPr/>
          <p:nvPr/>
        </p:nvSpPr>
        <p:spPr>
          <a:xfrm>
            <a:off x="4864608" y="345643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260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084064" y="3035808"/>
            <a:ext cx="1737360" cy="1115568"/>
          </a:xfrm>
          <a:prstGeom prst="roundRect">
            <a:avLst>
              <a:gd name="adj" fmla="val 327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84064" y="323697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1*0</a:t>
            </a:r>
            <a:endParaRPr lang="en-US" sz="1420" dirty="0"/>
          </a:p>
        </p:txBody>
      </p:sp>
      <p:sp>
        <p:nvSpPr>
          <p:cNvPr id="25" name="Text 22"/>
          <p:cNvSpPr/>
          <p:nvPr/>
        </p:nvSpPr>
        <p:spPr>
          <a:xfrm>
            <a:off x="5084064" y="356616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urgencia</a:t>
            </a:r>
            <a:endParaRPr lang="en-US" sz="980" dirty="0"/>
          </a:p>
        </p:txBody>
      </p:sp>
      <p:sp>
        <p:nvSpPr>
          <p:cNvPr id="26" name="Text 23"/>
          <p:cNvSpPr/>
          <p:nvPr/>
        </p:nvSpPr>
        <p:spPr>
          <a:xfrm>
            <a:off x="5084064" y="385876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0</a:t>
            </a:r>
            <a:endParaRPr lang="en-US" sz="1080" dirty="0"/>
          </a:p>
        </p:txBody>
      </p:sp>
      <p:sp>
        <p:nvSpPr>
          <p:cNvPr id="27" name="Text 24"/>
          <p:cNvSpPr/>
          <p:nvPr/>
        </p:nvSpPr>
        <p:spPr>
          <a:xfrm>
            <a:off x="6876288" y="345643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260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7095744" y="3035808"/>
            <a:ext cx="1737360" cy="1115568"/>
          </a:xfrm>
          <a:prstGeom prst="roundRect">
            <a:avLst>
              <a:gd name="adj" fmla="val 3279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095744" y="323697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-2</a:t>
            </a:r>
            <a:endParaRPr lang="en-US" sz="1420" dirty="0"/>
          </a:p>
        </p:txBody>
      </p:sp>
      <p:sp>
        <p:nvSpPr>
          <p:cNvPr id="30" name="Text 27"/>
          <p:cNvSpPr/>
          <p:nvPr/>
        </p:nvSpPr>
        <p:spPr>
          <a:xfrm>
            <a:off x="7095744" y="356616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sesgo</a:t>
            </a:r>
            <a:endParaRPr lang="en-US" sz="980" dirty="0"/>
          </a:p>
        </p:txBody>
      </p:sp>
      <p:sp>
        <p:nvSpPr>
          <p:cNvPr id="31" name="Text 28"/>
          <p:cNvSpPr/>
          <p:nvPr/>
        </p:nvSpPr>
        <p:spPr>
          <a:xfrm>
            <a:off x="7095744" y="385876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-2</a:t>
            </a:r>
            <a:endParaRPr lang="en-US" sz="1080" dirty="0"/>
          </a:p>
        </p:txBody>
      </p:sp>
      <p:sp>
        <p:nvSpPr>
          <p:cNvPr id="32" name="Text 29"/>
          <p:cNvSpPr/>
          <p:nvPr/>
        </p:nvSpPr>
        <p:spPr>
          <a:xfrm>
            <a:off x="9107424" y="345643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260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=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9528048" y="3035808"/>
            <a:ext cx="768096" cy="1115568"/>
          </a:xfrm>
          <a:prstGeom prst="roundRect">
            <a:avLst>
              <a:gd name="adj" fmla="val 476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528048" y="3218688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</a:t>
            </a:r>
            <a:endParaRPr lang="en-US" sz="980" dirty="0"/>
          </a:p>
        </p:txBody>
      </p:sp>
      <p:sp>
        <p:nvSpPr>
          <p:cNvPr id="35" name="Text 32"/>
          <p:cNvSpPr/>
          <p:nvPr/>
        </p:nvSpPr>
        <p:spPr>
          <a:xfrm>
            <a:off x="9528048" y="3529584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786384" y="4974336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87552" y="5111496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Todavía no decidimos la salida: solo calculamos la señal acumulada z.</a:t>
            </a:r>
            <a:endParaRPr lang="en-US" sz="14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La Suma A La Salida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activación transforma la señal total en una decisión usable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77824" y="1901952"/>
            <a:ext cx="4645152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2048256"/>
            <a:ext cx="109728" cy="153619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02996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 de umbral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1133856" y="2432304"/>
            <a:ext cx="4133088" cy="384048"/>
          </a:xfrm>
          <a:prstGeom prst="roundRect">
            <a:avLst>
              <a:gd name="adj" fmla="val 952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61872" y="2569464"/>
            <a:ext cx="3877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 z &gt;= 0, salida = 1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133856" y="2889504"/>
            <a:ext cx="4133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la señal alcanza el umbral, la neurona se activa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1133856" y="3383280"/>
            <a:ext cx="2020824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07008" y="3433572"/>
            <a:ext cx="1874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 = 3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3246120" y="3383280"/>
            <a:ext cx="2020824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319272" y="3433572"/>
            <a:ext cx="1874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salida = 1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5815584" y="1901952"/>
            <a:ext cx="4645152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925312" y="2048256"/>
            <a:ext cx="109728" cy="15361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08192" y="202996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contrario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6071616" y="2432304"/>
            <a:ext cx="4133088" cy="384048"/>
          </a:xfrm>
          <a:prstGeom prst="roundRect">
            <a:avLst>
              <a:gd name="adj" fmla="val 952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99632" y="2569464"/>
            <a:ext cx="3877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 z &lt; 0, salida = 0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071616" y="2889504"/>
            <a:ext cx="4133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la señal no alcanza, no se activa</a:t>
            </a:r>
            <a:endParaRPr lang="en-US" sz="1080" dirty="0"/>
          </a:p>
        </p:txBody>
      </p:sp>
      <p:sp>
        <p:nvSpPr>
          <p:cNvPr id="26" name="Shape 23"/>
          <p:cNvSpPr/>
          <p:nvPr/>
        </p:nvSpPr>
        <p:spPr>
          <a:xfrm>
            <a:off x="6071616" y="3383280"/>
            <a:ext cx="2020824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44768" y="3433572"/>
            <a:ext cx="1874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 = -1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8183880" y="3383280"/>
            <a:ext cx="2020824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257032" y="3433572"/>
            <a:ext cx="1874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salida = 0</a:t>
            </a:r>
            <a:endParaRPr lang="en-US" sz="780" dirty="0"/>
          </a:p>
        </p:txBody>
      </p:sp>
      <p:sp>
        <p:nvSpPr>
          <p:cNvPr id="30" name="Shape 27"/>
          <p:cNvSpPr/>
          <p:nvPr/>
        </p:nvSpPr>
        <p:spPr>
          <a:xfrm>
            <a:off x="1188720" y="4352544"/>
            <a:ext cx="8650224" cy="749808"/>
          </a:xfrm>
          <a:prstGeom prst="roundRect">
            <a:avLst>
              <a:gd name="adj" fmla="val 487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389888" y="4517136"/>
            <a:ext cx="8247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Activar no significa entender: significa transformar una señal numérica en una salida.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Flujo Completo De Una Neurona Artificial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Ahora podemos leer la operación de extremo a extremo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04672" y="1865376"/>
            <a:ext cx="9838944" cy="3236976"/>
          </a:xfrm>
          <a:prstGeom prst="roundRect">
            <a:avLst>
              <a:gd name="adj" fmla="val 113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78992" y="2788920"/>
            <a:ext cx="1316736" cy="914400"/>
          </a:xfrm>
          <a:prstGeom prst="roundRect">
            <a:avLst>
              <a:gd name="adj" fmla="val 500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78992" y="292608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152144" y="3310128"/>
            <a:ext cx="1170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entradas</a:t>
            </a:r>
            <a:endParaRPr lang="en-US" sz="780" dirty="0"/>
          </a:p>
        </p:txBody>
      </p:sp>
      <p:sp>
        <p:nvSpPr>
          <p:cNvPr id="14" name="Shape 11"/>
          <p:cNvSpPr/>
          <p:nvPr/>
        </p:nvSpPr>
        <p:spPr>
          <a:xfrm>
            <a:off x="2450592" y="3246120"/>
            <a:ext cx="438912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2944368" y="2788920"/>
            <a:ext cx="1316736" cy="914400"/>
          </a:xfrm>
          <a:prstGeom prst="roundRect">
            <a:avLst>
              <a:gd name="adj" fmla="val 50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944368" y="292608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3017520" y="3310128"/>
            <a:ext cx="1170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pesos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4315968" y="3246120"/>
            <a:ext cx="438912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4809744" y="2788920"/>
            <a:ext cx="1316736" cy="914400"/>
          </a:xfrm>
          <a:prstGeom prst="roundRect">
            <a:avLst>
              <a:gd name="adj" fmla="val 5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09744" y="292608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4882896" y="3310128"/>
            <a:ext cx="1170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suma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6181344" y="3246120"/>
            <a:ext cx="438912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6675120" y="2788920"/>
            <a:ext cx="1316736" cy="914400"/>
          </a:xfrm>
          <a:prstGeom prst="roundRect">
            <a:avLst>
              <a:gd name="adj" fmla="val 5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675120" y="292608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f(z)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748272" y="3310128"/>
            <a:ext cx="1170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activación</a:t>
            </a:r>
            <a:endParaRPr lang="en-US" sz="780" dirty="0"/>
          </a:p>
        </p:txBody>
      </p:sp>
      <p:sp>
        <p:nvSpPr>
          <p:cNvPr id="26" name="Shape 23"/>
          <p:cNvSpPr/>
          <p:nvPr/>
        </p:nvSpPr>
        <p:spPr>
          <a:xfrm>
            <a:off x="8046720" y="3246120"/>
            <a:ext cx="438912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8540496" y="2788920"/>
            <a:ext cx="1316736" cy="914400"/>
          </a:xfrm>
          <a:prstGeom prst="roundRect">
            <a:avLst>
              <a:gd name="adj" fmla="val 500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540496" y="292608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ŷ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8613648" y="3310128"/>
            <a:ext cx="1170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salida</a:t>
            </a:r>
            <a:endParaRPr lang="en-US" sz="780" dirty="0"/>
          </a:p>
        </p:txBody>
      </p:sp>
      <p:sp>
        <p:nvSpPr>
          <p:cNvPr id="30" name="Shape 27"/>
          <p:cNvSpPr/>
          <p:nvPr/>
        </p:nvSpPr>
        <p:spPr>
          <a:xfrm>
            <a:off x="786384" y="532180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87552" y="545896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 -&gt; w*x + b -&gt; z -&gt; activación(z) -&gt; ŷ</a:t>
            </a:r>
            <a:endParaRPr lang="en-US" sz="16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Comparación Guiada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relación correcta está en el medio: inspiración, no equivalencia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786384" y="1828800"/>
            <a:ext cx="9875520" cy="3785616"/>
          </a:xfrm>
          <a:prstGeom prst="roundRect">
            <a:avLst>
              <a:gd name="adj" fmla="val 96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04825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145536" y="204825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Biológica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419088" y="2048256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Artificial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32688" y="2414016"/>
            <a:ext cx="9473184" cy="548640"/>
          </a:xfrm>
          <a:prstGeom prst="roundRect">
            <a:avLst>
              <a:gd name="adj" fmla="val 5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42416" y="2596896"/>
            <a:ext cx="1993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recibe?</a:t>
            </a:r>
            <a:endParaRPr lang="en-US" sz="980" dirty="0"/>
          </a:p>
        </p:txBody>
      </p:sp>
      <p:sp>
        <p:nvSpPr>
          <p:cNvPr id="16" name="Text 13"/>
          <p:cNvSpPr/>
          <p:nvPr/>
        </p:nvSpPr>
        <p:spPr>
          <a:xfrm>
            <a:off x="3145536" y="2596896"/>
            <a:ext cx="2907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señales de otras neuronas</a:t>
            </a:r>
            <a:endParaRPr lang="en-US" sz="980" dirty="0"/>
          </a:p>
        </p:txBody>
      </p:sp>
      <p:sp>
        <p:nvSpPr>
          <p:cNvPr id="17" name="Text 14"/>
          <p:cNvSpPr/>
          <p:nvPr/>
        </p:nvSpPr>
        <p:spPr>
          <a:xfrm>
            <a:off x="6419088" y="2596896"/>
            <a:ext cx="3419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numéricos de entrada</a:t>
            </a:r>
            <a:endParaRPr lang="en-US" sz="980" dirty="0"/>
          </a:p>
        </p:txBody>
      </p:sp>
      <p:sp>
        <p:nvSpPr>
          <p:cNvPr id="18" name="Shape 15"/>
          <p:cNvSpPr/>
          <p:nvPr/>
        </p:nvSpPr>
        <p:spPr>
          <a:xfrm>
            <a:off x="932688" y="3127248"/>
            <a:ext cx="9473184" cy="548640"/>
          </a:xfrm>
          <a:prstGeom prst="roundRect">
            <a:avLst>
              <a:gd name="adj" fmla="val 5000"/>
            </a:avLst>
          </a:prstGeom>
          <a:solidFill>
            <a:srgbClr val="F8F3EC"/>
          </a:solidFill>
          <a:ln w="12700">
            <a:solidFill>
              <a:srgbClr val="F8F3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42416" y="3310128"/>
            <a:ext cx="1993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¿Todas importan igual?</a:t>
            </a:r>
            <a:endParaRPr lang="en-US" sz="980" dirty="0"/>
          </a:p>
        </p:txBody>
      </p:sp>
      <p:sp>
        <p:nvSpPr>
          <p:cNvPr id="20" name="Text 17"/>
          <p:cNvSpPr/>
          <p:nvPr/>
        </p:nvSpPr>
        <p:spPr>
          <a:xfrm>
            <a:off x="3145536" y="3310128"/>
            <a:ext cx="2907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algunas conexiones influyen más</a:t>
            </a:r>
            <a:endParaRPr lang="en-US" sz="980" dirty="0"/>
          </a:p>
        </p:txBody>
      </p:sp>
      <p:sp>
        <p:nvSpPr>
          <p:cNvPr id="21" name="Text 18"/>
          <p:cNvSpPr/>
          <p:nvPr/>
        </p:nvSpPr>
        <p:spPr>
          <a:xfrm>
            <a:off x="6419088" y="3310128"/>
            <a:ext cx="3419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entrada tiene un peso</a:t>
            </a:r>
            <a:endParaRPr lang="en-US" sz="980" dirty="0"/>
          </a:p>
        </p:txBody>
      </p:sp>
      <p:sp>
        <p:nvSpPr>
          <p:cNvPr id="22" name="Shape 19"/>
          <p:cNvSpPr/>
          <p:nvPr/>
        </p:nvSpPr>
        <p:spPr>
          <a:xfrm>
            <a:off x="932688" y="3840480"/>
            <a:ext cx="9473184" cy="548640"/>
          </a:xfrm>
          <a:prstGeom prst="roundRect">
            <a:avLst>
              <a:gd name="adj" fmla="val 5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42416" y="4023360"/>
            <a:ext cx="1993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¿Dónde se combinan?</a:t>
            </a:r>
            <a:endParaRPr lang="en-US" sz="980" dirty="0"/>
          </a:p>
        </p:txBody>
      </p:sp>
      <p:sp>
        <p:nvSpPr>
          <p:cNvPr id="24" name="Text 21"/>
          <p:cNvSpPr/>
          <p:nvPr/>
        </p:nvSpPr>
        <p:spPr>
          <a:xfrm>
            <a:off x="3145536" y="4023360"/>
            <a:ext cx="2907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cuerpo celular</a:t>
            </a:r>
            <a:endParaRPr lang="en-US" sz="980" dirty="0"/>
          </a:p>
        </p:txBody>
      </p:sp>
      <p:sp>
        <p:nvSpPr>
          <p:cNvPr id="25" name="Text 22"/>
          <p:cNvSpPr/>
          <p:nvPr/>
        </p:nvSpPr>
        <p:spPr>
          <a:xfrm>
            <a:off x="6419088" y="4023360"/>
            <a:ext cx="3419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suma ponderada</a:t>
            </a:r>
            <a:endParaRPr lang="en-US" sz="980" dirty="0"/>
          </a:p>
        </p:txBody>
      </p:sp>
      <p:sp>
        <p:nvSpPr>
          <p:cNvPr id="26" name="Shape 23"/>
          <p:cNvSpPr/>
          <p:nvPr/>
        </p:nvSpPr>
        <p:spPr>
          <a:xfrm>
            <a:off x="932688" y="4553712"/>
            <a:ext cx="9473184" cy="548640"/>
          </a:xfrm>
          <a:prstGeom prst="roundRect">
            <a:avLst>
              <a:gd name="adj" fmla="val 5000"/>
            </a:avLst>
          </a:prstGeom>
          <a:solidFill>
            <a:srgbClr val="F8F3EC"/>
          </a:solidFill>
          <a:ln w="12700">
            <a:solidFill>
              <a:srgbClr val="F8F3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42416" y="4736592"/>
            <a:ext cx="1993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produce?</a:t>
            </a:r>
            <a:endParaRPr lang="en-US" sz="980" dirty="0"/>
          </a:p>
        </p:txBody>
      </p:sp>
      <p:sp>
        <p:nvSpPr>
          <p:cNvPr id="28" name="Text 25"/>
          <p:cNvSpPr/>
          <p:nvPr/>
        </p:nvSpPr>
        <p:spPr>
          <a:xfrm>
            <a:off x="3145536" y="4736592"/>
            <a:ext cx="2907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señal hacia otras neuronas</a:t>
            </a:r>
            <a:endParaRPr lang="en-US" sz="980" dirty="0"/>
          </a:p>
        </p:txBody>
      </p:sp>
      <p:sp>
        <p:nvSpPr>
          <p:cNvPr id="29" name="Text 26"/>
          <p:cNvSpPr/>
          <p:nvPr/>
        </p:nvSpPr>
        <p:spPr>
          <a:xfrm>
            <a:off x="6419088" y="4736592"/>
            <a:ext cx="3419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salida numérica o decisión</a:t>
            </a:r>
            <a:endParaRPr lang="en-US" sz="980" dirty="0"/>
          </a:p>
        </p:txBody>
      </p:sp>
      <p:sp>
        <p:nvSpPr>
          <p:cNvPr id="30" name="Shape 27"/>
          <p:cNvSpPr/>
          <p:nvPr/>
        </p:nvSpPr>
        <p:spPr>
          <a:xfrm>
            <a:off x="786384" y="5376672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87552" y="5513832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es un cerebro digital; es una operación matemática inspirada en señales conectadas.</a:t>
            </a:r>
            <a:endParaRPr lang="en-US" sz="14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Significa Aprender Aquí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Aprender no es comprender: es ajustar parámetros para reducir errores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932688" y="1865376"/>
            <a:ext cx="9454896" cy="987552"/>
          </a:xfrm>
          <a:prstGeom prst="roundRect">
            <a:avLst>
              <a:gd name="adj" fmla="val 370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33856" y="2029968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Aprender = ajustar pesos y sesgo para producir mejores salidas.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969264" y="3364992"/>
            <a:ext cx="2761488" cy="1389888"/>
          </a:xfrm>
          <a:prstGeom prst="roundRect">
            <a:avLst>
              <a:gd name="adj" fmla="val 263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78992" y="3511296"/>
            <a:ext cx="109728" cy="109728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80160" y="3547872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1</a:t>
            </a:r>
            <a:endParaRPr lang="en-US" sz="840" dirty="0"/>
          </a:p>
        </p:txBody>
      </p:sp>
      <p:sp>
        <p:nvSpPr>
          <p:cNvPr id="15" name="Text 12"/>
          <p:cNvSpPr/>
          <p:nvPr/>
        </p:nvSpPr>
        <p:spPr>
          <a:xfrm>
            <a:off x="1280160" y="380390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280160" y="424281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modelo produce ŷ</a:t>
            </a:r>
            <a:endParaRPr lang="en-US" sz="1020" dirty="0"/>
          </a:p>
        </p:txBody>
      </p:sp>
      <p:sp>
        <p:nvSpPr>
          <p:cNvPr id="17" name="Shape 14"/>
          <p:cNvSpPr/>
          <p:nvPr/>
        </p:nvSpPr>
        <p:spPr>
          <a:xfrm>
            <a:off x="4151376" y="3364992"/>
            <a:ext cx="2761488" cy="1389888"/>
          </a:xfrm>
          <a:prstGeom prst="roundRect">
            <a:avLst>
              <a:gd name="adj" fmla="val 263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261104" y="3511296"/>
            <a:ext cx="109728" cy="109728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462272" y="3547872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2</a:t>
            </a:r>
            <a:endParaRPr lang="en-US" sz="840" dirty="0"/>
          </a:p>
        </p:txBody>
      </p:sp>
      <p:sp>
        <p:nvSpPr>
          <p:cNvPr id="20" name="Text 17"/>
          <p:cNvSpPr/>
          <p:nvPr/>
        </p:nvSpPr>
        <p:spPr>
          <a:xfrm>
            <a:off x="4462272" y="380390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 equivoca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462272" y="424281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ŷ no coincide con y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7333488" y="3364992"/>
            <a:ext cx="2761488" cy="1389888"/>
          </a:xfrm>
          <a:prstGeom prst="roundRect">
            <a:avLst>
              <a:gd name="adj" fmla="val 263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443216" y="3511296"/>
            <a:ext cx="109728" cy="109728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644384" y="3547872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3</a:t>
            </a:r>
            <a:endParaRPr lang="en-US" sz="840" dirty="0"/>
          </a:p>
        </p:txBody>
      </p:sp>
      <p:sp>
        <p:nvSpPr>
          <p:cNvPr id="25" name="Text 22"/>
          <p:cNvSpPr/>
          <p:nvPr/>
        </p:nvSpPr>
        <p:spPr>
          <a:xfrm>
            <a:off x="7644384" y="380390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Ajusta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644384" y="424281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cambian w y b</a:t>
            </a:r>
            <a:endParaRPr lang="en-US" sz="1020" dirty="0"/>
          </a:p>
        </p:txBody>
      </p:sp>
      <p:sp>
        <p:nvSpPr>
          <p:cNvPr id="27" name="Shape 24"/>
          <p:cNvSpPr/>
          <p:nvPr/>
        </p:nvSpPr>
        <p:spPr>
          <a:xfrm>
            <a:off x="786384" y="5376672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87552" y="5513832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modelo no recibe una explicación humana: recibe ejemplos y modifica números.</a:t>
            </a:r>
            <a:endParaRPr lang="en-US" sz="14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Programar Reglas Vs Aprender Desde Ejemplos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diferencia explica por qué deep learning cambia el enfoque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41248" y="1901952"/>
            <a:ext cx="4572000" cy="2999232"/>
          </a:xfrm>
          <a:prstGeom prst="roundRect">
            <a:avLst>
              <a:gd name="adj" fmla="val 122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0976" y="2048256"/>
            <a:ext cx="109728" cy="270662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52144" y="208483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PROGRAMACIÓN TRADICIONAL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1152144" y="2340864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regla la escribe una persona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152144" y="2779776"/>
            <a:ext cx="40965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el correo tiene enlace sospechoso y remitente desconocido, marcar alerta.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760720" y="1901952"/>
            <a:ext cx="4572000" cy="2999232"/>
          </a:xfrm>
          <a:prstGeom prst="roundRect">
            <a:avLst>
              <a:gd name="adj" fmla="val 122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70448" y="2048256"/>
            <a:ext cx="109728" cy="270662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71616" y="208483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APRENDIZAJE AUTOMÁTICO</a:t>
            </a:r>
            <a:endParaRPr lang="en-US" sz="840" dirty="0"/>
          </a:p>
        </p:txBody>
      </p:sp>
      <p:sp>
        <p:nvSpPr>
          <p:cNvPr id="18" name="Text 15"/>
          <p:cNvSpPr/>
          <p:nvPr/>
        </p:nvSpPr>
        <p:spPr>
          <a:xfrm>
            <a:off x="6071616" y="2340864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modelo ajusta parámetros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6071616" y="2779776"/>
            <a:ext cx="40965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estos correos fueron sospechosos; estos no. Encuentra pesos que reduzcan el error.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86384" y="5376672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87552" y="5513832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aprendizaje automático desplaza el foco: de escribir reglas a entrenar y evaluar patrones.</a:t>
            </a:r>
            <a:endParaRPr lang="en-US" sz="14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 Qué Una Sola Neurona No Basta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problemas reales combinan muchas señales y patrones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22960" y="1865376"/>
            <a:ext cx="5577840" cy="3858768"/>
          </a:xfrm>
          <a:prstGeom prst="roundRect">
            <a:avLst>
              <a:gd name="adj" fmla="val 118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42416" y="2011680"/>
            <a:ext cx="5138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idea de red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042416" y="2331720"/>
            <a:ext cx="5138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varias neuronas transforman señales por capas</a:t>
            </a:r>
            <a:endParaRPr lang="en-US" sz="88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128" y="2578608"/>
            <a:ext cx="5175504" cy="298094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711696" y="1901952"/>
            <a:ext cx="3584448" cy="1042416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821424" y="2048256"/>
            <a:ext cx="109728" cy="7498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022592" y="2084832"/>
            <a:ext cx="3127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 1</a:t>
            </a:r>
            <a:endParaRPr lang="en-US" sz="840" dirty="0"/>
          </a:p>
        </p:txBody>
      </p:sp>
      <p:sp>
        <p:nvSpPr>
          <p:cNvPr id="17" name="Text 13"/>
          <p:cNvSpPr/>
          <p:nvPr/>
        </p:nvSpPr>
        <p:spPr>
          <a:xfrm>
            <a:off x="7022592" y="234086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señales simples</a:t>
            </a:r>
            <a:endParaRPr lang="en-US" sz="1320" dirty="0"/>
          </a:p>
        </p:txBody>
      </p:sp>
      <p:sp>
        <p:nvSpPr>
          <p:cNvPr id="18" name="Text 14"/>
          <p:cNvSpPr/>
          <p:nvPr/>
        </p:nvSpPr>
        <p:spPr>
          <a:xfrm>
            <a:off x="7022592" y="261518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detecta piezas básicas del patrón</a:t>
            </a:r>
            <a:endParaRPr lang="en-US" sz="880" dirty="0"/>
          </a:p>
        </p:txBody>
      </p:sp>
      <p:sp>
        <p:nvSpPr>
          <p:cNvPr id="19" name="Shape 15"/>
          <p:cNvSpPr/>
          <p:nvPr/>
        </p:nvSpPr>
        <p:spPr>
          <a:xfrm>
            <a:off x="6711696" y="3163824"/>
            <a:ext cx="3584448" cy="1042416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821424" y="3310128"/>
            <a:ext cx="109728" cy="7498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022592" y="3346704"/>
            <a:ext cx="3127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 2</a:t>
            </a:r>
            <a:endParaRPr lang="en-US" sz="840" dirty="0"/>
          </a:p>
        </p:txBody>
      </p:sp>
      <p:sp>
        <p:nvSpPr>
          <p:cNvPr id="22" name="Text 18"/>
          <p:cNvSpPr/>
          <p:nvPr/>
        </p:nvSpPr>
        <p:spPr>
          <a:xfrm>
            <a:off x="7022592" y="360273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combinaciones</a:t>
            </a:r>
            <a:endParaRPr lang="en-US" sz="1320" dirty="0"/>
          </a:p>
        </p:txBody>
      </p:sp>
      <p:sp>
        <p:nvSpPr>
          <p:cNvPr id="23" name="Text 19"/>
          <p:cNvSpPr/>
          <p:nvPr/>
        </p:nvSpPr>
        <p:spPr>
          <a:xfrm>
            <a:off x="7022592" y="38770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mezcla señales intermedias</a:t>
            </a:r>
            <a:endParaRPr lang="en-US" sz="880" dirty="0"/>
          </a:p>
        </p:txBody>
      </p:sp>
      <p:sp>
        <p:nvSpPr>
          <p:cNvPr id="24" name="Shape 20"/>
          <p:cNvSpPr/>
          <p:nvPr/>
        </p:nvSpPr>
        <p:spPr>
          <a:xfrm>
            <a:off x="6711696" y="4425696"/>
            <a:ext cx="3584448" cy="1042416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821424" y="4572000"/>
            <a:ext cx="109728" cy="7498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022592" y="4608576"/>
            <a:ext cx="3127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SALIDA</a:t>
            </a:r>
            <a:endParaRPr lang="en-US" sz="840" dirty="0"/>
          </a:p>
        </p:txBody>
      </p:sp>
      <p:sp>
        <p:nvSpPr>
          <p:cNvPr id="27" name="Text 23"/>
          <p:cNvSpPr/>
          <p:nvPr/>
        </p:nvSpPr>
        <p:spPr>
          <a:xfrm>
            <a:off x="7022592" y="486460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predicción</a:t>
            </a:r>
            <a:endParaRPr lang="en-US" sz="1320" dirty="0"/>
          </a:p>
        </p:txBody>
      </p:sp>
      <p:sp>
        <p:nvSpPr>
          <p:cNvPr id="28" name="Text 24"/>
          <p:cNvSpPr/>
          <p:nvPr/>
        </p:nvSpPr>
        <p:spPr>
          <a:xfrm>
            <a:off x="7022592" y="513892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una respuesta evaluable</a:t>
            </a:r>
            <a:endParaRPr lang="en-US" sz="88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Deep No Significa Pensamiento Profundo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Significa múltiples capas de transformación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41248" y="1828800"/>
            <a:ext cx="9582912" cy="987552"/>
          </a:xfrm>
          <a:prstGeom prst="roundRect">
            <a:avLst>
              <a:gd name="adj" fmla="val 370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42416" y="1993392"/>
            <a:ext cx="9180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deep learning = redes con varias capas entre entrada y salida</a:t>
            </a:r>
            <a:endParaRPr lang="en-US" sz="2500" dirty="0"/>
          </a:p>
        </p:txBody>
      </p:sp>
      <p:sp>
        <p:nvSpPr>
          <p:cNvPr id="12" name="Shape 9"/>
          <p:cNvSpPr/>
          <p:nvPr/>
        </p:nvSpPr>
        <p:spPr>
          <a:xfrm>
            <a:off x="1097280" y="3273552"/>
            <a:ext cx="9034272" cy="1664208"/>
          </a:xfrm>
          <a:prstGeom prst="roundRect">
            <a:avLst>
              <a:gd name="adj" fmla="val 274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207008" y="3419856"/>
            <a:ext cx="109728" cy="137160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89888" y="340156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 conceptual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1353312" y="3803904"/>
            <a:ext cx="8522208" cy="384048"/>
          </a:xfrm>
          <a:prstGeom prst="roundRect">
            <a:avLst>
              <a:gd name="adj" fmla="val 952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481328" y="3941064"/>
            <a:ext cx="8266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entrada -&gt; capa 1 -&gt; capa 2 -&gt; capa 3 -&gt; salida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353312" y="4261104"/>
            <a:ext cx="8522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capa transforma la representación anterior</a:t>
            </a:r>
            <a:endParaRPr lang="en-US" sz="1080" dirty="0"/>
          </a:p>
        </p:txBody>
      </p:sp>
      <p:sp>
        <p:nvSpPr>
          <p:cNvPr id="18" name="Shape 15"/>
          <p:cNvSpPr/>
          <p:nvPr/>
        </p:nvSpPr>
        <p:spPr>
          <a:xfrm>
            <a:off x="1353312" y="4590288"/>
            <a:ext cx="2779776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26464" y="4640580"/>
            <a:ext cx="2633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4224528" y="4590288"/>
            <a:ext cx="2779776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297680" y="4640580"/>
            <a:ext cx="2633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transformación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7095744" y="4590288"/>
            <a:ext cx="2779776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68896" y="4640580"/>
            <a:ext cx="2633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predicción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786384" y="5376672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87552" y="5513832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Más capas pueden aprender patrones más complejos, pero también exigen mejor evaluación.</a:t>
            </a:r>
            <a:endParaRPr lang="en-US" sz="14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 Cyber: Una Activación Incorrecta También Es Riesgo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error de un modelo puede afectar decisiones reales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41248" y="1883664"/>
            <a:ext cx="4572000" cy="2999232"/>
          </a:xfrm>
          <a:prstGeom prst="roundRect">
            <a:avLst>
              <a:gd name="adj" fmla="val 122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0976" y="2029968"/>
            <a:ext cx="109728" cy="2706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52144" y="206654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FALSO NEGATIVO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1152144" y="2322576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deja pasar una amenaza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152144" y="2761488"/>
            <a:ext cx="40965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Correo peligroso -&gt; el modelo dice "no sospechoso". Puede permitir phishing, robo de credenciales o malware.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760720" y="1883664"/>
            <a:ext cx="4572000" cy="2999232"/>
          </a:xfrm>
          <a:prstGeom prst="roundRect">
            <a:avLst>
              <a:gd name="adj" fmla="val 1220"/>
            </a:avLst>
          </a:prstGeom>
          <a:solidFill>
            <a:srgbClr val="FBF3DE"/>
          </a:solidFill>
          <a:ln w="12700">
            <a:solidFill>
              <a:srgbClr val="FBF3D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70448" y="2029968"/>
            <a:ext cx="109728" cy="270662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71616" y="206654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FALSO POSITIVO</a:t>
            </a:r>
            <a:endParaRPr lang="en-US" sz="840" dirty="0"/>
          </a:p>
        </p:txBody>
      </p:sp>
      <p:sp>
        <p:nvSpPr>
          <p:cNvPr id="18" name="Text 15"/>
          <p:cNvSpPr/>
          <p:nvPr/>
        </p:nvSpPr>
        <p:spPr>
          <a:xfrm>
            <a:off x="6071616" y="2322576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bloquea algo legítimo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6071616" y="2761488"/>
            <a:ext cx="40965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Correo normal -&gt; el modelo dice "sospechoso". Puede generar ruido y pérdida de confianza.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86384" y="5376672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87552" y="5513832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predicción no es automáticamente una verdad: es una salida calculada que debe evaluarse.</a:t>
            </a:r>
            <a:endParaRPr lang="en-US" sz="148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Cómo Usar Un Agente Para Estudiar Esto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IA puede explicar fórmulas, pero hay que revisar cálculo e interpretación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41248" y="1865376"/>
            <a:ext cx="4882896" cy="3438144"/>
          </a:xfrm>
          <a:prstGeom prst="roundRect">
            <a:avLst>
              <a:gd name="adj" fmla="val 106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33856" y="2139696"/>
            <a:ext cx="4224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 útil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33856" y="2615184"/>
            <a:ext cx="422452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Explícame z = w1*x1 + w2*x2 + b con un ejemplo numérico pequeño. No uses derivadas. Incluye tabla y explica entradas, pesos, sesgo, suma y activación.</a:t>
            </a:r>
            <a:endParaRPr lang="en-US" sz="1220" dirty="0"/>
          </a:p>
        </p:txBody>
      </p:sp>
      <p:sp>
        <p:nvSpPr>
          <p:cNvPr id="13" name="Text 10"/>
          <p:cNvSpPr/>
          <p:nvPr/>
        </p:nvSpPr>
        <p:spPr>
          <a:xfrm>
            <a:off x="1133856" y="4480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Pedir explicación no reemplaza entender qué representa cada número.</a:t>
            </a:r>
            <a:endParaRPr lang="en-US" sz="1360" dirty="0"/>
          </a:p>
        </p:txBody>
      </p:sp>
      <p:sp>
        <p:nvSpPr>
          <p:cNvPr id="14" name="Shape 11"/>
          <p:cNvSpPr/>
          <p:nvPr/>
        </p:nvSpPr>
        <p:spPr>
          <a:xfrm>
            <a:off x="6144768" y="1865376"/>
            <a:ext cx="4334256" cy="950976"/>
          </a:xfrm>
          <a:prstGeom prst="roundRect">
            <a:avLst>
              <a:gd name="adj" fmla="val 384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54496" y="2011680"/>
            <a:ext cx="109728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55664" y="2048256"/>
            <a:ext cx="3877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REVISAR</a:t>
            </a:r>
            <a:endParaRPr lang="en-US" sz="840" dirty="0"/>
          </a:p>
        </p:txBody>
      </p:sp>
      <p:sp>
        <p:nvSpPr>
          <p:cNvPr id="17" name="Text 14"/>
          <p:cNvSpPr/>
          <p:nvPr/>
        </p:nvSpPr>
        <p:spPr>
          <a:xfrm>
            <a:off x="6455664" y="2304288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símbolos correctos</a:t>
            </a:r>
            <a:endParaRPr lang="en-US" sz="1340" dirty="0"/>
          </a:p>
        </p:txBody>
      </p:sp>
      <p:sp>
        <p:nvSpPr>
          <p:cNvPr id="18" name="Text 15"/>
          <p:cNvSpPr/>
          <p:nvPr/>
        </p:nvSpPr>
        <p:spPr>
          <a:xfrm>
            <a:off x="6455664" y="2578608"/>
            <a:ext cx="3858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x, w, b, z y ŷ no deben mezclarse</a:t>
            </a:r>
            <a:endParaRPr lang="en-US" sz="880" dirty="0"/>
          </a:p>
        </p:txBody>
      </p:sp>
      <p:sp>
        <p:nvSpPr>
          <p:cNvPr id="19" name="Shape 16"/>
          <p:cNvSpPr/>
          <p:nvPr/>
        </p:nvSpPr>
        <p:spPr>
          <a:xfrm>
            <a:off x="6144768" y="3054096"/>
            <a:ext cx="4334256" cy="950976"/>
          </a:xfrm>
          <a:prstGeom prst="roundRect">
            <a:avLst>
              <a:gd name="adj" fmla="val 3846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54496" y="3200400"/>
            <a:ext cx="109728" cy="65836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55664" y="3236976"/>
            <a:ext cx="3877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REVISAR</a:t>
            </a:r>
            <a:endParaRPr lang="en-US" sz="840" dirty="0"/>
          </a:p>
        </p:txBody>
      </p:sp>
      <p:sp>
        <p:nvSpPr>
          <p:cNvPr id="22" name="Text 19"/>
          <p:cNvSpPr/>
          <p:nvPr/>
        </p:nvSpPr>
        <p:spPr>
          <a:xfrm>
            <a:off x="6455664" y="3493008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cálculo numérico</a:t>
            </a:r>
            <a:endParaRPr lang="en-US" sz="1340" dirty="0"/>
          </a:p>
        </p:txBody>
      </p:sp>
      <p:sp>
        <p:nvSpPr>
          <p:cNvPr id="23" name="Text 20"/>
          <p:cNvSpPr/>
          <p:nvPr/>
        </p:nvSpPr>
        <p:spPr>
          <a:xfrm>
            <a:off x="6455664" y="3767328"/>
            <a:ext cx="3858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multiplicar y sumar sin saltos falsos</a:t>
            </a:r>
            <a:endParaRPr lang="en-US" sz="880" dirty="0"/>
          </a:p>
        </p:txBody>
      </p:sp>
      <p:sp>
        <p:nvSpPr>
          <p:cNvPr id="24" name="Shape 21"/>
          <p:cNvSpPr/>
          <p:nvPr/>
        </p:nvSpPr>
        <p:spPr>
          <a:xfrm>
            <a:off x="6144768" y="4242816"/>
            <a:ext cx="4334256" cy="950976"/>
          </a:xfrm>
          <a:prstGeom prst="roundRect">
            <a:avLst>
              <a:gd name="adj" fmla="val 3846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254496" y="4389120"/>
            <a:ext cx="109728" cy="65836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55664" y="4425696"/>
            <a:ext cx="3877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REVISAR</a:t>
            </a:r>
            <a:endParaRPr lang="en-US" sz="840" dirty="0"/>
          </a:p>
        </p:txBody>
      </p:sp>
      <p:sp>
        <p:nvSpPr>
          <p:cNvPr id="27" name="Text 24"/>
          <p:cNvSpPr/>
          <p:nvPr/>
        </p:nvSpPr>
        <p:spPr>
          <a:xfrm>
            <a:off x="6455664" y="4681728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 antropomorfizar</a:t>
            </a:r>
            <a:endParaRPr lang="en-US" sz="1340" dirty="0"/>
          </a:p>
        </p:txBody>
      </p:sp>
      <p:sp>
        <p:nvSpPr>
          <p:cNvPr id="28" name="Text 25"/>
          <p:cNvSpPr/>
          <p:nvPr/>
        </p:nvSpPr>
        <p:spPr>
          <a:xfrm>
            <a:off x="6455664" y="4956048"/>
            <a:ext cx="3858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red calcula; no piensa como persona</a:t>
            </a:r>
            <a:endParaRPr lang="en-US" sz="88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Recapitulación Del Bloque 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base conceptual para entender perceptrón y entrenamiento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77824" y="1847088"/>
            <a:ext cx="9491472" cy="1664208"/>
          </a:xfrm>
          <a:prstGeom prst="roundRect">
            <a:avLst>
              <a:gd name="adj" fmla="val 274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42416" y="1965960"/>
            <a:ext cx="9162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Lenguaje mínimo ya instalado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987552" y="2322576"/>
            <a:ext cx="1591056" cy="1060704"/>
          </a:xfrm>
          <a:prstGeom prst="roundRect">
            <a:avLst>
              <a:gd name="adj" fmla="val 3448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60704" y="2350008"/>
            <a:ext cx="3840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481328" y="2368296"/>
            <a:ext cx="1024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2907792" y="2322576"/>
            <a:ext cx="1591056" cy="1060704"/>
          </a:xfrm>
          <a:prstGeom prst="roundRect">
            <a:avLst>
              <a:gd name="adj" fmla="val 3448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980944" y="2350008"/>
            <a:ext cx="3840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401568" y="2368296"/>
            <a:ext cx="1024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peso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4828032" y="2322576"/>
            <a:ext cx="1591056" cy="1060704"/>
          </a:xfrm>
          <a:prstGeom prst="roundRect">
            <a:avLst>
              <a:gd name="adj" fmla="val 3448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01184" y="2350008"/>
            <a:ext cx="3840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321808" y="2368296"/>
            <a:ext cx="1024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sesgo</a:t>
            </a:r>
            <a:endParaRPr lang="en-US" sz="880" dirty="0"/>
          </a:p>
        </p:txBody>
      </p:sp>
      <p:sp>
        <p:nvSpPr>
          <p:cNvPr id="21" name="Shape 18"/>
          <p:cNvSpPr/>
          <p:nvPr/>
        </p:nvSpPr>
        <p:spPr>
          <a:xfrm>
            <a:off x="6748272" y="2322576"/>
            <a:ext cx="1591056" cy="1060704"/>
          </a:xfrm>
          <a:prstGeom prst="roundRect">
            <a:avLst>
              <a:gd name="adj" fmla="val 3448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21424" y="2350008"/>
            <a:ext cx="3840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242048" y="2368296"/>
            <a:ext cx="1024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señal total</a:t>
            </a:r>
            <a:endParaRPr lang="en-US" sz="880" dirty="0"/>
          </a:p>
        </p:txBody>
      </p:sp>
      <p:sp>
        <p:nvSpPr>
          <p:cNvPr id="24" name="Shape 21"/>
          <p:cNvSpPr/>
          <p:nvPr/>
        </p:nvSpPr>
        <p:spPr>
          <a:xfrm>
            <a:off x="8668512" y="2322576"/>
            <a:ext cx="1591056" cy="1060704"/>
          </a:xfrm>
          <a:prstGeom prst="roundRect">
            <a:avLst>
              <a:gd name="adj" fmla="val 3448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741664" y="2350008"/>
            <a:ext cx="3840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ŷ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9162288" y="2368296"/>
            <a:ext cx="1024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salida</a:t>
            </a:r>
            <a:endParaRPr lang="en-US" sz="880" dirty="0"/>
          </a:p>
        </p:txBody>
      </p:sp>
      <p:sp>
        <p:nvSpPr>
          <p:cNvPr id="27" name="Shape 24"/>
          <p:cNvSpPr/>
          <p:nvPr/>
        </p:nvSpPr>
        <p:spPr>
          <a:xfrm>
            <a:off x="950976" y="3968496"/>
            <a:ext cx="9345168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60704" y="4114800"/>
            <a:ext cx="109728" cy="9692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243584" y="4096512"/>
            <a:ext cx="8906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 central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1261872" y="4425696"/>
            <a:ext cx="8723376" cy="347472"/>
          </a:xfrm>
          <a:prstGeom prst="roundRect">
            <a:avLst>
              <a:gd name="adj" fmla="val 1052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389888" y="4526280"/>
            <a:ext cx="8467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entradas -&gt; pesos + sesgo -&gt; activación -&gt; salida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1261872" y="4846320"/>
            <a:ext cx="8723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neurona artificial transforma señales numéricas, no pensamiento humano</a:t>
            </a:r>
            <a:endParaRPr lang="en-US" sz="880" dirty="0"/>
          </a:p>
        </p:txBody>
      </p:sp>
      <p:sp>
        <p:nvSpPr>
          <p:cNvPr id="33" name="Shape 30"/>
          <p:cNvSpPr/>
          <p:nvPr/>
        </p:nvSpPr>
        <p:spPr>
          <a:xfrm>
            <a:off x="786384" y="5431536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87552" y="5568696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bloque 2 usa esta base para construir el perceptrón: una decisión binaria paso a paso.</a:t>
            </a:r>
            <a:endParaRPr lang="en-US" sz="148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De Seguimiento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De neurona biológica a neurona artificial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77824" y="1828800"/>
            <a:ext cx="9454896" cy="1024128"/>
          </a:xfrm>
          <a:prstGeom prst="roundRect">
            <a:avLst>
              <a:gd name="adj" fmla="val 357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1956816"/>
            <a:ext cx="118872" cy="7680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07008" y="2029968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664208" y="2011680"/>
            <a:ext cx="8430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parte de la neurona biológica inspira la idea de entradas en una neurona artificial?</a:t>
            </a:r>
            <a:endParaRPr lang="en-US" sz="1230" dirty="0"/>
          </a:p>
        </p:txBody>
      </p:sp>
      <p:sp>
        <p:nvSpPr>
          <p:cNvPr id="14" name="Text 11"/>
          <p:cNvSpPr/>
          <p:nvPr/>
        </p:nvSpPr>
        <p:spPr>
          <a:xfrm>
            <a:off x="1664208" y="2432304"/>
            <a:ext cx="8430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Piensa en señales que llegan desde otras conexiones, no en una copia exacta del cerebro.</a:t>
            </a:r>
            <a:endParaRPr lang="en-US" sz="940" dirty="0"/>
          </a:p>
        </p:txBody>
      </p:sp>
      <p:sp>
        <p:nvSpPr>
          <p:cNvPr id="15" name="Shape 12"/>
          <p:cNvSpPr/>
          <p:nvPr/>
        </p:nvSpPr>
        <p:spPr>
          <a:xfrm>
            <a:off x="877824" y="3127248"/>
            <a:ext cx="9454896" cy="1024128"/>
          </a:xfrm>
          <a:prstGeom prst="roundRect">
            <a:avLst>
              <a:gd name="adj" fmla="val 3571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87552" y="3255264"/>
            <a:ext cx="118872" cy="76809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07008" y="3328416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664208" y="3310128"/>
            <a:ext cx="8430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dos entradas valen 1, ¿por qué no necesariamente influyen igual en la salida?</a:t>
            </a:r>
            <a:endParaRPr lang="en-US" sz="1230" dirty="0"/>
          </a:p>
        </p:txBody>
      </p:sp>
      <p:sp>
        <p:nvSpPr>
          <p:cNvPr id="19" name="Text 16"/>
          <p:cNvSpPr/>
          <p:nvPr/>
        </p:nvSpPr>
        <p:spPr>
          <a:xfrm>
            <a:off x="1664208" y="3730752"/>
            <a:ext cx="8430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La diferencia está en el peso asociado a cada entrada.</a:t>
            </a:r>
            <a:endParaRPr lang="en-US" sz="940" dirty="0"/>
          </a:p>
        </p:txBody>
      </p:sp>
      <p:sp>
        <p:nvSpPr>
          <p:cNvPr id="20" name="Shape 17"/>
          <p:cNvSpPr/>
          <p:nvPr/>
        </p:nvSpPr>
        <p:spPr>
          <a:xfrm>
            <a:off x="877824" y="4425696"/>
            <a:ext cx="9454896" cy="1024128"/>
          </a:xfrm>
          <a:prstGeom prst="roundRect">
            <a:avLst>
              <a:gd name="adj" fmla="val 357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87552" y="4553712"/>
            <a:ext cx="118872" cy="7680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207008" y="4626864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1664208" y="4608576"/>
            <a:ext cx="8430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es más correcto decir que una red calcula una salida y no que piensa?</a:t>
            </a:r>
            <a:endParaRPr lang="en-US" sz="1230" dirty="0"/>
          </a:p>
        </p:txBody>
      </p:sp>
      <p:sp>
        <p:nvSpPr>
          <p:cNvPr id="24" name="Text 21"/>
          <p:cNvSpPr/>
          <p:nvPr/>
        </p:nvSpPr>
        <p:spPr>
          <a:xfrm>
            <a:off x="1664208" y="5029200"/>
            <a:ext cx="8430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Usa la idea de entradas, parámetros, operaciones y evaluación.</a:t>
            </a:r>
            <a:endParaRPr lang="en-US" sz="94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913486"/>
            <a:ext cx="283464" cy="651967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3117" y="658368"/>
            <a:ext cx="340157" cy="907085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59966" y="913486"/>
            <a:ext cx="283464" cy="651967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pic>
        <p:nvPicPr>
          <p:cNvPr id="5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0" y="585216"/>
            <a:ext cx="69494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627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2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22960" y="2194560"/>
            <a:ext cx="76809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perceptrón como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primera decisión</a:t>
            </a:r>
            <a:endParaRPr lang="en-US" sz="3500" dirty="0"/>
          </a:p>
        </p:txBody>
      </p:sp>
      <p:sp>
        <p:nvSpPr>
          <p:cNvPr id="8" name="Text 5"/>
          <p:cNvSpPr/>
          <p:nvPr/>
        </p:nvSpPr>
        <p:spPr>
          <a:xfrm>
            <a:off x="841248" y="409651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E4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Pasamos de una neurona que calcula a un modelo que clasifica entre dos salidas posibles.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053328" y="4828032"/>
            <a:ext cx="4407408" cy="1051560"/>
          </a:xfrm>
          <a:prstGeom prst="roundRect">
            <a:avLst>
              <a:gd name="adj" fmla="val 4348"/>
            </a:avLst>
          </a:prstGeom>
          <a:solidFill>
            <a:srgbClr val="173E64"/>
          </a:solidFill>
          <a:ln w="12700">
            <a:solidFill>
              <a:srgbClr val="2D5E8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163056" y="4974336"/>
            <a:ext cx="109728" cy="7589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45936" y="4956048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 del bloque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364224" y="5285232"/>
            <a:ext cx="3785616" cy="347472"/>
          </a:xfrm>
          <a:prstGeom prst="roundRect">
            <a:avLst>
              <a:gd name="adj" fmla="val 1052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92240" y="5385816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entradas -&gt; z -&gt; umbral -&gt; 0/1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364224" y="5705856"/>
            <a:ext cx="3785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decidir no es entender: es clasificar con una regla</a:t>
            </a:r>
            <a:endParaRPr lang="en-US" sz="88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Es Un Perceptrón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modelo mínimo para clasificar entre dos resultados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41248" y="1883664"/>
            <a:ext cx="9875520" cy="786384"/>
          </a:xfrm>
          <a:prstGeom prst="roundRect">
            <a:avLst>
              <a:gd name="adj" fmla="val 465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42416" y="2048256"/>
            <a:ext cx="9473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perceptrón = combinar señales -&gt; decidir 0 o 1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841248" y="3090672"/>
            <a:ext cx="3054096" cy="1572768"/>
          </a:xfrm>
          <a:prstGeom prst="roundRect">
            <a:avLst>
              <a:gd name="adj" fmla="val 2326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50976" y="3236976"/>
            <a:ext cx="109728" cy="12801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52144" y="3273552"/>
            <a:ext cx="2596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SALIDA 0</a:t>
            </a:r>
            <a:endParaRPr lang="en-US" sz="840" dirty="0"/>
          </a:p>
        </p:txBody>
      </p:sp>
      <p:sp>
        <p:nvSpPr>
          <p:cNvPr id="15" name="Text 12"/>
          <p:cNvSpPr/>
          <p:nvPr/>
        </p:nvSpPr>
        <p:spPr>
          <a:xfrm>
            <a:off x="1152144" y="3529584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activar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1152144" y="3968496"/>
            <a:ext cx="25786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negativo, falso, no pertenece, no bloquear</a:t>
            </a:r>
            <a:endParaRPr lang="en-US" sz="1040" dirty="0"/>
          </a:p>
        </p:txBody>
      </p:sp>
      <p:sp>
        <p:nvSpPr>
          <p:cNvPr id="17" name="Shape 14"/>
          <p:cNvSpPr/>
          <p:nvPr/>
        </p:nvSpPr>
        <p:spPr>
          <a:xfrm>
            <a:off x="4261104" y="3090672"/>
            <a:ext cx="3054096" cy="1572768"/>
          </a:xfrm>
          <a:prstGeom prst="roundRect">
            <a:avLst>
              <a:gd name="adj" fmla="val 2326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370832" y="3236976"/>
            <a:ext cx="109728" cy="12801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0" y="3273552"/>
            <a:ext cx="2596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SALIDA 1</a:t>
            </a:r>
            <a:endParaRPr lang="en-US" sz="840" dirty="0"/>
          </a:p>
        </p:txBody>
      </p:sp>
      <p:sp>
        <p:nvSpPr>
          <p:cNvPr id="20" name="Text 17"/>
          <p:cNvSpPr/>
          <p:nvPr/>
        </p:nvSpPr>
        <p:spPr>
          <a:xfrm>
            <a:off x="4572000" y="3529584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activar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4572000" y="3968496"/>
            <a:ext cx="25786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positivo, verdadero, pertenece, marcar alerta</a:t>
            </a:r>
            <a:endParaRPr lang="en-US" sz="1040" dirty="0"/>
          </a:p>
        </p:txBody>
      </p:sp>
      <p:sp>
        <p:nvSpPr>
          <p:cNvPr id="22" name="Shape 19"/>
          <p:cNvSpPr/>
          <p:nvPr/>
        </p:nvSpPr>
        <p:spPr>
          <a:xfrm>
            <a:off x="7680960" y="3090672"/>
            <a:ext cx="3054096" cy="1572768"/>
          </a:xfrm>
          <a:prstGeom prst="roundRect">
            <a:avLst>
              <a:gd name="adj" fmla="val 2326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790688" y="3236976"/>
            <a:ext cx="109728" cy="128016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991856" y="3273552"/>
            <a:ext cx="2596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CLAVE</a:t>
            </a:r>
            <a:endParaRPr lang="en-US" sz="840" dirty="0"/>
          </a:p>
        </p:txBody>
      </p:sp>
      <p:sp>
        <p:nvSpPr>
          <p:cNvPr id="25" name="Text 22"/>
          <p:cNvSpPr/>
          <p:nvPr/>
        </p:nvSpPr>
        <p:spPr>
          <a:xfrm>
            <a:off x="7991856" y="3529584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clasificación binaria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7991856" y="3968496"/>
            <a:ext cx="25786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resultado tiene dos posibilidades principales</a:t>
            </a:r>
            <a:endParaRPr lang="en-US" sz="1040" dirty="0"/>
          </a:p>
        </p:txBody>
      </p:sp>
      <p:sp>
        <p:nvSpPr>
          <p:cNvPr id="27" name="Shape 24"/>
          <p:cNvSpPr/>
          <p:nvPr/>
        </p:nvSpPr>
        <p:spPr>
          <a:xfrm>
            <a:off x="786384" y="5266944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87552" y="5404104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es un modelo moderno suficiente, pero instala la mecánica base de muchas redes posteriores.</a:t>
            </a:r>
            <a:endParaRPr lang="en-US" sz="142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Estructura Del Perceptrón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Entrada, pesos, sesgo, suma, activación y salida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786384" y="1828800"/>
            <a:ext cx="6400800" cy="4023360"/>
          </a:xfrm>
          <a:prstGeom prst="roundRect">
            <a:avLst>
              <a:gd name="adj" fmla="val 113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1975104"/>
            <a:ext cx="5961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Ruta de una decisión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005840" y="2295144"/>
            <a:ext cx="5961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entrada se pondera antes de llegar a la suma</a:t>
            </a:r>
            <a:endParaRPr lang="en-US" sz="880" dirty="0"/>
          </a:p>
        </p:txBody>
      </p:sp>
      <p:sp>
        <p:nvSpPr>
          <p:cNvPr id="13" name="Shape 10"/>
          <p:cNvSpPr/>
          <p:nvPr/>
        </p:nvSpPr>
        <p:spPr>
          <a:xfrm>
            <a:off x="1005840" y="2839212"/>
            <a:ext cx="1088136" cy="420624"/>
          </a:xfrm>
          <a:prstGeom prst="roundRect">
            <a:avLst>
              <a:gd name="adj" fmla="val 1087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78992" y="290322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x1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444752" y="2921508"/>
            <a:ext cx="576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señal 1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 rot="1488748">
            <a:off x="2099241" y="3351733"/>
            <a:ext cx="1470799" cy="12802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rot="6888748">
            <a:off x="3451860" y="3616452"/>
            <a:ext cx="100584" cy="100584"/>
          </a:xfrm>
          <a:prstGeom prst="triangle">
            <a:avLst/>
          </a:prstGeom>
          <a:solidFill>
            <a:srgbClr val="96A3B2"/>
          </a:solidFill>
          <a:ln w="12700">
            <a:solidFill>
              <a:srgbClr val="96A3B2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608966" y="2988716"/>
            <a:ext cx="292608" cy="146304"/>
          </a:xfrm>
          <a:prstGeom prst="roundRect">
            <a:avLst>
              <a:gd name="adj" fmla="val 1875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544958" y="297042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w1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005840" y="3845052"/>
            <a:ext cx="1088136" cy="420624"/>
          </a:xfrm>
          <a:prstGeom prst="roundRect">
            <a:avLst>
              <a:gd name="adj" fmla="val 1087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78992" y="390906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x2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444752" y="3927348"/>
            <a:ext cx="576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señal 2</a:t>
            </a:r>
            <a:endParaRPr lang="en-US" sz="780" dirty="0"/>
          </a:p>
        </p:txBody>
      </p:sp>
      <p:sp>
        <p:nvSpPr>
          <p:cNvPr id="23" name="Shape 20"/>
          <p:cNvSpPr/>
          <p:nvPr/>
        </p:nvSpPr>
        <p:spPr>
          <a:xfrm rot="-559940">
            <a:off x="2158359" y="3941521"/>
            <a:ext cx="1325131" cy="12802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 rot="4840060">
            <a:off x="3424428" y="3790188"/>
            <a:ext cx="100584" cy="100584"/>
          </a:xfrm>
          <a:prstGeom prst="triangle">
            <a:avLst/>
          </a:prstGeom>
          <a:solidFill>
            <a:srgbClr val="96A3B2"/>
          </a:solidFill>
          <a:ln w="12700">
            <a:solidFill>
              <a:srgbClr val="96A3B2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597445" y="3635929"/>
            <a:ext cx="292608" cy="146304"/>
          </a:xfrm>
          <a:prstGeom prst="roundRect">
            <a:avLst>
              <a:gd name="adj" fmla="val 1875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533437" y="3617641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w2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1005840" y="4850892"/>
            <a:ext cx="1088136" cy="420624"/>
          </a:xfrm>
          <a:prstGeom prst="roundRect">
            <a:avLst>
              <a:gd name="adj" fmla="val 1087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78992" y="491490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x3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444752" y="4933188"/>
            <a:ext cx="576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señal 3</a:t>
            </a:r>
            <a:endParaRPr lang="en-US" sz="780" dirty="0"/>
          </a:p>
        </p:txBody>
      </p:sp>
      <p:sp>
        <p:nvSpPr>
          <p:cNvPr id="30" name="Shape 27"/>
          <p:cNvSpPr/>
          <p:nvPr/>
        </p:nvSpPr>
        <p:spPr>
          <a:xfrm rot="-2286312">
            <a:off x="1986337" y="4531309"/>
            <a:ext cx="1696606" cy="12802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 rot="3113688">
            <a:off x="3451860" y="3963924"/>
            <a:ext cx="100584" cy="100584"/>
          </a:xfrm>
          <a:prstGeom prst="triangle">
            <a:avLst/>
          </a:prstGeom>
          <a:solidFill>
            <a:srgbClr val="96A3B2"/>
          </a:solidFill>
          <a:ln w="12700">
            <a:solidFill>
              <a:srgbClr val="96A3B2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608966" y="4639757"/>
            <a:ext cx="292608" cy="146304"/>
          </a:xfrm>
          <a:prstGeom prst="roundRect">
            <a:avLst>
              <a:gd name="adj" fmla="val 1875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544958" y="4621469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w3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3474720" y="3447288"/>
            <a:ext cx="786384" cy="78638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547872" y="360273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Σ</a:t>
            </a:r>
            <a:endParaRPr lang="en-US" sz="2400" dirty="0"/>
          </a:p>
        </p:txBody>
      </p:sp>
      <p:sp>
        <p:nvSpPr>
          <p:cNvPr id="36" name="Text 33"/>
          <p:cNvSpPr/>
          <p:nvPr/>
        </p:nvSpPr>
        <p:spPr>
          <a:xfrm>
            <a:off x="3456432" y="427024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b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4315968" y="3840480"/>
            <a:ext cx="365760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4754880" y="3520440"/>
            <a:ext cx="1170432" cy="640080"/>
          </a:xfrm>
          <a:prstGeom prst="roundRect">
            <a:avLst>
              <a:gd name="adj" fmla="val 7143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846320" y="3648456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umbral</a:t>
            </a:r>
            <a:endParaRPr lang="en-US" sz="860" dirty="0"/>
          </a:p>
        </p:txBody>
      </p:sp>
      <p:sp>
        <p:nvSpPr>
          <p:cNvPr id="40" name="Text 37"/>
          <p:cNvSpPr/>
          <p:nvPr/>
        </p:nvSpPr>
        <p:spPr>
          <a:xfrm>
            <a:off x="4846320" y="3840480"/>
            <a:ext cx="9875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&gt;= 0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5980176" y="3529584"/>
            <a:ext cx="987552" cy="621792"/>
          </a:xfrm>
          <a:prstGeom prst="roundRect">
            <a:avLst>
              <a:gd name="adj" fmla="val 735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071616" y="3621024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ŷ</a:t>
            </a:r>
            <a:endParaRPr lang="en-US" sz="1700" dirty="0"/>
          </a:p>
        </p:txBody>
      </p:sp>
      <p:sp>
        <p:nvSpPr>
          <p:cNvPr id="43" name="Text 40"/>
          <p:cNvSpPr/>
          <p:nvPr/>
        </p:nvSpPr>
        <p:spPr>
          <a:xfrm>
            <a:off x="6071616" y="3877056"/>
            <a:ext cx="804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salida</a:t>
            </a:r>
            <a:endParaRPr lang="en-US" sz="740" dirty="0"/>
          </a:p>
        </p:txBody>
      </p:sp>
      <p:sp>
        <p:nvSpPr>
          <p:cNvPr id="44" name="Shape 41"/>
          <p:cNvSpPr/>
          <p:nvPr/>
        </p:nvSpPr>
        <p:spPr>
          <a:xfrm>
            <a:off x="7479792" y="1828800"/>
            <a:ext cx="3072384" cy="1024128"/>
          </a:xfrm>
          <a:prstGeom prst="roundRect">
            <a:avLst>
              <a:gd name="adj" fmla="val 3571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7589520" y="1975104"/>
            <a:ext cx="109728" cy="7315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790688" y="2011680"/>
            <a:ext cx="2615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40" dirty="0"/>
          </a:p>
        </p:txBody>
      </p:sp>
      <p:sp>
        <p:nvSpPr>
          <p:cNvPr id="47" name="Text 44"/>
          <p:cNvSpPr/>
          <p:nvPr/>
        </p:nvSpPr>
        <p:spPr>
          <a:xfrm>
            <a:off x="7790688" y="2267712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Entradas x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7790688" y="2596896"/>
            <a:ext cx="2596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que describen el caso</a:t>
            </a:r>
            <a:endParaRPr lang="en-US" sz="800" dirty="0"/>
          </a:p>
        </p:txBody>
      </p:sp>
      <p:sp>
        <p:nvSpPr>
          <p:cNvPr id="49" name="Shape 46"/>
          <p:cNvSpPr/>
          <p:nvPr/>
        </p:nvSpPr>
        <p:spPr>
          <a:xfrm>
            <a:off x="7479792" y="2880360"/>
            <a:ext cx="3072384" cy="1024128"/>
          </a:xfrm>
          <a:prstGeom prst="roundRect">
            <a:avLst>
              <a:gd name="adj" fmla="val 3571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7589520" y="3026664"/>
            <a:ext cx="109728" cy="73152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7790688" y="3063240"/>
            <a:ext cx="2615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40" dirty="0"/>
          </a:p>
        </p:txBody>
      </p:sp>
      <p:sp>
        <p:nvSpPr>
          <p:cNvPr id="52" name="Text 49"/>
          <p:cNvSpPr/>
          <p:nvPr/>
        </p:nvSpPr>
        <p:spPr>
          <a:xfrm>
            <a:off x="7790688" y="3319272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Pesos w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7790688" y="3648456"/>
            <a:ext cx="2596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importancia de cada señal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7479792" y="3931920"/>
            <a:ext cx="3072384" cy="1024128"/>
          </a:xfrm>
          <a:prstGeom prst="roundRect">
            <a:avLst>
              <a:gd name="adj" fmla="val 3571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7589520" y="4078224"/>
            <a:ext cx="109728" cy="73152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7790688" y="4114800"/>
            <a:ext cx="2615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40" dirty="0"/>
          </a:p>
        </p:txBody>
      </p:sp>
      <p:sp>
        <p:nvSpPr>
          <p:cNvPr id="57" name="Text 54"/>
          <p:cNvSpPr/>
          <p:nvPr/>
        </p:nvSpPr>
        <p:spPr>
          <a:xfrm>
            <a:off x="7790688" y="4370832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Sesgo b</a:t>
            </a:r>
            <a:endParaRPr lang="en-US" sz="1200" dirty="0"/>
          </a:p>
        </p:txBody>
      </p:sp>
      <p:sp>
        <p:nvSpPr>
          <p:cNvPr id="58" name="Text 55"/>
          <p:cNvSpPr/>
          <p:nvPr/>
        </p:nvSpPr>
        <p:spPr>
          <a:xfrm>
            <a:off x="7790688" y="4700016"/>
            <a:ext cx="2596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ajuste de exigencia</a:t>
            </a:r>
            <a:endParaRPr lang="en-US" sz="800" dirty="0"/>
          </a:p>
        </p:txBody>
      </p:sp>
      <p:sp>
        <p:nvSpPr>
          <p:cNvPr id="59" name="Shape 56"/>
          <p:cNvSpPr/>
          <p:nvPr/>
        </p:nvSpPr>
        <p:spPr>
          <a:xfrm>
            <a:off x="7479792" y="4983480"/>
            <a:ext cx="3072384" cy="1024128"/>
          </a:xfrm>
          <a:prstGeom prst="roundRect">
            <a:avLst>
              <a:gd name="adj" fmla="val 3571"/>
            </a:avLst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7589520" y="5129784"/>
            <a:ext cx="109728" cy="731520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7790688" y="5166360"/>
            <a:ext cx="2615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40" dirty="0"/>
          </a:p>
        </p:txBody>
      </p:sp>
      <p:sp>
        <p:nvSpPr>
          <p:cNvPr id="62" name="Text 59"/>
          <p:cNvSpPr/>
          <p:nvPr/>
        </p:nvSpPr>
        <p:spPr>
          <a:xfrm>
            <a:off x="7790688" y="5422392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Activación</a:t>
            </a:r>
            <a:endParaRPr lang="en-US" sz="1200" dirty="0"/>
          </a:p>
        </p:txBody>
      </p:sp>
      <p:sp>
        <p:nvSpPr>
          <p:cNvPr id="63" name="Text 60"/>
          <p:cNvSpPr/>
          <p:nvPr/>
        </p:nvSpPr>
        <p:spPr>
          <a:xfrm>
            <a:off x="7790688" y="5751576"/>
            <a:ext cx="2596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convierte z en 0 o 1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Regla Completa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Primero se calcula z; después se decide 0 o 1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77824" y="1828800"/>
            <a:ext cx="9400032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1975104"/>
            <a:ext cx="109728" cy="118872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1956816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Cálculo interno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170432" y="2276856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suma ponderada con sesgo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1133856" y="2359152"/>
            <a:ext cx="8887968" cy="566928"/>
          </a:xfrm>
          <a:prstGeom prst="roundRect">
            <a:avLst>
              <a:gd name="adj" fmla="val 645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61872" y="2496312"/>
            <a:ext cx="8631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w1*x1 + w2*x2 + ... + wn*xn + b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133856" y="2999232"/>
            <a:ext cx="8887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 resume toda la evidencia numérica antes de activar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877824" y="3675888"/>
            <a:ext cx="4480560" cy="1353312"/>
          </a:xfrm>
          <a:prstGeom prst="roundRect">
            <a:avLst>
              <a:gd name="adj" fmla="val 337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87552" y="3822192"/>
            <a:ext cx="109728" cy="10607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70432" y="3803904"/>
            <a:ext cx="4041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alcanza el umbral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1133856" y="4206240"/>
            <a:ext cx="3968496" cy="566928"/>
          </a:xfrm>
          <a:prstGeom prst="roundRect">
            <a:avLst>
              <a:gd name="adj" fmla="val 645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61872" y="4343400"/>
            <a:ext cx="3712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 z &gt;= 0, salida = 1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133856" y="4846320"/>
            <a:ext cx="39684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decisión se activa</a:t>
            </a:r>
            <a:endParaRPr lang="en-US" sz="1080" dirty="0"/>
          </a:p>
        </p:txBody>
      </p:sp>
      <p:sp>
        <p:nvSpPr>
          <p:cNvPr id="23" name="Shape 20"/>
          <p:cNvSpPr/>
          <p:nvPr/>
        </p:nvSpPr>
        <p:spPr>
          <a:xfrm>
            <a:off x="5797296" y="3675888"/>
            <a:ext cx="4480560" cy="1353312"/>
          </a:xfrm>
          <a:prstGeom prst="roundRect">
            <a:avLst>
              <a:gd name="adj" fmla="val 3378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907024" y="3822192"/>
            <a:ext cx="109728" cy="10607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089904" y="3803904"/>
            <a:ext cx="4041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no alcanza</a:t>
            </a:r>
            <a:endParaRPr lang="en-US" sz="1450" dirty="0"/>
          </a:p>
        </p:txBody>
      </p:sp>
      <p:sp>
        <p:nvSpPr>
          <p:cNvPr id="26" name="Shape 23"/>
          <p:cNvSpPr/>
          <p:nvPr/>
        </p:nvSpPr>
        <p:spPr>
          <a:xfrm>
            <a:off x="6053328" y="4206240"/>
            <a:ext cx="3968496" cy="566928"/>
          </a:xfrm>
          <a:prstGeom prst="roundRect">
            <a:avLst>
              <a:gd name="adj" fmla="val 645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81344" y="4343400"/>
            <a:ext cx="3712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 z &lt; 0, salida = 0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6053328" y="4846320"/>
            <a:ext cx="39684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decisión no se activa</a:t>
            </a:r>
            <a:endParaRPr lang="en-US" sz="1080" dirty="0"/>
          </a:p>
        </p:txBody>
      </p:sp>
      <p:sp>
        <p:nvSpPr>
          <p:cNvPr id="29" name="Shape 26"/>
          <p:cNvSpPr/>
          <p:nvPr/>
        </p:nvSpPr>
        <p:spPr>
          <a:xfrm>
            <a:off x="786384" y="541324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87552" y="555040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umbral no decide por intuición: decide por una comparación numérica explícita.</a:t>
            </a:r>
            <a:endParaRPr lang="en-US" sz="144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Tipo De Preguntas Responde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perceptrón sirve para decisiones de dos salidas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59536" y="1901952"/>
            <a:ext cx="2999232" cy="1078992"/>
          </a:xfrm>
          <a:prstGeom prst="roundRect">
            <a:avLst>
              <a:gd name="adj" fmla="val 3390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9264" y="2048256"/>
            <a:ext cx="109728" cy="78638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084832"/>
            <a:ext cx="2542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EJEMPLO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1170432" y="2340864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Correo</a:t>
            </a:r>
            <a:endParaRPr lang="en-US" sz="1480" dirty="0"/>
          </a:p>
        </p:txBody>
      </p:sp>
      <p:sp>
        <p:nvSpPr>
          <p:cNvPr id="14" name="Text 11"/>
          <p:cNvSpPr/>
          <p:nvPr/>
        </p:nvSpPr>
        <p:spPr>
          <a:xfrm>
            <a:off x="1170432" y="2615184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 o sospechoso</a:t>
            </a:r>
            <a:endParaRPr lang="en-US" sz="960" dirty="0"/>
          </a:p>
        </p:txBody>
      </p:sp>
      <p:sp>
        <p:nvSpPr>
          <p:cNvPr id="15" name="Shape 12"/>
          <p:cNvSpPr/>
          <p:nvPr/>
        </p:nvSpPr>
        <p:spPr>
          <a:xfrm>
            <a:off x="4261104" y="1901952"/>
            <a:ext cx="2999232" cy="1078992"/>
          </a:xfrm>
          <a:prstGeom prst="roundRect">
            <a:avLst>
              <a:gd name="adj" fmla="val 3390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370832" y="2048256"/>
            <a:ext cx="109728" cy="78638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0" y="2084832"/>
            <a:ext cx="2542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EJEMPLO</a:t>
            </a:r>
            <a:endParaRPr lang="en-US" sz="840" dirty="0"/>
          </a:p>
        </p:txBody>
      </p:sp>
      <p:sp>
        <p:nvSpPr>
          <p:cNvPr id="18" name="Text 15"/>
          <p:cNvSpPr/>
          <p:nvPr/>
        </p:nvSpPr>
        <p:spPr>
          <a:xfrm>
            <a:off x="4572000" y="2340864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Solicitud web</a:t>
            </a:r>
            <a:endParaRPr lang="en-US" sz="1480" dirty="0"/>
          </a:p>
        </p:txBody>
      </p:sp>
      <p:sp>
        <p:nvSpPr>
          <p:cNvPr id="19" name="Text 16"/>
          <p:cNvSpPr/>
          <p:nvPr/>
        </p:nvSpPr>
        <p:spPr>
          <a:xfrm>
            <a:off x="4572000" y="2615184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permitida o riesgosa</a:t>
            </a:r>
            <a:endParaRPr lang="en-US" sz="960" dirty="0"/>
          </a:p>
        </p:txBody>
      </p:sp>
      <p:sp>
        <p:nvSpPr>
          <p:cNvPr id="20" name="Shape 17"/>
          <p:cNvSpPr/>
          <p:nvPr/>
        </p:nvSpPr>
        <p:spPr>
          <a:xfrm>
            <a:off x="7662672" y="1901952"/>
            <a:ext cx="2999232" cy="1078992"/>
          </a:xfrm>
          <a:prstGeom prst="roundRect">
            <a:avLst>
              <a:gd name="adj" fmla="val 3390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772400" y="2048256"/>
            <a:ext cx="109728" cy="78638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73568" y="2084832"/>
            <a:ext cx="2542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EJEMPLO</a:t>
            </a:r>
            <a:endParaRPr lang="en-US" sz="840" dirty="0"/>
          </a:p>
        </p:txBody>
      </p:sp>
      <p:sp>
        <p:nvSpPr>
          <p:cNvPr id="23" name="Text 20"/>
          <p:cNvSpPr/>
          <p:nvPr/>
        </p:nvSpPr>
        <p:spPr>
          <a:xfrm>
            <a:off x="7973568" y="2340864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Transacción</a:t>
            </a:r>
            <a:endParaRPr lang="en-US" sz="1480" dirty="0"/>
          </a:p>
        </p:txBody>
      </p:sp>
      <p:sp>
        <p:nvSpPr>
          <p:cNvPr id="24" name="Text 21"/>
          <p:cNvSpPr/>
          <p:nvPr/>
        </p:nvSpPr>
        <p:spPr>
          <a:xfrm>
            <a:off x="7973568" y="2615184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legítima o fraudulenta</a:t>
            </a:r>
            <a:endParaRPr lang="en-US" sz="960" dirty="0"/>
          </a:p>
        </p:txBody>
      </p:sp>
      <p:sp>
        <p:nvSpPr>
          <p:cNvPr id="25" name="Shape 22"/>
          <p:cNvSpPr/>
          <p:nvPr/>
        </p:nvSpPr>
        <p:spPr>
          <a:xfrm>
            <a:off x="859536" y="3401568"/>
            <a:ext cx="2999232" cy="1078992"/>
          </a:xfrm>
          <a:prstGeom prst="roundRect">
            <a:avLst>
              <a:gd name="adj" fmla="val 3390"/>
            </a:avLst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69264" y="3547872"/>
            <a:ext cx="109728" cy="786384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170432" y="3584448"/>
            <a:ext cx="2542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</a:t>
            </a:r>
            <a:endParaRPr lang="en-US" sz="840" dirty="0"/>
          </a:p>
        </p:txBody>
      </p:sp>
      <p:sp>
        <p:nvSpPr>
          <p:cNvPr id="28" name="Text 25"/>
          <p:cNvSpPr/>
          <p:nvPr/>
        </p:nvSpPr>
        <p:spPr>
          <a:xfrm>
            <a:off x="1170432" y="3840480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Comentario</a:t>
            </a:r>
            <a:endParaRPr lang="en-US" sz="1480" dirty="0"/>
          </a:p>
        </p:txBody>
      </p:sp>
      <p:sp>
        <p:nvSpPr>
          <p:cNvPr id="29" name="Text 26"/>
          <p:cNvSpPr/>
          <p:nvPr/>
        </p:nvSpPr>
        <p:spPr>
          <a:xfrm>
            <a:off x="1170432" y="411480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aceptable o problemático</a:t>
            </a:r>
            <a:endParaRPr lang="en-US" sz="960" dirty="0"/>
          </a:p>
        </p:txBody>
      </p:sp>
      <p:sp>
        <p:nvSpPr>
          <p:cNvPr id="30" name="Shape 27"/>
          <p:cNvSpPr/>
          <p:nvPr/>
        </p:nvSpPr>
        <p:spPr>
          <a:xfrm>
            <a:off x="4261104" y="3401568"/>
            <a:ext cx="2999232" cy="1078992"/>
          </a:xfrm>
          <a:prstGeom prst="roundRect">
            <a:avLst>
              <a:gd name="adj" fmla="val 3390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370832" y="3547872"/>
            <a:ext cx="109728" cy="78638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72000" y="3584448"/>
            <a:ext cx="2542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</a:t>
            </a:r>
            <a:endParaRPr lang="en-US" sz="840" dirty="0"/>
          </a:p>
        </p:txBody>
      </p:sp>
      <p:sp>
        <p:nvSpPr>
          <p:cNvPr id="33" name="Text 30"/>
          <p:cNvSpPr/>
          <p:nvPr/>
        </p:nvSpPr>
        <p:spPr>
          <a:xfrm>
            <a:off x="4572000" y="3840480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Imagen</a:t>
            </a:r>
            <a:endParaRPr lang="en-US" sz="1480" dirty="0"/>
          </a:p>
        </p:txBody>
      </p:sp>
      <p:sp>
        <p:nvSpPr>
          <p:cNvPr id="34" name="Text 31"/>
          <p:cNvSpPr/>
          <p:nvPr/>
        </p:nvSpPr>
        <p:spPr>
          <a:xfrm>
            <a:off x="4572000" y="411480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contiene objeto o no</a:t>
            </a:r>
            <a:endParaRPr lang="en-US" sz="960" dirty="0"/>
          </a:p>
        </p:txBody>
      </p:sp>
      <p:sp>
        <p:nvSpPr>
          <p:cNvPr id="35" name="Shape 32"/>
          <p:cNvSpPr/>
          <p:nvPr/>
        </p:nvSpPr>
        <p:spPr>
          <a:xfrm>
            <a:off x="7662672" y="3401568"/>
            <a:ext cx="2999232" cy="1078992"/>
          </a:xfrm>
          <a:prstGeom prst="roundRect">
            <a:avLst>
              <a:gd name="adj" fmla="val 3390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772400" y="3547872"/>
            <a:ext cx="109728" cy="78638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973568" y="3584448"/>
            <a:ext cx="2542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</a:t>
            </a:r>
            <a:endParaRPr lang="en-US" sz="840" dirty="0"/>
          </a:p>
        </p:txBody>
      </p:sp>
      <p:sp>
        <p:nvSpPr>
          <p:cNvPr id="38" name="Text 35"/>
          <p:cNvSpPr/>
          <p:nvPr/>
        </p:nvSpPr>
        <p:spPr>
          <a:xfrm>
            <a:off x="7973568" y="3840480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Validación</a:t>
            </a:r>
            <a:endParaRPr lang="en-US" sz="1480" dirty="0"/>
          </a:p>
        </p:txBody>
      </p:sp>
      <p:sp>
        <p:nvSpPr>
          <p:cNvPr id="39" name="Text 36"/>
          <p:cNvSpPr/>
          <p:nvPr/>
        </p:nvSpPr>
        <p:spPr>
          <a:xfrm>
            <a:off x="7973568" y="411480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cumple o no cumple</a:t>
            </a:r>
            <a:endParaRPr lang="en-US" sz="960" dirty="0"/>
          </a:p>
        </p:txBody>
      </p:sp>
      <p:sp>
        <p:nvSpPr>
          <p:cNvPr id="40" name="Shape 37"/>
          <p:cNvSpPr/>
          <p:nvPr/>
        </p:nvSpPr>
        <p:spPr>
          <a:xfrm>
            <a:off x="1078992" y="4919472"/>
            <a:ext cx="905256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188720" y="5065776"/>
            <a:ext cx="109728" cy="5486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371600" y="5047488"/>
            <a:ext cx="8613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 operacional</a:t>
            </a:r>
            <a:endParaRPr 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1389888" y="5376672"/>
            <a:ext cx="8430768" cy="347472"/>
          </a:xfrm>
          <a:prstGeom prst="roundRect">
            <a:avLst>
              <a:gd name="adj" fmla="val 1052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517904" y="5477256"/>
            <a:ext cx="8174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= no activar        1 = activar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1389888" y="5797296"/>
            <a:ext cx="8430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salida debe interpretarse dentro del contexto del problema</a:t>
            </a:r>
            <a:endParaRPr lang="en-US" sz="88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Ejemplo: Correo Sospechoso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señales binarias para una decisión de seguridad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77824" y="1847088"/>
            <a:ext cx="5486400" cy="987552"/>
          </a:xfrm>
          <a:prstGeom prst="roundRect">
            <a:avLst>
              <a:gd name="adj" fmla="val 370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1993392"/>
            <a:ext cx="109728" cy="69494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07008" y="20299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5260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x1</a:t>
            </a:r>
            <a:endParaRPr lang="en-US" sz="1120" dirty="0"/>
          </a:p>
        </p:txBody>
      </p:sp>
      <p:sp>
        <p:nvSpPr>
          <p:cNvPr id="13" name="Text 10"/>
          <p:cNvSpPr/>
          <p:nvPr/>
        </p:nvSpPr>
        <p:spPr>
          <a:xfrm>
            <a:off x="1207008" y="232257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tiene enlace extraño</a:t>
            </a:r>
            <a:endParaRPr lang="en-US" sz="1420" dirty="0"/>
          </a:p>
        </p:txBody>
      </p:sp>
      <p:sp>
        <p:nvSpPr>
          <p:cNvPr id="14" name="Text 11"/>
          <p:cNvSpPr/>
          <p:nvPr/>
        </p:nvSpPr>
        <p:spPr>
          <a:xfrm>
            <a:off x="1207008" y="261518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= sí, 0 = no</a:t>
            </a:r>
            <a:endParaRPr lang="en-US" sz="890" dirty="0"/>
          </a:p>
        </p:txBody>
      </p:sp>
      <p:sp>
        <p:nvSpPr>
          <p:cNvPr id="15" name="Shape 12"/>
          <p:cNvSpPr/>
          <p:nvPr/>
        </p:nvSpPr>
        <p:spPr>
          <a:xfrm>
            <a:off x="877824" y="3017520"/>
            <a:ext cx="5486400" cy="987552"/>
          </a:xfrm>
          <a:prstGeom prst="roundRect">
            <a:avLst>
              <a:gd name="adj" fmla="val 3704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87552" y="3163824"/>
            <a:ext cx="109728" cy="69494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07008" y="32004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5260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x2</a:t>
            </a:r>
            <a:endParaRPr lang="en-US" sz="1120" dirty="0"/>
          </a:p>
        </p:txBody>
      </p:sp>
      <p:sp>
        <p:nvSpPr>
          <p:cNvPr id="18" name="Text 15"/>
          <p:cNvSpPr/>
          <p:nvPr/>
        </p:nvSpPr>
        <p:spPr>
          <a:xfrm>
            <a:off x="1207008" y="349300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remitente desconocido</a:t>
            </a:r>
            <a:endParaRPr lang="en-US" sz="1420" dirty="0"/>
          </a:p>
        </p:txBody>
      </p:sp>
      <p:sp>
        <p:nvSpPr>
          <p:cNvPr id="19" name="Text 16"/>
          <p:cNvSpPr/>
          <p:nvPr/>
        </p:nvSpPr>
        <p:spPr>
          <a:xfrm>
            <a:off x="1207008" y="378561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= sí, 0 = no</a:t>
            </a:r>
            <a:endParaRPr lang="en-US" sz="890" dirty="0"/>
          </a:p>
        </p:txBody>
      </p:sp>
      <p:sp>
        <p:nvSpPr>
          <p:cNvPr id="20" name="Shape 17"/>
          <p:cNvSpPr/>
          <p:nvPr/>
        </p:nvSpPr>
        <p:spPr>
          <a:xfrm>
            <a:off x="877824" y="4187952"/>
            <a:ext cx="5486400" cy="987552"/>
          </a:xfrm>
          <a:prstGeom prst="roundRect">
            <a:avLst>
              <a:gd name="adj" fmla="val 370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87552" y="4334256"/>
            <a:ext cx="109728" cy="69494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207008" y="43708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5260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x3</a:t>
            </a:r>
            <a:endParaRPr lang="en-US" sz="1120" dirty="0"/>
          </a:p>
        </p:txBody>
      </p:sp>
      <p:sp>
        <p:nvSpPr>
          <p:cNvPr id="23" name="Text 20"/>
          <p:cNvSpPr/>
          <p:nvPr/>
        </p:nvSpPr>
        <p:spPr>
          <a:xfrm>
            <a:off x="1207008" y="466344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pide acción urgente</a:t>
            </a:r>
            <a:endParaRPr lang="en-US" sz="1420" dirty="0"/>
          </a:p>
        </p:txBody>
      </p:sp>
      <p:sp>
        <p:nvSpPr>
          <p:cNvPr id="24" name="Text 21"/>
          <p:cNvSpPr/>
          <p:nvPr/>
        </p:nvSpPr>
        <p:spPr>
          <a:xfrm>
            <a:off x="1207008" y="49560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= sí, 0 = no</a:t>
            </a:r>
            <a:endParaRPr lang="en-US" sz="890" dirty="0"/>
          </a:p>
        </p:txBody>
      </p:sp>
      <p:sp>
        <p:nvSpPr>
          <p:cNvPr id="25" name="Shape 22"/>
          <p:cNvSpPr/>
          <p:nvPr/>
        </p:nvSpPr>
        <p:spPr>
          <a:xfrm>
            <a:off x="6656832" y="1901952"/>
            <a:ext cx="3547872" cy="2962656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766560" y="2048256"/>
            <a:ext cx="109728" cy="26700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004304" y="2139696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 qué es buen ejemplo</a:t>
            </a:r>
            <a:endParaRPr lang="en-US" sz="1580" dirty="0"/>
          </a:p>
        </p:txBody>
      </p:sp>
      <p:sp>
        <p:nvSpPr>
          <p:cNvPr id="28" name="Text 25"/>
          <p:cNvSpPr/>
          <p:nvPr/>
        </p:nvSpPr>
        <p:spPr>
          <a:xfrm>
            <a:off x="7004304" y="2688336"/>
            <a:ext cx="2907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enseña a atacar. Enseña a convertir señales de riesgo en variables revisables y discutibles.</a:t>
            </a:r>
            <a:endParaRPr lang="en-US" sz="1120" dirty="0"/>
          </a:p>
        </p:txBody>
      </p:sp>
      <p:sp>
        <p:nvSpPr>
          <p:cNvPr id="29" name="Text 26"/>
          <p:cNvSpPr/>
          <p:nvPr/>
        </p:nvSpPr>
        <p:spPr>
          <a:xfrm>
            <a:off x="7004304" y="3968496"/>
            <a:ext cx="2816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decisión automática siempre debe tener contexto, logs y posibilidad de revisión.</a:t>
            </a:r>
            <a:endParaRPr lang="en-US" sz="1280" dirty="0"/>
          </a:p>
        </p:txBody>
      </p:sp>
      <p:sp>
        <p:nvSpPr>
          <p:cNvPr id="30" name="Shape 27"/>
          <p:cNvSpPr/>
          <p:nvPr/>
        </p:nvSpPr>
        <p:spPr>
          <a:xfrm>
            <a:off x="786384" y="5376672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87552" y="5513832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Primero definimos señales; después decidimos cuánto pesa cada una.</a:t>
            </a:r>
            <a:endParaRPr lang="en-US" sz="148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Asignar Pesos No Es Decorativo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peso expresa cuánto empuja una señal la decisión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22960" y="1828800"/>
            <a:ext cx="2212848" cy="1609344"/>
          </a:xfrm>
          <a:prstGeom prst="roundRect">
            <a:avLst>
              <a:gd name="adj" fmla="val 2273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1975104"/>
            <a:ext cx="109728" cy="13167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33856" y="2011680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w1 = 3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1133856" y="226771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7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enlace extraño</a:t>
            </a:r>
            <a:endParaRPr lang="en-US" sz="1370" dirty="0"/>
          </a:p>
        </p:txBody>
      </p:sp>
      <p:sp>
        <p:nvSpPr>
          <p:cNvPr id="14" name="Text 11"/>
          <p:cNvSpPr/>
          <p:nvPr/>
        </p:nvSpPr>
        <p:spPr>
          <a:xfrm>
            <a:off x="1133856" y="2706624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señal fuerte de riesgo</a:t>
            </a:r>
            <a:endParaRPr lang="en-US" sz="910" dirty="0"/>
          </a:p>
        </p:txBody>
      </p:sp>
      <p:sp>
        <p:nvSpPr>
          <p:cNvPr id="15" name="Shape 12"/>
          <p:cNvSpPr/>
          <p:nvPr/>
        </p:nvSpPr>
        <p:spPr>
          <a:xfrm>
            <a:off x="3328416" y="1828800"/>
            <a:ext cx="2212848" cy="1609344"/>
          </a:xfrm>
          <a:prstGeom prst="roundRect">
            <a:avLst>
              <a:gd name="adj" fmla="val 2273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38144" y="1975104"/>
            <a:ext cx="109728" cy="131673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39312" y="2011680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w2 = 2</a:t>
            </a:r>
            <a:endParaRPr lang="en-US" sz="840" dirty="0"/>
          </a:p>
        </p:txBody>
      </p:sp>
      <p:sp>
        <p:nvSpPr>
          <p:cNvPr id="18" name="Text 15"/>
          <p:cNvSpPr/>
          <p:nvPr/>
        </p:nvSpPr>
        <p:spPr>
          <a:xfrm>
            <a:off x="3639312" y="226771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7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remitente desconocido</a:t>
            </a:r>
            <a:endParaRPr lang="en-US" sz="1370" dirty="0"/>
          </a:p>
        </p:txBody>
      </p:sp>
      <p:sp>
        <p:nvSpPr>
          <p:cNvPr id="19" name="Text 16"/>
          <p:cNvSpPr/>
          <p:nvPr/>
        </p:nvSpPr>
        <p:spPr>
          <a:xfrm>
            <a:off x="3639312" y="2706624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señal relevante, pero menor</a:t>
            </a:r>
            <a:endParaRPr lang="en-US" sz="910" dirty="0"/>
          </a:p>
        </p:txBody>
      </p:sp>
      <p:sp>
        <p:nvSpPr>
          <p:cNvPr id="20" name="Shape 17"/>
          <p:cNvSpPr/>
          <p:nvPr/>
        </p:nvSpPr>
        <p:spPr>
          <a:xfrm>
            <a:off x="5833872" y="1828800"/>
            <a:ext cx="2212848" cy="1609344"/>
          </a:xfrm>
          <a:prstGeom prst="roundRect">
            <a:avLst>
              <a:gd name="adj" fmla="val 227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943600" y="1975104"/>
            <a:ext cx="109728" cy="131673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44768" y="2011680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w3 = 1</a:t>
            </a:r>
            <a:endParaRPr lang="en-US" sz="840" dirty="0"/>
          </a:p>
        </p:txBody>
      </p:sp>
      <p:sp>
        <p:nvSpPr>
          <p:cNvPr id="23" name="Text 20"/>
          <p:cNvSpPr/>
          <p:nvPr/>
        </p:nvSpPr>
        <p:spPr>
          <a:xfrm>
            <a:off x="6144768" y="226771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7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urgencia</a:t>
            </a:r>
            <a:endParaRPr lang="en-US" sz="1370" dirty="0"/>
          </a:p>
        </p:txBody>
      </p:sp>
      <p:sp>
        <p:nvSpPr>
          <p:cNvPr id="24" name="Text 21"/>
          <p:cNvSpPr/>
          <p:nvPr/>
        </p:nvSpPr>
        <p:spPr>
          <a:xfrm>
            <a:off x="6144768" y="2706624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señal débil por sí sola</a:t>
            </a:r>
            <a:endParaRPr lang="en-US" sz="910" dirty="0"/>
          </a:p>
        </p:txBody>
      </p:sp>
      <p:sp>
        <p:nvSpPr>
          <p:cNvPr id="25" name="Shape 22"/>
          <p:cNvSpPr/>
          <p:nvPr/>
        </p:nvSpPr>
        <p:spPr>
          <a:xfrm>
            <a:off x="8339328" y="1828800"/>
            <a:ext cx="2212848" cy="1609344"/>
          </a:xfrm>
          <a:prstGeom prst="roundRect">
            <a:avLst>
              <a:gd name="adj" fmla="val 2273"/>
            </a:avLst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449056" y="1975104"/>
            <a:ext cx="109728" cy="1316736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650224" y="2011680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= -3</a:t>
            </a:r>
            <a:endParaRPr lang="en-US" sz="840" dirty="0"/>
          </a:p>
        </p:txBody>
      </p:sp>
      <p:sp>
        <p:nvSpPr>
          <p:cNvPr id="28" name="Text 25"/>
          <p:cNvSpPr/>
          <p:nvPr/>
        </p:nvSpPr>
        <p:spPr>
          <a:xfrm>
            <a:off x="8650224" y="226771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7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sesgo exigente</a:t>
            </a:r>
            <a:endParaRPr lang="en-US" sz="1370" dirty="0"/>
          </a:p>
        </p:txBody>
      </p:sp>
      <p:sp>
        <p:nvSpPr>
          <p:cNvPr id="29" name="Text 26"/>
          <p:cNvSpPr/>
          <p:nvPr/>
        </p:nvSpPr>
        <p:spPr>
          <a:xfrm>
            <a:off x="8650224" y="2706624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resta evidencia inicial</a:t>
            </a:r>
            <a:endParaRPr lang="en-US" sz="910" dirty="0"/>
          </a:p>
        </p:txBody>
      </p:sp>
      <p:sp>
        <p:nvSpPr>
          <p:cNvPr id="30" name="Shape 27"/>
          <p:cNvSpPr/>
          <p:nvPr/>
        </p:nvSpPr>
        <p:spPr>
          <a:xfrm>
            <a:off x="932688" y="4005072"/>
            <a:ext cx="9144000" cy="1225296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042416" y="4151376"/>
            <a:ext cx="109728" cy="9326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225296" y="4133088"/>
            <a:ext cx="8705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simplificado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1243584" y="4462272"/>
            <a:ext cx="8522208" cy="347472"/>
          </a:xfrm>
          <a:prstGeom prst="roundRect">
            <a:avLst>
              <a:gd name="adj" fmla="val 1052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371600" y="4562856"/>
            <a:ext cx="8266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3*x1 + 2*x2 + 1*x3 - 3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1243584" y="4882896"/>
            <a:ext cx="8522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z &gt;= 0, el correo se marca como sospechoso</a:t>
            </a:r>
            <a:endParaRPr lang="en-US" sz="88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1: La Alerta Se Activa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correo junta suficiente evidencia de riesgo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59536" y="1847088"/>
            <a:ext cx="9765792" cy="2139696"/>
          </a:xfrm>
          <a:prstGeom prst="roundRect">
            <a:avLst>
              <a:gd name="adj" fmla="val 213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78992" y="199339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Cálculo paso a paso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078992" y="23134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x1=1, x2=1, x3=0, b=-3</a:t>
            </a:r>
            <a:endParaRPr lang="en-US" sz="880" dirty="0"/>
          </a:p>
        </p:txBody>
      </p:sp>
      <p:sp>
        <p:nvSpPr>
          <p:cNvPr id="13" name="Shape 10"/>
          <p:cNvSpPr/>
          <p:nvPr/>
        </p:nvSpPr>
        <p:spPr>
          <a:xfrm>
            <a:off x="1078992" y="2651760"/>
            <a:ext cx="1938528" cy="969264"/>
          </a:xfrm>
          <a:prstGeom prst="roundRect">
            <a:avLst>
              <a:gd name="adj" fmla="val 471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52144" y="2798064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3*1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52144" y="3090672"/>
            <a:ext cx="1792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enlace</a:t>
            </a:r>
            <a:endParaRPr lang="en-US" sz="760" dirty="0"/>
          </a:p>
        </p:txBody>
      </p:sp>
      <p:sp>
        <p:nvSpPr>
          <p:cNvPr id="16" name="Text 13"/>
          <p:cNvSpPr/>
          <p:nvPr/>
        </p:nvSpPr>
        <p:spPr>
          <a:xfrm>
            <a:off x="1152144" y="3291840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3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026664" y="2999232"/>
            <a:ext cx="91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6A3B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127248" y="2651760"/>
            <a:ext cx="1938528" cy="969264"/>
          </a:xfrm>
          <a:prstGeom prst="roundRect">
            <a:avLst>
              <a:gd name="adj" fmla="val 471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00400" y="2798064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2*1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200400" y="3090672"/>
            <a:ext cx="1792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remitente</a:t>
            </a:r>
            <a:endParaRPr lang="en-US" sz="760" dirty="0"/>
          </a:p>
        </p:txBody>
      </p:sp>
      <p:sp>
        <p:nvSpPr>
          <p:cNvPr id="21" name="Text 18"/>
          <p:cNvSpPr/>
          <p:nvPr/>
        </p:nvSpPr>
        <p:spPr>
          <a:xfrm>
            <a:off x="3200400" y="3291840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2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074920" y="2999232"/>
            <a:ext cx="91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6A3B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175504" y="2651760"/>
            <a:ext cx="1938528" cy="969264"/>
          </a:xfrm>
          <a:prstGeom prst="roundRect">
            <a:avLst>
              <a:gd name="adj" fmla="val 471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248656" y="2798064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1*0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248656" y="3090672"/>
            <a:ext cx="1792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urgencia</a:t>
            </a:r>
            <a:endParaRPr lang="en-US" sz="760" dirty="0"/>
          </a:p>
        </p:txBody>
      </p:sp>
      <p:sp>
        <p:nvSpPr>
          <p:cNvPr id="26" name="Text 23"/>
          <p:cNvSpPr/>
          <p:nvPr/>
        </p:nvSpPr>
        <p:spPr>
          <a:xfrm>
            <a:off x="5248656" y="3291840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0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123176" y="2999232"/>
            <a:ext cx="91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6A3B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7223760" y="2651760"/>
            <a:ext cx="1938528" cy="969264"/>
          </a:xfrm>
          <a:prstGeom prst="roundRect">
            <a:avLst>
              <a:gd name="adj" fmla="val 471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296912" y="2798064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-3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7296912" y="3090672"/>
            <a:ext cx="1792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sesgo</a:t>
            </a:r>
            <a:endParaRPr lang="en-US" sz="760" dirty="0"/>
          </a:p>
        </p:txBody>
      </p:sp>
      <p:sp>
        <p:nvSpPr>
          <p:cNvPr id="31" name="Text 28"/>
          <p:cNvSpPr/>
          <p:nvPr/>
        </p:nvSpPr>
        <p:spPr>
          <a:xfrm>
            <a:off x="7296912" y="3291840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-3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9272016" y="2999232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6A3B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=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9564624" y="2651760"/>
            <a:ext cx="987552" cy="969264"/>
          </a:xfrm>
          <a:prstGeom prst="roundRect">
            <a:avLst>
              <a:gd name="adj" fmla="val 471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637776" y="281635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9637776" y="305409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859536" y="4370832"/>
            <a:ext cx="4663440" cy="1170432"/>
          </a:xfrm>
          <a:prstGeom prst="roundRect">
            <a:avLst>
              <a:gd name="adj" fmla="val 3906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969264" y="4517136"/>
            <a:ext cx="109728" cy="8778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152144" y="4498848"/>
            <a:ext cx="4224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Activación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1170432" y="4828032"/>
            <a:ext cx="4041648" cy="347472"/>
          </a:xfrm>
          <a:prstGeom prst="roundRect">
            <a:avLst>
              <a:gd name="adj" fmla="val 1052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298448" y="4928616"/>
            <a:ext cx="3785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2 &gt;= 0 -&gt; salida = 1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1170432" y="5248656"/>
            <a:ext cx="4041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modelo marca el correo como sospechoso</a:t>
            </a:r>
            <a:endParaRPr lang="en-US" sz="880" dirty="0"/>
          </a:p>
        </p:txBody>
      </p:sp>
      <p:sp>
        <p:nvSpPr>
          <p:cNvPr id="42" name="Shape 39"/>
          <p:cNvSpPr/>
          <p:nvPr/>
        </p:nvSpPr>
        <p:spPr>
          <a:xfrm>
            <a:off x="5961888" y="4370832"/>
            <a:ext cx="4297680" cy="117043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071616" y="4517136"/>
            <a:ext cx="109728" cy="87782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272784" y="455371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</a:t>
            </a:r>
            <a:endParaRPr lang="en-US" sz="840" dirty="0"/>
          </a:p>
        </p:txBody>
      </p:sp>
      <p:sp>
        <p:nvSpPr>
          <p:cNvPr id="45" name="Text 42"/>
          <p:cNvSpPr/>
          <p:nvPr/>
        </p:nvSpPr>
        <p:spPr>
          <a:xfrm>
            <a:off x="6272784" y="4809744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leyó como humano</a:t>
            </a:r>
            <a:endParaRPr lang="en-US" sz="1360" dirty="0"/>
          </a:p>
        </p:txBody>
      </p:sp>
      <p:sp>
        <p:nvSpPr>
          <p:cNvPr id="46" name="Text 43"/>
          <p:cNvSpPr/>
          <p:nvPr/>
        </p:nvSpPr>
        <p:spPr>
          <a:xfrm>
            <a:off x="6272784" y="524865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solo combinó señales numéricas y cruzó el umbral</a:t>
            </a:r>
            <a:endParaRPr lang="en-US" sz="93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2: La Alerta No Se Activa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señal aislada no siempre alcanza el umbral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59536" y="1847088"/>
            <a:ext cx="9765792" cy="2139696"/>
          </a:xfrm>
          <a:prstGeom prst="roundRect">
            <a:avLst>
              <a:gd name="adj" fmla="val 213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78992" y="199339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Mismo modelo, otro correo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078992" y="23134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x1=0, x2=1, x3=0, b=-3</a:t>
            </a:r>
            <a:endParaRPr lang="en-US" sz="880" dirty="0"/>
          </a:p>
        </p:txBody>
      </p:sp>
      <p:sp>
        <p:nvSpPr>
          <p:cNvPr id="13" name="Shape 10"/>
          <p:cNvSpPr/>
          <p:nvPr/>
        </p:nvSpPr>
        <p:spPr>
          <a:xfrm>
            <a:off x="1078992" y="2651760"/>
            <a:ext cx="1938528" cy="969264"/>
          </a:xfrm>
          <a:prstGeom prst="roundRect">
            <a:avLst>
              <a:gd name="adj" fmla="val 471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52144" y="2798064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3*0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52144" y="3090672"/>
            <a:ext cx="1792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enlace</a:t>
            </a:r>
            <a:endParaRPr lang="en-US" sz="760" dirty="0"/>
          </a:p>
        </p:txBody>
      </p:sp>
      <p:sp>
        <p:nvSpPr>
          <p:cNvPr id="16" name="Text 13"/>
          <p:cNvSpPr/>
          <p:nvPr/>
        </p:nvSpPr>
        <p:spPr>
          <a:xfrm>
            <a:off x="1152144" y="3291840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0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026664" y="2999232"/>
            <a:ext cx="91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6A3B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127248" y="2651760"/>
            <a:ext cx="1938528" cy="969264"/>
          </a:xfrm>
          <a:prstGeom prst="roundRect">
            <a:avLst>
              <a:gd name="adj" fmla="val 471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00400" y="2798064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2*1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200400" y="3090672"/>
            <a:ext cx="1792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remitente</a:t>
            </a:r>
            <a:endParaRPr lang="en-US" sz="760" dirty="0"/>
          </a:p>
        </p:txBody>
      </p:sp>
      <p:sp>
        <p:nvSpPr>
          <p:cNvPr id="21" name="Text 18"/>
          <p:cNvSpPr/>
          <p:nvPr/>
        </p:nvSpPr>
        <p:spPr>
          <a:xfrm>
            <a:off x="3200400" y="3291840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2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074920" y="2999232"/>
            <a:ext cx="91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6A3B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175504" y="2651760"/>
            <a:ext cx="1938528" cy="969264"/>
          </a:xfrm>
          <a:prstGeom prst="roundRect">
            <a:avLst>
              <a:gd name="adj" fmla="val 471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248656" y="2798064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1*0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248656" y="3090672"/>
            <a:ext cx="1792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urgencia</a:t>
            </a:r>
            <a:endParaRPr lang="en-US" sz="760" dirty="0"/>
          </a:p>
        </p:txBody>
      </p:sp>
      <p:sp>
        <p:nvSpPr>
          <p:cNvPr id="26" name="Text 23"/>
          <p:cNvSpPr/>
          <p:nvPr/>
        </p:nvSpPr>
        <p:spPr>
          <a:xfrm>
            <a:off x="5248656" y="3291840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0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123176" y="2999232"/>
            <a:ext cx="91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6A3B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7223760" y="2651760"/>
            <a:ext cx="1938528" cy="969264"/>
          </a:xfrm>
          <a:prstGeom prst="roundRect">
            <a:avLst>
              <a:gd name="adj" fmla="val 471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296912" y="2798064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-3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7296912" y="3090672"/>
            <a:ext cx="1792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sesgo</a:t>
            </a:r>
            <a:endParaRPr lang="en-US" sz="760" dirty="0"/>
          </a:p>
        </p:txBody>
      </p:sp>
      <p:sp>
        <p:nvSpPr>
          <p:cNvPr id="31" name="Text 28"/>
          <p:cNvSpPr/>
          <p:nvPr/>
        </p:nvSpPr>
        <p:spPr>
          <a:xfrm>
            <a:off x="7296912" y="3291840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-3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9272016" y="2999232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6A3B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=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9564624" y="2651760"/>
            <a:ext cx="987552" cy="969264"/>
          </a:xfrm>
          <a:prstGeom prst="roundRect">
            <a:avLst>
              <a:gd name="adj" fmla="val 471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637776" y="281635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9637776" y="305409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-1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859536" y="4370832"/>
            <a:ext cx="4663440" cy="1170432"/>
          </a:xfrm>
          <a:prstGeom prst="roundRect">
            <a:avLst>
              <a:gd name="adj" fmla="val 390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969264" y="4517136"/>
            <a:ext cx="109728" cy="87782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152144" y="4498848"/>
            <a:ext cx="4224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Activación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1170432" y="4828032"/>
            <a:ext cx="4041648" cy="347472"/>
          </a:xfrm>
          <a:prstGeom prst="roundRect">
            <a:avLst>
              <a:gd name="adj" fmla="val 1052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298448" y="4928616"/>
            <a:ext cx="3785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-1 &lt; 0 -&gt; salida = 0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1170432" y="5248656"/>
            <a:ext cx="4041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modelo no marca el correo</a:t>
            </a:r>
            <a:endParaRPr lang="en-US" sz="880" dirty="0"/>
          </a:p>
        </p:txBody>
      </p:sp>
      <p:sp>
        <p:nvSpPr>
          <p:cNvPr id="42" name="Shape 39"/>
          <p:cNvSpPr/>
          <p:nvPr/>
        </p:nvSpPr>
        <p:spPr>
          <a:xfrm>
            <a:off x="5961888" y="4370832"/>
            <a:ext cx="4297680" cy="117043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071616" y="4517136"/>
            <a:ext cx="109728" cy="8778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272784" y="455371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</a:t>
            </a:r>
            <a:endParaRPr lang="en-US" sz="840" dirty="0"/>
          </a:p>
        </p:txBody>
      </p:sp>
      <p:sp>
        <p:nvSpPr>
          <p:cNvPr id="45" name="Text 42"/>
          <p:cNvSpPr/>
          <p:nvPr/>
        </p:nvSpPr>
        <p:spPr>
          <a:xfrm>
            <a:off x="6272784" y="4809744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sesgo exige evidencia</a:t>
            </a:r>
            <a:endParaRPr lang="en-US" sz="1320" dirty="0"/>
          </a:p>
        </p:txBody>
      </p:sp>
      <p:sp>
        <p:nvSpPr>
          <p:cNvPr id="46" name="Text 43"/>
          <p:cNvSpPr/>
          <p:nvPr/>
        </p:nvSpPr>
        <p:spPr>
          <a:xfrm>
            <a:off x="6272784" y="524865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el umbral es muy duro o muy blando, habrá errores</a:t>
            </a:r>
            <a:endParaRPr lang="en-US" sz="92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Significa Que Aprenda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Aprender no es memorizar una frase: es ajustar parámetros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77824" y="1847088"/>
            <a:ext cx="4462272" cy="1353312"/>
          </a:xfrm>
          <a:prstGeom prst="roundRect">
            <a:avLst>
              <a:gd name="adj" fmla="val 337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1993392"/>
            <a:ext cx="109728" cy="10607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197510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Antes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1133856" y="2377440"/>
            <a:ext cx="3950208" cy="566928"/>
          </a:xfrm>
          <a:prstGeom prst="roundRect">
            <a:avLst>
              <a:gd name="adj" fmla="val 645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61872" y="2514600"/>
            <a:ext cx="3694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w1=3, w2=2, w3=1, b=-3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133856" y="3017520"/>
            <a:ext cx="3950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valores definidos manualmente para explicar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5742432" y="1847088"/>
            <a:ext cx="4462272" cy="1353312"/>
          </a:xfrm>
          <a:prstGeom prst="roundRect">
            <a:avLst>
              <a:gd name="adj" fmla="val 3378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852160" y="1993392"/>
            <a:ext cx="109728" cy="106070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35040" y="197510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Durante entrenamiento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5998464" y="2377440"/>
            <a:ext cx="3950208" cy="566928"/>
          </a:xfrm>
          <a:prstGeom prst="roundRect">
            <a:avLst>
              <a:gd name="adj" fmla="val 645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26480" y="2514600"/>
            <a:ext cx="3694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predicción vs etiqueta real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5998464" y="3017520"/>
            <a:ext cx="3950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se equivoca, ajusta pesos o sesgo</a:t>
            </a:r>
            <a:endParaRPr lang="en-US" sz="1080" dirty="0"/>
          </a:p>
        </p:txBody>
      </p:sp>
      <p:sp>
        <p:nvSpPr>
          <p:cNvPr id="22" name="Shape 19"/>
          <p:cNvSpPr/>
          <p:nvPr/>
        </p:nvSpPr>
        <p:spPr>
          <a:xfrm>
            <a:off x="1097280" y="3822192"/>
            <a:ext cx="4352544" cy="1097280"/>
          </a:xfrm>
          <a:prstGeom prst="roundRect">
            <a:avLst>
              <a:gd name="adj" fmla="val 3333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207008" y="3968496"/>
            <a:ext cx="109728" cy="80467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08176" y="4005072"/>
            <a:ext cx="3895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</a:t>
            </a:r>
            <a:endParaRPr lang="en-US" sz="840" dirty="0"/>
          </a:p>
        </p:txBody>
      </p:sp>
      <p:sp>
        <p:nvSpPr>
          <p:cNvPr id="25" name="Text 22"/>
          <p:cNvSpPr/>
          <p:nvPr/>
        </p:nvSpPr>
        <p:spPr>
          <a:xfrm>
            <a:off x="1408176" y="4261104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Falso negativo</a:t>
            </a:r>
            <a:endParaRPr lang="en-US" sz="1440" dirty="0"/>
          </a:p>
        </p:txBody>
      </p:sp>
      <p:sp>
        <p:nvSpPr>
          <p:cNvPr id="26" name="Text 23"/>
          <p:cNvSpPr/>
          <p:nvPr/>
        </p:nvSpPr>
        <p:spPr>
          <a:xfrm>
            <a:off x="1408176" y="4700016"/>
            <a:ext cx="3877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era riesgoso, pero salió 0: el modelo fue demasiado conservador</a:t>
            </a:r>
            <a:endParaRPr lang="en-US" sz="940" dirty="0"/>
          </a:p>
        </p:txBody>
      </p:sp>
      <p:sp>
        <p:nvSpPr>
          <p:cNvPr id="27" name="Shape 24"/>
          <p:cNvSpPr/>
          <p:nvPr/>
        </p:nvSpPr>
        <p:spPr>
          <a:xfrm>
            <a:off x="5925312" y="3822192"/>
            <a:ext cx="4352544" cy="1097280"/>
          </a:xfrm>
          <a:prstGeom prst="roundRect">
            <a:avLst>
              <a:gd name="adj" fmla="val 3333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035040" y="3968496"/>
            <a:ext cx="109728" cy="80467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236208" y="4005072"/>
            <a:ext cx="3895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</a:t>
            </a:r>
            <a:endParaRPr lang="en-US" sz="840" dirty="0"/>
          </a:p>
        </p:txBody>
      </p:sp>
      <p:sp>
        <p:nvSpPr>
          <p:cNvPr id="30" name="Text 27"/>
          <p:cNvSpPr/>
          <p:nvPr/>
        </p:nvSpPr>
        <p:spPr>
          <a:xfrm>
            <a:off x="6236208" y="4261104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Falso positivo</a:t>
            </a:r>
            <a:endParaRPr lang="en-US" sz="1440" dirty="0"/>
          </a:p>
        </p:txBody>
      </p:sp>
      <p:sp>
        <p:nvSpPr>
          <p:cNvPr id="31" name="Text 28"/>
          <p:cNvSpPr/>
          <p:nvPr/>
        </p:nvSpPr>
        <p:spPr>
          <a:xfrm>
            <a:off x="6236208" y="4700016"/>
            <a:ext cx="3877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era normal, pero salió 1: el modelo fue demasiado sensible</a:t>
            </a:r>
            <a:endParaRPr lang="en-US" sz="940" dirty="0"/>
          </a:p>
        </p:txBody>
      </p:sp>
      <p:sp>
        <p:nvSpPr>
          <p:cNvPr id="32" name="Shape 29"/>
          <p:cNvSpPr/>
          <p:nvPr/>
        </p:nvSpPr>
        <p:spPr>
          <a:xfrm>
            <a:off x="786384" y="541324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87552" y="555040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Aprender significa ajustar pesos y sesgo para reducir errores frente a ejemplos conocidos.</a:t>
            </a:r>
            <a:endParaRPr lang="en-US" sz="138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Intuición Geométrica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dos entradas, el perceptrón dibuja una frontera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41248" y="1828800"/>
            <a:ext cx="5669280" cy="3456432"/>
          </a:xfrm>
          <a:prstGeom prst="roundRect">
            <a:avLst>
              <a:gd name="adj" fmla="val 105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0976" y="1975104"/>
            <a:ext cx="109728" cy="316382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011680"/>
            <a:ext cx="5010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Separación lineal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170432" y="2340864"/>
            <a:ext cx="5010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lado produce 0; el otro produce 1</a:t>
            </a:r>
            <a:endParaRPr lang="en-US" sz="980" dirty="0"/>
          </a:p>
        </p:txBody>
      </p:sp>
      <p:sp>
        <p:nvSpPr>
          <p:cNvPr id="14" name="Shape 11"/>
          <p:cNvSpPr/>
          <p:nvPr/>
        </p:nvSpPr>
        <p:spPr>
          <a:xfrm>
            <a:off x="1371600" y="2761488"/>
            <a:ext cx="4754880" cy="2157984"/>
          </a:xfrm>
          <a:prstGeom prst="rect">
            <a:avLst/>
          </a:prstGeom>
          <a:solidFill>
            <a:srgbClr val="EEF2F6">
              <a:alpha val="82000"/>
            </a:srgbClr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965960" y="4205143"/>
            <a:ext cx="47549" cy="47549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169363" y="4166779"/>
            <a:ext cx="47549" cy="47549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372766" y="4128414"/>
            <a:ext cx="47549" cy="47549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576170" y="4090050"/>
            <a:ext cx="47549" cy="47549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779573" y="4051686"/>
            <a:ext cx="47549" cy="47549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982976" y="4013322"/>
            <a:ext cx="47549" cy="47549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186379" y="3974958"/>
            <a:ext cx="47549" cy="47549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389782" y="3936594"/>
            <a:ext cx="47549" cy="47549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593186" y="3898229"/>
            <a:ext cx="47549" cy="47549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796589" y="3859865"/>
            <a:ext cx="47549" cy="47549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999992" y="3821501"/>
            <a:ext cx="47549" cy="47549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203395" y="3783137"/>
            <a:ext cx="47549" cy="47549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406798" y="3744773"/>
            <a:ext cx="47549" cy="47549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610202" y="3706409"/>
            <a:ext cx="47549" cy="47549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813605" y="3668044"/>
            <a:ext cx="47549" cy="47549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017008" y="3629680"/>
            <a:ext cx="47549" cy="47549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220411" y="3591316"/>
            <a:ext cx="47549" cy="47549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423814" y="3552952"/>
            <a:ext cx="47549" cy="47549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627218" y="3514588"/>
            <a:ext cx="47549" cy="47549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177186" y="4567062"/>
            <a:ext cx="100584" cy="10058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652674" y="4308104"/>
            <a:ext cx="100584" cy="10058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033065" y="4653382"/>
            <a:ext cx="100584" cy="10058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364431" y="3099633"/>
            <a:ext cx="100584" cy="10058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030114" y="3315432"/>
            <a:ext cx="100584" cy="10058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744822" y="2970154"/>
            <a:ext cx="100584" cy="10058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536192" y="46817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clase 0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5047488" y="28529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clase 1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6931152" y="1865376"/>
            <a:ext cx="3493008" cy="1243584"/>
          </a:xfrm>
          <a:prstGeom prst="roundRect">
            <a:avLst>
              <a:gd name="adj" fmla="val 3676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040880" y="2011680"/>
            <a:ext cx="109728" cy="95097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223760" y="1993392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Frontera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7242048" y="2322576"/>
            <a:ext cx="2871216" cy="347472"/>
          </a:xfrm>
          <a:prstGeom prst="roundRect">
            <a:avLst>
              <a:gd name="adj" fmla="val 1052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370064" y="2423160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0</a:t>
            </a:r>
            <a:endParaRPr lang="en-US" sz="1300" dirty="0"/>
          </a:p>
        </p:txBody>
      </p:sp>
      <p:sp>
        <p:nvSpPr>
          <p:cNvPr id="47" name="Text 44"/>
          <p:cNvSpPr/>
          <p:nvPr/>
        </p:nvSpPr>
        <p:spPr>
          <a:xfrm>
            <a:off x="7242048" y="2743200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donde el modelo queda justo en el límite</a:t>
            </a:r>
            <a:endParaRPr lang="en-US" sz="880" dirty="0"/>
          </a:p>
        </p:txBody>
      </p:sp>
      <p:sp>
        <p:nvSpPr>
          <p:cNvPr id="48" name="Shape 45"/>
          <p:cNvSpPr/>
          <p:nvPr/>
        </p:nvSpPr>
        <p:spPr>
          <a:xfrm>
            <a:off x="6931152" y="3401568"/>
            <a:ext cx="3493008" cy="1207008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7040880" y="3547872"/>
            <a:ext cx="109728" cy="91440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242048" y="3584448"/>
            <a:ext cx="3035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PARÁMETROS</a:t>
            </a:r>
            <a:endParaRPr lang="en-US" sz="840" dirty="0"/>
          </a:p>
        </p:txBody>
      </p:sp>
      <p:sp>
        <p:nvSpPr>
          <p:cNvPr id="51" name="Text 48"/>
          <p:cNvSpPr/>
          <p:nvPr/>
        </p:nvSpPr>
        <p:spPr>
          <a:xfrm>
            <a:off x="7242048" y="38404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mueven la línea</a:t>
            </a:r>
            <a:endParaRPr lang="en-US" sz="1320" dirty="0"/>
          </a:p>
        </p:txBody>
      </p:sp>
      <p:sp>
        <p:nvSpPr>
          <p:cNvPr id="52" name="Text 49"/>
          <p:cNvSpPr/>
          <p:nvPr/>
        </p:nvSpPr>
        <p:spPr>
          <a:xfrm>
            <a:off x="7242048" y="427939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pesos cambian inclinación; sesgo cambia posición</a:t>
            </a:r>
            <a:endParaRPr lang="en-US" sz="920" dirty="0"/>
          </a:p>
        </p:txBody>
      </p:sp>
      <p:sp>
        <p:nvSpPr>
          <p:cNvPr id="53" name="Shape 50"/>
          <p:cNvSpPr/>
          <p:nvPr/>
        </p:nvSpPr>
        <p:spPr>
          <a:xfrm>
            <a:off x="786384" y="5596128"/>
            <a:ext cx="9966960" cy="457200"/>
          </a:xfrm>
          <a:prstGeom prst="roundRect">
            <a:avLst>
              <a:gd name="adj" fmla="val 8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987552" y="573328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perceptrón divide el espacio de entradas en dos zonas.</a:t>
            </a:r>
            <a:endParaRPr lang="en-US" sz="148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Límite Del Perceptrón Simple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todo problema se separa con una sola línea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41248" y="1828800"/>
            <a:ext cx="4572000" cy="3511296"/>
          </a:xfrm>
          <a:prstGeom prst="roundRect">
            <a:avLst>
              <a:gd name="adj" fmla="val 104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0976" y="1975104"/>
            <a:ext cx="109728" cy="32186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011680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 puede: patrón separable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170432" y="2340864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frontera simple basta</a:t>
            </a:r>
            <a:endParaRPr lang="en-US" sz="980" dirty="0"/>
          </a:p>
        </p:txBody>
      </p:sp>
      <p:sp>
        <p:nvSpPr>
          <p:cNvPr id="14" name="Shape 11"/>
          <p:cNvSpPr/>
          <p:nvPr/>
        </p:nvSpPr>
        <p:spPr>
          <a:xfrm>
            <a:off x="1371600" y="2761488"/>
            <a:ext cx="3657600" cy="2212848"/>
          </a:xfrm>
          <a:prstGeom prst="rect">
            <a:avLst/>
          </a:prstGeom>
          <a:solidFill>
            <a:srgbClr val="EEF2F6">
              <a:alpha val="82000"/>
            </a:srgbClr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823314" y="4242450"/>
            <a:ext cx="47549" cy="47549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979778" y="4203111"/>
            <a:ext cx="47549" cy="47549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136242" y="4163771"/>
            <a:ext cx="47549" cy="47549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292706" y="4124432"/>
            <a:ext cx="47549" cy="47549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449170" y="4085092"/>
            <a:ext cx="47549" cy="47549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605634" y="4045753"/>
            <a:ext cx="47549" cy="47549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762098" y="4006413"/>
            <a:ext cx="47549" cy="47549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918562" y="3967074"/>
            <a:ext cx="47549" cy="47549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075026" y="3927734"/>
            <a:ext cx="47549" cy="47549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231490" y="3888395"/>
            <a:ext cx="47549" cy="47549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387954" y="3849055"/>
            <a:ext cx="47549" cy="47549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544418" y="3809716"/>
            <a:ext cx="47549" cy="47549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700882" y="3770376"/>
            <a:ext cx="47549" cy="47549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857346" y="3731036"/>
            <a:ext cx="47549" cy="47549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013810" y="3691697"/>
            <a:ext cx="47549" cy="47549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170274" y="3652357"/>
            <a:ext cx="47549" cy="47549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326738" y="3613018"/>
            <a:ext cx="47549" cy="47549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483202" y="3573678"/>
            <a:ext cx="47549" cy="47549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639666" y="3534339"/>
            <a:ext cx="47549" cy="47549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979676" y="4614245"/>
            <a:ext cx="100584" cy="10058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345436" y="4348704"/>
            <a:ext cx="100584" cy="10058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638044" y="4702759"/>
            <a:ext cx="100584" cy="10058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662172" y="3109509"/>
            <a:ext cx="100584" cy="10058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74236" y="3330793"/>
            <a:ext cx="100584" cy="10058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3954780" y="2976738"/>
            <a:ext cx="100584" cy="10058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536192" y="47365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clase 0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3950208" y="28529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clase 1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5815584" y="1828800"/>
            <a:ext cx="4572000" cy="3511296"/>
          </a:xfrm>
          <a:prstGeom prst="roundRect">
            <a:avLst>
              <a:gd name="adj" fmla="val 104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925312" y="1975104"/>
            <a:ext cx="109728" cy="32186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163056" y="206654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puede</a:t>
            </a:r>
            <a:endParaRPr lang="en-US" sz="1700" dirty="0"/>
          </a:p>
        </p:txBody>
      </p:sp>
      <p:sp>
        <p:nvSpPr>
          <p:cNvPr id="45" name="Shape 42"/>
          <p:cNvSpPr/>
          <p:nvPr/>
        </p:nvSpPr>
        <p:spPr>
          <a:xfrm>
            <a:off x="6720840" y="2999232"/>
            <a:ext cx="493776" cy="49377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720840" y="3099816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9015984" y="2999232"/>
            <a:ext cx="493776" cy="49377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9015984" y="3099816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6720840" y="4352544"/>
            <a:ext cx="493776" cy="49377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720840" y="4453128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9015984" y="4352544"/>
            <a:ext cx="493776" cy="49377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9015984" y="4453128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6400800" y="495604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clases mezcladas: una línea no alcanza</a:t>
            </a:r>
            <a:endParaRPr lang="en-US" sz="960" dirty="0"/>
          </a:p>
        </p:txBody>
      </p:sp>
      <p:sp>
        <p:nvSpPr>
          <p:cNvPr id="54" name="Shape 51"/>
          <p:cNvSpPr/>
          <p:nvPr/>
        </p:nvSpPr>
        <p:spPr>
          <a:xfrm>
            <a:off x="786384" y="5577840"/>
            <a:ext cx="9966960" cy="438912"/>
          </a:xfrm>
          <a:prstGeom prst="roundRect">
            <a:avLst>
              <a:gd name="adj" fmla="val 83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987552" y="5715000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Este límite explica por qué conectamos varias neuronas y capas.</a:t>
            </a:r>
            <a:endParaRPr lang="en-US" sz="136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Ejemplo Web: Solicitud Riesgosa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peso negativo también enseña criterio técnico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59536" y="1847088"/>
            <a:ext cx="9601200" cy="1225296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9264" y="1993392"/>
            <a:ext cx="109728" cy="9326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52144" y="1975104"/>
            <a:ext cx="9162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simplificado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1170432" y="2304288"/>
            <a:ext cx="8979408" cy="347472"/>
          </a:xfrm>
          <a:prstGeom prst="roundRect">
            <a:avLst>
              <a:gd name="adj" fmla="val 1052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98448" y="2404872"/>
            <a:ext cx="8723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3*x1 + 4*x2 - 2*x3 - 2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70432" y="2724912"/>
            <a:ext cx="8979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x3 representa autenticación correcta: reduce la señal de riesgo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859536" y="3456432"/>
            <a:ext cx="2907792" cy="1115568"/>
          </a:xfrm>
          <a:prstGeom prst="roundRect">
            <a:avLst>
              <a:gd name="adj" fmla="val 3279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69264" y="3602736"/>
            <a:ext cx="109728" cy="8229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70432" y="3639312"/>
            <a:ext cx="2450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x1</a:t>
            </a:r>
            <a:endParaRPr lang="en-US" sz="840" dirty="0"/>
          </a:p>
        </p:txBody>
      </p:sp>
      <p:sp>
        <p:nvSpPr>
          <p:cNvPr id="19" name="Text 16"/>
          <p:cNvSpPr/>
          <p:nvPr/>
        </p:nvSpPr>
        <p:spPr>
          <a:xfrm>
            <a:off x="1170432" y="389534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muchos intentos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170432" y="4334256"/>
            <a:ext cx="2432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aumenta riesgo</a:t>
            </a:r>
            <a:endParaRPr lang="en-US" sz="920" dirty="0"/>
          </a:p>
        </p:txBody>
      </p:sp>
      <p:sp>
        <p:nvSpPr>
          <p:cNvPr id="21" name="Shape 18"/>
          <p:cNvSpPr/>
          <p:nvPr/>
        </p:nvSpPr>
        <p:spPr>
          <a:xfrm>
            <a:off x="4187952" y="3456432"/>
            <a:ext cx="2907792" cy="1115568"/>
          </a:xfrm>
          <a:prstGeom prst="roundRect">
            <a:avLst>
              <a:gd name="adj" fmla="val 3279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297680" y="3602736"/>
            <a:ext cx="109728" cy="8229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498848" y="3639312"/>
            <a:ext cx="2450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x2</a:t>
            </a:r>
            <a:endParaRPr lang="en-US" sz="840" dirty="0"/>
          </a:p>
        </p:txBody>
      </p:sp>
      <p:sp>
        <p:nvSpPr>
          <p:cNvPr id="24" name="Text 21"/>
          <p:cNvSpPr/>
          <p:nvPr/>
        </p:nvSpPr>
        <p:spPr>
          <a:xfrm>
            <a:off x="4498848" y="389534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parámetros inesperados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498848" y="4334256"/>
            <a:ext cx="2432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aumenta riesgo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7516368" y="3456432"/>
            <a:ext cx="2907792" cy="1115568"/>
          </a:xfrm>
          <a:prstGeom prst="roundRect">
            <a:avLst>
              <a:gd name="adj" fmla="val 3279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626096" y="3602736"/>
            <a:ext cx="109728" cy="8229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827264" y="3639312"/>
            <a:ext cx="2450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x3</a:t>
            </a:r>
            <a:endParaRPr lang="en-US" sz="840" dirty="0"/>
          </a:p>
        </p:txBody>
      </p:sp>
      <p:sp>
        <p:nvSpPr>
          <p:cNvPr id="29" name="Text 26"/>
          <p:cNvSpPr/>
          <p:nvPr/>
        </p:nvSpPr>
        <p:spPr>
          <a:xfrm>
            <a:off x="7827264" y="389534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autenticación correcta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7827264" y="4334256"/>
            <a:ext cx="2432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riesgo</a:t>
            </a:r>
            <a:endParaRPr lang="en-US" sz="920" dirty="0"/>
          </a:p>
        </p:txBody>
      </p:sp>
      <p:sp>
        <p:nvSpPr>
          <p:cNvPr id="31" name="Shape 28"/>
          <p:cNvSpPr/>
          <p:nvPr/>
        </p:nvSpPr>
        <p:spPr>
          <a:xfrm>
            <a:off x="1042416" y="5010912"/>
            <a:ext cx="9070848" cy="822960"/>
          </a:xfrm>
          <a:prstGeom prst="roundRect">
            <a:avLst>
              <a:gd name="adj" fmla="val 5556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152144" y="5157216"/>
            <a:ext cx="109728" cy="53035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335024" y="5138928"/>
            <a:ext cx="8631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1353312" y="5468112"/>
            <a:ext cx="8449056" cy="347472"/>
          </a:xfrm>
          <a:prstGeom prst="roundRect">
            <a:avLst>
              <a:gd name="adj" fmla="val 1052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481328" y="5568696"/>
            <a:ext cx="8193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x1=1, x2=1, x3=0 -&gt; z=5 -&gt; salida=1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1353312" y="5888736"/>
            <a:ext cx="8449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solicitud queda clasificada como riesgosa</a:t>
            </a:r>
            <a:endParaRPr lang="en-US" sz="88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Salida No Es Una Regla De Negocio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modelo produce señal; el sistema decide con controles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96112" y="1883664"/>
            <a:ext cx="4498848" cy="1225296"/>
          </a:xfrm>
          <a:prstGeom prst="roundRect">
            <a:avLst>
              <a:gd name="adj" fmla="val 373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5840" y="2029968"/>
            <a:ext cx="109728" cy="9326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88720" y="2011680"/>
            <a:ext cx="4059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Mala lectura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1207008" y="2340864"/>
            <a:ext cx="3877056" cy="347472"/>
          </a:xfrm>
          <a:prstGeom prst="roundRect">
            <a:avLst>
              <a:gd name="adj" fmla="val 1052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35024" y="2441448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 -&gt; castigo automático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207008" y="2761488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decisión crítica sin revisión ni reversibilidad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5742432" y="1883664"/>
            <a:ext cx="4498848" cy="1225296"/>
          </a:xfrm>
          <a:prstGeom prst="roundRect">
            <a:avLst>
              <a:gd name="adj" fmla="val 373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852160" y="2029968"/>
            <a:ext cx="109728" cy="9326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35040" y="2011680"/>
            <a:ext cx="4059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Mejor lectura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053328" y="2340864"/>
            <a:ext cx="3877056" cy="347472"/>
          </a:xfrm>
          <a:prstGeom prst="roundRect">
            <a:avLst>
              <a:gd name="adj" fmla="val 1052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81344" y="2441448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 -&gt; señal -&gt; regla -&gt; acción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053328" y="2761488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trazable, reversible y auditable</a:t>
            </a:r>
            <a:endParaRPr lang="en-US" sz="880" dirty="0"/>
          </a:p>
        </p:txBody>
      </p:sp>
      <p:sp>
        <p:nvSpPr>
          <p:cNvPr id="22" name="Shape 19"/>
          <p:cNvSpPr/>
          <p:nvPr/>
        </p:nvSpPr>
        <p:spPr>
          <a:xfrm>
            <a:off x="1024128" y="3621024"/>
            <a:ext cx="4261104" cy="676656"/>
          </a:xfrm>
          <a:prstGeom prst="roundRect">
            <a:avLst>
              <a:gd name="adj" fmla="val 540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133856" y="3767328"/>
            <a:ext cx="109728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353312" y="378561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</a:t>
            </a:r>
            <a:endParaRPr lang="en-US" sz="840" dirty="0"/>
          </a:p>
        </p:txBody>
      </p:sp>
      <p:sp>
        <p:nvSpPr>
          <p:cNvPr id="25" name="Text 22"/>
          <p:cNvSpPr/>
          <p:nvPr/>
        </p:nvSpPr>
        <p:spPr>
          <a:xfrm>
            <a:off x="1353312" y="4005072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pasa si se equivoca?</a:t>
            </a:r>
            <a:endParaRPr lang="en-US" sz="1180" dirty="0"/>
          </a:p>
        </p:txBody>
      </p:sp>
      <p:sp>
        <p:nvSpPr>
          <p:cNvPr id="26" name="Shape 23"/>
          <p:cNvSpPr/>
          <p:nvPr/>
        </p:nvSpPr>
        <p:spPr>
          <a:xfrm>
            <a:off x="5797296" y="3621024"/>
            <a:ext cx="4261104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907024" y="3767328"/>
            <a:ext cx="109728" cy="3840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126480" y="378561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</a:t>
            </a:r>
            <a:endParaRPr lang="en-US" sz="840" dirty="0"/>
          </a:p>
        </p:txBody>
      </p:sp>
      <p:sp>
        <p:nvSpPr>
          <p:cNvPr id="29" name="Text 26"/>
          <p:cNvSpPr/>
          <p:nvPr/>
        </p:nvSpPr>
        <p:spPr>
          <a:xfrm>
            <a:off x="6126480" y="4005072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¿la acción es reversible?</a:t>
            </a:r>
            <a:endParaRPr lang="en-US" sz="1180" dirty="0"/>
          </a:p>
        </p:txBody>
      </p:sp>
      <p:sp>
        <p:nvSpPr>
          <p:cNvPr id="30" name="Shape 27"/>
          <p:cNvSpPr/>
          <p:nvPr/>
        </p:nvSpPr>
        <p:spPr>
          <a:xfrm>
            <a:off x="1024128" y="4462272"/>
            <a:ext cx="4261104" cy="676656"/>
          </a:xfrm>
          <a:prstGeom prst="roundRect">
            <a:avLst>
              <a:gd name="adj" fmla="val 540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133856" y="4608576"/>
            <a:ext cx="109728" cy="3840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353312" y="4626864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</a:t>
            </a:r>
            <a:endParaRPr lang="en-US" sz="840" dirty="0"/>
          </a:p>
        </p:txBody>
      </p:sp>
      <p:sp>
        <p:nvSpPr>
          <p:cNvPr id="33" name="Text 30"/>
          <p:cNvSpPr/>
          <p:nvPr/>
        </p:nvSpPr>
        <p:spPr>
          <a:xfrm>
            <a:off x="1353312" y="4846320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¿existen logs y trazabilidad?</a:t>
            </a:r>
            <a:endParaRPr lang="en-US" sz="1180" dirty="0"/>
          </a:p>
        </p:txBody>
      </p:sp>
      <p:sp>
        <p:nvSpPr>
          <p:cNvPr id="34" name="Shape 31"/>
          <p:cNvSpPr/>
          <p:nvPr/>
        </p:nvSpPr>
        <p:spPr>
          <a:xfrm>
            <a:off x="5797296" y="4462272"/>
            <a:ext cx="4261104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907024" y="4608576"/>
            <a:ext cx="109728" cy="3840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126480" y="4626864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</a:t>
            </a:r>
            <a:endParaRPr lang="en-US" sz="840" dirty="0"/>
          </a:p>
        </p:txBody>
      </p:sp>
      <p:sp>
        <p:nvSpPr>
          <p:cNvPr id="37" name="Text 34"/>
          <p:cNvSpPr/>
          <p:nvPr/>
        </p:nvSpPr>
        <p:spPr>
          <a:xfrm>
            <a:off x="6126480" y="4846320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¿hay revisión humana en casos críticos?</a:t>
            </a:r>
            <a:endParaRPr lang="en-US" sz="1180" dirty="0"/>
          </a:p>
        </p:txBody>
      </p:sp>
      <p:sp>
        <p:nvSpPr>
          <p:cNvPr id="38" name="Shape 35"/>
          <p:cNvSpPr/>
          <p:nvPr/>
        </p:nvSpPr>
        <p:spPr>
          <a:xfrm>
            <a:off x="786384" y="5431536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87552" y="5568696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seguridad, el costo del error importa tanto como la predicción.</a:t>
            </a:r>
            <a:endParaRPr lang="en-US" sz="148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847649"/>
            <a:ext cx="210312" cy="48371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3894" y="658368"/>
            <a:ext cx="252374" cy="67299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78331" y="847649"/>
            <a:ext cx="210312" cy="48371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54480" y="1078992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Agentes Como Apoyo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72768" y="1719072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D8E4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Útiles para generar ejemplos, pero no para delegar el criterio.</a:t>
            </a:r>
            <a:endParaRPr lang="en-US" sz="1240" dirty="0"/>
          </a:p>
        </p:txBody>
      </p:sp>
      <p:sp>
        <p:nvSpPr>
          <p:cNvPr id="7" name="Shape 5"/>
          <p:cNvSpPr/>
          <p:nvPr/>
        </p:nvSpPr>
        <p:spPr>
          <a:xfrm>
            <a:off x="896112" y="2395728"/>
            <a:ext cx="4663440" cy="2505456"/>
          </a:xfrm>
          <a:prstGeom prst="roundRect">
            <a:avLst>
              <a:gd name="adj" fmla="val 1460"/>
            </a:avLst>
          </a:prstGeom>
          <a:solidFill>
            <a:srgbClr val="173E64"/>
          </a:solidFill>
          <a:ln w="12700">
            <a:solidFill>
              <a:srgbClr val="2D5E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2542032"/>
            <a:ext cx="109728" cy="22128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25296" y="2651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 útil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25296" y="3090672"/>
            <a:ext cx="396849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Explícame un perceptrón binario con tres entradas, tres pesos y un sesgo. Calcula z paso a paso, aplica umbral y explica riesgos de usar la salida como decisión automática.</a:t>
            </a:r>
            <a:endParaRPr lang="en-US" sz="1130" dirty="0"/>
          </a:p>
        </p:txBody>
      </p:sp>
      <p:sp>
        <p:nvSpPr>
          <p:cNvPr id="11" name="Shape 9"/>
          <p:cNvSpPr/>
          <p:nvPr/>
        </p:nvSpPr>
        <p:spPr>
          <a:xfrm>
            <a:off x="6016752" y="2157984"/>
            <a:ext cx="4096512" cy="896112"/>
          </a:xfrm>
          <a:prstGeom prst="roundRect">
            <a:avLst>
              <a:gd name="adj" fmla="val 408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2304288"/>
            <a:ext cx="109728" cy="6035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45936" y="2322576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6345936" y="259689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revisar cálculo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45936" y="2834640"/>
            <a:ext cx="3529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multiplicaciones, suma y activación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6016752" y="3255264"/>
            <a:ext cx="4096512" cy="896112"/>
          </a:xfrm>
          <a:prstGeom prst="roundRect">
            <a:avLst>
              <a:gd name="adj" fmla="val 408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3401568"/>
            <a:ext cx="109728" cy="60350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45936" y="3419856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6345936" y="369417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revisar sentido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45936" y="3931920"/>
            <a:ext cx="3529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entradas y pesos deben representar el problema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6016752" y="4352544"/>
            <a:ext cx="4096512" cy="896112"/>
          </a:xfrm>
          <a:prstGeom prst="roundRect">
            <a:avLst>
              <a:gd name="adj" fmla="val 408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4498848"/>
            <a:ext cx="109728" cy="6035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45936" y="4517136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6345936" y="479145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revisar límites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45936" y="5029200"/>
            <a:ext cx="3529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salida no equivale a verdad absoluta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914400" y="5650992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 del bloque: el agente puede proponer; el estudiante debe verificar.</a:t>
            </a:r>
            <a:endParaRPr lang="en-US" sz="1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Recapitulación Del Bloque 2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perceptrón como decisión binaria controlada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77824" y="1847088"/>
            <a:ext cx="9454896" cy="1225296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1993392"/>
            <a:ext cx="109728" cy="9326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1975104"/>
            <a:ext cx="9015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Ruta completa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1188720" y="2304288"/>
            <a:ext cx="8833104" cy="347472"/>
          </a:xfrm>
          <a:prstGeom prst="roundRect">
            <a:avLst>
              <a:gd name="adj" fmla="val 1052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16736" y="2404872"/>
            <a:ext cx="8577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entradas -&gt; pesos + sesgo -&gt; z -&gt; umbral -&gt; 0/1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88720" y="2724912"/>
            <a:ext cx="8833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decisión sale de una cadena de operaciones verificables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877824" y="3493008"/>
            <a:ext cx="2139696" cy="1207008"/>
          </a:xfrm>
          <a:prstGeom prst="roundRect">
            <a:avLst>
              <a:gd name="adj" fmla="val 3030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87552" y="3639312"/>
            <a:ext cx="109728" cy="9144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88720" y="3675888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40" dirty="0"/>
          </a:p>
        </p:txBody>
      </p:sp>
      <p:sp>
        <p:nvSpPr>
          <p:cNvPr id="19" name="Text 16"/>
          <p:cNvSpPr/>
          <p:nvPr/>
        </p:nvSpPr>
        <p:spPr>
          <a:xfrm>
            <a:off x="1188720" y="3931920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Clasifica</a:t>
            </a:r>
            <a:endParaRPr lang="en-US" sz="1180" dirty="0"/>
          </a:p>
        </p:txBody>
      </p:sp>
      <p:sp>
        <p:nvSpPr>
          <p:cNvPr id="20" name="Text 17"/>
          <p:cNvSpPr/>
          <p:nvPr/>
        </p:nvSpPr>
        <p:spPr>
          <a:xfrm>
            <a:off x="1188720" y="431596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dos salidas posibles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3310128" y="3493008"/>
            <a:ext cx="2139696" cy="1207008"/>
          </a:xfrm>
          <a:prstGeom prst="roundRect">
            <a:avLst>
              <a:gd name="adj" fmla="val 3030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419856" y="3639312"/>
            <a:ext cx="109728" cy="91440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21024" y="3675888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40" dirty="0"/>
          </a:p>
        </p:txBody>
      </p:sp>
      <p:sp>
        <p:nvSpPr>
          <p:cNvPr id="24" name="Text 21"/>
          <p:cNvSpPr/>
          <p:nvPr/>
        </p:nvSpPr>
        <p:spPr>
          <a:xfrm>
            <a:off x="3621024" y="3931920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Parámetros</a:t>
            </a:r>
            <a:endParaRPr lang="en-US" sz="1180" dirty="0"/>
          </a:p>
        </p:txBody>
      </p:sp>
      <p:sp>
        <p:nvSpPr>
          <p:cNvPr id="25" name="Text 22"/>
          <p:cNvSpPr/>
          <p:nvPr/>
        </p:nvSpPr>
        <p:spPr>
          <a:xfrm>
            <a:off x="3621024" y="431596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pesos y sesgo cambian la frontera</a:t>
            </a:r>
            <a:endParaRPr lang="en-US" sz="820" dirty="0"/>
          </a:p>
        </p:txBody>
      </p:sp>
      <p:sp>
        <p:nvSpPr>
          <p:cNvPr id="26" name="Shape 23"/>
          <p:cNvSpPr/>
          <p:nvPr/>
        </p:nvSpPr>
        <p:spPr>
          <a:xfrm>
            <a:off x="5742432" y="3493008"/>
            <a:ext cx="2139696" cy="1207008"/>
          </a:xfrm>
          <a:prstGeom prst="roundRect">
            <a:avLst>
              <a:gd name="adj" fmla="val 3030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852160" y="3639312"/>
            <a:ext cx="109728" cy="91440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053328" y="3675888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40" dirty="0"/>
          </a:p>
        </p:txBody>
      </p:sp>
      <p:sp>
        <p:nvSpPr>
          <p:cNvPr id="29" name="Text 26"/>
          <p:cNvSpPr/>
          <p:nvPr/>
        </p:nvSpPr>
        <p:spPr>
          <a:xfrm>
            <a:off x="6053328" y="3931920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Tiene límites</a:t>
            </a:r>
            <a:endParaRPr lang="en-US" sz="1180" dirty="0"/>
          </a:p>
        </p:txBody>
      </p:sp>
      <p:sp>
        <p:nvSpPr>
          <p:cNvPr id="30" name="Text 27"/>
          <p:cNvSpPr/>
          <p:nvPr/>
        </p:nvSpPr>
        <p:spPr>
          <a:xfrm>
            <a:off x="6053328" y="431596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sola línea no resuelve todo</a:t>
            </a:r>
            <a:endParaRPr lang="en-US" sz="820" dirty="0"/>
          </a:p>
        </p:txBody>
      </p:sp>
      <p:sp>
        <p:nvSpPr>
          <p:cNvPr id="31" name="Shape 28"/>
          <p:cNvSpPr/>
          <p:nvPr/>
        </p:nvSpPr>
        <p:spPr>
          <a:xfrm>
            <a:off x="8174736" y="3493008"/>
            <a:ext cx="2139696" cy="1207008"/>
          </a:xfrm>
          <a:prstGeom prst="roundRect">
            <a:avLst>
              <a:gd name="adj" fmla="val 3030"/>
            </a:avLst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284464" y="3639312"/>
            <a:ext cx="109728" cy="914400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485632" y="3675888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40" dirty="0"/>
          </a:p>
        </p:txBody>
      </p:sp>
      <p:sp>
        <p:nvSpPr>
          <p:cNvPr id="34" name="Text 31"/>
          <p:cNvSpPr/>
          <p:nvPr/>
        </p:nvSpPr>
        <p:spPr>
          <a:xfrm>
            <a:off x="8485632" y="3931920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Exige criterio</a:t>
            </a:r>
            <a:endParaRPr lang="en-US" sz="1180" dirty="0"/>
          </a:p>
        </p:txBody>
      </p:sp>
      <p:sp>
        <p:nvSpPr>
          <p:cNvPr id="35" name="Text 32"/>
          <p:cNvSpPr/>
          <p:nvPr/>
        </p:nvSpPr>
        <p:spPr>
          <a:xfrm>
            <a:off x="8485632" y="431596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no reemplaza reglas críticas</a:t>
            </a:r>
            <a:endParaRPr lang="en-US" sz="820" dirty="0"/>
          </a:p>
        </p:txBody>
      </p:sp>
      <p:sp>
        <p:nvSpPr>
          <p:cNvPr id="36" name="Shape 33"/>
          <p:cNvSpPr/>
          <p:nvPr/>
        </p:nvSpPr>
        <p:spPr>
          <a:xfrm>
            <a:off x="786384" y="5376672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87552" y="5513832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bloque 3 responde la pregunta pendiente: cómo se ajustan esos pesos durante el entrenamiento.</a:t>
            </a:r>
            <a:endParaRPr lang="en-US" sz="138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De Seguimiento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Perceptrón y clasificación binaria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77824" y="1828800"/>
            <a:ext cx="9454896" cy="1024128"/>
          </a:xfrm>
          <a:prstGeom prst="roundRect">
            <a:avLst>
              <a:gd name="adj" fmla="val 357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1956816"/>
            <a:ext cx="118872" cy="7680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07008" y="2029968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664208" y="2011680"/>
            <a:ext cx="8430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el perceptrón sirve para explicar clasificación binaria?</a:t>
            </a:r>
            <a:endParaRPr lang="en-US" sz="1230" dirty="0"/>
          </a:p>
        </p:txBody>
      </p:sp>
      <p:sp>
        <p:nvSpPr>
          <p:cNvPr id="14" name="Text 11"/>
          <p:cNvSpPr/>
          <p:nvPr/>
        </p:nvSpPr>
        <p:spPr>
          <a:xfrm>
            <a:off x="1664208" y="2432304"/>
            <a:ext cx="8430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Responde usando la idea de salida 0/1 y una regla de activación por umbral.</a:t>
            </a:r>
            <a:endParaRPr lang="en-US" sz="940" dirty="0"/>
          </a:p>
        </p:txBody>
      </p:sp>
      <p:sp>
        <p:nvSpPr>
          <p:cNvPr id="15" name="Shape 12"/>
          <p:cNvSpPr/>
          <p:nvPr/>
        </p:nvSpPr>
        <p:spPr>
          <a:xfrm>
            <a:off x="877824" y="3127248"/>
            <a:ext cx="9454896" cy="1024128"/>
          </a:xfrm>
          <a:prstGeom prst="roundRect">
            <a:avLst>
              <a:gd name="adj" fmla="val 3571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87552" y="3255264"/>
            <a:ext cx="118872" cy="76809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07008" y="3328416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664208" y="3310128"/>
            <a:ext cx="8430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cambia en la decisión si modificamos un peso o el sesgo?</a:t>
            </a:r>
            <a:endParaRPr lang="en-US" sz="1230" dirty="0"/>
          </a:p>
        </p:txBody>
      </p:sp>
      <p:sp>
        <p:nvSpPr>
          <p:cNvPr id="19" name="Text 16"/>
          <p:cNvSpPr/>
          <p:nvPr/>
        </p:nvSpPr>
        <p:spPr>
          <a:xfrm>
            <a:off x="1664208" y="3730752"/>
            <a:ext cx="8430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Piensa en cuánto empuja cada señal y en qué tan exigente queda el umbral.</a:t>
            </a:r>
            <a:endParaRPr lang="en-US" sz="940" dirty="0"/>
          </a:p>
        </p:txBody>
      </p:sp>
      <p:sp>
        <p:nvSpPr>
          <p:cNvPr id="20" name="Shape 17"/>
          <p:cNvSpPr/>
          <p:nvPr/>
        </p:nvSpPr>
        <p:spPr>
          <a:xfrm>
            <a:off x="877824" y="4425696"/>
            <a:ext cx="9454896" cy="1024128"/>
          </a:xfrm>
          <a:prstGeom prst="roundRect">
            <a:avLst>
              <a:gd name="adj" fmla="val 357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87552" y="4553712"/>
            <a:ext cx="118872" cy="7680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207008" y="4626864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1664208" y="4608576"/>
            <a:ext cx="8430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una salida 1 no debería transformarse siempre en una acción crítica automática?</a:t>
            </a:r>
            <a:endParaRPr lang="en-US" sz="1230" dirty="0"/>
          </a:p>
        </p:txBody>
      </p:sp>
      <p:sp>
        <p:nvSpPr>
          <p:cNvPr id="24" name="Text 21"/>
          <p:cNvSpPr/>
          <p:nvPr/>
        </p:nvSpPr>
        <p:spPr>
          <a:xfrm>
            <a:off x="1664208" y="5029200"/>
            <a:ext cx="8430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Considera falsos positivos, falsos negativos, trazabilidad y revisión humana.</a:t>
            </a:r>
            <a:endParaRPr lang="en-US" sz="94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" y="902513"/>
            <a:ext cx="210312" cy="48371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8758" y="713232"/>
            <a:ext cx="252374" cy="67299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33195" y="902513"/>
            <a:ext cx="210312" cy="48371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pic>
        <p:nvPicPr>
          <p:cNvPr id="5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21792"/>
            <a:ext cx="713232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70078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3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2359152"/>
            <a:ext cx="65836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Entrenamiento, error,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pérdida y ajuste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841248" y="438912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E4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Pasamos de una neurona que decide a un modelo que intenta mejorar.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92240" y="4736592"/>
            <a:ext cx="3968496" cy="1005840"/>
          </a:xfrm>
          <a:prstGeom prst="roundRect">
            <a:avLst>
              <a:gd name="adj" fmla="val 4545"/>
            </a:avLst>
          </a:prstGeom>
          <a:solidFill>
            <a:srgbClr val="173E64"/>
          </a:solidFill>
          <a:ln w="12700">
            <a:solidFill>
              <a:srgbClr val="2D5E8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01968" y="4882896"/>
            <a:ext cx="109728" cy="71323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84848" y="4864608"/>
            <a:ext cx="3529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 del bloque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803136" y="5193792"/>
            <a:ext cx="3346704" cy="347472"/>
          </a:xfrm>
          <a:prstGeom prst="roundRect">
            <a:avLst>
              <a:gd name="adj" fmla="val 1052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31152" y="5294376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predice -&gt; pierde -&gt; ajusta</a:t>
            </a:r>
            <a:endParaRPr lang="en-US" sz="1180" dirty="0"/>
          </a:p>
        </p:txBody>
      </p:sp>
      <p:sp>
        <p:nvSpPr>
          <p:cNvPr id="14" name="Text 11"/>
          <p:cNvSpPr/>
          <p:nvPr/>
        </p:nvSpPr>
        <p:spPr>
          <a:xfrm>
            <a:off x="6803136" y="5614416"/>
            <a:ext cx="33467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D8E4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aprender es reducir errores medidos</a:t>
            </a:r>
            <a:endParaRPr lang="en-US" sz="88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Pregunta Central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 sabemos cómo una neurona decide; falta entender cómo mejora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914400" y="1865376"/>
            <a:ext cx="9875520" cy="987552"/>
          </a:xfrm>
          <a:prstGeom prst="roundRect">
            <a:avLst>
              <a:gd name="adj" fmla="val 370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15568" y="2029968"/>
            <a:ext cx="9473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¿Cómo pasa un modelo de equivocarse mucho a equivocarse menos?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950976" y="3383280"/>
            <a:ext cx="2779776" cy="1353312"/>
          </a:xfrm>
          <a:prstGeom prst="roundRect">
            <a:avLst>
              <a:gd name="adj" fmla="val 270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60704" y="3529584"/>
            <a:ext cx="109728" cy="10607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61872" y="3566160"/>
            <a:ext cx="2322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40" dirty="0"/>
          </a:p>
        </p:txBody>
      </p:sp>
      <p:sp>
        <p:nvSpPr>
          <p:cNvPr id="15" name="Text 12"/>
          <p:cNvSpPr/>
          <p:nvPr/>
        </p:nvSpPr>
        <p:spPr>
          <a:xfrm>
            <a:off x="1261872" y="3822192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aprende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261872" y="4261104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alguien escribe pesos a mano</a:t>
            </a:r>
            <a:endParaRPr lang="en-US" sz="960" dirty="0"/>
          </a:p>
        </p:txBody>
      </p:sp>
      <p:sp>
        <p:nvSpPr>
          <p:cNvPr id="17" name="Shape 14"/>
          <p:cNvSpPr/>
          <p:nvPr/>
        </p:nvSpPr>
        <p:spPr>
          <a:xfrm>
            <a:off x="4197096" y="3383280"/>
            <a:ext cx="2779776" cy="1353312"/>
          </a:xfrm>
          <a:prstGeom prst="roundRect">
            <a:avLst>
              <a:gd name="adj" fmla="val 2703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306824" y="3529584"/>
            <a:ext cx="109728" cy="106070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07992" y="3566160"/>
            <a:ext cx="2322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40" dirty="0"/>
          </a:p>
        </p:txBody>
      </p:sp>
      <p:sp>
        <p:nvSpPr>
          <p:cNvPr id="20" name="Text 17"/>
          <p:cNvSpPr/>
          <p:nvPr/>
        </p:nvSpPr>
        <p:spPr>
          <a:xfrm>
            <a:off x="4507992" y="3822192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 aprende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507992" y="4261104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ajusta parámetros con ejemplos</a:t>
            </a:r>
            <a:endParaRPr lang="en-US" sz="960" dirty="0"/>
          </a:p>
        </p:txBody>
      </p:sp>
      <p:sp>
        <p:nvSpPr>
          <p:cNvPr id="22" name="Shape 19"/>
          <p:cNvSpPr/>
          <p:nvPr/>
        </p:nvSpPr>
        <p:spPr>
          <a:xfrm>
            <a:off x="7443216" y="3383280"/>
            <a:ext cx="2779776" cy="1353312"/>
          </a:xfrm>
          <a:prstGeom prst="roundRect">
            <a:avLst>
              <a:gd name="adj" fmla="val 270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552944" y="3529584"/>
            <a:ext cx="109728" cy="10607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54112" y="3566160"/>
            <a:ext cx="2322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40" dirty="0"/>
          </a:p>
        </p:txBody>
      </p:sp>
      <p:sp>
        <p:nvSpPr>
          <p:cNvPr id="25" name="Text 22"/>
          <p:cNvSpPr/>
          <p:nvPr/>
        </p:nvSpPr>
        <p:spPr>
          <a:xfrm>
            <a:off x="7754112" y="3822192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Mejora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754112" y="4261104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la pérdida baja con nuevos intentos</a:t>
            </a:r>
            <a:endParaRPr lang="en-US" sz="960" dirty="0"/>
          </a:p>
        </p:txBody>
      </p:sp>
      <p:sp>
        <p:nvSpPr>
          <p:cNvPr id="27" name="Shape 24"/>
          <p:cNvSpPr/>
          <p:nvPr/>
        </p:nvSpPr>
        <p:spPr>
          <a:xfrm>
            <a:off x="786384" y="541324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87552" y="555040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entrenamiento convierte ejemplos etiquetados en ajustes de pesos y sesgo.</a:t>
            </a:r>
            <a:endParaRPr lang="en-US" sz="136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Ciclo Mínimo De Entrenamiento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idea completa cabe en una secuencia verificable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987552" y="1901952"/>
            <a:ext cx="9729216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97280" y="2048256"/>
            <a:ext cx="109728" cy="4389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80160" y="2029968"/>
            <a:ext cx="9290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Receta mental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1298448" y="2359152"/>
            <a:ext cx="9107424" cy="347472"/>
          </a:xfrm>
          <a:prstGeom prst="roundRect">
            <a:avLst>
              <a:gd name="adj" fmla="val 1052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426464" y="2459736"/>
            <a:ext cx="8851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predicción -&gt; comparación -&gt; pérdida -&gt; ajuste -&gt; nueva predicción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98448" y="2779776"/>
            <a:ext cx="91074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vuelta intenta reducir el error medido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2057400" y="3054096"/>
            <a:ext cx="1078992" cy="1078992"/>
          </a:xfrm>
          <a:prstGeom prst="ellipse">
            <a:avLst/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057400" y="3410712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655064" y="4297680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Predice</a:t>
            </a:r>
            <a:endParaRPr lang="en-US" sz="1160" dirty="0"/>
          </a:p>
        </p:txBody>
      </p:sp>
      <p:sp>
        <p:nvSpPr>
          <p:cNvPr id="19" name="Text 16"/>
          <p:cNvSpPr/>
          <p:nvPr/>
        </p:nvSpPr>
        <p:spPr>
          <a:xfrm>
            <a:off x="1618488" y="4626864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modelo produce ŷ</a:t>
            </a:r>
            <a:endParaRPr lang="en-US" sz="860" dirty="0"/>
          </a:p>
        </p:txBody>
      </p:sp>
      <p:sp>
        <p:nvSpPr>
          <p:cNvPr id="20" name="Shape 17"/>
          <p:cNvSpPr/>
          <p:nvPr/>
        </p:nvSpPr>
        <p:spPr>
          <a:xfrm>
            <a:off x="3191256" y="3584448"/>
            <a:ext cx="1133856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4398264" y="3054096"/>
            <a:ext cx="1078992" cy="1078992"/>
          </a:xfrm>
          <a:prstGeom prst="ellipse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398264" y="3410712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3995928" y="4297680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Compara</a:t>
            </a:r>
            <a:endParaRPr lang="en-US" sz="1160" dirty="0"/>
          </a:p>
        </p:txBody>
      </p:sp>
      <p:sp>
        <p:nvSpPr>
          <p:cNvPr id="24" name="Text 21"/>
          <p:cNvSpPr/>
          <p:nvPr/>
        </p:nvSpPr>
        <p:spPr>
          <a:xfrm>
            <a:off x="3959352" y="4626864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contrasta ŷ con y</a:t>
            </a:r>
            <a:endParaRPr lang="en-US" sz="860" dirty="0"/>
          </a:p>
        </p:txBody>
      </p:sp>
      <p:sp>
        <p:nvSpPr>
          <p:cNvPr id="25" name="Shape 22"/>
          <p:cNvSpPr/>
          <p:nvPr/>
        </p:nvSpPr>
        <p:spPr>
          <a:xfrm>
            <a:off x="5532120" y="3584448"/>
            <a:ext cx="1133856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6739128" y="3054096"/>
            <a:ext cx="1078992" cy="1078992"/>
          </a:xfrm>
          <a:prstGeom prst="ellipse">
            <a:avLst/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739128" y="3410712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6336792" y="4297680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Mide</a:t>
            </a:r>
            <a:endParaRPr lang="en-US" sz="1160" dirty="0"/>
          </a:p>
        </p:txBody>
      </p:sp>
      <p:sp>
        <p:nvSpPr>
          <p:cNvPr id="29" name="Text 26"/>
          <p:cNvSpPr/>
          <p:nvPr/>
        </p:nvSpPr>
        <p:spPr>
          <a:xfrm>
            <a:off x="6300216" y="4626864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 pérdida L</a:t>
            </a:r>
            <a:endParaRPr lang="en-US" sz="860" dirty="0"/>
          </a:p>
        </p:txBody>
      </p:sp>
      <p:sp>
        <p:nvSpPr>
          <p:cNvPr id="30" name="Shape 27"/>
          <p:cNvSpPr/>
          <p:nvPr/>
        </p:nvSpPr>
        <p:spPr>
          <a:xfrm>
            <a:off x="7872984" y="3584448"/>
            <a:ext cx="1133856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9079992" y="3054096"/>
            <a:ext cx="1078992" cy="1078992"/>
          </a:xfrm>
          <a:prstGeom prst="ellipse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079992" y="3410712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260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8677656" y="4297680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Ajusta</a:t>
            </a:r>
            <a:endParaRPr lang="en-US" sz="1160" dirty="0"/>
          </a:p>
        </p:txBody>
      </p:sp>
      <p:sp>
        <p:nvSpPr>
          <p:cNvPr id="34" name="Text 31"/>
          <p:cNvSpPr/>
          <p:nvPr/>
        </p:nvSpPr>
        <p:spPr>
          <a:xfrm>
            <a:off x="8641080" y="4626864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modifica w y b</a:t>
            </a:r>
            <a:endParaRPr lang="en-US" sz="860" dirty="0"/>
          </a:p>
        </p:txBody>
      </p:sp>
      <p:sp>
        <p:nvSpPr>
          <p:cNvPr id="35" name="Shape 32"/>
          <p:cNvSpPr/>
          <p:nvPr/>
        </p:nvSpPr>
        <p:spPr>
          <a:xfrm>
            <a:off x="786384" y="5486400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87552" y="5623560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 una medida de pérdida, el modelo no sabe si va mejor o peor.</a:t>
            </a:r>
            <a:endParaRPr lang="en-US" sz="134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Aprendizaje Supervisado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modelo entrena con ejemplos que tienen respuesta esperada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41248" y="1865376"/>
            <a:ext cx="2852928" cy="3218688"/>
          </a:xfrm>
          <a:prstGeom prst="roundRect">
            <a:avLst>
              <a:gd name="adj" fmla="val 128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0976" y="2011680"/>
            <a:ext cx="109728" cy="292608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88720" y="2139696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Correo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188720" y="281635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188720" y="3054096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características del mensaje</a:t>
            </a:r>
            <a:endParaRPr lang="en-US" sz="980" dirty="0"/>
          </a:p>
        </p:txBody>
      </p:sp>
      <p:sp>
        <p:nvSpPr>
          <p:cNvPr id="15" name="Text 12"/>
          <p:cNvSpPr/>
          <p:nvPr/>
        </p:nvSpPr>
        <p:spPr>
          <a:xfrm>
            <a:off x="1188720" y="404164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etiqueta y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188720" y="4279392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sospechoso / normal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4187952" y="1865376"/>
            <a:ext cx="2852928" cy="3218688"/>
          </a:xfrm>
          <a:prstGeom prst="roundRect">
            <a:avLst>
              <a:gd name="adj" fmla="val 128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297680" y="2011680"/>
            <a:ext cx="109728" cy="292608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35424" y="2139696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Vivienda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535424" y="281635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535424" y="3054096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metros, comuna, habitaciones</a:t>
            </a:r>
            <a:endParaRPr lang="en-US" sz="980" dirty="0"/>
          </a:p>
        </p:txBody>
      </p:sp>
      <p:sp>
        <p:nvSpPr>
          <p:cNvPr id="22" name="Text 19"/>
          <p:cNvSpPr/>
          <p:nvPr/>
        </p:nvSpPr>
        <p:spPr>
          <a:xfrm>
            <a:off x="4535424" y="404164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etiqueta y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535424" y="4279392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precio real</a:t>
            </a:r>
            <a:endParaRPr lang="en-US" sz="1120" dirty="0"/>
          </a:p>
        </p:txBody>
      </p:sp>
      <p:sp>
        <p:nvSpPr>
          <p:cNvPr id="24" name="Shape 21"/>
          <p:cNvSpPr/>
          <p:nvPr/>
        </p:nvSpPr>
        <p:spPr>
          <a:xfrm>
            <a:off x="7534656" y="1865376"/>
            <a:ext cx="2852928" cy="3218688"/>
          </a:xfrm>
          <a:prstGeom prst="roundRect">
            <a:avLst>
              <a:gd name="adj" fmla="val 128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644384" y="2011680"/>
            <a:ext cx="109728" cy="292608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882128" y="2139696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Imagen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882128" y="281635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7882128" y="3054096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pixeles o características visuales</a:t>
            </a:r>
            <a:endParaRPr lang="en-US" sz="980" dirty="0"/>
          </a:p>
        </p:txBody>
      </p:sp>
      <p:sp>
        <p:nvSpPr>
          <p:cNvPr id="29" name="Text 26"/>
          <p:cNvSpPr/>
          <p:nvPr/>
        </p:nvSpPr>
        <p:spPr>
          <a:xfrm>
            <a:off x="7882128" y="404164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etiqueta y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7882128" y="4279392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contiene gato / no contiene</a:t>
            </a:r>
            <a:endParaRPr lang="en-US" sz="1120" dirty="0"/>
          </a:p>
        </p:txBody>
      </p:sp>
      <p:sp>
        <p:nvSpPr>
          <p:cNvPr id="31" name="Shape 28"/>
          <p:cNvSpPr/>
          <p:nvPr/>
        </p:nvSpPr>
        <p:spPr>
          <a:xfrm>
            <a:off x="786384" y="5449824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87552" y="5586984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etiqueta no es decoración: es la referencia contra la que se corrige el modelo.</a:t>
            </a:r>
            <a:endParaRPr lang="en-US" sz="128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Notación Mínima: y Versus ŷ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 símbolos bastan para leer entrenamiento sin cálculo avanzado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77824" y="1828800"/>
            <a:ext cx="4645152" cy="1828800"/>
          </a:xfrm>
          <a:prstGeom prst="roundRect">
            <a:avLst>
              <a:gd name="adj" fmla="val 250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1975104"/>
            <a:ext cx="109728" cy="15361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195681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1188720" y="2286000"/>
            <a:ext cx="4023360" cy="347472"/>
          </a:xfrm>
          <a:prstGeom prst="roundRect">
            <a:avLst>
              <a:gd name="adj" fmla="val 1052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16736" y="2386584"/>
            <a:ext cx="3767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respuesta real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188720" y="270662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correcto según la etiqueta o dato esperado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5742432" y="1828800"/>
            <a:ext cx="4645152" cy="1828800"/>
          </a:xfrm>
          <a:prstGeom prst="roundRect">
            <a:avLst>
              <a:gd name="adj" fmla="val 250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852160" y="1975104"/>
            <a:ext cx="109728" cy="153619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35040" y="195681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ŷ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053328" y="2286000"/>
            <a:ext cx="4023360" cy="347472"/>
          </a:xfrm>
          <a:prstGeom prst="roundRect">
            <a:avLst>
              <a:gd name="adj" fmla="val 1052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81344" y="2386584"/>
            <a:ext cx="3767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ŷ = predicción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053328" y="270662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lee y estimada, y predicha o y sombrero</a:t>
            </a:r>
            <a:endParaRPr lang="en-US" sz="880" dirty="0"/>
          </a:p>
        </p:txBody>
      </p:sp>
      <p:sp>
        <p:nvSpPr>
          <p:cNvPr id="22" name="Shape 19"/>
          <p:cNvSpPr/>
          <p:nvPr/>
        </p:nvSpPr>
        <p:spPr>
          <a:xfrm>
            <a:off x="1499616" y="4096512"/>
            <a:ext cx="8266176" cy="914400"/>
          </a:xfrm>
          <a:prstGeom prst="roundRect">
            <a:avLst>
              <a:gd name="adj" fmla="val 40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609344" y="4242816"/>
            <a:ext cx="109728" cy="62179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828800" y="43159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confundir: ŷ no es y'.</a:t>
            </a:r>
            <a:endParaRPr lang="en-US" sz="1480" dirty="0"/>
          </a:p>
        </p:txBody>
      </p:sp>
      <p:sp>
        <p:nvSpPr>
          <p:cNvPr id="25" name="Text 22"/>
          <p:cNvSpPr/>
          <p:nvPr/>
        </p:nvSpPr>
        <p:spPr>
          <a:xfrm>
            <a:off x="4572000" y="431596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esta clase ŷ significa predicción del modelo; y' se lee y prima y pertenece a otros contextos matemáticos.</a:t>
            </a:r>
            <a:endParaRPr lang="en-US" sz="980" dirty="0"/>
          </a:p>
        </p:txBody>
      </p:sp>
      <p:sp>
        <p:nvSpPr>
          <p:cNvPr id="26" name="Shape 23"/>
          <p:cNvSpPr/>
          <p:nvPr/>
        </p:nvSpPr>
        <p:spPr>
          <a:xfrm>
            <a:off x="786384" y="5449824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87552" y="5586984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Entrenar empieza cuando comparamos lo correcto con lo que el modelo produjo.</a:t>
            </a:r>
            <a:endParaRPr lang="en-US" sz="128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 Simple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primera comparación es una resta con dirección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77824" y="1828800"/>
            <a:ext cx="9509760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1975104"/>
            <a:ext cx="109728" cy="78638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1956816"/>
            <a:ext cx="9070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Fórmula mínima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1188720" y="2286000"/>
            <a:ext cx="8887968" cy="347472"/>
          </a:xfrm>
          <a:prstGeom prst="roundRect">
            <a:avLst>
              <a:gd name="adj" fmla="val 1052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16736" y="2386584"/>
            <a:ext cx="8631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= y - ŷ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188720" y="2706624"/>
            <a:ext cx="88879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positivo: predijo por debajo; negativo: predijo por encima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1078992" y="3127248"/>
            <a:ext cx="9162288" cy="2029968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188720" y="3273552"/>
            <a:ext cx="109728" cy="173736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426464" y="331012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Dos errores con la misma distancia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463040" y="3785616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</a:t>
            </a:r>
            <a:endParaRPr lang="en-US" sz="980" dirty="0"/>
          </a:p>
        </p:txBody>
      </p:sp>
      <p:sp>
        <p:nvSpPr>
          <p:cNvPr id="20" name="Text 17"/>
          <p:cNvSpPr/>
          <p:nvPr/>
        </p:nvSpPr>
        <p:spPr>
          <a:xfrm>
            <a:off x="2231136" y="3785616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ŷ</a:t>
            </a:r>
            <a:endParaRPr lang="en-US" sz="980" dirty="0"/>
          </a:p>
        </p:txBody>
      </p:sp>
      <p:sp>
        <p:nvSpPr>
          <p:cNvPr id="21" name="Text 18"/>
          <p:cNvSpPr/>
          <p:nvPr/>
        </p:nvSpPr>
        <p:spPr>
          <a:xfrm>
            <a:off x="2999232" y="378561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</a:t>
            </a:r>
            <a:endParaRPr lang="en-US" sz="980" dirty="0"/>
          </a:p>
        </p:txBody>
      </p:sp>
      <p:sp>
        <p:nvSpPr>
          <p:cNvPr id="22" name="Text 19"/>
          <p:cNvSpPr/>
          <p:nvPr/>
        </p:nvSpPr>
        <p:spPr>
          <a:xfrm>
            <a:off x="4005072" y="37856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</a:t>
            </a:r>
            <a:endParaRPr lang="en-US" sz="980" dirty="0"/>
          </a:p>
        </p:txBody>
      </p:sp>
      <p:sp>
        <p:nvSpPr>
          <p:cNvPr id="23" name="Text 20"/>
          <p:cNvSpPr/>
          <p:nvPr/>
        </p:nvSpPr>
        <p:spPr>
          <a:xfrm>
            <a:off x="4754880" y="3785616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</a:t>
            </a:r>
            <a:endParaRPr lang="en-US" sz="980" dirty="0"/>
          </a:p>
        </p:txBody>
      </p:sp>
      <p:sp>
        <p:nvSpPr>
          <p:cNvPr id="24" name="Shape 21"/>
          <p:cNvSpPr/>
          <p:nvPr/>
        </p:nvSpPr>
        <p:spPr>
          <a:xfrm>
            <a:off x="1408176" y="4059936"/>
            <a:ext cx="8503920" cy="384048"/>
          </a:xfrm>
          <a:prstGeom prst="roundRect">
            <a:avLst>
              <a:gd name="adj" fmla="val 7143"/>
            </a:avLst>
          </a:prstGeom>
          <a:solidFill>
            <a:srgbClr val="EEF2F6">
              <a:alpha val="82000"/>
            </a:srgbClr>
          </a:solidFill>
          <a:ln w="12700">
            <a:solidFill>
              <a:srgbClr val="EEF2F6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463040" y="4133088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60" dirty="0"/>
          </a:p>
        </p:txBody>
      </p:sp>
      <p:sp>
        <p:nvSpPr>
          <p:cNvPr id="26" name="Text 23"/>
          <p:cNvSpPr/>
          <p:nvPr/>
        </p:nvSpPr>
        <p:spPr>
          <a:xfrm>
            <a:off x="2231136" y="4133088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160" dirty="0"/>
          </a:p>
        </p:txBody>
      </p:sp>
      <p:sp>
        <p:nvSpPr>
          <p:cNvPr id="27" name="Text 24"/>
          <p:cNvSpPr/>
          <p:nvPr/>
        </p:nvSpPr>
        <p:spPr>
          <a:xfrm>
            <a:off x="2999232" y="41330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60" dirty="0"/>
          </a:p>
        </p:txBody>
      </p:sp>
      <p:sp>
        <p:nvSpPr>
          <p:cNvPr id="28" name="Text 25"/>
          <p:cNvSpPr/>
          <p:nvPr/>
        </p:nvSpPr>
        <p:spPr>
          <a:xfrm>
            <a:off x="4005072" y="4133088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1160" dirty="0"/>
          </a:p>
        </p:txBody>
      </p:sp>
      <p:sp>
        <p:nvSpPr>
          <p:cNvPr id="29" name="Text 26"/>
          <p:cNvSpPr/>
          <p:nvPr/>
        </p:nvSpPr>
        <p:spPr>
          <a:xfrm>
            <a:off x="4754880" y="4133088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quedó 3 unidades por debajo</a:t>
            </a:r>
            <a:endParaRPr lang="en-US" sz="1080" dirty="0"/>
          </a:p>
        </p:txBody>
      </p:sp>
      <p:sp>
        <p:nvSpPr>
          <p:cNvPr id="30" name="Shape 27"/>
          <p:cNvSpPr/>
          <p:nvPr/>
        </p:nvSpPr>
        <p:spPr>
          <a:xfrm>
            <a:off x="1408176" y="4590288"/>
            <a:ext cx="850392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463040" y="4663440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60" dirty="0"/>
          </a:p>
        </p:txBody>
      </p:sp>
      <p:sp>
        <p:nvSpPr>
          <p:cNvPr id="32" name="Text 29"/>
          <p:cNvSpPr/>
          <p:nvPr/>
        </p:nvSpPr>
        <p:spPr>
          <a:xfrm>
            <a:off x="2231136" y="4663440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160" dirty="0"/>
          </a:p>
        </p:txBody>
      </p:sp>
      <p:sp>
        <p:nvSpPr>
          <p:cNvPr id="33" name="Text 30"/>
          <p:cNvSpPr/>
          <p:nvPr/>
        </p:nvSpPr>
        <p:spPr>
          <a:xfrm>
            <a:off x="2999232" y="46634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-3</a:t>
            </a:r>
            <a:endParaRPr lang="en-US" sz="1160" dirty="0"/>
          </a:p>
        </p:txBody>
      </p:sp>
      <p:sp>
        <p:nvSpPr>
          <p:cNvPr id="34" name="Text 31"/>
          <p:cNvSpPr/>
          <p:nvPr/>
        </p:nvSpPr>
        <p:spPr>
          <a:xfrm>
            <a:off x="4005072" y="4663440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1160" dirty="0"/>
          </a:p>
        </p:txBody>
      </p:sp>
      <p:sp>
        <p:nvSpPr>
          <p:cNvPr id="35" name="Text 32"/>
          <p:cNvSpPr/>
          <p:nvPr/>
        </p:nvSpPr>
        <p:spPr>
          <a:xfrm>
            <a:off x="4754880" y="4663440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quedó 3 unidades por encima</a:t>
            </a:r>
            <a:endParaRPr lang="en-US" sz="1080" dirty="0"/>
          </a:p>
        </p:txBody>
      </p:sp>
      <p:sp>
        <p:nvSpPr>
          <p:cNvPr id="36" name="Shape 33"/>
          <p:cNvSpPr/>
          <p:nvPr/>
        </p:nvSpPr>
        <p:spPr>
          <a:xfrm>
            <a:off x="786384" y="5486400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87552" y="5623560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signo ayuda a corregir dirección, pero todavía no mide bien el daño total.</a:t>
            </a:r>
            <a:endParaRPr lang="en-US" sz="128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Problema De La Cancelación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Errores opuestos pueden esconder que el modelo falló dos veces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1078992" y="1901952"/>
            <a:ext cx="9217152" cy="859536"/>
          </a:xfrm>
          <a:prstGeom prst="roundRect">
            <a:avLst>
              <a:gd name="adj" fmla="val 425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80160" y="2066544"/>
            <a:ext cx="8814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 + (-3) = 0, pero no significa que no hubo error.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950976" y="3273552"/>
            <a:ext cx="2743200" cy="1517904"/>
          </a:xfrm>
          <a:prstGeom prst="roundRect">
            <a:avLst>
              <a:gd name="adj" fmla="val 241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60704" y="3419856"/>
            <a:ext cx="109728" cy="122529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80160" y="3547872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+3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2066544" y="3566160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 A</a:t>
            </a:r>
            <a:endParaRPr lang="en-US" sz="1260" dirty="0"/>
          </a:p>
        </p:txBody>
      </p:sp>
      <p:sp>
        <p:nvSpPr>
          <p:cNvPr id="16" name="Text 13"/>
          <p:cNvSpPr/>
          <p:nvPr/>
        </p:nvSpPr>
        <p:spPr>
          <a:xfrm>
            <a:off x="1280160" y="4187952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predicción quedó 3 abajo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4169664" y="3273552"/>
            <a:ext cx="2743200" cy="1517904"/>
          </a:xfrm>
          <a:prstGeom prst="roundRect">
            <a:avLst>
              <a:gd name="adj" fmla="val 241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279392" y="3419856"/>
            <a:ext cx="109728" cy="12252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498848" y="3547872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-3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5285232" y="3566160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 B</a:t>
            </a:r>
            <a:endParaRPr lang="en-US" sz="1260" dirty="0"/>
          </a:p>
        </p:txBody>
      </p:sp>
      <p:sp>
        <p:nvSpPr>
          <p:cNvPr id="21" name="Text 18"/>
          <p:cNvSpPr/>
          <p:nvPr/>
        </p:nvSpPr>
        <p:spPr>
          <a:xfrm>
            <a:off x="4498848" y="4187952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predicción quedó 3 arriba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7388352" y="3273552"/>
            <a:ext cx="2743200" cy="1517904"/>
          </a:xfrm>
          <a:prstGeom prst="roundRect">
            <a:avLst>
              <a:gd name="adj" fmla="val 241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498080" y="3419856"/>
            <a:ext cx="109728" cy="12252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17536" y="3547872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8503920" y="3566160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Suma bruta</a:t>
            </a:r>
            <a:endParaRPr lang="en-US" sz="1260" dirty="0"/>
          </a:p>
        </p:txBody>
      </p:sp>
      <p:sp>
        <p:nvSpPr>
          <p:cNvPr id="26" name="Text 23"/>
          <p:cNvSpPr/>
          <p:nvPr/>
        </p:nvSpPr>
        <p:spPr>
          <a:xfrm>
            <a:off x="7717536" y="4187952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parece cero, pero engaña</a:t>
            </a:r>
            <a:endParaRPr lang="en-US" sz="940" dirty="0"/>
          </a:p>
        </p:txBody>
      </p:sp>
      <p:sp>
        <p:nvSpPr>
          <p:cNvPr id="27" name="Shape 24"/>
          <p:cNvSpPr/>
          <p:nvPr/>
        </p:nvSpPr>
        <p:spPr>
          <a:xfrm>
            <a:off x="786384" y="5449824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87552" y="5586984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 eso la pérdida transforma el error antes de usarlo para entrenar.</a:t>
            </a:r>
            <a:endParaRPr lang="en-US" sz="134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Función De Pérdida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solo pregunta si falló; mide qué tan mal estuvo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77824" y="1847088"/>
            <a:ext cx="4681728" cy="2359152"/>
          </a:xfrm>
          <a:prstGeom prst="roundRect">
            <a:avLst>
              <a:gd name="adj" fmla="val 193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1993392"/>
            <a:ext cx="109728" cy="20665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1975104"/>
            <a:ext cx="4242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Pérdida cuadrática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1133856" y="2377440"/>
            <a:ext cx="4169664" cy="384048"/>
          </a:xfrm>
          <a:prstGeom prst="roundRect">
            <a:avLst>
              <a:gd name="adj" fmla="val 952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61872" y="2514600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(y - ŷ)^2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133856" y="2834640"/>
            <a:ext cx="4169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convierte la diferencia en una medida positiva del error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1133856" y="3858768"/>
            <a:ext cx="1328928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07008" y="3909060"/>
            <a:ext cx="1182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2554224" y="3858768"/>
            <a:ext cx="1328928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627376" y="3909060"/>
            <a:ext cx="1182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3974592" y="3858768"/>
            <a:ext cx="1328928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047744" y="3909060"/>
            <a:ext cx="1182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ŷ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6016752" y="1810512"/>
            <a:ext cx="4206240" cy="1005840"/>
          </a:xfrm>
          <a:prstGeom prst="roundRect">
            <a:avLst>
              <a:gd name="adj" fmla="val 363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126480" y="1956816"/>
            <a:ext cx="109728" cy="71323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27648" y="1993392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EFECTO 01</a:t>
            </a:r>
            <a:endParaRPr lang="en-US" sz="840" dirty="0"/>
          </a:p>
        </p:txBody>
      </p:sp>
      <p:sp>
        <p:nvSpPr>
          <p:cNvPr id="25" name="Text 22"/>
          <p:cNvSpPr/>
          <p:nvPr/>
        </p:nvSpPr>
        <p:spPr>
          <a:xfrm>
            <a:off x="6327648" y="2249424"/>
            <a:ext cx="3730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Evita cancelación</a:t>
            </a:r>
            <a:endParaRPr lang="en-US" sz="1220" dirty="0"/>
          </a:p>
        </p:txBody>
      </p:sp>
      <p:sp>
        <p:nvSpPr>
          <p:cNvPr id="26" name="Text 23"/>
          <p:cNvSpPr/>
          <p:nvPr/>
        </p:nvSpPr>
        <p:spPr>
          <a:xfrm>
            <a:off x="6327648" y="2523744"/>
            <a:ext cx="3730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error negativo también se vuelve positivo</a:t>
            </a:r>
            <a:endParaRPr lang="en-US" sz="940" dirty="0"/>
          </a:p>
        </p:txBody>
      </p:sp>
      <p:sp>
        <p:nvSpPr>
          <p:cNvPr id="27" name="Shape 24"/>
          <p:cNvSpPr/>
          <p:nvPr/>
        </p:nvSpPr>
        <p:spPr>
          <a:xfrm>
            <a:off x="6016752" y="3035808"/>
            <a:ext cx="4206240" cy="1005840"/>
          </a:xfrm>
          <a:prstGeom prst="roundRect">
            <a:avLst>
              <a:gd name="adj" fmla="val 3636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126480" y="3182112"/>
            <a:ext cx="109728" cy="71323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327648" y="3218688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EFECTO 02</a:t>
            </a:r>
            <a:endParaRPr lang="en-US" sz="840" dirty="0"/>
          </a:p>
        </p:txBody>
      </p:sp>
      <p:sp>
        <p:nvSpPr>
          <p:cNvPr id="30" name="Text 27"/>
          <p:cNvSpPr/>
          <p:nvPr/>
        </p:nvSpPr>
        <p:spPr>
          <a:xfrm>
            <a:off x="6327648" y="3474720"/>
            <a:ext cx="3730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Castiga errores grandes</a:t>
            </a:r>
            <a:endParaRPr lang="en-US" sz="1220" dirty="0"/>
          </a:p>
        </p:txBody>
      </p:sp>
      <p:sp>
        <p:nvSpPr>
          <p:cNvPr id="31" name="Text 28"/>
          <p:cNvSpPr/>
          <p:nvPr/>
        </p:nvSpPr>
        <p:spPr>
          <a:xfrm>
            <a:off x="6327648" y="3749040"/>
            <a:ext cx="3730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fallar por 8 duele más que fallar por 1</a:t>
            </a:r>
            <a:endParaRPr lang="en-US" sz="940" dirty="0"/>
          </a:p>
        </p:txBody>
      </p:sp>
      <p:sp>
        <p:nvSpPr>
          <p:cNvPr id="32" name="Shape 29"/>
          <p:cNvSpPr/>
          <p:nvPr/>
        </p:nvSpPr>
        <p:spPr>
          <a:xfrm>
            <a:off x="6016752" y="4261104"/>
            <a:ext cx="4206240" cy="1005840"/>
          </a:xfrm>
          <a:prstGeom prst="roundRect">
            <a:avLst>
              <a:gd name="adj" fmla="val 3636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126480" y="4407408"/>
            <a:ext cx="109728" cy="71323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327648" y="4443984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EFECTO 03</a:t>
            </a:r>
            <a:endParaRPr lang="en-US" sz="840" dirty="0"/>
          </a:p>
        </p:txBody>
      </p:sp>
      <p:sp>
        <p:nvSpPr>
          <p:cNvPr id="35" name="Text 32"/>
          <p:cNvSpPr/>
          <p:nvPr/>
        </p:nvSpPr>
        <p:spPr>
          <a:xfrm>
            <a:off x="6327648" y="4700016"/>
            <a:ext cx="3730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 una señal</a:t>
            </a:r>
            <a:endParaRPr lang="en-US" sz="1220" dirty="0"/>
          </a:p>
        </p:txBody>
      </p:sp>
      <p:sp>
        <p:nvSpPr>
          <p:cNvPr id="36" name="Text 33"/>
          <p:cNvSpPr/>
          <p:nvPr/>
        </p:nvSpPr>
        <p:spPr>
          <a:xfrm>
            <a:off x="6327648" y="4974336"/>
            <a:ext cx="3730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comparar si un ajuste mejoró o empeoró</a:t>
            </a:r>
            <a:endParaRPr lang="en-US" sz="940" dirty="0"/>
          </a:p>
        </p:txBody>
      </p:sp>
      <p:sp>
        <p:nvSpPr>
          <p:cNvPr id="37" name="Shape 34"/>
          <p:cNvSpPr/>
          <p:nvPr/>
        </p:nvSpPr>
        <p:spPr>
          <a:xfrm>
            <a:off x="786384" y="5431536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87552" y="5568696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pérdida convierte el error en una brújula para entrenar.</a:t>
            </a:r>
            <a:endParaRPr lang="en-US" sz="132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Pérdida Se Lee Comparando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predicciones muestran por qué la distancia importa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22960" y="1828800"/>
            <a:ext cx="9948672" cy="3090672"/>
          </a:xfrm>
          <a:prstGeom prst="roundRect">
            <a:avLst>
              <a:gd name="adj" fmla="val 118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1975104"/>
            <a:ext cx="109728" cy="27980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2011680"/>
            <a:ext cx="9290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Mismo valor real: y = 10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207008" y="2487168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</a:t>
            </a:r>
            <a:endParaRPr lang="en-US" sz="980" dirty="0"/>
          </a:p>
        </p:txBody>
      </p:sp>
      <p:sp>
        <p:nvSpPr>
          <p:cNvPr id="14" name="Text 11"/>
          <p:cNvSpPr/>
          <p:nvPr/>
        </p:nvSpPr>
        <p:spPr>
          <a:xfrm>
            <a:off x="1975104" y="2487168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ŷ</a:t>
            </a:r>
            <a:endParaRPr lang="en-US" sz="980" dirty="0"/>
          </a:p>
        </p:txBody>
      </p:sp>
      <p:sp>
        <p:nvSpPr>
          <p:cNvPr id="15" name="Text 12"/>
          <p:cNvSpPr/>
          <p:nvPr/>
        </p:nvSpPr>
        <p:spPr>
          <a:xfrm>
            <a:off x="2743200" y="248716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</a:t>
            </a:r>
            <a:endParaRPr lang="en-US" sz="980" dirty="0"/>
          </a:p>
        </p:txBody>
      </p:sp>
      <p:sp>
        <p:nvSpPr>
          <p:cNvPr id="16" name="Text 13"/>
          <p:cNvSpPr/>
          <p:nvPr/>
        </p:nvSpPr>
        <p:spPr>
          <a:xfrm>
            <a:off x="3749040" y="248716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</a:t>
            </a:r>
            <a:endParaRPr lang="en-US" sz="980" dirty="0"/>
          </a:p>
        </p:txBody>
      </p:sp>
      <p:sp>
        <p:nvSpPr>
          <p:cNvPr id="17" name="Text 14"/>
          <p:cNvSpPr/>
          <p:nvPr/>
        </p:nvSpPr>
        <p:spPr>
          <a:xfrm>
            <a:off x="4498848" y="2487168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</a:t>
            </a:r>
            <a:endParaRPr lang="en-US" sz="980" dirty="0"/>
          </a:p>
        </p:txBody>
      </p:sp>
      <p:sp>
        <p:nvSpPr>
          <p:cNvPr id="18" name="Shape 15"/>
          <p:cNvSpPr/>
          <p:nvPr/>
        </p:nvSpPr>
        <p:spPr>
          <a:xfrm>
            <a:off x="1152144" y="2761488"/>
            <a:ext cx="9290304" cy="384048"/>
          </a:xfrm>
          <a:prstGeom prst="roundRect">
            <a:avLst>
              <a:gd name="adj" fmla="val 7143"/>
            </a:avLst>
          </a:prstGeom>
          <a:solidFill>
            <a:srgbClr val="EEF2F6">
              <a:alpha val="82000"/>
            </a:srgbClr>
          </a:solidFill>
          <a:ln w="12700">
            <a:solidFill>
              <a:srgbClr val="EEF2F6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07008" y="2834640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975104" y="2834640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2743200" y="28346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749040" y="2834640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498848" y="2834640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grande; pérdida muy alta</a:t>
            </a:r>
            <a:endParaRPr lang="en-US" sz="1080" dirty="0"/>
          </a:p>
        </p:txBody>
      </p:sp>
      <p:sp>
        <p:nvSpPr>
          <p:cNvPr id="24" name="Shape 21"/>
          <p:cNvSpPr/>
          <p:nvPr/>
        </p:nvSpPr>
        <p:spPr>
          <a:xfrm>
            <a:off x="1152144" y="3328416"/>
            <a:ext cx="9290304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207008" y="3401568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975104" y="3401568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2743200" y="340156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3749040" y="3401568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498848" y="3401568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intermedio; todavía duele</a:t>
            </a:r>
            <a:endParaRPr lang="en-US" sz="1080" dirty="0"/>
          </a:p>
        </p:txBody>
      </p:sp>
      <p:sp>
        <p:nvSpPr>
          <p:cNvPr id="30" name="Shape 27"/>
          <p:cNvSpPr/>
          <p:nvPr/>
        </p:nvSpPr>
        <p:spPr>
          <a:xfrm>
            <a:off x="1152144" y="3895344"/>
            <a:ext cx="9290304" cy="384048"/>
          </a:xfrm>
          <a:prstGeom prst="roundRect">
            <a:avLst>
              <a:gd name="adj" fmla="val 7143"/>
            </a:avLst>
          </a:prstGeom>
          <a:solidFill>
            <a:srgbClr val="EEF2F6">
              <a:alpha val="82000"/>
            </a:srgbClr>
          </a:solidFill>
          <a:ln w="12700">
            <a:solidFill>
              <a:srgbClr val="EEF2F6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207008" y="3968496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1975104" y="3968496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2743200" y="396849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3749040" y="396849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4498848" y="3968496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predicción cercana; pérdida baja</a:t>
            </a:r>
            <a:endParaRPr lang="en-US" sz="1080" dirty="0"/>
          </a:p>
        </p:txBody>
      </p:sp>
      <p:sp>
        <p:nvSpPr>
          <p:cNvPr id="36" name="Shape 33"/>
          <p:cNvSpPr/>
          <p:nvPr/>
        </p:nvSpPr>
        <p:spPr>
          <a:xfrm>
            <a:off x="786384" y="541324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87552" y="555040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Según esta pérdida, la mejor predicción no es la más bonita: es la de menor L.</a:t>
            </a:r>
            <a:endParaRPr lang="en-US" sz="132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Basta Con Acertó O Falló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Muchos modelos producen puntajes antes de tomar una decisión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96112" y="2084832"/>
            <a:ext cx="2779776" cy="2414016"/>
          </a:xfrm>
          <a:prstGeom prst="roundRect">
            <a:avLst>
              <a:gd name="adj" fmla="val 151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5840" y="2231136"/>
            <a:ext cx="109728" cy="21214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80160" y="2542032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ŷ = 0.92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280160" y="3291840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alta confianza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1280160" y="37673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y = 1, está muy cerca</a:t>
            </a:r>
            <a:endParaRPr lang="en-US" sz="940" dirty="0"/>
          </a:p>
        </p:txBody>
      </p:sp>
      <p:sp>
        <p:nvSpPr>
          <p:cNvPr id="15" name="Shape 12"/>
          <p:cNvSpPr/>
          <p:nvPr/>
        </p:nvSpPr>
        <p:spPr>
          <a:xfrm>
            <a:off x="4169664" y="2084832"/>
            <a:ext cx="2779776" cy="2414016"/>
          </a:xfrm>
          <a:prstGeom prst="roundRect">
            <a:avLst>
              <a:gd name="adj" fmla="val 151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79392" y="2231136"/>
            <a:ext cx="109728" cy="21214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53712" y="2542032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ŷ = 0.51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4553712" y="3291840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apenas pasa</a:t>
            </a:r>
            <a:endParaRPr lang="en-US" sz="1320" dirty="0"/>
          </a:p>
        </p:txBody>
      </p:sp>
      <p:sp>
        <p:nvSpPr>
          <p:cNvPr id="19" name="Text 16"/>
          <p:cNvSpPr/>
          <p:nvPr/>
        </p:nvSpPr>
        <p:spPr>
          <a:xfrm>
            <a:off x="4553712" y="37673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clasifica 1, pero con margen mínimo</a:t>
            </a:r>
            <a:endParaRPr lang="en-US" sz="940" dirty="0"/>
          </a:p>
        </p:txBody>
      </p:sp>
      <p:sp>
        <p:nvSpPr>
          <p:cNvPr id="20" name="Shape 17"/>
          <p:cNvSpPr/>
          <p:nvPr/>
        </p:nvSpPr>
        <p:spPr>
          <a:xfrm>
            <a:off x="7443216" y="2084832"/>
            <a:ext cx="2779776" cy="2414016"/>
          </a:xfrm>
          <a:prstGeom prst="roundRect">
            <a:avLst>
              <a:gd name="adj" fmla="val 151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552944" y="2231136"/>
            <a:ext cx="109728" cy="21214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827264" y="2542032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ŷ = 0.10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7827264" y="3291840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lejos de 1</a:t>
            </a:r>
            <a:endParaRPr lang="en-US" sz="1320" dirty="0"/>
          </a:p>
        </p:txBody>
      </p:sp>
      <p:sp>
        <p:nvSpPr>
          <p:cNvPr id="24" name="Text 21"/>
          <p:cNvSpPr/>
          <p:nvPr/>
        </p:nvSpPr>
        <p:spPr>
          <a:xfrm>
            <a:off x="7827264" y="37673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y = 1, el error es fuerte</a:t>
            </a:r>
            <a:endParaRPr lang="en-US" sz="940" dirty="0"/>
          </a:p>
        </p:txBody>
      </p:sp>
      <p:sp>
        <p:nvSpPr>
          <p:cNvPr id="25" name="Shape 22"/>
          <p:cNvSpPr/>
          <p:nvPr/>
        </p:nvSpPr>
        <p:spPr>
          <a:xfrm>
            <a:off x="2194560" y="4828032"/>
            <a:ext cx="6876288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304288" y="4974336"/>
            <a:ext cx="109728" cy="45720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487168" y="4956048"/>
            <a:ext cx="6437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Umbral puede decidir, pero pérdida mide distancia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2505456" y="5285232"/>
            <a:ext cx="6254496" cy="347472"/>
          </a:xfrm>
          <a:prstGeom prst="roundRect">
            <a:avLst>
              <a:gd name="adj" fmla="val 1052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633472" y="5385816"/>
            <a:ext cx="5998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umbral 0.5 != calidad de predicción</a:t>
            </a:r>
            <a:endParaRPr lang="en-US" sz="1320" dirty="0"/>
          </a:p>
        </p:txBody>
      </p:sp>
      <p:sp>
        <p:nvSpPr>
          <p:cNvPr id="30" name="Text 27"/>
          <p:cNvSpPr/>
          <p:nvPr/>
        </p:nvSpPr>
        <p:spPr>
          <a:xfrm>
            <a:off x="2505456" y="5705856"/>
            <a:ext cx="62544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 aciertos pueden tener niveles de confianza muy distintos</a:t>
            </a:r>
            <a:endParaRPr lang="en-US" sz="88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 Ejemplo Completo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mejora se ve cuando baja la pérdida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77824" y="1847088"/>
            <a:ext cx="4224528" cy="3090672"/>
          </a:xfrm>
          <a:prstGeom prst="roundRect">
            <a:avLst>
              <a:gd name="adj" fmla="val 118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1993392"/>
            <a:ext cx="109728" cy="27980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07008" y="21031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Intento 1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225296" y="2770632"/>
            <a:ext cx="73152" cy="73152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408176" y="2706624"/>
            <a:ext cx="3328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30 min</a:t>
            </a:r>
            <a:endParaRPr lang="en-US" sz="1380" dirty="0"/>
          </a:p>
        </p:txBody>
      </p:sp>
      <p:sp>
        <p:nvSpPr>
          <p:cNvPr id="15" name="Shape 12"/>
          <p:cNvSpPr/>
          <p:nvPr/>
        </p:nvSpPr>
        <p:spPr>
          <a:xfrm>
            <a:off x="1225296" y="3154680"/>
            <a:ext cx="73152" cy="73152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408176" y="3090672"/>
            <a:ext cx="3328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ŷ = 24 min</a:t>
            </a:r>
            <a:endParaRPr lang="en-US" sz="1380" dirty="0"/>
          </a:p>
        </p:txBody>
      </p:sp>
      <p:sp>
        <p:nvSpPr>
          <p:cNvPr id="17" name="Shape 14"/>
          <p:cNvSpPr/>
          <p:nvPr/>
        </p:nvSpPr>
        <p:spPr>
          <a:xfrm>
            <a:off x="1225296" y="3538728"/>
            <a:ext cx="73152" cy="73152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408176" y="3474720"/>
            <a:ext cx="3328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= 30 - 24 = 6</a:t>
            </a:r>
            <a:endParaRPr lang="en-US" sz="1380" dirty="0"/>
          </a:p>
        </p:txBody>
      </p:sp>
      <p:sp>
        <p:nvSpPr>
          <p:cNvPr id="19" name="Shape 16"/>
          <p:cNvSpPr/>
          <p:nvPr/>
        </p:nvSpPr>
        <p:spPr>
          <a:xfrm>
            <a:off x="1225296" y="3922776"/>
            <a:ext cx="73152" cy="73152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408176" y="3858768"/>
            <a:ext cx="3328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6² = 36</a:t>
            </a:r>
            <a:endParaRPr lang="en-US" sz="1380" dirty="0"/>
          </a:p>
        </p:txBody>
      </p:sp>
      <p:sp>
        <p:nvSpPr>
          <p:cNvPr id="21" name="Shape 18"/>
          <p:cNvSpPr/>
          <p:nvPr/>
        </p:nvSpPr>
        <p:spPr>
          <a:xfrm>
            <a:off x="5669280" y="1847088"/>
            <a:ext cx="4224528" cy="3090672"/>
          </a:xfrm>
          <a:prstGeom prst="roundRect">
            <a:avLst>
              <a:gd name="adj" fmla="val 118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779008" y="1993392"/>
            <a:ext cx="109728" cy="27980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98464" y="2103120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Después de ajustar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016752" y="2770632"/>
            <a:ext cx="73152" cy="7315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199632" y="2706624"/>
            <a:ext cx="3328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30 min</a:t>
            </a:r>
            <a:endParaRPr lang="en-US" sz="1380" dirty="0"/>
          </a:p>
        </p:txBody>
      </p:sp>
      <p:sp>
        <p:nvSpPr>
          <p:cNvPr id="26" name="Shape 23"/>
          <p:cNvSpPr/>
          <p:nvPr/>
        </p:nvSpPr>
        <p:spPr>
          <a:xfrm>
            <a:off x="6016752" y="3154680"/>
            <a:ext cx="73152" cy="7315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99632" y="3090672"/>
            <a:ext cx="3328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ŷ = 28 min</a:t>
            </a:r>
            <a:endParaRPr lang="en-US" sz="1380" dirty="0"/>
          </a:p>
        </p:txBody>
      </p:sp>
      <p:sp>
        <p:nvSpPr>
          <p:cNvPr id="28" name="Shape 25"/>
          <p:cNvSpPr/>
          <p:nvPr/>
        </p:nvSpPr>
        <p:spPr>
          <a:xfrm>
            <a:off x="6016752" y="3538728"/>
            <a:ext cx="73152" cy="7315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99632" y="3474720"/>
            <a:ext cx="3328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= 30 - 28 = 2</a:t>
            </a:r>
            <a:endParaRPr lang="en-US" sz="1380" dirty="0"/>
          </a:p>
        </p:txBody>
      </p:sp>
      <p:sp>
        <p:nvSpPr>
          <p:cNvPr id="30" name="Shape 27"/>
          <p:cNvSpPr/>
          <p:nvPr/>
        </p:nvSpPr>
        <p:spPr>
          <a:xfrm>
            <a:off x="6016752" y="3922776"/>
            <a:ext cx="73152" cy="7315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99632" y="3858768"/>
            <a:ext cx="3328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2² = 4</a:t>
            </a:r>
            <a:endParaRPr lang="en-US" sz="1380" dirty="0"/>
          </a:p>
        </p:txBody>
      </p:sp>
      <p:sp>
        <p:nvSpPr>
          <p:cNvPr id="32" name="Shape 29"/>
          <p:cNvSpPr/>
          <p:nvPr/>
        </p:nvSpPr>
        <p:spPr>
          <a:xfrm>
            <a:off x="5230368" y="3383280"/>
            <a:ext cx="310896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786384" y="5431536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87552" y="5568696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pérdida bajó de 36 a 4: para ese ejemplo, el ajuste fue mejor.</a:t>
            </a:r>
            <a:endParaRPr lang="en-US" sz="134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Se Ajusta Realmente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entradas no cambian; cambian pesos y sesgo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77824" y="1865376"/>
            <a:ext cx="4443984" cy="1298448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2011680"/>
            <a:ext cx="109728" cy="1005840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1993392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Antes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1188720" y="2322576"/>
            <a:ext cx="3822192" cy="347472"/>
          </a:xfrm>
          <a:prstGeom prst="roundRect">
            <a:avLst>
              <a:gd name="adj" fmla="val 1052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16736" y="24231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3*x1 + 2*x2 + 1*x3 - 3</a:t>
            </a:r>
            <a:endParaRPr lang="en-US" sz="1240" dirty="0"/>
          </a:p>
        </p:txBody>
      </p:sp>
      <p:sp>
        <p:nvSpPr>
          <p:cNvPr id="15" name="Text 12"/>
          <p:cNvSpPr/>
          <p:nvPr/>
        </p:nvSpPr>
        <p:spPr>
          <a:xfrm>
            <a:off x="1188720" y="2743200"/>
            <a:ext cx="3822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configuración inicial de parámetros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5559552" y="1865376"/>
            <a:ext cx="4443984" cy="1298448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669280" y="2011680"/>
            <a:ext cx="109728" cy="10058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52160" y="1993392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Después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870448" y="2322576"/>
            <a:ext cx="3822192" cy="347472"/>
          </a:xfrm>
          <a:prstGeom prst="roundRect">
            <a:avLst>
              <a:gd name="adj" fmla="val 1052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98464" y="24231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4*x1 + 1*x2 + 2*x3 - 2</a:t>
            </a:r>
            <a:endParaRPr lang="en-US" sz="1240" dirty="0"/>
          </a:p>
        </p:txBody>
      </p:sp>
      <p:sp>
        <p:nvSpPr>
          <p:cNvPr id="21" name="Text 18"/>
          <p:cNvSpPr/>
          <p:nvPr/>
        </p:nvSpPr>
        <p:spPr>
          <a:xfrm>
            <a:off x="5870448" y="2743200"/>
            <a:ext cx="3822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misma estructura, parámetros distintos</a:t>
            </a:r>
            <a:endParaRPr lang="en-US" sz="880" dirty="0"/>
          </a:p>
        </p:txBody>
      </p:sp>
      <p:sp>
        <p:nvSpPr>
          <p:cNvPr id="22" name="Shape 19"/>
          <p:cNvSpPr/>
          <p:nvPr/>
        </p:nvSpPr>
        <p:spPr>
          <a:xfrm>
            <a:off x="5321808" y="2505456"/>
            <a:ext cx="219456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932688" y="3767328"/>
            <a:ext cx="2743200" cy="1097280"/>
          </a:xfrm>
          <a:prstGeom prst="roundRect">
            <a:avLst>
              <a:gd name="adj" fmla="val 333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042416" y="3913632"/>
            <a:ext cx="109728" cy="80467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243584" y="3950208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AJUSTE</a:t>
            </a:r>
            <a:endParaRPr lang="en-US" sz="840" dirty="0"/>
          </a:p>
        </p:txBody>
      </p:sp>
      <p:sp>
        <p:nvSpPr>
          <p:cNvPr id="26" name="Text 23"/>
          <p:cNvSpPr/>
          <p:nvPr/>
        </p:nvSpPr>
        <p:spPr>
          <a:xfrm>
            <a:off x="1243584" y="4206240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Señal útil</a:t>
            </a:r>
            <a:endParaRPr lang="en-US" sz="1240" dirty="0"/>
          </a:p>
        </p:txBody>
      </p:sp>
      <p:sp>
        <p:nvSpPr>
          <p:cNvPr id="27" name="Text 24"/>
          <p:cNvSpPr/>
          <p:nvPr/>
        </p:nvSpPr>
        <p:spPr>
          <a:xfrm>
            <a:off x="1243584" y="4645152"/>
            <a:ext cx="22677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 peso puede subir</a:t>
            </a:r>
            <a:endParaRPr lang="en-US" sz="880" dirty="0"/>
          </a:p>
        </p:txBody>
      </p:sp>
      <p:sp>
        <p:nvSpPr>
          <p:cNvPr id="28" name="Shape 25"/>
          <p:cNvSpPr/>
          <p:nvPr/>
        </p:nvSpPr>
        <p:spPr>
          <a:xfrm>
            <a:off x="4169664" y="3767328"/>
            <a:ext cx="2743200" cy="1097280"/>
          </a:xfrm>
          <a:prstGeom prst="roundRect">
            <a:avLst>
              <a:gd name="adj" fmla="val 3333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279392" y="3913632"/>
            <a:ext cx="109728" cy="80467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480560" y="3950208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AJUSTE</a:t>
            </a:r>
            <a:endParaRPr lang="en-US" sz="840" dirty="0"/>
          </a:p>
        </p:txBody>
      </p:sp>
      <p:sp>
        <p:nvSpPr>
          <p:cNvPr id="31" name="Text 28"/>
          <p:cNvSpPr/>
          <p:nvPr/>
        </p:nvSpPr>
        <p:spPr>
          <a:xfrm>
            <a:off x="4480560" y="4206240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Señal confusa</a:t>
            </a:r>
            <a:endParaRPr lang="en-US" sz="1240" dirty="0"/>
          </a:p>
        </p:txBody>
      </p:sp>
      <p:sp>
        <p:nvSpPr>
          <p:cNvPr id="32" name="Text 29"/>
          <p:cNvSpPr/>
          <p:nvPr/>
        </p:nvSpPr>
        <p:spPr>
          <a:xfrm>
            <a:off x="4480560" y="4645152"/>
            <a:ext cx="22677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 peso puede bajar</a:t>
            </a:r>
            <a:endParaRPr lang="en-US" sz="880" dirty="0"/>
          </a:p>
        </p:txBody>
      </p:sp>
      <p:sp>
        <p:nvSpPr>
          <p:cNvPr id="33" name="Shape 30"/>
          <p:cNvSpPr/>
          <p:nvPr/>
        </p:nvSpPr>
        <p:spPr>
          <a:xfrm>
            <a:off x="7406640" y="3767328"/>
            <a:ext cx="2743200" cy="1097280"/>
          </a:xfrm>
          <a:prstGeom prst="roundRect">
            <a:avLst>
              <a:gd name="adj" fmla="val 333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516368" y="3913632"/>
            <a:ext cx="109728" cy="80467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717536" y="3950208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AJUSTE</a:t>
            </a:r>
            <a:endParaRPr lang="en-US" sz="840" dirty="0"/>
          </a:p>
        </p:txBody>
      </p:sp>
      <p:sp>
        <p:nvSpPr>
          <p:cNvPr id="36" name="Text 33"/>
          <p:cNvSpPr/>
          <p:nvPr/>
        </p:nvSpPr>
        <p:spPr>
          <a:xfrm>
            <a:off x="7717536" y="4206240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Activación dura/blanda</a:t>
            </a:r>
            <a:endParaRPr lang="en-US" sz="1240" dirty="0"/>
          </a:p>
        </p:txBody>
      </p:sp>
      <p:sp>
        <p:nvSpPr>
          <p:cNvPr id="37" name="Text 34"/>
          <p:cNvSpPr/>
          <p:nvPr/>
        </p:nvSpPr>
        <p:spPr>
          <a:xfrm>
            <a:off x="7717536" y="4645152"/>
            <a:ext cx="22677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sesgo puede moverse</a:t>
            </a:r>
            <a:endParaRPr lang="en-US" sz="880" dirty="0"/>
          </a:p>
        </p:txBody>
      </p:sp>
      <p:sp>
        <p:nvSpPr>
          <p:cNvPr id="38" name="Shape 35"/>
          <p:cNvSpPr/>
          <p:nvPr/>
        </p:nvSpPr>
        <p:spPr>
          <a:xfrm>
            <a:off x="786384" y="5431536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87552" y="5568696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Entrenar no cambia la fórmula general: cambia los valores internos que la fórmula usa.</a:t>
            </a:r>
            <a:endParaRPr lang="en-US" sz="126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Intuición Del Descenso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veremos derivadas; sí veremos la idea que las hace necesarias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77824" y="1828800"/>
            <a:ext cx="5742432" cy="3401568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1975104"/>
            <a:ext cx="109728" cy="310896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25296" y="20848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Pérdida como altura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1444752" y="3099816"/>
            <a:ext cx="4443984" cy="0"/>
          </a:xfrm>
          <a:prstGeom prst="line">
            <a:avLst/>
          </a:prstGeom>
          <a:noFill/>
          <a:ln w="12700">
            <a:solidFill>
              <a:srgbClr val="EEF2F6">
                <a:alpha val="82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444752" y="3621024"/>
            <a:ext cx="4443984" cy="0"/>
          </a:xfrm>
          <a:prstGeom prst="line">
            <a:avLst/>
          </a:prstGeom>
          <a:noFill/>
          <a:ln w="12700">
            <a:solidFill>
              <a:srgbClr val="EEF2F6">
                <a:alpha val="82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444752" y="4142232"/>
            <a:ext cx="4443984" cy="0"/>
          </a:xfrm>
          <a:prstGeom prst="line">
            <a:avLst/>
          </a:prstGeom>
          <a:noFill/>
          <a:ln w="12700">
            <a:solidFill>
              <a:srgbClr val="EEF2F6">
                <a:alpha val="82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444752" y="4663440"/>
            <a:ext cx="4443984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444752" y="2578608"/>
            <a:ext cx="0" cy="2084832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664208" y="2798064"/>
            <a:ext cx="731520" cy="347472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19" name="Shape 16"/>
          <p:cNvSpPr/>
          <p:nvPr/>
        </p:nvSpPr>
        <p:spPr>
          <a:xfrm>
            <a:off x="1609344" y="2743200"/>
            <a:ext cx="109728" cy="109728"/>
          </a:xfrm>
          <a:prstGeom prst="ellipse">
            <a:avLst/>
          </a:prstGeom>
          <a:solidFill>
            <a:srgbClr val="102A4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395728" y="3145536"/>
            <a:ext cx="713232" cy="420624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21" name="Shape 18"/>
          <p:cNvSpPr/>
          <p:nvPr/>
        </p:nvSpPr>
        <p:spPr>
          <a:xfrm>
            <a:off x="2340864" y="3090672"/>
            <a:ext cx="109728" cy="10972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108960" y="3566160"/>
            <a:ext cx="786384" cy="36576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23" name="Shape 20"/>
          <p:cNvSpPr/>
          <p:nvPr/>
        </p:nvSpPr>
        <p:spPr>
          <a:xfrm>
            <a:off x="3054096" y="3511296"/>
            <a:ext cx="109728" cy="10972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895344" y="3931920"/>
            <a:ext cx="786384" cy="329184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25" name="Shape 22"/>
          <p:cNvSpPr/>
          <p:nvPr/>
        </p:nvSpPr>
        <p:spPr>
          <a:xfrm>
            <a:off x="3840480" y="3877056"/>
            <a:ext cx="109728" cy="10972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681728" y="4261104"/>
            <a:ext cx="859536" cy="164592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4626864" y="4206240"/>
            <a:ext cx="109728" cy="10972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486400" y="4370832"/>
            <a:ext cx="109728" cy="10972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975104" y="243230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pérdida alta</a:t>
            </a:r>
            <a:endParaRPr lang="en-US" sz="880" dirty="0"/>
          </a:p>
        </p:txBody>
      </p:sp>
      <p:sp>
        <p:nvSpPr>
          <p:cNvPr id="30" name="Text 27"/>
          <p:cNvSpPr/>
          <p:nvPr/>
        </p:nvSpPr>
        <p:spPr>
          <a:xfrm>
            <a:off x="4572000" y="444398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pérdida baja</a:t>
            </a:r>
            <a:endParaRPr lang="en-US" sz="880" dirty="0"/>
          </a:p>
        </p:txBody>
      </p:sp>
      <p:sp>
        <p:nvSpPr>
          <p:cNvPr id="31" name="Text 28"/>
          <p:cNvSpPr/>
          <p:nvPr/>
        </p:nvSpPr>
        <p:spPr>
          <a:xfrm>
            <a:off x="5047488" y="4773168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ajustes</a:t>
            </a:r>
            <a:endParaRPr lang="en-US" sz="780" dirty="0"/>
          </a:p>
        </p:txBody>
      </p:sp>
      <p:sp>
        <p:nvSpPr>
          <p:cNvPr id="32" name="Shape 29"/>
          <p:cNvSpPr/>
          <p:nvPr/>
        </p:nvSpPr>
        <p:spPr>
          <a:xfrm>
            <a:off x="7004304" y="1755648"/>
            <a:ext cx="3383280" cy="987552"/>
          </a:xfrm>
          <a:prstGeom prst="roundRect">
            <a:avLst>
              <a:gd name="adj" fmla="val 370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114032" y="1901952"/>
            <a:ext cx="109728" cy="69494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315200" y="1938528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01</a:t>
            </a:r>
            <a:endParaRPr lang="en-US" sz="840" dirty="0"/>
          </a:p>
        </p:txBody>
      </p:sp>
      <p:sp>
        <p:nvSpPr>
          <p:cNvPr id="35" name="Text 32"/>
          <p:cNvSpPr/>
          <p:nvPr/>
        </p:nvSpPr>
        <p:spPr>
          <a:xfrm>
            <a:off x="7315200" y="2194560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cada ajuste es un paso</a:t>
            </a:r>
            <a:endParaRPr lang="en-US" sz="1180" dirty="0"/>
          </a:p>
        </p:txBody>
      </p:sp>
      <p:sp>
        <p:nvSpPr>
          <p:cNvPr id="36" name="Text 33"/>
          <p:cNvSpPr/>
          <p:nvPr/>
        </p:nvSpPr>
        <p:spPr>
          <a:xfrm>
            <a:off x="7315200" y="2468880"/>
            <a:ext cx="2907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 pesos cambia la pérdida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7004304" y="2926080"/>
            <a:ext cx="3383280" cy="987552"/>
          </a:xfrm>
          <a:prstGeom prst="roundRect">
            <a:avLst>
              <a:gd name="adj" fmla="val 3704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114032" y="3072384"/>
            <a:ext cx="109728" cy="69494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315200" y="3108960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02</a:t>
            </a:r>
            <a:endParaRPr lang="en-US" sz="840" dirty="0"/>
          </a:p>
        </p:txBody>
      </p:sp>
      <p:sp>
        <p:nvSpPr>
          <p:cNvPr id="40" name="Text 37"/>
          <p:cNvSpPr/>
          <p:nvPr/>
        </p:nvSpPr>
        <p:spPr>
          <a:xfrm>
            <a:off x="7315200" y="336499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se mueve al azar</a:t>
            </a:r>
            <a:endParaRPr lang="en-US" sz="1180" dirty="0"/>
          </a:p>
        </p:txBody>
      </p:sp>
      <p:sp>
        <p:nvSpPr>
          <p:cNvPr id="41" name="Text 38"/>
          <p:cNvSpPr/>
          <p:nvPr/>
        </p:nvSpPr>
        <p:spPr>
          <a:xfrm>
            <a:off x="7315200" y="3639312"/>
            <a:ext cx="2907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 una dirección que reduzca L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7004304" y="4096512"/>
            <a:ext cx="3383280" cy="987552"/>
          </a:xfrm>
          <a:prstGeom prst="roundRect">
            <a:avLst>
              <a:gd name="adj" fmla="val 370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114032" y="4242816"/>
            <a:ext cx="109728" cy="69494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315200" y="427939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03</a:t>
            </a:r>
            <a:endParaRPr lang="en-US" sz="840" dirty="0"/>
          </a:p>
        </p:txBody>
      </p:sp>
      <p:sp>
        <p:nvSpPr>
          <p:cNvPr id="45" name="Text 42"/>
          <p:cNvSpPr/>
          <p:nvPr/>
        </p:nvSpPr>
        <p:spPr>
          <a:xfrm>
            <a:off x="7315200" y="4535424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pérdida guía</a:t>
            </a:r>
            <a:endParaRPr lang="en-US" sz="1180" dirty="0"/>
          </a:p>
        </p:txBody>
      </p:sp>
      <p:sp>
        <p:nvSpPr>
          <p:cNvPr id="46" name="Text 43"/>
          <p:cNvSpPr/>
          <p:nvPr/>
        </p:nvSpPr>
        <p:spPr>
          <a:xfrm>
            <a:off x="7315200" y="4809744"/>
            <a:ext cx="2907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L no hay señal de mejora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786384" y="541324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987552" y="555040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Descenso de gradiente responde con cálculo hacia dónde conviene mover los parámetros.</a:t>
            </a:r>
            <a:endParaRPr lang="en-US" sz="124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Épocas E Iteraciones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modelo no aprende de un solo ejemplo ni de una sola pasada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77824" y="1847088"/>
            <a:ext cx="5084064" cy="3145536"/>
          </a:xfrm>
          <a:prstGeom prst="roundRect">
            <a:avLst>
              <a:gd name="adj" fmla="val 116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1993392"/>
            <a:ext cx="109728" cy="28529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25296" y="202996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Pérdida con ruido normal</a:t>
            </a:r>
            <a:endParaRPr lang="en-US" sz="1380" dirty="0"/>
          </a:p>
        </p:txBody>
      </p:sp>
      <p:sp>
        <p:nvSpPr>
          <p:cNvPr id="13" name="Shape 10"/>
          <p:cNvSpPr/>
          <p:nvPr/>
        </p:nvSpPr>
        <p:spPr>
          <a:xfrm>
            <a:off x="1426464" y="3113532"/>
            <a:ext cx="4133088" cy="0"/>
          </a:xfrm>
          <a:prstGeom prst="line">
            <a:avLst/>
          </a:prstGeom>
          <a:noFill/>
          <a:ln w="12700">
            <a:solidFill>
              <a:srgbClr val="EEF2F6">
                <a:alpha val="82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426464" y="3593592"/>
            <a:ext cx="4133088" cy="0"/>
          </a:xfrm>
          <a:prstGeom prst="line">
            <a:avLst/>
          </a:prstGeom>
          <a:noFill/>
          <a:ln w="12700">
            <a:solidFill>
              <a:srgbClr val="EEF2F6">
                <a:alpha val="82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426464" y="4073652"/>
            <a:ext cx="4133088" cy="0"/>
          </a:xfrm>
          <a:prstGeom prst="line">
            <a:avLst/>
          </a:prstGeom>
          <a:noFill/>
          <a:ln w="12700">
            <a:solidFill>
              <a:srgbClr val="EEF2F6">
                <a:alpha val="82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426464" y="4553712"/>
            <a:ext cx="4133088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426464" y="2633472"/>
            <a:ext cx="0" cy="192024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426464" y="2846832"/>
            <a:ext cx="826618" cy="74676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19" name="Shape 16"/>
          <p:cNvSpPr/>
          <p:nvPr/>
        </p:nvSpPr>
        <p:spPr>
          <a:xfrm>
            <a:off x="1376172" y="2796540"/>
            <a:ext cx="100584" cy="10058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 flipH="1">
            <a:off x="2253082" y="3550920"/>
            <a:ext cx="826618" cy="42672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21" name="Shape 18"/>
          <p:cNvSpPr/>
          <p:nvPr/>
        </p:nvSpPr>
        <p:spPr>
          <a:xfrm>
            <a:off x="2202790" y="3543300"/>
            <a:ext cx="100584" cy="10058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079699" y="3550920"/>
            <a:ext cx="826618" cy="32004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23" name="Shape 20"/>
          <p:cNvSpPr/>
          <p:nvPr/>
        </p:nvSpPr>
        <p:spPr>
          <a:xfrm>
            <a:off x="3029407" y="3500628"/>
            <a:ext cx="100584" cy="10058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906317" y="3870960"/>
            <a:ext cx="826618" cy="256032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25" name="Shape 22"/>
          <p:cNvSpPr/>
          <p:nvPr/>
        </p:nvSpPr>
        <p:spPr>
          <a:xfrm>
            <a:off x="3856025" y="3820668"/>
            <a:ext cx="100584" cy="10058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732934" y="4126992"/>
            <a:ext cx="826618" cy="42672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27" name="Shape 24"/>
          <p:cNvSpPr/>
          <p:nvPr/>
        </p:nvSpPr>
        <p:spPr>
          <a:xfrm>
            <a:off x="4682642" y="4076700"/>
            <a:ext cx="100584" cy="10058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509260" y="4119372"/>
            <a:ext cx="100584" cy="10058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170432" y="2560320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901184" y="4663440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épocas</a:t>
            </a:r>
            <a:endParaRPr lang="en-US" sz="780" dirty="0"/>
          </a:p>
        </p:txBody>
      </p:sp>
      <p:sp>
        <p:nvSpPr>
          <p:cNvPr id="31" name="Shape 28"/>
          <p:cNvSpPr/>
          <p:nvPr/>
        </p:nvSpPr>
        <p:spPr>
          <a:xfrm>
            <a:off x="6400800" y="1773936"/>
            <a:ext cx="3895344" cy="1042416"/>
          </a:xfrm>
          <a:prstGeom prst="roundRect">
            <a:avLst>
              <a:gd name="adj" fmla="val 350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510528" y="1920240"/>
            <a:ext cx="109728" cy="7498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711696" y="1956816"/>
            <a:ext cx="3438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VOCABULARIO</a:t>
            </a:r>
            <a:endParaRPr lang="en-US" sz="840" dirty="0"/>
          </a:p>
        </p:txBody>
      </p:sp>
      <p:sp>
        <p:nvSpPr>
          <p:cNvPr id="34" name="Text 31"/>
          <p:cNvSpPr/>
          <p:nvPr/>
        </p:nvSpPr>
        <p:spPr>
          <a:xfrm>
            <a:off x="6711696" y="2212848"/>
            <a:ext cx="3419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Iteración</a:t>
            </a:r>
            <a:endParaRPr lang="en-US" sz="1160" dirty="0"/>
          </a:p>
        </p:txBody>
      </p:sp>
      <p:sp>
        <p:nvSpPr>
          <p:cNvPr id="35" name="Text 32"/>
          <p:cNvSpPr/>
          <p:nvPr/>
        </p:nvSpPr>
        <p:spPr>
          <a:xfrm>
            <a:off x="6711696" y="2523744"/>
            <a:ext cx="3419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paso donde procesa ejemplos y ajusta parámetros</a:t>
            </a:r>
            <a:endParaRPr lang="en-US" sz="910" dirty="0"/>
          </a:p>
        </p:txBody>
      </p:sp>
      <p:sp>
        <p:nvSpPr>
          <p:cNvPr id="36" name="Shape 33"/>
          <p:cNvSpPr/>
          <p:nvPr/>
        </p:nvSpPr>
        <p:spPr>
          <a:xfrm>
            <a:off x="6400800" y="2999232"/>
            <a:ext cx="3895344" cy="1042416"/>
          </a:xfrm>
          <a:prstGeom prst="roundRect">
            <a:avLst>
              <a:gd name="adj" fmla="val 350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510528" y="3145536"/>
            <a:ext cx="109728" cy="7498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711696" y="3182112"/>
            <a:ext cx="3438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VOCABULARIO</a:t>
            </a:r>
            <a:endParaRPr lang="en-US" sz="840" dirty="0"/>
          </a:p>
        </p:txBody>
      </p:sp>
      <p:sp>
        <p:nvSpPr>
          <p:cNvPr id="39" name="Text 36"/>
          <p:cNvSpPr/>
          <p:nvPr/>
        </p:nvSpPr>
        <p:spPr>
          <a:xfrm>
            <a:off x="6711696" y="3438144"/>
            <a:ext cx="3419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Época</a:t>
            </a:r>
            <a:endParaRPr lang="en-US" sz="1160" dirty="0"/>
          </a:p>
        </p:txBody>
      </p:sp>
      <p:sp>
        <p:nvSpPr>
          <p:cNvPr id="40" name="Text 37"/>
          <p:cNvSpPr/>
          <p:nvPr/>
        </p:nvSpPr>
        <p:spPr>
          <a:xfrm>
            <a:off x="6711696" y="3749040"/>
            <a:ext cx="3419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pasada completa por el conjunto de entrenamiento</a:t>
            </a:r>
            <a:endParaRPr lang="en-US" sz="910" dirty="0"/>
          </a:p>
        </p:txBody>
      </p:sp>
      <p:sp>
        <p:nvSpPr>
          <p:cNvPr id="41" name="Shape 38"/>
          <p:cNvSpPr/>
          <p:nvPr/>
        </p:nvSpPr>
        <p:spPr>
          <a:xfrm>
            <a:off x="6400800" y="4224528"/>
            <a:ext cx="3895344" cy="1042416"/>
          </a:xfrm>
          <a:prstGeom prst="roundRect">
            <a:avLst>
              <a:gd name="adj" fmla="val 3509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510528" y="4370832"/>
            <a:ext cx="109728" cy="7498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711696" y="4407408"/>
            <a:ext cx="3438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VOCABULARIO</a:t>
            </a:r>
            <a:endParaRPr lang="en-US" sz="840" dirty="0"/>
          </a:p>
        </p:txBody>
      </p:sp>
      <p:sp>
        <p:nvSpPr>
          <p:cNvPr id="44" name="Text 41"/>
          <p:cNvSpPr/>
          <p:nvPr/>
        </p:nvSpPr>
        <p:spPr>
          <a:xfrm>
            <a:off x="6711696" y="4663440"/>
            <a:ext cx="3419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Tendencia</a:t>
            </a:r>
            <a:endParaRPr lang="en-US" sz="1160" dirty="0"/>
          </a:p>
        </p:txBody>
      </p:sp>
      <p:sp>
        <p:nvSpPr>
          <p:cNvPr id="45" name="Text 42"/>
          <p:cNvSpPr/>
          <p:nvPr/>
        </p:nvSpPr>
        <p:spPr>
          <a:xfrm>
            <a:off x="6711696" y="4974336"/>
            <a:ext cx="3419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 la dirección general, no la perfección</a:t>
            </a:r>
            <a:endParaRPr lang="en-US" sz="910" dirty="0"/>
          </a:p>
        </p:txBody>
      </p:sp>
      <p:sp>
        <p:nvSpPr>
          <p:cNvPr id="46" name="Shape 43"/>
          <p:cNvSpPr/>
          <p:nvPr/>
        </p:nvSpPr>
        <p:spPr>
          <a:xfrm>
            <a:off x="786384" y="541324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987552" y="555040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Entrenar por varias épocas significa revisar ejemplos varias veces y ajustar en cada pasada.</a:t>
            </a:r>
            <a:endParaRPr lang="en-US" sz="124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Modelo Aprende Lo Que Ve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etiquetas malas pueden enseñar la dirección equivocada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96112" y="1938528"/>
            <a:ext cx="2761488" cy="2487168"/>
          </a:xfrm>
          <a:prstGeom prst="roundRect">
            <a:avLst>
              <a:gd name="adj" fmla="val 147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5840" y="2084832"/>
            <a:ext cx="109728" cy="21945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07008" y="2121408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 01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1207008" y="23774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Datos incompletos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207008" y="3017520"/>
            <a:ext cx="22860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patrón real queda parcialmente invisible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4151376" y="1938528"/>
            <a:ext cx="2761488" cy="2487168"/>
          </a:xfrm>
          <a:prstGeom prst="roundRect">
            <a:avLst>
              <a:gd name="adj" fmla="val 147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61104" y="2084832"/>
            <a:ext cx="109728" cy="21945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462272" y="2121408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 02</a:t>
            </a:r>
            <a:endParaRPr lang="en-US" sz="840" dirty="0"/>
          </a:p>
        </p:txBody>
      </p:sp>
      <p:sp>
        <p:nvSpPr>
          <p:cNvPr id="18" name="Text 15"/>
          <p:cNvSpPr/>
          <p:nvPr/>
        </p:nvSpPr>
        <p:spPr>
          <a:xfrm>
            <a:off x="4462272" y="23774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Etiquetas erróneas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462272" y="3017520"/>
            <a:ext cx="22860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modelo es castigado por acertar o premiado por fallar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7406640" y="1938528"/>
            <a:ext cx="2761488" cy="2487168"/>
          </a:xfrm>
          <a:prstGeom prst="roundRect">
            <a:avLst>
              <a:gd name="adj" fmla="val 1471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516368" y="2084832"/>
            <a:ext cx="109728" cy="219456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17536" y="2121408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 03</a:t>
            </a:r>
            <a:endParaRPr lang="en-US" sz="840" dirty="0"/>
          </a:p>
        </p:txBody>
      </p:sp>
      <p:sp>
        <p:nvSpPr>
          <p:cNvPr id="23" name="Text 20"/>
          <p:cNvSpPr/>
          <p:nvPr/>
        </p:nvSpPr>
        <p:spPr>
          <a:xfrm>
            <a:off x="7717536" y="23774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Sesgo del dataset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717536" y="3017520"/>
            <a:ext cx="22860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aprende preferencias o errores del conjunto disponible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1005840" y="4882896"/>
            <a:ext cx="9253728" cy="566928"/>
          </a:xfrm>
          <a:prstGeom prst="roundRect">
            <a:avLst>
              <a:gd name="adj" fmla="val 645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207008" y="5047488"/>
            <a:ext cx="8851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modelo no aprende la verdad: aprende patrones desde datos y etiquetas.</a:t>
            </a:r>
            <a:endParaRPr lang="en-US" sz="158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Tabla Pequeña De Entrenamiento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caso puede arreglarse, pero siempre hay que revisar el conjunto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77824" y="1810512"/>
            <a:ext cx="9454896" cy="859536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1956816"/>
            <a:ext cx="109728" cy="5669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1938528"/>
            <a:ext cx="9015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inicial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1188720" y="2267712"/>
            <a:ext cx="8833104" cy="347472"/>
          </a:xfrm>
          <a:prstGeom prst="roundRect">
            <a:avLst>
              <a:gd name="adj" fmla="val 1052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16736" y="2368296"/>
            <a:ext cx="8577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2*x1 + 1*x2 - 1     |     si z &gt;= 0, ŷ = 1</a:t>
            </a:r>
            <a:endParaRPr lang="en-US" sz="1320" dirty="0"/>
          </a:p>
        </p:txBody>
      </p:sp>
      <p:sp>
        <p:nvSpPr>
          <p:cNvPr id="15" name="Text 12"/>
          <p:cNvSpPr/>
          <p:nvPr/>
        </p:nvSpPr>
        <p:spPr>
          <a:xfrm>
            <a:off x="1188720" y="2688336"/>
            <a:ext cx="88331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x1: enlace extraño; x2: remitente desconocido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694944" y="2816352"/>
            <a:ext cx="10222992" cy="2267712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4672" y="2962656"/>
            <a:ext cx="109728" cy="19751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87552" y="305409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</a:t>
            </a:r>
            <a:endParaRPr lang="en-US" sz="1020" dirty="0"/>
          </a:p>
        </p:txBody>
      </p:sp>
      <p:sp>
        <p:nvSpPr>
          <p:cNvPr id="19" name="Text 16"/>
          <p:cNvSpPr/>
          <p:nvPr/>
        </p:nvSpPr>
        <p:spPr>
          <a:xfrm>
            <a:off x="1645920" y="305409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x1</a:t>
            </a:r>
            <a:endParaRPr lang="en-US" sz="1020" dirty="0"/>
          </a:p>
        </p:txBody>
      </p:sp>
      <p:sp>
        <p:nvSpPr>
          <p:cNvPr id="20" name="Text 17"/>
          <p:cNvSpPr/>
          <p:nvPr/>
        </p:nvSpPr>
        <p:spPr>
          <a:xfrm>
            <a:off x="2231136" y="305409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x2</a:t>
            </a:r>
            <a:endParaRPr lang="en-US" sz="1020" dirty="0"/>
          </a:p>
        </p:txBody>
      </p:sp>
      <p:sp>
        <p:nvSpPr>
          <p:cNvPr id="21" name="Text 18"/>
          <p:cNvSpPr/>
          <p:nvPr/>
        </p:nvSpPr>
        <p:spPr>
          <a:xfrm>
            <a:off x="2816352" y="305409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</a:t>
            </a:r>
            <a:endParaRPr lang="en-US" sz="1020" dirty="0"/>
          </a:p>
        </p:txBody>
      </p:sp>
      <p:sp>
        <p:nvSpPr>
          <p:cNvPr id="22" name="Text 19"/>
          <p:cNvSpPr/>
          <p:nvPr/>
        </p:nvSpPr>
        <p:spPr>
          <a:xfrm>
            <a:off x="3401568" y="3054096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</a:t>
            </a:r>
            <a:endParaRPr lang="en-US" sz="1020" dirty="0"/>
          </a:p>
        </p:txBody>
      </p:sp>
      <p:sp>
        <p:nvSpPr>
          <p:cNvPr id="23" name="Text 20"/>
          <p:cNvSpPr/>
          <p:nvPr/>
        </p:nvSpPr>
        <p:spPr>
          <a:xfrm>
            <a:off x="5888736" y="305409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ŷ</a:t>
            </a:r>
            <a:endParaRPr lang="en-US" sz="1020" dirty="0"/>
          </a:p>
        </p:txBody>
      </p:sp>
      <p:sp>
        <p:nvSpPr>
          <p:cNvPr id="24" name="Text 21"/>
          <p:cNvSpPr/>
          <p:nvPr/>
        </p:nvSpPr>
        <p:spPr>
          <a:xfrm>
            <a:off x="6473952" y="3054096"/>
            <a:ext cx="4059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914400" y="3346704"/>
            <a:ext cx="9528048" cy="320040"/>
          </a:xfrm>
          <a:prstGeom prst="roundRect">
            <a:avLst>
              <a:gd name="adj" fmla="val 7143"/>
            </a:avLst>
          </a:prstGeom>
          <a:solidFill>
            <a:srgbClr val="EEF2F6">
              <a:alpha val="74000"/>
            </a:srgbClr>
          </a:solidFill>
          <a:ln w="12700">
            <a:solidFill>
              <a:srgbClr val="EEF2F6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87552" y="34015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20" dirty="0"/>
          </a:p>
        </p:txBody>
      </p:sp>
      <p:sp>
        <p:nvSpPr>
          <p:cNvPr id="27" name="Text 24"/>
          <p:cNvSpPr/>
          <p:nvPr/>
        </p:nvSpPr>
        <p:spPr>
          <a:xfrm>
            <a:off x="1645920" y="3401568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20" dirty="0"/>
          </a:p>
        </p:txBody>
      </p:sp>
      <p:sp>
        <p:nvSpPr>
          <p:cNvPr id="28" name="Text 25"/>
          <p:cNvSpPr/>
          <p:nvPr/>
        </p:nvSpPr>
        <p:spPr>
          <a:xfrm>
            <a:off x="2231136" y="3401568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20" dirty="0"/>
          </a:p>
        </p:txBody>
      </p:sp>
      <p:sp>
        <p:nvSpPr>
          <p:cNvPr id="29" name="Text 26"/>
          <p:cNvSpPr/>
          <p:nvPr/>
        </p:nvSpPr>
        <p:spPr>
          <a:xfrm>
            <a:off x="2816352" y="3401568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20" dirty="0"/>
          </a:p>
        </p:txBody>
      </p:sp>
      <p:sp>
        <p:nvSpPr>
          <p:cNvPr id="30" name="Text 27"/>
          <p:cNvSpPr/>
          <p:nvPr/>
        </p:nvSpPr>
        <p:spPr>
          <a:xfrm>
            <a:off x="3401568" y="3401568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2*1+1*1-1=2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888736" y="3401568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20" dirty="0"/>
          </a:p>
        </p:txBody>
      </p:sp>
      <p:sp>
        <p:nvSpPr>
          <p:cNvPr id="32" name="Text 29"/>
          <p:cNvSpPr/>
          <p:nvPr/>
        </p:nvSpPr>
        <p:spPr>
          <a:xfrm>
            <a:off x="6473952" y="3401568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acierta</a:t>
            </a:r>
            <a:endParaRPr lang="en-US" sz="1120" dirty="0"/>
          </a:p>
        </p:txBody>
      </p:sp>
      <p:sp>
        <p:nvSpPr>
          <p:cNvPr id="33" name="Shape 30"/>
          <p:cNvSpPr/>
          <p:nvPr/>
        </p:nvSpPr>
        <p:spPr>
          <a:xfrm>
            <a:off x="914400" y="3739896"/>
            <a:ext cx="9528048" cy="320040"/>
          </a:xfrm>
          <a:prstGeom prst="roundRect">
            <a:avLst>
              <a:gd name="adj" fmla="val 7143"/>
            </a:avLst>
          </a:prstGeom>
          <a:solidFill>
            <a:srgbClr val="F8E4E5"/>
          </a:solidFill>
          <a:ln w="12700">
            <a:solidFill>
              <a:srgbClr val="F8E4E5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87552" y="379476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20" dirty="0"/>
          </a:p>
        </p:txBody>
      </p:sp>
      <p:sp>
        <p:nvSpPr>
          <p:cNvPr id="35" name="Text 32"/>
          <p:cNvSpPr/>
          <p:nvPr/>
        </p:nvSpPr>
        <p:spPr>
          <a:xfrm>
            <a:off x="1645920" y="3794760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120" dirty="0"/>
          </a:p>
        </p:txBody>
      </p:sp>
      <p:sp>
        <p:nvSpPr>
          <p:cNvPr id="36" name="Text 33"/>
          <p:cNvSpPr/>
          <p:nvPr/>
        </p:nvSpPr>
        <p:spPr>
          <a:xfrm>
            <a:off x="2231136" y="3794760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20" dirty="0"/>
          </a:p>
        </p:txBody>
      </p:sp>
      <p:sp>
        <p:nvSpPr>
          <p:cNvPr id="37" name="Text 34"/>
          <p:cNvSpPr/>
          <p:nvPr/>
        </p:nvSpPr>
        <p:spPr>
          <a:xfrm>
            <a:off x="2816352" y="3794760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120" dirty="0"/>
          </a:p>
        </p:txBody>
      </p:sp>
      <p:sp>
        <p:nvSpPr>
          <p:cNvPr id="38" name="Text 35"/>
          <p:cNvSpPr/>
          <p:nvPr/>
        </p:nvSpPr>
        <p:spPr>
          <a:xfrm>
            <a:off x="3401568" y="3794760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2*0+1*1-1=0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5888736" y="3794760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20" dirty="0"/>
          </a:p>
        </p:txBody>
      </p:sp>
      <p:sp>
        <p:nvSpPr>
          <p:cNvPr id="40" name="Text 37"/>
          <p:cNvSpPr/>
          <p:nvPr/>
        </p:nvSpPr>
        <p:spPr>
          <a:xfrm>
            <a:off x="6473952" y="3794760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falla: activa con poca evidencia</a:t>
            </a:r>
            <a:endParaRPr lang="en-US" sz="1120" dirty="0"/>
          </a:p>
        </p:txBody>
      </p:sp>
      <p:sp>
        <p:nvSpPr>
          <p:cNvPr id="41" name="Shape 38"/>
          <p:cNvSpPr/>
          <p:nvPr/>
        </p:nvSpPr>
        <p:spPr>
          <a:xfrm>
            <a:off x="914400" y="4133088"/>
            <a:ext cx="9528048" cy="320040"/>
          </a:xfrm>
          <a:prstGeom prst="roundRect">
            <a:avLst>
              <a:gd name="adj" fmla="val 7143"/>
            </a:avLst>
          </a:prstGeom>
          <a:solidFill>
            <a:srgbClr val="EEF2F6">
              <a:alpha val="74000"/>
            </a:srgbClr>
          </a:solidFill>
          <a:ln w="12700">
            <a:solidFill>
              <a:srgbClr val="EEF2F6">
                <a:alpha val="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87552" y="418795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20" dirty="0"/>
          </a:p>
        </p:txBody>
      </p:sp>
      <p:sp>
        <p:nvSpPr>
          <p:cNvPr id="43" name="Text 40"/>
          <p:cNvSpPr/>
          <p:nvPr/>
        </p:nvSpPr>
        <p:spPr>
          <a:xfrm>
            <a:off x="1645920" y="4187952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20" dirty="0"/>
          </a:p>
        </p:txBody>
      </p:sp>
      <p:sp>
        <p:nvSpPr>
          <p:cNvPr id="44" name="Text 41"/>
          <p:cNvSpPr/>
          <p:nvPr/>
        </p:nvSpPr>
        <p:spPr>
          <a:xfrm>
            <a:off x="2231136" y="4187952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120" dirty="0"/>
          </a:p>
        </p:txBody>
      </p:sp>
      <p:sp>
        <p:nvSpPr>
          <p:cNvPr id="45" name="Text 42"/>
          <p:cNvSpPr/>
          <p:nvPr/>
        </p:nvSpPr>
        <p:spPr>
          <a:xfrm>
            <a:off x="2816352" y="4187952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20" dirty="0"/>
          </a:p>
        </p:txBody>
      </p:sp>
      <p:sp>
        <p:nvSpPr>
          <p:cNvPr id="46" name="Text 43"/>
          <p:cNvSpPr/>
          <p:nvPr/>
        </p:nvSpPr>
        <p:spPr>
          <a:xfrm>
            <a:off x="3401568" y="4187952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2*1+1*0-1=1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5888736" y="4187952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20" dirty="0"/>
          </a:p>
        </p:txBody>
      </p:sp>
      <p:sp>
        <p:nvSpPr>
          <p:cNvPr id="48" name="Text 45"/>
          <p:cNvSpPr/>
          <p:nvPr/>
        </p:nvSpPr>
        <p:spPr>
          <a:xfrm>
            <a:off x="6473952" y="4187952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acierta</a:t>
            </a:r>
            <a:endParaRPr lang="en-US" sz="1120" dirty="0"/>
          </a:p>
        </p:txBody>
      </p:sp>
      <p:sp>
        <p:nvSpPr>
          <p:cNvPr id="49" name="Shape 46"/>
          <p:cNvSpPr/>
          <p:nvPr/>
        </p:nvSpPr>
        <p:spPr>
          <a:xfrm>
            <a:off x="914400" y="4526280"/>
            <a:ext cx="9528048" cy="320040"/>
          </a:xfrm>
          <a:prstGeom prst="roundRect">
            <a:avLst>
              <a:gd name="adj" fmla="val 7143"/>
            </a:avLst>
          </a:prstGeom>
          <a:solidFill>
            <a:srgbClr val="EEF2F6">
              <a:alpha val="74000"/>
            </a:srgbClr>
          </a:solidFill>
          <a:ln w="12700">
            <a:solidFill>
              <a:srgbClr val="EEF2F6">
                <a:alpha val="0"/>
              </a:srgbClr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987552" y="458114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20" dirty="0"/>
          </a:p>
        </p:txBody>
      </p:sp>
      <p:sp>
        <p:nvSpPr>
          <p:cNvPr id="51" name="Text 48"/>
          <p:cNvSpPr/>
          <p:nvPr/>
        </p:nvSpPr>
        <p:spPr>
          <a:xfrm>
            <a:off x="1645920" y="4581144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120" dirty="0"/>
          </a:p>
        </p:txBody>
      </p:sp>
      <p:sp>
        <p:nvSpPr>
          <p:cNvPr id="52" name="Text 49"/>
          <p:cNvSpPr/>
          <p:nvPr/>
        </p:nvSpPr>
        <p:spPr>
          <a:xfrm>
            <a:off x="2231136" y="4581144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120" dirty="0"/>
          </a:p>
        </p:txBody>
      </p:sp>
      <p:sp>
        <p:nvSpPr>
          <p:cNvPr id="53" name="Text 50"/>
          <p:cNvSpPr/>
          <p:nvPr/>
        </p:nvSpPr>
        <p:spPr>
          <a:xfrm>
            <a:off x="2816352" y="4581144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120" dirty="0"/>
          </a:p>
        </p:txBody>
      </p:sp>
      <p:sp>
        <p:nvSpPr>
          <p:cNvPr id="54" name="Text 51"/>
          <p:cNvSpPr/>
          <p:nvPr/>
        </p:nvSpPr>
        <p:spPr>
          <a:xfrm>
            <a:off x="3401568" y="4581144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2*0+1*0-1=-1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5888736" y="4581144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120" dirty="0"/>
          </a:p>
        </p:txBody>
      </p:sp>
      <p:sp>
        <p:nvSpPr>
          <p:cNvPr id="56" name="Text 53"/>
          <p:cNvSpPr/>
          <p:nvPr/>
        </p:nvSpPr>
        <p:spPr>
          <a:xfrm>
            <a:off x="6473952" y="4581144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acierta</a:t>
            </a:r>
            <a:endParaRPr lang="en-US" sz="1120" dirty="0"/>
          </a:p>
        </p:txBody>
      </p:sp>
      <p:sp>
        <p:nvSpPr>
          <p:cNvPr id="57" name="Shape 54"/>
          <p:cNvSpPr/>
          <p:nvPr/>
        </p:nvSpPr>
        <p:spPr>
          <a:xfrm>
            <a:off x="786384" y="5431536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987552" y="5568696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Arreglar un caso puede romper otro: por eso el entrenamiento evalúa muchos ejemplos.</a:t>
            </a:r>
            <a:endParaRPr lang="en-US" sz="12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Minimizar La Pérdida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frase suena abstracta, pero significa buscar mejores parámetros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77824" y="1828800"/>
            <a:ext cx="9454896" cy="1152144"/>
          </a:xfrm>
          <a:prstGeom prst="roundRect">
            <a:avLst>
              <a:gd name="adj" fmla="val 396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1975104"/>
            <a:ext cx="109728" cy="8595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1956816"/>
            <a:ext cx="9015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Cadena completa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1188720" y="2286000"/>
            <a:ext cx="8833104" cy="347472"/>
          </a:xfrm>
          <a:prstGeom prst="roundRect">
            <a:avLst>
              <a:gd name="adj" fmla="val 1052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16736" y="2386584"/>
            <a:ext cx="8577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 + datos + pérdida + algoritmo -&gt; parámetros entrenados</a:t>
            </a:r>
            <a:endParaRPr lang="en-US" sz="1420" dirty="0"/>
          </a:p>
        </p:txBody>
      </p:sp>
      <p:sp>
        <p:nvSpPr>
          <p:cNvPr id="15" name="Text 12"/>
          <p:cNvSpPr/>
          <p:nvPr/>
        </p:nvSpPr>
        <p:spPr>
          <a:xfrm>
            <a:off x="1188720" y="2706624"/>
            <a:ext cx="8833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una pieza está mal, el resultado también puede estar mal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987552" y="3401568"/>
            <a:ext cx="4224528" cy="566928"/>
          </a:xfrm>
          <a:prstGeom prst="roundRect">
            <a:avLst>
              <a:gd name="adj" fmla="val 645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97280" y="3547872"/>
            <a:ext cx="109728" cy="2743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335024" y="3566160"/>
            <a:ext cx="3547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¿con qué datos?</a:t>
            </a:r>
            <a:endParaRPr lang="en-US" sz="1220" dirty="0"/>
          </a:p>
        </p:txBody>
      </p:sp>
      <p:sp>
        <p:nvSpPr>
          <p:cNvPr id="19" name="Shape 16"/>
          <p:cNvSpPr/>
          <p:nvPr/>
        </p:nvSpPr>
        <p:spPr>
          <a:xfrm>
            <a:off x="5779008" y="3401568"/>
            <a:ext cx="4224528" cy="566928"/>
          </a:xfrm>
          <a:prstGeom prst="roundRect">
            <a:avLst>
              <a:gd name="adj" fmla="val 645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888736" y="3547872"/>
            <a:ext cx="109728" cy="2743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26480" y="3566160"/>
            <a:ext cx="3547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pérdida se minimizó?</a:t>
            </a:r>
            <a:endParaRPr lang="en-US" sz="1220" dirty="0"/>
          </a:p>
        </p:txBody>
      </p:sp>
      <p:sp>
        <p:nvSpPr>
          <p:cNvPr id="22" name="Shape 19"/>
          <p:cNvSpPr/>
          <p:nvPr/>
        </p:nvSpPr>
        <p:spPr>
          <a:xfrm>
            <a:off x="987552" y="4187952"/>
            <a:ext cx="4224528" cy="566928"/>
          </a:xfrm>
          <a:prstGeom prst="roundRect">
            <a:avLst>
              <a:gd name="adj" fmla="val 645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97280" y="4334256"/>
            <a:ext cx="109728" cy="27432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335024" y="4352544"/>
            <a:ext cx="3547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errores comete?</a:t>
            </a:r>
            <a:endParaRPr lang="en-US" sz="1220" dirty="0"/>
          </a:p>
        </p:txBody>
      </p:sp>
      <p:sp>
        <p:nvSpPr>
          <p:cNvPr id="25" name="Shape 22"/>
          <p:cNvSpPr/>
          <p:nvPr/>
        </p:nvSpPr>
        <p:spPr>
          <a:xfrm>
            <a:off x="5779008" y="4187952"/>
            <a:ext cx="4224528" cy="566928"/>
          </a:xfrm>
          <a:prstGeom prst="roundRect">
            <a:avLst>
              <a:gd name="adj" fmla="val 645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888736" y="4334256"/>
            <a:ext cx="109728" cy="27432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26480" y="4352544"/>
            <a:ext cx="3547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pasa si se equivoca?</a:t>
            </a:r>
            <a:endParaRPr lang="en-US" sz="1220" dirty="0"/>
          </a:p>
        </p:txBody>
      </p:sp>
      <p:sp>
        <p:nvSpPr>
          <p:cNvPr id="28" name="Shape 25"/>
          <p:cNvSpPr/>
          <p:nvPr/>
        </p:nvSpPr>
        <p:spPr>
          <a:xfrm>
            <a:off x="786384" y="541324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87552" y="555040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Entrené un modelo no es una respuesta suficiente; hay que explicar el proceso y sus límites.</a:t>
            </a:r>
            <a:endParaRPr lang="en-US" sz="12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 Cyber: Automatizar Errores Escala El Daño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Mientras más automática sea la acción, más fuerte debe ser la evaluación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77824" y="1828800"/>
            <a:ext cx="4498848" cy="2999232"/>
          </a:xfrm>
          <a:prstGeom prst="roundRect">
            <a:avLst>
              <a:gd name="adj" fmla="val 122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1975104"/>
            <a:ext cx="109728" cy="27066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25296" y="21396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deficiente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243584" y="2807208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444752" y="2761488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pocos ejemplos reales</a:t>
            </a:r>
            <a:endParaRPr lang="en-US" sz="1160" dirty="0"/>
          </a:p>
        </p:txBody>
      </p:sp>
      <p:sp>
        <p:nvSpPr>
          <p:cNvPr id="15" name="Shape 12"/>
          <p:cNvSpPr/>
          <p:nvPr/>
        </p:nvSpPr>
        <p:spPr>
          <a:xfrm>
            <a:off x="1243584" y="3191256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444752" y="3145536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etiquetas incorrectas</a:t>
            </a:r>
            <a:endParaRPr lang="en-US" sz="1160" dirty="0"/>
          </a:p>
        </p:txBody>
      </p:sp>
      <p:sp>
        <p:nvSpPr>
          <p:cNvPr id="17" name="Shape 14"/>
          <p:cNvSpPr/>
          <p:nvPr/>
        </p:nvSpPr>
        <p:spPr>
          <a:xfrm>
            <a:off x="1243584" y="3575304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444752" y="3529584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logs ni revisión</a:t>
            </a:r>
            <a:endParaRPr lang="en-US" sz="1160" dirty="0"/>
          </a:p>
        </p:txBody>
      </p:sp>
      <p:sp>
        <p:nvSpPr>
          <p:cNvPr id="19" name="Shape 16"/>
          <p:cNvSpPr/>
          <p:nvPr/>
        </p:nvSpPr>
        <p:spPr>
          <a:xfrm>
            <a:off x="1243584" y="3959352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444752" y="3913632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confianza excesiva</a:t>
            </a:r>
            <a:endParaRPr lang="en-US" sz="1160" dirty="0"/>
          </a:p>
        </p:txBody>
      </p:sp>
      <p:sp>
        <p:nvSpPr>
          <p:cNvPr id="21" name="Shape 18"/>
          <p:cNvSpPr/>
          <p:nvPr/>
        </p:nvSpPr>
        <p:spPr>
          <a:xfrm>
            <a:off x="5468112" y="3273552"/>
            <a:ext cx="640080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6144768" y="1828800"/>
            <a:ext cx="4334256" cy="2999232"/>
          </a:xfrm>
          <a:prstGeom prst="roundRect">
            <a:avLst>
              <a:gd name="adj" fmla="val 122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54496" y="1975104"/>
            <a:ext cx="109728" cy="270662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92240" y="21396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Impacto posible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510528" y="2807208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711696" y="2761488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falsos negativos dejan pasar ataques</a:t>
            </a:r>
            <a:endParaRPr lang="en-US" sz="1120" dirty="0"/>
          </a:p>
        </p:txBody>
      </p:sp>
      <p:sp>
        <p:nvSpPr>
          <p:cNvPr id="27" name="Shape 24"/>
          <p:cNvSpPr/>
          <p:nvPr/>
        </p:nvSpPr>
        <p:spPr>
          <a:xfrm>
            <a:off x="6510528" y="3191256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711696" y="3145536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falsos positivos bloquean usuarios</a:t>
            </a:r>
            <a:endParaRPr lang="en-US" sz="1120" dirty="0"/>
          </a:p>
        </p:txBody>
      </p:sp>
      <p:sp>
        <p:nvSpPr>
          <p:cNvPr id="29" name="Shape 26"/>
          <p:cNvSpPr/>
          <p:nvPr/>
        </p:nvSpPr>
        <p:spPr>
          <a:xfrm>
            <a:off x="6510528" y="3575304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711696" y="3529584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acciones críticas sin explicación</a:t>
            </a:r>
            <a:endParaRPr lang="en-US" sz="1120" dirty="0"/>
          </a:p>
        </p:txBody>
      </p:sp>
      <p:sp>
        <p:nvSpPr>
          <p:cNvPr id="31" name="Shape 28"/>
          <p:cNvSpPr/>
          <p:nvPr/>
        </p:nvSpPr>
        <p:spPr>
          <a:xfrm>
            <a:off x="6510528" y="3959352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711696" y="3913632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decisiones difíciles de apelar</a:t>
            </a:r>
            <a:endParaRPr lang="en-US" sz="1120" dirty="0"/>
          </a:p>
        </p:txBody>
      </p:sp>
      <p:sp>
        <p:nvSpPr>
          <p:cNvPr id="33" name="Shape 30"/>
          <p:cNvSpPr/>
          <p:nvPr/>
        </p:nvSpPr>
        <p:spPr>
          <a:xfrm>
            <a:off x="786384" y="541324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87552" y="555040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Sugerir una alerta no es lo mismo que bloquear una cuenta crítica automáticamente.</a:t>
            </a:r>
            <a:endParaRPr lang="en-US" sz="123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847649"/>
            <a:ext cx="210312" cy="48371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3894" y="658368"/>
            <a:ext cx="252374" cy="67299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78331" y="847649"/>
            <a:ext cx="210312" cy="48371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54480" y="1024128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Agentes Para Estudiar Entrenamiento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572768" y="16459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D8E4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Pueden construir ejemplos, pero los cálculos y límites se verifican.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877824" y="2322576"/>
            <a:ext cx="4882896" cy="2560320"/>
          </a:xfrm>
          <a:prstGeom prst="roundRect">
            <a:avLst>
              <a:gd name="adj" fmla="val 1429"/>
            </a:avLst>
          </a:prstGeom>
          <a:solidFill>
            <a:srgbClr val="173E64"/>
          </a:solidFill>
          <a:ln w="12700">
            <a:solidFill>
              <a:srgbClr val="2D5E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7552" y="2468880"/>
            <a:ext cx="109728" cy="226771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25296" y="259689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 útil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225296" y="3035808"/>
            <a:ext cx="407822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Explícame el ciclo de entrenamiento con 3 ejemplos. Incluye y, ŷ, error = y - ŷ, L = (y - ŷ)^2 y explica por qué bajar pérdida no garantiza buen desempeño real.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236208" y="2231136"/>
            <a:ext cx="3822192" cy="493776"/>
          </a:xfrm>
          <a:prstGeom prst="roundRect">
            <a:avLst>
              <a:gd name="adj" fmla="val 740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45936" y="2377440"/>
            <a:ext cx="109728" cy="2011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65392" y="237744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invertir y con ŷ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236208" y="2889504"/>
            <a:ext cx="3822192" cy="493776"/>
          </a:xfrm>
          <a:prstGeom prst="roundRect">
            <a:avLst>
              <a:gd name="adj" fmla="val 740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45936" y="3035808"/>
            <a:ext cx="109728" cy="20116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65392" y="303580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verificar cada cálculo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236208" y="3547872"/>
            <a:ext cx="3822192" cy="493776"/>
          </a:xfrm>
          <a:prstGeom prst="roundRect">
            <a:avLst>
              <a:gd name="adj" fmla="val 740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45936" y="3694176"/>
            <a:ext cx="109728" cy="2011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65392" y="3694176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prometer generalización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6236208" y="4206240"/>
            <a:ext cx="3822192" cy="493776"/>
          </a:xfrm>
          <a:prstGeom prst="roundRect">
            <a:avLst>
              <a:gd name="adj" fmla="val 740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45936" y="4352544"/>
            <a:ext cx="109728" cy="20116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65392" y="4352544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distinguir entrenamiento de evaluación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859536" y="5596128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 del bloque: el agente puede explicar la mecánica; tú debes verificar cálculo, interpretación y límites.</a:t>
            </a:r>
            <a:endParaRPr lang="en-US" sz="142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Recapitulación Del Bloque 3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Entrenar es medir error y ajustar parámetros con criterio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77824" y="1847088"/>
            <a:ext cx="9454896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1993392"/>
            <a:ext cx="109728" cy="8412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1975104"/>
            <a:ext cx="9015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Ruta del entrenamiento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1188720" y="2304288"/>
            <a:ext cx="8833104" cy="347472"/>
          </a:xfrm>
          <a:prstGeom prst="roundRect">
            <a:avLst>
              <a:gd name="adj" fmla="val 1052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16736" y="2404872"/>
            <a:ext cx="8577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vs ŷ -&gt; error -&gt; pérdida L -&gt; ajuste de w y b -&gt; nuevo intento</a:t>
            </a:r>
            <a:endParaRPr lang="en-US" sz="1260" dirty="0"/>
          </a:p>
        </p:txBody>
      </p:sp>
      <p:sp>
        <p:nvSpPr>
          <p:cNvPr id="15" name="Text 12"/>
          <p:cNvSpPr/>
          <p:nvPr/>
        </p:nvSpPr>
        <p:spPr>
          <a:xfrm>
            <a:off x="1188720" y="2724912"/>
            <a:ext cx="88331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mejora se observa cuando la pérdida baja, pero se valida con datos adecuados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877824" y="3419856"/>
            <a:ext cx="2139696" cy="1225296"/>
          </a:xfrm>
          <a:prstGeom prst="roundRect">
            <a:avLst>
              <a:gd name="adj" fmla="val 2985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87552" y="3566160"/>
            <a:ext cx="109728" cy="9326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88720" y="3602736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40" dirty="0"/>
          </a:p>
        </p:txBody>
      </p:sp>
      <p:sp>
        <p:nvSpPr>
          <p:cNvPr id="19" name="Text 16"/>
          <p:cNvSpPr/>
          <p:nvPr/>
        </p:nvSpPr>
        <p:spPr>
          <a:xfrm>
            <a:off x="1188720" y="3858768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</a:t>
            </a:r>
            <a:endParaRPr lang="en-US" sz="1460" dirty="0"/>
          </a:p>
        </p:txBody>
      </p:sp>
      <p:sp>
        <p:nvSpPr>
          <p:cNvPr id="20" name="Text 17"/>
          <p:cNvSpPr/>
          <p:nvPr/>
        </p:nvSpPr>
        <p:spPr>
          <a:xfrm>
            <a:off x="1188720" y="4297680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 real</a:t>
            </a:r>
            <a:endParaRPr lang="en-US" sz="860" dirty="0"/>
          </a:p>
        </p:txBody>
      </p:sp>
      <p:sp>
        <p:nvSpPr>
          <p:cNvPr id="21" name="Shape 18"/>
          <p:cNvSpPr/>
          <p:nvPr/>
        </p:nvSpPr>
        <p:spPr>
          <a:xfrm>
            <a:off x="3310128" y="3419856"/>
            <a:ext cx="2139696" cy="1225296"/>
          </a:xfrm>
          <a:prstGeom prst="roundRect">
            <a:avLst>
              <a:gd name="adj" fmla="val 2985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419856" y="3566160"/>
            <a:ext cx="109728" cy="9326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21024" y="3602736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40" dirty="0"/>
          </a:p>
        </p:txBody>
      </p:sp>
      <p:sp>
        <p:nvSpPr>
          <p:cNvPr id="24" name="Text 21"/>
          <p:cNvSpPr/>
          <p:nvPr/>
        </p:nvSpPr>
        <p:spPr>
          <a:xfrm>
            <a:off x="3621024" y="3858768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ŷ</a:t>
            </a:r>
            <a:endParaRPr lang="en-US" sz="1460" dirty="0"/>
          </a:p>
        </p:txBody>
      </p:sp>
      <p:sp>
        <p:nvSpPr>
          <p:cNvPr id="25" name="Text 22"/>
          <p:cNvSpPr/>
          <p:nvPr/>
        </p:nvSpPr>
        <p:spPr>
          <a:xfrm>
            <a:off x="3621024" y="4297680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predicción del modelo</a:t>
            </a:r>
            <a:endParaRPr lang="en-US" sz="860" dirty="0"/>
          </a:p>
        </p:txBody>
      </p:sp>
      <p:sp>
        <p:nvSpPr>
          <p:cNvPr id="26" name="Shape 23"/>
          <p:cNvSpPr/>
          <p:nvPr/>
        </p:nvSpPr>
        <p:spPr>
          <a:xfrm>
            <a:off x="5742432" y="3419856"/>
            <a:ext cx="2139696" cy="1225296"/>
          </a:xfrm>
          <a:prstGeom prst="roundRect">
            <a:avLst>
              <a:gd name="adj" fmla="val 2985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852160" y="3566160"/>
            <a:ext cx="109728" cy="93268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053328" y="3602736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40" dirty="0"/>
          </a:p>
        </p:txBody>
      </p:sp>
      <p:sp>
        <p:nvSpPr>
          <p:cNvPr id="29" name="Text 26"/>
          <p:cNvSpPr/>
          <p:nvPr/>
        </p:nvSpPr>
        <p:spPr>
          <a:xfrm>
            <a:off x="6053328" y="3858768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</a:t>
            </a:r>
            <a:endParaRPr lang="en-US" sz="1460" dirty="0"/>
          </a:p>
        </p:txBody>
      </p:sp>
      <p:sp>
        <p:nvSpPr>
          <p:cNvPr id="30" name="Text 27"/>
          <p:cNvSpPr/>
          <p:nvPr/>
        </p:nvSpPr>
        <p:spPr>
          <a:xfrm>
            <a:off x="6053328" y="4297680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medida del error</a:t>
            </a:r>
            <a:endParaRPr lang="en-US" sz="860" dirty="0"/>
          </a:p>
        </p:txBody>
      </p:sp>
      <p:sp>
        <p:nvSpPr>
          <p:cNvPr id="31" name="Shape 28"/>
          <p:cNvSpPr/>
          <p:nvPr/>
        </p:nvSpPr>
        <p:spPr>
          <a:xfrm>
            <a:off x="8174736" y="3419856"/>
            <a:ext cx="2139696" cy="1225296"/>
          </a:xfrm>
          <a:prstGeom prst="roundRect">
            <a:avLst>
              <a:gd name="adj" fmla="val 2985"/>
            </a:avLst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284464" y="3566160"/>
            <a:ext cx="109728" cy="932688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485632" y="3602736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40" dirty="0"/>
          </a:p>
        </p:txBody>
      </p:sp>
      <p:sp>
        <p:nvSpPr>
          <p:cNvPr id="34" name="Text 31"/>
          <p:cNvSpPr/>
          <p:nvPr/>
        </p:nvSpPr>
        <p:spPr>
          <a:xfrm>
            <a:off x="8485632" y="3858768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ajuste</a:t>
            </a:r>
            <a:endParaRPr lang="en-US" sz="1460" dirty="0"/>
          </a:p>
        </p:txBody>
      </p:sp>
      <p:sp>
        <p:nvSpPr>
          <p:cNvPr id="35" name="Text 32"/>
          <p:cNvSpPr/>
          <p:nvPr/>
        </p:nvSpPr>
        <p:spPr>
          <a:xfrm>
            <a:off x="8485632" y="4297680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cambio de parámetros</a:t>
            </a:r>
            <a:endParaRPr lang="en-US" sz="860" dirty="0"/>
          </a:p>
        </p:txBody>
      </p:sp>
      <p:sp>
        <p:nvSpPr>
          <p:cNvPr id="36" name="Shape 33"/>
          <p:cNvSpPr/>
          <p:nvPr/>
        </p:nvSpPr>
        <p:spPr>
          <a:xfrm>
            <a:off x="786384" y="5394960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87552" y="5532120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bloque 4 pregunta si esa mejora sirve fuera de los ejemplos conocidos.</a:t>
            </a:r>
            <a:endParaRPr lang="en-US" sz="134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De Seguimiento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Entrenamiento, error, pérdida y ajuste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77824" y="1828800"/>
            <a:ext cx="9454896" cy="1024128"/>
          </a:xfrm>
          <a:prstGeom prst="roundRect">
            <a:avLst>
              <a:gd name="adj" fmla="val 357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1956816"/>
            <a:ext cx="118872" cy="7680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07008" y="2029968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664208" y="2011680"/>
            <a:ext cx="8430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diferencia hay entre y y ŷ durante el entrenamiento?</a:t>
            </a:r>
            <a:endParaRPr lang="en-US" sz="1230" dirty="0"/>
          </a:p>
        </p:txBody>
      </p:sp>
      <p:sp>
        <p:nvSpPr>
          <p:cNvPr id="14" name="Text 11"/>
          <p:cNvSpPr/>
          <p:nvPr/>
        </p:nvSpPr>
        <p:spPr>
          <a:xfrm>
            <a:off x="1664208" y="2432304"/>
            <a:ext cx="8430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Usa la idea de respuesta real versus predicción del modelo; no las inviertas.</a:t>
            </a:r>
            <a:endParaRPr lang="en-US" sz="940" dirty="0"/>
          </a:p>
        </p:txBody>
      </p:sp>
      <p:sp>
        <p:nvSpPr>
          <p:cNvPr id="15" name="Shape 12"/>
          <p:cNvSpPr/>
          <p:nvPr/>
        </p:nvSpPr>
        <p:spPr>
          <a:xfrm>
            <a:off x="877824" y="3127248"/>
            <a:ext cx="9454896" cy="1024128"/>
          </a:xfrm>
          <a:prstGeom prst="roundRect">
            <a:avLst>
              <a:gd name="adj" fmla="val 357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87552" y="3255264"/>
            <a:ext cx="118872" cy="7680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07008" y="3328416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664208" y="3310128"/>
            <a:ext cx="8430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una función de pérdida es necesaria para entrenar?</a:t>
            </a:r>
            <a:endParaRPr lang="en-US" sz="1230" dirty="0"/>
          </a:p>
        </p:txBody>
      </p:sp>
      <p:sp>
        <p:nvSpPr>
          <p:cNvPr id="19" name="Text 16"/>
          <p:cNvSpPr/>
          <p:nvPr/>
        </p:nvSpPr>
        <p:spPr>
          <a:xfrm>
            <a:off x="1664208" y="3730752"/>
            <a:ext cx="8430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Explica qué señal entrega al modelo para saber si un ajuste mejora o empeora.</a:t>
            </a:r>
            <a:endParaRPr lang="en-US" sz="940" dirty="0"/>
          </a:p>
        </p:txBody>
      </p:sp>
      <p:sp>
        <p:nvSpPr>
          <p:cNvPr id="20" name="Shape 17"/>
          <p:cNvSpPr/>
          <p:nvPr/>
        </p:nvSpPr>
        <p:spPr>
          <a:xfrm>
            <a:off x="877824" y="4425696"/>
            <a:ext cx="9454896" cy="1024128"/>
          </a:xfrm>
          <a:prstGeom prst="roundRect">
            <a:avLst>
              <a:gd name="adj" fmla="val 3571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87552" y="4553712"/>
            <a:ext cx="118872" cy="76809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207008" y="4626864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1664208" y="4608576"/>
            <a:ext cx="8430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bajar la pérdida en entrenamiento no garantiza buen desempeño real?</a:t>
            </a:r>
            <a:endParaRPr lang="en-US" sz="1230" dirty="0"/>
          </a:p>
        </p:txBody>
      </p:sp>
      <p:sp>
        <p:nvSpPr>
          <p:cNvPr id="24" name="Text 21"/>
          <p:cNvSpPr/>
          <p:nvPr/>
        </p:nvSpPr>
        <p:spPr>
          <a:xfrm>
            <a:off x="1664208" y="5029200"/>
            <a:ext cx="8430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Piensa en datos nuevos, etiquetas, memorización y validación fuera del conjunto conocido.</a:t>
            </a:r>
            <a:endParaRPr lang="en-US" sz="94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" y="902513"/>
            <a:ext cx="210312" cy="48371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8758" y="713232"/>
            <a:ext cx="252374" cy="67299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33195" y="902513"/>
            <a:ext cx="210312" cy="48371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pic>
        <p:nvPicPr>
          <p:cNvPr id="5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21792"/>
            <a:ext cx="713232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7007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4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2359152"/>
            <a:ext cx="68580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Generalización,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overfitting y evaluación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841248" y="440740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E4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modelo útil no solo baja pérdida: funciona con casos nuevos y se evalúa con criterio.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601968" y="4681728"/>
            <a:ext cx="3822192" cy="1024128"/>
          </a:xfrm>
          <a:prstGeom prst="roundRect">
            <a:avLst>
              <a:gd name="adj" fmla="val 4464"/>
            </a:avLst>
          </a:prstGeom>
          <a:solidFill>
            <a:srgbClr val="173E64"/>
          </a:solidFill>
          <a:ln w="12700">
            <a:solidFill>
              <a:srgbClr val="2D5E8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711696" y="4828032"/>
            <a:ext cx="109728" cy="73152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94576" y="480974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del bloque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912864" y="5138928"/>
            <a:ext cx="3200400" cy="347472"/>
          </a:xfrm>
          <a:prstGeom prst="roundRect">
            <a:avLst>
              <a:gd name="adj" fmla="val 1052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40880" y="5239512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¿sirve fuera del entrenamiento?</a:t>
            </a:r>
            <a:endParaRPr lang="en-US" sz="1220" dirty="0"/>
          </a:p>
        </p:txBody>
      </p:sp>
      <p:sp>
        <p:nvSpPr>
          <p:cNvPr id="14" name="Text 11"/>
          <p:cNvSpPr/>
          <p:nvPr/>
        </p:nvSpPr>
        <p:spPr>
          <a:xfrm>
            <a:off x="6912864" y="5559552"/>
            <a:ext cx="3200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D8E4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evaluar es tan importante como entrenar</a:t>
            </a:r>
            <a:endParaRPr lang="en-US" sz="88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Aprender No Basta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objetivo real es responder bien ante datos nuevos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914400" y="1828800"/>
            <a:ext cx="9802368" cy="877824"/>
          </a:xfrm>
          <a:prstGeom prst="roundRect">
            <a:avLst>
              <a:gd name="adj" fmla="val 41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15568" y="1993392"/>
            <a:ext cx="9400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modelo puede verse excelente con ejemplos conocidos y fallar cuando cambia el contexto.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914400" y="3218688"/>
            <a:ext cx="2798064" cy="1316736"/>
          </a:xfrm>
          <a:prstGeom prst="roundRect">
            <a:avLst>
              <a:gd name="adj" fmla="val 2778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24128" y="3364992"/>
            <a:ext cx="109728" cy="10241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25296" y="3401568"/>
            <a:ext cx="2340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FOCO 01</a:t>
            </a:r>
            <a:endParaRPr lang="en-US" sz="840" dirty="0"/>
          </a:p>
        </p:txBody>
      </p:sp>
      <p:sp>
        <p:nvSpPr>
          <p:cNvPr id="15" name="Text 12"/>
          <p:cNvSpPr/>
          <p:nvPr/>
        </p:nvSpPr>
        <p:spPr>
          <a:xfrm>
            <a:off x="1225296" y="3657600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Entrenamiento</a:t>
            </a:r>
            <a:endParaRPr lang="en-US" sz="1380" dirty="0"/>
          </a:p>
        </p:txBody>
      </p:sp>
      <p:sp>
        <p:nvSpPr>
          <p:cNvPr id="16" name="Text 13"/>
          <p:cNvSpPr/>
          <p:nvPr/>
        </p:nvSpPr>
        <p:spPr>
          <a:xfrm>
            <a:off x="1225296" y="4096512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casos usados para ajustar pesos</a:t>
            </a:r>
            <a:endParaRPr lang="en-US" sz="960" dirty="0"/>
          </a:p>
        </p:txBody>
      </p:sp>
      <p:sp>
        <p:nvSpPr>
          <p:cNvPr id="17" name="Shape 14"/>
          <p:cNvSpPr/>
          <p:nvPr/>
        </p:nvSpPr>
        <p:spPr>
          <a:xfrm>
            <a:off x="4187952" y="3218688"/>
            <a:ext cx="2798064" cy="1316736"/>
          </a:xfrm>
          <a:prstGeom prst="roundRect">
            <a:avLst>
              <a:gd name="adj" fmla="val 2778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297680" y="3364992"/>
            <a:ext cx="109728" cy="10241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498848" y="3401568"/>
            <a:ext cx="2340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FOCO 02</a:t>
            </a:r>
            <a:endParaRPr lang="en-US" sz="840" dirty="0"/>
          </a:p>
        </p:txBody>
      </p:sp>
      <p:sp>
        <p:nvSpPr>
          <p:cNvPr id="20" name="Text 17"/>
          <p:cNvSpPr/>
          <p:nvPr/>
        </p:nvSpPr>
        <p:spPr>
          <a:xfrm>
            <a:off x="4498848" y="3657600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Uso real</a:t>
            </a:r>
            <a:endParaRPr lang="en-US" sz="1380" dirty="0"/>
          </a:p>
        </p:txBody>
      </p:sp>
      <p:sp>
        <p:nvSpPr>
          <p:cNvPr id="21" name="Text 18"/>
          <p:cNvSpPr/>
          <p:nvPr/>
        </p:nvSpPr>
        <p:spPr>
          <a:xfrm>
            <a:off x="4498848" y="4096512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usuarios, datos y ataques nuevos</a:t>
            </a:r>
            <a:endParaRPr lang="en-US" sz="960" dirty="0"/>
          </a:p>
        </p:txBody>
      </p:sp>
      <p:sp>
        <p:nvSpPr>
          <p:cNvPr id="22" name="Shape 19"/>
          <p:cNvSpPr/>
          <p:nvPr/>
        </p:nvSpPr>
        <p:spPr>
          <a:xfrm>
            <a:off x="7461504" y="3218688"/>
            <a:ext cx="2798064" cy="1316736"/>
          </a:xfrm>
          <a:prstGeom prst="roundRect">
            <a:avLst>
              <a:gd name="adj" fmla="val 2778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571232" y="3364992"/>
            <a:ext cx="109728" cy="10241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72400" y="3401568"/>
            <a:ext cx="2340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FOCO 03</a:t>
            </a:r>
            <a:endParaRPr lang="en-US" sz="840" dirty="0"/>
          </a:p>
        </p:txBody>
      </p:sp>
      <p:sp>
        <p:nvSpPr>
          <p:cNvPr id="25" name="Text 22"/>
          <p:cNvSpPr/>
          <p:nvPr/>
        </p:nvSpPr>
        <p:spPr>
          <a:xfrm>
            <a:off x="7772400" y="3657600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Evaluación</a:t>
            </a:r>
            <a:endParaRPr lang="en-US" sz="1380" dirty="0"/>
          </a:p>
        </p:txBody>
      </p:sp>
      <p:sp>
        <p:nvSpPr>
          <p:cNvPr id="26" name="Text 23"/>
          <p:cNvSpPr/>
          <p:nvPr/>
        </p:nvSpPr>
        <p:spPr>
          <a:xfrm>
            <a:off x="7772400" y="4096512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 si la mejora es confiable</a:t>
            </a:r>
            <a:endParaRPr lang="en-US" sz="960" dirty="0"/>
          </a:p>
        </p:txBody>
      </p:sp>
      <p:sp>
        <p:nvSpPr>
          <p:cNvPr id="27" name="Shape 24"/>
          <p:cNvSpPr/>
          <p:nvPr/>
        </p:nvSpPr>
        <p:spPr>
          <a:xfrm>
            <a:off x="786384" y="5394960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87552" y="5532120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pregunta profesional no es solo cuánto aprendió, sino dónde falla y cuánto cuesta ese error.</a:t>
            </a:r>
            <a:endParaRPr lang="en-US" sz="126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Una Neurona A Una Red Profunda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learning conecta muchas neuronas en capas sucesivas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41248" y="1828800"/>
            <a:ext cx="6656832" cy="3456432"/>
          </a:xfrm>
          <a:prstGeom prst="roundRect">
            <a:avLst>
              <a:gd name="adj" fmla="val 105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0976" y="1975104"/>
            <a:ext cx="109728" cy="316382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flipH="1">
            <a:off x="1645920" y="2359152"/>
            <a:ext cx="1316736" cy="384048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none"/>
          </a:ln>
        </p:spPr>
      </p:sp>
      <p:sp>
        <p:nvSpPr>
          <p:cNvPr id="13" name="Shape 10"/>
          <p:cNvSpPr/>
          <p:nvPr/>
        </p:nvSpPr>
        <p:spPr>
          <a:xfrm>
            <a:off x="1645920" y="2743200"/>
            <a:ext cx="1316736" cy="18288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none"/>
          </a:ln>
        </p:spPr>
      </p:sp>
      <p:sp>
        <p:nvSpPr>
          <p:cNvPr id="14" name="Shape 11"/>
          <p:cNvSpPr/>
          <p:nvPr/>
        </p:nvSpPr>
        <p:spPr>
          <a:xfrm>
            <a:off x="1645920" y="2743200"/>
            <a:ext cx="1316736" cy="749808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none"/>
          </a:ln>
        </p:spPr>
      </p:sp>
      <p:sp>
        <p:nvSpPr>
          <p:cNvPr id="15" name="Shape 12"/>
          <p:cNvSpPr/>
          <p:nvPr/>
        </p:nvSpPr>
        <p:spPr>
          <a:xfrm>
            <a:off x="1645920" y="2743200"/>
            <a:ext cx="1316736" cy="1316736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none"/>
          </a:ln>
        </p:spPr>
      </p:sp>
      <p:sp>
        <p:nvSpPr>
          <p:cNvPr id="16" name="Shape 13"/>
          <p:cNvSpPr/>
          <p:nvPr/>
        </p:nvSpPr>
        <p:spPr>
          <a:xfrm flipH="1">
            <a:off x="1645920" y="2359152"/>
            <a:ext cx="1316736" cy="950976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none"/>
          </a:ln>
        </p:spPr>
      </p:sp>
      <p:sp>
        <p:nvSpPr>
          <p:cNvPr id="17" name="Shape 14"/>
          <p:cNvSpPr/>
          <p:nvPr/>
        </p:nvSpPr>
        <p:spPr>
          <a:xfrm flipH="1">
            <a:off x="1645920" y="2926080"/>
            <a:ext cx="1316736" cy="384048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none"/>
          </a:ln>
        </p:spPr>
      </p:sp>
      <p:sp>
        <p:nvSpPr>
          <p:cNvPr id="18" name="Shape 15"/>
          <p:cNvSpPr/>
          <p:nvPr/>
        </p:nvSpPr>
        <p:spPr>
          <a:xfrm>
            <a:off x="1645920" y="3310128"/>
            <a:ext cx="1316736" cy="18288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none"/>
          </a:ln>
        </p:spPr>
      </p:sp>
      <p:sp>
        <p:nvSpPr>
          <p:cNvPr id="19" name="Shape 16"/>
          <p:cNvSpPr/>
          <p:nvPr/>
        </p:nvSpPr>
        <p:spPr>
          <a:xfrm>
            <a:off x="1645920" y="3310128"/>
            <a:ext cx="1316736" cy="749808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none"/>
          </a:ln>
        </p:spPr>
      </p:sp>
      <p:sp>
        <p:nvSpPr>
          <p:cNvPr id="20" name="Shape 17"/>
          <p:cNvSpPr/>
          <p:nvPr/>
        </p:nvSpPr>
        <p:spPr>
          <a:xfrm flipH="1">
            <a:off x="1645920" y="2359152"/>
            <a:ext cx="1316736" cy="1517904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none"/>
          </a:ln>
        </p:spPr>
      </p:sp>
      <p:sp>
        <p:nvSpPr>
          <p:cNvPr id="21" name="Shape 18"/>
          <p:cNvSpPr/>
          <p:nvPr/>
        </p:nvSpPr>
        <p:spPr>
          <a:xfrm flipH="1">
            <a:off x="1645920" y="2926080"/>
            <a:ext cx="1316736" cy="950976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none"/>
          </a:ln>
        </p:spPr>
      </p:sp>
      <p:sp>
        <p:nvSpPr>
          <p:cNvPr id="22" name="Shape 19"/>
          <p:cNvSpPr/>
          <p:nvPr/>
        </p:nvSpPr>
        <p:spPr>
          <a:xfrm flipH="1">
            <a:off x="1645920" y="3493008"/>
            <a:ext cx="1316736" cy="384048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none"/>
          </a:ln>
        </p:spPr>
      </p:sp>
      <p:sp>
        <p:nvSpPr>
          <p:cNvPr id="23" name="Shape 20"/>
          <p:cNvSpPr/>
          <p:nvPr/>
        </p:nvSpPr>
        <p:spPr>
          <a:xfrm>
            <a:off x="1645920" y="3877056"/>
            <a:ext cx="1316736" cy="18288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none"/>
          </a:ln>
        </p:spPr>
      </p:sp>
      <p:sp>
        <p:nvSpPr>
          <p:cNvPr id="24" name="Shape 21"/>
          <p:cNvSpPr/>
          <p:nvPr/>
        </p:nvSpPr>
        <p:spPr>
          <a:xfrm>
            <a:off x="3255264" y="2359152"/>
            <a:ext cx="1316736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none"/>
          </a:ln>
        </p:spPr>
      </p:sp>
      <p:sp>
        <p:nvSpPr>
          <p:cNvPr id="25" name="Shape 22"/>
          <p:cNvSpPr/>
          <p:nvPr/>
        </p:nvSpPr>
        <p:spPr>
          <a:xfrm>
            <a:off x="3255264" y="2359152"/>
            <a:ext cx="1316736" cy="566928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none"/>
          </a:ln>
        </p:spPr>
      </p:sp>
      <p:sp>
        <p:nvSpPr>
          <p:cNvPr id="26" name="Shape 23"/>
          <p:cNvSpPr/>
          <p:nvPr/>
        </p:nvSpPr>
        <p:spPr>
          <a:xfrm>
            <a:off x="3255264" y="2359152"/>
            <a:ext cx="1316736" cy="1133856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none"/>
          </a:ln>
        </p:spPr>
      </p:sp>
      <p:sp>
        <p:nvSpPr>
          <p:cNvPr id="27" name="Shape 24"/>
          <p:cNvSpPr/>
          <p:nvPr/>
        </p:nvSpPr>
        <p:spPr>
          <a:xfrm>
            <a:off x="3255264" y="2359152"/>
            <a:ext cx="1316736" cy="1700784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none"/>
          </a:ln>
        </p:spPr>
      </p:sp>
      <p:sp>
        <p:nvSpPr>
          <p:cNvPr id="28" name="Shape 25"/>
          <p:cNvSpPr/>
          <p:nvPr/>
        </p:nvSpPr>
        <p:spPr>
          <a:xfrm flipH="1">
            <a:off x="3255264" y="2359152"/>
            <a:ext cx="1316736" cy="566928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none"/>
          </a:ln>
        </p:spPr>
      </p:sp>
      <p:sp>
        <p:nvSpPr>
          <p:cNvPr id="29" name="Shape 26"/>
          <p:cNvSpPr/>
          <p:nvPr/>
        </p:nvSpPr>
        <p:spPr>
          <a:xfrm>
            <a:off x="3255264" y="2926080"/>
            <a:ext cx="1316736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none"/>
          </a:ln>
        </p:spPr>
      </p:sp>
      <p:sp>
        <p:nvSpPr>
          <p:cNvPr id="30" name="Shape 27"/>
          <p:cNvSpPr/>
          <p:nvPr/>
        </p:nvSpPr>
        <p:spPr>
          <a:xfrm>
            <a:off x="3255264" y="2926080"/>
            <a:ext cx="1316736" cy="566928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none"/>
          </a:ln>
        </p:spPr>
      </p:sp>
      <p:sp>
        <p:nvSpPr>
          <p:cNvPr id="31" name="Shape 28"/>
          <p:cNvSpPr/>
          <p:nvPr/>
        </p:nvSpPr>
        <p:spPr>
          <a:xfrm>
            <a:off x="3255264" y="2926080"/>
            <a:ext cx="1316736" cy="1133856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none"/>
          </a:ln>
        </p:spPr>
      </p:sp>
      <p:sp>
        <p:nvSpPr>
          <p:cNvPr id="32" name="Shape 29"/>
          <p:cNvSpPr/>
          <p:nvPr/>
        </p:nvSpPr>
        <p:spPr>
          <a:xfrm flipH="1">
            <a:off x="3255264" y="2359152"/>
            <a:ext cx="1316736" cy="1133856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none"/>
          </a:ln>
        </p:spPr>
      </p:sp>
      <p:sp>
        <p:nvSpPr>
          <p:cNvPr id="33" name="Shape 30"/>
          <p:cNvSpPr/>
          <p:nvPr/>
        </p:nvSpPr>
        <p:spPr>
          <a:xfrm flipH="1">
            <a:off x="3255264" y="2926080"/>
            <a:ext cx="1316736" cy="566928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none"/>
          </a:ln>
        </p:spPr>
      </p:sp>
      <p:sp>
        <p:nvSpPr>
          <p:cNvPr id="34" name="Shape 31"/>
          <p:cNvSpPr/>
          <p:nvPr/>
        </p:nvSpPr>
        <p:spPr>
          <a:xfrm>
            <a:off x="3255264" y="3493008"/>
            <a:ext cx="1316736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none"/>
          </a:ln>
        </p:spPr>
      </p:sp>
      <p:sp>
        <p:nvSpPr>
          <p:cNvPr id="35" name="Shape 32"/>
          <p:cNvSpPr/>
          <p:nvPr/>
        </p:nvSpPr>
        <p:spPr>
          <a:xfrm>
            <a:off x="3255264" y="3493008"/>
            <a:ext cx="1316736" cy="566928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none"/>
          </a:ln>
        </p:spPr>
      </p:sp>
      <p:sp>
        <p:nvSpPr>
          <p:cNvPr id="36" name="Shape 33"/>
          <p:cNvSpPr/>
          <p:nvPr/>
        </p:nvSpPr>
        <p:spPr>
          <a:xfrm flipH="1">
            <a:off x="3255264" y="2359152"/>
            <a:ext cx="1316736" cy="1700784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none"/>
          </a:ln>
        </p:spPr>
      </p:sp>
      <p:sp>
        <p:nvSpPr>
          <p:cNvPr id="37" name="Shape 34"/>
          <p:cNvSpPr/>
          <p:nvPr/>
        </p:nvSpPr>
        <p:spPr>
          <a:xfrm flipH="1">
            <a:off x="3255264" y="2926080"/>
            <a:ext cx="1316736" cy="1133856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none"/>
          </a:ln>
        </p:spPr>
      </p:sp>
      <p:sp>
        <p:nvSpPr>
          <p:cNvPr id="38" name="Shape 35"/>
          <p:cNvSpPr/>
          <p:nvPr/>
        </p:nvSpPr>
        <p:spPr>
          <a:xfrm flipH="1">
            <a:off x="3255264" y="3493008"/>
            <a:ext cx="1316736" cy="566928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none"/>
          </a:ln>
        </p:spPr>
      </p:sp>
      <p:sp>
        <p:nvSpPr>
          <p:cNvPr id="39" name="Shape 36"/>
          <p:cNvSpPr/>
          <p:nvPr/>
        </p:nvSpPr>
        <p:spPr>
          <a:xfrm>
            <a:off x="3255264" y="4059936"/>
            <a:ext cx="1316736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none"/>
          </a:ln>
        </p:spPr>
      </p:sp>
      <p:sp>
        <p:nvSpPr>
          <p:cNvPr id="40" name="Shape 37"/>
          <p:cNvSpPr/>
          <p:nvPr/>
        </p:nvSpPr>
        <p:spPr>
          <a:xfrm>
            <a:off x="4864608" y="2359152"/>
            <a:ext cx="1316736" cy="768096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none"/>
          </a:ln>
        </p:spPr>
      </p:sp>
      <p:sp>
        <p:nvSpPr>
          <p:cNvPr id="41" name="Shape 38"/>
          <p:cNvSpPr/>
          <p:nvPr/>
        </p:nvSpPr>
        <p:spPr>
          <a:xfrm>
            <a:off x="4864608" y="2359152"/>
            <a:ext cx="1316736" cy="1335024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none"/>
          </a:ln>
        </p:spPr>
      </p:sp>
      <p:sp>
        <p:nvSpPr>
          <p:cNvPr id="42" name="Shape 39"/>
          <p:cNvSpPr/>
          <p:nvPr/>
        </p:nvSpPr>
        <p:spPr>
          <a:xfrm>
            <a:off x="4864608" y="2926080"/>
            <a:ext cx="1316736" cy="201168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none"/>
          </a:ln>
        </p:spPr>
      </p:sp>
      <p:sp>
        <p:nvSpPr>
          <p:cNvPr id="43" name="Shape 40"/>
          <p:cNvSpPr/>
          <p:nvPr/>
        </p:nvSpPr>
        <p:spPr>
          <a:xfrm>
            <a:off x="4864608" y="2926080"/>
            <a:ext cx="1316736" cy="768096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none"/>
          </a:ln>
        </p:spPr>
      </p:sp>
      <p:sp>
        <p:nvSpPr>
          <p:cNvPr id="44" name="Shape 41"/>
          <p:cNvSpPr/>
          <p:nvPr/>
        </p:nvSpPr>
        <p:spPr>
          <a:xfrm flipH="1">
            <a:off x="4864608" y="3127248"/>
            <a:ext cx="1316736" cy="36576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none"/>
          </a:ln>
        </p:spPr>
      </p:sp>
      <p:sp>
        <p:nvSpPr>
          <p:cNvPr id="45" name="Shape 42"/>
          <p:cNvSpPr/>
          <p:nvPr/>
        </p:nvSpPr>
        <p:spPr>
          <a:xfrm>
            <a:off x="4864608" y="3493008"/>
            <a:ext cx="1316736" cy="201168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none"/>
          </a:ln>
        </p:spPr>
      </p:sp>
      <p:sp>
        <p:nvSpPr>
          <p:cNvPr id="46" name="Shape 43"/>
          <p:cNvSpPr/>
          <p:nvPr/>
        </p:nvSpPr>
        <p:spPr>
          <a:xfrm flipH="1">
            <a:off x="4864608" y="3127248"/>
            <a:ext cx="1316736" cy="932688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none"/>
          </a:ln>
        </p:spPr>
      </p:sp>
      <p:sp>
        <p:nvSpPr>
          <p:cNvPr id="47" name="Shape 44"/>
          <p:cNvSpPr/>
          <p:nvPr/>
        </p:nvSpPr>
        <p:spPr>
          <a:xfrm flipH="1">
            <a:off x="4864608" y="3694176"/>
            <a:ext cx="1316736" cy="36576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none"/>
          </a:ln>
        </p:spPr>
      </p:sp>
      <p:sp>
        <p:nvSpPr>
          <p:cNvPr id="48" name="Shape 45"/>
          <p:cNvSpPr/>
          <p:nvPr/>
        </p:nvSpPr>
        <p:spPr>
          <a:xfrm>
            <a:off x="1353312" y="2596896"/>
            <a:ext cx="292608" cy="292608"/>
          </a:xfrm>
          <a:prstGeom prst="ellipse">
            <a:avLst/>
          </a:prstGeom>
          <a:solidFill>
            <a:srgbClr val="F2E7D9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1353312" y="3163824"/>
            <a:ext cx="292608" cy="292608"/>
          </a:xfrm>
          <a:prstGeom prst="ellipse">
            <a:avLst/>
          </a:prstGeom>
          <a:solidFill>
            <a:srgbClr val="F2E7D9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1353312" y="3730752"/>
            <a:ext cx="292608" cy="292608"/>
          </a:xfrm>
          <a:prstGeom prst="ellipse">
            <a:avLst/>
          </a:prstGeom>
          <a:solidFill>
            <a:srgbClr val="F2E7D9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2962656" y="2212848"/>
            <a:ext cx="292608" cy="292608"/>
          </a:xfrm>
          <a:prstGeom prst="ellipse">
            <a:avLst/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2962656" y="2779776"/>
            <a:ext cx="292608" cy="292608"/>
          </a:xfrm>
          <a:prstGeom prst="ellipse">
            <a:avLst/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2962656" y="3346704"/>
            <a:ext cx="292608" cy="292608"/>
          </a:xfrm>
          <a:prstGeom prst="ellipse">
            <a:avLst/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2962656" y="3913632"/>
            <a:ext cx="292608" cy="292608"/>
          </a:xfrm>
          <a:prstGeom prst="ellipse">
            <a:avLst/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4572000" y="2212848"/>
            <a:ext cx="292608" cy="292608"/>
          </a:xfrm>
          <a:prstGeom prst="ellipse">
            <a:avLst/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4572000" y="2779776"/>
            <a:ext cx="292608" cy="292608"/>
          </a:xfrm>
          <a:prstGeom prst="ellipse">
            <a:avLst/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4572000" y="3346704"/>
            <a:ext cx="292608" cy="292608"/>
          </a:xfrm>
          <a:prstGeom prst="ellipse">
            <a:avLst/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4572000" y="3913632"/>
            <a:ext cx="292608" cy="292608"/>
          </a:xfrm>
          <a:prstGeom prst="ellipse">
            <a:avLst/>
          </a:prstGeom>
          <a:solidFill>
            <a:srgbClr val="E6EEF7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6181344" y="2980944"/>
            <a:ext cx="292608" cy="292608"/>
          </a:xfrm>
          <a:prstGeom prst="ellipse">
            <a:avLst/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6181344" y="3547872"/>
            <a:ext cx="292608" cy="292608"/>
          </a:xfrm>
          <a:prstGeom prst="ellipse">
            <a:avLst/>
          </a:prstGeom>
          <a:solidFill>
            <a:srgbClr val="F8E4E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950976" y="49011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Entrada</a:t>
            </a:r>
            <a:endParaRPr lang="en-US" sz="960" dirty="0"/>
          </a:p>
        </p:txBody>
      </p:sp>
      <p:sp>
        <p:nvSpPr>
          <p:cNvPr id="62" name="Text 59"/>
          <p:cNvSpPr/>
          <p:nvPr/>
        </p:nvSpPr>
        <p:spPr>
          <a:xfrm>
            <a:off x="2560320" y="49011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Oculta 1</a:t>
            </a:r>
            <a:endParaRPr lang="en-US" sz="960" dirty="0"/>
          </a:p>
        </p:txBody>
      </p:sp>
      <p:sp>
        <p:nvSpPr>
          <p:cNvPr id="63" name="Text 60"/>
          <p:cNvSpPr/>
          <p:nvPr/>
        </p:nvSpPr>
        <p:spPr>
          <a:xfrm>
            <a:off x="4169664" y="49011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Oculta 2</a:t>
            </a:r>
            <a:endParaRPr lang="en-US" sz="960" dirty="0"/>
          </a:p>
        </p:txBody>
      </p:sp>
      <p:sp>
        <p:nvSpPr>
          <p:cNvPr id="64" name="Text 61"/>
          <p:cNvSpPr/>
          <p:nvPr/>
        </p:nvSpPr>
        <p:spPr>
          <a:xfrm>
            <a:off x="5779008" y="49011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Salida</a:t>
            </a:r>
            <a:endParaRPr lang="en-US" sz="960" dirty="0"/>
          </a:p>
        </p:txBody>
      </p:sp>
      <p:sp>
        <p:nvSpPr>
          <p:cNvPr id="65" name="Shape 62"/>
          <p:cNvSpPr/>
          <p:nvPr/>
        </p:nvSpPr>
        <p:spPr>
          <a:xfrm>
            <a:off x="7882128" y="1828800"/>
            <a:ext cx="2651760" cy="1024128"/>
          </a:xfrm>
          <a:prstGeom prst="roundRect">
            <a:avLst>
              <a:gd name="adj" fmla="val 357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7991856" y="1975104"/>
            <a:ext cx="109728" cy="7315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8193024" y="20116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CLAVE</a:t>
            </a:r>
            <a:endParaRPr lang="en-US" sz="840" dirty="0"/>
          </a:p>
        </p:txBody>
      </p:sp>
      <p:sp>
        <p:nvSpPr>
          <p:cNvPr id="68" name="Text 65"/>
          <p:cNvSpPr/>
          <p:nvPr/>
        </p:nvSpPr>
        <p:spPr>
          <a:xfrm>
            <a:off x="8193024" y="2267712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profunda</a:t>
            </a:r>
            <a:endParaRPr lang="en-US" sz="1300" dirty="0"/>
          </a:p>
        </p:txBody>
      </p:sp>
      <p:sp>
        <p:nvSpPr>
          <p:cNvPr id="69" name="Text 66"/>
          <p:cNvSpPr/>
          <p:nvPr/>
        </p:nvSpPr>
        <p:spPr>
          <a:xfrm>
            <a:off x="8193024" y="2542032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varias capas transforman los datos</a:t>
            </a:r>
            <a:endParaRPr lang="en-US" sz="900" dirty="0"/>
          </a:p>
        </p:txBody>
      </p:sp>
      <p:sp>
        <p:nvSpPr>
          <p:cNvPr id="70" name="Shape 67"/>
          <p:cNvSpPr/>
          <p:nvPr/>
        </p:nvSpPr>
        <p:spPr>
          <a:xfrm>
            <a:off x="7882128" y="3090672"/>
            <a:ext cx="2651760" cy="1024128"/>
          </a:xfrm>
          <a:prstGeom prst="roundRect">
            <a:avLst>
              <a:gd name="adj" fmla="val 3571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7991856" y="3236976"/>
            <a:ext cx="109728" cy="73152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8193024" y="327355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SIGNIFICA</a:t>
            </a:r>
            <a:endParaRPr lang="en-US" sz="840" dirty="0"/>
          </a:p>
        </p:txBody>
      </p:sp>
      <p:sp>
        <p:nvSpPr>
          <p:cNvPr id="73" name="Text 70"/>
          <p:cNvSpPr/>
          <p:nvPr/>
        </p:nvSpPr>
        <p:spPr>
          <a:xfrm>
            <a:off x="8193024" y="3529584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pensamiento</a:t>
            </a:r>
            <a:endParaRPr lang="en-US" sz="1300" dirty="0"/>
          </a:p>
        </p:txBody>
      </p:sp>
      <p:sp>
        <p:nvSpPr>
          <p:cNvPr id="74" name="Text 71"/>
          <p:cNvSpPr/>
          <p:nvPr/>
        </p:nvSpPr>
        <p:spPr>
          <a:xfrm>
            <a:off x="8193024" y="3803904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piensa como una persona</a:t>
            </a:r>
            <a:endParaRPr lang="en-US" sz="900" dirty="0"/>
          </a:p>
        </p:txBody>
      </p:sp>
      <p:sp>
        <p:nvSpPr>
          <p:cNvPr id="75" name="Shape 72"/>
          <p:cNvSpPr/>
          <p:nvPr/>
        </p:nvSpPr>
        <p:spPr>
          <a:xfrm>
            <a:off x="786384" y="5449824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987552" y="5586984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profundidad es una propiedad de la arquitectura, no una prueba de comprensión humana.</a:t>
            </a:r>
            <a:endParaRPr lang="en-US" sz="124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Hace Una Capa Oculta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capas intermedias construyen representaciones más elaboradas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04672" y="2139696"/>
            <a:ext cx="2103120" cy="1993392"/>
          </a:xfrm>
          <a:prstGeom prst="roundRect">
            <a:avLst>
              <a:gd name="adj" fmla="val 1835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4400" y="2286000"/>
            <a:ext cx="109728" cy="170078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322576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 01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1115568" y="257860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Datos originales</a:t>
            </a:r>
            <a:endParaRPr lang="en-US" sz="1260" dirty="0"/>
          </a:p>
        </p:txBody>
      </p:sp>
      <p:sp>
        <p:nvSpPr>
          <p:cNvPr id="14" name="Text 11"/>
          <p:cNvSpPr/>
          <p:nvPr/>
        </p:nvSpPr>
        <p:spPr>
          <a:xfrm>
            <a:off x="1115568" y="3145536"/>
            <a:ext cx="162763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pixeles, palabras, señales</a:t>
            </a:r>
            <a:endParaRPr lang="en-US" sz="940" dirty="0"/>
          </a:p>
        </p:txBody>
      </p:sp>
      <p:sp>
        <p:nvSpPr>
          <p:cNvPr id="15" name="Shape 12"/>
          <p:cNvSpPr/>
          <p:nvPr/>
        </p:nvSpPr>
        <p:spPr>
          <a:xfrm>
            <a:off x="2962656" y="3127248"/>
            <a:ext cx="310896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3291840" y="2139696"/>
            <a:ext cx="2103120" cy="1993392"/>
          </a:xfrm>
          <a:prstGeom prst="roundRect">
            <a:avLst>
              <a:gd name="adj" fmla="val 1835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401568" y="2286000"/>
            <a:ext cx="109728" cy="170078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02736" y="2322576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 02</a:t>
            </a:r>
            <a:endParaRPr lang="en-US" sz="840" dirty="0"/>
          </a:p>
        </p:txBody>
      </p:sp>
      <p:sp>
        <p:nvSpPr>
          <p:cNvPr id="19" name="Text 16"/>
          <p:cNvSpPr/>
          <p:nvPr/>
        </p:nvSpPr>
        <p:spPr>
          <a:xfrm>
            <a:off x="3602736" y="257860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Rasgos simples</a:t>
            </a:r>
            <a:endParaRPr lang="en-US" sz="1260" dirty="0"/>
          </a:p>
        </p:txBody>
      </p:sp>
      <p:sp>
        <p:nvSpPr>
          <p:cNvPr id="20" name="Text 17"/>
          <p:cNvSpPr/>
          <p:nvPr/>
        </p:nvSpPr>
        <p:spPr>
          <a:xfrm>
            <a:off x="3602736" y="3145536"/>
            <a:ext cx="162763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bordes, términos, eventos</a:t>
            </a:r>
            <a:endParaRPr lang="en-US" sz="940" dirty="0"/>
          </a:p>
        </p:txBody>
      </p:sp>
      <p:sp>
        <p:nvSpPr>
          <p:cNvPr id="21" name="Shape 18"/>
          <p:cNvSpPr/>
          <p:nvPr/>
        </p:nvSpPr>
        <p:spPr>
          <a:xfrm>
            <a:off x="5449824" y="3127248"/>
            <a:ext cx="310896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5779008" y="2139696"/>
            <a:ext cx="2103120" cy="1993392"/>
          </a:xfrm>
          <a:prstGeom prst="roundRect">
            <a:avLst>
              <a:gd name="adj" fmla="val 1835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888736" y="2286000"/>
            <a:ext cx="109728" cy="170078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089904" y="2322576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 03</a:t>
            </a:r>
            <a:endParaRPr lang="en-US" sz="840" dirty="0"/>
          </a:p>
        </p:txBody>
      </p:sp>
      <p:sp>
        <p:nvSpPr>
          <p:cNvPr id="25" name="Text 22"/>
          <p:cNvSpPr/>
          <p:nvPr/>
        </p:nvSpPr>
        <p:spPr>
          <a:xfrm>
            <a:off x="6089904" y="257860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Patrones compuestos</a:t>
            </a:r>
            <a:endParaRPr lang="en-US" sz="1260" dirty="0"/>
          </a:p>
        </p:txBody>
      </p:sp>
      <p:sp>
        <p:nvSpPr>
          <p:cNvPr id="26" name="Text 23"/>
          <p:cNvSpPr/>
          <p:nvPr/>
        </p:nvSpPr>
        <p:spPr>
          <a:xfrm>
            <a:off x="6089904" y="3145536"/>
            <a:ext cx="162763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formas, contexto, comportamiento</a:t>
            </a:r>
            <a:endParaRPr lang="en-US" sz="940" dirty="0"/>
          </a:p>
        </p:txBody>
      </p:sp>
      <p:sp>
        <p:nvSpPr>
          <p:cNvPr id="27" name="Shape 24"/>
          <p:cNvSpPr/>
          <p:nvPr/>
        </p:nvSpPr>
        <p:spPr>
          <a:xfrm>
            <a:off x="7936992" y="3127248"/>
            <a:ext cx="310896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8266176" y="2139696"/>
            <a:ext cx="2103120" cy="1993392"/>
          </a:xfrm>
          <a:prstGeom prst="roundRect">
            <a:avLst>
              <a:gd name="adj" fmla="val 1835"/>
            </a:avLst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375904" y="2286000"/>
            <a:ext cx="109728" cy="1700784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577072" y="2322576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 04</a:t>
            </a:r>
            <a:endParaRPr lang="en-US" sz="840" dirty="0"/>
          </a:p>
        </p:txBody>
      </p:sp>
      <p:sp>
        <p:nvSpPr>
          <p:cNvPr id="31" name="Text 28"/>
          <p:cNvSpPr/>
          <p:nvPr/>
        </p:nvSpPr>
        <p:spPr>
          <a:xfrm>
            <a:off x="8577072" y="257860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Predicción</a:t>
            </a:r>
            <a:endParaRPr lang="en-US" sz="1260" dirty="0"/>
          </a:p>
        </p:txBody>
      </p:sp>
      <p:sp>
        <p:nvSpPr>
          <p:cNvPr id="32" name="Text 29"/>
          <p:cNvSpPr/>
          <p:nvPr/>
        </p:nvSpPr>
        <p:spPr>
          <a:xfrm>
            <a:off x="8577072" y="3145536"/>
            <a:ext cx="162763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clase, riesgo o puntaje</a:t>
            </a:r>
            <a:endParaRPr lang="en-US" sz="940" dirty="0"/>
          </a:p>
        </p:txBody>
      </p:sp>
      <p:sp>
        <p:nvSpPr>
          <p:cNvPr id="33" name="Shape 30"/>
          <p:cNvSpPr/>
          <p:nvPr/>
        </p:nvSpPr>
        <p:spPr>
          <a:xfrm>
            <a:off x="786384" y="5394960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87552" y="5532120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capa oculta no es magia: es una transformación intermedia aprendida desde datos.</a:t>
            </a:r>
            <a:endParaRPr lang="en-US" sz="128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Patrones Cada Vez Más Complejos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misma intuición sirve para imágenes, texto y seguridad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914400" y="1993392"/>
            <a:ext cx="9473184" cy="749808"/>
          </a:xfrm>
          <a:prstGeom prst="roundRect">
            <a:avLst>
              <a:gd name="adj" fmla="val 487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24128" y="2139696"/>
            <a:ext cx="109728" cy="4572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61872" y="2157984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Imagen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2743200" y="2176272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bordes -&gt; formas -&gt; partes -&gt; objeto</a:t>
            </a:r>
            <a:endParaRPr lang="en-US" sz="1340" dirty="0"/>
          </a:p>
        </p:txBody>
      </p:sp>
      <p:sp>
        <p:nvSpPr>
          <p:cNvPr id="14" name="Shape 11"/>
          <p:cNvSpPr/>
          <p:nvPr/>
        </p:nvSpPr>
        <p:spPr>
          <a:xfrm>
            <a:off x="914400" y="3054096"/>
            <a:ext cx="9473184" cy="749808"/>
          </a:xfrm>
          <a:prstGeom prst="roundRect">
            <a:avLst>
              <a:gd name="adj" fmla="val 4878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24128" y="3200400"/>
            <a:ext cx="109728" cy="45720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61872" y="3218688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Texto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2743200" y="3236976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palabras -&gt; relaciones -&gt; contexto -&gt; intención</a:t>
            </a:r>
            <a:endParaRPr lang="en-US" sz="1340" dirty="0"/>
          </a:p>
        </p:txBody>
      </p:sp>
      <p:sp>
        <p:nvSpPr>
          <p:cNvPr id="18" name="Shape 15"/>
          <p:cNvSpPr/>
          <p:nvPr/>
        </p:nvSpPr>
        <p:spPr>
          <a:xfrm>
            <a:off x="914400" y="4114800"/>
            <a:ext cx="9473184" cy="749808"/>
          </a:xfrm>
          <a:prstGeom prst="roundRect">
            <a:avLst>
              <a:gd name="adj" fmla="val 4878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24128" y="4261104"/>
            <a:ext cx="109728" cy="45720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61872" y="4279392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Cyber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2743200" y="4297680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evento -&gt; patrón -&gt; campaña -&gt; riesgo</a:t>
            </a:r>
            <a:endParaRPr lang="en-US" sz="1340" dirty="0"/>
          </a:p>
        </p:txBody>
      </p:sp>
      <p:sp>
        <p:nvSpPr>
          <p:cNvPr id="22" name="Shape 19"/>
          <p:cNvSpPr/>
          <p:nvPr/>
        </p:nvSpPr>
        <p:spPr>
          <a:xfrm>
            <a:off x="786384" y="5394960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87552" y="5532120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Las representaciones internas pueden ser útiles, pero también pueden capturar pistas superficiales.</a:t>
            </a:r>
            <a:endParaRPr lang="en-US" sz="12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Parámetros: Flexibilidad Con Costo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red pequeña ya tiene muchos valores ajustables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77824" y="1828800"/>
            <a:ext cx="9436608" cy="859536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1975104"/>
            <a:ext cx="109728" cy="5669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1956816"/>
            <a:ext cx="8997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Red mínima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1188720" y="2286000"/>
            <a:ext cx="8814816" cy="347472"/>
          </a:xfrm>
          <a:prstGeom prst="roundRect">
            <a:avLst>
              <a:gd name="adj" fmla="val 1052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16736" y="2386584"/>
            <a:ext cx="8558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entradas -&gt; 4 neuronas ocultas -&gt; 1 salida</a:t>
            </a:r>
            <a:endParaRPr lang="en-US" sz="1420" dirty="0"/>
          </a:p>
        </p:txBody>
      </p:sp>
      <p:sp>
        <p:nvSpPr>
          <p:cNvPr id="15" name="Text 12"/>
          <p:cNvSpPr/>
          <p:nvPr/>
        </p:nvSpPr>
        <p:spPr>
          <a:xfrm>
            <a:off x="1188720" y="2706624"/>
            <a:ext cx="88148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conexión tiene un peso; cada neurona puede tener sesgo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1133856" y="2999232"/>
            <a:ext cx="8686800" cy="310896"/>
          </a:xfrm>
          <a:prstGeom prst="roundRect">
            <a:avLst>
              <a:gd name="adj" fmla="val 7353"/>
            </a:avLst>
          </a:prstGeom>
          <a:solidFill>
            <a:srgbClr val="EEF2F6">
              <a:alpha val="88000"/>
            </a:srgbClr>
          </a:solidFill>
          <a:ln w="12700">
            <a:solidFill>
              <a:srgbClr val="EEF2F6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98448" y="305409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pesos entrada -&gt; oculta</a:t>
            </a:r>
            <a:endParaRPr lang="en-US" sz="1020" dirty="0"/>
          </a:p>
        </p:txBody>
      </p:sp>
      <p:sp>
        <p:nvSpPr>
          <p:cNvPr id="18" name="Text 15"/>
          <p:cNvSpPr/>
          <p:nvPr/>
        </p:nvSpPr>
        <p:spPr>
          <a:xfrm>
            <a:off x="5394960" y="305409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* 4</a:t>
            </a:r>
            <a:endParaRPr lang="en-US" sz="1080" dirty="0"/>
          </a:p>
        </p:txBody>
      </p:sp>
      <p:sp>
        <p:nvSpPr>
          <p:cNvPr id="19" name="Text 16"/>
          <p:cNvSpPr/>
          <p:nvPr/>
        </p:nvSpPr>
        <p:spPr>
          <a:xfrm>
            <a:off x="7900416" y="305409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1220" dirty="0"/>
          </a:p>
        </p:txBody>
      </p:sp>
      <p:sp>
        <p:nvSpPr>
          <p:cNvPr id="20" name="Shape 17"/>
          <p:cNvSpPr/>
          <p:nvPr/>
        </p:nvSpPr>
        <p:spPr>
          <a:xfrm>
            <a:off x="1133856" y="3401568"/>
            <a:ext cx="8686800" cy="310896"/>
          </a:xfrm>
          <a:prstGeom prst="roundRect">
            <a:avLst>
              <a:gd name="adj" fmla="val 7353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EEF2F6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98448" y="34564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sesgos capa oculta</a:t>
            </a:r>
            <a:endParaRPr lang="en-US" sz="1020" dirty="0"/>
          </a:p>
        </p:txBody>
      </p:sp>
      <p:sp>
        <p:nvSpPr>
          <p:cNvPr id="22" name="Text 19"/>
          <p:cNvSpPr/>
          <p:nvPr/>
        </p:nvSpPr>
        <p:spPr>
          <a:xfrm>
            <a:off x="5394960" y="34564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80" dirty="0"/>
          </a:p>
        </p:txBody>
      </p:sp>
      <p:sp>
        <p:nvSpPr>
          <p:cNvPr id="23" name="Text 20"/>
          <p:cNvSpPr/>
          <p:nvPr/>
        </p:nvSpPr>
        <p:spPr>
          <a:xfrm>
            <a:off x="7900416" y="34564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220" dirty="0"/>
          </a:p>
        </p:txBody>
      </p:sp>
      <p:sp>
        <p:nvSpPr>
          <p:cNvPr id="24" name="Shape 21"/>
          <p:cNvSpPr/>
          <p:nvPr/>
        </p:nvSpPr>
        <p:spPr>
          <a:xfrm>
            <a:off x="1133856" y="3803904"/>
            <a:ext cx="8686800" cy="310896"/>
          </a:xfrm>
          <a:prstGeom prst="roundRect">
            <a:avLst>
              <a:gd name="adj" fmla="val 7353"/>
            </a:avLst>
          </a:prstGeom>
          <a:solidFill>
            <a:srgbClr val="EEF2F6">
              <a:alpha val="88000"/>
            </a:srgbClr>
          </a:solidFill>
          <a:ln w="12700">
            <a:solidFill>
              <a:srgbClr val="EEF2F6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298448" y="38587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pesos oculta -&gt; salida</a:t>
            </a:r>
            <a:endParaRPr lang="en-US" sz="1020" dirty="0"/>
          </a:p>
        </p:txBody>
      </p:sp>
      <p:sp>
        <p:nvSpPr>
          <p:cNvPr id="26" name="Text 23"/>
          <p:cNvSpPr/>
          <p:nvPr/>
        </p:nvSpPr>
        <p:spPr>
          <a:xfrm>
            <a:off x="5394960" y="385876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80" dirty="0"/>
          </a:p>
        </p:txBody>
      </p:sp>
      <p:sp>
        <p:nvSpPr>
          <p:cNvPr id="27" name="Text 24"/>
          <p:cNvSpPr/>
          <p:nvPr/>
        </p:nvSpPr>
        <p:spPr>
          <a:xfrm>
            <a:off x="7900416" y="385876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220" dirty="0"/>
          </a:p>
        </p:txBody>
      </p:sp>
      <p:sp>
        <p:nvSpPr>
          <p:cNvPr id="28" name="Shape 25"/>
          <p:cNvSpPr/>
          <p:nvPr/>
        </p:nvSpPr>
        <p:spPr>
          <a:xfrm>
            <a:off x="1133856" y="4206240"/>
            <a:ext cx="8686800" cy="310896"/>
          </a:xfrm>
          <a:prstGeom prst="roundRect">
            <a:avLst>
              <a:gd name="adj" fmla="val 7353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EEF2F6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298448" y="426110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sesgo salida</a:t>
            </a:r>
            <a:endParaRPr lang="en-US" sz="1020" dirty="0"/>
          </a:p>
        </p:txBody>
      </p:sp>
      <p:sp>
        <p:nvSpPr>
          <p:cNvPr id="30" name="Text 27"/>
          <p:cNvSpPr/>
          <p:nvPr/>
        </p:nvSpPr>
        <p:spPr>
          <a:xfrm>
            <a:off x="5394960" y="426110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80" dirty="0"/>
          </a:p>
        </p:txBody>
      </p:sp>
      <p:sp>
        <p:nvSpPr>
          <p:cNvPr id="31" name="Text 28"/>
          <p:cNvSpPr/>
          <p:nvPr/>
        </p:nvSpPr>
        <p:spPr>
          <a:xfrm>
            <a:off x="7900416" y="426110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220" dirty="0"/>
          </a:p>
        </p:txBody>
      </p:sp>
      <p:sp>
        <p:nvSpPr>
          <p:cNvPr id="32" name="Shape 29"/>
          <p:cNvSpPr/>
          <p:nvPr/>
        </p:nvSpPr>
        <p:spPr>
          <a:xfrm>
            <a:off x="2926080" y="4791456"/>
            <a:ext cx="4937760" cy="493776"/>
          </a:xfrm>
          <a:prstGeom prst="roundRect">
            <a:avLst>
              <a:gd name="adj" fmla="val 740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127248" y="4956048"/>
            <a:ext cx="4535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Total aproximado: 21 parámetros</a:t>
            </a:r>
            <a:endParaRPr lang="en-US" sz="1700" dirty="0"/>
          </a:p>
        </p:txBody>
      </p:sp>
      <p:sp>
        <p:nvSpPr>
          <p:cNvPr id="34" name="Shape 31"/>
          <p:cNvSpPr/>
          <p:nvPr/>
        </p:nvSpPr>
        <p:spPr>
          <a:xfrm>
            <a:off x="786384" y="5559552"/>
            <a:ext cx="9966960" cy="457200"/>
          </a:xfrm>
          <a:prstGeom prst="roundRect">
            <a:avLst>
              <a:gd name="adj" fmla="val 8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87552" y="5696712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Más parámetros aumentan capacidad, pero también pueden memorizar ruido si la evaluación es débil.</a:t>
            </a:r>
            <a:endParaRPr lang="en-US" sz="118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Generalización: El Objetivo Real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modelo debe funcionar con datos que no vio durante el entrenamiento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914400" y="2011680"/>
            <a:ext cx="4206240" cy="2231136"/>
          </a:xfrm>
          <a:prstGeom prst="roundRect">
            <a:avLst>
              <a:gd name="adj" fmla="val 163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24128" y="2157984"/>
            <a:ext cx="109728" cy="19385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61872" y="22860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Conocido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298448" y="2880360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499616" y="28346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correos del dataset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1298448" y="3282696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499616" y="323697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casos usados para aprender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1298448" y="3685032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499616" y="363931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patrones ya vistos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5303520" y="3054096"/>
            <a:ext cx="749808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6236208" y="2011680"/>
            <a:ext cx="4206240" cy="2231136"/>
          </a:xfrm>
          <a:prstGeom prst="roundRect">
            <a:avLst>
              <a:gd name="adj" fmla="val 163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45936" y="2157984"/>
            <a:ext cx="109728" cy="19385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83680" y="22860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Nuevo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620256" y="2880360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21424" y="28346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correos de mañana</a:t>
            </a:r>
            <a:endParaRPr lang="en-US" sz="1080" dirty="0"/>
          </a:p>
        </p:txBody>
      </p:sp>
      <p:sp>
        <p:nvSpPr>
          <p:cNvPr id="25" name="Shape 22"/>
          <p:cNvSpPr/>
          <p:nvPr/>
        </p:nvSpPr>
        <p:spPr>
          <a:xfrm>
            <a:off x="6620256" y="3282696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821424" y="323697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usuarios distintos</a:t>
            </a:r>
            <a:endParaRPr lang="en-US" sz="1080" dirty="0"/>
          </a:p>
        </p:txBody>
      </p:sp>
      <p:sp>
        <p:nvSpPr>
          <p:cNvPr id="27" name="Shape 24"/>
          <p:cNvSpPr/>
          <p:nvPr/>
        </p:nvSpPr>
        <p:spPr>
          <a:xfrm>
            <a:off x="6620256" y="3685032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821424" y="363931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ataques que cambian</a:t>
            </a:r>
            <a:endParaRPr lang="en-US" sz="1080" dirty="0"/>
          </a:p>
        </p:txBody>
      </p:sp>
      <p:sp>
        <p:nvSpPr>
          <p:cNvPr id="29" name="Shape 26"/>
          <p:cNvSpPr/>
          <p:nvPr/>
        </p:nvSpPr>
        <p:spPr>
          <a:xfrm>
            <a:off x="786384" y="5358384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87552" y="5495544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Generalizar significa aprender patrones útiles, no memorizar respuestas conocidas.</a:t>
            </a:r>
            <a:endParaRPr lang="en-US" sz="13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Separar Datos: Entrenamiento Y Prueba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evaluación simula casos que el modelo no usó para aprender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914400" y="1920240"/>
            <a:ext cx="9509760" cy="530352"/>
          </a:xfrm>
          <a:prstGeom prst="roundRect">
            <a:avLst>
              <a:gd name="adj" fmla="val 689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15568" y="2084832"/>
            <a:ext cx="9107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1.000 ejemplos disponibles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914400" y="2871216"/>
            <a:ext cx="7607808" cy="658368"/>
          </a:xfrm>
          <a:prstGeom prst="roundRect">
            <a:avLst>
              <a:gd name="adj" fmla="val 41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567928" y="2871216"/>
            <a:ext cx="1856232" cy="658368"/>
          </a:xfrm>
          <a:prstGeom prst="roundRect">
            <a:avLst>
              <a:gd name="adj" fmla="val 41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0" y="3072384"/>
            <a:ext cx="7242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800 entrenamiento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659368" y="3072384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200 prueba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1024128" y="3730752"/>
            <a:ext cx="4078224" cy="1481328"/>
          </a:xfrm>
          <a:prstGeom prst="roundRect">
            <a:avLst>
              <a:gd name="adj" fmla="val 246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133856" y="3877056"/>
            <a:ext cx="109728" cy="11887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335024" y="3913632"/>
            <a:ext cx="3621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ENTRENAMIENTO</a:t>
            </a:r>
            <a:endParaRPr lang="en-US" sz="840" dirty="0"/>
          </a:p>
        </p:txBody>
      </p:sp>
      <p:sp>
        <p:nvSpPr>
          <p:cNvPr id="19" name="Text 16"/>
          <p:cNvSpPr/>
          <p:nvPr/>
        </p:nvSpPr>
        <p:spPr>
          <a:xfrm>
            <a:off x="1335024" y="4169664"/>
            <a:ext cx="3602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ajusta parámetros</a:t>
            </a:r>
            <a:endParaRPr lang="en-US" sz="1180" dirty="0"/>
          </a:p>
        </p:txBody>
      </p:sp>
      <p:sp>
        <p:nvSpPr>
          <p:cNvPr id="20" name="Text 17"/>
          <p:cNvSpPr/>
          <p:nvPr/>
        </p:nvSpPr>
        <p:spPr>
          <a:xfrm>
            <a:off x="1335024" y="4608576"/>
            <a:ext cx="36027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060" dirty="0"/>
          </a:p>
        </p:txBody>
      </p:sp>
      <p:sp>
        <p:nvSpPr>
          <p:cNvPr id="21" name="Shape 18"/>
          <p:cNvSpPr/>
          <p:nvPr/>
        </p:nvSpPr>
        <p:spPr>
          <a:xfrm>
            <a:off x="5870448" y="3730752"/>
            <a:ext cx="4078224" cy="1481328"/>
          </a:xfrm>
          <a:prstGeom prst="roundRect">
            <a:avLst>
              <a:gd name="adj" fmla="val 246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980176" y="3877056"/>
            <a:ext cx="109728" cy="118872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81344" y="3913632"/>
            <a:ext cx="3621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840" dirty="0"/>
          </a:p>
        </p:txBody>
      </p:sp>
      <p:sp>
        <p:nvSpPr>
          <p:cNvPr id="24" name="Text 21"/>
          <p:cNvSpPr/>
          <p:nvPr/>
        </p:nvSpPr>
        <p:spPr>
          <a:xfrm>
            <a:off x="6181344" y="4169664"/>
            <a:ext cx="3602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mide generalización</a:t>
            </a:r>
            <a:endParaRPr lang="en-US" sz="1180" dirty="0"/>
          </a:p>
        </p:txBody>
      </p:sp>
      <p:sp>
        <p:nvSpPr>
          <p:cNvPr id="25" name="Text 22"/>
          <p:cNvSpPr/>
          <p:nvPr/>
        </p:nvSpPr>
        <p:spPr>
          <a:xfrm>
            <a:off x="6181344" y="4608576"/>
            <a:ext cx="36027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060" dirty="0"/>
          </a:p>
        </p:txBody>
      </p:sp>
      <p:sp>
        <p:nvSpPr>
          <p:cNvPr id="26" name="Shape 23"/>
          <p:cNvSpPr/>
          <p:nvPr/>
        </p:nvSpPr>
        <p:spPr>
          <a:xfrm>
            <a:off x="786384" y="5486400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87552" y="5623560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se debe evaluar al modelo solo con las mismas preguntas que usó para estudiar.</a:t>
            </a:r>
            <a:endParaRPr lang="en-US" sz="126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Leer Entrenamiento Y Prueba Juntos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combinación de resultados cuenta una historia técnica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914400" y="2084832"/>
            <a:ext cx="4224528" cy="1170432"/>
          </a:xfrm>
          <a:prstGeom prst="roundRect">
            <a:avLst>
              <a:gd name="adj" fmla="val 3125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24128" y="2231136"/>
            <a:ext cx="109728" cy="87782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25296" y="2267712"/>
            <a:ext cx="3767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ENTRENAMIENTO / PRUEBA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1225296" y="252374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Bien / Bien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225296" y="28712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señal positiva: puede generalizar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760720" y="2084832"/>
            <a:ext cx="4224528" cy="1170432"/>
          </a:xfrm>
          <a:prstGeom prst="roundRect">
            <a:avLst>
              <a:gd name="adj" fmla="val 3125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70448" y="2231136"/>
            <a:ext cx="109728" cy="8778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71616" y="2267712"/>
            <a:ext cx="3767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ENTRENAMIENTO / PRUEBA</a:t>
            </a:r>
            <a:endParaRPr lang="en-US" sz="840" dirty="0"/>
          </a:p>
        </p:txBody>
      </p:sp>
      <p:sp>
        <p:nvSpPr>
          <p:cNvPr id="18" name="Text 15"/>
          <p:cNvSpPr/>
          <p:nvPr/>
        </p:nvSpPr>
        <p:spPr>
          <a:xfrm>
            <a:off x="6071616" y="252374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Bien / Mal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071616" y="28712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alerta: posible overfitting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914400" y="3657600"/>
            <a:ext cx="4224528" cy="1170432"/>
          </a:xfrm>
          <a:prstGeom prst="roundRect">
            <a:avLst>
              <a:gd name="adj" fmla="val 3125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24128" y="3803904"/>
            <a:ext cx="109728" cy="87782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225296" y="3840480"/>
            <a:ext cx="3767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ENTRENAMIENTO / PRUEBA</a:t>
            </a:r>
            <a:endParaRPr lang="en-US" sz="840" dirty="0"/>
          </a:p>
        </p:txBody>
      </p:sp>
      <p:sp>
        <p:nvSpPr>
          <p:cNvPr id="23" name="Text 20"/>
          <p:cNvSpPr/>
          <p:nvPr/>
        </p:nvSpPr>
        <p:spPr>
          <a:xfrm>
            <a:off x="1225296" y="409651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Mal / Mal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225296" y="44439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insuficiente o datos pobres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760720" y="3657600"/>
            <a:ext cx="4224528" cy="1170432"/>
          </a:xfrm>
          <a:prstGeom prst="roundRect">
            <a:avLst>
              <a:gd name="adj" fmla="val 3125"/>
            </a:avLst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870448" y="3803904"/>
            <a:ext cx="109728" cy="877824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071616" y="3840480"/>
            <a:ext cx="3767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ENTRENAMIENTO / PRUEBA</a:t>
            </a:r>
            <a:endParaRPr lang="en-US" sz="840" dirty="0"/>
          </a:p>
        </p:txBody>
      </p:sp>
      <p:sp>
        <p:nvSpPr>
          <p:cNvPr id="28" name="Text 25"/>
          <p:cNvSpPr/>
          <p:nvPr/>
        </p:nvSpPr>
        <p:spPr>
          <a:xfrm>
            <a:off x="6071616" y="409651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Mal / Bien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071616" y="44439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raro: revisar evaluación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86384" y="5394960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87552" y="5532120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número aislado no basta: hay que mirar con qué datos se obtuvo.</a:t>
            </a:r>
            <a:endParaRPr lang="en-US" sz="13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Overfitting: Memorizar No Es Generalizar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modelo aprende demasiado los detalles de lo conocido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77824" y="1828800"/>
            <a:ext cx="4480560" cy="2907792"/>
          </a:xfrm>
          <a:prstGeom prst="roundRect">
            <a:avLst>
              <a:gd name="adj" fmla="val 1258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1975104"/>
            <a:ext cx="109728" cy="261518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25296" y="210312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Analogía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1261872" y="2788920"/>
            <a:ext cx="82296" cy="82296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463040" y="27432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memoriza la guía exacta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1261872" y="3246120"/>
            <a:ext cx="82296" cy="82296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463040" y="32004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responde bien lo conocido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1261872" y="3703320"/>
            <a:ext cx="82296" cy="82296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463040" y="36576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falla si cambia el contexto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5961888" y="1828800"/>
            <a:ext cx="4480560" cy="2907792"/>
          </a:xfrm>
          <a:prstGeom prst="roundRect">
            <a:avLst>
              <a:gd name="adj" fmla="val 1258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071616" y="1975104"/>
            <a:ext cx="109728" cy="261518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09360" y="210312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345936" y="2788920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47104" y="27432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aprende ruido del dataset</a:t>
            </a:r>
            <a:endParaRPr lang="en-US" sz="1120" dirty="0"/>
          </a:p>
        </p:txBody>
      </p:sp>
      <p:sp>
        <p:nvSpPr>
          <p:cNvPr id="24" name="Shape 21"/>
          <p:cNvSpPr/>
          <p:nvPr/>
        </p:nvSpPr>
        <p:spPr>
          <a:xfrm>
            <a:off x="6345936" y="3246120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47104" y="32004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parece muy bueno entrenando</a:t>
            </a:r>
            <a:endParaRPr lang="en-US" sz="1120" dirty="0"/>
          </a:p>
        </p:txBody>
      </p:sp>
      <p:sp>
        <p:nvSpPr>
          <p:cNvPr id="26" name="Shape 23"/>
          <p:cNvSpPr/>
          <p:nvPr/>
        </p:nvSpPr>
        <p:spPr>
          <a:xfrm>
            <a:off x="6345936" y="3703320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547104" y="36576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falla ante datos nuevos</a:t>
            </a:r>
            <a:endParaRPr lang="en-US" sz="1120" dirty="0"/>
          </a:p>
        </p:txBody>
      </p:sp>
      <p:sp>
        <p:nvSpPr>
          <p:cNvPr id="28" name="Shape 25"/>
          <p:cNvSpPr/>
          <p:nvPr/>
        </p:nvSpPr>
        <p:spPr>
          <a:xfrm>
            <a:off x="786384" y="5394960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87552" y="5532120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Señal típica: pérdida de entrenamiento baja, pérdida de prueba alta.</a:t>
            </a:r>
            <a:endParaRPr lang="en-US" sz="132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Señal Visual Del Overfitting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pérdida de entrenamiento baja, pero la de prueba empieza a empeorar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77824" y="1828800"/>
            <a:ext cx="5797296" cy="3401568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1975104"/>
            <a:ext cx="109728" cy="310896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25296" y="2048256"/>
            <a:ext cx="510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Pérdida por época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1536192" y="3195828"/>
            <a:ext cx="4736592" cy="0"/>
          </a:xfrm>
          <a:prstGeom prst="line">
            <a:avLst/>
          </a:prstGeom>
          <a:noFill/>
          <a:ln w="12700">
            <a:solidFill>
              <a:srgbClr val="EEF2F6">
                <a:alpha val="82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536192" y="3721608"/>
            <a:ext cx="4736592" cy="0"/>
          </a:xfrm>
          <a:prstGeom prst="line">
            <a:avLst/>
          </a:prstGeom>
          <a:noFill/>
          <a:ln w="12700">
            <a:solidFill>
              <a:srgbClr val="EEF2F6">
                <a:alpha val="82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536192" y="4247388"/>
            <a:ext cx="4736592" cy="0"/>
          </a:xfrm>
          <a:prstGeom prst="line">
            <a:avLst/>
          </a:prstGeom>
          <a:noFill/>
          <a:ln w="12700">
            <a:solidFill>
              <a:srgbClr val="EEF2F6">
                <a:alpha val="82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536192" y="4773168"/>
            <a:ext cx="4736592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536192" y="2670048"/>
            <a:ext cx="0" cy="210312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536192" y="2950464"/>
            <a:ext cx="947318" cy="607568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  <a:headEnd type="none"/>
            <a:tailEnd type="none"/>
          </a:ln>
        </p:spPr>
      </p:sp>
      <p:sp>
        <p:nvSpPr>
          <p:cNvPr id="19" name="Shape 16"/>
          <p:cNvSpPr/>
          <p:nvPr/>
        </p:nvSpPr>
        <p:spPr>
          <a:xfrm>
            <a:off x="1495044" y="2909316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483510" y="3558032"/>
            <a:ext cx="947318" cy="420624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  <a:headEnd type="none"/>
            <a:tailEnd type="none"/>
          </a:ln>
        </p:spPr>
      </p:sp>
      <p:sp>
        <p:nvSpPr>
          <p:cNvPr id="21" name="Shape 18"/>
          <p:cNvSpPr/>
          <p:nvPr/>
        </p:nvSpPr>
        <p:spPr>
          <a:xfrm>
            <a:off x="2442362" y="3516884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430829" y="3978656"/>
            <a:ext cx="947318" cy="280416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  <a:headEnd type="none"/>
            <a:tailEnd type="none"/>
          </a:ln>
        </p:spPr>
      </p:sp>
      <p:sp>
        <p:nvSpPr>
          <p:cNvPr id="23" name="Shape 20"/>
          <p:cNvSpPr/>
          <p:nvPr/>
        </p:nvSpPr>
        <p:spPr>
          <a:xfrm>
            <a:off x="3389681" y="3937508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378147" y="4259072"/>
            <a:ext cx="947318" cy="186944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  <a:headEnd type="none"/>
            <a:tailEnd type="none"/>
          </a:ln>
        </p:spPr>
      </p:sp>
      <p:sp>
        <p:nvSpPr>
          <p:cNvPr id="25" name="Shape 22"/>
          <p:cNvSpPr/>
          <p:nvPr/>
        </p:nvSpPr>
        <p:spPr>
          <a:xfrm>
            <a:off x="4336999" y="4217924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325466" y="4446016"/>
            <a:ext cx="947318" cy="116840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  <a:headEnd type="none"/>
            <a:tailEnd type="none"/>
          </a:ln>
        </p:spPr>
      </p:sp>
      <p:sp>
        <p:nvSpPr>
          <p:cNvPr id="27" name="Shape 24"/>
          <p:cNvSpPr/>
          <p:nvPr/>
        </p:nvSpPr>
        <p:spPr>
          <a:xfrm>
            <a:off x="5284318" y="4404868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231636" y="4521708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536192" y="2903728"/>
            <a:ext cx="947318" cy="560832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30" name="Shape 27"/>
          <p:cNvSpPr/>
          <p:nvPr/>
        </p:nvSpPr>
        <p:spPr>
          <a:xfrm>
            <a:off x="1495044" y="2862580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483510" y="3464560"/>
            <a:ext cx="947318" cy="327152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32" name="Shape 29"/>
          <p:cNvSpPr/>
          <p:nvPr/>
        </p:nvSpPr>
        <p:spPr>
          <a:xfrm>
            <a:off x="2442362" y="3423412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 flipH="1">
            <a:off x="3430829" y="3721608"/>
            <a:ext cx="947318" cy="70104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34" name="Shape 31"/>
          <p:cNvSpPr/>
          <p:nvPr/>
        </p:nvSpPr>
        <p:spPr>
          <a:xfrm>
            <a:off x="3389681" y="3750564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 flipH="1">
            <a:off x="4378147" y="3417824"/>
            <a:ext cx="947318" cy="303784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36" name="Shape 33"/>
          <p:cNvSpPr/>
          <p:nvPr/>
        </p:nvSpPr>
        <p:spPr>
          <a:xfrm>
            <a:off x="4336999" y="3680460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 flipH="1">
            <a:off x="5325466" y="3137408"/>
            <a:ext cx="947318" cy="280416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38" name="Shape 35"/>
          <p:cNvSpPr/>
          <p:nvPr/>
        </p:nvSpPr>
        <p:spPr>
          <a:xfrm>
            <a:off x="5284318" y="3376676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231636" y="3096260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792224" y="497433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entrenamiento</a:t>
            </a:r>
            <a:endParaRPr lang="en-US" sz="840" dirty="0"/>
          </a:p>
        </p:txBody>
      </p:sp>
      <p:sp>
        <p:nvSpPr>
          <p:cNvPr id="41" name="Text 38"/>
          <p:cNvSpPr/>
          <p:nvPr/>
        </p:nvSpPr>
        <p:spPr>
          <a:xfrm>
            <a:off x="3127248" y="497433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840" dirty="0"/>
          </a:p>
        </p:txBody>
      </p:sp>
      <p:sp>
        <p:nvSpPr>
          <p:cNvPr id="42" name="Shape 39"/>
          <p:cNvSpPr/>
          <p:nvPr/>
        </p:nvSpPr>
        <p:spPr>
          <a:xfrm>
            <a:off x="7059168" y="1883664"/>
            <a:ext cx="3182112" cy="1097280"/>
          </a:xfrm>
          <a:prstGeom prst="roundRect">
            <a:avLst>
              <a:gd name="adj" fmla="val 333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168896" y="2029968"/>
            <a:ext cx="109728" cy="80467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370064" y="2066544"/>
            <a:ext cx="2724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</a:t>
            </a:r>
            <a:endParaRPr lang="en-US" sz="840" dirty="0"/>
          </a:p>
        </p:txBody>
      </p:sp>
      <p:sp>
        <p:nvSpPr>
          <p:cNvPr id="45" name="Text 42"/>
          <p:cNvSpPr/>
          <p:nvPr/>
        </p:nvSpPr>
        <p:spPr>
          <a:xfrm>
            <a:off x="7370064" y="2322576"/>
            <a:ext cx="2706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entrenamiento mejora</a:t>
            </a:r>
            <a:endParaRPr lang="en-US" sz="1220" dirty="0"/>
          </a:p>
        </p:txBody>
      </p:sp>
      <p:sp>
        <p:nvSpPr>
          <p:cNvPr id="46" name="Text 43"/>
          <p:cNvSpPr/>
          <p:nvPr/>
        </p:nvSpPr>
        <p:spPr>
          <a:xfrm>
            <a:off x="7370064" y="2761488"/>
            <a:ext cx="2706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línea azul sigue bajando</a:t>
            </a:r>
            <a:endParaRPr lang="en-US" sz="920" dirty="0"/>
          </a:p>
        </p:txBody>
      </p:sp>
      <p:sp>
        <p:nvSpPr>
          <p:cNvPr id="47" name="Shape 44"/>
          <p:cNvSpPr/>
          <p:nvPr/>
        </p:nvSpPr>
        <p:spPr>
          <a:xfrm>
            <a:off x="7059168" y="3255264"/>
            <a:ext cx="3182112" cy="1097280"/>
          </a:xfrm>
          <a:prstGeom prst="roundRect">
            <a:avLst>
              <a:gd name="adj" fmla="val 333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7168896" y="3401568"/>
            <a:ext cx="109728" cy="80467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370064" y="3438144"/>
            <a:ext cx="2724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</a:t>
            </a:r>
            <a:endParaRPr lang="en-US" sz="840" dirty="0"/>
          </a:p>
        </p:txBody>
      </p:sp>
      <p:sp>
        <p:nvSpPr>
          <p:cNvPr id="50" name="Text 47"/>
          <p:cNvSpPr/>
          <p:nvPr/>
        </p:nvSpPr>
        <p:spPr>
          <a:xfrm>
            <a:off x="7370064" y="3694176"/>
            <a:ext cx="2706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prueba empeora</a:t>
            </a:r>
            <a:endParaRPr lang="en-US" sz="1220" dirty="0"/>
          </a:p>
        </p:txBody>
      </p:sp>
      <p:sp>
        <p:nvSpPr>
          <p:cNvPr id="51" name="Text 48"/>
          <p:cNvSpPr/>
          <p:nvPr/>
        </p:nvSpPr>
        <p:spPr>
          <a:xfrm>
            <a:off x="7370064" y="4133088"/>
            <a:ext cx="2706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línea roja sube con datos nuevos</a:t>
            </a:r>
            <a:endParaRPr lang="en-US" sz="920" dirty="0"/>
          </a:p>
        </p:txBody>
      </p:sp>
      <p:sp>
        <p:nvSpPr>
          <p:cNvPr id="52" name="Shape 49"/>
          <p:cNvSpPr/>
          <p:nvPr/>
        </p:nvSpPr>
        <p:spPr>
          <a:xfrm>
            <a:off x="786384" y="5431536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987552" y="5568696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Overfitting se detecta comparando, no celebrando solo la pérdida de entrenamiento.</a:t>
            </a:r>
            <a:endParaRPr lang="en-US" sz="122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Escenarios Que Hay Que Distinguir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todo error significa lo mismo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77824" y="2011680"/>
            <a:ext cx="2761488" cy="2414016"/>
          </a:xfrm>
          <a:prstGeom prst="roundRect">
            <a:avLst>
              <a:gd name="adj" fmla="val 1515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2157984"/>
            <a:ext cx="109728" cy="21214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88720" y="2194560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ESCENARIO 01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1188720" y="24505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Underfitting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88720" y="3127248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alto error en entrenamiento y prueba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4114800" y="2011680"/>
            <a:ext cx="2761488" cy="2414016"/>
          </a:xfrm>
          <a:prstGeom prst="roundRect">
            <a:avLst>
              <a:gd name="adj" fmla="val 1515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24528" y="2157984"/>
            <a:ext cx="109728" cy="21214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425696" y="2194560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ESCENARIO 02</a:t>
            </a:r>
            <a:endParaRPr lang="en-US" sz="840" dirty="0"/>
          </a:p>
        </p:txBody>
      </p:sp>
      <p:sp>
        <p:nvSpPr>
          <p:cNvPr id="18" name="Text 15"/>
          <p:cNvSpPr/>
          <p:nvPr/>
        </p:nvSpPr>
        <p:spPr>
          <a:xfrm>
            <a:off x="4425696" y="24505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Overfitting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425696" y="3127248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bajo error entrenando, alto error en prueba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7351776" y="2011680"/>
            <a:ext cx="2761488" cy="2414016"/>
          </a:xfrm>
          <a:prstGeom prst="roundRect">
            <a:avLst>
              <a:gd name="adj" fmla="val 1515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461504" y="2157984"/>
            <a:ext cx="109728" cy="21214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662672" y="2194560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ESCENARIO 03</a:t>
            </a:r>
            <a:endParaRPr lang="en-US" sz="840" dirty="0"/>
          </a:p>
        </p:txBody>
      </p:sp>
      <p:sp>
        <p:nvSpPr>
          <p:cNvPr id="23" name="Text 20"/>
          <p:cNvSpPr/>
          <p:nvPr/>
        </p:nvSpPr>
        <p:spPr>
          <a:xfrm>
            <a:off x="7662672" y="24505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Generalización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662672" y="3127248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razonable en ambos conjuntos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786384" y="541324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87552" y="555040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solución depende del diagnóstico: más capas no arreglan todo y a veces empeoran el problema.</a:t>
            </a:r>
            <a:endParaRPr lang="en-US" sz="123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Accuracy: Una Métrica Simple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Sirve para empezar, pero no siempre cuenta la historia completa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932688" y="1828800"/>
            <a:ext cx="9290304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42416" y="1975104"/>
            <a:ext cx="109728" cy="9692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25296" y="1956816"/>
            <a:ext cx="8851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Exactitud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1243584" y="2286000"/>
            <a:ext cx="8668512" cy="347472"/>
          </a:xfrm>
          <a:prstGeom prst="roundRect">
            <a:avLst>
              <a:gd name="adj" fmla="val 1052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71600" y="238658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 = predicciones correctas / total de predicciones</a:t>
            </a:r>
            <a:endParaRPr lang="en-US" sz="1540" dirty="0"/>
          </a:p>
        </p:txBody>
      </p:sp>
      <p:sp>
        <p:nvSpPr>
          <p:cNvPr id="15" name="Text 12"/>
          <p:cNvSpPr/>
          <p:nvPr/>
        </p:nvSpPr>
        <p:spPr>
          <a:xfrm>
            <a:off x="1243584" y="2706624"/>
            <a:ext cx="8668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 aciertos de 100 -&gt; 0.80 -&gt; 80%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914400" y="3657600"/>
            <a:ext cx="2779776" cy="1005840"/>
          </a:xfrm>
          <a:prstGeom prst="roundRect">
            <a:avLst>
              <a:gd name="adj" fmla="val 3636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24128" y="3803904"/>
            <a:ext cx="109728" cy="71323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25296" y="3840480"/>
            <a:ext cx="2322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</a:t>
            </a:r>
            <a:endParaRPr lang="en-US" sz="840" dirty="0"/>
          </a:p>
        </p:txBody>
      </p:sp>
      <p:sp>
        <p:nvSpPr>
          <p:cNvPr id="19" name="Text 16"/>
          <p:cNvSpPr/>
          <p:nvPr/>
        </p:nvSpPr>
        <p:spPr>
          <a:xfrm>
            <a:off x="1225296" y="4096512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Correctas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225296" y="4370832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el modelo acertó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187952" y="3657600"/>
            <a:ext cx="2779776" cy="1005840"/>
          </a:xfrm>
          <a:prstGeom prst="roundRect">
            <a:avLst>
              <a:gd name="adj" fmla="val 3636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297680" y="3803904"/>
            <a:ext cx="109728" cy="71323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498848" y="3840480"/>
            <a:ext cx="2322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</a:t>
            </a:r>
            <a:endParaRPr lang="en-US" sz="840" dirty="0"/>
          </a:p>
        </p:txBody>
      </p:sp>
      <p:sp>
        <p:nvSpPr>
          <p:cNvPr id="24" name="Text 21"/>
          <p:cNvSpPr/>
          <p:nvPr/>
        </p:nvSpPr>
        <p:spPr>
          <a:xfrm>
            <a:off x="4498848" y="4096512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Total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498848" y="4370832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todos los casos evaluados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7461504" y="3657600"/>
            <a:ext cx="2779776" cy="1005840"/>
          </a:xfrm>
          <a:prstGeom prst="roundRect">
            <a:avLst>
              <a:gd name="adj" fmla="val 3636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571232" y="3803904"/>
            <a:ext cx="109728" cy="71323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772400" y="3840480"/>
            <a:ext cx="2322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</a:t>
            </a:r>
            <a:endParaRPr lang="en-US" sz="840" dirty="0"/>
          </a:p>
        </p:txBody>
      </p:sp>
      <p:sp>
        <p:nvSpPr>
          <p:cNvPr id="29" name="Text 26"/>
          <p:cNvSpPr/>
          <p:nvPr/>
        </p:nvSpPr>
        <p:spPr>
          <a:xfrm>
            <a:off x="7772400" y="4096512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Límite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7772400" y="4370832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explica qué errores comete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786384" y="541324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87552" y="555040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métrica alta no siempre significa que el modelo sea útil o seguro.</a:t>
            </a:r>
            <a:endParaRPr lang="en-US" sz="13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Cuando Accuracy Engaña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modelo puede acertar mucho y fallar justo en lo importante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914400" y="1828800"/>
            <a:ext cx="9509760" cy="566928"/>
          </a:xfrm>
          <a:prstGeom prst="roundRect">
            <a:avLst>
              <a:gd name="adj" fmla="val 645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15568" y="1993392"/>
            <a:ext cx="9107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1.000 transacciones: 990 legítimas y 10 fraude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932688" y="2816352"/>
            <a:ext cx="4370832" cy="1627632"/>
          </a:xfrm>
          <a:prstGeom prst="roundRect">
            <a:avLst>
              <a:gd name="adj" fmla="val 224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42416" y="2962656"/>
            <a:ext cx="109728" cy="133502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80160" y="30906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tonto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280160" y="367588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siempre predice: legítima</a:t>
            </a:r>
            <a:endParaRPr lang="en-US" sz="1220" dirty="0"/>
          </a:p>
        </p:txBody>
      </p:sp>
      <p:sp>
        <p:nvSpPr>
          <p:cNvPr id="16" name="Shape 13"/>
          <p:cNvSpPr/>
          <p:nvPr/>
        </p:nvSpPr>
        <p:spPr>
          <a:xfrm>
            <a:off x="5907024" y="2816352"/>
            <a:ext cx="4370832" cy="1627632"/>
          </a:xfrm>
          <a:prstGeom prst="roundRect">
            <a:avLst>
              <a:gd name="adj" fmla="val 224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016752" y="2962656"/>
            <a:ext cx="109728" cy="13350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54496" y="30906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 aparente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254496" y="3602736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990 / 1000 = 99%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pero detecta 0 fraudes</a:t>
            </a:r>
            <a:endParaRPr lang="en-US" sz="1220" dirty="0"/>
          </a:p>
        </p:txBody>
      </p:sp>
      <p:sp>
        <p:nvSpPr>
          <p:cNvPr id="20" name="Shape 17"/>
          <p:cNvSpPr/>
          <p:nvPr/>
        </p:nvSpPr>
        <p:spPr>
          <a:xfrm>
            <a:off x="786384" y="541324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87552" y="555040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fraude o seguridad, el tipo de error puede importar más que el porcentaje global.</a:t>
            </a:r>
            <a:endParaRPr lang="en-US" sz="126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Falsos Positivos Y Falsos Negativos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clasificación, no todos los errores tienen el mismo costo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914400" y="2029968"/>
            <a:ext cx="4096512" cy="1042416"/>
          </a:xfrm>
          <a:prstGeom prst="roundRect">
            <a:avLst>
              <a:gd name="adj" fmla="val 3509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24128" y="2176272"/>
            <a:ext cx="109728" cy="7498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25296" y="2212848"/>
            <a:ext cx="3639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ACIERTO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1225296" y="2468880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Verdadero positivo</a:t>
            </a:r>
            <a:endParaRPr lang="en-US" sz="1280" dirty="0"/>
          </a:p>
        </p:txBody>
      </p:sp>
      <p:sp>
        <p:nvSpPr>
          <p:cNvPr id="14" name="Text 11"/>
          <p:cNvSpPr/>
          <p:nvPr/>
        </p:nvSpPr>
        <p:spPr>
          <a:xfrm>
            <a:off x="1225296" y="2743200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marca phishing y sí era phishing</a:t>
            </a:r>
            <a:endParaRPr lang="en-US" sz="940" dirty="0"/>
          </a:p>
        </p:txBody>
      </p:sp>
      <p:sp>
        <p:nvSpPr>
          <p:cNvPr id="15" name="Shape 12"/>
          <p:cNvSpPr/>
          <p:nvPr/>
        </p:nvSpPr>
        <p:spPr>
          <a:xfrm>
            <a:off x="5650992" y="2029968"/>
            <a:ext cx="4096512" cy="1042416"/>
          </a:xfrm>
          <a:prstGeom prst="roundRect">
            <a:avLst>
              <a:gd name="adj" fmla="val 3509"/>
            </a:avLst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760720" y="2176272"/>
            <a:ext cx="109728" cy="749808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61888" y="2212848"/>
            <a:ext cx="3639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ACIERTO</a:t>
            </a:r>
            <a:endParaRPr lang="en-US" sz="840" dirty="0"/>
          </a:p>
        </p:txBody>
      </p:sp>
      <p:sp>
        <p:nvSpPr>
          <p:cNvPr id="18" name="Text 15"/>
          <p:cNvSpPr/>
          <p:nvPr/>
        </p:nvSpPr>
        <p:spPr>
          <a:xfrm>
            <a:off x="5961888" y="2468880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Verdadero negativo</a:t>
            </a:r>
            <a:endParaRPr lang="en-US" sz="1280" dirty="0"/>
          </a:p>
        </p:txBody>
      </p:sp>
      <p:sp>
        <p:nvSpPr>
          <p:cNvPr id="19" name="Text 16"/>
          <p:cNvSpPr/>
          <p:nvPr/>
        </p:nvSpPr>
        <p:spPr>
          <a:xfrm>
            <a:off x="5961888" y="2743200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alerta y era correo normal</a:t>
            </a:r>
            <a:endParaRPr lang="en-US" sz="940" dirty="0"/>
          </a:p>
        </p:txBody>
      </p:sp>
      <p:sp>
        <p:nvSpPr>
          <p:cNvPr id="20" name="Shape 17"/>
          <p:cNvSpPr/>
          <p:nvPr/>
        </p:nvSpPr>
        <p:spPr>
          <a:xfrm>
            <a:off x="914400" y="3419856"/>
            <a:ext cx="4096512" cy="1042416"/>
          </a:xfrm>
          <a:prstGeom prst="roundRect">
            <a:avLst>
              <a:gd name="adj" fmla="val 3509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24128" y="3566160"/>
            <a:ext cx="109728" cy="7498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225296" y="3602736"/>
            <a:ext cx="3639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</a:t>
            </a:r>
            <a:endParaRPr lang="en-US" sz="840" dirty="0"/>
          </a:p>
        </p:txBody>
      </p:sp>
      <p:sp>
        <p:nvSpPr>
          <p:cNvPr id="23" name="Text 20"/>
          <p:cNvSpPr/>
          <p:nvPr/>
        </p:nvSpPr>
        <p:spPr>
          <a:xfrm>
            <a:off x="1225296" y="3858768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Falso positivo</a:t>
            </a:r>
            <a:endParaRPr lang="en-US" sz="1280" dirty="0"/>
          </a:p>
        </p:txBody>
      </p:sp>
      <p:sp>
        <p:nvSpPr>
          <p:cNvPr id="24" name="Text 21"/>
          <p:cNvSpPr/>
          <p:nvPr/>
        </p:nvSpPr>
        <p:spPr>
          <a:xfrm>
            <a:off x="1225296" y="4133088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alerta, pero era normal</a:t>
            </a:r>
            <a:endParaRPr lang="en-US" sz="940" dirty="0"/>
          </a:p>
        </p:txBody>
      </p:sp>
      <p:sp>
        <p:nvSpPr>
          <p:cNvPr id="25" name="Shape 22"/>
          <p:cNvSpPr/>
          <p:nvPr/>
        </p:nvSpPr>
        <p:spPr>
          <a:xfrm>
            <a:off x="5650992" y="3419856"/>
            <a:ext cx="4096512" cy="1042416"/>
          </a:xfrm>
          <a:prstGeom prst="roundRect">
            <a:avLst>
              <a:gd name="adj" fmla="val 3509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760720" y="3566160"/>
            <a:ext cx="109728" cy="7498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61888" y="3602736"/>
            <a:ext cx="3639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</a:t>
            </a:r>
            <a:endParaRPr lang="en-US" sz="840" dirty="0"/>
          </a:p>
        </p:txBody>
      </p:sp>
      <p:sp>
        <p:nvSpPr>
          <p:cNvPr id="28" name="Text 25"/>
          <p:cNvSpPr/>
          <p:nvPr/>
        </p:nvSpPr>
        <p:spPr>
          <a:xfrm>
            <a:off x="5961888" y="3858768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Falso negativo</a:t>
            </a:r>
            <a:endParaRPr lang="en-US" sz="1280" dirty="0"/>
          </a:p>
        </p:txBody>
      </p:sp>
      <p:sp>
        <p:nvSpPr>
          <p:cNvPr id="29" name="Text 26"/>
          <p:cNvSpPr/>
          <p:nvPr/>
        </p:nvSpPr>
        <p:spPr>
          <a:xfrm>
            <a:off x="5961888" y="4133088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alerta, pero era phishing</a:t>
            </a:r>
            <a:endParaRPr lang="en-US" sz="940" dirty="0"/>
          </a:p>
        </p:txBody>
      </p:sp>
      <p:sp>
        <p:nvSpPr>
          <p:cNvPr id="30" name="Shape 27"/>
          <p:cNvSpPr/>
          <p:nvPr/>
        </p:nvSpPr>
        <p:spPr>
          <a:xfrm>
            <a:off x="786384" y="541324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87552" y="555040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pregunta correcta es: ¿qué error es más peligroso en este sistema?</a:t>
            </a:r>
            <a:endParaRPr lang="en-US" sz="132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Riesgos De Datos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modelo depende de lo que vio y de cómo cambia el mundo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96112" y="1993392"/>
            <a:ext cx="2761488" cy="2322576"/>
          </a:xfrm>
          <a:prstGeom prst="roundRect">
            <a:avLst>
              <a:gd name="adj" fmla="val 1575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5840" y="2139696"/>
            <a:ext cx="109728" cy="202996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07008" y="2176272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 01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1207008" y="243230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Sesgo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207008" y="3090672"/>
            <a:ext cx="22860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datos reflejan errores o desigualdades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151376" y="1993392"/>
            <a:ext cx="2761488" cy="2322576"/>
          </a:xfrm>
          <a:prstGeom prst="roundRect">
            <a:avLst>
              <a:gd name="adj" fmla="val 1575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61104" y="2139696"/>
            <a:ext cx="109728" cy="202996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462272" y="2176272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 02</a:t>
            </a:r>
            <a:endParaRPr lang="en-US" sz="840" dirty="0"/>
          </a:p>
        </p:txBody>
      </p:sp>
      <p:sp>
        <p:nvSpPr>
          <p:cNvPr id="18" name="Text 15"/>
          <p:cNvSpPr/>
          <p:nvPr/>
        </p:nvSpPr>
        <p:spPr>
          <a:xfrm>
            <a:off x="4462272" y="243230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Representatividad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462272" y="3090672"/>
            <a:ext cx="22860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faltan casos reales importantes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406640" y="1993392"/>
            <a:ext cx="2761488" cy="2322576"/>
          </a:xfrm>
          <a:prstGeom prst="roundRect">
            <a:avLst>
              <a:gd name="adj" fmla="val 1575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516368" y="2139696"/>
            <a:ext cx="109728" cy="20299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17536" y="2176272"/>
            <a:ext cx="2304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 03</a:t>
            </a:r>
            <a:endParaRPr lang="en-US" sz="840" dirty="0"/>
          </a:p>
        </p:txBody>
      </p:sp>
      <p:sp>
        <p:nvSpPr>
          <p:cNvPr id="23" name="Text 20"/>
          <p:cNvSpPr/>
          <p:nvPr/>
        </p:nvSpPr>
        <p:spPr>
          <a:xfrm>
            <a:off x="7717536" y="243230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Deriva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717536" y="3090672"/>
            <a:ext cx="22860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datos nuevos ya no se parecen a los antiguos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86384" y="5394960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87552" y="5532120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Evaluar no es un trámite inicial: es una práctica continua en sistemas vivos.</a:t>
            </a:r>
            <a:endParaRPr lang="en-US" sz="13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 Cyber: El Modelo También Es Superficie De Ataque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Integrar IA agrega piezas que deben limitarse, auditarse y monitorearse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96112" y="1828800"/>
            <a:ext cx="4663440" cy="3127248"/>
          </a:xfrm>
          <a:prstGeom prst="roundRect">
            <a:avLst>
              <a:gd name="adj" fmla="val 117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5840" y="1975104"/>
            <a:ext cx="109728" cy="28346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43584" y="21031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Riesgos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280160" y="2770632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481328" y="27249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sensibles sin control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1280160" y="3209544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481328" y="316382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acciones sin permisos claros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280160" y="3648456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481328" y="360273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entradas manipuladas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280160" y="4087368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481328" y="40416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logs para auditar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089904" y="1828800"/>
            <a:ext cx="4370832" cy="3127248"/>
          </a:xfrm>
          <a:prstGeom prst="roundRect">
            <a:avLst>
              <a:gd name="adj" fmla="val 117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199632" y="1975104"/>
            <a:ext cx="109728" cy="28346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37376" y="21031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Defensas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473952" y="2770632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675120" y="27249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mínimo privilegio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473952" y="3209544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675120" y="316382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revisión humana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473952" y="3648456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675120" y="360273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monitoreo y alertas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473952" y="4087368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75120" y="40416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trazabilidad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786384" y="5394960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87552" y="5532120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IA no elimina seguridad: agrega componentes que también deben diseñarse y controlarse.</a:t>
            </a:r>
            <a:endParaRPr lang="en-US" sz="124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Checklist Antes De Usar Un Modelo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basta con saber que una red tiene capas; hay que hacer preguntas técnicas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914400" y="1901952"/>
            <a:ext cx="4059936" cy="585216"/>
          </a:xfrm>
          <a:prstGeom prst="roundRect">
            <a:avLst>
              <a:gd name="adj" fmla="val 625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24128" y="2048256"/>
            <a:ext cx="109728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80160" y="2066544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datos representativos</a:t>
            </a:r>
            <a:endParaRPr lang="en-US" sz="1220" dirty="0"/>
          </a:p>
        </p:txBody>
      </p:sp>
      <p:sp>
        <p:nvSpPr>
          <p:cNvPr id="13" name="Shape 10"/>
          <p:cNvSpPr/>
          <p:nvPr/>
        </p:nvSpPr>
        <p:spPr>
          <a:xfrm>
            <a:off x="5559552" y="1901952"/>
            <a:ext cx="4059936" cy="585216"/>
          </a:xfrm>
          <a:prstGeom prst="roundRect">
            <a:avLst>
              <a:gd name="adj" fmla="val 625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69280" y="2048256"/>
            <a:ext cx="109728" cy="2926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25312" y="2066544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prueba con casos no vistos</a:t>
            </a:r>
            <a:endParaRPr lang="en-US" sz="1220" dirty="0"/>
          </a:p>
        </p:txBody>
      </p:sp>
      <p:sp>
        <p:nvSpPr>
          <p:cNvPr id="16" name="Shape 13"/>
          <p:cNvSpPr/>
          <p:nvPr/>
        </p:nvSpPr>
        <p:spPr>
          <a:xfrm>
            <a:off x="914400" y="2743200"/>
            <a:ext cx="4059936" cy="585216"/>
          </a:xfrm>
          <a:prstGeom prst="roundRect">
            <a:avLst>
              <a:gd name="adj" fmla="val 625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24128" y="2889504"/>
            <a:ext cx="109728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80160" y="2907792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métrica conectada al riesgo</a:t>
            </a:r>
            <a:endParaRPr lang="en-US" sz="1220" dirty="0"/>
          </a:p>
        </p:txBody>
      </p:sp>
      <p:sp>
        <p:nvSpPr>
          <p:cNvPr id="19" name="Shape 16"/>
          <p:cNvSpPr/>
          <p:nvPr/>
        </p:nvSpPr>
        <p:spPr>
          <a:xfrm>
            <a:off x="5559552" y="2743200"/>
            <a:ext cx="4059936" cy="585216"/>
          </a:xfrm>
          <a:prstGeom prst="roundRect">
            <a:avLst>
              <a:gd name="adj" fmla="val 625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69280" y="2889504"/>
            <a:ext cx="109728" cy="2926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25312" y="2907792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falsos positivos y negativos</a:t>
            </a:r>
            <a:endParaRPr lang="en-US" sz="1220" dirty="0"/>
          </a:p>
        </p:txBody>
      </p:sp>
      <p:sp>
        <p:nvSpPr>
          <p:cNvPr id="22" name="Shape 19"/>
          <p:cNvSpPr/>
          <p:nvPr/>
        </p:nvSpPr>
        <p:spPr>
          <a:xfrm>
            <a:off x="914400" y="3584448"/>
            <a:ext cx="4059936" cy="585216"/>
          </a:xfrm>
          <a:prstGeom prst="roundRect">
            <a:avLst>
              <a:gd name="adj" fmla="val 625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24128" y="3730752"/>
            <a:ext cx="109728" cy="2926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280160" y="3749040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impacto si se equivoca</a:t>
            </a:r>
            <a:endParaRPr lang="en-US" sz="1220" dirty="0"/>
          </a:p>
        </p:txBody>
      </p:sp>
      <p:sp>
        <p:nvSpPr>
          <p:cNvPr id="25" name="Shape 22"/>
          <p:cNvSpPr/>
          <p:nvPr/>
        </p:nvSpPr>
        <p:spPr>
          <a:xfrm>
            <a:off x="5559552" y="3584448"/>
            <a:ext cx="4059936" cy="585216"/>
          </a:xfrm>
          <a:prstGeom prst="roundRect">
            <a:avLst>
              <a:gd name="adj" fmla="val 625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669280" y="3730752"/>
            <a:ext cx="109728" cy="2926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25312" y="3749040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monitoreo y corrección</a:t>
            </a:r>
            <a:endParaRPr lang="en-US" sz="1220" dirty="0"/>
          </a:p>
        </p:txBody>
      </p:sp>
      <p:sp>
        <p:nvSpPr>
          <p:cNvPr id="28" name="Shape 25"/>
          <p:cNvSpPr/>
          <p:nvPr/>
        </p:nvSpPr>
        <p:spPr>
          <a:xfrm>
            <a:off x="786384" y="5394960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87552" y="5532120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Confiar en un modelo exige evidencia, límites y responsabilidad sobre su impacto.</a:t>
            </a:r>
            <a:endParaRPr lang="en-US" sz="13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847649"/>
            <a:ext cx="210312" cy="48371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3894" y="658368"/>
            <a:ext cx="252374" cy="67299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78331" y="847649"/>
            <a:ext cx="210312" cy="48371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54480" y="1005840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Puente Hacia LLMs Y Agentes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572768" y="166420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D8E4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modelos de lenguaje parecen distintos, pero comparten ideas de fondo.</a:t>
            </a:r>
            <a:endParaRPr lang="en-US" sz="1240" dirty="0"/>
          </a:p>
        </p:txBody>
      </p:sp>
      <p:sp>
        <p:nvSpPr>
          <p:cNvPr id="7" name="Shape 5"/>
          <p:cNvSpPr/>
          <p:nvPr/>
        </p:nvSpPr>
        <p:spPr>
          <a:xfrm>
            <a:off x="932688" y="2505456"/>
            <a:ext cx="1920240" cy="621792"/>
          </a:xfrm>
          <a:prstGeom prst="roundRect">
            <a:avLst>
              <a:gd name="adj" fmla="val 5882"/>
            </a:avLst>
          </a:prstGeom>
          <a:solidFill>
            <a:srgbClr val="173E64"/>
          </a:solidFill>
          <a:ln w="12700">
            <a:solidFill>
              <a:srgbClr val="2D5E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2416" y="2651760"/>
            <a:ext cx="109728" cy="32918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61872" y="268833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datos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3236976" y="2505456"/>
            <a:ext cx="1920240" cy="621792"/>
          </a:xfrm>
          <a:prstGeom prst="roundRect">
            <a:avLst>
              <a:gd name="adj" fmla="val 5882"/>
            </a:avLst>
          </a:prstGeom>
          <a:solidFill>
            <a:srgbClr val="1D4A73"/>
          </a:solidFill>
          <a:ln w="12700">
            <a:solidFill>
              <a:srgbClr val="2D5E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46704" y="2651760"/>
            <a:ext cx="109728" cy="32918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268833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representaciones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541264" y="2505456"/>
            <a:ext cx="1920240" cy="621792"/>
          </a:xfrm>
          <a:prstGeom prst="roundRect">
            <a:avLst>
              <a:gd name="adj" fmla="val 5882"/>
            </a:avLst>
          </a:prstGeom>
          <a:solidFill>
            <a:srgbClr val="173E64"/>
          </a:solidFill>
          <a:ln w="12700">
            <a:solidFill>
              <a:srgbClr val="2D5E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50992" y="2651760"/>
            <a:ext cx="109728" cy="32918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70448" y="268833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parámetros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7845552" y="2505456"/>
            <a:ext cx="1920240" cy="621792"/>
          </a:xfrm>
          <a:prstGeom prst="roundRect">
            <a:avLst>
              <a:gd name="adj" fmla="val 5882"/>
            </a:avLst>
          </a:prstGeom>
          <a:solidFill>
            <a:srgbClr val="1D4A73"/>
          </a:solidFill>
          <a:ln w="12700">
            <a:solidFill>
              <a:srgbClr val="2D5E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55280" y="2651760"/>
            <a:ext cx="109728" cy="32918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74736" y="268833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predicciones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932688" y="3419856"/>
            <a:ext cx="1920240" cy="621792"/>
          </a:xfrm>
          <a:prstGeom prst="roundRect">
            <a:avLst>
              <a:gd name="adj" fmla="val 5882"/>
            </a:avLst>
          </a:prstGeom>
          <a:solidFill>
            <a:srgbClr val="173E64"/>
          </a:solidFill>
          <a:ln w="12700">
            <a:solidFill>
              <a:srgbClr val="2D5E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42416" y="3566160"/>
            <a:ext cx="109728" cy="32918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61872" y="360273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errores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3236976" y="3419856"/>
            <a:ext cx="1920240" cy="621792"/>
          </a:xfrm>
          <a:prstGeom prst="roundRect">
            <a:avLst>
              <a:gd name="adj" fmla="val 5882"/>
            </a:avLst>
          </a:prstGeom>
          <a:solidFill>
            <a:srgbClr val="1D4A73"/>
          </a:solidFill>
          <a:ln w="12700">
            <a:solidFill>
              <a:srgbClr val="2D5E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46704" y="3566160"/>
            <a:ext cx="109728" cy="32918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360273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evaluación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5541264" y="3419856"/>
            <a:ext cx="1920240" cy="621792"/>
          </a:xfrm>
          <a:prstGeom prst="roundRect">
            <a:avLst>
              <a:gd name="adj" fmla="val 5882"/>
            </a:avLst>
          </a:prstGeom>
          <a:solidFill>
            <a:srgbClr val="173E64"/>
          </a:solidFill>
          <a:ln w="12700">
            <a:solidFill>
              <a:srgbClr val="2D5E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50992" y="3566160"/>
            <a:ext cx="109728" cy="32918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70448" y="360273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límites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1005840" y="521208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 esta base, los LLMs parecen magia. Con esta base, se leen como sistemas técnicos entrenados sobre datos.</a:t>
            </a:r>
            <a:endParaRPr lang="en-US" sz="16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Agentes Para Estudiar Evaluación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Pueden comparar escenarios, pero no decidir si un modelo es seguro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77824" y="1828800"/>
            <a:ext cx="4773168" cy="3017520"/>
          </a:xfrm>
          <a:prstGeom prst="roundRect">
            <a:avLst>
              <a:gd name="adj" fmla="val 121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1975104"/>
            <a:ext cx="109728" cy="272491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25296" y="210312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 útil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225296" y="2651760"/>
            <a:ext cx="38404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 underfitting, overfitting y generalización usando una analogía de estudio y un ejemplo de ciberseguridad. Incluye entrenamiento, prueba, interpretación y riesgo.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6108192" y="1828800"/>
            <a:ext cx="4315968" cy="301752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17920" y="1975104"/>
            <a:ext cx="109728" cy="27249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55664" y="21031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Validación humana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6492240" y="2715768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93408" y="2670048"/>
            <a:ext cx="3236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confundir overfitting con buen aprendizaje</a:t>
            </a:r>
            <a:endParaRPr lang="en-US" sz="980" dirty="0"/>
          </a:p>
        </p:txBody>
      </p:sp>
      <p:sp>
        <p:nvSpPr>
          <p:cNvPr id="19" name="Shape 16"/>
          <p:cNvSpPr/>
          <p:nvPr/>
        </p:nvSpPr>
        <p:spPr>
          <a:xfrm>
            <a:off x="6492240" y="3118104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93408" y="3072384"/>
            <a:ext cx="3236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vender accuracy como suficiente</a:t>
            </a:r>
            <a:endParaRPr lang="en-US" sz="980" dirty="0"/>
          </a:p>
        </p:txBody>
      </p:sp>
      <p:sp>
        <p:nvSpPr>
          <p:cNvPr id="21" name="Shape 18"/>
          <p:cNvSpPr/>
          <p:nvPr/>
        </p:nvSpPr>
        <p:spPr>
          <a:xfrm>
            <a:off x="6492240" y="3520440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693408" y="3474720"/>
            <a:ext cx="3236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mencionar FP/FN en seguridad</a:t>
            </a:r>
            <a:endParaRPr lang="en-US" sz="980" dirty="0"/>
          </a:p>
        </p:txBody>
      </p:sp>
      <p:sp>
        <p:nvSpPr>
          <p:cNvPr id="23" name="Shape 20"/>
          <p:cNvSpPr/>
          <p:nvPr/>
        </p:nvSpPr>
        <p:spPr>
          <a:xfrm>
            <a:off x="6492240" y="3922776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693408" y="3877056"/>
            <a:ext cx="3236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conectar métrica con impacto real</a:t>
            </a:r>
            <a:endParaRPr lang="en-US" sz="980" dirty="0"/>
          </a:p>
        </p:txBody>
      </p:sp>
      <p:sp>
        <p:nvSpPr>
          <p:cNvPr id="25" name="Shape 22"/>
          <p:cNvSpPr/>
          <p:nvPr/>
        </p:nvSpPr>
        <p:spPr>
          <a:xfrm>
            <a:off x="786384" y="541324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87552" y="555040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agente explica; el criterio profesional decide si la explicación alcanza.</a:t>
            </a:r>
            <a:endParaRPr lang="en-US" sz="13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Recapitulación Del Bloque 4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Evaluar es comprobar si el aprendizaje sirve fuera del entrenamiento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77824" y="1847088"/>
            <a:ext cx="9454896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1993392"/>
            <a:ext cx="109728" cy="73152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70432" y="1975104"/>
            <a:ext cx="9015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Ruta de evaluación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1188720" y="2304288"/>
            <a:ext cx="8833104" cy="347472"/>
          </a:xfrm>
          <a:prstGeom prst="roundRect">
            <a:avLst>
              <a:gd name="adj" fmla="val 1052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16736" y="2404872"/>
            <a:ext cx="8577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train/test -&gt; generalización -&gt; errores -&gt; impacto -&gt; límites</a:t>
            </a:r>
            <a:endParaRPr lang="en-US" sz="1320" dirty="0"/>
          </a:p>
        </p:txBody>
      </p:sp>
      <p:sp>
        <p:nvSpPr>
          <p:cNvPr id="15" name="Text 12"/>
          <p:cNvSpPr/>
          <p:nvPr/>
        </p:nvSpPr>
        <p:spPr>
          <a:xfrm>
            <a:off x="1188720" y="2724912"/>
            <a:ext cx="88331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modelo se juzga por desempeño, riesgos y contexto de uso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877824" y="3401568"/>
            <a:ext cx="2139696" cy="1225296"/>
          </a:xfrm>
          <a:prstGeom prst="roundRect">
            <a:avLst>
              <a:gd name="adj" fmla="val 2985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87552" y="3547872"/>
            <a:ext cx="109728" cy="9326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88720" y="3584448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40" dirty="0"/>
          </a:p>
        </p:txBody>
      </p:sp>
      <p:sp>
        <p:nvSpPr>
          <p:cNvPr id="19" name="Text 16"/>
          <p:cNvSpPr/>
          <p:nvPr/>
        </p:nvSpPr>
        <p:spPr>
          <a:xfrm>
            <a:off x="1188720" y="3840480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generalización</a:t>
            </a:r>
            <a:endParaRPr lang="en-US" sz="1260" dirty="0"/>
          </a:p>
        </p:txBody>
      </p:sp>
      <p:sp>
        <p:nvSpPr>
          <p:cNvPr id="20" name="Text 17"/>
          <p:cNvSpPr/>
          <p:nvPr/>
        </p:nvSpPr>
        <p:spPr>
          <a:xfrm>
            <a:off x="1188720" y="4279392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funciona con datos nuevos</a:t>
            </a:r>
            <a:endParaRPr lang="en-US" sz="880" dirty="0"/>
          </a:p>
        </p:txBody>
      </p:sp>
      <p:sp>
        <p:nvSpPr>
          <p:cNvPr id="21" name="Shape 18"/>
          <p:cNvSpPr/>
          <p:nvPr/>
        </p:nvSpPr>
        <p:spPr>
          <a:xfrm>
            <a:off x="3310128" y="3401568"/>
            <a:ext cx="2139696" cy="1225296"/>
          </a:xfrm>
          <a:prstGeom prst="roundRect">
            <a:avLst>
              <a:gd name="adj" fmla="val 2985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419856" y="3547872"/>
            <a:ext cx="109728" cy="9326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21024" y="3584448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40" dirty="0"/>
          </a:p>
        </p:txBody>
      </p:sp>
      <p:sp>
        <p:nvSpPr>
          <p:cNvPr id="24" name="Text 21"/>
          <p:cNvSpPr/>
          <p:nvPr/>
        </p:nvSpPr>
        <p:spPr>
          <a:xfrm>
            <a:off x="3621024" y="3840480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overfitting</a:t>
            </a:r>
            <a:endParaRPr lang="en-US" sz="1260" dirty="0"/>
          </a:p>
        </p:txBody>
      </p:sp>
      <p:sp>
        <p:nvSpPr>
          <p:cNvPr id="25" name="Text 22"/>
          <p:cNvSpPr/>
          <p:nvPr/>
        </p:nvSpPr>
        <p:spPr>
          <a:xfrm>
            <a:off x="3621024" y="4279392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memoriza lo conocido</a:t>
            </a:r>
            <a:endParaRPr lang="en-US" sz="880" dirty="0"/>
          </a:p>
        </p:txBody>
      </p:sp>
      <p:sp>
        <p:nvSpPr>
          <p:cNvPr id="26" name="Shape 23"/>
          <p:cNvSpPr/>
          <p:nvPr/>
        </p:nvSpPr>
        <p:spPr>
          <a:xfrm>
            <a:off x="5742432" y="3401568"/>
            <a:ext cx="2139696" cy="1225296"/>
          </a:xfrm>
          <a:prstGeom prst="roundRect">
            <a:avLst>
              <a:gd name="adj" fmla="val 2985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852160" y="3547872"/>
            <a:ext cx="109728" cy="93268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053328" y="3584448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40" dirty="0"/>
          </a:p>
        </p:txBody>
      </p:sp>
      <p:sp>
        <p:nvSpPr>
          <p:cNvPr id="29" name="Text 26"/>
          <p:cNvSpPr/>
          <p:nvPr/>
        </p:nvSpPr>
        <p:spPr>
          <a:xfrm>
            <a:off x="6053328" y="3840480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métricas</a:t>
            </a:r>
            <a:endParaRPr lang="en-US" sz="1260" dirty="0"/>
          </a:p>
        </p:txBody>
      </p:sp>
      <p:sp>
        <p:nvSpPr>
          <p:cNvPr id="30" name="Text 27"/>
          <p:cNvSpPr/>
          <p:nvPr/>
        </p:nvSpPr>
        <p:spPr>
          <a:xfrm>
            <a:off x="6053328" y="4279392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pueden engañar</a:t>
            </a:r>
            <a:endParaRPr lang="en-US" sz="880" dirty="0"/>
          </a:p>
        </p:txBody>
      </p:sp>
      <p:sp>
        <p:nvSpPr>
          <p:cNvPr id="31" name="Shape 28"/>
          <p:cNvSpPr/>
          <p:nvPr/>
        </p:nvSpPr>
        <p:spPr>
          <a:xfrm>
            <a:off x="8174736" y="3401568"/>
            <a:ext cx="2139696" cy="1225296"/>
          </a:xfrm>
          <a:prstGeom prst="roundRect">
            <a:avLst>
              <a:gd name="adj" fmla="val 2985"/>
            </a:avLst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284464" y="3547872"/>
            <a:ext cx="109728" cy="932688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485632" y="3584448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40" dirty="0"/>
          </a:p>
        </p:txBody>
      </p:sp>
      <p:sp>
        <p:nvSpPr>
          <p:cNvPr id="34" name="Text 31"/>
          <p:cNvSpPr/>
          <p:nvPr/>
        </p:nvSpPr>
        <p:spPr>
          <a:xfrm>
            <a:off x="8485632" y="3840480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seguridad</a:t>
            </a:r>
            <a:endParaRPr lang="en-US" sz="1260" dirty="0"/>
          </a:p>
        </p:txBody>
      </p:sp>
      <p:sp>
        <p:nvSpPr>
          <p:cNvPr id="35" name="Text 32"/>
          <p:cNvSpPr/>
          <p:nvPr/>
        </p:nvSpPr>
        <p:spPr>
          <a:xfrm>
            <a:off x="8485632" y="4279392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exige límites y auditoría</a:t>
            </a:r>
            <a:endParaRPr lang="en-US" sz="880" dirty="0"/>
          </a:p>
        </p:txBody>
      </p:sp>
      <p:sp>
        <p:nvSpPr>
          <p:cNvPr id="36" name="Shape 33"/>
          <p:cNvSpPr/>
          <p:nvPr/>
        </p:nvSpPr>
        <p:spPr>
          <a:xfrm>
            <a:off x="786384" y="541324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87552" y="555040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Deep learning se vuelve útil cuando entrenamiento, evaluación y criterio trabajan juntos.</a:t>
            </a:r>
            <a:endParaRPr lang="en-US" sz="128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De Seguimiento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Generalización, overfitting y evaluación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77824" y="1828800"/>
            <a:ext cx="9454896" cy="1024128"/>
          </a:xfrm>
          <a:prstGeom prst="roundRect">
            <a:avLst>
              <a:gd name="adj" fmla="val 357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1956816"/>
            <a:ext cx="118872" cy="7680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07008" y="2029968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664208" y="2011680"/>
            <a:ext cx="8430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un modelo puede tener buen resultado en entrenamiento y fallar con datos nuevos?</a:t>
            </a:r>
            <a:endParaRPr lang="en-US" sz="1230" dirty="0"/>
          </a:p>
        </p:txBody>
      </p:sp>
      <p:sp>
        <p:nvSpPr>
          <p:cNvPr id="14" name="Text 11"/>
          <p:cNvSpPr/>
          <p:nvPr/>
        </p:nvSpPr>
        <p:spPr>
          <a:xfrm>
            <a:off x="1664208" y="2432304"/>
            <a:ext cx="8430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Usa la idea de memorizar ejemplos conocidos versus aprender patrones transferibles.</a:t>
            </a:r>
            <a:endParaRPr lang="en-US" sz="940" dirty="0"/>
          </a:p>
        </p:txBody>
      </p:sp>
      <p:sp>
        <p:nvSpPr>
          <p:cNvPr id="15" name="Shape 12"/>
          <p:cNvSpPr/>
          <p:nvPr/>
        </p:nvSpPr>
        <p:spPr>
          <a:xfrm>
            <a:off x="877824" y="3127248"/>
            <a:ext cx="9454896" cy="1024128"/>
          </a:xfrm>
          <a:prstGeom prst="roundRect">
            <a:avLst>
              <a:gd name="adj" fmla="val 357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87552" y="3255264"/>
            <a:ext cx="118872" cy="7680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07008" y="3328416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664208" y="3310128"/>
            <a:ext cx="8430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diferencia hay entre underfitting, overfitting y generalización razonable?</a:t>
            </a:r>
            <a:endParaRPr lang="en-US" sz="1230" dirty="0"/>
          </a:p>
        </p:txBody>
      </p:sp>
      <p:sp>
        <p:nvSpPr>
          <p:cNvPr id="19" name="Text 16"/>
          <p:cNvSpPr/>
          <p:nvPr/>
        </p:nvSpPr>
        <p:spPr>
          <a:xfrm>
            <a:off x="1664208" y="3730752"/>
            <a:ext cx="8430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Compara desempeño en entrenamiento y prueba; no respondas solo con definiciones sueltas.</a:t>
            </a:r>
            <a:endParaRPr lang="en-US" sz="940" dirty="0"/>
          </a:p>
        </p:txBody>
      </p:sp>
      <p:sp>
        <p:nvSpPr>
          <p:cNvPr id="20" name="Shape 17"/>
          <p:cNvSpPr/>
          <p:nvPr/>
        </p:nvSpPr>
        <p:spPr>
          <a:xfrm>
            <a:off x="877824" y="4425696"/>
            <a:ext cx="9454896" cy="1024128"/>
          </a:xfrm>
          <a:prstGeom prst="roundRect">
            <a:avLst>
              <a:gd name="adj" fmla="val 3571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87552" y="4553712"/>
            <a:ext cx="118872" cy="76809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207008" y="4626864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1664208" y="4608576"/>
            <a:ext cx="8430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accuracy puede ser engañosa en fraude o ciberseguridad?</a:t>
            </a:r>
            <a:endParaRPr lang="en-US" sz="1230" dirty="0"/>
          </a:p>
        </p:txBody>
      </p:sp>
      <p:sp>
        <p:nvSpPr>
          <p:cNvPr id="24" name="Text 21"/>
          <p:cNvSpPr/>
          <p:nvPr/>
        </p:nvSpPr>
        <p:spPr>
          <a:xfrm>
            <a:off x="1664208" y="5029200"/>
            <a:ext cx="8430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Pista: Piensa en clases desbalanceadas, falsos negativos y costo real del error.</a:t>
            </a:r>
            <a:endParaRPr lang="en-US" sz="94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Cierre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Cierre: El Recorrido Completo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la inspiración biológica al criterio técnico para evaluar modelos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768096" y="2212848"/>
            <a:ext cx="2139696" cy="1828800"/>
          </a:xfrm>
          <a:prstGeom prst="roundRect">
            <a:avLst>
              <a:gd name="adj" fmla="val 2000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7824" y="2359152"/>
            <a:ext cx="109728" cy="153619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78992" y="2395728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ETAPA 01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1078992" y="2651760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Neurona</a:t>
            </a:r>
            <a:endParaRPr lang="en-US" sz="1340" dirty="0"/>
          </a:p>
        </p:txBody>
      </p:sp>
      <p:sp>
        <p:nvSpPr>
          <p:cNvPr id="14" name="Text 11"/>
          <p:cNvSpPr/>
          <p:nvPr/>
        </p:nvSpPr>
        <p:spPr>
          <a:xfrm>
            <a:off x="1078992" y="3163824"/>
            <a:ext cx="16642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señales y activación</a:t>
            </a:r>
            <a:endParaRPr lang="en-US" sz="940" dirty="0"/>
          </a:p>
        </p:txBody>
      </p:sp>
      <p:sp>
        <p:nvSpPr>
          <p:cNvPr id="15" name="Shape 12"/>
          <p:cNvSpPr/>
          <p:nvPr/>
        </p:nvSpPr>
        <p:spPr>
          <a:xfrm>
            <a:off x="2944368" y="3054096"/>
            <a:ext cx="32918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3255264" y="2212848"/>
            <a:ext cx="2139696" cy="1828800"/>
          </a:xfrm>
          <a:prstGeom prst="roundRect">
            <a:avLst>
              <a:gd name="adj" fmla="val 2000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364992" y="2359152"/>
            <a:ext cx="109728" cy="15361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566160" y="2395728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ETAPA 02</a:t>
            </a:r>
            <a:endParaRPr lang="en-US" sz="840" dirty="0"/>
          </a:p>
        </p:txBody>
      </p:sp>
      <p:sp>
        <p:nvSpPr>
          <p:cNvPr id="19" name="Text 16"/>
          <p:cNvSpPr/>
          <p:nvPr/>
        </p:nvSpPr>
        <p:spPr>
          <a:xfrm>
            <a:off x="3566160" y="2651760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Perceptrón</a:t>
            </a:r>
            <a:endParaRPr lang="en-US" sz="1340" dirty="0"/>
          </a:p>
        </p:txBody>
      </p:sp>
      <p:sp>
        <p:nvSpPr>
          <p:cNvPr id="20" name="Text 17"/>
          <p:cNvSpPr/>
          <p:nvPr/>
        </p:nvSpPr>
        <p:spPr>
          <a:xfrm>
            <a:off x="3566160" y="3163824"/>
            <a:ext cx="16642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pesos, sesgo y salida</a:t>
            </a:r>
            <a:endParaRPr lang="en-US" sz="940" dirty="0"/>
          </a:p>
        </p:txBody>
      </p:sp>
      <p:sp>
        <p:nvSpPr>
          <p:cNvPr id="21" name="Shape 18"/>
          <p:cNvSpPr/>
          <p:nvPr/>
        </p:nvSpPr>
        <p:spPr>
          <a:xfrm>
            <a:off x="5431536" y="3054096"/>
            <a:ext cx="32918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5742432" y="2212848"/>
            <a:ext cx="2139696" cy="1828800"/>
          </a:xfrm>
          <a:prstGeom prst="roundRect">
            <a:avLst>
              <a:gd name="adj" fmla="val 2000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852160" y="2359152"/>
            <a:ext cx="109728" cy="153619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053328" y="2395728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ETAPA 03</a:t>
            </a:r>
            <a:endParaRPr lang="en-US" sz="840" dirty="0"/>
          </a:p>
        </p:txBody>
      </p:sp>
      <p:sp>
        <p:nvSpPr>
          <p:cNvPr id="25" name="Text 22"/>
          <p:cNvSpPr/>
          <p:nvPr/>
        </p:nvSpPr>
        <p:spPr>
          <a:xfrm>
            <a:off x="6053328" y="2651760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Entrenamiento</a:t>
            </a:r>
            <a:endParaRPr lang="en-US" sz="1340" dirty="0"/>
          </a:p>
        </p:txBody>
      </p:sp>
      <p:sp>
        <p:nvSpPr>
          <p:cNvPr id="26" name="Text 23"/>
          <p:cNvSpPr/>
          <p:nvPr/>
        </p:nvSpPr>
        <p:spPr>
          <a:xfrm>
            <a:off x="6053328" y="3163824"/>
            <a:ext cx="16642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error, pérdida y ajuste</a:t>
            </a:r>
            <a:endParaRPr lang="en-US" sz="940" dirty="0"/>
          </a:p>
        </p:txBody>
      </p:sp>
      <p:sp>
        <p:nvSpPr>
          <p:cNvPr id="27" name="Shape 24"/>
          <p:cNvSpPr/>
          <p:nvPr/>
        </p:nvSpPr>
        <p:spPr>
          <a:xfrm>
            <a:off x="7918704" y="3054096"/>
            <a:ext cx="32918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8229600" y="2212848"/>
            <a:ext cx="2139696" cy="1828800"/>
          </a:xfrm>
          <a:prstGeom prst="roundRect">
            <a:avLst>
              <a:gd name="adj" fmla="val 2000"/>
            </a:avLst>
          </a:prstGeom>
          <a:solidFill>
            <a:srgbClr val="EEF2F6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339328" y="2359152"/>
            <a:ext cx="109728" cy="1536192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540496" y="2395728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ETAPA 04</a:t>
            </a:r>
            <a:endParaRPr lang="en-US" sz="840" dirty="0"/>
          </a:p>
        </p:txBody>
      </p:sp>
      <p:sp>
        <p:nvSpPr>
          <p:cNvPr id="31" name="Text 28"/>
          <p:cNvSpPr/>
          <p:nvPr/>
        </p:nvSpPr>
        <p:spPr>
          <a:xfrm>
            <a:off x="8540496" y="2651760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Evaluación</a:t>
            </a:r>
            <a:endParaRPr lang="en-US" sz="1340" dirty="0"/>
          </a:p>
        </p:txBody>
      </p:sp>
      <p:sp>
        <p:nvSpPr>
          <p:cNvPr id="32" name="Text 29"/>
          <p:cNvSpPr/>
          <p:nvPr/>
        </p:nvSpPr>
        <p:spPr>
          <a:xfrm>
            <a:off x="8540496" y="3163824"/>
            <a:ext cx="16642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generalización y riesgo</a:t>
            </a:r>
            <a:endParaRPr lang="en-US" sz="940" dirty="0"/>
          </a:p>
        </p:txBody>
      </p:sp>
      <p:sp>
        <p:nvSpPr>
          <p:cNvPr id="33" name="Shape 30"/>
          <p:cNvSpPr/>
          <p:nvPr/>
        </p:nvSpPr>
        <p:spPr>
          <a:xfrm>
            <a:off x="786384" y="5394960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87552" y="5532120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Deep learning no es magia: es transformación de datos con parámetros y evaluación.</a:t>
            </a:r>
            <a:endParaRPr lang="en-US" sz="126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Cierre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Fórmulas Mínimas De La Clase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son para decorar: son el lenguaje técnico que permite razonar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59536" y="1847088"/>
            <a:ext cx="4315968" cy="1097280"/>
          </a:xfrm>
          <a:prstGeom prst="roundRect">
            <a:avLst>
              <a:gd name="adj" fmla="val 333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9264" y="1993392"/>
            <a:ext cx="109728" cy="80467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07008" y="19933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Suma ponderada</a:t>
            </a:r>
            <a:endParaRPr lang="en-US" sz="1280" dirty="0"/>
          </a:p>
        </p:txBody>
      </p:sp>
      <p:sp>
        <p:nvSpPr>
          <p:cNvPr id="13" name="Text 10"/>
          <p:cNvSpPr/>
          <p:nvPr/>
        </p:nvSpPr>
        <p:spPr>
          <a:xfrm>
            <a:off x="1207008" y="2304288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w1*x1 + w2*x2 + ... + wn*xn + b</a:t>
            </a:r>
            <a:endParaRPr lang="en-US" sz="1060" dirty="0"/>
          </a:p>
        </p:txBody>
      </p:sp>
      <p:sp>
        <p:nvSpPr>
          <p:cNvPr id="14" name="Text 11"/>
          <p:cNvSpPr/>
          <p:nvPr/>
        </p:nvSpPr>
        <p:spPr>
          <a:xfrm>
            <a:off x="1207008" y="2615184"/>
            <a:ext cx="3584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combina entradas, pesos y sesgo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5687568" y="1847088"/>
            <a:ext cx="4315968" cy="1097280"/>
          </a:xfrm>
          <a:prstGeom prst="roundRect">
            <a:avLst>
              <a:gd name="adj" fmla="val 3333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797296" y="1993392"/>
            <a:ext cx="109728" cy="80467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35040" y="19933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Activación</a:t>
            </a:r>
            <a:endParaRPr lang="en-US" sz="1280" dirty="0"/>
          </a:p>
        </p:txBody>
      </p:sp>
      <p:sp>
        <p:nvSpPr>
          <p:cNvPr id="18" name="Text 15"/>
          <p:cNvSpPr/>
          <p:nvPr/>
        </p:nvSpPr>
        <p:spPr>
          <a:xfrm>
            <a:off x="6035040" y="2304288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 z &gt;= 0 -&gt; salida = 1</a:t>
            </a:r>
            <a:endParaRPr lang="en-US" sz="1060" dirty="0"/>
          </a:p>
        </p:txBody>
      </p:sp>
      <p:sp>
        <p:nvSpPr>
          <p:cNvPr id="19" name="Text 16"/>
          <p:cNvSpPr/>
          <p:nvPr/>
        </p:nvSpPr>
        <p:spPr>
          <a:xfrm>
            <a:off x="6035040" y="2615184"/>
            <a:ext cx="3584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 señal acumulada en decisión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859536" y="3328416"/>
            <a:ext cx="4315968" cy="1097280"/>
          </a:xfrm>
          <a:prstGeom prst="roundRect">
            <a:avLst>
              <a:gd name="adj" fmla="val 3333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69264" y="3474720"/>
            <a:ext cx="109728" cy="80467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207008" y="34747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</a:t>
            </a:r>
            <a:endParaRPr lang="en-US" sz="1280" dirty="0"/>
          </a:p>
        </p:txBody>
      </p:sp>
      <p:sp>
        <p:nvSpPr>
          <p:cNvPr id="23" name="Text 20"/>
          <p:cNvSpPr/>
          <p:nvPr/>
        </p:nvSpPr>
        <p:spPr>
          <a:xfrm>
            <a:off x="1207008" y="3785616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= y - ŷ</a:t>
            </a:r>
            <a:endParaRPr lang="en-US" sz="1060" dirty="0"/>
          </a:p>
        </p:txBody>
      </p:sp>
      <p:sp>
        <p:nvSpPr>
          <p:cNvPr id="24" name="Text 21"/>
          <p:cNvSpPr/>
          <p:nvPr/>
        </p:nvSpPr>
        <p:spPr>
          <a:xfrm>
            <a:off x="1207008" y="4096512"/>
            <a:ext cx="3584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 respuesta real y predicción</a:t>
            </a:r>
            <a:endParaRPr lang="en-US" sz="880" dirty="0"/>
          </a:p>
        </p:txBody>
      </p:sp>
      <p:sp>
        <p:nvSpPr>
          <p:cNvPr id="25" name="Shape 22"/>
          <p:cNvSpPr/>
          <p:nvPr/>
        </p:nvSpPr>
        <p:spPr>
          <a:xfrm>
            <a:off x="5687568" y="3328416"/>
            <a:ext cx="4315968" cy="1097280"/>
          </a:xfrm>
          <a:prstGeom prst="roundRect">
            <a:avLst>
              <a:gd name="adj" fmla="val 333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797296" y="3474720"/>
            <a:ext cx="109728" cy="804672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035040" y="34747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Pérdida</a:t>
            </a:r>
            <a:endParaRPr lang="en-US" sz="1280" dirty="0"/>
          </a:p>
        </p:txBody>
      </p:sp>
      <p:sp>
        <p:nvSpPr>
          <p:cNvPr id="28" name="Text 25"/>
          <p:cNvSpPr/>
          <p:nvPr/>
        </p:nvSpPr>
        <p:spPr>
          <a:xfrm>
            <a:off x="6035040" y="3785616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(y - ŷ)^2</a:t>
            </a:r>
            <a:endParaRPr lang="en-US" sz="1060" dirty="0"/>
          </a:p>
        </p:txBody>
      </p:sp>
      <p:sp>
        <p:nvSpPr>
          <p:cNvPr id="29" name="Text 26"/>
          <p:cNvSpPr/>
          <p:nvPr/>
        </p:nvSpPr>
        <p:spPr>
          <a:xfrm>
            <a:off x="6035040" y="4096512"/>
            <a:ext cx="3584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mide distancia y castiga errores grandes</a:t>
            </a:r>
            <a:endParaRPr lang="en-US" sz="880" dirty="0"/>
          </a:p>
        </p:txBody>
      </p:sp>
      <p:sp>
        <p:nvSpPr>
          <p:cNvPr id="30" name="Shape 27"/>
          <p:cNvSpPr/>
          <p:nvPr/>
        </p:nvSpPr>
        <p:spPr>
          <a:xfrm>
            <a:off x="786384" y="541324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87552" y="5550408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Estas fórmulas permiten leer una red simple sin necesitar cálculo avanzado todavía.</a:t>
            </a:r>
            <a:endParaRPr lang="en-US" sz="126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Cierre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Glosario Visual Mínimo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símbolos se entienden por su rol dentro del flujo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859536" y="1956816"/>
            <a:ext cx="2029968" cy="932688"/>
          </a:xfrm>
          <a:prstGeom prst="roundRect">
            <a:avLst>
              <a:gd name="adj" fmla="val 392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9264" y="2103120"/>
            <a:ext cx="109728" cy="64008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88720" y="2121408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773936" y="2267712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entrada</a:t>
            </a:r>
            <a:endParaRPr lang="en-US" sz="1060" dirty="0"/>
          </a:p>
        </p:txBody>
      </p:sp>
      <p:sp>
        <p:nvSpPr>
          <p:cNvPr id="14" name="Shape 11"/>
          <p:cNvSpPr/>
          <p:nvPr/>
        </p:nvSpPr>
        <p:spPr>
          <a:xfrm>
            <a:off x="3273552" y="1956816"/>
            <a:ext cx="2029968" cy="932688"/>
          </a:xfrm>
          <a:prstGeom prst="roundRect">
            <a:avLst>
              <a:gd name="adj" fmla="val 392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83280" y="2103120"/>
            <a:ext cx="109728" cy="64008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02736" y="2121408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187952" y="2267712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peso</a:t>
            </a:r>
            <a:endParaRPr lang="en-US" sz="1060" dirty="0"/>
          </a:p>
        </p:txBody>
      </p:sp>
      <p:sp>
        <p:nvSpPr>
          <p:cNvPr id="18" name="Shape 15"/>
          <p:cNvSpPr/>
          <p:nvPr/>
        </p:nvSpPr>
        <p:spPr>
          <a:xfrm>
            <a:off x="5687568" y="1956816"/>
            <a:ext cx="2029968" cy="932688"/>
          </a:xfrm>
          <a:prstGeom prst="roundRect">
            <a:avLst>
              <a:gd name="adj" fmla="val 392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797296" y="2103120"/>
            <a:ext cx="109728" cy="64008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16752" y="2121408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601968" y="2267712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sesgo</a:t>
            </a:r>
            <a:endParaRPr lang="en-US" sz="1060" dirty="0"/>
          </a:p>
        </p:txBody>
      </p:sp>
      <p:sp>
        <p:nvSpPr>
          <p:cNvPr id="22" name="Shape 19"/>
          <p:cNvSpPr/>
          <p:nvPr/>
        </p:nvSpPr>
        <p:spPr>
          <a:xfrm>
            <a:off x="8101584" y="1956816"/>
            <a:ext cx="2029968" cy="932688"/>
          </a:xfrm>
          <a:prstGeom prst="roundRect">
            <a:avLst>
              <a:gd name="adj" fmla="val 392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211312" y="2103120"/>
            <a:ext cx="109728" cy="64008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430768" y="2121408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9015984" y="2267712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suma</a:t>
            </a:r>
            <a:endParaRPr lang="en-US" sz="1060" dirty="0"/>
          </a:p>
        </p:txBody>
      </p:sp>
      <p:sp>
        <p:nvSpPr>
          <p:cNvPr id="26" name="Shape 23"/>
          <p:cNvSpPr/>
          <p:nvPr/>
        </p:nvSpPr>
        <p:spPr>
          <a:xfrm>
            <a:off x="859536" y="3291840"/>
            <a:ext cx="2029968" cy="932688"/>
          </a:xfrm>
          <a:prstGeom prst="roundRect">
            <a:avLst>
              <a:gd name="adj" fmla="val 392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69264" y="3438144"/>
            <a:ext cx="109728" cy="64008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88720" y="345643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ŷ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1773936" y="3602736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predicción</a:t>
            </a:r>
            <a:endParaRPr lang="en-US" sz="1060" dirty="0"/>
          </a:p>
        </p:txBody>
      </p:sp>
      <p:sp>
        <p:nvSpPr>
          <p:cNvPr id="30" name="Shape 27"/>
          <p:cNvSpPr/>
          <p:nvPr/>
        </p:nvSpPr>
        <p:spPr>
          <a:xfrm>
            <a:off x="3273552" y="3291840"/>
            <a:ext cx="2029968" cy="932688"/>
          </a:xfrm>
          <a:prstGeom prst="roundRect">
            <a:avLst>
              <a:gd name="adj" fmla="val 392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383280" y="3438144"/>
            <a:ext cx="109728" cy="64008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602736" y="345643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4187952" y="3602736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real</a:t>
            </a:r>
            <a:endParaRPr lang="en-US" sz="1060" dirty="0"/>
          </a:p>
        </p:txBody>
      </p:sp>
      <p:sp>
        <p:nvSpPr>
          <p:cNvPr id="34" name="Shape 31"/>
          <p:cNvSpPr/>
          <p:nvPr/>
        </p:nvSpPr>
        <p:spPr>
          <a:xfrm>
            <a:off x="5687568" y="3291840"/>
            <a:ext cx="2029968" cy="932688"/>
          </a:xfrm>
          <a:prstGeom prst="roundRect">
            <a:avLst>
              <a:gd name="adj" fmla="val 392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797296" y="3438144"/>
            <a:ext cx="109728" cy="64008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016752" y="345643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6601968" y="3602736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pérdida</a:t>
            </a:r>
            <a:endParaRPr lang="en-US" sz="1060" dirty="0"/>
          </a:p>
        </p:txBody>
      </p:sp>
      <p:sp>
        <p:nvSpPr>
          <p:cNvPr id="38" name="Shape 35"/>
          <p:cNvSpPr/>
          <p:nvPr/>
        </p:nvSpPr>
        <p:spPr>
          <a:xfrm>
            <a:off x="8101584" y="3291840"/>
            <a:ext cx="2029968" cy="932688"/>
          </a:xfrm>
          <a:prstGeom prst="roundRect">
            <a:avLst>
              <a:gd name="adj" fmla="val 392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211312" y="3438144"/>
            <a:ext cx="109728" cy="64008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430768" y="345643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</a:t>
            </a:r>
            <a:endParaRPr lang="en-US" sz="1800" dirty="0"/>
          </a:p>
        </p:txBody>
      </p:sp>
      <p:sp>
        <p:nvSpPr>
          <p:cNvPr id="41" name="Text 38"/>
          <p:cNvSpPr/>
          <p:nvPr/>
        </p:nvSpPr>
        <p:spPr>
          <a:xfrm>
            <a:off x="9015984" y="3602736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datos nuevos</a:t>
            </a:r>
            <a:endParaRPr lang="en-US" sz="1060" dirty="0"/>
          </a:p>
        </p:txBody>
      </p:sp>
      <p:sp>
        <p:nvSpPr>
          <p:cNvPr id="42" name="Shape 39"/>
          <p:cNvSpPr/>
          <p:nvPr/>
        </p:nvSpPr>
        <p:spPr>
          <a:xfrm>
            <a:off x="786384" y="5394960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87552" y="5532120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vocabulario técnico permite preguntar mejor, depurar mejor y no depender de explicaciones vagas.</a:t>
            </a:r>
            <a:endParaRPr lang="en-US" sz="122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23 · Cierre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Checklist Final Para Interpretar Un Modelo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integrar IA en una aplicación, estas preguntas no son opcionales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914400" y="1865376"/>
            <a:ext cx="4114800" cy="530352"/>
          </a:xfrm>
          <a:prstGeom prst="roundRect">
            <a:avLst>
              <a:gd name="adj" fmla="val 689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24128" y="2011680"/>
            <a:ext cx="109728" cy="23774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61872" y="2011680"/>
            <a:ext cx="3438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datos recibe?</a:t>
            </a:r>
            <a:endParaRPr lang="en-US" sz="1180" dirty="0"/>
          </a:p>
        </p:txBody>
      </p:sp>
      <p:sp>
        <p:nvSpPr>
          <p:cNvPr id="13" name="Shape 10"/>
          <p:cNvSpPr/>
          <p:nvPr/>
        </p:nvSpPr>
        <p:spPr>
          <a:xfrm>
            <a:off x="5632704" y="1865376"/>
            <a:ext cx="4114800" cy="530352"/>
          </a:xfrm>
          <a:prstGeom prst="roundRect">
            <a:avLst>
              <a:gd name="adj" fmla="val 689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742432" y="2011680"/>
            <a:ext cx="109728" cy="2377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80176" y="2011680"/>
            <a:ext cx="3438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predice?</a:t>
            </a:r>
            <a:endParaRPr lang="en-US" sz="1180" dirty="0"/>
          </a:p>
        </p:txBody>
      </p:sp>
      <p:sp>
        <p:nvSpPr>
          <p:cNvPr id="16" name="Shape 13"/>
          <p:cNvSpPr/>
          <p:nvPr/>
        </p:nvSpPr>
        <p:spPr>
          <a:xfrm>
            <a:off x="914400" y="2670048"/>
            <a:ext cx="4114800" cy="530352"/>
          </a:xfrm>
          <a:prstGeom prst="roundRect">
            <a:avLst>
              <a:gd name="adj" fmla="val 689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24128" y="2816352"/>
            <a:ext cx="109728" cy="23774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61872" y="2816352"/>
            <a:ext cx="3438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¿cómo se evaluó?</a:t>
            </a:r>
            <a:endParaRPr lang="en-US" sz="1180" dirty="0"/>
          </a:p>
        </p:txBody>
      </p:sp>
      <p:sp>
        <p:nvSpPr>
          <p:cNvPr id="19" name="Shape 16"/>
          <p:cNvSpPr/>
          <p:nvPr/>
        </p:nvSpPr>
        <p:spPr>
          <a:xfrm>
            <a:off x="5632704" y="2670048"/>
            <a:ext cx="4114800" cy="530352"/>
          </a:xfrm>
          <a:prstGeom prst="roundRect">
            <a:avLst>
              <a:gd name="adj" fmla="val 689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742432" y="2816352"/>
            <a:ext cx="109728" cy="2377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80176" y="2816352"/>
            <a:ext cx="3438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errores comete?</a:t>
            </a:r>
            <a:endParaRPr lang="en-US" sz="1180" dirty="0"/>
          </a:p>
        </p:txBody>
      </p:sp>
      <p:sp>
        <p:nvSpPr>
          <p:cNvPr id="22" name="Shape 19"/>
          <p:cNvSpPr/>
          <p:nvPr/>
        </p:nvSpPr>
        <p:spPr>
          <a:xfrm>
            <a:off x="914400" y="3474720"/>
            <a:ext cx="4114800" cy="530352"/>
          </a:xfrm>
          <a:prstGeom prst="roundRect">
            <a:avLst>
              <a:gd name="adj" fmla="val 689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24128" y="3621024"/>
            <a:ext cx="109728" cy="23774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261872" y="3621024"/>
            <a:ext cx="3438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pasa si falla?</a:t>
            </a:r>
            <a:endParaRPr lang="en-US" sz="1180" dirty="0"/>
          </a:p>
        </p:txBody>
      </p:sp>
      <p:sp>
        <p:nvSpPr>
          <p:cNvPr id="25" name="Shape 22"/>
          <p:cNvSpPr/>
          <p:nvPr/>
        </p:nvSpPr>
        <p:spPr>
          <a:xfrm>
            <a:off x="5632704" y="3474720"/>
            <a:ext cx="4114800" cy="530352"/>
          </a:xfrm>
          <a:prstGeom prst="roundRect">
            <a:avLst>
              <a:gd name="adj" fmla="val 689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742432" y="3621024"/>
            <a:ext cx="109728" cy="2377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80176" y="3621024"/>
            <a:ext cx="3438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¿hay monitoreo y corrección?</a:t>
            </a:r>
            <a:endParaRPr lang="en-US" sz="1180" dirty="0"/>
          </a:p>
        </p:txBody>
      </p:sp>
      <p:sp>
        <p:nvSpPr>
          <p:cNvPr id="28" name="Shape 25"/>
          <p:cNvSpPr/>
          <p:nvPr/>
        </p:nvSpPr>
        <p:spPr>
          <a:xfrm>
            <a:off x="786384" y="5376672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87552" y="5513832"/>
            <a:ext cx="9564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modelo sin evaluación, límites y trazabilidad no debe recibir confianza automática.</a:t>
            </a:r>
            <a:endParaRPr lang="en-US" sz="13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847649"/>
            <a:ext cx="210312" cy="48371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3894" y="658368"/>
            <a:ext cx="252374" cy="67299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78331" y="847649"/>
            <a:ext cx="210312" cy="48371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17904" y="100584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Próximo Paso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536192" y="162763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D8E4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Modelos de lenguaje, LLMs y agentes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987552" y="2505456"/>
            <a:ext cx="1828800" cy="566928"/>
          </a:xfrm>
          <a:prstGeom prst="roundRect">
            <a:avLst>
              <a:gd name="adj" fmla="val 6452"/>
            </a:avLst>
          </a:prstGeom>
          <a:solidFill>
            <a:srgbClr val="173E64"/>
          </a:solidFill>
          <a:ln w="12700">
            <a:solidFill>
              <a:srgbClr val="2D5E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2651760"/>
            <a:ext cx="109728" cy="27432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8448" y="2670048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tokens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3218688" y="2505456"/>
            <a:ext cx="1828800" cy="566928"/>
          </a:xfrm>
          <a:prstGeom prst="roundRect">
            <a:avLst>
              <a:gd name="adj" fmla="val 6452"/>
            </a:avLst>
          </a:prstGeom>
          <a:solidFill>
            <a:srgbClr val="173E64"/>
          </a:solidFill>
          <a:ln w="12700">
            <a:solidFill>
              <a:srgbClr val="2D5E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28416" y="2651760"/>
            <a:ext cx="109728" cy="27432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9584" y="2670048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embeddings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5449824" y="2505456"/>
            <a:ext cx="1828800" cy="566928"/>
          </a:xfrm>
          <a:prstGeom prst="roundRect">
            <a:avLst>
              <a:gd name="adj" fmla="val 6452"/>
            </a:avLst>
          </a:prstGeom>
          <a:solidFill>
            <a:srgbClr val="173E64"/>
          </a:solidFill>
          <a:ln w="12700">
            <a:solidFill>
              <a:srgbClr val="2D5E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59552" y="2651760"/>
            <a:ext cx="109728" cy="27432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2670048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transformers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7680960" y="2505456"/>
            <a:ext cx="1828800" cy="566928"/>
          </a:xfrm>
          <a:prstGeom prst="roundRect">
            <a:avLst>
              <a:gd name="adj" fmla="val 6452"/>
            </a:avLst>
          </a:prstGeom>
          <a:solidFill>
            <a:srgbClr val="173E64"/>
          </a:solidFill>
          <a:ln w="12700">
            <a:solidFill>
              <a:srgbClr val="2D5E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90688" y="2651760"/>
            <a:ext cx="109728" cy="27432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91856" y="2670048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prompting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987552" y="3383280"/>
            <a:ext cx="1828800" cy="566928"/>
          </a:xfrm>
          <a:prstGeom prst="roundRect">
            <a:avLst>
              <a:gd name="adj" fmla="val 6452"/>
            </a:avLst>
          </a:prstGeom>
          <a:solidFill>
            <a:srgbClr val="173E64"/>
          </a:solidFill>
          <a:ln w="12700">
            <a:solidFill>
              <a:srgbClr val="2D5E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7280" y="3529584"/>
            <a:ext cx="109728" cy="27432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98448" y="3547872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herramientas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3218688" y="3383280"/>
            <a:ext cx="1828800" cy="566928"/>
          </a:xfrm>
          <a:prstGeom prst="roundRect">
            <a:avLst>
              <a:gd name="adj" fmla="val 6452"/>
            </a:avLst>
          </a:prstGeom>
          <a:solidFill>
            <a:srgbClr val="173E64"/>
          </a:solidFill>
          <a:ln w="12700">
            <a:solidFill>
              <a:srgbClr val="2D5E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28416" y="3529584"/>
            <a:ext cx="109728" cy="27432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29584" y="3547872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memoria</a:t>
            </a:r>
            <a:endParaRPr lang="en-US" sz="1040" dirty="0"/>
          </a:p>
        </p:txBody>
      </p:sp>
      <p:sp>
        <p:nvSpPr>
          <p:cNvPr id="25" name="Shape 23"/>
          <p:cNvSpPr/>
          <p:nvPr/>
        </p:nvSpPr>
        <p:spPr>
          <a:xfrm>
            <a:off x="5449824" y="3383280"/>
            <a:ext cx="1828800" cy="566928"/>
          </a:xfrm>
          <a:prstGeom prst="roundRect">
            <a:avLst>
              <a:gd name="adj" fmla="val 6452"/>
            </a:avLst>
          </a:prstGeom>
          <a:solidFill>
            <a:srgbClr val="173E64"/>
          </a:solidFill>
          <a:ln w="12700">
            <a:solidFill>
              <a:srgbClr val="2D5E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59552" y="3529584"/>
            <a:ext cx="109728" cy="27432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0" y="3547872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evaluación</a:t>
            </a:r>
            <a:endParaRPr lang="en-US" sz="1040" dirty="0"/>
          </a:p>
        </p:txBody>
      </p:sp>
      <p:sp>
        <p:nvSpPr>
          <p:cNvPr id="28" name="Text 26"/>
          <p:cNvSpPr/>
          <p:nvPr/>
        </p:nvSpPr>
        <p:spPr>
          <a:xfrm>
            <a:off x="987552" y="5102352"/>
            <a:ext cx="9235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conexión es directa: datos -&gt; representación -&gt; predicción -&gt; evaluación -&gt; control.</a:t>
            </a:r>
            <a:endParaRPr lang="en-US" sz="162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" y="910742"/>
            <a:ext cx="219456" cy="504749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9731" y="713232"/>
            <a:ext cx="263347" cy="702259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56970" y="910742"/>
            <a:ext cx="219456" cy="504749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160934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 Final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59536" y="2340864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Entender deep learning no exige dominar cálculo avanzado desde el primer día.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77824" y="3273552"/>
            <a:ext cx="9144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D8E4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Exige comprender qué representan los datos, cómo se combinan señales, cómo se mide el error, cómo se ajustan parámetros y por qué validar un modelo es tan importante como entrenarlo.</a:t>
            </a:r>
            <a:endParaRPr lang="en-US" sz="1520" dirty="0"/>
          </a:p>
        </p:txBody>
      </p:sp>
      <p:sp>
        <p:nvSpPr>
          <p:cNvPr id="8" name="Shape 6"/>
          <p:cNvSpPr/>
          <p:nvPr/>
        </p:nvSpPr>
        <p:spPr>
          <a:xfrm>
            <a:off x="987552" y="4828032"/>
            <a:ext cx="8869680" cy="841248"/>
          </a:xfrm>
          <a:prstGeom prst="roundRect">
            <a:avLst>
              <a:gd name="adj" fmla="val 5435"/>
            </a:avLst>
          </a:prstGeom>
          <a:solidFill>
            <a:srgbClr val="173E64"/>
          </a:solidFill>
          <a:ln w="12700">
            <a:solidFill>
              <a:srgbClr val="2D5E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4974336"/>
            <a:ext cx="109728" cy="5486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4956048"/>
            <a:ext cx="8430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 instalada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298448" y="5285232"/>
            <a:ext cx="8247888" cy="347472"/>
          </a:xfrm>
          <a:prstGeom prst="roundRect">
            <a:avLst>
              <a:gd name="adj" fmla="val 1052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26464" y="5385816"/>
            <a:ext cx="7991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datos -&gt; señales -&gt; predicción -&gt; pérdida -&gt; ajuste -&gt; evaluación</a:t>
            </a:r>
            <a:endParaRPr lang="en-US" sz="1340" dirty="0"/>
          </a:p>
        </p:txBody>
      </p:sp>
      <p:sp>
        <p:nvSpPr>
          <p:cNvPr id="13" name="Text 11"/>
          <p:cNvSpPr/>
          <p:nvPr/>
        </p:nvSpPr>
        <p:spPr>
          <a:xfrm>
            <a:off x="1298448" y="5705856"/>
            <a:ext cx="8247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D8E4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evaluación, el aprendizaje no alcanza</a:t>
            </a:r>
            <a:endParaRPr lang="en-US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93</Slides>
  <Notes>93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93</vt:i4>
      </vt:variant>
    </vt:vector>
  </HeadingPairs>
  <TitlesOfParts>
    <vt:vector size="9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</vt:vector>
  </TitlesOfParts>
  <Company>AIEP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Fundamentos de deep learning: neuronas, perceptrón, entrenamiento y generalización</dc:title>
  <dc:subject>Clase 23</dc:subject>
  <dc:creator>Diego Obando</dc:creator>
  <cp:lastModifiedBy>Diego Obando</cp:lastModifiedBy>
  <cp:revision>1</cp:revision>
  <dcterms:created xsi:type="dcterms:W3CDTF">2026-05-01T17:01:21Z</dcterms:created>
  <dcterms:modified xsi:type="dcterms:W3CDTF">2026-05-01T17:01:21Z</dcterms:modified>
</cp:coreProperties>
</file>