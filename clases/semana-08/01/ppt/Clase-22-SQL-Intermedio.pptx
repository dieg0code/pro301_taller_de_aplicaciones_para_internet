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image" Target="../media/image-24-4.png"/><Relationship Id="rId5" Type="http://schemas.openxmlformats.org/officeDocument/2006/relationships/image" Target="../media/image-2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image" Target="../media/image-27-4.png"/><Relationship Id="rId5" Type="http://schemas.openxmlformats.org/officeDocument/2006/relationships/image" Target="../media/image-2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image" Target="../media/image-29-4.png"/><Relationship Id="rId5" Type="http://schemas.openxmlformats.org/officeDocument/2006/relationships/image" Target="../media/image-2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4.png"/><Relationship Id="rId5" Type="http://schemas.openxmlformats.org/officeDocument/2006/relationships/image" Target="../media/image-3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image" Target="../media/image-45-4.png"/><Relationship Id="rId5" Type="http://schemas.openxmlformats.org/officeDocument/2006/relationships/image" Target="../media/image-4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svg"/><Relationship Id="rId4" Type="http://schemas.openxmlformats.org/officeDocument/2006/relationships/image" Target="../media/image-48-4.png"/><Relationship Id="rId5" Type="http://schemas.openxmlformats.org/officeDocument/2006/relationships/image" Target="../media/image-4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image" Target="../media/image-51-4.png"/><Relationship Id="rId5" Type="http://schemas.openxmlformats.org/officeDocument/2006/relationships/image" Target="../media/image-5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359152"/>
            <a:ext cx="987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conectados para aplicaciones reales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04672" y="4297680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08 · Clase 22: joins, agregaciones y normalización ligera.</a:t>
            </a:r>
            <a:endParaRPr lang="en-US" sz="1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Seguridad A Datos Útiles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semana 07 cerró el riesgo; semana 08 abre el criterio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334256"/>
          </a:xfrm>
          <a:prstGeom prst="roundRect">
            <a:avLst>
              <a:gd name="adj" fmla="val 8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aprendizaje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W7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3054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Crear, insertar, consultar, actualizar y borrar datos con criterio.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W7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42032"/>
            <a:ext cx="73152" cy="3054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entradas, parametrizar, autenticar y limitar errores.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W8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42032"/>
            <a:ext cx="73152" cy="3054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tablas, resumir información y alimentar endpoints reales.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1005840" y="5852160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15568" y="5897880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la pregunta deja de ser solo qué tabla leo y pasa a ser qué relación necesito reconstruir.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 No Alcanza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aplicaciones reales conectan hechos distintos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94960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11680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49501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4365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984602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39466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019702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74566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054803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9667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914400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1949501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04365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984602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39466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019702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74566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054803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9667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12990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914400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9264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949501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04365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2984602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39466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019702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74566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054803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09667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24990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14400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9264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949501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04365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2984602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39466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19702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74566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054803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09667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119990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914400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69264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1949501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004365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2984602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039466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019702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074566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054803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09667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3990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6510528" y="190195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601968" y="2029968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66560" y="201168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 simple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766560" y="235915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queda visible en una sola planilla.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6510528" y="318211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601968" y="3310128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766560" y="329184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se contradice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6766560" y="363931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Correos, nombres y categorías se repiten hasta volverse frágiles.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6510528" y="446227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601968" y="4590288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766560" y="457200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cuesta consultar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766560" y="491947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necesita datos conectados, no texto duplicado.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804672" y="577900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87552" y="591616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 empieza cuando dejamos de pensar en filas sueltas.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pasos para consultar datos conectados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5681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2176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55648" y="217627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755648" y="267004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Entidades, claves y cardinalidad.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50992" y="195681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5584" y="2176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01968" y="217627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01968" y="267004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Reconstruir información distribuida.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" y="405993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4279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55648" y="42793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755648" y="47731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filas en indicadores.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50992" y="405993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15584" y="4279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601968" y="42793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601968" y="47731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Normalizar, filtrar y conectar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consultas intermedias que sirvan a una aplicación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82065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48256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Combinar tablas, resumir información y revisar seguridad antes de entregar datos al frontend.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931920"/>
            <a:ext cx="100584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460" dirty="0"/>
          </a:p>
        </p:txBody>
      </p:sp>
      <p:sp>
        <p:nvSpPr>
          <p:cNvPr id="15" name="Text 12"/>
          <p:cNvSpPr/>
          <p:nvPr/>
        </p:nvSpPr>
        <p:spPr>
          <a:xfrm>
            <a:off x="1060704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PK, FK y cardinalidad.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3310128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3280" y="3931920"/>
            <a:ext cx="100584" cy="1078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</a:t>
            </a:r>
            <a:endParaRPr lang="en-US" sz="1460" dirty="0"/>
          </a:p>
        </p:txBody>
      </p:sp>
      <p:sp>
        <p:nvSpPr>
          <p:cNvPr id="19" name="Text 16"/>
          <p:cNvSpPr/>
          <p:nvPr/>
        </p:nvSpPr>
        <p:spPr>
          <a:xfrm>
            <a:off x="3566160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INNER, LEFT y ausencia de coincidencia.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5815584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88736" y="3931920"/>
            <a:ext cx="100584" cy="10789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71616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</a:t>
            </a:r>
            <a:endParaRPr lang="en-US" sz="1460" dirty="0"/>
          </a:p>
        </p:txBody>
      </p:sp>
      <p:sp>
        <p:nvSpPr>
          <p:cNvPr id="23" name="Text 20"/>
          <p:cNvSpPr/>
          <p:nvPr/>
        </p:nvSpPr>
        <p:spPr>
          <a:xfrm>
            <a:off x="6071616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SUM, GROUP BY y HAVING.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8321040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94192" y="3931920"/>
            <a:ext cx="100584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77072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460" dirty="0"/>
          </a:p>
        </p:txBody>
      </p:sp>
      <p:sp>
        <p:nvSpPr>
          <p:cNvPr id="27" name="Text 24"/>
          <p:cNvSpPr/>
          <p:nvPr/>
        </p:nvSpPr>
        <p:spPr>
          <a:xfrm>
            <a:off x="8577072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Columnas, filtros, permisos y parámetros.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 Mental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escribimos consultas largas por deporte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05840" y="184708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48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3310128" y="202082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03904" y="184708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1648" y="202996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necesita saber la pantalla o endpoint?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005840" y="280720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3008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</a:t>
            </a:r>
            <a:endParaRPr lang="en-US" sz="1540" dirty="0"/>
          </a:p>
        </p:txBody>
      </p:sp>
      <p:sp>
        <p:nvSpPr>
          <p:cNvPr id="17" name="Shape 14"/>
          <p:cNvSpPr/>
          <p:nvPr/>
        </p:nvSpPr>
        <p:spPr>
          <a:xfrm>
            <a:off x="3310128" y="298094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03904" y="280720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008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tablas conectan esa información?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1005840" y="376732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33856" y="3968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3310128" y="394106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03904" y="376732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41648" y="395020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puede ver esos datos y bajo qué filtro?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1005840" y="472744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40" dirty="0"/>
          </a:p>
        </p:txBody>
      </p:sp>
      <p:sp>
        <p:nvSpPr>
          <p:cNvPr id="27" name="Shape 24"/>
          <p:cNvSpPr/>
          <p:nvPr/>
        </p:nvSpPr>
        <p:spPr>
          <a:xfrm>
            <a:off x="3310128" y="490118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03904" y="472744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41648" y="491032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SQL devuelve exactamente lo necesario?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804672" y="5815584"/>
            <a:ext cx="9820656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95274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entendemos la pregunta; después elegimos SQL.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Antes De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clase cambia de eje, pero no de disciplina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2761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estructurados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Tablas, relaciones, filtros y métricas preparan una forma de mirar información.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4041648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1993392"/>
            <a:ext cx="109728" cy="2761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97680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agregaciones ya son una forma básica de resumir comportamiento observado.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7278624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1993392"/>
            <a:ext cx="109728" cy="2761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34656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34656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consulta miente, una métrica o modelo también puede orientar mal decisiones.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804672" y="554126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67842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hablar de modelos que aprenden, necesitamos datos que tengan sentido.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11426"/>
            <a:ext cx="265176" cy="60990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" y="1572768"/>
            <a:ext cx="318211" cy="84856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4130" y="1811426"/>
            <a:ext cx="265176" cy="60990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59152"/>
            <a:ext cx="9418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tablas sueltas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datos relacionados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3913632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Entidades, claves, cardinalidad e integridad.</a:t>
            </a:r>
            <a:endParaRPr lang="en-US" sz="1740" dirty="0"/>
          </a:p>
        </p:txBody>
      </p:sp>
      <p:sp>
        <p:nvSpPr>
          <p:cNvPr id="7" name="Shape 5"/>
          <p:cNvSpPr/>
          <p:nvPr/>
        </p:nvSpPr>
        <p:spPr>
          <a:xfrm>
            <a:off x="804672" y="5285232"/>
            <a:ext cx="9509760" cy="676656"/>
          </a:xfrm>
          <a:prstGeom prst="roundRect">
            <a:avLst>
              <a:gd name="adj" fmla="val 54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504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leer una base relacional como un mapa de hechos conectados.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Trampa De La Planilla Única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cómodo al inicio se vuelve caro al mantener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01952"/>
            <a:ext cx="557784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011680"/>
            <a:ext cx="5358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59536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31213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86077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002890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7754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074566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29430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146243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01107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59536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1931213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86077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002890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57754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074566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29430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146243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01107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859536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931213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86077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3002890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57754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074566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29430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146243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01107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59536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931213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986077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 R.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002890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57754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74566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129430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146243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201107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59536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400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1931213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986077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3002890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057754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074566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29430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146243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201107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859536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14400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1931213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986077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3002890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057754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68" name="Shape 65"/>
          <p:cNvSpPr/>
          <p:nvPr/>
        </p:nvSpPr>
        <p:spPr>
          <a:xfrm>
            <a:off x="4074566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129430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5146243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201107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6638544" y="1938528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39712" y="2103120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usuario aparece varias veces.</a:t>
            </a:r>
            <a:endParaRPr lang="en-US" sz="1140" dirty="0"/>
          </a:p>
        </p:txBody>
      </p:sp>
      <p:sp>
        <p:nvSpPr>
          <p:cNvPr id="74" name="Shape 71"/>
          <p:cNvSpPr/>
          <p:nvPr/>
        </p:nvSpPr>
        <p:spPr>
          <a:xfrm>
            <a:off x="6638544" y="2688336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39712" y="28529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cambio de correo exige muchas actualizaciones.</a:t>
            </a:r>
            <a:endParaRPr lang="en-US" sz="1140" dirty="0"/>
          </a:p>
        </p:txBody>
      </p:sp>
      <p:sp>
        <p:nvSpPr>
          <p:cNvPr id="76" name="Shape 73"/>
          <p:cNvSpPr/>
          <p:nvPr/>
        </p:nvSpPr>
        <p:spPr>
          <a:xfrm>
            <a:off x="6638544" y="3438144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839712" y="3602736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categoría depende de texto repetido.</a:t>
            </a:r>
            <a:endParaRPr lang="en-US" sz="1140" dirty="0"/>
          </a:p>
        </p:txBody>
      </p:sp>
      <p:sp>
        <p:nvSpPr>
          <p:cNvPr id="78" name="Shape 75"/>
          <p:cNvSpPr/>
          <p:nvPr/>
        </p:nvSpPr>
        <p:spPr>
          <a:xfrm>
            <a:off x="6638544" y="4187952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839712" y="4352544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compra no apunta a entidades confiables.</a:t>
            </a:r>
            <a:endParaRPr lang="en-US" sz="1140" dirty="0"/>
          </a:p>
        </p:txBody>
      </p:sp>
      <p:sp>
        <p:nvSpPr>
          <p:cNvPr id="80" name="Shape 77"/>
          <p:cNvSpPr/>
          <p:nvPr/>
        </p:nvSpPr>
        <p:spPr>
          <a:xfrm>
            <a:off x="804672" y="5650992"/>
            <a:ext cx="982065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 gigante oculta relaciones que la aplicación sí necesita entender.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Identificar Entidades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tabla debe guardar un tipo de hecho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29968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y contacto.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59936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2029968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5968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4315968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y precio actual.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0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2029968"/>
            <a:ext cx="100584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categorías</a:t>
            </a:r>
            <a:endParaRPr lang="en-US" sz="1620" dirty="0"/>
          </a:p>
        </p:txBody>
      </p:sp>
      <p:sp>
        <p:nvSpPr>
          <p:cNvPr id="21" name="Text 18"/>
          <p:cNvSpPr/>
          <p:nvPr/>
        </p:nvSpPr>
        <p:spPr>
          <a:xfrm>
            <a:off x="7571232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para filtros.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74520" y="3913632"/>
            <a:ext cx="4315968" cy="1316736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47672" y="4023360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30552" y="404164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620" dirty="0"/>
          </a:p>
        </p:txBody>
      </p:sp>
      <p:sp>
        <p:nvSpPr>
          <p:cNvPr id="25" name="Text 22"/>
          <p:cNvSpPr/>
          <p:nvPr/>
        </p:nvSpPr>
        <p:spPr>
          <a:xfrm>
            <a:off x="2130552" y="4315968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principal.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02552" y="3913632"/>
            <a:ext cx="4315968" cy="1316736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75704" y="4023360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58584" y="404164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detalle_compras</a:t>
            </a:r>
            <a:endParaRPr lang="en-US" sz="1620" dirty="0"/>
          </a:p>
        </p:txBody>
      </p:sp>
      <p:sp>
        <p:nvSpPr>
          <p:cNvPr id="29" name="Text 26"/>
          <p:cNvSpPr/>
          <p:nvPr/>
        </p:nvSpPr>
        <p:spPr>
          <a:xfrm>
            <a:off x="6958584" y="4315968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de cada compra.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4672" y="568756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aplicación reconstruye una vista completa combinando hechos separados.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Referencia Es El Puente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`usuario_id` conecta compra con usuario sin copiar todo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32688" y="1920240"/>
            <a:ext cx="3346704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20240"/>
            <a:ext cx="3346704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8408" y="23134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52728" y="231343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53512" y="2313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24128" y="2523744"/>
            <a:ext cx="316382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52728" y="255117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53512" y="25511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24128" y="2761488"/>
            <a:ext cx="316382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52728" y="27889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53512" y="27889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38544" y="1920240"/>
            <a:ext cx="3529584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8544" y="1920240"/>
            <a:ext cx="3529584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84264" y="23134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58584" y="2313432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42248" y="2313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729984" y="2523744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84264" y="2551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58584" y="2551176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42248" y="25511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9984" y="2761488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58584" y="2788920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842248" y="27889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29984" y="2999232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58584" y="3026664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842248" y="302666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279392" y="2871216"/>
            <a:ext cx="2359152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1655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9943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 flipV="1">
            <a:off x="6382512" y="2761488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6382512" y="2871216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9963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01768" y="2642616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tiene compras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133856" y="4956048"/>
            <a:ext cx="8869680" cy="658368"/>
          </a:xfrm>
          <a:prstGeom prst="roundRect">
            <a:avLst>
              <a:gd name="adj" fmla="val 69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35024" y="5120640"/>
            <a:ext cx="8467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compra no copia al usuario: guarda una referencia verificable.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PK Y FK No Son Decoración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reglas para que la relación sea confiable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614416" cy="4133088"/>
          </a:xfrm>
          <a:prstGeom prst="roundRect">
            <a:avLst>
              <a:gd name="adj" fmla="val 8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 mínimo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93792" cy="33832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56832" y="1938528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2066544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20482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PK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12864" y="23957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una fila de forma única.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56832" y="3163824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48272" y="3291840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12864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12864" y="36210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una fila existente en otra tabla.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56832" y="4389120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48272" y="4517136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12864" y="44988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12864" y="48463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ayuda a rechazar relaciones imposibles.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Cardinalidad: Cuántos Con Cuántos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JOIN hay que entender la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024128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con uno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78992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y un perfil extendido.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041648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61104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61104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con muchos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315968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puede tener muchas compras.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278624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N:M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7498080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con muchos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52944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compra contiene muchos productos y un producto aparece en muchas compras.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04672" y="555955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69671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cardinalidad anticipa cuántas filas puede producir una consulta.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N:M Necesita Tabla Intermedia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`detalle_compras` explica qué productos pertenecen a cada compra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2011680"/>
            <a:ext cx="294436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011680"/>
            <a:ext cx="2944368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" y="24048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78408" y="240487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76856" y="24048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9808" y="2615184"/>
            <a:ext cx="276148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26426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78408" y="2642616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76856" y="26426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" y="2852928"/>
            <a:ext cx="276148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" y="2880360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76856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68496" y="1810512"/>
            <a:ext cx="3218688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68496" y="1810512"/>
            <a:ext cx="3218688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detalle_compras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014216" y="22037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88536" y="2203704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compra_id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61304" y="220370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059936" y="2414016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14216" y="24414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88536" y="2441448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61304" y="24414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059936" y="2651760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88536" y="2679192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861304" y="2679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059936" y="2889504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88536" y="2916936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precio_hist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861304" y="2916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72400" y="2011680"/>
            <a:ext cx="30540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0" y="2011680"/>
            <a:ext cx="3054096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818120" y="24048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92440" y="2404872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500616" y="24048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863840" y="2615184"/>
            <a:ext cx="2871216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2642616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500616" y="26426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863840" y="2852928"/>
            <a:ext cx="2871216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92440" y="2880360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precio_act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500616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602736" y="2907792"/>
            <a:ext cx="365760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39896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22776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H="1" flipV="1">
            <a:off x="3712464" y="2798064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H="1">
            <a:off x="3712464" y="290779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529584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87184" y="2907792"/>
            <a:ext cx="585216" cy="914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24344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507224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H="1" flipV="1">
            <a:off x="7516368" y="2798064"/>
            <a:ext cx="256032" cy="10972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H="1">
            <a:off x="7516368" y="2907792"/>
            <a:ext cx="256032" cy="10972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33488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intermedia convierte una relación difícil en registros consultables.</a:t>
            </a:r>
            <a:endParaRPr lang="en-US" sz="15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Huérfanos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relación apunta a algo que no existe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4297680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4825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273808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28672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633216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88080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273808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28672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633216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88080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273808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28672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633216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88080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273808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28672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633216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88080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6016752" y="1938528"/>
            <a:ext cx="4297680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0" y="204825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6126480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81344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7485888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0752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845296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00160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6126480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81344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485888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40752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8845296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00160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6126480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181344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7485888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40752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8845296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00160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6126480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81344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7485888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40752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8845296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900160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dani@x.cl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4425696" y="4535424"/>
            <a:ext cx="2359152" cy="566928"/>
          </a:xfrm>
          <a:prstGeom prst="roundRect">
            <a:avLst>
              <a:gd name="adj" fmla="val 645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08576" y="468172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99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existe</a:t>
            </a:r>
            <a:endParaRPr lang="en-US" sz="1280" dirty="0"/>
          </a:p>
        </p:txBody>
      </p:sp>
      <p:sp>
        <p:nvSpPr>
          <p:cNvPr id="64" name="Shape 61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integridad referencial evita que la aplicación invente dueños.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No Es Autorización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JOIN puede estar correcto y aun así exponer demasiado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24865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9926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incompleta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828032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19088" y="1883664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0528" y="2011680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199339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relaciona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75120" y="234086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ON conecta compras con usuarios.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19088" y="2999232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3127248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310896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limita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75120" y="345643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qué usuario puede ver qué compras.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19088" y="4114800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10528" y="4242816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75120" y="42245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minimiza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75120" y="457200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enviar email aunque la pantalla no lo requiera.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Consulta Debe Tener Alcance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+ filtro + columnas necesarias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6126480" cy="3767328"/>
          </a:xfrm>
          <a:prstGeom prst="roundRect">
            <a:avLst>
              <a:gd name="adj" fmla="val 9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8704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650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para mis compras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705856" cy="30175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23760" y="1847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6912" y="1956816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1975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 explícitas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7479792" y="2249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lo que la pantalla necesita.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223760" y="2990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96912" y="3099816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118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7479792" y="3392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viene del usuario autenticado, no del cliente.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223760" y="4133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96912" y="4242816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261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JOIN innecesario</a:t>
            </a:r>
            <a:endParaRPr lang="en-US" sz="1340" dirty="0"/>
          </a:p>
        </p:txBody>
      </p:sp>
      <p:sp>
        <p:nvSpPr>
          <p:cNvPr id="25" name="Text 21"/>
          <p:cNvSpPr/>
          <p:nvPr/>
        </p:nvSpPr>
        <p:spPr>
          <a:xfrm>
            <a:off x="7479792" y="4535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necesita `usuarios`, no se une.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4672" y="5742432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Unir tablas responde cómo se conectan; autorizar responde quién puede ver.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Revisar Modelos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pensar relaciones; insuficientes para validar realidad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925312" cy="3986784"/>
          </a:xfrm>
          <a:prstGeom prst="roundRect">
            <a:avLst>
              <a:gd name="adj" fmla="val 9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504688" cy="32369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59168" y="1901952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0608" y="2029968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201168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15200" y="2359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 relaciones, dudas y mejoras iniciales.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059168" y="3163824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50608" y="3291840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0" y="32735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ve todo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36210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conoce datos reales, permisos ni reglas de negocio.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059168" y="4425696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50608" y="4553712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Debes verificar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315200" y="488289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Esquema, columnas, tipos, restricciones y resultados.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JOIN, entender el modelo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que quedan instalados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426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tabla debe guardar un tipo de hecho reconocible.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identifica; FK conecta y protege consistencia.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389120"/>
            <a:ext cx="73152" cy="14264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 cuántas filas puede producir una relación.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389120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correcta no equivale a autorización correcta.</a:t>
            </a:r>
            <a:endParaRPr lang="en-US" sz="10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Datos relacionados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no conviene guardar usuarios, compras y productos en una sola tabla gigante?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repetición, cambios futuros y contradicciones.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existe entre una clave primaria y una clave foránea?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Una identifica una fila; la otra apunta a una fila de otra tabla.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relación correcta entre tablas no basta para garantizar autorización?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Relacionar datos no define quién puede verlos o modificarlos.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04288"/>
            <a:ext cx="9692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JOINs: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reconstruir información distribuida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04672" y="391363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INNER, LEFT, ausencia de coincidencia, alias y alcance.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804672" y="5285232"/>
            <a:ext cx="9509760" cy="676656"/>
          </a:xfrm>
          <a:prstGeom prst="roundRect">
            <a:avLst>
              <a:gd name="adj" fmla="val 54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504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combinar tablas sin perder control sobre columnas, filtros y permisos.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 Un JOIN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filas relacionadas por claves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3273552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011680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50720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5584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968752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23616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32688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950720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5584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968752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23616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32688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1950720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05584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2968752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23616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32688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950720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05584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968752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23616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dani@x.cl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7095744" y="1901952"/>
            <a:ext cx="3273552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05472" y="2011680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7205472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60336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8223504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78368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241536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96400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7205472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60336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8223504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78368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9241536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96400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7205472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260336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223504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8368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9241536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296400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7205472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260336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8223504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78368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9241536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96400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4791456" y="2816352"/>
            <a:ext cx="713232" cy="7132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52544" y="365760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compras.usuario_id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usuarios.id</a:t>
            </a:r>
            <a:endParaRPr lang="en-US" sz="1140" dirty="0"/>
          </a:p>
        </p:txBody>
      </p:sp>
      <p:sp>
        <p:nvSpPr>
          <p:cNvPr id="64" name="Shape 61"/>
          <p:cNvSpPr/>
          <p:nvPr/>
        </p:nvSpPr>
        <p:spPr>
          <a:xfrm>
            <a:off x="804672" y="565099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JOIN no mezcla por cercanía: compara columnas relacionadas.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JOIN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selección, origen y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6327648" cy="4114800"/>
          </a:xfrm>
          <a:prstGeom prst="roundRect">
            <a:avLst>
              <a:gd name="adj" fmla="val 88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60716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base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907024" cy="33649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901952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61504" y="2011680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44384" y="2029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7644384" y="23042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que saldrán hacia la aplicación.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388352" y="3054096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61504" y="3163824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44384" y="3182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</a:t>
            </a:r>
            <a:endParaRPr lang="en-US" sz="1380" dirty="0"/>
          </a:p>
        </p:txBody>
      </p:sp>
      <p:sp>
        <p:nvSpPr>
          <p:cNvPr id="21" name="Text 17"/>
          <p:cNvSpPr/>
          <p:nvPr/>
        </p:nvSpPr>
        <p:spPr>
          <a:xfrm>
            <a:off x="7644384" y="3456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principal desde donde leo.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388352" y="4206240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61504" y="4315968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44384" y="4334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</a:t>
            </a:r>
            <a:endParaRPr lang="en-US" sz="1380" dirty="0"/>
          </a:p>
        </p:txBody>
      </p:sp>
      <p:sp>
        <p:nvSpPr>
          <p:cNvPr id="25" name="Text 21"/>
          <p:cNvSpPr/>
          <p:nvPr/>
        </p:nvSpPr>
        <p:spPr>
          <a:xfrm>
            <a:off x="7644384" y="4608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que conecta las tablas.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JOIN: Solo Coincidencias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lo que existe en ambos lados de la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443984" cy="391363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4151376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75688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de conjuntos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114800" y="204825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9664" y="21122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JOIN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652" y="2468880"/>
            <a:ext cx="3692024" cy="2615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852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usuarios que tienen compras relacionadas.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559552" y="1847088"/>
            <a:ext cx="4974336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1956816"/>
            <a:ext cx="47183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97296" y="2029968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JOIN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14016"/>
            <a:ext cx="4553712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Resultado Son Filas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diagrama ayuda, pero SQL devuelve registros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249424"/>
            <a:ext cx="14538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40864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386584" y="2249424"/>
            <a:ext cx="14538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41448" y="2340864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932688" y="2560320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651760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386584" y="2560320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41448" y="2651760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32688" y="2871216"/>
            <a:ext cx="14538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962656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386584" y="2871216"/>
            <a:ext cx="14538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41448" y="2962656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32688" y="3182112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3273552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386584" y="3182112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41448" y="3273552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261104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70832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4370832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25696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340096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309360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64224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4370832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25696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5340096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94960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309360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64224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4370832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25696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5340096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309360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64224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370832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25696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340096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94960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6309360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64224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7699248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08976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56" name="Shape 53"/>
          <p:cNvSpPr/>
          <p:nvPr/>
        </p:nvSpPr>
        <p:spPr>
          <a:xfrm>
            <a:off x="7808976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63840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8778240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833104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9747504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02368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7808976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863840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8778240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833104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9747504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802368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68" name="Shape 65"/>
          <p:cNvSpPr/>
          <p:nvPr/>
        </p:nvSpPr>
        <p:spPr>
          <a:xfrm>
            <a:off x="7808976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863840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8778240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833104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9747504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802368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74" name="Shape 71"/>
          <p:cNvSpPr/>
          <p:nvPr/>
        </p:nvSpPr>
        <p:spPr>
          <a:xfrm>
            <a:off x="7808976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863840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8778240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833104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78" name="Shape 75"/>
          <p:cNvSpPr/>
          <p:nvPr/>
        </p:nvSpPr>
        <p:spPr>
          <a:xfrm>
            <a:off x="9747504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802368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80" name="Shape 77"/>
          <p:cNvSpPr/>
          <p:nvPr/>
        </p:nvSpPr>
        <p:spPr>
          <a:xfrm>
            <a:off x="804672" y="5687568"/>
            <a:ext cx="982065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Camila aparezca dos veces no es duplicación: tiene dos compras.</a:t>
            </a:r>
            <a:endParaRPr lang="en-US" sz="15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1:N Puede Repetir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repetición en el resultado puede ser correcta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822960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fila de usuario puede combinarse con muchas filas de compra.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8755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3566160"/>
            <a:ext cx="109728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4358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409651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87952" y="3566160"/>
            <a:ext cx="109728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 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5254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$49.990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720547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96912" y="3566160"/>
            <a:ext cx="109728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6150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 11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6150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$18.990</a:t>
            </a:r>
            <a:endParaRPr lang="en-US" sz="1340" dirty="0"/>
          </a:p>
        </p:txBody>
      </p:sp>
      <p:sp>
        <p:nvSpPr>
          <p:cNvPr id="24" name="Shape 21"/>
          <p:cNvSpPr/>
          <p:nvPr/>
        </p:nvSpPr>
        <p:spPr>
          <a:xfrm>
            <a:off x="3493008" y="3858768"/>
            <a:ext cx="310896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01968" y="3858768"/>
            <a:ext cx="310896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5614416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75157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relación 1:N, una entidad puede aparecer en varias filas combinadas.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 JOIN: Conservar El Lado Principal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ver coincidencias y ausencias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443984" cy="391363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4151376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75688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de conjuntos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114800" y="204825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9664" y="21122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652" y="2468880"/>
            <a:ext cx="3692024" cy="2615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852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usuarios, tengan o no compras.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559552" y="1847088"/>
            <a:ext cx="4974336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1956816"/>
            <a:ext cx="47183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97296" y="2029968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14016"/>
            <a:ext cx="4553712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NULL También Comunica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ausencia de compra aparece como dato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65376"/>
            <a:ext cx="6400800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75104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del LEFT JOIN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78024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32888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023360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8224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compra_id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568696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32688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478024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32888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023360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78224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5568696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32688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478024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32888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023360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78224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5568696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23560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32688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2478024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32888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023360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78224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568696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23560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932688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7552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2478024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32888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23360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78224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568696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23560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7626096" y="1993392"/>
            <a:ext cx="2962656" cy="1078992"/>
          </a:xfrm>
          <a:prstGeom prst="roundRect">
            <a:avLst>
              <a:gd name="adj" fmla="val 339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717536" y="2121408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21031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error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882128" y="2450592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 existe aunque no tenga compras.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626096" y="3419856"/>
            <a:ext cx="2962656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17536" y="354787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82128" y="352958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una señal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882128" y="387705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puede mostrar usuarios sin actividad.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ausencia también puede ser una pregunta de negocio.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Coincidencia: LEFT JOIN + IS NULL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lo que falta también es consultar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206240" cy="3858768"/>
          </a:xfrm>
          <a:prstGeom prst="roundRect">
            <a:avLst>
              <a:gd name="adj" fmla="val 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3913632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93976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 sin compras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3877056" y="2066544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13055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ANTI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07" y="2487168"/>
            <a:ext cx="3614569" cy="2560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4865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registros del lado izquierdo sin relación.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340096" y="1865376"/>
            <a:ext cx="5266944" cy="3858768"/>
          </a:xfrm>
          <a:prstGeom prst="roundRect">
            <a:avLst>
              <a:gd name="adj" fmla="val 9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68112" y="1975104"/>
            <a:ext cx="5010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204825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de ausencia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9552" y="2432304"/>
            <a:ext cx="48463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Que Buscan Ausencia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`IS NULL` puede detectar trabajo pendiente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75104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03120"/>
            <a:ext cx="109728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8483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Registrados sin compras.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696712" y="1975104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88152" y="2103120"/>
            <a:ext cx="109728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52744" y="208483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52744" y="243230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vendidos.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804672" y="3602736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3730752"/>
            <a:ext cx="109728" cy="8961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37124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60704" y="405993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respuesta asignada.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5696712" y="3602736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88152" y="3730752"/>
            <a:ext cx="109728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52744" y="37124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Cursos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952744" y="405993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estudiantes inscritos.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804672" y="5596128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Administrar una aplicación también implica encontrar lo que todavía no existe.</a:t>
            </a:r>
            <a:endParaRPr lang="en-US" sz="15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Alias: Legibilidad Bajo Control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hay varias tablas, los nombres largos estorban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754880" cy="3822192"/>
          </a:xfrm>
          <a:prstGeom prst="roundRect">
            <a:avLst>
              <a:gd name="adj" fmla="val 9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alias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4334256" cy="30723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70448" y="1865376"/>
            <a:ext cx="4754880" cy="3822192"/>
          </a:xfrm>
          <a:prstGeom prst="roundRect">
            <a:avLst>
              <a:gd name="adj" fmla="val 9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98464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08192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alias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9904" y="2432304"/>
            <a:ext cx="4334256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`SELECT *` Crece El Riesgo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JOIN puede traer más datos de los necesarios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443984" cy="3383280"/>
          </a:xfrm>
          <a:prstGeom prst="roundRect">
            <a:avLst>
              <a:gd name="adj" fmla="val 10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Cómodo, pero débil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023360" cy="2633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0" y="1938528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88736" y="208483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repetidas.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5669280" y="2651760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88736" y="279806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sensibles innecesarios.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669280" y="3364992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88736" y="351129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frágil con frontend.</a:t>
            </a:r>
            <a:endParaRPr lang="en-US" sz="1180" dirty="0"/>
          </a:p>
        </p:txBody>
      </p:sp>
      <p:sp>
        <p:nvSpPr>
          <p:cNvPr id="20" name="Shape 16"/>
          <p:cNvSpPr/>
          <p:nvPr/>
        </p:nvSpPr>
        <p:spPr>
          <a:xfrm>
            <a:off x="5669280" y="4078224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88736" y="4224528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superficie de exposición.</a:t>
            </a:r>
            <a:endParaRPr lang="en-US" sz="1180" dirty="0"/>
          </a:p>
        </p:txBody>
      </p:sp>
      <p:sp>
        <p:nvSpPr>
          <p:cNvPr id="22" name="Shape 18"/>
          <p:cNvSpPr/>
          <p:nvPr/>
        </p:nvSpPr>
        <p:spPr>
          <a:xfrm>
            <a:off x="804672" y="565099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backend, pedir menos datos suele ser una defensa.</a:t>
            </a:r>
            <a:endParaRPr lang="en-US" sz="15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 Explícitas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debe parecerse al contrato del endpoint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724144" cy="4023360"/>
          </a:xfrm>
          <a:prstGeom prst="roundRect">
            <a:avLst>
              <a:gd name="adj" fmla="val 9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4681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controlada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303520" cy="32735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39712" y="1901952"/>
            <a:ext cx="3584448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49440" y="2011680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esperado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949440" y="2304288"/>
            <a:ext cx="16824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04304" y="239572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631936" y="2304288"/>
            <a:ext cx="16824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0" y="239572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6949440" y="2615184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04304" y="27066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631936" y="2615184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0" y="27066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6949440" y="2926080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04304" y="3017520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631936" y="2926080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0" y="3017520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949440" y="3236976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004304" y="3328416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631936" y="3236976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86800" y="3328416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6949440" y="3547872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04304" y="363931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8631936" y="3547872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686800" y="363931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6949440" y="3858768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04304" y="39502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password_hash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631936" y="3858768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39502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`ON` No Es `WHERE`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cosa conecta tablas; la otra filtra resultados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559552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303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con relación y filtro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38928" cy="31638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9984" y="1993392"/>
            <a:ext cx="3511296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21424" y="2121408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86016" y="21031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86016" y="24505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cómo se conectan las tablas.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729984" y="3529584"/>
            <a:ext cx="3511296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21424" y="3657600"/>
            <a:ext cx="10972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86016" y="36393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86016" y="398678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qué filas conservamos.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04672" y="5742432"/>
            <a:ext cx="9820656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y alcance deben leerse por separado.</a:t>
            </a:r>
            <a:endParaRPr lang="en-US" sz="15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Caso: Compras Pagadas De Un Usuario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define la intención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3493008" cy="1097280"/>
          </a:xfrm>
          <a:prstGeom prst="roundRect">
            <a:avLst>
              <a:gd name="adj" fmla="val 3333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Necesidad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mis compras pagadas.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255264"/>
            <a:ext cx="3493008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6112" y="3383280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36499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0704" y="3712464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usuario autenticado.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1865376"/>
            <a:ext cx="579729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91456" y="1975104"/>
            <a:ext cx="55412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2048256"/>
            <a:ext cx="532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con alcance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2896" y="2432304"/>
            <a:ext cx="5376672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Sin Alcance Filtra Más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tablas puede multiplicar el daño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815584" cy="3931920"/>
          </a:xfrm>
          <a:prstGeom prst="roundRect">
            <a:avLst>
              <a:gd name="adj" fmla="val 9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5595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340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peligrosa para endpoint personal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394960" cy="31821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31152" y="1938528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04304" y="2048256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87184" y="2066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Todos los usuarios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7187184" y="234086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filtro de dueño.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931152" y="3090672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04304" y="3200400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87184" y="321868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expuesto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7187184" y="349300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Quizás la pantalla no lo necesita.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6931152" y="4242816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04304" y="4352544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87184" y="437083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interno</a:t>
            </a:r>
            <a:endParaRPr lang="en-US" sz="1320" dirty="0"/>
          </a:p>
        </p:txBody>
      </p:sp>
      <p:sp>
        <p:nvSpPr>
          <p:cNvPr id="25" name="Text 21"/>
          <p:cNvSpPr/>
          <p:nvPr/>
        </p:nvSpPr>
        <p:spPr>
          <a:xfrm>
            <a:off x="7187184" y="464515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sensible para lógica de permisos.</a:t>
            </a:r>
            <a:endParaRPr lang="en-US" sz="9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Necesitas La Tabla, No La Unas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datos también es criterio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950976"/>
          </a:xfrm>
          <a:prstGeom prst="roundRect">
            <a:avLst>
              <a:gd name="adj" fmla="val 48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“mis compras” no siempre necesitas unir `usuarios`: el filtro por `usuario_id` puede bastar.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69264" y="3328416"/>
            <a:ext cx="9308592" cy="2139696"/>
          </a:xfrm>
          <a:prstGeom prst="roundRect">
            <a:avLst>
              <a:gd name="adj" fmla="val 17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3438144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3511296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más pequeña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3895344"/>
            <a:ext cx="8887968" cy="13898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" y="568756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usar JOIN también puede ser una buena decisión técnica.</a:t>
            </a:r>
            <a:endParaRPr lang="en-US" sz="15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JOINs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auditar, no para ejecutar a ciegas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6144768" cy="4041648"/>
          </a:xfrm>
          <a:prstGeom prst="roundRect">
            <a:avLst>
              <a:gd name="adj" fmla="val 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8887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724144" cy="3291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60336" y="1847088"/>
            <a:ext cx="3182112" cy="396849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88352" y="1975104"/>
            <a:ext cx="292608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04825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siempre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406640" y="2359152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516368" y="24871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16368" y="25328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028432" y="2487168"/>
            <a:ext cx="73152" cy="701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0" y="25054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Esquema real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229600" y="2798064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y relaciones existen.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406640" y="3480816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516368" y="36088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16368" y="36545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028432" y="3608832"/>
            <a:ext cx="73152" cy="701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0" y="36271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229600" y="3919728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por usuario o rol.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406640" y="4602480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516368" y="47304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16368" y="47762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028432" y="4730496"/>
            <a:ext cx="73152" cy="701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29600" y="474878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229600" y="5041392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datos necesarios.</a:t>
            </a:r>
            <a:endParaRPr lang="en-US" sz="10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no es solo sintaxis: es criterio de lectura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quedar claro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426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solo filas con coincidencia.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el lado principal aunque falten coincidencias.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389120"/>
            <a:ext cx="73152" cy="14264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NULL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encontrar ausencia de relación.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389120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conecta; WHERE limita lo que se entrega.</a:t>
            </a:r>
            <a:endParaRPr lang="en-US" sz="10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JOINs y alcance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`INNER JOIN` y `LEFT JOIN`?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Uno exige coincidencia; el otro conserva el lado principal.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`SELECT *` es más riesgoso cuando se combinan varias tablas?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columnas sensibles, repetidas o innecesarias.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 define la relación entre tablas y qué parte limita el alcance del resultado?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`ON` conecta; `WHERE` filtra según la necesidad de la aplicación.</a:t>
            </a:r>
            <a:endParaRPr lang="en-US" sz="10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67712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filas sueltas a respuestas útiles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39502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COUNT, SUM, AVG, GROUP BY, HAVING y métricas con criterio.</a:t>
            </a:r>
            <a:endParaRPr lang="en-US" sz="1660" dirty="0"/>
          </a:p>
        </p:txBody>
      </p:sp>
      <p:sp>
        <p:nvSpPr>
          <p:cNvPr id="7" name="Shape 5"/>
          <p:cNvSpPr/>
          <p:nvPr/>
        </p:nvSpPr>
        <p:spPr>
          <a:xfrm>
            <a:off x="804672" y="4882896"/>
            <a:ext cx="9144000" cy="658368"/>
          </a:xfrm>
          <a:prstGeom prst="roundRect">
            <a:avLst>
              <a:gd name="adj" fmla="val 69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84064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aplicación no solo lista datos: también mide, resume y decide qué puede mostrar.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Listar A Responder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agregada cambia la unidad de lectura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3877056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93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8288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836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7432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980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6576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144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18288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836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7432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980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6576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124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39990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144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8288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836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7432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980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6576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124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144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8288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836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27432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980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36576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7124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24990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9144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692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18288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8836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27432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980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anulada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36576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124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8990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5029200" y="1883664"/>
            <a:ext cx="2505456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120640" y="2011680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285232" y="19933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Listado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285232" y="2340864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representa una compra concreta.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808976" y="1883664"/>
            <a:ext cx="2505456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900416" y="2011680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65008" y="19933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065008" y="2340864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fila puede representar un grupo calculado.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5029200" y="3493008"/>
            <a:ext cx="5285232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57216" y="3621024"/>
            <a:ext cx="502920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266944" y="3694176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que ya no piden detalle</a:t>
            </a:r>
            <a:endParaRPr lang="en-US" sz="980" dirty="0"/>
          </a:p>
        </p:txBody>
      </p:sp>
      <p:sp>
        <p:nvSpPr>
          <p:cNvPr id="63" name="Shape 60"/>
          <p:cNvSpPr/>
          <p:nvPr/>
        </p:nvSpPr>
        <p:spPr>
          <a:xfrm>
            <a:off x="5175504" y="400507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285232" y="41330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285232" y="417880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5797296" y="4133088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998464" y="415137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total</a:t>
            </a:r>
            <a:endParaRPr lang="en-US" sz="1360" dirty="0"/>
          </a:p>
        </p:txBody>
      </p:sp>
      <p:sp>
        <p:nvSpPr>
          <p:cNvPr id="68" name="Text 65"/>
          <p:cNvSpPr/>
          <p:nvPr/>
        </p:nvSpPr>
        <p:spPr>
          <a:xfrm>
            <a:off x="5998464" y="444398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se vendió?</a:t>
            </a:r>
            <a:endParaRPr lang="en-US" sz="1060" dirty="0"/>
          </a:p>
        </p:txBody>
      </p:sp>
      <p:sp>
        <p:nvSpPr>
          <p:cNvPr id="69" name="Shape 66"/>
          <p:cNvSpPr/>
          <p:nvPr/>
        </p:nvSpPr>
        <p:spPr>
          <a:xfrm>
            <a:off x="7763256" y="400507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872984" y="41330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872984" y="417880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8385048" y="4133088"/>
            <a:ext cx="73152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86216" y="415137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Cantidad</a:t>
            </a:r>
            <a:endParaRPr lang="en-US" sz="1360" dirty="0"/>
          </a:p>
        </p:txBody>
      </p:sp>
      <p:sp>
        <p:nvSpPr>
          <p:cNvPr id="74" name="Text 71"/>
          <p:cNvSpPr/>
          <p:nvPr/>
        </p:nvSpPr>
        <p:spPr>
          <a:xfrm>
            <a:off x="8586216" y="444398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¿Cuántas compras hay?</a:t>
            </a:r>
            <a:endParaRPr lang="en-US" sz="1060" dirty="0"/>
          </a:p>
        </p:txBody>
      </p:sp>
      <p:sp>
        <p:nvSpPr>
          <p:cNvPr id="75" name="Shape 72"/>
          <p:cNvSpPr/>
          <p:nvPr/>
        </p:nvSpPr>
        <p:spPr>
          <a:xfrm>
            <a:off x="5175504" y="482803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285232" y="4956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285232" y="5001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78" name="Shape 75"/>
          <p:cNvSpPr/>
          <p:nvPr/>
        </p:nvSpPr>
        <p:spPr>
          <a:xfrm>
            <a:off x="5797296" y="4956048"/>
            <a:ext cx="73152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998464" y="497433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</a:t>
            </a:r>
            <a:endParaRPr lang="en-US" sz="1360" dirty="0"/>
          </a:p>
        </p:txBody>
      </p:sp>
      <p:sp>
        <p:nvSpPr>
          <p:cNvPr id="80" name="Text 77"/>
          <p:cNvSpPr/>
          <p:nvPr/>
        </p:nvSpPr>
        <p:spPr>
          <a:xfrm>
            <a:off x="5998464" y="526694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usuario compró más?</a:t>
            </a:r>
            <a:endParaRPr lang="en-US" sz="1060" dirty="0"/>
          </a:p>
        </p:txBody>
      </p:sp>
      <p:sp>
        <p:nvSpPr>
          <p:cNvPr id="81" name="Shape 78"/>
          <p:cNvSpPr/>
          <p:nvPr/>
        </p:nvSpPr>
        <p:spPr>
          <a:xfrm>
            <a:off x="7763256" y="482803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72984" y="4956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872984" y="5001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84" name="Shape 81"/>
          <p:cNvSpPr/>
          <p:nvPr/>
        </p:nvSpPr>
        <p:spPr>
          <a:xfrm>
            <a:off x="8385048" y="4956048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586216" y="497433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360" dirty="0"/>
          </a:p>
        </p:txBody>
      </p:sp>
      <p:sp>
        <p:nvSpPr>
          <p:cNvPr id="86" name="Text 83"/>
          <p:cNvSpPr/>
          <p:nvPr/>
        </p:nvSpPr>
        <p:spPr>
          <a:xfrm>
            <a:off x="8586216" y="526694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hay por estado?</a:t>
            </a:r>
            <a:endParaRPr lang="en-US" sz="10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De Agregación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Calculan un resultado a partir de varias filas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56816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filas o valores no nulos.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59936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1956816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5968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SUM()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15968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valores numéricos.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0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1956816"/>
            <a:ext cx="100584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AVG()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71232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promedio.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901952" y="3822192"/>
            <a:ext cx="3840480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75104" y="3931920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57984" y="395020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MIN()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157984" y="4224528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Obtiene el menor valor.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345936" y="3822192"/>
            <a:ext cx="3840480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088" y="3931920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01968" y="395020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MAX()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601968" y="4224528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Obtiene el mayor valor.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04672" y="572414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6130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Agregación = transformar muchas filas en un indicador entendible.</a:t>
            </a:r>
            <a:endParaRPr lang="en-US" sz="14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Fila, Varios Indicadores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completa se lee como conjunto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998464" cy="3986784"/>
          </a:xfrm>
          <a:prstGeom prst="roundRect">
            <a:avLst>
              <a:gd name="adj" fmla="val 9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7424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522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global de compras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577840" cy="32369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14032" y="2066544"/>
            <a:ext cx="3383280" cy="25968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23760" y="217627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7223760" y="2468880"/>
            <a:ext cx="1581912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78624" y="256032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805672" y="2468880"/>
            <a:ext cx="1581912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60536" y="256032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223760" y="2816352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78624" y="2907792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total_compras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805672" y="2816352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0536" y="2907792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7223760" y="3163824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78624" y="3255264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monto_total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805672" y="3163824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860536" y="3255264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5249000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7223760" y="3511296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78624" y="3602736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805672" y="3511296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860536" y="3602736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41007.81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223760" y="3858768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278624" y="3950208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8805672" y="3858768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860536" y="3950208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3990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7223760" y="4206240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278624" y="429768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805672" y="4206240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60536" y="429768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189990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7114032" y="4992624"/>
            <a:ext cx="33832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05472" y="5120640"/>
            <a:ext cx="109728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70064" y="510235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mental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7370064" y="5449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ya no muestra una compra: resume la tabla.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`COUNT(*)` No Es `COUNT(columna)`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`NULL` cambia lo que realmente estás contando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3931920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7510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151888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06752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389376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44240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fecha_pago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151888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06752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389376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44240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151888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06752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389376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44240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151888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06752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389376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44240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2026-05-02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5084064" y="1865376"/>
            <a:ext cx="5321808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12080" y="1975104"/>
            <a:ext cx="50657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21808" y="20482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filas</a:t>
            </a:r>
            <a:endParaRPr lang="en-US" sz="10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520" y="2432304"/>
            <a:ext cx="4901184" cy="65836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084064" y="3566160"/>
            <a:ext cx="5321808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212080" y="3675888"/>
            <a:ext cx="50657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321808" y="37490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pagos completados</a:t>
            </a:r>
            <a:endParaRPr lang="en-US" sz="10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0" y="4133088"/>
            <a:ext cx="4901184" cy="658368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Contar filas no siempre significa contar eventos completados.</a:t>
            </a:r>
            <a:endParaRPr lang="en-US" sz="14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`GROUP BY`: Agrupar Antes De Calcular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forman grupos; luego se calcula dentro de cada grupo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786384"/>
          </a:xfrm>
          <a:prstGeom prst="roundRect">
            <a:avLst>
              <a:gd name="adj" fmla="val 58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Todas las compras con el mismo `usuario_id` forman un grupo.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04672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127248"/>
            <a:ext cx="109728" cy="18836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0704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115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78224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9664" y="3127248"/>
            <a:ext cx="109728" cy="18836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3425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34256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103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1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43216" y="3127248"/>
            <a:ext cx="109728" cy="18836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07808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111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3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 Por Usuario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tiene una fila por grupo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541264" cy="3419856"/>
          </a:xfrm>
          <a:prstGeom prst="roundRect">
            <a:avLst>
              <a:gd name="adj" fmla="val 10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2852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agregada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20640" cy="2670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883664"/>
            <a:ext cx="3401568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21424" y="1993392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821424" y="2286000"/>
            <a:ext cx="1591056" cy="420624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76288" y="237744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412480" y="2286000"/>
            <a:ext cx="1591056" cy="420624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67344" y="237744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total_compras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6821424" y="2706624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279806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412480" y="2706624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67344" y="279806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6821424" y="3127248"/>
            <a:ext cx="1591056" cy="420624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76288" y="321868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412480" y="3127248"/>
            <a:ext cx="1591056" cy="420624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67344" y="321868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821424" y="3547872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76288" y="363931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412480" y="3547872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67344" y="363931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6711696" y="4443984"/>
            <a:ext cx="3401568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803136" y="4572000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67728" y="455371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967728" y="4901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una fila por compra; hay una fila por usuario.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Técnica Del `GROUP BY`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columnas normales deben tener sentido como criterio de agrupación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482803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4407408" cy="277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28800"/>
            <a:ext cx="482803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1938528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011680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Problemático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2395728"/>
            <a:ext cx="4407408" cy="277977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6509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`fecha` puede tener muchos valores dentro del mismo `estado`: la consulta queda ambigua.</a:t>
            </a:r>
            <a:endParaRPr lang="en-US" sz="13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 Con `JOIN`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métricas útiles suelen necesitar datos conectados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400800" cy="4407408"/>
          </a:xfrm>
          <a:prstGeom prst="roundRect">
            <a:avLst>
              <a:gd name="adj" fmla="val 8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61447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92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por usuario con correo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980176" cy="3657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06640" y="1901952"/>
            <a:ext cx="3182112" cy="384048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0" y="2029968"/>
            <a:ext cx="109728" cy="35844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62672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ocurre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62672" y="2359152"/>
            <a:ext cx="28346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Parte desde usuarios.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Busca compras asociadas.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Conserva usuarios sin compra.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Agrupa por usuario.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Cuenta compras reales.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`COUNT(c.id)` Evita Un Error Sutil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`LEFT JOIN`, `COUNT(*)` puede contar una fila sin compra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754880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568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combinado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26208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1072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938016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92880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c.id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426208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81072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camila@example.com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938016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92880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426208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81072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camila@example.com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938016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92880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426208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81072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felipe@example.com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938016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92880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14400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2426208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81072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daniela@example.com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938016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92880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907024" y="1901952"/>
            <a:ext cx="21396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98464" y="2029968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63056" y="20116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COUNT(*)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163056" y="2359152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la fila combinada, incluso si la compra es NULL.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321040" y="1901952"/>
            <a:ext cx="21396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0" y="2029968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77072" y="20116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COUNT(c.id)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577072" y="2359152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solo compras reales con id no nulo.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804672" y="51937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7552" y="53309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agregación correcta depende del JOIN y del significado de la columna.</a:t>
            </a:r>
            <a:endParaRPr lang="en-US" sz="14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`WHERE` Vs `HAVING`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filas no es lo mismo que filtrar grupos calculados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828032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WHERE: antes de agrupar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407408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47088"/>
            <a:ext cx="4828032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1956816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02996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HAVING: después de agrupar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2414016"/>
            <a:ext cx="4407408" cy="2651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filtro usa una agregación, probablemente pertenece a `HAVING`.</a:t>
            </a:r>
            <a:endParaRPr lang="en-US" sz="14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Para Una Aplicación Web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agregaciones alimentan paneles, reportes y estados resumidos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230368" cy="2962656"/>
          </a:xfrm>
          <a:prstGeom prst="roundRect">
            <a:avLst>
              <a:gd name="adj" fmla="val 12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9743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por estado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809744" cy="22128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64224" y="1901952"/>
            <a:ext cx="3858768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201168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admin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473952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28816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7687056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1920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900160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55024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6473952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28816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7687056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41920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900160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955024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4210000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473952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28816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7687056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41920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900160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955024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890000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6473952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28816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anulada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7687056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741920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900160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955024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149000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804672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77824" y="5303520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60704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Audiencia</a:t>
            </a:r>
            <a:endParaRPr lang="en-US" sz="1180" dirty="0"/>
          </a:p>
        </p:txBody>
      </p:sp>
      <p:sp>
        <p:nvSpPr>
          <p:cNvPr id="43" name="Text 39"/>
          <p:cNvSpPr/>
          <p:nvPr/>
        </p:nvSpPr>
        <p:spPr>
          <a:xfrm>
            <a:off x="1060704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quién es?</a:t>
            </a:r>
            <a:endParaRPr lang="en-US" sz="880" dirty="0"/>
          </a:p>
        </p:txBody>
      </p:sp>
      <p:sp>
        <p:nvSpPr>
          <p:cNvPr id="44" name="Shape 40"/>
          <p:cNvSpPr/>
          <p:nvPr/>
        </p:nvSpPr>
        <p:spPr>
          <a:xfrm>
            <a:off x="4059936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133088" y="5303520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315968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</a:t>
            </a:r>
            <a:endParaRPr lang="en-US" sz="1180" dirty="0"/>
          </a:p>
        </p:txBody>
      </p:sp>
      <p:sp>
        <p:nvSpPr>
          <p:cNvPr id="47" name="Text 43"/>
          <p:cNvSpPr/>
          <p:nvPr/>
        </p:nvSpPr>
        <p:spPr>
          <a:xfrm>
            <a:off x="4315968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apoya?</a:t>
            </a:r>
            <a:endParaRPr lang="en-US" sz="880" dirty="0"/>
          </a:p>
        </p:txBody>
      </p:sp>
      <p:sp>
        <p:nvSpPr>
          <p:cNvPr id="48" name="Shape 44"/>
          <p:cNvSpPr/>
          <p:nvPr/>
        </p:nvSpPr>
        <p:spPr>
          <a:xfrm>
            <a:off x="7315200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88352" y="5303520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571232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180" dirty="0"/>
          </a:p>
        </p:txBody>
      </p:sp>
      <p:sp>
        <p:nvSpPr>
          <p:cNvPr id="51" name="Text 47"/>
          <p:cNvSpPr/>
          <p:nvPr/>
        </p:nvSpPr>
        <p:spPr>
          <a:xfrm>
            <a:off x="7571232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acceso requiere?</a:t>
            </a:r>
            <a:endParaRPr lang="en-US" sz="8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Ventas Por Categoría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métrica real combina JOIN, cálculo y agrupación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1792224"/>
            <a:ext cx="6693408" cy="4498848"/>
          </a:xfrm>
          <a:prstGeom prst="roundRect">
            <a:avLst>
              <a:gd name="adj" fmla="val 8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1901952"/>
            <a:ext cx="64373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975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compuesta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359152"/>
            <a:ext cx="6272784" cy="3749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44384" y="1883664"/>
            <a:ext cx="2834640" cy="39319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0" y="2011680"/>
            <a:ext cx="257860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82128" y="20848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combinadas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790688" y="2395728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0041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0041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412480" y="2523744"/>
            <a:ext cx="73152" cy="411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13648" y="25420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613648" y="2834640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tablas.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790688" y="3227832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00416" y="33558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00416" y="34015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73152" cy="411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1364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Subtotal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613648" y="3666744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× precio calcula línea.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790688" y="4059936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900416" y="4187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900416" y="423367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412480" y="4187952"/>
            <a:ext cx="73152" cy="4114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13648" y="4206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Acumular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613648" y="4498848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ventas.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7790688" y="4892040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900416" y="50200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00416" y="50657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412480" y="5020056"/>
            <a:ext cx="73152" cy="411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13648" y="50383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Agrupar</a:t>
            </a:r>
            <a:endParaRPr lang="en-US" sz="1360" dirty="0"/>
          </a:p>
        </p:txBody>
      </p:sp>
      <p:sp>
        <p:nvSpPr>
          <p:cNvPr id="40" name="Text 36"/>
          <p:cNvSpPr/>
          <p:nvPr/>
        </p:nvSpPr>
        <p:spPr>
          <a:xfrm>
            <a:off x="8613648" y="5330952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por categoría.</a:t>
            </a:r>
            <a:endParaRPr lang="en-US" sz="10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Cyber: Agregar No Siempre Anonimiza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resumen también puede revelar información sensible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754880" cy="3072384"/>
          </a:xfrm>
          <a:prstGeom prst="roundRect">
            <a:avLst>
              <a:gd name="adj" fmla="val 11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sensible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4334256" cy="23225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65376"/>
            <a:ext cx="4443984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53328" y="1993392"/>
            <a:ext cx="109728" cy="2816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9751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217920" y="2322576"/>
            <a:ext cx="409651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Revela gasto por persona.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permitir deducciones.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rol u ownership.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limitar columnas y filtros.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" y="541324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555040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detalle no significa automáticamente menos riesgo.</a:t>
            </a:r>
            <a:endParaRPr lang="en-US" sz="15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 Los Grupos Pequeños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agregado puede apuntar indirectamente a una persona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4078224" cy="2432304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93392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 por comuna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86000"/>
            <a:ext cx="192938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77440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comuna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843784" y="2286000"/>
            <a:ext cx="192938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98648" y="2377440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total_usuarios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914400" y="2670048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2761488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Santiago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843784" y="2670048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98648" y="2761488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14400" y="3054096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3145536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Providencia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843784" y="3054096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98648" y="3145536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3438144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529584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Comuna pequeña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843784" y="3438144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98648" y="3529584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14400" y="3822192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3913632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Florida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843784" y="3822192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98648" y="3913632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266944" y="1920240"/>
            <a:ext cx="490118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58384" y="2048256"/>
            <a:ext cx="109728" cy="987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22976" y="2029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Inferencia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522976" y="2377440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grupo tiene una sola persona, el resumen puede dejar de ser realmente anónimo.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266944" y="3493008"/>
            <a:ext cx="4901184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58384" y="3621024"/>
            <a:ext cx="109728" cy="1682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22976" y="360273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Controles posibles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522976" y="3950208"/>
            <a:ext cx="4553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de forma más amplia.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Ocultar grupos mínimos.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permisos del panel.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columnas sensibles.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Diseñar Métricas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traducir preguntas; no validan el negocio por ti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382512" cy="4242816"/>
          </a:xfrm>
          <a:prstGeom prst="roundRect">
            <a:avLst>
              <a:gd name="adj" fmla="val 8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61264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907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apoyo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961888" cy="3493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901952"/>
            <a:ext cx="3163824" cy="384048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16368" y="2029968"/>
            <a:ext cx="290779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26096" y="21031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humana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534656" y="2414016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4438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4438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156448" y="2542032"/>
            <a:ext cx="73152" cy="3886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57616" y="2560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357616" y="2852928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métrica responde lo pedido.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534656" y="3223260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44384" y="335127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44384" y="339699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156448" y="3351276"/>
            <a:ext cx="73152" cy="3886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57616" y="33695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357616" y="3662172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infla números.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534656" y="4032504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44384" y="41605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44384" y="42062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156448" y="4160520"/>
            <a:ext cx="73152" cy="3886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57616" y="4178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357616" y="4471416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variante elegida tiene sentido.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7534656" y="4841748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644384" y="49697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644384" y="50154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156448" y="4969764"/>
            <a:ext cx="73152" cy="3886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57616" y="49880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360" dirty="0"/>
          </a:p>
        </p:txBody>
      </p:sp>
      <p:sp>
        <p:nvSpPr>
          <p:cNvPr id="40" name="Text 36"/>
          <p:cNvSpPr/>
          <p:nvPr/>
        </p:nvSpPr>
        <p:spPr>
          <a:xfrm>
            <a:off x="8357616" y="5280660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panel tiene permisos.</a:t>
            </a:r>
            <a:endParaRPr lang="en-US" sz="10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Números Falsos Con Apariencia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agregación mal diseñada puede verse correcta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29968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Duplicar por JOIN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Unir una tabla de detalle puede multiplicar filas antes de sumar.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33088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24528" y="2029968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Contar lo incorrecto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89120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`COUNT(*)` puede contar filas técnicas, no eventos reales.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61504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2944" y="2029968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17536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Filtrar tarde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17536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`WHERE` y `HAVING` cambia qué entra al cálculo.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" y="528523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4223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datos, una respuesta incorrecta puede ser más peligrosa si se ve convincente.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Agregación es técnica, lectura y criterio de exposición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quedar instalado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810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agregada resume grupos de filas.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810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`COUNT(*)` y `COUNT(columna)` no significan lo mismo.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3645408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3773424"/>
            <a:ext cx="73152" cy="810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379171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084320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`GROUP BY` define la unidad del resultado.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3645408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3773424"/>
            <a:ext cx="73152" cy="810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379171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084320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`WHERE` filtra antes; `HAVING` filtra después.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950976" y="4876800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60704" y="500481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0704" y="505053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1572768" y="5004816"/>
            <a:ext cx="73152" cy="810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773936" y="502310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1773936" y="5315712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+ agregación permite métricas reales.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5586984" y="4876800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96712" y="500481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96712" y="505053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208776" y="5004816"/>
            <a:ext cx="73152" cy="810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9944" y="502310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6409944" y="5315712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agregado también puede requerir permisos.</a:t>
            </a:r>
            <a:endParaRPr lang="en-US" sz="10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agregaciones y métricas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cambia entre listar compras y calcular compras por estado?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En una lista cada fila es un registro; en una agregación cada fila puede ser un grupo.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`COUNT(*)` y `COUNT(fecha_pago)` pueden entregar números distintos?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`COUNT(columna)` no cuenta valores `NULL`; `COUNT(*)` cuenta filas.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 reporte agregado también necesita control de acceso?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 resumen puede revelar gasto, comportamiento o grupos demasiado pequeños.</a:t>
            </a:r>
            <a:endParaRPr lang="en-US" sz="10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49424"/>
            <a:ext cx="9921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 ligera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consultas listas para backend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4672" y="3968496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reducir contradicciones, conectar endpoints y limitar exposición.</a:t>
            </a:r>
            <a:endParaRPr lang="en-US" sz="1640" dirty="0"/>
          </a:p>
        </p:txBody>
      </p:sp>
      <p:sp>
        <p:nvSpPr>
          <p:cNvPr id="7" name="Shape 5"/>
          <p:cNvSpPr/>
          <p:nvPr/>
        </p:nvSpPr>
        <p:spPr>
          <a:xfrm>
            <a:off x="804672" y="4882896"/>
            <a:ext cx="9345168" cy="658368"/>
          </a:xfrm>
          <a:prstGeom prst="roundRect">
            <a:avLst>
              <a:gd name="adj" fmla="val 69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5084064"/>
            <a:ext cx="8906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 no es escribir más largo: es consultar datos mejor modelados y mejor acotados.</a:t>
            </a:r>
            <a:endParaRPr lang="en-US" sz="16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Normalizar No Es Complicar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reducir contradicciones y dependencias mal ubicadas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710928" cy="932688"/>
          </a:xfrm>
          <a:prstGeom prst="roundRect">
            <a:avLst>
              <a:gd name="adj" fmla="val 490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308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dato se repite demasiado, se contradice fácil o no pertenece a esa tabla, el modelo debe revisarse.</a:t>
            </a:r>
            <a:endParaRPr lang="en-US" sz="196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2801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dato aparece en muchas filas.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5079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23944" y="3419856"/>
            <a:ext cx="100584" cy="12801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682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Inconsistencia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0682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corrección deja versiones distintas.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9691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70064" y="3419856"/>
            <a:ext cx="100584" cy="1280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5294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Dependencia débil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5294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depende de texto repetido, no de claves.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 es mantenibilidad: datos más confiables para consultas más confiables.</a:t>
            </a:r>
            <a:endParaRPr lang="en-US" sz="14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Gigante Parece Cómoda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mezcla usuario, producto, categoría, compra y detalle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47088"/>
            <a:ext cx="6016752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956816"/>
            <a:ext cx="5797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59536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8995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73859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178454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33318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337914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92778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497373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2237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59536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018995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73859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camila@mail.cl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178454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33318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 Pro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337914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92778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497373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52237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859536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018995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73859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camila@mail.cl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3178454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33318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337914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92778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497373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2237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59536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018995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73859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felipe@mail.cl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178454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33318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 pro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337914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92778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497373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552237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59536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400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2018995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073859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daniela@mail.cl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3178454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33318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337914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92778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497373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52237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7077456" y="1920240"/>
            <a:ext cx="338328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168896" y="2048256"/>
            <a:ext cx="109728" cy="2944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333488" y="20299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de problema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333488" y="2377440"/>
            <a:ext cx="30358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repetido.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escrita distinto.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sin identidad clara.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obligan a tocar muchas filas.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804672" y="56509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demo rápida puede esconder un modelo difícil de mantener.</a:t>
            </a:r>
            <a:endParaRPr lang="en-US" sz="14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Anomalías Clásicas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errores de sintaxis: son señales de diseño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651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Inserción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puedo registrar un producto si todavía no existe una compra.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69664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1104" y="2157984"/>
            <a:ext cx="109728" cy="2651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25696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Actualización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5696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categoría exige modificar cientos de filas.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34656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6096" y="2157984"/>
            <a:ext cx="109728" cy="2651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90688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Borrado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90688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borrar la única compra de un producto, pierdo el producto.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" y="5577840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715000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app, las anomalías aparecen como datos que no cuadran entre pantallas.</a:t>
            </a:r>
            <a:endParaRPr lang="en-US" sz="143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Entidades Sin Perder La Vista 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ordenado prepara consultas más confiables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303580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75104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568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04288"/>
            <a:ext cx="2688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51376" y="1847088"/>
            <a:ext cx="303580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2816" y="1975104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8" y="19568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7408" y="2304288"/>
            <a:ext cx="2688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· estado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1847088"/>
            <a:ext cx="331012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89520" y="1975104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19568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detalle_compras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54112" y="2304288"/>
            <a:ext cx="29626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· precio_unitario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011680" y="3675888"/>
            <a:ext cx="3310128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3803904"/>
            <a:ext cx="109728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67712" y="3785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267712" y="4133088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· precio_actual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797296" y="3675888"/>
            <a:ext cx="3310128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88736" y="3803904"/>
            <a:ext cx="109728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3785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categorias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53328" y="4133088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4672" y="574243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ver todo junto usamos JOIN; para resumir usamos agregaciones; para proteger usamos filtros.</a:t>
            </a:r>
            <a:endParaRPr lang="en-US" sz="13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Normalizar De Más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solo cuando hay entidad, repetición importante o regla propia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75104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usuario_email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060704" y="2267712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repite en compras: separar usuarios y referenciar por `usuario_id`.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724144" y="1865376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1975104"/>
            <a:ext cx="100584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0176" y="199339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producto_categoria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980176" y="2267712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categorías si se usará para filtros, reportes o administración.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04672" y="3474720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3584448"/>
            <a:ext cx="100584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360273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estado_compra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1060704" y="3877056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partir como columna validada si no tiene reglas propias.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724144" y="3474720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97296" y="3584448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0176" y="360273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precio_unitario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5980176" y="3877056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guardarlo en detalle para conservar precio histórico.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804672" y="5431536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56869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Duplicación peligrosa no es lo mismo que registro histórico necesario.</a:t>
            </a:r>
            <a:endParaRPr lang="en-US" sz="152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`GET /api/mis-compras`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JOIN, agregación, filtro de alcance y orden para interfaz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1755648"/>
            <a:ext cx="6858000" cy="4608576"/>
          </a:xfrm>
          <a:prstGeom prst="roundRect">
            <a:avLst>
              <a:gd name="adj" fmla="val 7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1865376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938528"/>
            <a:ext cx="6382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posible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322576"/>
            <a:ext cx="6437376" cy="38587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0" y="1920240"/>
            <a:ext cx="2743200" cy="3621024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0" y="2048256"/>
            <a:ext cx="109728" cy="3364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28432" y="20299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28432" y="2377440"/>
            <a:ext cx="239572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 cuenta detalle.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limita ownership.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BY resume por compra.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 sirve a la pantalla.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Del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correcta también debe ser limitada y verificable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56816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6070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la pregunta del endpoint.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079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1956816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430682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campos necesarios.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9691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1956816"/>
            <a:ext cx="100584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55294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por claves correctas.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584448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Filtros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106070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Usuario, rol, estado o alcance.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5079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3584448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0682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30682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concatenar valores variables.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9691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584448"/>
            <a:ext cx="100584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55294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exponer SQL crudo al fallar.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04672" y="544982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58698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semana 07 vuelve aquí: alcance, parámetros y exposición mínima.</a:t>
            </a:r>
            <a:endParaRPr lang="en-US" sz="14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Cyber: Datos Relacionados, Daño Relacionado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más rica la consulta, más caro el error de autorización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755648"/>
            <a:ext cx="6400800" cy="4370832"/>
          </a:xfrm>
          <a:prstGeom prst="roundRect">
            <a:avLst>
              <a:gd name="adj" fmla="val 83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865376"/>
            <a:ext cx="61447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38528"/>
            <a:ext cx="592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peligroso si se expone sin filtros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22576"/>
            <a:ext cx="5980176" cy="3621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847088"/>
            <a:ext cx="3273552" cy="3438144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79792" y="1975104"/>
            <a:ext cx="109728" cy="3182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44384" y="1956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revelar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44384" y="2304288"/>
            <a:ext cx="29260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compras.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comprados.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Montos y patrones de consumo.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" y="6254496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639165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mira el conjunto completo, no cada tabla por separado.</a:t>
            </a:r>
            <a:endParaRPr lang="en-US" sz="13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Modelo Y Endpoint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detectar duplicación y exposición; no decide por el equipo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773936"/>
            <a:ext cx="6419088" cy="4425696"/>
          </a:xfrm>
          <a:prstGeom prst="roundRect">
            <a:avLst>
              <a:gd name="adj" fmla="val 8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883664"/>
            <a:ext cx="61630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56816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40864"/>
            <a:ext cx="5998464" cy="36758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24928" y="1901952"/>
            <a:ext cx="3127248" cy="382219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16368" y="2029968"/>
            <a:ext cx="109728" cy="3566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80960" y="201168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a mano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80960" y="2359152"/>
            <a:ext cx="27797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endpoint es personal o admin?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usuario está autenticado?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esquema real coincide?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consulta duplica resultados?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Modelo, consulta y backend deben cerrar juntos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11680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6070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entidades reduce contradicciones.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079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2011680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430682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repetición es mala: el precio histórico puede ser necesario.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9691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2011680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55294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responde una necesidad de interfaz o API.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712464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106070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y parámetros son parte de la consulta lista para backend.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5079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3712464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0682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30682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JOIN rico puede exponer demasiado si falta autorización.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9691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712464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55294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para revisar, no para reemplazar validación humana.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normalización y backend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aparece si nombre y correo de usuario se repiten en cada compra?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correcciones, datos contradictorios y mantenimiento.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puede ser correcto guardar `precio_unitario` en `detalle_compras`?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El precio histórico de una compra no debería cambiar si cambia el precio actual.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revisarías antes de exponer una consulta con varias tablas en un endpoint?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Columnas necesarias, filtro por usuario o rol, parámetros y posible duplicación.</a:t>
            </a:r>
            <a:endParaRPr lang="en-US" sz="102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80667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074" y="1499616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7709" y="1680667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31136"/>
            <a:ext cx="99669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</a:t>
            </a:r>
            <a:endParaRPr lang="en-US" sz="3350" dirty="0"/>
          </a:p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 datos conectados con criterio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804672" y="400507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intermedio no consiste en escribir consultas más largas, sino en formular mejores preguntas.</a:t>
            </a:r>
            <a:endParaRPr lang="en-US" sz="1640" dirty="0"/>
          </a:p>
        </p:txBody>
      </p:sp>
      <p:sp>
        <p:nvSpPr>
          <p:cNvPr id="7" name="Shape 5"/>
          <p:cNvSpPr/>
          <p:nvPr/>
        </p:nvSpPr>
        <p:spPr>
          <a:xfrm>
            <a:off x="804672" y="4901184"/>
            <a:ext cx="9326880" cy="658368"/>
          </a:xfrm>
          <a:prstGeom prst="roundRect">
            <a:avLst>
              <a:gd name="adj" fmla="val 69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5102352"/>
            <a:ext cx="8887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Relaciones, JOINs, agregaciones, normalización, backend, seguridad y agentes forman un mismo flujo.</a:t>
            </a:r>
            <a:endParaRPr lang="en-US" sz="15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tabla aislada a datos conectados para aplicaciones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93392"/>
            <a:ext cx="100584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60704" y="22860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PK, FK y cardinalidad dan estructura al dato.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0792" y="188366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1993392"/>
            <a:ext cx="100584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4306824" y="22860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Reconstruyen información conectada sin duplicar todo.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96912" y="188366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1993392"/>
            <a:ext cx="100584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552944" y="22860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Convierten filas en indicadores útiles.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362102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730752"/>
            <a:ext cx="100584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1060704" y="402336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contradicciones y modelos difíciles de mantener.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50792" y="362102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3730752"/>
            <a:ext cx="100584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06824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306824" y="402336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tablas exige alcance, parámetros y exposición mínima.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96912" y="3621024"/>
            <a:ext cx="28895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730752"/>
            <a:ext cx="100584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552944" y="402336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Ayudan a proponer y revisar; el criterio humano valida.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Consulta SQL Intermedia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dar una consulta por buena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38528"/>
            <a:ext cx="100584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5681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1060704" y="223113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pregunta de aplicación responde?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24144" y="1828800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1938528"/>
            <a:ext cx="10058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0176" y="195681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5980176" y="223113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tablas realmente necesita?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04672" y="2852928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2962656"/>
            <a:ext cx="100584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9809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1060704" y="325526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¿Los JOIN usan claves correctas?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724144" y="2852928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97296" y="2962656"/>
            <a:ext cx="100584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0176" y="29809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5980176" y="325526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¿Las columnas son explícitas y necesarias?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804672" y="3877056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7824" y="3986784"/>
            <a:ext cx="100584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400507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1060704" y="42793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¿Existe filtro por usuario, rol o alcance?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5724144" y="3877056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97296" y="3986784"/>
            <a:ext cx="10058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80176" y="400507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5980176" y="42793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¿Los valores variables están parametrizados?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804672" y="4901184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7824" y="5010912"/>
            <a:ext cx="100584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60704" y="502920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1060704" y="530352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¿Las agregaciones no duplican resultados?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5724144" y="4901184"/>
            <a:ext cx="4498848" cy="76809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97296" y="5010912"/>
            <a:ext cx="100584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80176" y="502920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5980176" y="530352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resultado sirve a la pantalla o endpoint?</a:t>
            </a:r>
            <a:endParaRPr lang="en-US" sz="88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comprobar criterio antes de cerrar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1901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1627632" y="184708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relación 1:N puede repetir datos en un JOIN sin que sea error?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2633472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706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1627632" y="26517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usarías LEFT JOIN en vez de INNER JOIN?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3438144"/>
            <a:ext cx="109728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35112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627632" y="34564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existe entre WHERE y HAVING?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41248" y="4242816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315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1627632" y="42611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consulta agregada también puede exponer información sensible?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41248" y="5047488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5120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140" dirty="0"/>
          </a:p>
        </p:txBody>
      </p:sp>
      <p:sp>
        <p:nvSpPr>
          <p:cNvPr id="24" name="Text 21"/>
          <p:cNvSpPr/>
          <p:nvPr/>
        </p:nvSpPr>
        <p:spPr>
          <a:xfrm>
            <a:off x="1627632" y="5065776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debes verificar si un agente propone una consulta SQL con varias tablas?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datos relacionales a fundamentos de deep learning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3035808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2578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268833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Ordenamos, relacionamos, agregamos y protegimos datos estructurados.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97680" y="1865376"/>
            <a:ext cx="3035808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1993392"/>
            <a:ext cx="109728" cy="2578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197510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53712" y="2322576"/>
            <a:ext cx="268833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sistema inteligente depende de datos, representación, patrones y validación.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90688" y="1865376"/>
            <a:ext cx="3035808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82128" y="1993392"/>
            <a:ext cx="109728" cy="2578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0" y="197510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 clase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6720" y="2322576"/>
            <a:ext cx="268833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Entraremos a fundamentos de deep learning sin abandonar el criterio técnico.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" y="550468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64184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hablar de modelos, hay que saber mirar los datos que alimentan esos modelos.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intermedio: joins, agregaciones y datos relacionados</dc:title>
  <dc:subject>Clase 22</dc:subject>
  <dc:creator>Diego Obando</dc:creator>
  <cp:lastModifiedBy>Diego Obando</cp:lastModifiedBy>
  <cp:revision>1</cp:revision>
  <dcterms:created xsi:type="dcterms:W3CDTF">2026-04-29T02:47:45Z</dcterms:created>
  <dcterms:modified xsi:type="dcterms:W3CDTF">2026-04-29T02:47:45Z</dcterms:modified>
</cp:coreProperties>
</file>