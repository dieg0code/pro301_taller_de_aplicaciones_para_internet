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svg"/><Relationship Id="rId4" Type="http://schemas.openxmlformats.org/officeDocument/2006/relationships/image" Target="../media/image-24-4.png"/><Relationship Id="rId5" Type="http://schemas.openxmlformats.org/officeDocument/2006/relationships/image" Target="../media/image-24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svg"/><Relationship Id="rId4" Type="http://schemas.openxmlformats.org/officeDocument/2006/relationships/image" Target="../media/image-27-4.png"/><Relationship Id="rId5" Type="http://schemas.openxmlformats.org/officeDocument/2006/relationships/image" Target="../media/image-27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svg"/><Relationship Id="rId4" Type="http://schemas.openxmlformats.org/officeDocument/2006/relationships/image" Target="../media/image-29-4.png"/><Relationship Id="rId5" Type="http://schemas.openxmlformats.org/officeDocument/2006/relationships/image" Target="../media/image-29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svg"/><Relationship Id="rId4" Type="http://schemas.openxmlformats.org/officeDocument/2006/relationships/image" Target="../media/image-31-4.png"/><Relationship Id="rId5" Type="http://schemas.openxmlformats.org/officeDocument/2006/relationships/image" Target="../media/image-3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svg"/><Relationship Id="rId4" Type="http://schemas.openxmlformats.org/officeDocument/2006/relationships/image" Target="../media/image-45-4.png"/><Relationship Id="rId5" Type="http://schemas.openxmlformats.org/officeDocument/2006/relationships/image" Target="../media/image-45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svg"/><Relationship Id="rId4" Type="http://schemas.openxmlformats.org/officeDocument/2006/relationships/image" Target="../media/image-48-4.png"/><Relationship Id="rId5" Type="http://schemas.openxmlformats.org/officeDocument/2006/relationships/image" Target="../media/image-48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svg"/><Relationship Id="rId4" Type="http://schemas.openxmlformats.org/officeDocument/2006/relationships/image" Target="../media/image-51-4.png"/><Relationship Id="rId5" Type="http://schemas.openxmlformats.org/officeDocument/2006/relationships/image" Target="../media/image-5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6928"/>
            <a:ext cx="109728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35101" y="1481328"/>
            <a:ext cx="230429" cy="6144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03934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359152"/>
            <a:ext cx="98755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intermedio: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conectados para aplicaciones reales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04672" y="4297680"/>
            <a:ext cx="9381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08 · Clase 22: joins, agregaciones y normalización ligera.</a:t>
            </a:r>
            <a:endParaRPr lang="en-US" sz="1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Seguridad A Datos Útiles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semana 07 cerró el riesgo; semana 08 abre el criterio de datos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4334256"/>
          </a:xfrm>
          <a:prstGeom prst="roundRect">
            <a:avLst>
              <a:gd name="adj" fmla="val 8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29968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03120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de aprendizaje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414016"/>
            <a:ext cx="2907792" cy="3310128"/>
          </a:xfrm>
          <a:prstGeom prst="roundRect">
            <a:avLst>
              <a:gd name="adj" fmla="val 1258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W7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42032"/>
            <a:ext cx="73152" cy="3054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inicial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52928"/>
            <a:ext cx="195681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Crear, insertar, consultar, actualizar y borrar datos con criterio.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041648" y="2414016"/>
            <a:ext cx="2907792" cy="3310128"/>
          </a:xfrm>
          <a:prstGeom prst="roundRect">
            <a:avLst>
              <a:gd name="adj" fmla="val 1258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1376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51376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W7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663440" y="2542032"/>
            <a:ext cx="73152" cy="3054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aplicada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4864608" y="2852928"/>
            <a:ext cx="195681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entradas, parametrizar, autenticar y limitar errores.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0" y="2414016"/>
            <a:ext cx="2907792" cy="3310128"/>
          </a:xfrm>
          <a:prstGeom prst="roundRect">
            <a:avLst>
              <a:gd name="adj" fmla="val 1258"/>
            </a:avLst>
          </a:prstGeom>
          <a:solidFill>
            <a:srgbClr val="FBF3D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42048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42048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W8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754112" y="2542032"/>
            <a:ext cx="73152" cy="3054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256032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intermedio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7955280" y="2852928"/>
            <a:ext cx="195681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Combinar tablas, resumir información y alimentar endpoints reales.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1005840" y="5852160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15568" y="5897880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la pregunta deja de ser solo qué tabla leo y pasa a ser qué relación necesito reconstruir.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Tabla No Alcanza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aplicaciones reales conectan hechos distintos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5394960" cy="2066544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011680"/>
            <a:ext cx="5175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compras_planilla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14400" y="2304288"/>
            <a:ext cx="1035101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395728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1949501" y="2304288"/>
            <a:ext cx="1035101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04365" y="2395728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2984602" y="2304288"/>
            <a:ext cx="1035101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39466" y="2395728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4019702" y="2304288"/>
            <a:ext cx="1035101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74566" y="2395728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054803" y="2304288"/>
            <a:ext cx="1035101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09667" y="2395728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914400" y="2615184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9264" y="2706624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1949501" y="2615184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004365" y="2706624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2984602" y="2615184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39466" y="2706624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Mouse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4019702" y="2615184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74566" y="2706624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Periféricos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5054803" y="2615184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09667" y="2706624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12990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914400" y="2926080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69264" y="3017520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949501" y="2926080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004365" y="3017520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2984602" y="2926080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039466" y="3017520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Teclado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4019702" y="2926080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74566" y="3017520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Periféricos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5054803" y="2926080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09667" y="3017520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24990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914400" y="3236976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69264" y="3328416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1949501" y="3236976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004365" y="3328416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feli@x.cl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2984602" y="3236976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039466" y="3328416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4019702" y="3236976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074566" y="3328416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5054803" y="3236976"/>
            <a:ext cx="1035101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109667" y="3328416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119990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914400" y="3547872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69264" y="3639312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1949501" y="3547872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004365" y="3639312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2984602" y="3547872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039466" y="3639312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Cable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4019702" y="3547872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074566" y="3639312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Accesorios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5054803" y="3547872"/>
            <a:ext cx="1035101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109667" y="3639312"/>
            <a:ext cx="92537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3990</a:t>
            </a:r>
            <a:endParaRPr lang="en-US" sz="780" dirty="0"/>
          </a:p>
        </p:txBody>
      </p:sp>
      <p:sp>
        <p:nvSpPr>
          <p:cNvPr id="62" name="Shape 59"/>
          <p:cNvSpPr/>
          <p:nvPr/>
        </p:nvSpPr>
        <p:spPr>
          <a:xfrm>
            <a:off x="6510528" y="1901952"/>
            <a:ext cx="4114800" cy="1078992"/>
          </a:xfrm>
          <a:prstGeom prst="roundRect">
            <a:avLst>
              <a:gd name="adj" fmla="val 3390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601968" y="2029968"/>
            <a:ext cx="109728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766560" y="201168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Parece simple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6766560" y="2359152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queda visible en una sola planilla.</a:t>
            </a:r>
            <a:endParaRPr lang="en-US" sz="1250" dirty="0"/>
          </a:p>
        </p:txBody>
      </p:sp>
      <p:sp>
        <p:nvSpPr>
          <p:cNvPr id="66" name="Shape 63"/>
          <p:cNvSpPr/>
          <p:nvPr/>
        </p:nvSpPr>
        <p:spPr>
          <a:xfrm>
            <a:off x="6510528" y="3182112"/>
            <a:ext cx="4114800" cy="1078992"/>
          </a:xfrm>
          <a:prstGeom prst="roundRect">
            <a:avLst>
              <a:gd name="adj" fmla="val 3390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601968" y="3310128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766560" y="329184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Pero se contradice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6766560" y="3639312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Correos, nombres y categorías se repiten hasta volverse frágiles.</a:t>
            </a:r>
            <a:endParaRPr lang="en-US" sz="1250" dirty="0"/>
          </a:p>
        </p:txBody>
      </p:sp>
      <p:sp>
        <p:nvSpPr>
          <p:cNvPr id="70" name="Shape 67"/>
          <p:cNvSpPr/>
          <p:nvPr/>
        </p:nvSpPr>
        <p:spPr>
          <a:xfrm>
            <a:off x="6510528" y="4462272"/>
            <a:ext cx="4114800" cy="1078992"/>
          </a:xfrm>
          <a:prstGeom prst="roundRect">
            <a:avLst>
              <a:gd name="adj" fmla="val 3390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601968" y="4590288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766560" y="457200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cuesta consultar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6766560" y="4919472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necesita datos conectados, no texto duplicado.</a:t>
            </a:r>
            <a:endParaRPr lang="en-US" sz="1250" dirty="0"/>
          </a:p>
        </p:txBody>
      </p:sp>
      <p:sp>
        <p:nvSpPr>
          <p:cNvPr id="74" name="Shape 71"/>
          <p:cNvSpPr/>
          <p:nvPr/>
        </p:nvSpPr>
        <p:spPr>
          <a:xfrm>
            <a:off x="804672" y="5779008"/>
            <a:ext cx="9820656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987552" y="591616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intermedio empieza cuando dejamos de pensar en filas sueltas.</a:t>
            </a:r>
            <a:endParaRPr lang="en-US" sz="15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pasos para consultar datos conectados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56816"/>
            <a:ext cx="4407408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21762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755648" y="217627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755648" y="267004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Entidades, claves y cardinalidad.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50992" y="1956816"/>
            <a:ext cx="4407408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15584" y="21762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01968" y="217627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601968" y="267004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Reconstruir información distribuida.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4672" y="4059936"/>
            <a:ext cx="4407408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" y="42793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755648" y="427939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Agregaciones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755648" y="477316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filas en indicadores.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50992" y="4059936"/>
            <a:ext cx="4407408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15584" y="42793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601968" y="427939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6601968" y="477316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Normalizar, filtrar y conectar endpoints.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Objetivos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 Hoy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consultas intermedias que sirvan a una aplicación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9820656" cy="1078992"/>
          </a:xfrm>
          <a:prstGeom prst="roundRect">
            <a:avLst>
              <a:gd name="adj" fmla="val 50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48256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Combinar tablas, resumir información y revisar seguridad antes de entregar datos al frontend.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822192"/>
            <a:ext cx="2249424" cy="1298448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931920"/>
            <a:ext cx="100584" cy="10789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9502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Relaciones</a:t>
            </a:r>
            <a:endParaRPr lang="en-US" sz="1460" dirty="0"/>
          </a:p>
        </p:txBody>
      </p:sp>
      <p:sp>
        <p:nvSpPr>
          <p:cNvPr id="15" name="Text 12"/>
          <p:cNvSpPr/>
          <p:nvPr/>
        </p:nvSpPr>
        <p:spPr>
          <a:xfrm>
            <a:off x="1060704" y="422452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PK, FK y cardinalidad.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3310128" y="3822192"/>
            <a:ext cx="2249424" cy="1298448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83280" y="3931920"/>
            <a:ext cx="100584" cy="10789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66160" y="39502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JOINs</a:t>
            </a:r>
            <a:endParaRPr lang="en-US" sz="1460" dirty="0"/>
          </a:p>
        </p:txBody>
      </p:sp>
      <p:sp>
        <p:nvSpPr>
          <p:cNvPr id="19" name="Text 16"/>
          <p:cNvSpPr/>
          <p:nvPr/>
        </p:nvSpPr>
        <p:spPr>
          <a:xfrm>
            <a:off x="3566160" y="422452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INNER, LEFT y ausencia de coincidencia.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5815584" y="3822192"/>
            <a:ext cx="2249424" cy="1298448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88736" y="3931920"/>
            <a:ext cx="100584" cy="10789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71616" y="39502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</a:t>
            </a:r>
            <a:endParaRPr lang="en-US" sz="1460" dirty="0"/>
          </a:p>
        </p:txBody>
      </p:sp>
      <p:sp>
        <p:nvSpPr>
          <p:cNvPr id="23" name="Text 20"/>
          <p:cNvSpPr/>
          <p:nvPr/>
        </p:nvSpPr>
        <p:spPr>
          <a:xfrm>
            <a:off x="6071616" y="422452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COUNT, SUM, GROUP BY y HAVING.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8321040" y="3822192"/>
            <a:ext cx="2249424" cy="1298448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94192" y="3931920"/>
            <a:ext cx="100584" cy="10789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77072" y="39502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sz="1460" dirty="0"/>
          </a:p>
        </p:txBody>
      </p:sp>
      <p:sp>
        <p:nvSpPr>
          <p:cNvPr id="27" name="Text 24"/>
          <p:cNvSpPr/>
          <p:nvPr/>
        </p:nvSpPr>
        <p:spPr>
          <a:xfrm>
            <a:off x="8577072" y="422452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Columnas, filtros, permisos y parámetros.</a:t>
            </a:r>
            <a:endParaRPr lang="en-US" sz="10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 Mental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escribimos consultas largas por deporte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1005840" y="1847088"/>
            <a:ext cx="1993392" cy="658368"/>
          </a:xfrm>
          <a:prstGeom prst="roundRect">
            <a:avLst>
              <a:gd name="adj" fmla="val 555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0482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</a:t>
            </a:r>
            <a:endParaRPr lang="en-US" sz="1540" dirty="0"/>
          </a:p>
        </p:txBody>
      </p:sp>
      <p:sp>
        <p:nvSpPr>
          <p:cNvPr id="12" name="Shape 9"/>
          <p:cNvSpPr/>
          <p:nvPr/>
        </p:nvSpPr>
        <p:spPr>
          <a:xfrm>
            <a:off x="3310128" y="2020824"/>
            <a:ext cx="310896" cy="310896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03904" y="1847088"/>
            <a:ext cx="62910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41648" y="2029968"/>
            <a:ext cx="5742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necesita saber la pantalla o endpoint?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1005840" y="2807208"/>
            <a:ext cx="1993392" cy="658368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33856" y="30083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Relación</a:t>
            </a:r>
            <a:endParaRPr lang="en-US" sz="1540" dirty="0"/>
          </a:p>
        </p:txBody>
      </p:sp>
      <p:sp>
        <p:nvSpPr>
          <p:cNvPr id="17" name="Shape 14"/>
          <p:cNvSpPr/>
          <p:nvPr/>
        </p:nvSpPr>
        <p:spPr>
          <a:xfrm>
            <a:off x="3310128" y="2980944"/>
            <a:ext cx="310896" cy="310896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03904" y="2807208"/>
            <a:ext cx="62910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41648" y="2990088"/>
            <a:ext cx="5742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tablas conectan esa información?</a:t>
            </a:r>
            <a:endParaRPr lang="en-US" sz="1340" dirty="0"/>
          </a:p>
        </p:txBody>
      </p:sp>
      <p:sp>
        <p:nvSpPr>
          <p:cNvPr id="20" name="Shape 17"/>
          <p:cNvSpPr/>
          <p:nvPr/>
        </p:nvSpPr>
        <p:spPr>
          <a:xfrm>
            <a:off x="1005840" y="3767328"/>
            <a:ext cx="1993392" cy="658368"/>
          </a:xfrm>
          <a:prstGeom prst="roundRect">
            <a:avLst>
              <a:gd name="adj" fmla="val 555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33856" y="39684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</a:t>
            </a:r>
            <a:endParaRPr lang="en-US" sz="1540" dirty="0"/>
          </a:p>
        </p:txBody>
      </p:sp>
      <p:sp>
        <p:nvSpPr>
          <p:cNvPr id="22" name="Shape 19"/>
          <p:cNvSpPr/>
          <p:nvPr/>
        </p:nvSpPr>
        <p:spPr>
          <a:xfrm>
            <a:off x="3310128" y="3941064"/>
            <a:ext cx="310896" cy="310896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803904" y="3767328"/>
            <a:ext cx="62910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41648" y="3950208"/>
            <a:ext cx="5742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puede ver esos datos y bajo qué filtro?</a:t>
            </a:r>
            <a:endParaRPr lang="en-US" sz="1340" dirty="0"/>
          </a:p>
        </p:txBody>
      </p:sp>
      <p:sp>
        <p:nvSpPr>
          <p:cNvPr id="25" name="Shape 22"/>
          <p:cNvSpPr/>
          <p:nvPr/>
        </p:nvSpPr>
        <p:spPr>
          <a:xfrm>
            <a:off x="1005840" y="4727448"/>
            <a:ext cx="1993392" cy="658368"/>
          </a:xfrm>
          <a:prstGeom prst="roundRect">
            <a:avLst>
              <a:gd name="adj" fmla="val 555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33856" y="49286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540" dirty="0"/>
          </a:p>
        </p:txBody>
      </p:sp>
      <p:sp>
        <p:nvSpPr>
          <p:cNvPr id="27" name="Shape 24"/>
          <p:cNvSpPr/>
          <p:nvPr/>
        </p:nvSpPr>
        <p:spPr>
          <a:xfrm>
            <a:off x="3310128" y="4901184"/>
            <a:ext cx="310896" cy="310896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803904" y="4727448"/>
            <a:ext cx="62910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41648" y="4910328"/>
            <a:ext cx="5742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SQL devuelve exactamente lo necesario?</a:t>
            </a:r>
            <a:endParaRPr lang="en-US" sz="1340" dirty="0"/>
          </a:p>
        </p:txBody>
      </p:sp>
      <p:sp>
        <p:nvSpPr>
          <p:cNvPr id="30" name="Shape 27"/>
          <p:cNvSpPr/>
          <p:nvPr/>
        </p:nvSpPr>
        <p:spPr>
          <a:xfrm>
            <a:off x="804672" y="5815584"/>
            <a:ext cx="9820656" cy="420624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952744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entendemos la pregunta; después elegimos SQL.</a:t>
            </a:r>
            <a:endParaRPr lang="en-US" sz="15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Antes De 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próxima clase cambia de eje, pero no de disciplina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2971800" cy="3017520"/>
          </a:xfrm>
          <a:prstGeom prst="roundRect">
            <a:avLst>
              <a:gd name="adj" fmla="val 1231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993392"/>
            <a:ext cx="109728" cy="2761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75104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estructurados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0704" y="2322576"/>
            <a:ext cx="262432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Tablas, relaciones, filtros y métricas preparan una forma de mirar información.</a:t>
            </a:r>
            <a:endParaRPr lang="en-US" sz="1240" dirty="0"/>
          </a:p>
        </p:txBody>
      </p:sp>
      <p:sp>
        <p:nvSpPr>
          <p:cNvPr id="14" name="Shape 11"/>
          <p:cNvSpPr/>
          <p:nvPr/>
        </p:nvSpPr>
        <p:spPr>
          <a:xfrm>
            <a:off x="4041648" y="1865376"/>
            <a:ext cx="2971800" cy="3017520"/>
          </a:xfrm>
          <a:prstGeom prst="roundRect">
            <a:avLst>
              <a:gd name="adj" fmla="val 1231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33088" y="1993392"/>
            <a:ext cx="109728" cy="27614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0" y="1975104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Patrones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297680" y="2322576"/>
            <a:ext cx="262432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agregaciones ya son una forma básica de resumir comportamiento observado.</a:t>
            </a:r>
            <a:endParaRPr lang="en-US" sz="1240" dirty="0"/>
          </a:p>
        </p:txBody>
      </p:sp>
      <p:sp>
        <p:nvSpPr>
          <p:cNvPr id="18" name="Shape 15"/>
          <p:cNvSpPr/>
          <p:nvPr/>
        </p:nvSpPr>
        <p:spPr>
          <a:xfrm>
            <a:off x="7278624" y="1865376"/>
            <a:ext cx="2971800" cy="3017520"/>
          </a:xfrm>
          <a:prstGeom prst="roundRect">
            <a:avLst>
              <a:gd name="adj" fmla="val 1231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70064" y="1993392"/>
            <a:ext cx="109728" cy="2761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34656" y="1975104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534656" y="2322576"/>
            <a:ext cx="262432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consulta miente, una métrica o modelo también puede orientar mal decisiones.</a:t>
            </a:r>
            <a:endParaRPr lang="en-US" sz="1240" dirty="0"/>
          </a:p>
        </p:txBody>
      </p:sp>
      <p:sp>
        <p:nvSpPr>
          <p:cNvPr id="22" name="Shape 19"/>
          <p:cNvSpPr/>
          <p:nvPr/>
        </p:nvSpPr>
        <p:spPr>
          <a:xfrm>
            <a:off x="804672" y="5541264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5678424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hablar de modelos que aprenden, necesitamos datos que tengan sentido.</a:t>
            </a:r>
            <a:endParaRPr lang="en-US" sz="15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811426"/>
            <a:ext cx="265176" cy="60990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2883" y="1572768"/>
            <a:ext cx="318211" cy="84856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4130" y="1811426"/>
            <a:ext cx="265176" cy="60990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59152"/>
            <a:ext cx="9418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tablas sueltas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datos relacionados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3913632"/>
            <a:ext cx="9052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Entidades, claves, cardinalidad e integridad.</a:t>
            </a:r>
            <a:endParaRPr lang="en-US" sz="1740" dirty="0"/>
          </a:p>
        </p:txBody>
      </p:sp>
      <p:sp>
        <p:nvSpPr>
          <p:cNvPr id="7" name="Shape 5"/>
          <p:cNvSpPr/>
          <p:nvPr/>
        </p:nvSpPr>
        <p:spPr>
          <a:xfrm>
            <a:off x="804672" y="5285232"/>
            <a:ext cx="9509760" cy="676656"/>
          </a:xfrm>
          <a:prstGeom prst="roundRect">
            <a:avLst>
              <a:gd name="adj" fmla="val 540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5504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bloque: leer una base relacional como un mapa de hechos conectados.</a:t>
            </a:r>
            <a:endParaRPr lang="en-US" sz="1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Trampa De La Planilla Única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cómodo al inicio se vuelve caro al mantener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1901952"/>
            <a:ext cx="5577840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2011680"/>
            <a:ext cx="5358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compras_planilla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859536" y="2304288"/>
            <a:ext cx="1071677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39572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1931213" y="2304288"/>
            <a:ext cx="1071677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86077" y="239572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3002890" y="2304288"/>
            <a:ext cx="1071677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57754" y="239572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4074566" y="2304288"/>
            <a:ext cx="1071677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29430" y="239572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146243" y="2304288"/>
            <a:ext cx="1071677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01107" y="239572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859536" y="2615184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2706624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1931213" y="2615184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986077" y="2706624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3002890" y="2615184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57754" y="2706624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4074566" y="2615184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29430" y="2706624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Mouse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5146243" y="2615184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01107" y="2706624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Periféricos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859536" y="2926080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" y="3017520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931213" y="2926080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986077" y="3017520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3002890" y="2926080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057754" y="3017520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4074566" y="2926080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29430" y="3017520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Teclado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5146243" y="2926080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01107" y="3017520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Periféricos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859536" y="3236976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4400" y="3328416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1931213" y="3236976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986077" y="3328416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 R.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3002890" y="3236976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057754" y="3328416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4074566" y="3236976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129430" y="3328416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Cable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5146243" y="3236976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201107" y="3328416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Accesorios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859536" y="3547872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14400" y="3639312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1931213" y="3547872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986077" y="3639312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3002890" y="3547872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057754" y="3639312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feli@x.cl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4074566" y="3547872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129430" y="3639312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Mouse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5146243" y="3547872"/>
            <a:ext cx="1071677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201107" y="3639312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Periféricos</a:t>
            </a:r>
            <a:endParaRPr lang="en-US" sz="780" dirty="0"/>
          </a:p>
        </p:txBody>
      </p:sp>
      <p:sp>
        <p:nvSpPr>
          <p:cNvPr id="62" name="Shape 59"/>
          <p:cNvSpPr/>
          <p:nvPr/>
        </p:nvSpPr>
        <p:spPr>
          <a:xfrm>
            <a:off x="859536" y="3858768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14400" y="395020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80" dirty="0"/>
          </a:p>
        </p:txBody>
      </p:sp>
      <p:sp>
        <p:nvSpPr>
          <p:cNvPr id="64" name="Shape 61"/>
          <p:cNvSpPr/>
          <p:nvPr/>
        </p:nvSpPr>
        <p:spPr>
          <a:xfrm>
            <a:off x="1931213" y="3858768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986077" y="395020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66" name="Shape 63"/>
          <p:cNvSpPr/>
          <p:nvPr/>
        </p:nvSpPr>
        <p:spPr>
          <a:xfrm>
            <a:off x="3002890" y="3858768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057754" y="395020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feli@x.cl</a:t>
            </a:r>
            <a:endParaRPr lang="en-US" sz="780" dirty="0"/>
          </a:p>
        </p:txBody>
      </p:sp>
      <p:sp>
        <p:nvSpPr>
          <p:cNvPr id="68" name="Shape 65"/>
          <p:cNvSpPr/>
          <p:nvPr/>
        </p:nvSpPr>
        <p:spPr>
          <a:xfrm>
            <a:off x="4074566" y="3858768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129430" y="395020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780" dirty="0"/>
          </a:p>
        </p:txBody>
      </p:sp>
      <p:sp>
        <p:nvSpPr>
          <p:cNvPr id="70" name="Shape 67"/>
          <p:cNvSpPr/>
          <p:nvPr/>
        </p:nvSpPr>
        <p:spPr>
          <a:xfrm>
            <a:off x="5146243" y="3858768"/>
            <a:ext cx="1071677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201107" y="3950208"/>
            <a:ext cx="9619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</a:t>
            </a:r>
            <a:endParaRPr lang="en-US" sz="780" dirty="0"/>
          </a:p>
        </p:txBody>
      </p:sp>
      <p:sp>
        <p:nvSpPr>
          <p:cNvPr id="72" name="Shape 69"/>
          <p:cNvSpPr/>
          <p:nvPr/>
        </p:nvSpPr>
        <p:spPr>
          <a:xfrm>
            <a:off x="6638544" y="1938528"/>
            <a:ext cx="3730752" cy="530352"/>
          </a:xfrm>
          <a:prstGeom prst="roundRect">
            <a:avLst>
              <a:gd name="adj" fmla="val 517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839712" y="2103120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usuario aparece varias veces.</a:t>
            </a:r>
            <a:endParaRPr lang="en-US" sz="1140" dirty="0"/>
          </a:p>
        </p:txBody>
      </p:sp>
      <p:sp>
        <p:nvSpPr>
          <p:cNvPr id="74" name="Shape 71"/>
          <p:cNvSpPr/>
          <p:nvPr/>
        </p:nvSpPr>
        <p:spPr>
          <a:xfrm>
            <a:off x="6638544" y="2688336"/>
            <a:ext cx="3730752" cy="530352"/>
          </a:xfrm>
          <a:prstGeom prst="roundRect">
            <a:avLst>
              <a:gd name="adj" fmla="val 5172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839712" y="2852928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cambio de correo exige muchas actualizaciones.</a:t>
            </a:r>
            <a:endParaRPr lang="en-US" sz="1140" dirty="0"/>
          </a:p>
        </p:txBody>
      </p:sp>
      <p:sp>
        <p:nvSpPr>
          <p:cNvPr id="76" name="Shape 73"/>
          <p:cNvSpPr/>
          <p:nvPr/>
        </p:nvSpPr>
        <p:spPr>
          <a:xfrm>
            <a:off x="6638544" y="3438144"/>
            <a:ext cx="3730752" cy="530352"/>
          </a:xfrm>
          <a:prstGeom prst="roundRect">
            <a:avLst>
              <a:gd name="adj" fmla="val 517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839712" y="3602736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categoría depende de texto repetido.</a:t>
            </a:r>
            <a:endParaRPr lang="en-US" sz="1140" dirty="0"/>
          </a:p>
        </p:txBody>
      </p:sp>
      <p:sp>
        <p:nvSpPr>
          <p:cNvPr id="78" name="Shape 75"/>
          <p:cNvSpPr/>
          <p:nvPr/>
        </p:nvSpPr>
        <p:spPr>
          <a:xfrm>
            <a:off x="6638544" y="4187952"/>
            <a:ext cx="3730752" cy="530352"/>
          </a:xfrm>
          <a:prstGeom prst="roundRect">
            <a:avLst>
              <a:gd name="adj" fmla="val 5172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839712" y="4352544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compra no apunta a entidades confiables.</a:t>
            </a:r>
            <a:endParaRPr lang="en-US" sz="1140" dirty="0"/>
          </a:p>
        </p:txBody>
      </p:sp>
      <p:sp>
        <p:nvSpPr>
          <p:cNvPr id="80" name="Shape 77"/>
          <p:cNvSpPr/>
          <p:nvPr/>
        </p:nvSpPr>
        <p:spPr>
          <a:xfrm>
            <a:off x="804672" y="5650992"/>
            <a:ext cx="9820656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987552" y="578815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tabla gigante oculta relaciones que la aplicación sí necesita entender.</a:t>
            </a:r>
            <a:endParaRPr lang="en-US" sz="15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Identificar Entidades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tabla debe guardar un tipo de hecho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20240"/>
            <a:ext cx="2889504" cy="1316736"/>
          </a:xfrm>
          <a:prstGeom prst="roundRect">
            <a:avLst>
              <a:gd name="adj" fmla="val 208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029968"/>
            <a:ext cx="100584" cy="10972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482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</a:t>
            </a:r>
            <a:endParaRPr lang="en-US" sz="1620" dirty="0"/>
          </a:p>
        </p:txBody>
      </p:sp>
      <p:sp>
        <p:nvSpPr>
          <p:cNvPr id="13" name="Text 10"/>
          <p:cNvSpPr/>
          <p:nvPr/>
        </p:nvSpPr>
        <p:spPr>
          <a:xfrm>
            <a:off x="1060704" y="232257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 y contacto.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59936" y="1920240"/>
            <a:ext cx="2889504" cy="1316736"/>
          </a:xfrm>
          <a:prstGeom prst="roundRect">
            <a:avLst>
              <a:gd name="adj" fmla="val 2083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33088" y="2029968"/>
            <a:ext cx="10058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15968" y="20482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productos</a:t>
            </a:r>
            <a:endParaRPr lang="en-US" sz="1620" dirty="0"/>
          </a:p>
        </p:txBody>
      </p:sp>
      <p:sp>
        <p:nvSpPr>
          <p:cNvPr id="17" name="Text 14"/>
          <p:cNvSpPr/>
          <p:nvPr/>
        </p:nvSpPr>
        <p:spPr>
          <a:xfrm>
            <a:off x="4315968" y="232257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y precio actual.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0" y="1920240"/>
            <a:ext cx="2889504" cy="1316736"/>
          </a:xfrm>
          <a:prstGeom prst="roundRect">
            <a:avLst>
              <a:gd name="adj" fmla="val 2083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88352" y="2029968"/>
            <a:ext cx="100584" cy="10972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71232" y="20482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categorías</a:t>
            </a:r>
            <a:endParaRPr lang="en-US" sz="1620" dirty="0"/>
          </a:p>
        </p:txBody>
      </p:sp>
      <p:sp>
        <p:nvSpPr>
          <p:cNvPr id="21" name="Text 18"/>
          <p:cNvSpPr/>
          <p:nvPr/>
        </p:nvSpPr>
        <p:spPr>
          <a:xfrm>
            <a:off x="7571232" y="232257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 para filtros.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874520" y="3913632"/>
            <a:ext cx="4315968" cy="1316736"/>
          </a:xfrm>
          <a:prstGeom prst="roundRect">
            <a:avLst>
              <a:gd name="adj" fmla="val 208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947672" y="4023360"/>
            <a:ext cx="100584" cy="10972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130552" y="4041648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1620" dirty="0"/>
          </a:p>
        </p:txBody>
      </p:sp>
      <p:sp>
        <p:nvSpPr>
          <p:cNvPr id="25" name="Text 22"/>
          <p:cNvSpPr/>
          <p:nvPr/>
        </p:nvSpPr>
        <p:spPr>
          <a:xfrm>
            <a:off x="2130552" y="4315968"/>
            <a:ext cx="3986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principal.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702552" y="3913632"/>
            <a:ext cx="4315968" cy="1316736"/>
          </a:xfrm>
          <a:prstGeom prst="roundRect">
            <a:avLst>
              <a:gd name="adj" fmla="val 2083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75704" y="4023360"/>
            <a:ext cx="10058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58584" y="4041648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detalle_compras</a:t>
            </a:r>
            <a:endParaRPr lang="en-US" sz="1620" dirty="0"/>
          </a:p>
        </p:txBody>
      </p:sp>
      <p:sp>
        <p:nvSpPr>
          <p:cNvPr id="29" name="Text 26"/>
          <p:cNvSpPr/>
          <p:nvPr/>
        </p:nvSpPr>
        <p:spPr>
          <a:xfrm>
            <a:off x="6958584" y="4315968"/>
            <a:ext cx="3986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 de cada compra.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4672" y="5687568"/>
            <a:ext cx="9820656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82472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aplicación reconstruye una vista completa combinando hechos separados.</a:t>
            </a:r>
            <a:endParaRPr lang="en-US" sz="1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Referencia Es El Puente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`usuario_id` conecta compra con usuario sin copiar todo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932688" y="1920240"/>
            <a:ext cx="3346704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920240"/>
            <a:ext cx="3346704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78408" y="23134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🔑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252728" y="2313432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953512" y="231343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24128" y="2523744"/>
            <a:ext cx="3163824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52728" y="2551176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53512" y="255117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024128" y="2761488"/>
            <a:ext cx="3163824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52728" y="2788920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953512" y="278892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638544" y="1920240"/>
            <a:ext cx="3529584" cy="1408176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38544" y="1920240"/>
            <a:ext cx="3529584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compras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684264" y="23134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🔑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58584" y="2313432"/>
            <a:ext cx="1837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842248" y="231343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729984" y="2523744"/>
            <a:ext cx="3346704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84264" y="255117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🔗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58584" y="2551176"/>
            <a:ext cx="1837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842248" y="255117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729984" y="2761488"/>
            <a:ext cx="3346704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58584" y="2788920"/>
            <a:ext cx="1837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842248" y="278892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729984" y="2999232"/>
            <a:ext cx="3346704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58584" y="3026664"/>
            <a:ext cx="1837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842248" y="302666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279392" y="2871216"/>
            <a:ext cx="2359152" cy="914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416552" y="2779776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99432" y="2779776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H="1" flipV="1">
            <a:off x="6382512" y="2761488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H="1">
            <a:off x="6382512" y="2871216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199632" y="2779776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01768" y="2642616"/>
            <a:ext cx="9144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tiene compras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133856" y="4956048"/>
            <a:ext cx="8869680" cy="658368"/>
          </a:xfrm>
          <a:prstGeom prst="roundRect">
            <a:avLst>
              <a:gd name="adj" fmla="val 694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335024" y="5120640"/>
            <a:ext cx="8467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compra no copia al usuario: guarda una referencia verificable.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PK Y FK No Son Decoración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reglas para que la relación sea confiable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5614416" cy="4133088"/>
          </a:xfrm>
          <a:prstGeom prst="roundRect">
            <a:avLst>
              <a:gd name="adj" fmla="val 8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535838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DDL mínimo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5193792" cy="33832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56832" y="1938528"/>
            <a:ext cx="3822192" cy="1005840"/>
          </a:xfrm>
          <a:prstGeom prst="roundRect">
            <a:avLst>
              <a:gd name="adj" fmla="val 3636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748272" y="2066544"/>
            <a:ext cx="109728" cy="7498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12864" y="20482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PK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912864" y="23957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una fila de forma única.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656832" y="3163824"/>
            <a:ext cx="3822192" cy="1005840"/>
          </a:xfrm>
          <a:prstGeom prst="roundRect">
            <a:avLst>
              <a:gd name="adj" fmla="val 3636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48272" y="3291840"/>
            <a:ext cx="109728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12864" y="3273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FK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912864" y="362102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 una fila existente en otra tabla.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656832" y="4389120"/>
            <a:ext cx="3822192" cy="1005840"/>
          </a:xfrm>
          <a:prstGeom prst="roundRect">
            <a:avLst>
              <a:gd name="adj" fmla="val 3636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48272" y="4517136"/>
            <a:ext cx="109728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12864" y="44988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Integridad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912864" y="484632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ayuda a rechazar relaciones imposibles.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Cardinalidad: Cuántos Con Cuántos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del JOIN hay que entender la relación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93392"/>
            <a:ext cx="2889504" cy="3017520"/>
          </a:xfrm>
          <a:prstGeom prst="roundRect">
            <a:avLst>
              <a:gd name="adj" fmla="val 221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304288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1:1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1024128" y="30906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Uno con uno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78992" y="3694176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usuario y un perfil extendido.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4041648" y="1993392"/>
            <a:ext cx="2889504" cy="3017520"/>
          </a:xfrm>
          <a:prstGeom prst="roundRect">
            <a:avLst>
              <a:gd name="adj" fmla="val 221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61104" y="2304288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1:N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261104" y="30906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Uno con muchos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315968" y="3694176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usuario puede tener muchas compras.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278624" y="1993392"/>
            <a:ext cx="2889504" cy="3017520"/>
          </a:xfrm>
          <a:prstGeom prst="roundRect">
            <a:avLst>
              <a:gd name="adj" fmla="val 2215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2304288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N:M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7498080" y="30906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Muchos con muchos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552944" y="3694176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compra contiene muchos productos y un producto aparece en muchas compras.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804672" y="5559552"/>
            <a:ext cx="9820656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569671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cardinalidad anticipa cuántas filas puede producir una consulta.</a:t>
            </a:r>
            <a:endParaRPr lang="en-US" sz="15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N:M Necesita Tabla Intermedia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`detalle_compras` explica qué productos pertenecen a cada compra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58368" y="2011680"/>
            <a:ext cx="2944368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011680"/>
            <a:ext cx="2944368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4088" y="240487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🔑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78408" y="2404872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76856" y="240487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49808" y="2615184"/>
            <a:ext cx="2761488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" y="264261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🔗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78408" y="2642616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usuario_id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276856" y="264261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49808" y="2852928"/>
            <a:ext cx="2761488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8408" y="2880360"/>
            <a:ext cx="1252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276856" y="2880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968496" y="1810512"/>
            <a:ext cx="3218688" cy="1408176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68496" y="1810512"/>
            <a:ext cx="3218688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detalle_compras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014216" y="22037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🔗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288536" y="2203704"/>
            <a:ext cx="1527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compra_id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61304" y="2203704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059936" y="2414016"/>
            <a:ext cx="3035808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14216" y="244144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🔗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288536" y="2441448"/>
            <a:ext cx="1527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producto_id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861304" y="244144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059936" y="2651760"/>
            <a:ext cx="3035808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88536" y="2679192"/>
            <a:ext cx="1527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861304" y="267919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059936" y="2889504"/>
            <a:ext cx="3035808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88536" y="2916936"/>
            <a:ext cx="1527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precio_hist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861304" y="291693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772400" y="2011680"/>
            <a:ext cx="3054096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72400" y="2011680"/>
            <a:ext cx="3054096" cy="365760"/>
          </a:xfrm>
          <a:prstGeom prst="rect">
            <a:avLst/>
          </a:prstGeom>
          <a:solidFill>
            <a:srgbClr val="102A4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818120" y="240487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🔑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092440" y="2404872"/>
            <a:ext cx="1362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500616" y="240487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863840" y="2615184"/>
            <a:ext cx="2871216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92440" y="2642616"/>
            <a:ext cx="1362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9500616" y="264261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863840" y="2852928"/>
            <a:ext cx="2871216" cy="9144"/>
          </a:xfrm>
          <a:prstGeom prst="line">
            <a:avLst/>
          </a:prstGeom>
          <a:noFill/>
          <a:ln w="12700">
            <a:solidFill>
              <a:srgbClr val="F8F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092440" y="2880360"/>
            <a:ext cx="1362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precio_act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9500616" y="2880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602736" y="2907792"/>
            <a:ext cx="365760" cy="914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739896" y="2816352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922776" y="2816352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H="1" flipV="1">
            <a:off x="3712464" y="2798064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H="1">
            <a:off x="3712464" y="2907792"/>
            <a:ext cx="256032" cy="10972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529584" y="2816352"/>
            <a:ext cx="0" cy="18288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187184" y="2907792"/>
            <a:ext cx="585216" cy="9144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324344" y="2816352"/>
            <a:ext cx="0" cy="18288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507224" y="2816352"/>
            <a:ext cx="0" cy="18288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H="1" flipV="1">
            <a:off x="7516368" y="2798064"/>
            <a:ext cx="256032" cy="109728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flipH="1">
            <a:off x="7516368" y="2907792"/>
            <a:ext cx="256032" cy="109728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333488" y="2816352"/>
            <a:ext cx="0" cy="18288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04672" y="5705856"/>
            <a:ext cx="9820656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87552" y="5843016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tabla intermedia convierte una relación difícil en registros consultables.</a:t>
            </a:r>
            <a:endParaRPr lang="en-US" sz="15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Huérfanos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la relación apunta a algo que no existe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38528"/>
            <a:ext cx="4297680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048256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14400" y="2340864"/>
            <a:ext cx="1359408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432304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273808" y="2340864"/>
            <a:ext cx="1359408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28672" y="2432304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usuario_id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3633216" y="2340864"/>
            <a:ext cx="1359408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88080" y="2432304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914400" y="2651760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" y="2743200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2273808" y="2651760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28672" y="2743200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3633216" y="2651760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88080" y="2743200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49990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914400" y="2962656"/>
            <a:ext cx="1359408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9264" y="3054096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2273808" y="2962656"/>
            <a:ext cx="1359408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328672" y="3054096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3633216" y="2962656"/>
            <a:ext cx="1359408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88080" y="3054096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18990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914400" y="3273552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9264" y="3364992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2273808" y="3273552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328672" y="3364992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3633216" y="3273552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88080" y="3364992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34990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6016752" y="1938528"/>
            <a:ext cx="4297680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6480" y="2048256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</a:t>
            </a:r>
            <a:endParaRPr lang="en-US" sz="1060" dirty="0"/>
          </a:p>
        </p:txBody>
      </p:sp>
      <p:sp>
        <p:nvSpPr>
          <p:cNvPr id="38" name="Shape 35"/>
          <p:cNvSpPr/>
          <p:nvPr/>
        </p:nvSpPr>
        <p:spPr>
          <a:xfrm>
            <a:off x="6126480" y="2340864"/>
            <a:ext cx="1359408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81344" y="2432304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7485888" y="2340864"/>
            <a:ext cx="1359408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40752" y="2432304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8845296" y="2340864"/>
            <a:ext cx="1359408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00160" y="2432304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6126480" y="2651760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81344" y="2743200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7485888" y="2651760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540752" y="2743200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8845296" y="2651760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900160" y="2743200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6126480" y="2962656"/>
            <a:ext cx="1359408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181344" y="3054096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7485888" y="2962656"/>
            <a:ext cx="1359408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540752" y="3054096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8845296" y="2962656"/>
            <a:ext cx="1359408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900160" y="3054096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feli@x.cl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6126480" y="3273552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181344" y="3364992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7485888" y="3273552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540752" y="3364992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Daniela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8845296" y="3273552"/>
            <a:ext cx="1359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900160" y="3364992"/>
            <a:ext cx="1249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dani@x.cl</a:t>
            </a:r>
            <a:endParaRPr lang="en-US" sz="780" dirty="0"/>
          </a:p>
        </p:txBody>
      </p:sp>
      <p:sp>
        <p:nvSpPr>
          <p:cNvPr id="62" name="Shape 59"/>
          <p:cNvSpPr/>
          <p:nvPr/>
        </p:nvSpPr>
        <p:spPr>
          <a:xfrm>
            <a:off x="4425696" y="4535424"/>
            <a:ext cx="2359152" cy="566928"/>
          </a:xfrm>
          <a:prstGeom prst="roundRect">
            <a:avLst>
              <a:gd name="adj" fmla="val 6452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608576" y="468172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usuario_id = 99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existe</a:t>
            </a:r>
            <a:endParaRPr lang="en-US" sz="1280" dirty="0"/>
          </a:p>
        </p:txBody>
      </p:sp>
      <p:sp>
        <p:nvSpPr>
          <p:cNvPr id="64" name="Shape 61"/>
          <p:cNvSpPr/>
          <p:nvPr/>
        </p:nvSpPr>
        <p:spPr>
          <a:xfrm>
            <a:off x="804672" y="5705856"/>
            <a:ext cx="9820656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87552" y="5843016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integridad referencial evita que la aplicación invente dueños.</a:t>
            </a:r>
            <a:endParaRPr lang="en-US" sz="15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Relación No Es Autorización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JOIN puede estar correcto y aun así exponer demasiado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5248656" cy="3584448"/>
          </a:xfrm>
          <a:prstGeom prst="roundRect">
            <a:avLst>
              <a:gd name="adj" fmla="val 1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499262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4773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incompleta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4828032" cy="28346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19088" y="1883664"/>
            <a:ext cx="3968496" cy="914400"/>
          </a:xfrm>
          <a:prstGeom prst="roundRect">
            <a:avLst>
              <a:gd name="adj" fmla="val 4000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0528" y="2011680"/>
            <a:ext cx="109728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75120" y="199339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 relaciona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675120" y="2340864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condición ON conecta compras con usuarios.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19088" y="2999232"/>
            <a:ext cx="3968496" cy="914400"/>
          </a:xfrm>
          <a:prstGeom prst="roundRect">
            <a:avLst>
              <a:gd name="adj" fmla="val 4000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10528" y="3127248"/>
            <a:ext cx="109728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0" y="310896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limita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675120" y="3456432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dice qué usuario puede ver qué compras.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19088" y="4114800"/>
            <a:ext cx="3968496" cy="914400"/>
          </a:xfrm>
          <a:prstGeom prst="roundRect">
            <a:avLst>
              <a:gd name="adj" fmla="val 4000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10528" y="4242816"/>
            <a:ext cx="10972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675120" y="422452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minimiza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675120" y="4572000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enviar email aunque la pantalla no lo requiera.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Consulta Debe Tener Alcance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+ filtro + columnas necesarias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6126480" cy="3767328"/>
          </a:xfrm>
          <a:prstGeom prst="roundRect">
            <a:avLst>
              <a:gd name="adj" fmla="val 97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58704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5650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para mis compras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5705856" cy="30175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223760" y="1847088"/>
            <a:ext cx="3182112" cy="932688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96912" y="1956816"/>
            <a:ext cx="100584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79792" y="197510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Columnas explícitas</a:t>
            </a:r>
            <a:endParaRPr lang="en-US" sz="1340" dirty="0"/>
          </a:p>
        </p:txBody>
      </p:sp>
      <p:sp>
        <p:nvSpPr>
          <p:cNvPr id="17" name="Text 13"/>
          <p:cNvSpPr/>
          <p:nvPr/>
        </p:nvSpPr>
        <p:spPr>
          <a:xfrm>
            <a:off x="7479792" y="224942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lo que la pantalla necesita.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7223760" y="2990088"/>
            <a:ext cx="3182112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96912" y="3099816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479792" y="311810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Parámetro</a:t>
            </a:r>
            <a:endParaRPr lang="en-US" sz="1340" dirty="0"/>
          </a:p>
        </p:txBody>
      </p:sp>
      <p:sp>
        <p:nvSpPr>
          <p:cNvPr id="21" name="Text 17"/>
          <p:cNvSpPr/>
          <p:nvPr/>
        </p:nvSpPr>
        <p:spPr>
          <a:xfrm>
            <a:off x="7479792" y="339242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`?` viene del usuario autenticado, no del cliente.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7223760" y="4133088"/>
            <a:ext cx="3182112" cy="932688"/>
          </a:xfrm>
          <a:prstGeom prst="roundRect">
            <a:avLst>
              <a:gd name="adj" fmla="val 2941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96912" y="4242816"/>
            <a:ext cx="100584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79792" y="426110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JOIN innecesario</a:t>
            </a:r>
            <a:endParaRPr lang="en-US" sz="1340" dirty="0"/>
          </a:p>
        </p:txBody>
      </p:sp>
      <p:sp>
        <p:nvSpPr>
          <p:cNvPr id="25" name="Text 21"/>
          <p:cNvSpPr/>
          <p:nvPr/>
        </p:nvSpPr>
        <p:spPr>
          <a:xfrm>
            <a:off x="7479792" y="453542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se necesita `usuarios`, no se une.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804672" y="5742432"/>
            <a:ext cx="9820656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87552" y="587959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Unir tablas responde cómo se conectan; autorizar responde quién puede ver.</a:t>
            </a:r>
            <a:endParaRPr lang="en-US" sz="15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Para Revisar Modelos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Útiles para pensar relaciones; insuficientes para validar realidad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5925312" cy="3986784"/>
          </a:xfrm>
          <a:prstGeom prst="roundRect">
            <a:avLst>
              <a:gd name="adj" fmla="val 91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38528"/>
            <a:ext cx="566928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11680"/>
            <a:ext cx="5449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 revisión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395728"/>
            <a:ext cx="5504688" cy="32369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059168" y="1901952"/>
            <a:ext cx="3401568" cy="969264"/>
          </a:xfrm>
          <a:prstGeom prst="roundRect">
            <a:avLst>
              <a:gd name="adj" fmla="val 3774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50608" y="2029968"/>
            <a:ext cx="109728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0" y="201168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315200" y="235915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 relaciones, dudas y mejoras iniciales.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059168" y="3163824"/>
            <a:ext cx="3401568" cy="969264"/>
          </a:xfrm>
          <a:prstGeom prst="roundRect">
            <a:avLst>
              <a:gd name="adj" fmla="val 3774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50608" y="3291840"/>
            <a:ext cx="109728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15200" y="327355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ve todo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315200" y="362102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conoce datos reales, permisos ni reglas de negocio.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7059168" y="4425696"/>
            <a:ext cx="3401568" cy="969264"/>
          </a:xfrm>
          <a:prstGeom prst="roundRect">
            <a:avLst>
              <a:gd name="adj" fmla="val 3774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150608" y="4553712"/>
            <a:ext cx="109728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15200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Debes verificar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7315200" y="488289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Esquema, columnas, tipos, restricciones y resultados.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del JOIN, entender el modelo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29968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03120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que quedan instalados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414016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42032"/>
            <a:ext cx="73152" cy="14264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60320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Entidades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52928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tabla debe guardar un tipo de hecho reconocible.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414016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542032"/>
            <a:ext cx="73152" cy="14264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560320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Claves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852928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 identifica; FK conecta y protege consistencia.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261104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FBF3D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3891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348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389120"/>
            <a:ext cx="73152" cy="14264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0740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Cardinalidad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00016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Anticipa cuántas filas puede producir una relación.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261104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3891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348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389120"/>
            <a:ext cx="73152" cy="14264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0740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00016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correcta no equivale a autorización correcta.</a:t>
            </a:r>
            <a:endParaRPr lang="en-US" sz="10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Datos relacionados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993392"/>
            <a:ext cx="109728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3017520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762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1645920" y="21396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no conviene guardar usuarios, compras y productos en una sola tabla gigante?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1645920" y="26700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repetición, cambios futuros y contradicciones.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41248" y="3236976"/>
            <a:ext cx="109728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261104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34198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1645920" y="338328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práctica existe entre una clave primaria y una clave foránea?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1645920" y="39136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Una identifica una fila; la otra apunta a una fila de otra tabla.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41248" y="4480560"/>
            <a:ext cx="109728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60704" y="5504688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3856" y="4663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1645920" y="462686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una relación correcta entre tablas no basta para garantizar autorización?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1645920" y="51572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Relacionar datos no define quién puede verlos o modificarlos.</a:t>
            </a:r>
            <a:endParaRPr lang="en-US" sz="10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5101" y="1481328"/>
            <a:ext cx="230429" cy="6144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3934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04288"/>
            <a:ext cx="9692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JOINs: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reconstruir información distribuida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04672" y="3913632"/>
            <a:ext cx="9509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INNER, LEFT, ausencia de coincidencia, alias y alcance.</a:t>
            </a:r>
            <a:endParaRPr lang="en-US" sz="1680" dirty="0"/>
          </a:p>
        </p:txBody>
      </p:sp>
      <p:sp>
        <p:nvSpPr>
          <p:cNvPr id="7" name="Shape 5"/>
          <p:cNvSpPr/>
          <p:nvPr/>
        </p:nvSpPr>
        <p:spPr>
          <a:xfrm>
            <a:off x="804672" y="5285232"/>
            <a:ext cx="9509760" cy="676656"/>
          </a:xfrm>
          <a:prstGeom prst="roundRect">
            <a:avLst>
              <a:gd name="adj" fmla="val 540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5504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bloque: combinar tablas sin perder control sobre columnas, filtros y permisos.</a:t>
            </a:r>
            <a:endParaRPr lang="en-US" sz="16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Resuelve Un JOIN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 filas relacionadas por claves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3273552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2011680"/>
            <a:ext cx="3054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32688" y="2304288"/>
            <a:ext cx="1018032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2395728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1950720" y="2304288"/>
            <a:ext cx="1018032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05584" y="2395728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2968752" y="2304288"/>
            <a:ext cx="1018032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23616" y="2395728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932688" y="2615184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2706624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1950720" y="2615184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005584" y="2706624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2968752" y="2615184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23616" y="2706624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cami@x.cl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932688" y="2926080"/>
            <a:ext cx="1018032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3017520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1950720" y="2926080"/>
            <a:ext cx="1018032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05584" y="3017520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2968752" y="2926080"/>
            <a:ext cx="1018032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23616" y="3017520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feli@x.cl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932688" y="3236976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3328416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1950720" y="3236976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005584" y="3328416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Daniela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2968752" y="3236976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023616" y="3328416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dani@x.cl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7095744" y="1901952"/>
            <a:ext cx="3273552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205472" y="2011680"/>
            <a:ext cx="3054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1060" dirty="0"/>
          </a:p>
        </p:txBody>
      </p:sp>
      <p:sp>
        <p:nvSpPr>
          <p:cNvPr id="38" name="Shape 35"/>
          <p:cNvSpPr/>
          <p:nvPr/>
        </p:nvSpPr>
        <p:spPr>
          <a:xfrm>
            <a:off x="7205472" y="2304288"/>
            <a:ext cx="1018032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60336" y="2395728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8223504" y="2304288"/>
            <a:ext cx="1018032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278368" y="2395728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usuario_id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9241536" y="2304288"/>
            <a:ext cx="1018032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296400" y="2395728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7205472" y="2615184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260336" y="2706624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8223504" y="2615184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278368" y="2706624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9241536" y="2615184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296400" y="2706624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49990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7205472" y="2926080"/>
            <a:ext cx="1018032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260336" y="3017520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8223504" y="2926080"/>
            <a:ext cx="1018032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278368" y="3017520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9241536" y="2926080"/>
            <a:ext cx="1018032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296400" y="3017520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18990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7205472" y="3236976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260336" y="3328416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8223504" y="3236976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278368" y="3328416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9241536" y="3236976"/>
            <a:ext cx="101803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296400" y="3328416"/>
            <a:ext cx="908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34990</a:t>
            </a:r>
            <a:endParaRPr lang="en-US" sz="780" dirty="0"/>
          </a:p>
        </p:txBody>
      </p:sp>
      <p:sp>
        <p:nvSpPr>
          <p:cNvPr id="62" name="Shape 59"/>
          <p:cNvSpPr/>
          <p:nvPr/>
        </p:nvSpPr>
        <p:spPr>
          <a:xfrm>
            <a:off x="4791456" y="2816352"/>
            <a:ext cx="713232" cy="7132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352544" y="3657600"/>
            <a:ext cx="1591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compras.usuario_id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140" dirty="0"/>
          </a:p>
          <a:p>
            <a:pPr algn="ctr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usuarios.id</a:t>
            </a:r>
            <a:endParaRPr lang="en-US" sz="1140" dirty="0"/>
          </a:p>
        </p:txBody>
      </p:sp>
      <p:sp>
        <p:nvSpPr>
          <p:cNvPr id="64" name="Shape 61"/>
          <p:cNvSpPr/>
          <p:nvPr/>
        </p:nvSpPr>
        <p:spPr>
          <a:xfrm>
            <a:off x="804672" y="5650992"/>
            <a:ext cx="9820656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87552" y="578815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JOIN no mezcla por cercanía: compara columnas relacionadas.</a:t>
            </a:r>
            <a:endParaRPr lang="en-US" sz="15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 Un JOIN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selección, origen y relación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6327648" cy="4114800"/>
          </a:xfrm>
          <a:prstGeom prst="roundRect">
            <a:avLst>
              <a:gd name="adj" fmla="val 88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38528"/>
            <a:ext cx="607161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11680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base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395728"/>
            <a:ext cx="5907024" cy="33649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88352" y="1901952"/>
            <a:ext cx="3072384" cy="932688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61504" y="2011680"/>
            <a:ext cx="100584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44384" y="20299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</a:t>
            </a:r>
            <a:endParaRPr lang="en-US" sz="1380" dirty="0"/>
          </a:p>
        </p:txBody>
      </p:sp>
      <p:sp>
        <p:nvSpPr>
          <p:cNvPr id="17" name="Text 13"/>
          <p:cNvSpPr/>
          <p:nvPr/>
        </p:nvSpPr>
        <p:spPr>
          <a:xfrm>
            <a:off x="7644384" y="23042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que saldrán hacia la aplicación.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7388352" y="3054096"/>
            <a:ext cx="3072384" cy="932688"/>
          </a:xfrm>
          <a:prstGeom prst="roundRect">
            <a:avLst>
              <a:gd name="adj" fmla="val 2941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61504" y="3163824"/>
            <a:ext cx="100584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44384" y="31821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</a:t>
            </a:r>
            <a:endParaRPr lang="en-US" sz="1380" dirty="0"/>
          </a:p>
        </p:txBody>
      </p:sp>
      <p:sp>
        <p:nvSpPr>
          <p:cNvPr id="21" name="Text 17"/>
          <p:cNvSpPr/>
          <p:nvPr/>
        </p:nvSpPr>
        <p:spPr>
          <a:xfrm>
            <a:off x="7644384" y="34564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 principal desde donde leo.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7388352" y="4206240"/>
            <a:ext cx="3072384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461504" y="4315968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44384" y="43342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</a:t>
            </a:r>
            <a:endParaRPr lang="en-US" sz="1380" dirty="0"/>
          </a:p>
        </p:txBody>
      </p:sp>
      <p:sp>
        <p:nvSpPr>
          <p:cNvPr id="25" name="Text 21"/>
          <p:cNvSpPr/>
          <p:nvPr/>
        </p:nvSpPr>
        <p:spPr>
          <a:xfrm>
            <a:off x="7644384" y="46085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 que conecta las tablas.</a:t>
            </a:r>
            <a:endParaRPr lang="en-US" sz="9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INNER JOIN: Solo Coincidencias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Aparece lo que existe en ambos lados de la relación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4443984" cy="3913632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93392"/>
            <a:ext cx="4151376" cy="329184"/>
          </a:xfrm>
          <a:prstGeom prst="roundRect">
            <a:avLst>
              <a:gd name="adj" fmla="val 83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75688"/>
            <a:ext cx="2944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 de conjuntos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4114800" y="204825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69664" y="211226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INNER JOIN</a:t>
            </a:r>
            <a:endParaRPr lang="en-US" sz="7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0652" y="2468880"/>
            <a:ext cx="3692024" cy="2615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24128" y="528523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usuarios que tienen compras relacionadas.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5559552" y="1847088"/>
            <a:ext cx="4974336" cy="3913632"/>
          </a:xfrm>
          <a:prstGeom prst="roundRect">
            <a:avLst>
              <a:gd name="adj" fmla="val 93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687568" y="1956816"/>
            <a:ext cx="471830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97296" y="2029968"/>
            <a:ext cx="4498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INNER JOIN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9008" y="2414016"/>
            <a:ext cx="4553712" cy="316382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Resultado Son Filas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diagrama ayuda, pero SQL devuelve registros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22960" y="1847088"/>
            <a:ext cx="3127248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956816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32688" y="2249424"/>
            <a:ext cx="145389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2340864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386584" y="2249424"/>
            <a:ext cx="145389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41448" y="2340864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932688" y="2560320"/>
            <a:ext cx="1453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2651760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386584" y="2560320"/>
            <a:ext cx="1453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41448" y="2651760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932688" y="2871216"/>
            <a:ext cx="145389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2962656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2386584" y="2871216"/>
            <a:ext cx="145389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41448" y="2962656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932688" y="3182112"/>
            <a:ext cx="1453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3273552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2386584" y="3182112"/>
            <a:ext cx="1453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41448" y="3273552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Daniela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4261104" y="1847088"/>
            <a:ext cx="3127248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70832" y="1956816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1060" dirty="0"/>
          </a:p>
        </p:txBody>
      </p:sp>
      <p:sp>
        <p:nvSpPr>
          <p:cNvPr id="30" name="Shape 27"/>
          <p:cNvSpPr/>
          <p:nvPr/>
        </p:nvSpPr>
        <p:spPr>
          <a:xfrm>
            <a:off x="4370832" y="2249424"/>
            <a:ext cx="969264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25696" y="2340864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5340096" y="2249424"/>
            <a:ext cx="969264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94960" y="2340864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usuario_id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309360" y="2249424"/>
            <a:ext cx="969264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64224" y="2340864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4370832" y="2560320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25696" y="265176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5340096" y="2560320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394960" y="265176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6309360" y="2560320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64224" y="265176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49990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4370832" y="2871216"/>
            <a:ext cx="969264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425696" y="2962656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5340096" y="2871216"/>
            <a:ext cx="969264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394960" y="2962656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6309360" y="2871216"/>
            <a:ext cx="969264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364224" y="2962656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18990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4370832" y="3182112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425696" y="32735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5340096" y="3182112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394960" y="32735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6309360" y="3182112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364224" y="32735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34990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7699248" y="1847088"/>
            <a:ext cx="3127248" cy="1755648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808976" y="1956816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060" dirty="0"/>
          </a:p>
        </p:txBody>
      </p:sp>
      <p:sp>
        <p:nvSpPr>
          <p:cNvPr id="56" name="Shape 53"/>
          <p:cNvSpPr/>
          <p:nvPr/>
        </p:nvSpPr>
        <p:spPr>
          <a:xfrm>
            <a:off x="7808976" y="2249424"/>
            <a:ext cx="969264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863840" y="2340864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8778240" y="2249424"/>
            <a:ext cx="969264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833104" y="2340864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9747504" y="2249424"/>
            <a:ext cx="969264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802368" y="2340864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780" dirty="0"/>
          </a:p>
        </p:txBody>
      </p:sp>
      <p:sp>
        <p:nvSpPr>
          <p:cNvPr id="62" name="Shape 59"/>
          <p:cNvSpPr/>
          <p:nvPr/>
        </p:nvSpPr>
        <p:spPr>
          <a:xfrm>
            <a:off x="7808976" y="2560320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863840" y="265176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  <p:sp>
        <p:nvSpPr>
          <p:cNvPr id="64" name="Shape 61"/>
          <p:cNvSpPr/>
          <p:nvPr/>
        </p:nvSpPr>
        <p:spPr>
          <a:xfrm>
            <a:off x="8778240" y="2560320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833104" y="265176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49990</a:t>
            </a:r>
            <a:endParaRPr lang="en-US" sz="780" dirty="0"/>
          </a:p>
        </p:txBody>
      </p:sp>
      <p:sp>
        <p:nvSpPr>
          <p:cNvPr id="66" name="Shape 63"/>
          <p:cNvSpPr/>
          <p:nvPr/>
        </p:nvSpPr>
        <p:spPr>
          <a:xfrm>
            <a:off x="9747504" y="2560320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802368" y="265176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68" name="Shape 65"/>
          <p:cNvSpPr/>
          <p:nvPr/>
        </p:nvSpPr>
        <p:spPr>
          <a:xfrm>
            <a:off x="7808976" y="2871216"/>
            <a:ext cx="969264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863840" y="2962656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  <p:sp>
        <p:nvSpPr>
          <p:cNvPr id="70" name="Shape 67"/>
          <p:cNvSpPr/>
          <p:nvPr/>
        </p:nvSpPr>
        <p:spPr>
          <a:xfrm>
            <a:off x="8778240" y="2871216"/>
            <a:ext cx="969264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833104" y="2962656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18990</a:t>
            </a:r>
            <a:endParaRPr lang="en-US" sz="780" dirty="0"/>
          </a:p>
        </p:txBody>
      </p:sp>
      <p:sp>
        <p:nvSpPr>
          <p:cNvPr id="72" name="Shape 69"/>
          <p:cNvSpPr/>
          <p:nvPr/>
        </p:nvSpPr>
        <p:spPr>
          <a:xfrm>
            <a:off x="9747504" y="2871216"/>
            <a:ext cx="969264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9802368" y="2962656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74" name="Shape 71"/>
          <p:cNvSpPr/>
          <p:nvPr/>
        </p:nvSpPr>
        <p:spPr>
          <a:xfrm>
            <a:off x="7808976" y="3182112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7863840" y="32735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76" name="Shape 73"/>
          <p:cNvSpPr/>
          <p:nvPr/>
        </p:nvSpPr>
        <p:spPr>
          <a:xfrm>
            <a:off x="8778240" y="3182112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833104" y="32735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34990</a:t>
            </a:r>
            <a:endParaRPr lang="en-US" sz="780" dirty="0"/>
          </a:p>
        </p:txBody>
      </p:sp>
      <p:sp>
        <p:nvSpPr>
          <p:cNvPr id="78" name="Shape 75"/>
          <p:cNvSpPr/>
          <p:nvPr/>
        </p:nvSpPr>
        <p:spPr>
          <a:xfrm>
            <a:off x="9747504" y="3182112"/>
            <a:ext cx="96926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9802368" y="3273552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80" name="Shape 77"/>
          <p:cNvSpPr/>
          <p:nvPr/>
        </p:nvSpPr>
        <p:spPr>
          <a:xfrm>
            <a:off x="804672" y="5687568"/>
            <a:ext cx="9820656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987552" y="582472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Camila aparezca dos veces no es duplicación: tiene dos compras.</a:t>
            </a:r>
            <a:endParaRPr lang="en-US" sz="15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1:N Puede Repetir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repetición en el resultado puede ser correcta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619488" cy="822960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9217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fila de usuario puede combinarse con muchas filas de compra.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987552" y="3438144"/>
            <a:ext cx="2487168" cy="1298448"/>
          </a:xfrm>
          <a:prstGeom prst="roundRect">
            <a:avLst>
              <a:gd name="adj" fmla="val 2817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8992" y="3566160"/>
            <a:ext cx="109728" cy="10424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43584" y="354787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 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43584" y="389534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4096512" y="3438144"/>
            <a:ext cx="2487168" cy="1298448"/>
          </a:xfrm>
          <a:prstGeom prst="roundRect">
            <a:avLst>
              <a:gd name="adj" fmla="val 2817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87952" y="3566160"/>
            <a:ext cx="109728" cy="10424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52544" y="354787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 10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52544" y="389534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$49.990</a:t>
            </a:r>
            <a:endParaRPr lang="en-US" sz="1340" dirty="0"/>
          </a:p>
        </p:txBody>
      </p:sp>
      <p:sp>
        <p:nvSpPr>
          <p:cNvPr id="20" name="Shape 17"/>
          <p:cNvSpPr/>
          <p:nvPr/>
        </p:nvSpPr>
        <p:spPr>
          <a:xfrm>
            <a:off x="7205472" y="3438144"/>
            <a:ext cx="2487168" cy="1298448"/>
          </a:xfrm>
          <a:prstGeom prst="roundRect">
            <a:avLst>
              <a:gd name="adj" fmla="val 2817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96912" y="3566160"/>
            <a:ext cx="109728" cy="10424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61504" y="354787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 11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61504" y="389534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$18.990</a:t>
            </a:r>
            <a:endParaRPr lang="en-US" sz="1340" dirty="0"/>
          </a:p>
        </p:txBody>
      </p:sp>
      <p:sp>
        <p:nvSpPr>
          <p:cNvPr id="24" name="Shape 21"/>
          <p:cNvSpPr/>
          <p:nvPr/>
        </p:nvSpPr>
        <p:spPr>
          <a:xfrm>
            <a:off x="3493008" y="3858768"/>
            <a:ext cx="310896" cy="31089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01968" y="3858768"/>
            <a:ext cx="310896" cy="31089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4672" y="5614416"/>
            <a:ext cx="9820656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751576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una relación 1:N, una entidad puede aparecer en varias filas combinadas.</a:t>
            </a:r>
            <a:endParaRPr lang="en-US" sz="15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LEFT JOIN: Conservar El Lado Principal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ver coincidencias y ausencias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4443984" cy="3913632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93392"/>
            <a:ext cx="4151376" cy="329184"/>
          </a:xfrm>
          <a:prstGeom prst="roundRect">
            <a:avLst>
              <a:gd name="adj" fmla="val 83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75688"/>
            <a:ext cx="2944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 de conjuntos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4114800" y="204825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69664" y="211226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JOIN</a:t>
            </a:r>
            <a:endParaRPr lang="en-US" sz="7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0652" y="2468880"/>
            <a:ext cx="3692024" cy="2615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24128" y="528523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los usuarios, tengan o no compras.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5559552" y="1847088"/>
            <a:ext cx="4974336" cy="3913632"/>
          </a:xfrm>
          <a:prstGeom prst="roundRect">
            <a:avLst>
              <a:gd name="adj" fmla="val 93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687568" y="1956816"/>
            <a:ext cx="471830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97296" y="2029968"/>
            <a:ext cx="4498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JOIN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9008" y="2414016"/>
            <a:ext cx="4553712" cy="31638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NULL También Comunica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ausencia de compra aparece como dato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22960" y="1865376"/>
            <a:ext cx="6400800" cy="2066544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975104"/>
            <a:ext cx="618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del LEFT JOIN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32688" y="2267712"/>
            <a:ext cx="154533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2359152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usuario_id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478024" y="2267712"/>
            <a:ext cx="154533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32888" y="2359152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4023360" y="2267712"/>
            <a:ext cx="154533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78224" y="2359152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compra_id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5568696" y="2267712"/>
            <a:ext cx="154533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23560" y="2359152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932688" y="2578608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2670048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2478024" y="2578608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32888" y="2670048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4023360" y="2578608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78224" y="2670048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5568696" y="2578608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23560" y="2670048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49990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932688" y="2889504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7552" y="2980944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2478024" y="2889504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32888" y="2980944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4023360" y="2889504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78224" y="2980944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5568696" y="2889504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23560" y="2980944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18990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932688" y="3200400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7552" y="3291840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2478024" y="3200400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532888" y="3291840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023360" y="3200400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078224" y="3291840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5568696" y="3200400"/>
            <a:ext cx="154533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623560" y="3291840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34990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932688" y="3511296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87552" y="3602736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2478024" y="3511296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532888" y="3602736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Daniela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4023360" y="3511296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078224" y="3602736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5568696" y="3511296"/>
            <a:ext cx="154533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623560" y="3602736"/>
            <a:ext cx="1435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7626096" y="1993392"/>
            <a:ext cx="2962656" cy="1078992"/>
          </a:xfrm>
          <a:prstGeom prst="roundRect">
            <a:avLst>
              <a:gd name="adj" fmla="val 3390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717536" y="2121408"/>
            <a:ext cx="109728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21031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error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882128" y="2450592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Daniela existe aunque no tenga compras.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7626096" y="3419856"/>
            <a:ext cx="2962656" cy="1078992"/>
          </a:xfrm>
          <a:prstGeom prst="roundRect">
            <a:avLst>
              <a:gd name="adj" fmla="val 3390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717536" y="3547872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882128" y="352958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una señal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7882128" y="3877056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puede mostrar usuarios sin actividad.</a:t>
            </a:r>
            <a:endParaRPr lang="en-US" sz="1250" dirty="0"/>
          </a:p>
        </p:txBody>
      </p:sp>
      <p:sp>
        <p:nvSpPr>
          <p:cNvPr id="60" name="Shape 57"/>
          <p:cNvSpPr/>
          <p:nvPr/>
        </p:nvSpPr>
        <p:spPr>
          <a:xfrm>
            <a:off x="804672" y="5705856"/>
            <a:ext cx="9820656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87552" y="5843016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ausencia también puede ser una pregunta de negocio.</a:t>
            </a:r>
            <a:endParaRPr lang="en-US" sz="15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Coincidencia: LEFT JOIN + IS NULL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 lo que falta también es consultar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4206240" cy="3858768"/>
          </a:xfrm>
          <a:prstGeom prst="roundRect">
            <a:avLst>
              <a:gd name="adj" fmla="val 9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11680"/>
            <a:ext cx="3913632" cy="329184"/>
          </a:xfrm>
          <a:prstGeom prst="roundRect">
            <a:avLst>
              <a:gd name="adj" fmla="val 83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93976"/>
            <a:ext cx="2706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 sin compras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3877056" y="2066544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0" y="2130552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ANTI</a:t>
            </a:r>
            <a:endParaRPr lang="en-US" sz="7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0507" y="2487168"/>
            <a:ext cx="3614569" cy="2560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24128" y="524865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registros del lado izquierdo sin relación.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5340096" y="1865376"/>
            <a:ext cx="5266944" cy="3858768"/>
          </a:xfrm>
          <a:prstGeom prst="roundRect">
            <a:avLst>
              <a:gd name="adj" fmla="val 9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68112" y="1975104"/>
            <a:ext cx="50109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77840" y="2048256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 de ausencia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9552" y="2432304"/>
            <a:ext cx="48463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Que Buscan Ausencia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`IS NULL` puede detectar trabajo pendiente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75104"/>
            <a:ext cx="4443984" cy="1152144"/>
          </a:xfrm>
          <a:prstGeom prst="roundRect">
            <a:avLst>
              <a:gd name="adj" fmla="val 31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03120"/>
            <a:ext cx="109728" cy="896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8483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60704" y="2432304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Registrados sin compras.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5696712" y="1975104"/>
            <a:ext cx="4443984" cy="1152144"/>
          </a:xfrm>
          <a:prstGeom prst="roundRect">
            <a:avLst>
              <a:gd name="adj" fmla="val 317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88152" y="2103120"/>
            <a:ext cx="109728" cy="896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52744" y="208483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952744" y="2432304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vendidos.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804672" y="3602736"/>
            <a:ext cx="4443984" cy="1152144"/>
          </a:xfrm>
          <a:prstGeom prst="roundRect">
            <a:avLst>
              <a:gd name="adj" fmla="val 3175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6112" y="3730752"/>
            <a:ext cx="109728" cy="8961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371246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Tickets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060704" y="4059936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respuesta asignada.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5696712" y="3602736"/>
            <a:ext cx="4443984" cy="1152144"/>
          </a:xfrm>
          <a:prstGeom prst="roundRect">
            <a:avLst>
              <a:gd name="adj" fmla="val 31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88152" y="3730752"/>
            <a:ext cx="109728" cy="896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52744" y="371246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Cursos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952744" y="4059936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estudiantes inscritos.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804672" y="5596128"/>
            <a:ext cx="9820656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73328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Administrar una aplicación también implica encontrar lo que todavía no existe.</a:t>
            </a:r>
            <a:endParaRPr lang="en-US" sz="15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Alias: Legibilidad Bajo Control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hay varias tablas, los nombres largos estorban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4754880" cy="3822192"/>
          </a:xfrm>
          <a:prstGeom prst="roundRect">
            <a:avLst>
              <a:gd name="adj" fmla="val 95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75104"/>
            <a:ext cx="44988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48256"/>
            <a:ext cx="4279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alias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32304"/>
            <a:ext cx="4334256" cy="307238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870448" y="1865376"/>
            <a:ext cx="4754880" cy="3822192"/>
          </a:xfrm>
          <a:prstGeom prst="roundRect">
            <a:avLst>
              <a:gd name="adj" fmla="val 95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98464" y="1975104"/>
            <a:ext cx="44988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08192" y="2048256"/>
            <a:ext cx="4279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alias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9904" y="2432304"/>
            <a:ext cx="4334256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`SELECT *` Crece El Riesgo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 JOIN puede traer más datos de los necesarios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4443984" cy="3383280"/>
          </a:xfrm>
          <a:prstGeom prst="roundRect">
            <a:avLst>
              <a:gd name="adj" fmla="val 10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11680"/>
            <a:ext cx="41879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84832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Cómodo, pero débil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68880"/>
            <a:ext cx="4023360" cy="26334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69280" y="1938528"/>
            <a:ext cx="4480560" cy="475488"/>
          </a:xfrm>
          <a:prstGeom prst="roundRect">
            <a:avLst>
              <a:gd name="adj" fmla="val 5769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88736" y="2084832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repetidas.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5669280" y="2651760"/>
            <a:ext cx="4480560" cy="475488"/>
          </a:xfrm>
          <a:prstGeom prst="roundRect">
            <a:avLst>
              <a:gd name="adj" fmla="val 5769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88736" y="2798064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sensibles innecesarios.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5669280" y="3364992"/>
            <a:ext cx="4480560" cy="475488"/>
          </a:xfrm>
          <a:prstGeom prst="roundRect">
            <a:avLst>
              <a:gd name="adj" fmla="val 5769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88736" y="3511296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frágil con frontend.</a:t>
            </a:r>
            <a:endParaRPr lang="en-US" sz="1180" dirty="0"/>
          </a:p>
        </p:txBody>
      </p:sp>
      <p:sp>
        <p:nvSpPr>
          <p:cNvPr id="20" name="Shape 16"/>
          <p:cNvSpPr/>
          <p:nvPr/>
        </p:nvSpPr>
        <p:spPr>
          <a:xfrm>
            <a:off x="5669280" y="4078224"/>
            <a:ext cx="4480560" cy="475488"/>
          </a:xfrm>
          <a:prstGeom prst="roundRect">
            <a:avLst>
              <a:gd name="adj" fmla="val 5769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88736" y="4224528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superficie de exposición.</a:t>
            </a:r>
            <a:endParaRPr lang="en-US" sz="1180" dirty="0"/>
          </a:p>
        </p:txBody>
      </p:sp>
      <p:sp>
        <p:nvSpPr>
          <p:cNvPr id="22" name="Shape 18"/>
          <p:cNvSpPr/>
          <p:nvPr/>
        </p:nvSpPr>
        <p:spPr>
          <a:xfrm>
            <a:off x="804672" y="5650992"/>
            <a:ext cx="9820656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87552" y="578815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backend, pedir menos datos suele ser una defensa.</a:t>
            </a:r>
            <a:endParaRPr lang="en-US" sz="15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Columnas Explícitas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debe parecerse al contrato del endpoint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5724144" cy="4023360"/>
          </a:xfrm>
          <a:prstGeom prst="roundRect">
            <a:avLst>
              <a:gd name="adj" fmla="val 90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38528"/>
            <a:ext cx="54681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11680"/>
            <a:ext cx="5248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controlada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395728"/>
            <a:ext cx="5303520" cy="32735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839712" y="1901952"/>
            <a:ext cx="3584448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49440" y="2011680"/>
            <a:ext cx="3364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 esperado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6949440" y="2304288"/>
            <a:ext cx="168249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04304" y="239572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</a:t>
            </a:r>
            <a:endParaRPr lang="en-US" sz="780" dirty="0"/>
          </a:p>
        </p:txBody>
      </p:sp>
      <p:sp>
        <p:nvSpPr>
          <p:cNvPr id="18" name="Shape 14"/>
          <p:cNvSpPr/>
          <p:nvPr/>
        </p:nvSpPr>
        <p:spPr>
          <a:xfrm>
            <a:off x="8631936" y="2304288"/>
            <a:ext cx="1682496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86800" y="239572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6949440" y="2615184"/>
            <a:ext cx="1682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004304" y="2706624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22" name="Shape 18"/>
          <p:cNvSpPr/>
          <p:nvPr/>
        </p:nvSpPr>
        <p:spPr>
          <a:xfrm>
            <a:off x="8631936" y="2615184"/>
            <a:ext cx="1682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86800" y="2706624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780" dirty="0"/>
          </a:p>
        </p:txBody>
      </p:sp>
      <p:sp>
        <p:nvSpPr>
          <p:cNvPr id="24" name="Shape 20"/>
          <p:cNvSpPr/>
          <p:nvPr/>
        </p:nvSpPr>
        <p:spPr>
          <a:xfrm>
            <a:off x="6949440" y="2926080"/>
            <a:ext cx="168249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04304" y="3017520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8631936" y="2926080"/>
            <a:ext cx="168249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86800" y="3017520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780" dirty="0"/>
          </a:p>
        </p:txBody>
      </p:sp>
      <p:sp>
        <p:nvSpPr>
          <p:cNvPr id="28" name="Shape 24"/>
          <p:cNvSpPr/>
          <p:nvPr/>
        </p:nvSpPr>
        <p:spPr>
          <a:xfrm>
            <a:off x="6949440" y="3236976"/>
            <a:ext cx="1682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004304" y="3328416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780" dirty="0"/>
          </a:p>
        </p:txBody>
      </p:sp>
      <p:sp>
        <p:nvSpPr>
          <p:cNvPr id="30" name="Shape 26"/>
          <p:cNvSpPr/>
          <p:nvPr/>
        </p:nvSpPr>
        <p:spPr>
          <a:xfrm>
            <a:off x="8631936" y="3236976"/>
            <a:ext cx="1682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686800" y="3328416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6949440" y="3547872"/>
            <a:ext cx="168249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004304" y="3639312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34" name="Shape 30"/>
          <p:cNvSpPr/>
          <p:nvPr/>
        </p:nvSpPr>
        <p:spPr>
          <a:xfrm>
            <a:off x="8631936" y="3547872"/>
            <a:ext cx="1682496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686800" y="3639312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780" dirty="0"/>
          </a:p>
        </p:txBody>
      </p:sp>
      <p:sp>
        <p:nvSpPr>
          <p:cNvPr id="36" name="Shape 32"/>
          <p:cNvSpPr/>
          <p:nvPr/>
        </p:nvSpPr>
        <p:spPr>
          <a:xfrm>
            <a:off x="6949440" y="3858768"/>
            <a:ext cx="1682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004304" y="395020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password_hash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8631936" y="3858768"/>
            <a:ext cx="1682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686800" y="3950208"/>
            <a:ext cx="15727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`ON` No Es `WHERE`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cosa conecta tablas; la otra filtra resultados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5559552" cy="3913632"/>
          </a:xfrm>
          <a:prstGeom prst="roundRect">
            <a:avLst>
              <a:gd name="adj" fmla="val 93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53035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5084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con relación y filtro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5138928" cy="316382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29984" y="1993392"/>
            <a:ext cx="3511296" cy="109728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21424" y="2121408"/>
            <a:ext cx="109728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86016" y="210312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986016" y="2450592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cómo se conectan las tablas.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729984" y="3529584"/>
            <a:ext cx="3511296" cy="109728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21424" y="3657600"/>
            <a:ext cx="109728" cy="841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86016" y="363931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986016" y="3986784"/>
            <a:ext cx="3163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qué filas conservamos.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04672" y="5742432"/>
            <a:ext cx="9820656" cy="420624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87552" y="587959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Relación y alcance deben leerse por separado.</a:t>
            </a:r>
            <a:endParaRPr lang="en-US" sz="15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Caso: Compras Pagadas De Un Usuario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pantalla define la intención técnica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3493008" cy="1097280"/>
          </a:xfrm>
          <a:prstGeom prst="roundRect">
            <a:avLst>
              <a:gd name="adj" fmla="val 3333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993392"/>
            <a:ext cx="109728" cy="841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75104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Necesidad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322576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mis compras pagadas.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3255264"/>
            <a:ext cx="3493008" cy="109728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96112" y="3383280"/>
            <a:ext cx="109728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0704" y="336499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60704" y="3712464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usuario autenticado.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663440" y="1865376"/>
            <a:ext cx="5797296" cy="3584448"/>
          </a:xfrm>
          <a:prstGeom prst="roundRect">
            <a:avLst>
              <a:gd name="adj" fmla="val 1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91456" y="1975104"/>
            <a:ext cx="554126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01184" y="2048256"/>
            <a:ext cx="5321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con alcance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2896" y="2432304"/>
            <a:ext cx="5376672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 Sin Alcance Filtra Más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Combinar tablas puede multiplicar el daño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5815584" cy="3931920"/>
          </a:xfrm>
          <a:prstGeom prst="roundRect">
            <a:avLst>
              <a:gd name="adj" fmla="val 9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38528"/>
            <a:ext cx="55595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11680"/>
            <a:ext cx="5340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peligrosa para endpoint personal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395728"/>
            <a:ext cx="5394960" cy="31821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931152" y="1938528"/>
            <a:ext cx="3364992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04304" y="2048256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187184" y="206654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Todos los usuarios</a:t>
            </a:r>
            <a:endParaRPr lang="en-US" sz="1320" dirty="0"/>
          </a:p>
        </p:txBody>
      </p:sp>
      <p:sp>
        <p:nvSpPr>
          <p:cNvPr id="17" name="Text 13"/>
          <p:cNvSpPr/>
          <p:nvPr/>
        </p:nvSpPr>
        <p:spPr>
          <a:xfrm>
            <a:off x="7187184" y="2340864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filtro de dueño.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6931152" y="3090672"/>
            <a:ext cx="3364992" cy="932688"/>
          </a:xfrm>
          <a:prstGeom prst="roundRect">
            <a:avLst>
              <a:gd name="adj" fmla="val 2941"/>
            </a:avLst>
          </a:prstGeom>
          <a:solidFill>
            <a:srgbClr val="FBF3DE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04304" y="3200400"/>
            <a:ext cx="100584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187184" y="321868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Email expuesto</a:t>
            </a:r>
            <a:endParaRPr lang="en-US" sz="1320" dirty="0"/>
          </a:p>
        </p:txBody>
      </p:sp>
      <p:sp>
        <p:nvSpPr>
          <p:cNvPr id="21" name="Text 17"/>
          <p:cNvSpPr/>
          <p:nvPr/>
        </p:nvSpPr>
        <p:spPr>
          <a:xfrm>
            <a:off x="7187184" y="3493008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Quizás la pantalla no lo necesita.</a:t>
            </a:r>
            <a:endParaRPr lang="en-US" sz="960" dirty="0"/>
          </a:p>
        </p:txBody>
      </p:sp>
      <p:sp>
        <p:nvSpPr>
          <p:cNvPr id="22" name="Shape 18"/>
          <p:cNvSpPr/>
          <p:nvPr/>
        </p:nvSpPr>
        <p:spPr>
          <a:xfrm>
            <a:off x="6931152" y="4242816"/>
            <a:ext cx="3364992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004304" y="4352544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187184" y="437083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 interno</a:t>
            </a:r>
            <a:endParaRPr lang="en-US" sz="1320" dirty="0"/>
          </a:p>
        </p:txBody>
      </p:sp>
      <p:sp>
        <p:nvSpPr>
          <p:cNvPr id="25" name="Text 21"/>
          <p:cNvSpPr/>
          <p:nvPr/>
        </p:nvSpPr>
        <p:spPr>
          <a:xfrm>
            <a:off x="7187184" y="4645152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sensible para lógica de permisos.</a:t>
            </a:r>
            <a:endParaRPr lang="en-US" sz="96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No Necesitas La Tabla, No La Unas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datos también es criterio de seguridad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619488" cy="950976"/>
          </a:xfrm>
          <a:prstGeom prst="roundRect">
            <a:avLst>
              <a:gd name="adj" fmla="val 480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9217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“mis compras” no siempre necesitas unir `usuarios`: el filtro por `usuario_id` puede bastar.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969264" y="3328416"/>
            <a:ext cx="9308592" cy="2139696"/>
          </a:xfrm>
          <a:prstGeom prst="roundRect">
            <a:avLst>
              <a:gd name="adj" fmla="val 170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7280" y="3438144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008" y="3511296"/>
            <a:ext cx="8833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más pequeña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0" y="3895344"/>
            <a:ext cx="8887968" cy="138988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4672" y="5687568"/>
            <a:ext cx="9820656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87552" y="582472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usar JOIN también puede ser una buena decisión técnica.</a:t>
            </a:r>
            <a:endParaRPr lang="en-US" sz="15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Como Revisor De JOINs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para auditar, no para ejecutar a ciegas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6144768" cy="4041648"/>
          </a:xfrm>
          <a:prstGeom prst="roundRect">
            <a:avLst>
              <a:gd name="adj" fmla="val 9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38528"/>
            <a:ext cx="58887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11680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 revisión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395728"/>
            <a:ext cx="5724144" cy="32918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260336" y="1847088"/>
            <a:ext cx="3182112" cy="396849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88352" y="1975104"/>
            <a:ext cx="292608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0" y="204825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siempre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7406640" y="2359152"/>
            <a:ext cx="2889504" cy="957072"/>
          </a:xfrm>
          <a:prstGeom prst="roundRect">
            <a:avLst>
              <a:gd name="adj" fmla="val 3822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516368" y="248716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516368" y="25328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8028432" y="2487168"/>
            <a:ext cx="73152" cy="701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29600" y="250545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Esquema real</a:t>
            </a:r>
            <a:endParaRPr lang="en-US" sz="1360" dirty="0"/>
          </a:p>
        </p:txBody>
      </p:sp>
      <p:sp>
        <p:nvSpPr>
          <p:cNvPr id="22" name="Text 18"/>
          <p:cNvSpPr/>
          <p:nvPr/>
        </p:nvSpPr>
        <p:spPr>
          <a:xfrm>
            <a:off x="8229600" y="2798064"/>
            <a:ext cx="1938528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Columnas y relaciones existen.</a:t>
            </a:r>
            <a:endParaRPr lang="en-US" sz="1060" dirty="0"/>
          </a:p>
        </p:txBody>
      </p:sp>
      <p:sp>
        <p:nvSpPr>
          <p:cNvPr id="23" name="Shape 19"/>
          <p:cNvSpPr/>
          <p:nvPr/>
        </p:nvSpPr>
        <p:spPr>
          <a:xfrm>
            <a:off x="7406640" y="3480816"/>
            <a:ext cx="2889504" cy="957072"/>
          </a:xfrm>
          <a:prstGeom prst="roundRect">
            <a:avLst>
              <a:gd name="adj" fmla="val 3822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516368" y="36088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16368" y="36545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8028432" y="3608832"/>
            <a:ext cx="73152" cy="701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229600" y="362712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</a:t>
            </a:r>
            <a:endParaRPr lang="en-US" sz="1360" dirty="0"/>
          </a:p>
        </p:txBody>
      </p:sp>
      <p:sp>
        <p:nvSpPr>
          <p:cNvPr id="28" name="Text 24"/>
          <p:cNvSpPr/>
          <p:nvPr/>
        </p:nvSpPr>
        <p:spPr>
          <a:xfrm>
            <a:off x="8229600" y="3919728"/>
            <a:ext cx="1938528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 por usuario o rol.</a:t>
            </a:r>
            <a:endParaRPr lang="en-US" sz="1060" dirty="0"/>
          </a:p>
        </p:txBody>
      </p:sp>
      <p:sp>
        <p:nvSpPr>
          <p:cNvPr id="29" name="Shape 25"/>
          <p:cNvSpPr/>
          <p:nvPr/>
        </p:nvSpPr>
        <p:spPr>
          <a:xfrm>
            <a:off x="7406640" y="4602480"/>
            <a:ext cx="2889504" cy="957072"/>
          </a:xfrm>
          <a:prstGeom prst="roundRect">
            <a:avLst>
              <a:gd name="adj" fmla="val 3822"/>
            </a:avLst>
          </a:prstGeom>
          <a:solidFill>
            <a:srgbClr val="FBF3D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516368" y="473049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516368" y="477621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8028432" y="4730496"/>
            <a:ext cx="73152" cy="701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229600" y="474878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</a:t>
            </a:r>
            <a:endParaRPr lang="en-US" sz="1360" dirty="0"/>
          </a:p>
        </p:txBody>
      </p:sp>
      <p:sp>
        <p:nvSpPr>
          <p:cNvPr id="34" name="Text 30"/>
          <p:cNvSpPr/>
          <p:nvPr/>
        </p:nvSpPr>
        <p:spPr>
          <a:xfrm>
            <a:off x="8229600" y="5041392"/>
            <a:ext cx="1938528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datos necesarios.</a:t>
            </a:r>
            <a:endParaRPr lang="en-US" sz="106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no es solo sintaxis: es criterio de lectura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29968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03120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debe quedar claro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414016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42032"/>
            <a:ext cx="73152" cy="14264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60320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INNER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52928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Devuelve solo filas con coincidencia.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414016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542032"/>
            <a:ext cx="73152" cy="14264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560320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LEFT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852928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 el lado principal aunque falten coincidencias.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261104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FBF3DE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3891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348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389120"/>
            <a:ext cx="73152" cy="14264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0740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 NULL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00016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encontrar ausencia de relación.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261104"/>
            <a:ext cx="4453128" cy="1682496"/>
          </a:xfrm>
          <a:prstGeom prst="roundRect">
            <a:avLst>
              <a:gd name="adj" fmla="val 2174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3891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348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389120"/>
            <a:ext cx="73152" cy="14264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07408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00016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conecta; WHERE limita lo que se entrega.</a:t>
            </a:r>
            <a:endParaRPr lang="en-US" sz="106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JOINs y alcance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993392"/>
            <a:ext cx="109728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3017520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762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1645920" y="21396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práctica hay entre `INNER JOIN` y `LEFT JOIN`?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1645920" y="26700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Uno exige coincidencia; el otro conserva el lado principal.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41248" y="3236976"/>
            <a:ext cx="109728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261104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34198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1645920" y="338328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`SELECT *` es más riesgoso cuando se combinan varias tablas?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1645920" y="39136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columnas sensibles, repetidas o innecesarias.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41248" y="4480560"/>
            <a:ext cx="109728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60704" y="5504688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3856" y="4663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1645920" y="462686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parte define la relación entre tablas y qué parte limita el alcance del resultado?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1645920" y="51572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`ON` conecta; `WHERE` filtra según la necesidad de la aplicación.</a:t>
            </a:r>
            <a:endParaRPr lang="en-US" sz="10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5101" y="1481328"/>
            <a:ext cx="230429" cy="6144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3934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67712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Agregaciones: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filas sueltas a respuestas útiles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04672" y="395020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COUNT, SUM, AVG, GROUP BY, HAVING y métricas con criterio.</a:t>
            </a:r>
            <a:endParaRPr lang="en-US" sz="1660" dirty="0"/>
          </a:p>
        </p:txBody>
      </p:sp>
      <p:sp>
        <p:nvSpPr>
          <p:cNvPr id="7" name="Shape 5"/>
          <p:cNvSpPr/>
          <p:nvPr/>
        </p:nvSpPr>
        <p:spPr>
          <a:xfrm>
            <a:off x="804672" y="4882896"/>
            <a:ext cx="9144000" cy="658368"/>
          </a:xfrm>
          <a:prstGeom prst="roundRect">
            <a:avLst>
              <a:gd name="adj" fmla="val 694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5084064"/>
            <a:ext cx="8641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aplicación no solo lista datos: también mide, resume y decide qué puede mostrar.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Listar A Responder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consulta agregada cambia la unidad de lectura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3877056" cy="2066544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993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14400" y="2286000"/>
            <a:ext cx="914400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37744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1828800" y="2286000"/>
            <a:ext cx="914400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83664" y="237744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2743200" y="2286000"/>
            <a:ext cx="914400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98064" y="237744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3657600" y="2286000"/>
            <a:ext cx="914400" cy="310896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12464" y="237744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914400" y="2596896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" y="2688336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1828800" y="2596896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83664" y="2688336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2743200" y="2596896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98064" y="2688336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3657600" y="2596896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12464" y="2688336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39990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914400" y="2907792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9264" y="2999232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1828800" y="2907792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883664" y="2999232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2743200" y="2907792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98064" y="2999232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3657600" y="2907792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712464" y="2999232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12990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914400" y="3218688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9264" y="331012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1828800" y="3218688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883664" y="331012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2743200" y="3218688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798064" y="331012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3657600" y="3218688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712464" y="331012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24990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914400" y="3529584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69264" y="3621024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1828800" y="3529584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883664" y="3621024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2743200" y="3529584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798064" y="3621024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anulada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3657600" y="3529584"/>
            <a:ext cx="914400" cy="310896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712464" y="3621024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8990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5029200" y="1883664"/>
            <a:ext cx="2505456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120640" y="2011680"/>
            <a:ext cx="109728" cy="10058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285232" y="199339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Listado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5285232" y="2340864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fila representa una compra concreta.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7808976" y="1883664"/>
            <a:ext cx="2505456" cy="1261872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900416" y="2011680"/>
            <a:ext cx="109728" cy="1005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065008" y="199339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8065008" y="2340864"/>
            <a:ext cx="2157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fila puede representar un grupo calculado.</a:t>
            </a:r>
            <a:endParaRPr lang="en-US" sz="1250" dirty="0"/>
          </a:p>
        </p:txBody>
      </p:sp>
      <p:sp>
        <p:nvSpPr>
          <p:cNvPr id="60" name="Shape 57"/>
          <p:cNvSpPr/>
          <p:nvPr/>
        </p:nvSpPr>
        <p:spPr>
          <a:xfrm>
            <a:off x="5029200" y="3493008"/>
            <a:ext cx="5285232" cy="2249424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157216" y="3621024"/>
            <a:ext cx="502920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266944" y="3694176"/>
            <a:ext cx="4809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que ya no piden detalle</a:t>
            </a:r>
            <a:endParaRPr lang="en-US" sz="980" dirty="0"/>
          </a:p>
        </p:txBody>
      </p:sp>
      <p:sp>
        <p:nvSpPr>
          <p:cNvPr id="63" name="Shape 60"/>
          <p:cNvSpPr/>
          <p:nvPr/>
        </p:nvSpPr>
        <p:spPr>
          <a:xfrm>
            <a:off x="5175504" y="4005072"/>
            <a:ext cx="2404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285232" y="413308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285232" y="417880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66" name="Shape 63"/>
          <p:cNvSpPr/>
          <p:nvPr/>
        </p:nvSpPr>
        <p:spPr>
          <a:xfrm>
            <a:off x="5797296" y="4133088"/>
            <a:ext cx="73152" cy="402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998464" y="415137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 total</a:t>
            </a:r>
            <a:endParaRPr lang="en-US" sz="1360" dirty="0"/>
          </a:p>
        </p:txBody>
      </p:sp>
      <p:sp>
        <p:nvSpPr>
          <p:cNvPr id="68" name="Text 65"/>
          <p:cNvSpPr/>
          <p:nvPr/>
        </p:nvSpPr>
        <p:spPr>
          <a:xfrm>
            <a:off x="5998464" y="4443984"/>
            <a:ext cx="1453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 se vendió?</a:t>
            </a:r>
            <a:endParaRPr lang="en-US" sz="1060" dirty="0"/>
          </a:p>
        </p:txBody>
      </p:sp>
      <p:sp>
        <p:nvSpPr>
          <p:cNvPr id="69" name="Shape 66"/>
          <p:cNvSpPr/>
          <p:nvPr/>
        </p:nvSpPr>
        <p:spPr>
          <a:xfrm>
            <a:off x="7763256" y="4005072"/>
            <a:ext cx="2404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872984" y="413308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872984" y="417880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72" name="Shape 69"/>
          <p:cNvSpPr/>
          <p:nvPr/>
        </p:nvSpPr>
        <p:spPr>
          <a:xfrm>
            <a:off x="8385048" y="4133088"/>
            <a:ext cx="73152" cy="4023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586216" y="415137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Cantidad</a:t>
            </a:r>
            <a:endParaRPr lang="en-US" sz="1360" dirty="0"/>
          </a:p>
        </p:txBody>
      </p:sp>
      <p:sp>
        <p:nvSpPr>
          <p:cNvPr id="74" name="Text 71"/>
          <p:cNvSpPr/>
          <p:nvPr/>
        </p:nvSpPr>
        <p:spPr>
          <a:xfrm>
            <a:off x="8586216" y="4443984"/>
            <a:ext cx="1453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¿Cuántas compras hay?</a:t>
            </a:r>
            <a:endParaRPr lang="en-US" sz="1060" dirty="0"/>
          </a:p>
        </p:txBody>
      </p:sp>
      <p:sp>
        <p:nvSpPr>
          <p:cNvPr id="75" name="Shape 72"/>
          <p:cNvSpPr/>
          <p:nvPr/>
        </p:nvSpPr>
        <p:spPr>
          <a:xfrm>
            <a:off x="5175504" y="4828032"/>
            <a:ext cx="2404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285232" y="4956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285232" y="5001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78" name="Shape 75"/>
          <p:cNvSpPr/>
          <p:nvPr/>
        </p:nvSpPr>
        <p:spPr>
          <a:xfrm>
            <a:off x="5797296" y="4956048"/>
            <a:ext cx="73152" cy="4023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998464" y="497433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Ranking</a:t>
            </a:r>
            <a:endParaRPr lang="en-US" sz="1360" dirty="0"/>
          </a:p>
        </p:txBody>
      </p:sp>
      <p:sp>
        <p:nvSpPr>
          <p:cNvPr id="80" name="Text 77"/>
          <p:cNvSpPr/>
          <p:nvPr/>
        </p:nvSpPr>
        <p:spPr>
          <a:xfrm>
            <a:off x="5998464" y="5266944"/>
            <a:ext cx="1453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usuario compró más?</a:t>
            </a:r>
            <a:endParaRPr lang="en-US" sz="1060" dirty="0"/>
          </a:p>
        </p:txBody>
      </p:sp>
      <p:sp>
        <p:nvSpPr>
          <p:cNvPr id="81" name="Shape 78"/>
          <p:cNvSpPr/>
          <p:nvPr/>
        </p:nvSpPr>
        <p:spPr>
          <a:xfrm>
            <a:off x="7763256" y="4828032"/>
            <a:ext cx="2404872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872984" y="4956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7872984" y="5001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sp>
        <p:nvSpPr>
          <p:cNvPr id="84" name="Shape 81"/>
          <p:cNvSpPr/>
          <p:nvPr/>
        </p:nvSpPr>
        <p:spPr>
          <a:xfrm>
            <a:off x="8385048" y="4956048"/>
            <a:ext cx="73152" cy="402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8586216" y="497433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</a:t>
            </a:r>
            <a:endParaRPr lang="en-US" sz="1360" dirty="0"/>
          </a:p>
        </p:txBody>
      </p:sp>
      <p:sp>
        <p:nvSpPr>
          <p:cNvPr id="86" name="Text 83"/>
          <p:cNvSpPr/>
          <p:nvPr/>
        </p:nvSpPr>
        <p:spPr>
          <a:xfrm>
            <a:off x="8586216" y="5266944"/>
            <a:ext cx="1453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 hay por estado?</a:t>
            </a:r>
            <a:endParaRPr lang="en-US" sz="106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Funciones De Agregación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Calculan un resultado a partir de varias filas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2907792" cy="1316736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56816"/>
            <a:ext cx="10058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7510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COUNT()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60704" y="2249424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filas o valores no nulos.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059936" y="1847088"/>
            <a:ext cx="2907792" cy="1316736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33088" y="1956816"/>
            <a:ext cx="100584" cy="10972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15968" y="197510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SUM()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15968" y="2249424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 valores numéricos.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315200" y="1847088"/>
            <a:ext cx="2907792" cy="1316736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88352" y="1956816"/>
            <a:ext cx="100584" cy="10972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71232" y="197510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AVG()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571232" y="2249424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 promedio.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901952" y="3822192"/>
            <a:ext cx="3840480" cy="1316736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975104" y="3931920"/>
            <a:ext cx="10058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157984" y="3950208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MIN()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2157984" y="4224528"/>
            <a:ext cx="3511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Obtiene el menor valor.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345936" y="3822192"/>
            <a:ext cx="3840480" cy="1316736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19088" y="3931920"/>
            <a:ext cx="100584" cy="10972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01968" y="3950208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MAX()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601968" y="4224528"/>
            <a:ext cx="3511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Obtiene el mayor valor.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04672" y="5724144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861304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Agregación = transformar muchas filas en un indicador entendible.</a:t>
            </a:r>
            <a:endParaRPr lang="en-US" sz="14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Fila, Varios Indicadores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tabla completa se lee como conjunto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5998464" cy="3986784"/>
          </a:xfrm>
          <a:prstGeom prst="roundRect">
            <a:avLst>
              <a:gd name="adj" fmla="val 91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574243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5522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global de compras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5577840" cy="32369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114032" y="2066544"/>
            <a:ext cx="3383280" cy="2596896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223760" y="2176272"/>
            <a:ext cx="3163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7223760" y="2468880"/>
            <a:ext cx="1581912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278624" y="2560320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</a:t>
            </a:r>
            <a:endParaRPr lang="en-US" sz="780" dirty="0"/>
          </a:p>
        </p:txBody>
      </p:sp>
      <p:sp>
        <p:nvSpPr>
          <p:cNvPr id="18" name="Shape 14"/>
          <p:cNvSpPr/>
          <p:nvPr/>
        </p:nvSpPr>
        <p:spPr>
          <a:xfrm>
            <a:off x="8805672" y="2468880"/>
            <a:ext cx="1581912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860536" y="2560320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7223760" y="2816352"/>
            <a:ext cx="1581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278624" y="2907792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total_compras</a:t>
            </a:r>
            <a:endParaRPr lang="en-US" sz="780" dirty="0"/>
          </a:p>
        </p:txBody>
      </p:sp>
      <p:sp>
        <p:nvSpPr>
          <p:cNvPr id="22" name="Shape 18"/>
          <p:cNvSpPr/>
          <p:nvPr/>
        </p:nvSpPr>
        <p:spPr>
          <a:xfrm>
            <a:off x="8805672" y="2816352"/>
            <a:ext cx="1581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860536" y="2907792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</a:t>
            </a:r>
            <a:endParaRPr lang="en-US" sz="780" dirty="0"/>
          </a:p>
        </p:txBody>
      </p:sp>
      <p:sp>
        <p:nvSpPr>
          <p:cNvPr id="24" name="Shape 20"/>
          <p:cNvSpPr/>
          <p:nvPr/>
        </p:nvSpPr>
        <p:spPr>
          <a:xfrm>
            <a:off x="7223760" y="3163824"/>
            <a:ext cx="1581912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78624" y="3255264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monto_total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8805672" y="3163824"/>
            <a:ext cx="1581912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860536" y="3255264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5249000</a:t>
            </a:r>
            <a:endParaRPr lang="en-US" sz="780" dirty="0"/>
          </a:p>
        </p:txBody>
      </p:sp>
      <p:sp>
        <p:nvSpPr>
          <p:cNvPr id="28" name="Shape 24"/>
          <p:cNvSpPr/>
          <p:nvPr/>
        </p:nvSpPr>
        <p:spPr>
          <a:xfrm>
            <a:off x="7223760" y="3511296"/>
            <a:ext cx="1581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278624" y="3602736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</a:t>
            </a:r>
            <a:endParaRPr lang="en-US" sz="780" dirty="0"/>
          </a:p>
        </p:txBody>
      </p:sp>
      <p:sp>
        <p:nvSpPr>
          <p:cNvPr id="30" name="Shape 26"/>
          <p:cNvSpPr/>
          <p:nvPr/>
        </p:nvSpPr>
        <p:spPr>
          <a:xfrm>
            <a:off x="8805672" y="3511296"/>
            <a:ext cx="1581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860536" y="3602736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41007.81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7223760" y="3858768"/>
            <a:ext cx="1581912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278624" y="3950208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</a:t>
            </a:r>
            <a:endParaRPr lang="en-US" sz="780" dirty="0"/>
          </a:p>
        </p:txBody>
      </p:sp>
      <p:sp>
        <p:nvSpPr>
          <p:cNvPr id="34" name="Shape 30"/>
          <p:cNvSpPr/>
          <p:nvPr/>
        </p:nvSpPr>
        <p:spPr>
          <a:xfrm>
            <a:off x="8805672" y="3858768"/>
            <a:ext cx="1581912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860536" y="3950208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3990</a:t>
            </a:r>
            <a:endParaRPr lang="en-US" sz="780" dirty="0"/>
          </a:p>
        </p:txBody>
      </p:sp>
      <p:sp>
        <p:nvSpPr>
          <p:cNvPr id="36" name="Shape 32"/>
          <p:cNvSpPr/>
          <p:nvPr/>
        </p:nvSpPr>
        <p:spPr>
          <a:xfrm>
            <a:off x="7223760" y="4206240"/>
            <a:ext cx="1581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278624" y="4297680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mayor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8805672" y="4206240"/>
            <a:ext cx="15819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860536" y="4297680"/>
            <a:ext cx="1472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189990</a:t>
            </a:r>
            <a:endParaRPr lang="en-US" sz="780" dirty="0"/>
          </a:p>
        </p:txBody>
      </p:sp>
      <p:sp>
        <p:nvSpPr>
          <p:cNvPr id="40" name="Shape 36"/>
          <p:cNvSpPr/>
          <p:nvPr/>
        </p:nvSpPr>
        <p:spPr>
          <a:xfrm>
            <a:off x="7114032" y="4992624"/>
            <a:ext cx="338328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205472" y="5120640"/>
            <a:ext cx="109728" cy="585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370064" y="510235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 mental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7370064" y="544982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ya no muestra una compra: resume la tabla.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`COUNT(*)` No Es `COUNT(columna)`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`NULL` cambia lo que realmente estás contando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3931920" cy="2048256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975104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14400" y="2267712"/>
            <a:ext cx="1237488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359152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151888" y="2267712"/>
            <a:ext cx="1237488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06752" y="2359152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3389376" y="2267712"/>
            <a:ext cx="1237488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44240" y="2359152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fecha_pago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914400" y="2651760"/>
            <a:ext cx="12374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" y="2743200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2151888" y="2651760"/>
            <a:ext cx="12374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06752" y="2743200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3389376" y="2651760"/>
            <a:ext cx="12374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44240" y="2743200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2026-05-01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914400" y="3035808"/>
            <a:ext cx="1237488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9264" y="3127248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2151888" y="3035808"/>
            <a:ext cx="1237488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06752" y="3127248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3389376" y="3035808"/>
            <a:ext cx="1237488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44240" y="3127248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914400" y="3419856"/>
            <a:ext cx="12374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9264" y="3511296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2151888" y="3419856"/>
            <a:ext cx="12374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206752" y="3511296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3389376" y="3419856"/>
            <a:ext cx="12374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44240" y="3511296"/>
            <a:ext cx="1127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2026-05-02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5084064" y="1865376"/>
            <a:ext cx="5321808" cy="1408176"/>
          </a:xfrm>
          <a:prstGeom prst="roundRect">
            <a:avLst>
              <a:gd name="adj" fmla="val 25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212080" y="1975104"/>
            <a:ext cx="506577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321808" y="2048256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filas</a:t>
            </a:r>
            <a:endParaRPr lang="en-US" sz="100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3520" y="2432304"/>
            <a:ext cx="4901184" cy="658368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5084064" y="3566160"/>
            <a:ext cx="5321808" cy="1408176"/>
          </a:xfrm>
          <a:prstGeom prst="roundRect">
            <a:avLst>
              <a:gd name="adj" fmla="val 25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212080" y="3675888"/>
            <a:ext cx="506577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321808" y="374904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pagos completados</a:t>
            </a:r>
            <a:endParaRPr lang="en-US" sz="100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3520" y="4133088"/>
            <a:ext cx="4901184" cy="658368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804672" y="5596128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987552" y="573328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Contar filas no siempre significa contar eventos completados.</a:t>
            </a:r>
            <a:endParaRPr lang="en-US" sz="146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`GROUP BY`: Agrupar Antes De Calcular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se forman grupos; luego se calcula dentro de cada grupo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619488" cy="786384"/>
          </a:xfrm>
          <a:prstGeom prst="roundRect">
            <a:avLst>
              <a:gd name="adj" fmla="val 581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9217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Todas las compras con el mismo `usuario_id` forman un grupo.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04672" y="2999232"/>
            <a:ext cx="2907792" cy="2139696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127248"/>
            <a:ext cx="109728" cy="18836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usuario_id = 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60704" y="3456432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101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102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108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115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COUNT(*) = 4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78224" y="2999232"/>
            <a:ext cx="2907792" cy="2139696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9664" y="3127248"/>
            <a:ext cx="109728" cy="18836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34256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usuario_id = 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34256" y="3456432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103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COUNT(*) = 1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351776" y="2999232"/>
            <a:ext cx="2907792" cy="2139696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43216" y="3127248"/>
            <a:ext cx="109728" cy="18836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07808" y="3108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usuario_id = 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07808" y="3456432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104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110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 111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COUNT(*) = 3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 Por Usuario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tiene una fila por grupo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5541264" cy="3419856"/>
          </a:xfrm>
          <a:prstGeom prst="roundRect">
            <a:avLst>
              <a:gd name="adj" fmla="val 107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528523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5065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agregada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5120640" cy="2670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11696" y="1883664"/>
            <a:ext cx="3401568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21424" y="1993392"/>
            <a:ext cx="3182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6821424" y="2286000"/>
            <a:ext cx="1591056" cy="420624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76288" y="2377440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usuario_id</a:t>
            </a:r>
            <a:endParaRPr lang="en-US" sz="780" dirty="0"/>
          </a:p>
        </p:txBody>
      </p:sp>
      <p:sp>
        <p:nvSpPr>
          <p:cNvPr id="18" name="Shape 14"/>
          <p:cNvSpPr/>
          <p:nvPr/>
        </p:nvSpPr>
        <p:spPr>
          <a:xfrm>
            <a:off x="8412480" y="2286000"/>
            <a:ext cx="1591056" cy="420624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67344" y="2377440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total_compras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6821424" y="2706624"/>
            <a:ext cx="15910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76288" y="2798064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2" name="Shape 18"/>
          <p:cNvSpPr/>
          <p:nvPr/>
        </p:nvSpPr>
        <p:spPr>
          <a:xfrm>
            <a:off x="8412480" y="2706624"/>
            <a:ext cx="15910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467344" y="2798064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24" name="Shape 20"/>
          <p:cNvSpPr/>
          <p:nvPr/>
        </p:nvSpPr>
        <p:spPr>
          <a:xfrm>
            <a:off x="6821424" y="3127248"/>
            <a:ext cx="1591056" cy="420624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876288" y="3218688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8412480" y="3127248"/>
            <a:ext cx="1591056" cy="420624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67344" y="3218688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8" name="Shape 24"/>
          <p:cNvSpPr/>
          <p:nvPr/>
        </p:nvSpPr>
        <p:spPr>
          <a:xfrm>
            <a:off x="6821424" y="3547872"/>
            <a:ext cx="15910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876288" y="3639312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30" name="Shape 26"/>
          <p:cNvSpPr/>
          <p:nvPr/>
        </p:nvSpPr>
        <p:spPr>
          <a:xfrm>
            <a:off x="8412480" y="3547872"/>
            <a:ext cx="159105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467344" y="3639312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6711696" y="4443984"/>
            <a:ext cx="3401568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803136" y="4572000"/>
            <a:ext cx="109728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967728" y="455371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967728" y="490118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una fila por compra; hay una fila por usuario.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Técnica Del `GROUP BY`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columnas normales deben tener sentido como criterio de agrupación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28800"/>
            <a:ext cx="4828032" cy="3529584"/>
          </a:xfrm>
          <a:prstGeom prst="roundRect">
            <a:avLst>
              <a:gd name="adj" fmla="val 10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38528"/>
            <a:ext cx="457200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11680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395728"/>
            <a:ext cx="4407408" cy="27797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61888" y="1828800"/>
            <a:ext cx="4828032" cy="3529584"/>
          </a:xfrm>
          <a:prstGeom prst="roundRect">
            <a:avLst>
              <a:gd name="adj" fmla="val 10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89904" y="1938528"/>
            <a:ext cx="457200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99632" y="2011680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Problemático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344" y="2395728"/>
            <a:ext cx="4407408" cy="277977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04672" y="5650992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87552" y="578815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`fecha` puede tener muchos valores dentro del mismo `estado`: la consulta queda ambigua.</a:t>
            </a:r>
            <a:endParaRPr lang="en-US" sz="13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Agregaciones Con `JOIN`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métricas útiles suelen necesitar datos conectados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810512"/>
            <a:ext cx="6400800" cy="4407408"/>
          </a:xfrm>
          <a:prstGeom prst="roundRect">
            <a:avLst>
              <a:gd name="adj" fmla="val 8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920240"/>
            <a:ext cx="61447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1993392"/>
            <a:ext cx="5925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Compras por usuario con correo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77440"/>
            <a:ext cx="5980176" cy="3657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406640" y="1901952"/>
            <a:ext cx="3182112" cy="384048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0" y="2029968"/>
            <a:ext cx="109728" cy="35844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62672" y="20116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ocurre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662672" y="2359152"/>
            <a:ext cx="283464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Parte desde usuarios.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Busca compras asociadas.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Conserva usuarios sin compra.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Agrupa por usuario.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Cuenta compras reales.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`COUNT(c.id)` Evita Un Error Sutil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`LEFT JOIN`, `COUNT(*)` puede contar una fila sin compra real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4754880" cy="2249424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956816"/>
            <a:ext cx="4535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combinado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14400" y="2249424"/>
            <a:ext cx="1511808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340864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426208" y="2249424"/>
            <a:ext cx="1511808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81072" y="2340864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3938016" y="2249424"/>
            <a:ext cx="1511808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92880" y="2340864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c.id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914400" y="2596896"/>
            <a:ext cx="1511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" y="2688336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2426208" y="2596896"/>
            <a:ext cx="1511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81072" y="2688336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camila@example.com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3938016" y="2596896"/>
            <a:ext cx="1511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92880" y="2688336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914400" y="2944368"/>
            <a:ext cx="1511808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9264" y="3035808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2426208" y="2944368"/>
            <a:ext cx="1511808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81072" y="3035808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camila@example.com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3938016" y="2944368"/>
            <a:ext cx="1511808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92880" y="3035808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914400" y="3291840"/>
            <a:ext cx="1511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9264" y="3383280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2426208" y="3291840"/>
            <a:ext cx="1511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81072" y="3383280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felipe@example.com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3938016" y="3291840"/>
            <a:ext cx="15118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92880" y="3383280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914400" y="3639312"/>
            <a:ext cx="1511808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9264" y="3730752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2426208" y="3639312"/>
            <a:ext cx="1511808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481072" y="3730752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daniela@example.com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3938016" y="3639312"/>
            <a:ext cx="1511808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992880" y="3730752"/>
            <a:ext cx="1402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5907024" y="1901952"/>
            <a:ext cx="2139696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998464" y="2029968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163056" y="20116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COUNT(*)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163056" y="2359152"/>
            <a:ext cx="1792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la fila combinada, incluso si la compra es NULL.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8321040" y="1901952"/>
            <a:ext cx="2139696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412480" y="2029968"/>
            <a:ext cx="10972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577072" y="20116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COUNT(c.id)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8577072" y="2359152"/>
            <a:ext cx="17922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solo compras reales con id no nulo.</a:t>
            </a:r>
            <a:endParaRPr lang="en-US" sz="1250" dirty="0"/>
          </a:p>
        </p:txBody>
      </p:sp>
      <p:sp>
        <p:nvSpPr>
          <p:cNvPr id="50" name="Shape 47"/>
          <p:cNvSpPr/>
          <p:nvPr/>
        </p:nvSpPr>
        <p:spPr>
          <a:xfrm>
            <a:off x="804672" y="5193792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87552" y="533095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agregación correcta depende del JOIN y del significado de la columna.</a:t>
            </a:r>
            <a:endParaRPr lang="en-US" sz="142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`WHERE` Vs `HAVING`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filas no es lo mismo que filtrar grupos calculados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4828032" cy="3401568"/>
          </a:xfrm>
          <a:prstGeom prst="roundRect">
            <a:avLst>
              <a:gd name="adj" fmla="val 10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457200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WHERE: antes de agrupar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4407408" cy="2651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61888" y="1847088"/>
            <a:ext cx="4828032" cy="3401568"/>
          </a:xfrm>
          <a:prstGeom prst="roundRect">
            <a:avLst>
              <a:gd name="adj" fmla="val 10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89904" y="1956816"/>
            <a:ext cx="457200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99632" y="2029968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HAVING: después de agrupar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344" y="2414016"/>
            <a:ext cx="4407408" cy="26517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04672" y="5596128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87552" y="573328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el filtro usa una agregación, probablemente pertenece a `HAVING`.</a:t>
            </a:r>
            <a:endParaRPr lang="en-US" sz="144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Para Una Aplicación Web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agregaciones alimentan paneles, reportes y estados resumidos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5230368" cy="2962656"/>
          </a:xfrm>
          <a:prstGeom prst="roundRect">
            <a:avLst>
              <a:gd name="adj" fmla="val 123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56816"/>
            <a:ext cx="49743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29968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 por estado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14016"/>
            <a:ext cx="4809744" cy="22128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64224" y="1901952"/>
            <a:ext cx="3858768" cy="2048256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2011680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panel admin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6473952" y="2304288"/>
            <a:ext cx="1213104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28816" y="2395728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780" dirty="0"/>
          </a:p>
        </p:txBody>
      </p:sp>
      <p:sp>
        <p:nvSpPr>
          <p:cNvPr id="18" name="Shape 14"/>
          <p:cNvSpPr/>
          <p:nvPr/>
        </p:nvSpPr>
        <p:spPr>
          <a:xfrm>
            <a:off x="7687056" y="2304288"/>
            <a:ext cx="1213104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41920" y="2395728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8900160" y="2304288"/>
            <a:ext cx="1213104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955024" y="2395728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monto</a:t>
            </a:r>
            <a:endParaRPr lang="en-US" sz="780" dirty="0"/>
          </a:p>
        </p:txBody>
      </p:sp>
      <p:sp>
        <p:nvSpPr>
          <p:cNvPr id="22" name="Shape 18"/>
          <p:cNvSpPr/>
          <p:nvPr/>
        </p:nvSpPr>
        <p:spPr>
          <a:xfrm>
            <a:off x="6473952" y="2688336"/>
            <a:ext cx="12131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28816" y="2779776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24" name="Shape 20"/>
          <p:cNvSpPr/>
          <p:nvPr/>
        </p:nvSpPr>
        <p:spPr>
          <a:xfrm>
            <a:off x="7687056" y="2688336"/>
            <a:ext cx="12131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41920" y="2779776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8900160" y="2688336"/>
            <a:ext cx="12131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955024" y="2779776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4210000</a:t>
            </a:r>
            <a:endParaRPr lang="en-US" sz="780" dirty="0"/>
          </a:p>
        </p:txBody>
      </p:sp>
      <p:sp>
        <p:nvSpPr>
          <p:cNvPr id="28" name="Shape 24"/>
          <p:cNvSpPr/>
          <p:nvPr/>
        </p:nvSpPr>
        <p:spPr>
          <a:xfrm>
            <a:off x="6473952" y="3072384"/>
            <a:ext cx="1213104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28816" y="3163824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</a:t>
            </a:r>
            <a:endParaRPr lang="en-US" sz="780" dirty="0"/>
          </a:p>
        </p:txBody>
      </p:sp>
      <p:sp>
        <p:nvSpPr>
          <p:cNvPr id="30" name="Shape 26"/>
          <p:cNvSpPr/>
          <p:nvPr/>
        </p:nvSpPr>
        <p:spPr>
          <a:xfrm>
            <a:off x="7687056" y="3072384"/>
            <a:ext cx="1213104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741920" y="3163824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8900160" y="3072384"/>
            <a:ext cx="1213104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955024" y="3163824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890000</a:t>
            </a:r>
            <a:endParaRPr lang="en-US" sz="780" dirty="0"/>
          </a:p>
        </p:txBody>
      </p:sp>
      <p:sp>
        <p:nvSpPr>
          <p:cNvPr id="34" name="Shape 30"/>
          <p:cNvSpPr/>
          <p:nvPr/>
        </p:nvSpPr>
        <p:spPr>
          <a:xfrm>
            <a:off x="6473952" y="3456432"/>
            <a:ext cx="12131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28816" y="3547872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anulada</a:t>
            </a:r>
            <a:endParaRPr lang="en-US" sz="780" dirty="0"/>
          </a:p>
        </p:txBody>
      </p:sp>
      <p:sp>
        <p:nvSpPr>
          <p:cNvPr id="36" name="Shape 32"/>
          <p:cNvSpPr/>
          <p:nvPr/>
        </p:nvSpPr>
        <p:spPr>
          <a:xfrm>
            <a:off x="7687056" y="3456432"/>
            <a:ext cx="12131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741920" y="3547872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8900160" y="3456432"/>
            <a:ext cx="121310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955024" y="3547872"/>
            <a:ext cx="110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149000</a:t>
            </a:r>
            <a:endParaRPr lang="en-US" sz="780" dirty="0"/>
          </a:p>
        </p:txBody>
      </p:sp>
      <p:sp>
        <p:nvSpPr>
          <p:cNvPr id="40" name="Shape 36"/>
          <p:cNvSpPr/>
          <p:nvPr/>
        </p:nvSpPr>
        <p:spPr>
          <a:xfrm>
            <a:off x="804672" y="5193792"/>
            <a:ext cx="2907792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877824" y="5303520"/>
            <a:ext cx="100584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1060704" y="532180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Audiencia</a:t>
            </a:r>
            <a:endParaRPr lang="en-US" sz="1180" dirty="0"/>
          </a:p>
        </p:txBody>
      </p:sp>
      <p:sp>
        <p:nvSpPr>
          <p:cNvPr id="43" name="Text 39"/>
          <p:cNvSpPr/>
          <p:nvPr/>
        </p:nvSpPr>
        <p:spPr>
          <a:xfrm>
            <a:off x="1060704" y="55961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¿Para quién es?</a:t>
            </a:r>
            <a:endParaRPr lang="en-US" sz="880" dirty="0"/>
          </a:p>
        </p:txBody>
      </p:sp>
      <p:sp>
        <p:nvSpPr>
          <p:cNvPr id="44" name="Shape 40"/>
          <p:cNvSpPr/>
          <p:nvPr/>
        </p:nvSpPr>
        <p:spPr>
          <a:xfrm>
            <a:off x="4059936" y="5193792"/>
            <a:ext cx="2907792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133088" y="5303520"/>
            <a:ext cx="10058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315968" y="532180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</a:t>
            </a:r>
            <a:endParaRPr lang="en-US" sz="1180" dirty="0"/>
          </a:p>
        </p:txBody>
      </p:sp>
      <p:sp>
        <p:nvSpPr>
          <p:cNvPr id="47" name="Text 43"/>
          <p:cNvSpPr/>
          <p:nvPr/>
        </p:nvSpPr>
        <p:spPr>
          <a:xfrm>
            <a:off x="4315968" y="55961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decisión apoya?</a:t>
            </a:r>
            <a:endParaRPr lang="en-US" sz="880" dirty="0"/>
          </a:p>
        </p:txBody>
      </p:sp>
      <p:sp>
        <p:nvSpPr>
          <p:cNvPr id="48" name="Shape 44"/>
          <p:cNvSpPr/>
          <p:nvPr/>
        </p:nvSpPr>
        <p:spPr>
          <a:xfrm>
            <a:off x="7315200" y="5193792"/>
            <a:ext cx="2907792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388352" y="5303520"/>
            <a:ext cx="10058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571232" y="532180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Acceso</a:t>
            </a:r>
            <a:endParaRPr lang="en-US" sz="1180" dirty="0"/>
          </a:p>
        </p:txBody>
      </p:sp>
      <p:sp>
        <p:nvSpPr>
          <p:cNvPr id="51" name="Text 47"/>
          <p:cNvSpPr/>
          <p:nvPr/>
        </p:nvSpPr>
        <p:spPr>
          <a:xfrm>
            <a:off x="7571232" y="55961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acceso requiere?</a:t>
            </a:r>
            <a:endParaRPr lang="en-US" sz="88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Ventas Por Categoría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métrica real combina JOIN, cálculo y agrupación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58368" y="1792224"/>
            <a:ext cx="6693408" cy="4498848"/>
          </a:xfrm>
          <a:prstGeom prst="roundRect">
            <a:avLst>
              <a:gd name="adj" fmla="val 81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1901952"/>
            <a:ext cx="643737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975104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compuesta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824" y="2359152"/>
            <a:ext cx="6272784" cy="3749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644384" y="1883664"/>
            <a:ext cx="2834640" cy="393192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0" y="2011680"/>
            <a:ext cx="257860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82128" y="208483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combinadas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7790688" y="2395728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900416" y="2523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900416" y="256946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8412480" y="2523744"/>
            <a:ext cx="73152" cy="4114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13648" y="2542032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</a:t>
            </a:r>
            <a:endParaRPr lang="en-US" sz="1360" dirty="0"/>
          </a:p>
        </p:txBody>
      </p:sp>
      <p:sp>
        <p:nvSpPr>
          <p:cNvPr id="22" name="Text 18"/>
          <p:cNvSpPr/>
          <p:nvPr/>
        </p:nvSpPr>
        <p:spPr>
          <a:xfrm>
            <a:off x="8613648" y="2834640"/>
            <a:ext cx="1591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tablas.</a:t>
            </a:r>
            <a:endParaRPr lang="en-US" sz="1060" dirty="0"/>
          </a:p>
        </p:txBody>
      </p:sp>
      <p:sp>
        <p:nvSpPr>
          <p:cNvPr id="23" name="Shape 19"/>
          <p:cNvSpPr/>
          <p:nvPr/>
        </p:nvSpPr>
        <p:spPr>
          <a:xfrm>
            <a:off x="7790688" y="3227832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900416" y="33558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900416" y="34015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8412480" y="3355848"/>
            <a:ext cx="73152" cy="4114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13648" y="337413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Subtotal</a:t>
            </a:r>
            <a:endParaRPr lang="en-US" sz="1360" dirty="0"/>
          </a:p>
        </p:txBody>
      </p:sp>
      <p:sp>
        <p:nvSpPr>
          <p:cNvPr id="28" name="Text 24"/>
          <p:cNvSpPr/>
          <p:nvPr/>
        </p:nvSpPr>
        <p:spPr>
          <a:xfrm>
            <a:off x="8613648" y="3666744"/>
            <a:ext cx="1591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 × precio calcula línea.</a:t>
            </a:r>
            <a:endParaRPr lang="en-US" sz="1060" dirty="0"/>
          </a:p>
        </p:txBody>
      </p:sp>
      <p:sp>
        <p:nvSpPr>
          <p:cNvPr id="29" name="Shape 25"/>
          <p:cNvSpPr/>
          <p:nvPr/>
        </p:nvSpPr>
        <p:spPr>
          <a:xfrm>
            <a:off x="7790688" y="4059936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900416" y="4187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900416" y="423367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8412480" y="4187952"/>
            <a:ext cx="73152" cy="4114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613648" y="420624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Acumular</a:t>
            </a:r>
            <a:endParaRPr lang="en-US" sz="1360" dirty="0"/>
          </a:p>
        </p:txBody>
      </p:sp>
      <p:sp>
        <p:nvSpPr>
          <p:cNvPr id="34" name="Text 30"/>
          <p:cNvSpPr/>
          <p:nvPr/>
        </p:nvSpPr>
        <p:spPr>
          <a:xfrm>
            <a:off x="8613648" y="4498848"/>
            <a:ext cx="1591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 ventas.</a:t>
            </a:r>
            <a:endParaRPr lang="en-US" sz="1060" dirty="0"/>
          </a:p>
        </p:txBody>
      </p:sp>
      <p:sp>
        <p:nvSpPr>
          <p:cNvPr id="35" name="Shape 31"/>
          <p:cNvSpPr/>
          <p:nvPr/>
        </p:nvSpPr>
        <p:spPr>
          <a:xfrm>
            <a:off x="7790688" y="4892040"/>
            <a:ext cx="2542032" cy="667512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900416" y="502005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900416" y="50657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8412480" y="5020056"/>
            <a:ext cx="73152" cy="4114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613648" y="503834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Agrupar</a:t>
            </a:r>
            <a:endParaRPr lang="en-US" sz="1360" dirty="0"/>
          </a:p>
        </p:txBody>
      </p:sp>
      <p:sp>
        <p:nvSpPr>
          <p:cNvPr id="40" name="Text 36"/>
          <p:cNvSpPr/>
          <p:nvPr/>
        </p:nvSpPr>
        <p:spPr>
          <a:xfrm>
            <a:off x="8613648" y="5330952"/>
            <a:ext cx="1591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 por categoría.</a:t>
            </a:r>
            <a:endParaRPr lang="en-US" sz="106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Cyber: Agregar No Siempre Anonimiza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resumen también puede revelar información sensible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4754880" cy="3072384"/>
          </a:xfrm>
          <a:prstGeom prst="roundRect">
            <a:avLst>
              <a:gd name="adj" fmla="val 119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75104"/>
            <a:ext cx="44988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048256"/>
            <a:ext cx="4279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sensible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432304"/>
            <a:ext cx="4334256" cy="23225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61888" y="1865376"/>
            <a:ext cx="4443984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53328" y="1993392"/>
            <a:ext cx="109728" cy="2816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197510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217920" y="2322576"/>
            <a:ext cx="409651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Revela gasto por persona.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permitir deducciones.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rol u ownership.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limitar columnas y filtros.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4672" y="5413248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87552" y="555040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Menos detalle no significa automáticamente menos riesgo.</a:t>
            </a:r>
            <a:endParaRPr lang="en-US" sz="152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De Los Grupos Pequeños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agregado puede apuntar indirectamente a una persona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83664"/>
            <a:ext cx="4078224" cy="2432304"/>
          </a:xfrm>
          <a:prstGeom prst="roundRect">
            <a:avLst>
              <a:gd name="adj" fmla="val 1504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993392"/>
            <a:ext cx="3858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 por comuna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914400" y="2286000"/>
            <a:ext cx="1929384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377440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comuna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843784" y="2286000"/>
            <a:ext cx="1929384" cy="384048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98648" y="2377440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total_usuarios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914400" y="2670048"/>
            <a:ext cx="19293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" y="2761488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Santiago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843784" y="2670048"/>
            <a:ext cx="19293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98648" y="2761488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184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914400" y="3054096"/>
            <a:ext cx="1929384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" y="3145536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Providencia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2843784" y="3054096"/>
            <a:ext cx="1929384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898648" y="3145536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914400" y="3438144"/>
            <a:ext cx="19293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9264" y="3529584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Comuna pequeña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2843784" y="3438144"/>
            <a:ext cx="19293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98648" y="3529584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914400" y="3822192"/>
            <a:ext cx="1929384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9264" y="3913632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Florida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2843784" y="3822192"/>
            <a:ext cx="1929384" cy="384048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898648" y="3913632"/>
            <a:ext cx="18196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126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5266944" y="1920240"/>
            <a:ext cx="4901184" cy="1243584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358384" y="2048256"/>
            <a:ext cx="109728" cy="9875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22976" y="202996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Inferencia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522976" y="2377440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 grupo tiene una sola persona, el resumen puede dejar de ser realmente anónimo.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266944" y="3493008"/>
            <a:ext cx="4901184" cy="1938528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358384" y="3621024"/>
            <a:ext cx="109728" cy="16824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22976" y="360273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Controles posibles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522976" y="3950208"/>
            <a:ext cx="45537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Agrupar de forma más amplia.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Ocultar grupos mínimos.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permisos del panel.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columnas sensibles.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Para Diseñar Métricas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Pueden traducir preguntas; no validan el negocio por ti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810512"/>
            <a:ext cx="6382512" cy="4242816"/>
          </a:xfrm>
          <a:prstGeom prst="roundRect">
            <a:avLst>
              <a:gd name="adj" fmla="val 86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920240"/>
            <a:ext cx="612648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1993392"/>
            <a:ext cx="5907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 apoyo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77440"/>
            <a:ext cx="5961888" cy="34930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88352" y="1901952"/>
            <a:ext cx="3163824" cy="3840480"/>
          </a:xfrm>
          <a:prstGeom prst="roundRect">
            <a:avLst>
              <a:gd name="adj" fmla="val 11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16368" y="2029968"/>
            <a:ext cx="290779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26096" y="2103120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humana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7534656" y="2414016"/>
            <a:ext cx="2871216" cy="644652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644384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644384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20" name="Shape 16"/>
          <p:cNvSpPr/>
          <p:nvPr/>
        </p:nvSpPr>
        <p:spPr>
          <a:xfrm>
            <a:off x="8156448" y="2542032"/>
            <a:ext cx="73152" cy="3886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357616" y="25603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</a:t>
            </a:r>
            <a:endParaRPr lang="en-US" sz="1360" dirty="0"/>
          </a:p>
        </p:txBody>
      </p:sp>
      <p:sp>
        <p:nvSpPr>
          <p:cNvPr id="22" name="Text 18"/>
          <p:cNvSpPr/>
          <p:nvPr/>
        </p:nvSpPr>
        <p:spPr>
          <a:xfrm>
            <a:off x="8357616" y="2852928"/>
            <a:ext cx="19202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métrica responde lo pedido.</a:t>
            </a:r>
            <a:endParaRPr lang="en-US" sz="1060" dirty="0"/>
          </a:p>
        </p:txBody>
      </p:sp>
      <p:sp>
        <p:nvSpPr>
          <p:cNvPr id="23" name="Shape 19"/>
          <p:cNvSpPr/>
          <p:nvPr/>
        </p:nvSpPr>
        <p:spPr>
          <a:xfrm>
            <a:off x="7534656" y="3223260"/>
            <a:ext cx="2871216" cy="644652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644384" y="335127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44384" y="339699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26" name="Shape 22"/>
          <p:cNvSpPr/>
          <p:nvPr/>
        </p:nvSpPr>
        <p:spPr>
          <a:xfrm>
            <a:off x="8156448" y="3351276"/>
            <a:ext cx="73152" cy="3886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57616" y="33695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</a:t>
            </a:r>
            <a:endParaRPr lang="en-US" sz="1360" dirty="0"/>
          </a:p>
        </p:txBody>
      </p:sp>
      <p:sp>
        <p:nvSpPr>
          <p:cNvPr id="28" name="Text 24"/>
          <p:cNvSpPr/>
          <p:nvPr/>
        </p:nvSpPr>
        <p:spPr>
          <a:xfrm>
            <a:off x="8357616" y="3662172"/>
            <a:ext cx="19202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infla números.</a:t>
            </a:r>
            <a:endParaRPr lang="en-US" sz="1060" dirty="0"/>
          </a:p>
        </p:txBody>
      </p:sp>
      <p:sp>
        <p:nvSpPr>
          <p:cNvPr id="29" name="Shape 25"/>
          <p:cNvSpPr/>
          <p:nvPr/>
        </p:nvSpPr>
        <p:spPr>
          <a:xfrm>
            <a:off x="7534656" y="4032504"/>
            <a:ext cx="2871216" cy="644652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644384" y="4160520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644384" y="420624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32" name="Shape 28"/>
          <p:cNvSpPr/>
          <p:nvPr/>
        </p:nvSpPr>
        <p:spPr>
          <a:xfrm>
            <a:off x="8156448" y="4160520"/>
            <a:ext cx="73152" cy="3886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357616" y="41788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</a:t>
            </a:r>
            <a:endParaRPr lang="en-US" sz="1360" dirty="0"/>
          </a:p>
        </p:txBody>
      </p:sp>
      <p:sp>
        <p:nvSpPr>
          <p:cNvPr id="34" name="Text 30"/>
          <p:cNvSpPr/>
          <p:nvPr/>
        </p:nvSpPr>
        <p:spPr>
          <a:xfrm>
            <a:off x="8357616" y="4471416"/>
            <a:ext cx="19202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variante elegida tiene sentido.</a:t>
            </a:r>
            <a:endParaRPr lang="en-US" sz="1060" dirty="0"/>
          </a:p>
        </p:txBody>
      </p:sp>
      <p:sp>
        <p:nvSpPr>
          <p:cNvPr id="35" name="Shape 31"/>
          <p:cNvSpPr/>
          <p:nvPr/>
        </p:nvSpPr>
        <p:spPr>
          <a:xfrm>
            <a:off x="7534656" y="4841748"/>
            <a:ext cx="2871216" cy="644652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644384" y="496976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644384" y="501548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8156448" y="4969764"/>
            <a:ext cx="73152" cy="3886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357616" y="49880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Acceso</a:t>
            </a:r>
            <a:endParaRPr lang="en-US" sz="1360" dirty="0"/>
          </a:p>
        </p:txBody>
      </p:sp>
      <p:sp>
        <p:nvSpPr>
          <p:cNvPr id="40" name="Text 36"/>
          <p:cNvSpPr/>
          <p:nvPr/>
        </p:nvSpPr>
        <p:spPr>
          <a:xfrm>
            <a:off x="8357616" y="5280660"/>
            <a:ext cx="1920240" cy="5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panel tiene permisos.</a:t>
            </a:r>
            <a:endParaRPr lang="en-US" sz="106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Números Falsos Con Apariencia Profesional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agregación mal diseñada puede verse correcta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3090672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029968"/>
            <a:ext cx="109728" cy="23042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11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Duplicar por JOIN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359152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Unir una tabla de detalle puede multiplicar filas antes de sumar.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33088" y="1901952"/>
            <a:ext cx="3090672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24528" y="2029968"/>
            <a:ext cx="109728" cy="23042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0" y="2011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Contar lo incorrecto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389120" y="2359152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`COUNT(*)` puede contar filas técnicas, no eventos reales.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61504" y="1901952"/>
            <a:ext cx="3090672" cy="25603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52944" y="2029968"/>
            <a:ext cx="109728" cy="23042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17536" y="2011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Filtrar tarde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17536" y="2359152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 `WHERE` y `HAVING` cambia qué entra al cálculo.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04672" y="5285232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542239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datos, una respuesta incorrecta puede ser más peligrosa si se ve convincente.</a:t>
            </a:r>
            <a:endParaRPr lang="en-US" sz="14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Agregación es técnica, lectura y criterio de exposición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9381744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29968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103120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debe quedar instalado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414016"/>
            <a:ext cx="4453128" cy="1066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542032"/>
            <a:ext cx="73152" cy="810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560320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852928"/>
            <a:ext cx="3502152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consulta agregada resume grupos de filas.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414016"/>
            <a:ext cx="4453128" cy="1066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54203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587752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542032"/>
            <a:ext cx="73152" cy="8107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560320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852928"/>
            <a:ext cx="3502152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`COUNT(*)` y `COUNT(columna)` no significan lo mismo.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3645408"/>
            <a:ext cx="4453128" cy="1066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377342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38191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3773424"/>
            <a:ext cx="73152" cy="8107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379171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Unidad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084320"/>
            <a:ext cx="3502152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`GROUP BY` define la unidad del resultado.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3645408"/>
            <a:ext cx="4453128" cy="1066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377342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381914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3773424"/>
            <a:ext cx="73152" cy="810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379171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Filtro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084320"/>
            <a:ext cx="3502152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`WHERE` filtra antes; `HAVING` filtra después.</a:t>
            </a:r>
            <a:endParaRPr lang="en-US" sz="1060" dirty="0"/>
          </a:p>
        </p:txBody>
      </p:sp>
      <p:sp>
        <p:nvSpPr>
          <p:cNvPr id="37" name="Shape 34"/>
          <p:cNvSpPr/>
          <p:nvPr/>
        </p:nvSpPr>
        <p:spPr>
          <a:xfrm>
            <a:off x="950976" y="4876800"/>
            <a:ext cx="4453128" cy="1066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60704" y="500481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60704" y="505053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1572768" y="5004816"/>
            <a:ext cx="73152" cy="8107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773936" y="5023104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</a:t>
            </a:r>
            <a:endParaRPr lang="en-US" sz="1360" dirty="0"/>
          </a:p>
        </p:txBody>
      </p:sp>
      <p:sp>
        <p:nvSpPr>
          <p:cNvPr id="42" name="Text 39"/>
          <p:cNvSpPr/>
          <p:nvPr/>
        </p:nvSpPr>
        <p:spPr>
          <a:xfrm>
            <a:off x="1773936" y="5315712"/>
            <a:ext cx="3502152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+ agregación permite métricas reales.</a:t>
            </a:r>
            <a:endParaRPr lang="en-US" sz="1060" dirty="0"/>
          </a:p>
        </p:txBody>
      </p:sp>
      <p:sp>
        <p:nvSpPr>
          <p:cNvPr id="43" name="Shape 40"/>
          <p:cNvSpPr/>
          <p:nvPr/>
        </p:nvSpPr>
        <p:spPr>
          <a:xfrm>
            <a:off x="5586984" y="4876800"/>
            <a:ext cx="4453128" cy="1066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696712" y="500481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696712" y="505053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6208776" y="5004816"/>
            <a:ext cx="73152" cy="8107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09944" y="5023104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1360" dirty="0"/>
          </a:p>
        </p:txBody>
      </p:sp>
      <p:sp>
        <p:nvSpPr>
          <p:cNvPr id="48" name="Text 45"/>
          <p:cNvSpPr/>
          <p:nvPr/>
        </p:nvSpPr>
        <p:spPr>
          <a:xfrm>
            <a:off x="6409944" y="5315712"/>
            <a:ext cx="3502152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agregado también puede requerir permisos.</a:t>
            </a:r>
            <a:endParaRPr lang="en-US" sz="106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agregaciones y métricas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993392"/>
            <a:ext cx="109728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3017520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762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1645920" y="21396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cambia entre listar compras y calcular compras por estado?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1645920" y="26700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En una lista cada fila es un registro; en una agregación cada fila puede ser un grupo.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41248" y="3236976"/>
            <a:ext cx="109728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261104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34198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1645920" y="338328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`COUNT(*)` y `COUNT(fecha_pago)` pueden entregar números distintos?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1645920" y="39136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`COUNT(columna)` no cuenta valores `NULL`; `COUNT(*)` cuenta filas.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41248" y="4480560"/>
            <a:ext cx="109728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60704" y="5504688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3856" y="4663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1645920" y="462686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 reporte agregado también necesita control de acceso?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1645920" y="51572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Un resumen puede revelar gasto, comportamiento o grupos demasiado pequeños.</a:t>
            </a:r>
            <a:endParaRPr lang="en-US" sz="102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5101" y="1481328"/>
            <a:ext cx="230429" cy="6144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3934" y="1654150"/>
            <a:ext cx="192024" cy="44165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49424"/>
            <a:ext cx="9921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Normalización ligera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consultas listas para backend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04672" y="3968496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reducir contradicciones, conectar endpoints y limitar exposición.</a:t>
            </a:r>
            <a:endParaRPr lang="en-US" sz="1640" dirty="0"/>
          </a:p>
        </p:txBody>
      </p:sp>
      <p:sp>
        <p:nvSpPr>
          <p:cNvPr id="7" name="Shape 5"/>
          <p:cNvSpPr/>
          <p:nvPr/>
        </p:nvSpPr>
        <p:spPr>
          <a:xfrm>
            <a:off x="804672" y="4882896"/>
            <a:ext cx="9345168" cy="658368"/>
          </a:xfrm>
          <a:prstGeom prst="roundRect">
            <a:avLst>
              <a:gd name="adj" fmla="val 694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5084064"/>
            <a:ext cx="8906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intermedio no es escribir más largo: es consultar datos mejor modelados y mejor acotados.</a:t>
            </a:r>
            <a:endParaRPr lang="en-US" sz="162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Normalizar No Es Complicar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reducir contradicciones y dependencias mal ubicadas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710928" cy="932688"/>
          </a:xfrm>
          <a:prstGeom prst="roundRect">
            <a:avLst>
              <a:gd name="adj" fmla="val 490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9308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 dato se repite demasiado, se contradice fácil o no pertenece a esa tabla, el modelo debe revisarse.</a:t>
            </a:r>
            <a:endParaRPr lang="en-US" sz="196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07792" cy="1499616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419856"/>
            <a:ext cx="100584" cy="12801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Duplicación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60704" y="3712464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dato aparece en muchas filas.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050792" y="3310128"/>
            <a:ext cx="2907792" cy="1499616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23944" y="3419856"/>
            <a:ext cx="100584" cy="12801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06824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Inconsistencia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306824" y="3712464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corrección deja versiones distintas.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96912" y="3310128"/>
            <a:ext cx="2907792" cy="1499616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70064" y="3419856"/>
            <a:ext cx="100584" cy="12801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52944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Dependencia débil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552944" y="3712464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depende de texto repetido, no de claves.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" y="5596128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5733288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meta es mantenibilidad: datos más confiables para consultas más confiables.</a:t>
            </a:r>
            <a:endParaRPr lang="en-US" sz="144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Tabla Gigante Parece Cómoda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mezcla usuario, producto, categoría, compra y detalle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49808" y="1847088"/>
            <a:ext cx="6016752" cy="2249424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1956816"/>
            <a:ext cx="5797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compras_planilla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859536" y="2249424"/>
            <a:ext cx="1159459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340864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018995" y="2249424"/>
            <a:ext cx="1159459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73859" y="2340864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usuario_email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3178454" y="2249424"/>
            <a:ext cx="1159459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33318" y="2340864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4337914" y="2249424"/>
            <a:ext cx="1159459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92778" y="2340864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497373" y="2249424"/>
            <a:ext cx="1159459" cy="347472"/>
          </a:xfrm>
          <a:prstGeom prst="rect">
            <a:avLst/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52237" y="2340864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859536" y="2596896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2688336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2018995" y="2596896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073859" y="2688336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camila@mail.cl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3178454" y="2596896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33318" y="2688336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Mouse Pro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4337914" y="2596896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92778" y="2688336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Accesorios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5497373" y="2596896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52237" y="2688336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859536" y="2944368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" y="3035808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2018995" y="2944368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073859" y="3035808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camila@mail.cl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3178454" y="2944368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33318" y="3035808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Teclado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4337914" y="2944368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92778" y="3035808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Accesorio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5497373" y="2944368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52237" y="3035808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859536" y="3291840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4400" y="3383280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2018995" y="3291840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073859" y="3383280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felipe@mail.cl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3178454" y="3291840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33318" y="3383280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Mouse pro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4337914" y="3291840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392778" y="3383280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Accesorios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5497373" y="3291840"/>
            <a:ext cx="115945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552237" y="3383280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859536" y="3639312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14400" y="3730752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2018995" y="3639312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073859" y="3730752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daniela@mail.cl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3178454" y="3639312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233318" y="3730752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4337914" y="3639312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392778" y="3730752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5497373" y="3639312"/>
            <a:ext cx="1159459" cy="347472"/>
          </a:xfrm>
          <a:prstGeom prst="rect">
            <a:avLst/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552237" y="3730752"/>
            <a:ext cx="10497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pagada</a:t>
            </a:r>
            <a:endParaRPr lang="en-US" sz="780" dirty="0"/>
          </a:p>
        </p:txBody>
      </p:sp>
      <p:sp>
        <p:nvSpPr>
          <p:cNvPr id="62" name="Shape 59"/>
          <p:cNvSpPr/>
          <p:nvPr/>
        </p:nvSpPr>
        <p:spPr>
          <a:xfrm>
            <a:off x="7077456" y="1920240"/>
            <a:ext cx="3383280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168896" y="2048256"/>
            <a:ext cx="109728" cy="2944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333488" y="2029968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 de problema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7333488" y="2377440"/>
            <a:ext cx="303580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 repetido.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 escrita distinto.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sin identidad clara.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obligan a tocar muchas filas.</a:t>
            </a:r>
            <a:endParaRPr lang="en-US" sz="1250" dirty="0"/>
          </a:p>
        </p:txBody>
      </p:sp>
      <p:sp>
        <p:nvSpPr>
          <p:cNvPr id="66" name="Shape 63"/>
          <p:cNvSpPr/>
          <p:nvPr/>
        </p:nvSpPr>
        <p:spPr>
          <a:xfrm>
            <a:off x="804672" y="5650992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87552" y="578815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demo rápida puede esconder un modelo difícil de mantener.</a:t>
            </a:r>
            <a:endParaRPr lang="en-US" sz="146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Anomalías Clásicas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errores de sintaxis: son señales de diseño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2999232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2651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Inserción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26517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puedo registrar un producto si todavía no existe una compra.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69664" y="2029968"/>
            <a:ext cx="2999232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61104" y="2157984"/>
            <a:ext cx="109728" cy="2651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25696" y="21396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Actualización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25696" y="2487168"/>
            <a:ext cx="26517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una categoría exige modificar cientos de filas.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534656" y="2029968"/>
            <a:ext cx="2999232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26096" y="2157984"/>
            <a:ext cx="109728" cy="26517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90688" y="21396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Borrado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90688" y="2487168"/>
            <a:ext cx="26517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borrar la única compra de un producto, pierdo el producto.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04672" y="5577840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5715000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una app, las anomalías aparecen como datos que no cuadran entre pantallas.</a:t>
            </a:r>
            <a:endParaRPr lang="en-US" sz="143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Entidades Sin Perder La Vista Completa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ordenado prepara consultas más confiables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3035808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975104"/>
            <a:ext cx="109728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56816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304288"/>
            <a:ext cx="26883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· PK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51376" y="1847088"/>
            <a:ext cx="3035808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42816" y="1975104"/>
            <a:ext cx="109728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07408" y="1956816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compras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07408" y="2304288"/>
            <a:ext cx="26883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· PK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usuario_id · FK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 · estado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98080" y="1847088"/>
            <a:ext cx="3310128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89520" y="1975104"/>
            <a:ext cx="109728" cy="1225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54112" y="1956816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detalle_compras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54112" y="2304288"/>
            <a:ext cx="29626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compra_id · FK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producto_id · FK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 · precio_unitario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011680" y="3675888"/>
            <a:ext cx="3310128" cy="135331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103120" y="3803904"/>
            <a:ext cx="109728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67712" y="3785616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267712" y="4133088"/>
            <a:ext cx="2962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· PK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categoria_id · FK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· precio_actual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797296" y="3675888"/>
            <a:ext cx="3310128" cy="135331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888736" y="3803904"/>
            <a:ext cx="109728" cy="10972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53328" y="3785616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categorias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053328" y="4133088"/>
            <a:ext cx="29626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· PK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04672" y="5742432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879592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ver todo junto usamos JOIN; para resumir usamos agregaciones; para proteger usamos filtros.</a:t>
            </a:r>
            <a:endParaRPr lang="en-US" sz="138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Normalizar De Más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solo cuando hay entidad, repetición importante o regla propia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4498848" cy="117043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75104"/>
            <a:ext cx="100584" cy="9509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93392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usuario_email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060704" y="2267712"/>
            <a:ext cx="4169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repite en compras: separar usuarios y referenciar por `usuario_id`.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5724144" y="1865376"/>
            <a:ext cx="4498848" cy="117043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97296" y="1975104"/>
            <a:ext cx="100584" cy="9509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0176" y="1993392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producto_categoria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5980176" y="2267712"/>
            <a:ext cx="4169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categorías si se usará para filtros, reportes o administración.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804672" y="3474720"/>
            <a:ext cx="4498848" cy="117043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824" y="3584448"/>
            <a:ext cx="100584" cy="9509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3602736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estado_compra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1060704" y="3877056"/>
            <a:ext cx="4169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partir como columna validada si no tiene reglas propias.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5724144" y="3474720"/>
            <a:ext cx="4498848" cy="117043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97296" y="3584448"/>
            <a:ext cx="100584" cy="9509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80176" y="3602736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precio_unitario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5980176" y="3877056"/>
            <a:ext cx="4169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Conviene guardarlo en detalle para conservar precio histórico.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804672" y="5431536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568696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Duplicación peligrosa no es lo mismo que registro histórico necesario.</a:t>
            </a:r>
            <a:endParaRPr lang="en-US" sz="152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`GET /api/mis-compras`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JOIN, agregación, filtro de alcance y orden para interfaz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58368" y="1755648"/>
            <a:ext cx="6858000" cy="4608576"/>
          </a:xfrm>
          <a:prstGeom prst="roundRect">
            <a:avLst>
              <a:gd name="adj" fmla="val 79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1865376"/>
            <a:ext cx="66019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938528"/>
            <a:ext cx="6382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posible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824" y="2322576"/>
            <a:ext cx="6437376" cy="38587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0" y="1920240"/>
            <a:ext cx="2743200" cy="3621024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63840" y="2048256"/>
            <a:ext cx="109728" cy="33649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028432" y="202996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028432" y="2377440"/>
            <a:ext cx="2395728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JOIN cuenta detalle.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limita ownership.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BY resume por compra.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BY sirve a la pantalla.</a:t>
            </a:r>
            <a:endParaRPr lang="en-US" sz="12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Antes Del Backend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consulta correcta también debe ser limitada y verificable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2889504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956816"/>
            <a:ext cx="100584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9751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Intención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1060704" y="22494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la pregunta del endpoint.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050792" y="1847088"/>
            <a:ext cx="2889504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23944" y="1956816"/>
            <a:ext cx="100584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06824" y="19751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Columnas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4306824" y="22494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campos necesarios.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296912" y="1847088"/>
            <a:ext cx="2889504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70064" y="1956816"/>
            <a:ext cx="100584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2944" y="19751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Relaciones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7552944" y="22494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JOINs por claves correctas.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4672" y="3474720"/>
            <a:ext cx="2889504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7824" y="3584448"/>
            <a:ext cx="100584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36027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Filtros</a:t>
            </a:r>
            <a:endParaRPr lang="en-US" sz="1180" dirty="0"/>
          </a:p>
        </p:txBody>
      </p:sp>
      <p:sp>
        <p:nvSpPr>
          <p:cNvPr id="25" name="Text 22"/>
          <p:cNvSpPr/>
          <p:nvPr/>
        </p:nvSpPr>
        <p:spPr>
          <a:xfrm>
            <a:off x="1060704" y="387705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Usuario, rol, estado o alcance.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050792" y="3474720"/>
            <a:ext cx="2889504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23944" y="3584448"/>
            <a:ext cx="100584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06824" y="36027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Parámetros</a:t>
            </a:r>
            <a:endParaRPr lang="en-US" sz="1180" dirty="0"/>
          </a:p>
        </p:txBody>
      </p:sp>
      <p:sp>
        <p:nvSpPr>
          <p:cNvPr id="29" name="Text 26"/>
          <p:cNvSpPr/>
          <p:nvPr/>
        </p:nvSpPr>
        <p:spPr>
          <a:xfrm>
            <a:off x="4306824" y="387705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concatenar valores variables.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296912" y="3474720"/>
            <a:ext cx="2889504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70064" y="3584448"/>
            <a:ext cx="100584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52944" y="36027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</a:t>
            </a:r>
            <a:endParaRPr lang="en-US" sz="1180" dirty="0"/>
          </a:p>
        </p:txBody>
      </p:sp>
      <p:sp>
        <p:nvSpPr>
          <p:cNvPr id="33" name="Text 30"/>
          <p:cNvSpPr/>
          <p:nvPr/>
        </p:nvSpPr>
        <p:spPr>
          <a:xfrm>
            <a:off x="7552944" y="387705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exponer SQL crudo al fallar.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04672" y="5449824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7552" y="5586984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semana 07 vuelve aquí: alcance, parámetros y exposición mínima.</a:t>
            </a:r>
            <a:endParaRPr lang="en-US" sz="148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Cyber: Datos Relacionados, Daño Relacionado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Mientras más rica la consulta, más caro el error de autorización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755648"/>
            <a:ext cx="6400800" cy="4370832"/>
          </a:xfrm>
          <a:prstGeom prst="roundRect">
            <a:avLst>
              <a:gd name="adj" fmla="val 83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865376"/>
            <a:ext cx="61447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1938528"/>
            <a:ext cx="5925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 peligroso si se expone sin filtros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22576"/>
            <a:ext cx="5980176" cy="362102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88352" y="1847088"/>
            <a:ext cx="3273552" cy="3438144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79792" y="1975104"/>
            <a:ext cx="109728" cy="3182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44384" y="19568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revelar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644384" y="2304288"/>
            <a:ext cx="292608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de compras.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 comprados.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Montos y patrones de consumo.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4672" y="6254496"/>
            <a:ext cx="9820656" cy="512064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87552" y="6391656"/>
            <a:ext cx="945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seguridad mira el conjunto completo, no cada tabla por separado.</a:t>
            </a:r>
            <a:endParaRPr lang="en-US" sz="134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Como Revisor De Modelo Y Endpoint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detectar duplicación y exposición; no decide por el equipo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13232" y="1773936"/>
            <a:ext cx="6419088" cy="4425696"/>
          </a:xfrm>
          <a:prstGeom prst="roundRect">
            <a:avLst>
              <a:gd name="adj" fmla="val 8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883664"/>
            <a:ext cx="616305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1956816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de revisión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688" y="2340864"/>
            <a:ext cx="5998464" cy="36758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424928" y="1901952"/>
            <a:ext cx="3127248" cy="3822192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16368" y="2029968"/>
            <a:ext cx="109728" cy="35661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80960" y="2011680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 a mano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680960" y="2359152"/>
            <a:ext cx="277977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endpoint es personal o admin?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usuario está autenticado?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esquema real coincide?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consulta duplica resultados?</a:t>
            </a:r>
            <a:endParaRPr lang="en-US" sz="12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Modelo, consulta y backend deben cerrar juntos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01952"/>
            <a:ext cx="288950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011680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029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1060704" y="230428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entidades reduce contradicciones.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050792" y="1901952"/>
            <a:ext cx="288950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23944" y="2011680"/>
            <a:ext cx="100584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06824" y="2029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4306824" y="230428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toda repetición es mala: el precio histórico puede ser necesario.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296912" y="1901952"/>
            <a:ext cx="288950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70064" y="2011680"/>
            <a:ext cx="100584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2944" y="2029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Endpoint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7552944" y="230428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responde una necesidad de interfaz o API.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4672" y="3602736"/>
            <a:ext cx="288950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7824" y="3712464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3730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</a:t>
            </a:r>
            <a:endParaRPr lang="en-US" sz="1180" dirty="0"/>
          </a:p>
        </p:txBody>
      </p:sp>
      <p:sp>
        <p:nvSpPr>
          <p:cNvPr id="25" name="Text 22"/>
          <p:cNvSpPr/>
          <p:nvPr/>
        </p:nvSpPr>
        <p:spPr>
          <a:xfrm>
            <a:off x="1060704" y="400507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Filtros y parámetros son parte de la consulta lista para backend.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050792" y="3602736"/>
            <a:ext cx="288950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23944" y="3712464"/>
            <a:ext cx="100584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06824" y="3730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Cyber</a:t>
            </a:r>
            <a:endParaRPr lang="en-US" sz="1180" dirty="0"/>
          </a:p>
        </p:txBody>
      </p:sp>
      <p:sp>
        <p:nvSpPr>
          <p:cNvPr id="29" name="Text 26"/>
          <p:cNvSpPr/>
          <p:nvPr/>
        </p:nvSpPr>
        <p:spPr>
          <a:xfrm>
            <a:off x="4306824" y="400507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JOIN rico puede exponer demasiado si falta autorización.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296912" y="3602736"/>
            <a:ext cx="288950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70064" y="3712464"/>
            <a:ext cx="100584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52944" y="3730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</a:t>
            </a:r>
            <a:endParaRPr lang="en-US" sz="1180" dirty="0"/>
          </a:p>
        </p:txBody>
      </p:sp>
      <p:sp>
        <p:nvSpPr>
          <p:cNvPr id="33" name="Text 30"/>
          <p:cNvSpPr/>
          <p:nvPr/>
        </p:nvSpPr>
        <p:spPr>
          <a:xfrm>
            <a:off x="7552944" y="4005072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Sirven para revisar, no para reemplazar validación humana.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22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normalización y backend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41248" y="1993392"/>
            <a:ext cx="109728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3017520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762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1645920" y="21396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problema aparece si nombre y correo de usuario se repiten en cada compra?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1645920" y="26700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correcciones, datos contradictorios y mantenimiento.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41248" y="3236976"/>
            <a:ext cx="109728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0704" y="4261104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34198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1645920" y="338328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puede ser correcto guardar `precio_unitario` en `detalle_compras`?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1645920" y="39136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El precio histórico de una compra no debería cambiar si cambia el precio actual.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41248" y="4480560"/>
            <a:ext cx="109728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60704" y="5504688"/>
            <a:ext cx="901598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3856" y="4663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1645920" y="462686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revisarías antes de exponer una consulta con varias tablas en un endpoint?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1645920" y="515721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Columnas necesarias, filtro por usuario o rol, parámetros y posible duplicación.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intermedio: joins, agregaciones y datos relacionados</dc:title>
  <dc:subject>Clase 22</dc:subject>
  <dc:creator>Diego Obando</dc:creator>
  <cp:lastModifiedBy>Diego Obando</cp:lastModifiedBy>
  <cp:revision>1</cp:revision>
  <dcterms:created xsi:type="dcterms:W3CDTF">2026-04-27T01:28:23Z</dcterms:created>
  <dcterms:modified xsi:type="dcterms:W3CDTF">2026-04-27T01:28:23Z</dcterms:modified>
</cp:coreProperties>
</file>