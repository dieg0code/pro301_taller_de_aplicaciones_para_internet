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841248"/>
            <a:ext cx="109728" cy="5303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18311"/>
            <a:ext cx="246888" cy="56784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9226" y="896112"/>
            <a:ext cx="296266" cy="79004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4869" y="1118311"/>
            <a:ext cx="246888" cy="56784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43584" y="1828800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E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43584" y="2286000"/>
            <a:ext cx="6309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Herramientas del Taller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261872" y="3346704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DE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Git, DevTools y flujo de trabajo moderno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38160" y="786384"/>
            <a:ext cx="3218688" cy="1261872"/>
          </a:xfrm>
          <a:prstGeom prst="roundRect">
            <a:avLst>
              <a:gd name="adj" fmla="val 50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C:\dojo\pro301-taller-de-aplicaciones-para-internet\clases\semana-01\02\ppt\source\assets\logo-ai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987552"/>
            <a:ext cx="2377440" cy="8229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261872" y="4187952"/>
            <a:ext cx="3749040" cy="1316736"/>
          </a:xfrm>
          <a:prstGeom prst="roundRect">
            <a:avLst>
              <a:gd name="adj" fmla="val 4167"/>
            </a:avLst>
          </a:prstGeom>
          <a:solidFill>
            <a:srgbClr val="143F7A"/>
          </a:solidFill>
          <a:ln w="12700">
            <a:solidFill>
              <a:srgbClr val="143F7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517904" y="4498848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Semana 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Martes 17 de marzo de 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10:00 - 13:00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230368" y="4187952"/>
            <a:ext cx="3090672" cy="1316736"/>
          </a:xfrm>
          <a:prstGeom prst="roundRect">
            <a:avLst>
              <a:gd name="adj" fmla="val 41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0" y="4517136"/>
            <a:ext cx="24871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1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entorno del desarrollador web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" y="566928"/>
            <a:ext cx="1609344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" y="6035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de la sesión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694944" y="1298448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Mapa de la clase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993392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DE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clase recorre el entorno de trabajo, la observación técnica, el versionado y el flujo real de desarrollo.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436608" y="475488"/>
            <a:ext cx="2103120" cy="1920240"/>
          </a:xfrm>
          <a:prstGeom prst="ellipse">
            <a:avLst/>
          </a:prstGeom>
          <a:solidFill>
            <a:srgbClr val="1E5665"/>
          </a:solidFill>
          <a:ln w="12700">
            <a:solidFill>
              <a:srgbClr val="1E56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3017520"/>
            <a:ext cx="2651760" cy="1883664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2688" y="3163824"/>
            <a:ext cx="164592" cy="15910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25296" y="3182112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25296" y="3547872"/>
            <a:ext cx="20299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entorno del desarrollador web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02736" y="3017520"/>
            <a:ext cx="2487168" cy="1883664"/>
          </a:xfrm>
          <a:prstGeom prst="roundRect">
            <a:avLst>
              <a:gd name="adj" fmla="val 388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49040" y="3163824"/>
            <a:ext cx="164592" cy="15910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41648" y="3182112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041648" y="3547872"/>
            <a:ext cx="18653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navegador como laboratorio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54496" y="3017520"/>
            <a:ext cx="2487168" cy="1883664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163824"/>
            <a:ext cx="164592" cy="15910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93408" y="3182112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693408" y="3547872"/>
            <a:ext cx="18653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 y GitHub sin humo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906256" y="3017520"/>
            <a:ext cx="2487168" cy="1883664"/>
          </a:xfrm>
          <a:prstGeom prst="roundRect">
            <a:avLst>
              <a:gd name="adj" fmla="val 388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52560" y="3163824"/>
            <a:ext cx="164592" cy="15910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45168" y="3182112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Bloque 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45168" y="3547872"/>
            <a:ext cx="18653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Flujo de trabajo moderno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987552" y="5559552"/>
            <a:ext cx="10058400" cy="566928"/>
          </a:xfrm>
          <a:prstGeom prst="roundRect">
            <a:avLst>
              <a:gd name="adj" fmla="val 6452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25296" y="5724144"/>
            <a:ext cx="9564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Desarrollar web exige coordinar herramientas, procesos y decisiones técnicas.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" y="969264"/>
            <a:ext cx="7516368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77072" y="1316736"/>
            <a:ext cx="2103120" cy="1426464"/>
          </a:xfrm>
          <a:prstGeom prst="roundRect">
            <a:avLst>
              <a:gd name="adj" fmla="val 384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77072" y="2926080"/>
            <a:ext cx="2359152" cy="1883664"/>
          </a:xfrm>
          <a:prstGeom prst="roundRect">
            <a:avLst>
              <a:gd name="adj" fmla="val 291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1508760"/>
            <a:ext cx="274320" cy="63093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53312" y="1261872"/>
            <a:ext cx="329184" cy="8778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37360" y="1508760"/>
            <a:ext cx="274320" cy="63093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39696" y="13167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103120" y="1682496"/>
            <a:ext cx="5486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entorno del desarrollador web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121408" y="2688336"/>
            <a:ext cx="526694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desarrollo web se apoya en un entorno de trabajo compuesto por herramientas distintas que permiten construir, probar, corregir y mantener una aplicación.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938528" y="4315968"/>
            <a:ext cx="5193792" cy="603504"/>
          </a:xfrm>
          <a:prstGeom prst="roundRect">
            <a:avLst>
              <a:gd name="adj" fmla="val 6061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39696" y="4498848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entorno de desarrollo también es parte del trabajo técnico.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77072" y="173736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Entorno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741664" y="20848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Herramientas base</a:t>
            </a:r>
            <a:endParaRPr lang="en-US" sz="1150" dirty="0"/>
          </a:p>
        </p:txBody>
      </p:sp>
      <p:pic>
        <p:nvPicPr>
          <p:cNvPr id="15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6634" y="3218688"/>
            <a:ext cx="1101740" cy="69494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814816" y="3968496"/>
            <a:ext cx="1883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Archivos, navegador, pruebas y versiones forman parte del mismo trabajo.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Desarrollar web no es solo escribir código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Trabajar en la web también implica archivos, navegador, pruebas, errores y decisiones técnicas.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49808" y="1993392"/>
            <a:ext cx="1069848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78992" y="2304288"/>
            <a:ext cx="5897880" cy="1078992"/>
          </a:xfrm>
          <a:prstGeom prst="roundRect">
            <a:avLst>
              <a:gd name="adj" fmla="val 5085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32688" y="2571659"/>
            <a:ext cx="215798" cy="49633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91646" y="2377440"/>
            <a:ext cx="258958" cy="690555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493764" y="2571659"/>
            <a:ext cx="215798" cy="49633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792224" y="23774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desarrollador no trabaja solo con código.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1810512" y="3529584"/>
            <a:ext cx="59436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Trabaja también con archivos, navegador, DevTools, terminal, historial de cambios, errores, pruebas y decisiones técnicas.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8302752" y="2724912"/>
            <a:ext cx="2615184" cy="2267712"/>
          </a:xfrm>
          <a:prstGeom prst="roundRect">
            <a:avLst>
              <a:gd name="adj" fmla="val 241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31936" y="3145536"/>
            <a:ext cx="19751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Editor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Navegador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DevTools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792224" y="5029200"/>
            <a:ext cx="6126480" cy="475488"/>
          </a:xfrm>
          <a:prstGeom prst="roundRect">
            <a:avLst>
              <a:gd name="adj" fmla="val 7692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993392" y="5157216"/>
            <a:ext cx="5724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Código es solo una parte del trabajo técnico.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imagen incompleta y la imagen real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práctica cotidiana exige mucho más que abrir un editor y escribir unas pocas líneas.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41248" y="2103120"/>
            <a:ext cx="4937760" cy="1426464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7552" y="2249424"/>
            <a:ext cx="164592" cy="11338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80160" y="2267712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Imagen reducida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280160" y="2633472"/>
            <a:ext cx="43159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Abrir el editor, escribir código y esperar que todo funcione.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980176" y="2103120"/>
            <a:ext cx="5358384" cy="1426464"/>
          </a:xfrm>
          <a:prstGeom prst="roundRect">
            <a:avLst>
              <a:gd name="adj" fmla="val 512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26480" y="2249424"/>
            <a:ext cx="164592" cy="113385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19088" y="2267712"/>
            <a:ext cx="4773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Imagen real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419088" y="2633472"/>
            <a:ext cx="4736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Editar, probar, inspeccionar, corregir, ejecutar tareas y versionar.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841248" y="3785616"/>
            <a:ext cx="4937760" cy="1298448"/>
          </a:xfrm>
          <a:prstGeom prst="roundRect">
            <a:avLst>
              <a:gd name="adj" fmla="val 563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87552" y="3931920"/>
            <a:ext cx="164592" cy="100584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280160" y="3950208"/>
            <a:ext cx="4352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la mirada simple omite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1280160" y="4315968"/>
            <a:ext cx="4315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Organización del proyecto, prueba, diagnóstico y registro del trabajo.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980176" y="3785616"/>
            <a:ext cx="5358384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126480" y="3931920"/>
            <a:ext cx="164592" cy="100584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19088" y="3950208"/>
            <a:ext cx="4773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la mirada madura incorpora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6419088" y="4315968"/>
            <a:ext cx="47365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Calidad, continuidad, criterio técnico y una forma más profesional de trabajar.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591056" y="5504688"/>
            <a:ext cx="9034272" cy="457200"/>
          </a:xfrm>
          <a:prstGeom prst="roundRect">
            <a:avLst>
              <a:gd name="adj" fmla="val 8000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865376" y="5632704"/>
            <a:ext cx="8485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diferencia no es solo técnica: es una diferencia de oficio.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Herramientas básicas del entorno moderno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Estas piezas no son accesorias: juntas forman el entorno mínimo con el que se trabaja una aplicación web.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22960" y="2121408"/>
            <a:ext cx="3246120" cy="1426464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69264" y="2267712"/>
            <a:ext cx="164592" cy="11338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61872" y="2286000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Editor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261872" y="2651760"/>
            <a:ext cx="2624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Espacio principal para crear y modificar archivos.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2121408"/>
            <a:ext cx="3246120" cy="1426464"/>
          </a:xfrm>
          <a:prstGeom prst="roundRect">
            <a:avLst>
              <a:gd name="adj" fmla="val 512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718304" y="2267712"/>
            <a:ext cx="164592" cy="113385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10912" y="2286000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Archivos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010912" y="2651760"/>
            <a:ext cx="2624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Organizan rutas, nombres, carpetas y estructura del proyecto.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321040" y="2121408"/>
            <a:ext cx="3246120" cy="1426464"/>
          </a:xfrm>
          <a:prstGeom prst="roundRect">
            <a:avLst>
              <a:gd name="adj" fmla="val 5128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467344" y="2267712"/>
            <a:ext cx="164592" cy="11338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59952" y="2286000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Terminal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759952" y="2651760"/>
            <a:ext cx="2624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Ejecuta tareas, instala dependencias y automatiza pasos.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22960" y="3858768"/>
            <a:ext cx="3246120" cy="1426464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69264" y="4005072"/>
            <a:ext cx="164592" cy="113385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261872" y="4023360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Navegador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261872" y="4389120"/>
            <a:ext cx="2624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visualizar, probar y detectar comportamientos.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572000" y="3858768"/>
            <a:ext cx="3246120" cy="1426464"/>
          </a:xfrm>
          <a:prstGeom prst="roundRect">
            <a:avLst>
              <a:gd name="adj" fmla="val 512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718304" y="4005072"/>
            <a:ext cx="164592" cy="11338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10912" y="4023360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DevTools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010912" y="4389120"/>
            <a:ext cx="2624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Inspecciona HTML, CSS, consola, red y errores.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8321040" y="3858768"/>
            <a:ext cx="3246120" cy="1426464"/>
          </a:xfrm>
          <a:prstGeom prst="roundRect">
            <a:avLst>
              <a:gd name="adj" fmla="val 5128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467344" y="4005072"/>
            <a:ext cx="164592" cy="11338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759952" y="4023360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 y GitHub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8759952" y="4389120"/>
            <a:ext cx="2624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Registran cambios, mantienen historial y respaldan trabajo.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1664208" y="5577840"/>
            <a:ext cx="8814816" cy="530352"/>
          </a:xfrm>
          <a:prstGeom prst="roundRect">
            <a:avLst>
              <a:gd name="adj" fmla="val 6897"/>
            </a:avLst>
          </a:prstGeom>
          <a:solidFill>
            <a:srgbClr val="EDE6DA"/>
          </a:solidFill>
          <a:ln w="12700">
            <a:solidFill>
              <a:srgbClr val="3DAA9C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901952" y="5724144"/>
            <a:ext cx="8339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Juntas forman el entorno mínimo desde el cual se construye, observa, corrige y conserva una aplicación.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proyecto también es una estructura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Archivos, carpetas y nombres claros ayudan a entender dónde tocar y qué relación existe entre las piezas.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77824" y="2176272"/>
            <a:ext cx="3749040" cy="3547872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70432" y="2487168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Vista simple del proyecto</a:t>
            </a:r>
            <a:endParaRPr lang="en-US" sz="1850" dirty="0"/>
          </a:p>
        </p:txBody>
      </p:sp>
      <p:sp>
        <p:nvSpPr>
          <p:cNvPr id="12" name="Shape 9"/>
          <p:cNvSpPr/>
          <p:nvPr/>
        </p:nvSpPr>
        <p:spPr>
          <a:xfrm>
            <a:off x="1152144" y="2944368"/>
            <a:ext cx="2542032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61872" y="3054096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554480" y="3081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index.html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152144" y="3566160"/>
            <a:ext cx="2542032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261872" y="3675888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554480" y="370332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styles.css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1152144" y="4187952"/>
            <a:ext cx="2542032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261872" y="4297680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554480" y="432511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main.js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152144" y="4809744"/>
            <a:ext cx="2542032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261872" y="4919472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554480" y="4946904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assets/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1170432" y="5468112"/>
            <a:ext cx="2798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la estructura es legible, el trabajo técnico pierde menos tiempo buscando y más tiempo resolviendo.</a:t>
            </a:r>
            <a:endParaRPr lang="en-US" sz="1180" dirty="0"/>
          </a:p>
        </p:txBody>
      </p:sp>
      <p:sp>
        <p:nvSpPr>
          <p:cNvPr id="25" name="Shape 22"/>
          <p:cNvSpPr/>
          <p:nvPr/>
        </p:nvSpPr>
        <p:spPr>
          <a:xfrm>
            <a:off x="4974336" y="2395728"/>
            <a:ext cx="2487168" cy="104241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120640" y="2542032"/>
            <a:ext cx="164592" cy="7498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413248" y="256032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HTML</a:t>
            </a:r>
            <a:endParaRPr lang="en-US" sz="1550" dirty="0"/>
          </a:p>
        </p:txBody>
      </p:sp>
      <p:sp>
        <p:nvSpPr>
          <p:cNvPr id="28" name="Text 25"/>
          <p:cNvSpPr/>
          <p:nvPr/>
        </p:nvSpPr>
        <p:spPr>
          <a:xfrm>
            <a:off x="5413248" y="2926080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la estructura visible.</a:t>
            </a:r>
            <a:endParaRPr lang="en-US" sz="1120" dirty="0"/>
          </a:p>
        </p:txBody>
      </p:sp>
      <p:sp>
        <p:nvSpPr>
          <p:cNvPr id="29" name="Shape 26"/>
          <p:cNvSpPr/>
          <p:nvPr/>
        </p:nvSpPr>
        <p:spPr>
          <a:xfrm>
            <a:off x="7754112" y="2395728"/>
            <a:ext cx="2487168" cy="1042416"/>
          </a:xfrm>
          <a:prstGeom prst="roundRect">
            <a:avLst>
              <a:gd name="adj" fmla="val 701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900416" y="2542032"/>
            <a:ext cx="164592" cy="7498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193024" y="256032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CSS</a:t>
            </a:r>
            <a:endParaRPr lang="en-US" sz="1550" dirty="0"/>
          </a:p>
        </p:txBody>
      </p:sp>
      <p:sp>
        <p:nvSpPr>
          <p:cNvPr id="32" name="Text 29"/>
          <p:cNvSpPr/>
          <p:nvPr/>
        </p:nvSpPr>
        <p:spPr>
          <a:xfrm>
            <a:off x="8193024" y="2926080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 forma, color y jerarquía.</a:t>
            </a:r>
            <a:endParaRPr lang="en-US" sz="1120" dirty="0"/>
          </a:p>
        </p:txBody>
      </p:sp>
      <p:sp>
        <p:nvSpPr>
          <p:cNvPr id="33" name="Shape 30"/>
          <p:cNvSpPr/>
          <p:nvPr/>
        </p:nvSpPr>
        <p:spPr>
          <a:xfrm>
            <a:off x="4974336" y="3877056"/>
            <a:ext cx="2487168" cy="1042416"/>
          </a:xfrm>
          <a:prstGeom prst="roundRect">
            <a:avLst>
              <a:gd name="adj" fmla="val 7018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120640" y="4023360"/>
            <a:ext cx="164592" cy="7498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413248" y="4041648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JavaScript</a:t>
            </a:r>
            <a:endParaRPr lang="en-US" sz="1550" dirty="0"/>
          </a:p>
        </p:txBody>
      </p:sp>
      <p:sp>
        <p:nvSpPr>
          <p:cNvPr id="36" name="Text 33"/>
          <p:cNvSpPr/>
          <p:nvPr/>
        </p:nvSpPr>
        <p:spPr>
          <a:xfrm>
            <a:off x="5413248" y="440740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comportamiento e interacción.</a:t>
            </a:r>
            <a:endParaRPr lang="en-US" sz="1120" dirty="0"/>
          </a:p>
        </p:txBody>
      </p:sp>
      <p:sp>
        <p:nvSpPr>
          <p:cNvPr id="37" name="Shape 34"/>
          <p:cNvSpPr/>
          <p:nvPr/>
        </p:nvSpPr>
        <p:spPr>
          <a:xfrm>
            <a:off x="7754112" y="3877056"/>
            <a:ext cx="2487168" cy="104241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900416" y="4023360"/>
            <a:ext cx="164592" cy="7498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193024" y="4041648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Assets</a:t>
            </a:r>
            <a:endParaRPr lang="en-US" sz="1550" dirty="0"/>
          </a:p>
        </p:txBody>
      </p:sp>
      <p:sp>
        <p:nvSpPr>
          <p:cNvPr id="40" name="Text 37"/>
          <p:cNvSpPr/>
          <p:nvPr/>
        </p:nvSpPr>
        <p:spPr>
          <a:xfrm>
            <a:off x="8193024" y="440740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Imágenes, íconos y recursos del sitio.</a:t>
            </a:r>
            <a:endParaRPr lang="en-US" sz="11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Cada herramienta resuelve un tipo de problema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entorno combina producción, prueba, observación y memoria del trabajo.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41248" y="2103120"/>
            <a:ext cx="3438144" cy="1426464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7552" y="2249424"/>
            <a:ext cx="164592" cy="11338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80160" y="2267712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Producción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280160" y="2633472"/>
            <a:ext cx="2816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parte donde construimos y ordenamos el proyecto.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389120" y="2103120"/>
            <a:ext cx="3438144" cy="1426464"/>
          </a:xfrm>
          <a:prstGeom prst="roundRect">
            <a:avLst>
              <a:gd name="adj" fmla="val 512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35424" y="2249424"/>
            <a:ext cx="164592" cy="113385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28032" y="2267712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Ejecución y prueba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28032" y="2633472"/>
            <a:ext cx="2816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parte donde levantamos tareas y observamos lo que ocurre.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936992" y="2103120"/>
            <a:ext cx="3438144" cy="1426464"/>
          </a:xfrm>
          <a:prstGeom prst="roundRect">
            <a:avLst>
              <a:gd name="adj" fmla="val 5128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83296" y="2249424"/>
            <a:ext cx="164592" cy="11338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375904" y="2267712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Inspección y memoria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8375904" y="2633472"/>
            <a:ext cx="2816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parte donde diagnosticamos y conservamos el proceso.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41248" y="3803904"/>
            <a:ext cx="3438144" cy="1353312"/>
          </a:xfrm>
          <a:prstGeom prst="roundRect">
            <a:avLst>
              <a:gd name="adj" fmla="val 5405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87552" y="3950208"/>
            <a:ext cx="164592" cy="10607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280160" y="3968496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Editor + archivos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280160" y="4334256"/>
            <a:ext cx="2816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nombran piezas, se ubican carpetas y se mantiene una estructura comprensible.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4389120" y="3803904"/>
            <a:ext cx="3438144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535424" y="3950208"/>
            <a:ext cx="164592" cy="10607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828032" y="3968496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Terminal + navegador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4828032" y="4334256"/>
            <a:ext cx="2816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ejecutan tareas, se revisa el resultado y se comprueba el comportamiento real.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7936992" y="3803904"/>
            <a:ext cx="3438144" cy="1353312"/>
          </a:xfrm>
          <a:prstGeom prst="roundRect">
            <a:avLst>
              <a:gd name="adj" fmla="val 540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083296" y="3950208"/>
            <a:ext cx="164592" cy="10607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75904" y="3968496"/>
            <a:ext cx="2852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DevTools + Git y GitHub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8375904" y="4334256"/>
            <a:ext cx="2816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entiende mejor el sistema y se conserva el historial del trabajo.</a:t>
            </a:r>
            <a:endParaRPr lang="en-US" sz="1250" dirty="0"/>
          </a:p>
        </p:txBody>
      </p:sp>
      <p:sp>
        <p:nvSpPr>
          <p:cNvPr id="34" name="Text 31"/>
          <p:cNvSpPr/>
          <p:nvPr/>
        </p:nvSpPr>
        <p:spPr>
          <a:xfrm>
            <a:off x="987552" y="5650992"/>
            <a:ext cx="10149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herramienta cumple un papel distinto dentro del mismo proceso de trabajo.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herramientas no están aisladas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Editor, navegador, DevTools y Git forman parte de una misma cadena de acciones técnicas.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9536" y="2743200"/>
            <a:ext cx="2084832" cy="1956816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42416" y="2962656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Editor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042416" y="3401568"/>
            <a:ext cx="17190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modifica el archivo.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099816" y="358444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48456" y="2743200"/>
            <a:ext cx="2084832" cy="1956816"/>
          </a:xfrm>
          <a:prstGeom prst="roundRect">
            <a:avLst>
              <a:gd name="adj" fmla="val 280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831336" y="2962656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Navegador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831336" y="3401568"/>
            <a:ext cx="17190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revisa el resultado.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88736" y="358444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37376" y="2743200"/>
            <a:ext cx="2084832" cy="1956816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620256" y="2962656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DevTools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620256" y="3401568"/>
            <a:ext cx="17190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investiga si algo falla.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677656" y="358444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226296" y="2743200"/>
            <a:ext cx="2084832" cy="1956816"/>
          </a:xfrm>
          <a:prstGeom prst="roundRect">
            <a:avLst>
              <a:gd name="adj" fmla="val 280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409176" y="2962656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9409176" y="3401568"/>
            <a:ext cx="17190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registra el cambio correcto.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152144" y="523036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son herramientas sueltas: forman una cadena de acciones técnicas coordinadas.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terminal no reemplaza al editor: lo complementa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Varias tareas del entorno moderno no ocurren dentro del archivo, sino alrededor del proyecto.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32688" y="2231136"/>
            <a:ext cx="3968496" cy="3163824"/>
          </a:xfrm>
          <a:prstGeom prst="roundRect">
            <a:avLst>
              <a:gd name="adj" fmla="val 173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97280" y="2377440"/>
            <a:ext cx="3639312" cy="384048"/>
          </a:xfrm>
          <a:prstGeom prst="roundRect">
            <a:avLst>
              <a:gd name="adj" fmla="val 11905"/>
            </a:avLst>
          </a:prstGeom>
          <a:solidFill>
            <a:srgbClr val="214466"/>
          </a:solidFill>
          <a:ln w="12700">
            <a:solidFill>
              <a:srgbClr val="2144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25296" y="2487168"/>
            <a:ext cx="100584" cy="10058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89888" y="2487168"/>
            <a:ext cx="100584" cy="10058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554480" y="2487168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43584" y="2980944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npm install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243584" y="3419856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npm run dev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243584" y="3858768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status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43584" y="4297680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pull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609344" y="2450592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Comandos frecuentes del entorno</a:t>
            </a:r>
            <a:endParaRPr lang="en-US" sz="1240" dirty="0"/>
          </a:p>
        </p:txBody>
      </p:sp>
      <p:sp>
        <p:nvSpPr>
          <p:cNvPr id="20" name="Shape 17"/>
          <p:cNvSpPr/>
          <p:nvPr/>
        </p:nvSpPr>
        <p:spPr>
          <a:xfrm>
            <a:off x="5504688" y="2395728"/>
            <a:ext cx="228600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50992" y="2542032"/>
            <a:ext cx="164592" cy="731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43600" y="256032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Levantar el proyecto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943600" y="2926080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ejecutar tareas que el navegador no resuelve solo.</a:t>
            </a:r>
            <a:endParaRPr lang="en-US" sz="1080" dirty="0"/>
          </a:p>
        </p:txBody>
      </p:sp>
      <p:sp>
        <p:nvSpPr>
          <p:cNvPr id="24" name="Shape 21"/>
          <p:cNvSpPr/>
          <p:nvPr/>
        </p:nvSpPr>
        <p:spPr>
          <a:xfrm>
            <a:off x="8065008" y="2395728"/>
            <a:ext cx="2286000" cy="1024128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211312" y="2542032"/>
            <a:ext cx="164592" cy="73152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503920" y="256032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Consultar estado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8503920" y="2926080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Ayuda a saber qué cambió y qué queda pendiente.</a:t>
            </a:r>
            <a:endParaRPr lang="en-US" sz="1080" dirty="0"/>
          </a:p>
        </p:txBody>
      </p:sp>
      <p:sp>
        <p:nvSpPr>
          <p:cNvPr id="28" name="Shape 25"/>
          <p:cNvSpPr/>
          <p:nvPr/>
        </p:nvSpPr>
        <p:spPr>
          <a:xfrm>
            <a:off x="5504688" y="3877056"/>
            <a:ext cx="2286000" cy="1024128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650992" y="4023360"/>
            <a:ext cx="164592" cy="73152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943600" y="4041648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Automatizar pasos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5943600" y="4407408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Evita repetir acciones manuales todo el tiempo.</a:t>
            </a:r>
            <a:endParaRPr lang="en-US" sz="1080" dirty="0"/>
          </a:p>
        </p:txBody>
      </p:sp>
      <p:sp>
        <p:nvSpPr>
          <p:cNvPr id="32" name="Shape 29"/>
          <p:cNvSpPr/>
          <p:nvPr/>
        </p:nvSpPr>
        <p:spPr>
          <a:xfrm>
            <a:off x="8065008" y="3877056"/>
            <a:ext cx="228600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211312" y="4023360"/>
            <a:ext cx="164592" cy="731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503920" y="4041648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Trabajar con Git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8503920" y="4407408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Mucho del versionado ocurre desde comandos claros.</a:t>
            </a:r>
            <a:endParaRPr lang="en-US" sz="10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Ejemplo simple: cambiar el título de una página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modificación pequeña basta para ver cómo se conectan editor, navegador, DevTools y Git.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2139696"/>
            <a:ext cx="475488" cy="457200"/>
          </a:xfrm>
          <a:prstGeom prst="roundRect">
            <a:avLst>
              <a:gd name="adj" fmla="val 1000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22037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591056" y="216712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Abrir el proyecto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425696" y="21488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ubica la carpeta y el archivo que debe modificarse.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14400" y="2889504"/>
            <a:ext cx="475488" cy="457200"/>
          </a:xfrm>
          <a:prstGeom prst="roundRect">
            <a:avLst>
              <a:gd name="adj" fmla="val 10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295351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591056" y="291693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Editar y guardar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425696" y="289864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cambio se escribe en el editor y queda registrado en disco.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914400" y="3639312"/>
            <a:ext cx="475488" cy="457200"/>
          </a:xfrm>
          <a:prstGeom prst="roundRect">
            <a:avLst>
              <a:gd name="adj" fmla="val 1000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3703320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591056" y="366674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Revisar en el navegador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4425696" y="364845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valida si el resultado corresponde a lo esperado.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914400" y="4389120"/>
            <a:ext cx="475488" cy="457200"/>
          </a:xfrm>
          <a:prstGeom prst="roundRect">
            <a:avLst>
              <a:gd name="adj" fmla="val 100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4453128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591056" y="441655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Inspeccionar si algo falla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425696" y="439826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DevTools permite observar HTML, CSS, consola o red.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914400" y="5138928"/>
            <a:ext cx="475488" cy="457200"/>
          </a:xfrm>
          <a:prstGeom prst="roundRect">
            <a:avLst>
              <a:gd name="adj" fmla="val 1000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14400" y="5202936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1591056" y="51663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Versionar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4425696" y="514807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el cambio ya es correcto, se registra con Git.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sola acción puede activar varias capas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modificación simple activa producción, observación, diagnóstico, automatización y memoria del proyecto.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41248" y="2084832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7552" y="2231136"/>
            <a:ext cx="164592" cy="117043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80160" y="2249424"/>
            <a:ext cx="2935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Producción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280160" y="2615184"/>
            <a:ext cx="2898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Editor + archivos.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Aquí se crea o modifica el cambio.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407408" y="2084832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53712" y="2231136"/>
            <a:ext cx="164592" cy="117043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46320" y="2249424"/>
            <a:ext cx="2935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Observación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46320" y="2615184"/>
            <a:ext cx="2898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Navegador.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Aquí se comprueba el resultado visible.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973568" y="2084832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19872" y="2231136"/>
            <a:ext cx="164592" cy="117043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412480" y="2249424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Diagnóstico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8412480" y="2615184"/>
            <a:ext cx="2670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DevTools.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Aquí se entiende qué está pasando.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2395728" y="3767328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42032" y="3913632"/>
            <a:ext cx="164592" cy="117043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834640" y="3931920"/>
            <a:ext cx="2935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Automatización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2834640" y="4297680"/>
            <a:ext cx="2898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Terminal.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Aquí se ejecutan tareas y pasos del proyecto.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291072" y="3767328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37376" y="3913632"/>
            <a:ext cx="164592" cy="117043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729984" y="3931920"/>
            <a:ext cx="2935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Memoria del trabajo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6729984" y="4297680"/>
            <a:ext cx="28986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 y GitHub.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Aquí el cambio queda trazable y respaldado.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entorno también expresa criterio técnico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Trabajar bien también implica orden, revisión de errores y registro del proceso realizado.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9536" y="2139696"/>
            <a:ext cx="4133088" cy="530352"/>
          </a:xfrm>
          <a:prstGeom prst="roundRect">
            <a:avLst>
              <a:gd name="adj" fmla="val 689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78992" y="2286000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Trabajar con criterio implica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96112" y="2871216"/>
            <a:ext cx="405993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05840" y="2980944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98448" y="3008376"/>
            <a:ext cx="3529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Mantener archivos ordenados.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96112" y="3438144"/>
            <a:ext cx="4059936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05840" y="3547872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98448" y="3575304"/>
            <a:ext cx="3529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Saber dónde está cada parte del proyecto.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896112" y="4005072"/>
            <a:ext cx="405993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05840" y="4114800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298448" y="4142232"/>
            <a:ext cx="3529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Probar cambios de manera sistemática.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96112" y="4572000"/>
            <a:ext cx="4059936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05840" y="4681728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298448" y="4709160"/>
            <a:ext cx="3529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Diagnosticar en vez de adivinar.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896112" y="5138928"/>
            <a:ext cx="405993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05840" y="5248656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298448" y="5276088"/>
            <a:ext cx="3529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Conservar historial y respaldo.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5504688" y="2249424"/>
            <a:ext cx="2743200" cy="1243584"/>
          </a:xfrm>
          <a:prstGeom prst="roundRect">
            <a:avLst>
              <a:gd name="adj" fmla="val 588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650992" y="2395728"/>
            <a:ext cx="164592" cy="95097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43600" y="2414016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Más legible</a:t>
            </a:r>
            <a:endParaRPr lang="en-US" sz="1700" dirty="0"/>
          </a:p>
        </p:txBody>
      </p:sp>
      <p:sp>
        <p:nvSpPr>
          <p:cNvPr id="30" name="Text 27"/>
          <p:cNvSpPr/>
          <p:nvPr/>
        </p:nvSpPr>
        <p:spPr>
          <a:xfrm>
            <a:off x="5943600" y="2779776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trabajo se entiende mejor y cuesta menos retomarlo.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8503920" y="2249424"/>
            <a:ext cx="2743200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650224" y="2395728"/>
            <a:ext cx="164592" cy="95097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942832" y="2414016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Más replicable</a:t>
            </a:r>
            <a:endParaRPr lang="en-US" sz="1700" dirty="0"/>
          </a:p>
        </p:txBody>
      </p:sp>
      <p:sp>
        <p:nvSpPr>
          <p:cNvPr id="34" name="Text 31"/>
          <p:cNvSpPr/>
          <p:nvPr/>
        </p:nvSpPr>
        <p:spPr>
          <a:xfrm>
            <a:off x="8942832" y="2779776"/>
            <a:ext cx="2121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pasos pueden seguirse con más orden y menos improvisación.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5504688" y="3749040"/>
            <a:ext cx="5742432" cy="1481328"/>
          </a:xfrm>
          <a:prstGeom prst="roundRect">
            <a:avLst>
              <a:gd name="adj" fmla="val 493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650992" y="3895344"/>
            <a:ext cx="164592" cy="118872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943600" y="3913632"/>
            <a:ext cx="5157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Más sostenible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5943600" y="4279392"/>
            <a:ext cx="51206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Eso importa para estudiar, trabajar en equipo y mantener una aplicación con el tiempo sin depender de la memoria improvisada.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pasa cuando el entorno está desordenado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Varios problemas de desarrollo no nacen del lenguaje, sino de un trabajo sin estructura.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41248" y="2212848"/>
            <a:ext cx="5084064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7552" y="2359152"/>
            <a:ext cx="164592" cy="10607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80160" y="2377440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Archivos mal nombrados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280160" y="2743200"/>
            <a:ext cx="4462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Cuesta encontrar qué modificar y aparecen cambios en lugares incorrectos.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63056" y="2212848"/>
            <a:ext cx="5084064" cy="1353312"/>
          </a:xfrm>
          <a:prstGeom prst="roundRect">
            <a:avLst>
              <a:gd name="adj" fmla="val 540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09360" y="2359152"/>
            <a:ext cx="164592" cy="10607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601968" y="2377440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probar en navegador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601968" y="2743200"/>
            <a:ext cx="4462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cree que algo funciona sin comprobar el comportamiento real.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41248" y="3913632"/>
            <a:ext cx="5084064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87552" y="4059936"/>
            <a:ext cx="164592" cy="10607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280160" y="407822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mirar DevTools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280160" y="4443984"/>
            <a:ext cx="4462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errores se adivinan en vez de diagnosticarse.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163056" y="3913632"/>
            <a:ext cx="5084064" cy="1353312"/>
          </a:xfrm>
          <a:prstGeom prst="roundRect">
            <a:avLst>
              <a:gd name="adj" fmla="val 540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4059936"/>
            <a:ext cx="164592" cy="10607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01968" y="407822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versionar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601968" y="4443984"/>
            <a:ext cx="4462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pierde historia, contexto y posibilidad de volver atrás.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Hábitos mínimos para un entorno sano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Antes de aprender herramientas avanzadas, conviene instalar algunas costumbres simples y sostenibles.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2267712"/>
            <a:ext cx="4078224" cy="3310128"/>
          </a:xfrm>
          <a:prstGeom prst="roundRect">
            <a:avLst>
              <a:gd name="adj" fmla="val 221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70432" y="2560320"/>
            <a:ext cx="21214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Haz esto al empezar</a:t>
            </a:r>
            <a:endParaRPr lang="en-US" sz="1840" dirty="0"/>
          </a:p>
        </p:txBody>
      </p:sp>
      <p:sp>
        <p:nvSpPr>
          <p:cNvPr id="12" name="Shape 9"/>
          <p:cNvSpPr/>
          <p:nvPr/>
        </p:nvSpPr>
        <p:spPr>
          <a:xfrm>
            <a:off x="1133856" y="2962656"/>
            <a:ext cx="351129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43584" y="3072384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536192" y="3099816"/>
            <a:ext cx="2980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Nombrar bien archivos y carpetas.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133856" y="3456432"/>
            <a:ext cx="3511296" cy="512064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243584" y="3566160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536192" y="3593592"/>
            <a:ext cx="2980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Probar cambios pequeños y frecuentes.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1133856" y="3950208"/>
            <a:ext cx="351129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243584" y="4059936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536192" y="4087368"/>
            <a:ext cx="2980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Usar el navegador para validar.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133856" y="4443984"/>
            <a:ext cx="3511296" cy="512064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243584" y="4553712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536192" y="4581144"/>
            <a:ext cx="2980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Abrir DevTools cuando algo no calza.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1133856" y="4937760"/>
            <a:ext cx="351129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243584" y="5047488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536192" y="5074920"/>
            <a:ext cx="2980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avances con intención.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5504688" y="2432304"/>
            <a:ext cx="2743200" cy="950976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650992" y="2578608"/>
            <a:ext cx="164592" cy="6583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43600" y="2596896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Más claridad</a:t>
            </a:r>
            <a:endParaRPr lang="en-US" sz="1530" dirty="0"/>
          </a:p>
        </p:txBody>
      </p:sp>
      <p:sp>
        <p:nvSpPr>
          <p:cNvPr id="30" name="Text 27"/>
          <p:cNvSpPr/>
          <p:nvPr/>
        </p:nvSpPr>
        <p:spPr>
          <a:xfrm>
            <a:off x="5943600" y="2962656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entiende mejor qué hace cada pieza del proyecto.</a:t>
            </a:r>
            <a:endParaRPr lang="en-US" sz="1120" dirty="0"/>
          </a:p>
        </p:txBody>
      </p:sp>
      <p:sp>
        <p:nvSpPr>
          <p:cNvPr id="31" name="Shape 28"/>
          <p:cNvSpPr/>
          <p:nvPr/>
        </p:nvSpPr>
        <p:spPr>
          <a:xfrm>
            <a:off x="8156448" y="3145536"/>
            <a:ext cx="2743200" cy="950976"/>
          </a:xfrm>
          <a:prstGeom prst="roundRect">
            <a:avLst>
              <a:gd name="adj" fmla="val 7692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302752" y="3291840"/>
            <a:ext cx="164592" cy="6583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595360" y="3310128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Menos adivinación</a:t>
            </a:r>
            <a:endParaRPr lang="en-US" sz="1530" dirty="0"/>
          </a:p>
        </p:txBody>
      </p:sp>
      <p:sp>
        <p:nvSpPr>
          <p:cNvPr id="34" name="Text 31"/>
          <p:cNvSpPr/>
          <p:nvPr/>
        </p:nvSpPr>
        <p:spPr>
          <a:xfrm>
            <a:off x="8595360" y="3675888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errores se observan antes de corregirse.</a:t>
            </a:r>
            <a:endParaRPr lang="en-US" sz="1120" dirty="0"/>
          </a:p>
        </p:txBody>
      </p:sp>
      <p:sp>
        <p:nvSpPr>
          <p:cNvPr id="35" name="Shape 32"/>
          <p:cNvSpPr/>
          <p:nvPr/>
        </p:nvSpPr>
        <p:spPr>
          <a:xfrm>
            <a:off x="6327648" y="4480560"/>
            <a:ext cx="2743200" cy="950976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473952" y="4626864"/>
            <a:ext cx="164592" cy="6583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766560" y="464515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Más trazabilidad</a:t>
            </a:r>
            <a:endParaRPr lang="en-US" sz="1530" dirty="0"/>
          </a:p>
        </p:txBody>
      </p:sp>
      <p:sp>
        <p:nvSpPr>
          <p:cNvPr id="38" name="Text 35"/>
          <p:cNvSpPr/>
          <p:nvPr/>
        </p:nvSpPr>
        <p:spPr>
          <a:xfrm>
            <a:off x="6766560" y="5010912"/>
            <a:ext cx="2121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trabajo puede revisarse y retomarse con menos fricción.</a:t>
            </a:r>
            <a:endParaRPr lang="en-US" sz="11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 para pensar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Estas preguntas recogen las ideas principales del bloque y preparan la conversación.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41248" y="2139696"/>
            <a:ext cx="5029200" cy="1335024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7552" y="2286000"/>
            <a:ext cx="164592" cy="104241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80160" y="2304288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Más que código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280160" y="2670048"/>
            <a:ext cx="44074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desarrollar web no se reduce a escribir código en un editor?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126480" y="2139696"/>
            <a:ext cx="5029200" cy="1335024"/>
          </a:xfrm>
          <a:prstGeom prst="roundRect">
            <a:avLst>
              <a:gd name="adj" fmla="val 5479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272784" y="2286000"/>
            <a:ext cx="164592" cy="104241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65392" y="2304288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Roles distintos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565392" y="2670048"/>
            <a:ext cx="44074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diferencia existe entre editor, navegador y terminal dentro del flujo de trabajo?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41248" y="3803904"/>
            <a:ext cx="5029200" cy="1335024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87552" y="3950208"/>
            <a:ext cx="164592" cy="104241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280160" y="3968496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Herramientas como sistema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280160" y="4334256"/>
            <a:ext cx="44074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conviene pensar las herramientas como un sistema y no como piezas aisladas?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126480" y="3803904"/>
            <a:ext cx="5029200" cy="1335024"/>
          </a:xfrm>
          <a:prstGeom prst="roundRect">
            <a:avLst>
              <a:gd name="adj" fmla="val 5479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272784" y="3950208"/>
            <a:ext cx="164592" cy="104241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65392" y="3968496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Primer lugar de observación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565392" y="4334256"/>
            <a:ext cx="44074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algo falla, ¿qué herramienta mirarías primero para entender mejor el problema?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entorno de desarrollo forma parte del trabajo técnico y del criterio profesional.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41248" y="2139696"/>
            <a:ext cx="4754880" cy="131673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7552" y="2286000"/>
            <a:ext cx="164592" cy="10241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80160" y="2304288"/>
            <a:ext cx="4169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 clave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280160" y="2670048"/>
            <a:ext cx="41330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desarrollo web moderno se apoya en un entorno de herramientas distintas y complementarias.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833872" y="2139696"/>
            <a:ext cx="5431536" cy="1316736"/>
          </a:xfrm>
          <a:prstGeom prst="roundRect">
            <a:avLst>
              <a:gd name="adj" fmla="val 5556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980176" y="2286000"/>
            <a:ext cx="164592" cy="10241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72784" y="230428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cambia en la mirada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272784" y="2670048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Dejamos de ver el trabajo web como solo código y empezamos a verlo como proceso técnico.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41248" y="3730752"/>
            <a:ext cx="4754880" cy="1316736"/>
          </a:xfrm>
          <a:prstGeom prst="roundRect">
            <a:avLst>
              <a:gd name="adj" fmla="val 5556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87552" y="3877056"/>
            <a:ext cx="164592" cy="10241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280160" y="3895344"/>
            <a:ext cx="4169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Siguiente foco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1280160" y="4261104"/>
            <a:ext cx="41330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navegador será la primera herramienta que veremos con más detalle para observar una página.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833872" y="3730752"/>
            <a:ext cx="5431536" cy="131673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80176" y="3877056"/>
            <a:ext cx="164592" cy="10241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272784" y="389534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de salida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6272784" y="4261104"/>
            <a:ext cx="48097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herramienta del entorno te parece hoy más decisiva para trabajar con más orden y claridad?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133856" y="5577840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Desde aquí podemos pasar al navegador como espacio de observación, prueba e inspección.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" y="914400"/>
            <a:ext cx="3054096" cy="4992624"/>
          </a:xfrm>
          <a:prstGeom prst="roundRect">
            <a:avLst>
              <a:gd name="adj" fmla="val 239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7552" y="1435974"/>
            <a:ext cx="234086" cy="538399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68456" y="1225296"/>
            <a:ext cx="280904" cy="74907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96177" y="1435974"/>
            <a:ext cx="234086" cy="538399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82496" y="1792224"/>
            <a:ext cx="146304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92224" y="1828800"/>
            <a:ext cx="1243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2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87552" y="2340864"/>
            <a:ext cx="235915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navegador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como laboratorio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87552" y="4096512"/>
            <a:ext cx="23408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E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Visualizar, inspeccionar y reunir evidencias también es parte del trabajo web.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096512" y="1097280"/>
            <a:ext cx="7242048" cy="4352544"/>
          </a:xfrm>
          <a:prstGeom prst="roundRect">
            <a:avLst>
              <a:gd name="adj" fmla="val 168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07408" y="1371600"/>
            <a:ext cx="6620256" cy="457200"/>
          </a:xfrm>
          <a:prstGeom prst="roundRect">
            <a:avLst>
              <a:gd name="adj" fmla="val 10000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45152" y="1517904"/>
            <a:ext cx="109728" cy="10972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28032" y="1517904"/>
            <a:ext cx="109728" cy="109728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10912" y="1517904"/>
            <a:ext cx="109728" cy="109728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1728" y="2157984"/>
            <a:ext cx="49926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página puede verse, inspeccionarse y explicarse.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700016" y="2926080"/>
            <a:ext cx="5413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navegador deja observar estructura, comportamiento y problemas antes de tocar el código.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681728" y="4023360"/>
            <a:ext cx="1645920" cy="347472"/>
          </a:xfrm>
          <a:prstGeom prst="roundRect">
            <a:avLst>
              <a:gd name="adj" fmla="val 2105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9744" y="4105656"/>
            <a:ext cx="1389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HTML y CSS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28816" y="4023360"/>
            <a:ext cx="1298448" cy="347472"/>
          </a:xfrm>
          <a:prstGeom prst="roundRect">
            <a:avLst>
              <a:gd name="adj" fmla="val 2105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56832" y="4105656"/>
            <a:ext cx="1042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Consola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28432" y="4023360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56448" y="4105656"/>
            <a:ext cx="7498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681728" y="4608576"/>
            <a:ext cx="5376672" cy="438912"/>
          </a:xfrm>
          <a:prstGeom prst="roundRect">
            <a:avLst>
              <a:gd name="adj" fmla="val 833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82896" y="4736592"/>
            <a:ext cx="4974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 y leer técnicamente no son la misma operación.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navegador también permite analizar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solo muestra una interfaz: también deja observar estructura, estilos, solicitudes y errores.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41248" y="2103120"/>
            <a:ext cx="3529584" cy="3621024"/>
          </a:xfrm>
          <a:prstGeom prst="roundRect">
            <a:avLst>
              <a:gd name="adj" fmla="val 207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15568" y="237744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E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visible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15568" y="2706624"/>
            <a:ext cx="2798064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página puede verse bien y aun así esconder problemas técnicos.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1133856" y="4828032"/>
            <a:ext cx="950976" cy="347472"/>
          </a:xfrm>
          <a:prstGeom prst="roundRect">
            <a:avLst>
              <a:gd name="adj" fmla="val 2105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61872" y="4910328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ve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2231136" y="4828032"/>
            <a:ext cx="859536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359152" y="4910328"/>
            <a:ext cx="603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Cambia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236976" y="4828032"/>
            <a:ext cx="877824" cy="347472"/>
          </a:xfrm>
          <a:prstGeom prst="roundRect">
            <a:avLst>
              <a:gd name="adj" fmla="val 2105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364992" y="4910328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Falla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681728" y="2103120"/>
            <a:ext cx="65836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10912" y="2432304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Analizar significa reunir evidencia para explicar lo que ocurre en pantalla.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4681728" y="3639312"/>
            <a:ext cx="1993392" cy="1591056"/>
          </a:xfrm>
          <a:prstGeom prst="roundRect">
            <a:avLst>
              <a:gd name="adj" fmla="val 4598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828032" y="3785616"/>
            <a:ext cx="164592" cy="12984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120640" y="3803904"/>
            <a:ext cx="1408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Estructura</a:t>
            </a:r>
            <a:endParaRPr lang="en-US" sz="1550" dirty="0"/>
          </a:p>
        </p:txBody>
      </p:sp>
      <p:sp>
        <p:nvSpPr>
          <p:cNvPr id="24" name="Text 21"/>
          <p:cNvSpPr/>
          <p:nvPr/>
        </p:nvSpPr>
        <p:spPr>
          <a:xfrm>
            <a:off x="5120640" y="4169664"/>
            <a:ext cx="1371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HTML sostiene el fragmento visible.</a:t>
            </a:r>
            <a:endParaRPr lang="en-US" sz="1180" dirty="0"/>
          </a:p>
        </p:txBody>
      </p:sp>
      <p:sp>
        <p:nvSpPr>
          <p:cNvPr id="25" name="Shape 22"/>
          <p:cNvSpPr/>
          <p:nvPr/>
        </p:nvSpPr>
        <p:spPr>
          <a:xfrm>
            <a:off x="6967728" y="3511296"/>
            <a:ext cx="1993392" cy="1591056"/>
          </a:xfrm>
          <a:prstGeom prst="roundRect">
            <a:avLst>
              <a:gd name="adj" fmla="val 459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114032" y="3657600"/>
            <a:ext cx="164592" cy="12984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406640" y="3675888"/>
            <a:ext cx="1408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Estilos</a:t>
            </a:r>
            <a:endParaRPr lang="en-US" sz="1550" dirty="0"/>
          </a:p>
        </p:txBody>
      </p:sp>
      <p:sp>
        <p:nvSpPr>
          <p:cNvPr id="28" name="Text 25"/>
          <p:cNvSpPr/>
          <p:nvPr/>
        </p:nvSpPr>
        <p:spPr>
          <a:xfrm>
            <a:off x="7406640" y="4041648"/>
            <a:ext cx="1371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reglas y clases afectan al elemento.</a:t>
            </a:r>
            <a:endParaRPr lang="en-US" sz="1180" dirty="0"/>
          </a:p>
        </p:txBody>
      </p:sp>
      <p:sp>
        <p:nvSpPr>
          <p:cNvPr id="29" name="Shape 26"/>
          <p:cNvSpPr/>
          <p:nvPr/>
        </p:nvSpPr>
        <p:spPr>
          <a:xfrm>
            <a:off x="9253728" y="3822192"/>
            <a:ext cx="1993392" cy="1591056"/>
          </a:xfrm>
          <a:prstGeom prst="roundRect">
            <a:avLst>
              <a:gd name="adj" fmla="val 459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400032" y="3968496"/>
            <a:ext cx="164592" cy="12984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692640" y="3986784"/>
            <a:ext cx="1408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Carga</a:t>
            </a:r>
            <a:endParaRPr lang="en-US" sz="1550" dirty="0"/>
          </a:p>
        </p:txBody>
      </p:sp>
      <p:sp>
        <p:nvSpPr>
          <p:cNvPr id="32" name="Text 29"/>
          <p:cNvSpPr/>
          <p:nvPr/>
        </p:nvSpPr>
        <p:spPr>
          <a:xfrm>
            <a:off x="9692640" y="4352544"/>
            <a:ext cx="1371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archivo, error o solicitud intervino.</a:t>
            </a:r>
            <a:endParaRPr lang="en-US" sz="1180" dirty="0"/>
          </a:p>
        </p:txBody>
      </p:sp>
      <p:sp>
        <p:nvSpPr>
          <p:cNvPr id="33" name="Text 30"/>
          <p:cNvSpPr/>
          <p:nvPr/>
        </p:nvSpPr>
        <p:spPr>
          <a:xfrm>
            <a:off x="4882896" y="5650992"/>
            <a:ext cx="59984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Observar precede a corregir.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Mirar una página no es lo mismo que leerla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experiencia visible y la explicación técnica son dos planos distintos del mismo sitio.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9536" y="2139696"/>
            <a:ext cx="4791456" cy="3584448"/>
          </a:xfrm>
          <a:prstGeom prst="roundRect">
            <a:avLst>
              <a:gd name="adj" fmla="val 2041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742432" y="2139696"/>
            <a:ext cx="5504688" cy="3584448"/>
          </a:xfrm>
          <a:prstGeom prst="roundRect">
            <a:avLst>
              <a:gd name="adj" fmla="val 204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52144" y="243230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Mirada del usuario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52144" y="2852928"/>
            <a:ext cx="3529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pregunta si la página carga, se entiende y permite completar una tarea.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1170432" y="3840480"/>
            <a:ext cx="932688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98448" y="3922776"/>
            <a:ext cx="676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Carga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2267712" y="3840480"/>
            <a:ext cx="1115568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395728" y="3922776"/>
            <a:ext cx="859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Entiende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547872" y="3840480"/>
            <a:ext cx="987552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675888" y="392277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1152144" y="4498848"/>
            <a:ext cx="3584448" cy="768096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389888" y="47365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visible importa, pero no alcanza para explicar por qué pasa algo.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053328" y="2432304"/>
            <a:ext cx="3602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Mirada del desarrollador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6053328" y="2852928"/>
            <a:ext cx="4041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Busca estructura, estilos, errores, recursos cargados y causas técnicas del comportamiento.</a:t>
            </a:r>
            <a:endParaRPr lang="en-US" sz="1450" dirty="0"/>
          </a:p>
        </p:txBody>
      </p:sp>
      <p:sp>
        <p:nvSpPr>
          <p:cNvPr id="24" name="Shape 21"/>
          <p:cNvSpPr/>
          <p:nvPr/>
        </p:nvSpPr>
        <p:spPr>
          <a:xfrm>
            <a:off x="6053328" y="3840480"/>
            <a:ext cx="488289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163056" y="3950208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55664" y="3977640"/>
            <a:ext cx="43525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Relaciona lo visible con HTML, CSS, consola y red.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053328" y="4480560"/>
            <a:ext cx="488289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163056" y="4590288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455664" y="4617720"/>
            <a:ext cx="43525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Necesita evidencias antes de corregir.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5138928" y="3547872"/>
            <a:ext cx="384048" cy="658368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permite hacer DevTools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DevTools vuelve visible parte del trabajo interno de la página y ayuda a conectar el código con la interfaz.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22960" y="2139696"/>
            <a:ext cx="3246120" cy="1408176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69264" y="2286000"/>
            <a:ext cx="164592" cy="11155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61872" y="2304288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Estructura HTML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261872" y="2670048"/>
            <a:ext cx="26243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ver etiquetas, jerarquía y contenido real de la página.</a:t>
            </a:r>
            <a:endParaRPr lang="en-US" sz="1140" dirty="0"/>
          </a:p>
        </p:txBody>
      </p:sp>
      <p:sp>
        <p:nvSpPr>
          <p:cNvPr id="14" name="Shape 11"/>
          <p:cNvSpPr/>
          <p:nvPr/>
        </p:nvSpPr>
        <p:spPr>
          <a:xfrm>
            <a:off x="4572000" y="2139696"/>
            <a:ext cx="3246120" cy="1408176"/>
          </a:xfrm>
          <a:prstGeom prst="roundRect">
            <a:avLst>
              <a:gd name="adj" fmla="val 519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718304" y="2286000"/>
            <a:ext cx="164592" cy="11155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10912" y="2304288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Estilos CSS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010912" y="2670048"/>
            <a:ext cx="26243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revisar reglas, colores, tamaños, espacios y posición.</a:t>
            </a:r>
            <a:endParaRPr lang="en-US" sz="1140" dirty="0"/>
          </a:p>
        </p:txBody>
      </p:sp>
      <p:sp>
        <p:nvSpPr>
          <p:cNvPr id="18" name="Shape 15"/>
          <p:cNvSpPr/>
          <p:nvPr/>
        </p:nvSpPr>
        <p:spPr>
          <a:xfrm>
            <a:off x="8321040" y="2139696"/>
            <a:ext cx="3246120" cy="1408176"/>
          </a:xfrm>
          <a:prstGeom prst="roundRect">
            <a:avLst>
              <a:gd name="adj" fmla="val 5195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467344" y="2286000"/>
            <a:ext cx="164592" cy="11155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59952" y="2304288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Clases y atributos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759952" y="2670048"/>
            <a:ext cx="26243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reconocer identificadores y relaciones entre elementos.</a:t>
            </a:r>
            <a:endParaRPr lang="en-US" sz="1140" dirty="0"/>
          </a:p>
        </p:txBody>
      </p:sp>
      <p:sp>
        <p:nvSpPr>
          <p:cNvPr id="22" name="Shape 19"/>
          <p:cNvSpPr/>
          <p:nvPr/>
        </p:nvSpPr>
        <p:spPr>
          <a:xfrm>
            <a:off x="822960" y="3858768"/>
            <a:ext cx="3246120" cy="1408176"/>
          </a:xfrm>
          <a:prstGeom prst="roundRect">
            <a:avLst>
              <a:gd name="adj" fmla="val 519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69264" y="4005072"/>
            <a:ext cx="164592" cy="11155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261872" y="4023360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Cambios temporales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261872" y="4389120"/>
            <a:ext cx="26243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probar ajustes sin tocar todavía el archivo original.</a:t>
            </a:r>
            <a:endParaRPr lang="en-US" sz="1140" dirty="0"/>
          </a:p>
        </p:txBody>
      </p:sp>
      <p:sp>
        <p:nvSpPr>
          <p:cNvPr id="26" name="Shape 23"/>
          <p:cNvSpPr/>
          <p:nvPr/>
        </p:nvSpPr>
        <p:spPr>
          <a:xfrm>
            <a:off x="4572000" y="3858768"/>
            <a:ext cx="3246120" cy="1408176"/>
          </a:xfrm>
          <a:prstGeom prst="roundRect">
            <a:avLst>
              <a:gd name="adj" fmla="val 5195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718304" y="4005072"/>
            <a:ext cx="164592" cy="11155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10912" y="4023360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Reglas activas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010912" y="4389120"/>
            <a:ext cx="26243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detectar si una propiedad se aplica, se hereda o queda sobrescrita.</a:t>
            </a:r>
            <a:endParaRPr lang="en-US" sz="1140" dirty="0"/>
          </a:p>
        </p:txBody>
      </p:sp>
      <p:sp>
        <p:nvSpPr>
          <p:cNvPr id="30" name="Shape 27"/>
          <p:cNvSpPr/>
          <p:nvPr/>
        </p:nvSpPr>
        <p:spPr>
          <a:xfrm>
            <a:off x="8321040" y="3858768"/>
            <a:ext cx="3246120" cy="1408176"/>
          </a:xfrm>
          <a:prstGeom prst="roundRect">
            <a:avLst>
              <a:gd name="adj" fmla="val 5195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467344" y="4005072"/>
            <a:ext cx="164592" cy="11155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759952" y="4023360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 visible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8759952" y="4389120"/>
            <a:ext cx="26243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conectar lo que vemos con la estructura y los estilos que lo producen.</a:t>
            </a:r>
            <a:endParaRPr lang="en-US" sz="114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Cuatro paneles que conviene reconocer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hace falta dominar todo DevTools en una clase, pero sí ubicar qué panel responde mejor a cada pregunta inicial.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32688" y="2340864"/>
            <a:ext cx="418795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78992" y="2487168"/>
            <a:ext cx="164592" cy="80467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371600" y="2505456"/>
            <a:ext cx="3602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Elements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1371600" y="287121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Muestra la estructura HTML real de la página.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089904" y="2340864"/>
            <a:ext cx="4187952" cy="1097280"/>
          </a:xfrm>
          <a:prstGeom prst="roundRect">
            <a:avLst>
              <a:gd name="adj" fmla="val 666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236208" y="2487168"/>
            <a:ext cx="164592" cy="80467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28816" y="2505456"/>
            <a:ext cx="3602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Styles</a:t>
            </a:r>
            <a:endParaRPr lang="en-US" sz="1650" dirty="0"/>
          </a:p>
        </p:txBody>
      </p:sp>
      <p:sp>
        <p:nvSpPr>
          <p:cNvPr id="17" name="Text 14"/>
          <p:cNvSpPr/>
          <p:nvPr/>
        </p:nvSpPr>
        <p:spPr>
          <a:xfrm>
            <a:off x="6528816" y="287121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Ayuda a ver qué reglas CSS están actuando.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32688" y="3840480"/>
            <a:ext cx="4187952" cy="1097280"/>
          </a:xfrm>
          <a:prstGeom prst="roundRect">
            <a:avLst>
              <a:gd name="adj" fmla="val 666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78992" y="3986784"/>
            <a:ext cx="164592" cy="8046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371600" y="4005072"/>
            <a:ext cx="3602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Console</a:t>
            </a:r>
            <a:endParaRPr lang="en-US" sz="1650" dirty="0"/>
          </a:p>
        </p:txBody>
      </p:sp>
      <p:sp>
        <p:nvSpPr>
          <p:cNvPr id="21" name="Text 18"/>
          <p:cNvSpPr/>
          <p:nvPr/>
        </p:nvSpPr>
        <p:spPr>
          <a:xfrm>
            <a:off x="1371600" y="437083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Expone errores, advertencias y mensajes del navegador.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089904" y="3840480"/>
            <a:ext cx="418795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236208" y="3986784"/>
            <a:ext cx="164592" cy="80467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28816" y="4005072"/>
            <a:ext cx="3602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Network</a:t>
            </a:r>
            <a:endParaRPr lang="en-US" sz="1650" dirty="0"/>
          </a:p>
        </p:txBody>
      </p:sp>
      <p:sp>
        <p:nvSpPr>
          <p:cNvPr id="25" name="Text 22"/>
          <p:cNvSpPr/>
          <p:nvPr/>
        </p:nvSpPr>
        <p:spPr>
          <a:xfrm>
            <a:off x="6528816" y="437083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ver qué archivos y solicitudes se cargaron.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840480" y="3182112"/>
            <a:ext cx="3767328" cy="384048"/>
          </a:xfrm>
          <a:prstGeom prst="roundRect">
            <a:avLst>
              <a:gd name="adj" fmla="val 95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096512" y="3291840"/>
            <a:ext cx="32552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panel responde una pregunta distinta.</a:t>
            </a:r>
            <a:endParaRPr lang="en-US" sz="11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HTML, CSS y resultado visible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interfaz que vemos depende de una estructura y de estilos que pueden observarse y ponerse a prueba.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9536" y="2743200"/>
            <a:ext cx="2084832" cy="1956816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42416" y="2962656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HTML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042416" y="3401568"/>
            <a:ext cx="17190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la estructura, las etiquetas y el contenido.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054096" y="358444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21024" y="2743200"/>
            <a:ext cx="2084832" cy="1956816"/>
          </a:xfrm>
          <a:prstGeom prst="roundRect">
            <a:avLst>
              <a:gd name="adj" fmla="val 280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803904" y="2962656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803904" y="3401568"/>
            <a:ext cx="17190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color, tamaño, espacio y posición.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15584" y="358444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382512" y="2743200"/>
            <a:ext cx="2084832" cy="1956816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65392" y="2962656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DevTools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565392" y="3401568"/>
            <a:ext cx="17190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ver qué regla afecta cada elemento.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577072" y="358444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144000" y="2743200"/>
            <a:ext cx="2084832" cy="1956816"/>
          </a:xfrm>
          <a:prstGeom prst="roundRect">
            <a:avLst>
              <a:gd name="adj" fmla="val 280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326880" y="2962656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Prueba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9326880" y="3401568"/>
            <a:ext cx="17190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cambiar temporalmente y observar el efecto.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1042416" y="5230368"/>
            <a:ext cx="10021824" cy="530352"/>
          </a:xfrm>
          <a:prstGeom prst="roundRect">
            <a:avLst>
              <a:gd name="adj" fmla="val 6897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316736" y="5394960"/>
            <a:ext cx="947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interfaz visible es una combinación entre estructura, estilo y observación técnica.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 que DevTools ayuda a responder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inspección técnica permite pasar de la intuición a preguntas más precisas sobre la página.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41248" y="2139696"/>
            <a:ext cx="3108960" cy="3639312"/>
          </a:xfrm>
          <a:prstGeom prst="roundRect">
            <a:avLst>
              <a:gd name="adj" fmla="val 235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33856" y="2487168"/>
            <a:ext cx="22677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inspección técnica pregunta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133856" y="3730752"/>
            <a:ext cx="221284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basta con decir "se ve raro". DevTools ayuda a formular preguntas más precisas.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425696" y="2340864"/>
            <a:ext cx="6510528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535424" y="2450592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828032" y="2478024"/>
            <a:ext cx="5980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elemento estoy viendo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425696" y="3182112"/>
            <a:ext cx="6510528" cy="512064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535424" y="3291840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828032" y="3319272"/>
            <a:ext cx="5980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clase o selector actúa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425696" y="4023360"/>
            <a:ext cx="6510528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535424" y="4133088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28032" y="4160520"/>
            <a:ext cx="5980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propiedad produce el efecto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4425696" y="4864608"/>
            <a:ext cx="6510528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35424" y="4974336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828032" y="5001768"/>
            <a:ext cx="5980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la regla realmente se aplica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4791456" y="5541264"/>
            <a:ext cx="5797296" cy="384048"/>
          </a:xfrm>
          <a:prstGeom prst="roundRect">
            <a:avLst>
              <a:gd name="adj" fmla="val 9524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992624" y="565099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Preguntar mejor permite observar mejor.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Consola y red: lo que no siempre se ve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una falla no se explica solo por HTML o CSS, la consola y la red entregan evidencias importantes.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41248" y="2139696"/>
            <a:ext cx="4736592" cy="3639312"/>
          </a:xfrm>
          <a:prstGeom prst="roundRect">
            <a:avLst>
              <a:gd name="adj" fmla="val 201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705856" y="2139696"/>
            <a:ext cx="5559552" cy="3639312"/>
          </a:xfrm>
          <a:prstGeom prst="roundRect">
            <a:avLst>
              <a:gd name="adj" fmla="val 201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15568" y="24140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Consola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1115568" y="2852928"/>
            <a:ext cx="3255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Muestra errores, advertencias, mensajes de depuración y señales de ejecución.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1115568" y="4059936"/>
            <a:ext cx="1243584" cy="347472"/>
          </a:xfrm>
          <a:prstGeom prst="roundRect">
            <a:avLst>
              <a:gd name="adj" fmla="val 2105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43584" y="414223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2560320" y="4059936"/>
            <a:ext cx="1481328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688336" y="4142232"/>
            <a:ext cx="12252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Advertencias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1115568" y="4626864"/>
            <a:ext cx="3529584" cy="676656"/>
          </a:xfrm>
          <a:prstGeom prst="roundRect">
            <a:avLst>
              <a:gd name="adj" fmla="val 6757"/>
            </a:avLst>
          </a:prstGeom>
          <a:solidFill>
            <a:srgbClr val="214466"/>
          </a:solidFill>
          <a:ln w="12700">
            <a:solidFill>
              <a:srgbClr val="21446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353312" y="4809744"/>
            <a:ext cx="3054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Sirve para detectar fallos de ejecución y entender por qué cierta lógica no se completó.</a:t>
            </a:r>
            <a:endParaRPr lang="en-US" sz="1220" dirty="0"/>
          </a:p>
        </p:txBody>
      </p:sp>
      <p:sp>
        <p:nvSpPr>
          <p:cNvPr id="20" name="Text 17"/>
          <p:cNvSpPr/>
          <p:nvPr/>
        </p:nvSpPr>
        <p:spPr>
          <a:xfrm>
            <a:off x="5998464" y="241401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Red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5998464" y="2852928"/>
            <a:ext cx="39136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Muestra HTML, CSS, JavaScript, imágenes, fuentes y solicitudes hacia APIs u otros servicios.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5998464" y="4059936"/>
            <a:ext cx="950976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126480" y="4142232"/>
            <a:ext cx="6949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Carga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7114032" y="4059936"/>
            <a:ext cx="841248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242048" y="4142232"/>
            <a:ext cx="5852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119872" y="4059936"/>
            <a:ext cx="1152144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247888" y="4142232"/>
            <a:ext cx="8961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Respuesta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998464" y="4626864"/>
            <a:ext cx="4498848" cy="676656"/>
          </a:xfrm>
          <a:prstGeom prst="roundRect">
            <a:avLst>
              <a:gd name="adj" fmla="val 675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272784" y="4809744"/>
            <a:ext cx="3950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Sirve para confirmar qué cargó, qué falló y qué respuesta devolvió el servidor.</a:t>
            </a:r>
            <a:endParaRPr lang="en-US" sz="12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ruta simple para mirar primero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algo falla, conviene seguir un orden breve antes de tocar código al azar.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32688" y="2798064"/>
            <a:ext cx="1572768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78992" y="2944368"/>
            <a:ext cx="164592" cy="6949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371600" y="2962656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</a:t>
            </a:r>
            <a:endParaRPr lang="en-US" sz="1420" dirty="0"/>
          </a:p>
        </p:txBody>
      </p:sp>
      <p:sp>
        <p:nvSpPr>
          <p:cNvPr id="13" name="Text 10"/>
          <p:cNvSpPr/>
          <p:nvPr/>
        </p:nvSpPr>
        <p:spPr>
          <a:xfrm>
            <a:off x="1371600" y="3328416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se rompió</a:t>
            </a:r>
            <a:endParaRPr lang="en-US" sz="1020" dirty="0"/>
          </a:p>
        </p:txBody>
      </p:sp>
      <p:sp>
        <p:nvSpPr>
          <p:cNvPr id="14" name="Shape 11"/>
          <p:cNvSpPr/>
          <p:nvPr/>
        </p:nvSpPr>
        <p:spPr>
          <a:xfrm>
            <a:off x="2907792" y="2798064"/>
            <a:ext cx="1572768" cy="987552"/>
          </a:xfrm>
          <a:prstGeom prst="roundRect">
            <a:avLst>
              <a:gd name="adj" fmla="val 740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054096" y="2944368"/>
            <a:ext cx="164592" cy="69494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346704" y="2962656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Inspeccionar</a:t>
            </a:r>
            <a:endParaRPr lang="en-US" sz="1420" dirty="0"/>
          </a:p>
        </p:txBody>
      </p:sp>
      <p:sp>
        <p:nvSpPr>
          <p:cNvPr id="17" name="Text 14"/>
          <p:cNvSpPr/>
          <p:nvPr/>
        </p:nvSpPr>
        <p:spPr>
          <a:xfrm>
            <a:off x="3346704" y="3328416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elemento es</a:t>
            </a:r>
            <a:endParaRPr lang="en-US" sz="1020" dirty="0"/>
          </a:p>
        </p:txBody>
      </p:sp>
      <p:sp>
        <p:nvSpPr>
          <p:cNvPr id="18" name="Shape 15"/>
          <p:cNvSpPr/>
          <p:nvPr/>
        </p:nvSpPr>
        <p:spPr>
          <a:xfrm>
            <a:off x="4882896" y="2798064"/>
            <a:ext cx="1572768" cy="987552"/>
          </a:xfrm>
          <a:prstGeom prst="roundRect">
            <a:avLst>
              <a:gd name="adj" fmla="val 740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29200" y="2944368"/>
            <a:ext cx="164592" cy="69494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321808" y="2962656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Revisar estilos</a:t>
            </a:r>
            <a:endParaRPr lang="en-US" sz="1320" dirty="0"/>
          </a:p>
        </p:txBody>
      </p:sp>
      <p:sp>
        <p:nvSpPr>
          <p:cNvPr id="21" name="Text 18"/>
          <p:cNvSpPr/>
          <p:nvPr/>
        </p:nvSpPr>
        <p:spPr>
          <a:xfrm>
            <a:off x="5321808" y="3328416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regla actúa</a:t>
            </a:r>
            <a:endParaRPr lang="en-US" sz="1020" dirty="0"/>
          </a:p>
        </p:txBody>
      </p:sp>
      <p:sp>
        <p:nvSpPr>
          <p:cNvPr id="22" name="Shape 19"/>
          <p:cNvSpPr/>
          <p:nvPr/>
        </p:nvSpPr>
        <p:spPr>
          <a:xfrm>
            <a:off x="6858000" y="2798064"/>
            <a:ext cx="1572768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004304" y="2944368"/>
            <a:ext cx="164592" cy="6949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296912" y="2962656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Abrir consola</a:t>
            </a:r>
            <a:endParaRPr lang="en-US" sz="1420" dirty="0"/>
          </a:p>
        </p:txBody>
      </p:sp>
      <p:sp>
        <p:nvSpPr>
          <p:cNvPr id="25" name="Text 22"/>
          <p:cNvSpPr/>
          <p:nvPr/>
        </p:nvSpPr>
        <p:spPr>
          <a:xfrm>
            <a:off x="7296912" y="3328416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error aparece</a:t>
            </a:r>
            <a:endParaRPr lang="en-US" sz="1020" dirty="0"/>
          </a:p>
        </p:txBody>
      </p:sp>
      <p:sp>
        <p:nvSpPr>
          <p:cNvPr id="26" name="Shape 23"/>
          <p:cNvSpPr/>
          <p:nvPr/>
        </p:nvSpPr>
        <p:spPr>
          <a:xfrm>
            <a:off x="8833104" y="2798064"/>
            <a:ext cx="1572768" cy="987552"/>
          </a:xfrm>
          <a:prstGeom prst="roundRect">
            <a:avLst>
              <a:gd name="adj" fmla="val 740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79408" y="2944368"/>
            <a:ext cx="164592" cy="69494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272016" y="2962656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Mirar red</a:t>
            </a:r>
            <a:endParaRPr lang="en-US" sz="1420" dirty="0"/>
          </a:p>
        </p:txBody>
      </p:sp>
      <p:sp>
        <p:nvSpPr>
          <p:cNvPr id="29" name="Text 26"/>
          <p:cNvSpPr/>
          <p:nvPr/>
        </p:nvSpPr>
        <p:spPr>
          <a:xfrm>
            <a:off x="9272016" y="3328416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no cargó</a:t>
            </a:r>
            <a:endParaRPr lang="en-US" sz="1020" dirty="0"/>
          </a:p>
        </p:txBody>
      </p:sp>
      <p:sp>
        <p:nvSpPr>
          <p:cNvPr id="30" name="Shape 27"/>
          <p:cNvSpPr/>
          <p:nvPr/>
        </p:nvSpPr>
        <p:spPr>
          <a:xfrm>
            <a:off x="2487168" y="3163824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462272" y="3163824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7376" y="3163824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412480" y="3163824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865376" y="4882896"/>
            <a:ext cx="7479792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975104" y="4992624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2267712" y="5020056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idea no es memorizar una receta rígida, sino evitar corregir sin evidencia.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problema visible puede tener causas distintas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 eso no basta con mirar la interfaz: hay que buscar evidencias técnicas antes de corregir.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41248" y="2139696"/>
            <a:ext cx="4901184" cy="2889504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907024" y="2139696"/>
            <a:ext cx="5358384" cy="2889504"/>
          </a:xfrm>
          <a:prstGeom prst="roundRect">
            <a:avLst>
              <a:gd name="adj" fmla="val 253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33856" y="245059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 carga y rutas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1078992" y="2907792"/>
            <a:ext cx="442569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88720" y="3017520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481328" y="3044952"/>
            <a:ext cx="3895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Archivo no cargado: el recurso nunca llegó al navegador.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1078992" y="3547872"/>
            <a:ext cx="4425696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88720" y="3657600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481328" y="3685032"/>
            <a:ext cx="3895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incorrecta: la página busca un archivo donde no existe.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1078992" y="4187952"/>
            <a:ext cx="442569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88720" y="4297680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481328" y="4325112"/>
            <a:ext cx="3895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Respuesta del servidor: el recurso devuelve error o algo distinto.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236208" y="245059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 ejecución e interfaz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6163056" y="2907792"/>
            <a:ext cx="484632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272784" y="3017520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565392" y="3044952"/>
            <a:ext cx="4315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de JavaScript: la ejecución se interrumpe y deja funciones incompletas.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6163056" y="3547872"/>
            <a:ext cx="484632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272784" y="3657600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565392" y="3685032"/>
            <a:ext cx="4315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CSS inesperada: un selector altera tamaño, color o posición.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6163056" y="4187952"/>
            <a:ext cx="484632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272784" y="4297680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565392" y="4325112"/>
            <a:ext cx="4315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Recurso faltante: una imagen, fuente o script no aparece cuando se necesita.</a:t>
            </a:r>
            <a:endParaRPr lang="en-US" sz="1250" dirty="0"/>
          </a:p>
        </p:txBody>
      </p:sp>
      <p:sp>
        <p:nvSpPr>
          <p:cNvPr id="32" name="Text 29"/>
          <p:cNvSpPr/>
          <p:nvPr/>
        </p:nvSpPr>
        <p:spPr>
          <a:xfrm>
            <a:off x="1078992" y="5321808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misma falla visible puede nacer en capas distintas del sistema.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Leer una página como desarrollador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mirada técnica complementa la experiencia del usuario y busca explicar lo que ocurre con evidencia.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9536" y="2139696"/>
            <a:ext cx="4352544" cy="530352"/>
          </a:xfrm>
          <a:prstGeom prst="roundRect">
            <a:avLst>
              <a:gd name="adj" fmla="val 689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78992" y="2286000"/>
            <a:ext cx="3877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Como usuario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596128" y="2139696"/>
            <a:ext cx="5650992" cy="530352"/>
          </a:xfrm>
          <a:prstGeom prst="roundRect">
            <a:avLst>
              <a:gd name="adj" fmla="val 689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833872" y="2286000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Como desarrollador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96112" y="2834640"/>
            <a:ext cx="4279392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05840" y="2944368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98448" y="2971800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¿Carga o no carga?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96112" y="3401568"/>
            <a:ext cx="4279392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05840" y="3511296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98448" y="3538728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¿Se entiende el contenido?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96112" y="3968496"/>
            <a:ext cx="4279392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05840" y="4078224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298448" y="4105656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¿El botón responde?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896112" y="4535424"/>
            <a:ext cx="4279392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05840" y="4645152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298448" y="4672584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¿El diseño se ve bien?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896112" y="5102352"/>
            <a:ext cx="4279392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05840" y="5212080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298448" y="5239512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¿Puedo completar la tarea?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5632704" y="2834640"/>
            <a:ext cx="5577840" cy="512064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742432" y="2944368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035040" y="2971800"/>
            <a:ext cx="5047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estructura HTML sostiene esta interfaz?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5632704" y="3401568"/>
            <a:ext cx="557784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742432" y="3511296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035040" y="3538728"/>
            <a:ext cx="5047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estilos están afectando este elemento?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5632704" y="3968496"/>
            <a:ext cx="5577840" cy="512064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742432" y="4078224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035040" y="4105656"/>
            <a:ext cx="5047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archivos se cargaron realmente?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5632704" y="4535424"/>
            <a:ext cx="557784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742432" y="4645152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035040" y="4672584"/>
            <a:ext cx="5047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¿Hay errores en consola?</a:t>
            </a:r>
            <a:endParaRPr lang="en-US" sz="1250" dirty="0"/>
          </a:p>
        </p:txBody>
      </p:sp>
      <p:sp>
        <p:nvSpPr>
          <p:cNvPr id="41" name="Shape 38"/>
          <p:cNvSpPr/>
          <p:nvPr/>
        </p:nvSpPr>
        <p:spPr>
          <a:xfrm>
            <a:off x="5632704" y="5102352"/>
            <a:ext cx="5577840" cy="512064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742432" y="5212080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035040" y="5239512"/>
            <a:ext cx="5047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solicitudes se hicieron y cómo respondieron?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Recorrido inicial de observación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Observar antes de modificar ayuda a formular una explicación más precisa del problema.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53328" y="2249424"/>
            <a:ext cx="0" cy="3401568"/>
          </a:xfrm>
          <a:prstGeom prst="line">
            <a:avLst/>
          </a:prstGeom>
          <a:noFill/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797296" y="2322576"/>
            <a:ext cx="512064" cy="5120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797296" y="2450592"/>
            <a:ext cx="5120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1078992" y="2212848"/>
            <a:ext cx="4315968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80160" y="2304288"/>
            <a:ext cx="17922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Abrir la página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3072384" y="2286000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mira el comportamiento que queremos entender.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797296" y="2962656"/>
            <a:ext cx="512064" cy="5120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797296" y="3090672"/>
            <a:ext cx="5120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400800" y="2852928"/>
            <a:ext cx="4315968" cy="749808"/>
          </a:xfrm>
          <a:prstGeom prst="roundRect">
            <a:avLst>
              <a:gd name="adj" fmla="val 609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601968" y="2944368"/>
            <a:ext cx="17922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Ubicar el problema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8394192" y="2926080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define qué elemento o cambio merece observación.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797296" y="3602736"/>
            <a:ext cx="512064" cy="51206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797296" y="3730752"/>
            <a:ext cx="5120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1078992" y="3493008"/>
            <a:ext cx="4315968" cy="749808"/>
          </a:xfrm>
          <a:prstGeom prst="roundRect">
            <a:avLst>
              <a:gd name="adj" fmla="val 6098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280160" y="3584448"/>
            <a:ext cx="17922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Inspeccionar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3072384" y="3566160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revisa el HTML y el CSS asociados al elemento.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797296" y="4242816"/>
            <a:ext cx="512064" cy="5120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97296" y="4370832"/>
            <a:ext cx="5120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400800" y="4133088"/>
            <a:ext cx="4315968" cy="749808"/>
          </a:xfrm>
          <a:prstGeom prst="roundRect">
            <a:avLst>
              <a:gd name="adj" fmla="val 609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601968" y="4224528"/>
            <a:ext cx="17922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Buscar evidencias</a:t>
            </a:r>
            <a:endParaRPr lang="en-US" sz="1550" dirty="0"/>
          </a:p>
        </p:txBody>
      </p:sp>
      <p:sp>
        <p:nvSpPr>
          <p:cNvPr id="30" name="Text 27"/>
          <p:cNvSpPr/>
          <p:nvPr/>
        </p:nvSpPr>
        <p:spPr>
          <a:xfrm>
            <a:off x="8394192" y="4206240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consulta consola o red si hay señales de error.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797296" y="4882896"/>
            <a:ext cx="512064" cy="5120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797296" y="5010912"/>
            <a:ext cx="5120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1078992" y="4773168"/>
            <a:ext cx="4315968" cy="749808"/>
          </a:xfrm>
          <a:prstGeom prst="roundRect">
            <a:avLst>
              <a:gd name="adj" fmla="val 609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280160" y="4864608"/>
            <a:ext cx="17922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Explicar</a:t>
            </a:r>
            <a:endParaRPr lang="en-US" sz="1550" dirty="0"/>
          </a:p>
        </p:txBody>
      </p:sp>
      <p:sp>
        <p:nvSpPr>
          <p:cNvPr id="35" name="Text 32"/>
          <p:cNvSpPr/>
          <p:nvPr/>
        </p:nvSpPr>
        <p:spPr>
          <a:xfrm>
            <a:off x="3072384" y="4846320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formula una hipótesis técnica antes de corregir.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1097280" y="5632704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Diagnosticar bien implica observar antes de tocar el archivo.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Señales visibles y primera pista técnica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veces el problema ya da una pista sobre qué herramienta conviene abrir primero.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2322576"/>
            <a:ext cx="10021824" cy="3182112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2670048"/>
            <a:ext cx="5010912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61872" y="2779776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554480" y="2807208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estilo no cambia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351776" y="2761488"/>
            <a:ext cx="2304288" cy="347472"/>
          </a:xfrm>
          <a:prstGeom prst="roundRect">
            <a:avLst>
              <a:gd name="adj" fmla="val 2105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79792" y="2843784"/>
            <a:ext cx="2048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Elements / Styles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1152144" y="3328416"/>
            <a:ext cx="5010912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261872" y="3438144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554480" y="3465576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botón no responde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351776" y="3419856"/>
            <a:ext cx="2304288" cy="347472"/>
          </a:xfrm>
          <a:prstGeom prst="roundRect">
            <a:avLst>
              <a:gd name="adj" fmla="val 2105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479792" y="3502152"/>
            <a:ext cx="2048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Console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1152144" y="3986784"/>
            <a:ext cx="5010912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261872" y="4096512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554480" y="4123944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página carga incompleta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7351776" y="4078224"/>
            <a:ext cx="2304288" cy="347472"/>
          </a:xfrm>
          <a:prstGeom prst="roundRect">
            <a:avLst>
              <a:gd name="adj" fmla="val 2105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79792" y="4160520"/>
            <a:ext cx="2048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Network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1152144" y="4645152"/>
            <a:ext cx="5010912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261872" y="4754880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554480" y="4782312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Aparece un error visible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351776" y="4736592"/>
            <a:ext cx="2304288" cy="347472"/>
          </a:xfrm>
          <a:prstGeom prst="roundRect">
            <a:avLst>
              <a:gd name="adj" fmla="val 2105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79792" y="4818888"/>
            <a:ext cx="2048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Console + Elements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7388352" y="2414016"/>
            <a:ext cx="2414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Primera herramienta a revisar</a:t>
            </a:r>
            <a:endParaRPr lang="en-US" sz="118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 para pensar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Estas preguntas recogen el sentido del bloque y preparan la transición hacia el versionado.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115568" y="2157984"/>
            <a:ext cx="9948672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61872" y="2304288"/>
            <a:ext cx="164592" cy="841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554480" y="2322576"/>
            <a:ext cx="9363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Más que visualización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554480" y="2688336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el navegador no debería entenderse solo como una herramienta para ver páginas?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078992" y="3730752"/>
            <a:ext cx="3182112" cy="1371600"/>
          </a:xfrm>
          <a:prstGeom prst="roundRect">
            <a:avLst>
              <a:gd name="adj" fmla="val 533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25296" y="3877056"/>
            <a:ext cx="164592" cy="107899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517904" y="3895344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Dos miradas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1517904" y="4261104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diferencia existe entre mirar una página como usuario y leerla como desarrollador?</a:t>
            </a:r>
            <a:endParaRPr lang="en-US" sz="1220" dirty="0"/>
          </a:p>
        </p:txBody>
      </p:sp>
      <p:sp>
        <p:nvSpPr>
          <p:cNvPr id="18" name="Shape 15"/>
          <p:cNvSpPr/>
          <p:nvPr/>
        </p:nvSpPr>
        <p:spPr>
          <a:xfrm>
            <a:off x="4535424" y="4096512"/>
            <a:ext cx="318211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681728" y="4242816"/>
            <a:ext cx="164592" cy="107899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974336" y="4261104"/>
            <a:ext cx="2596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Valor de la consola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4974336" y="4626864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tipo de problemas puede ayudarnos a detectar la consola?</a:t>
            </a:r>
            <a:endParaRPr lang="en-US" sz="1220" dirty="0"/>
          </a:p>
        </p:txBody>
      </p:sp>
      <p:sp>
        <p:nvSpPr>
          <p:cNvPr id="22" name="Shape 19"/>
          <p:cNvSpPr/>
          <p:nvPr/>
        </p:nvSpPr>
        <p:spPr>
          <a:xfrm>
            <a:off x="7991856" y="3730752"/>
            <a:ext cx="3127248" cy="1371600"/>
          </a:xfrm>
          <a:prstGeom prst="roundRect">
            <a:avLst>
              <a:gd name="adj" fmla="val 53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138160" y="3877056"/>
            <a:ext cx="164592" cy="107899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430768" y="3895344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Valor de la red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8430768" y="4261104"/>
            <a:ext cx="2505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la pestaña de red puede ser útil incluso cuando el problema parece visual?</a:t>
            </a:r>
            <a:endParaRPr lang="en-US" sz="122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navegador es una herramienta de visualización, pero también de observación técnica y diagnóstico inicial.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41248" y="2139696"/>
            <a:ext cx="6510528" cy="1956816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52144" y="2432304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clave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33856" y="2834640"/>
            <a:ext cx="5669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DevTools permite inspeccionar estructura, estilos, errores y solicitudes para entender mejor una página.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7571232" y="2139696"/>
            <a:ext cx="3694176" cy="3035808"/>
          </a:xfrm>
          <a:prstGeom prst="roundRect">
            <a:avLst>
              <a:gd name="adj" fmla="val 241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82128" y="248716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Siguiente foco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882128" y="2852928"/>
            <a:ext cx="2834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 y GitHub mostrarán cómo se registra el trabajo y cómo se conserva su historia técnica.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7900416" y="4297680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028432" y="4379976"/>
            <a:ext cx="841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180576" y="4297680"/>
            <a:ext cx="1243584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308592" y="4379976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Historial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950976" y="4498848"/>
            <a:ext cx="6254496" cy="512064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60704" y="4608576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353312" y="4636008"/>
            <a:ext cx="57241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cambia en la práctica: dejamos de adivinar y empezamos a observar con evidencias.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950976" y="5157216"/>
            <a:ext cx="625449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60704" y="5266944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353312" y="5294376"/>
            <a:ext cx="57241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 de salida: ¿qué pestaña de DevTools te parece hoy más útil para empezar a observar una página?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" y="950976"/>
            <a:ext cx="10680192" cy="1170432"/>
          </a:xfrm>
          <a:prstGeom prst="roundRect">
            <a:avLst>
              <a:gd name="adj" fmla="val 625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" y="1419515"/>
            <a:ext cx="215798" cy="496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19662" y="1225296"/>
            <a:ext cx="258958" cy="69055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21780" y="1419515"/>
            <a:ext cx="215798" cy="496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84832" y="1243584"/>
            <a:ext cx="1499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75888" y="1133856"/>
            <a:ext cx="3291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 y GitHub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 humo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932688" y="2505456"/>
            <a:ext cx="3968496" cy="3145536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25296" y="2907792"/>
            <a:ext cx="334670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Guardar archivos no basta para entender la historia del proyecto.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25296" y="4224528"/>
            <a:ext cx="31455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 registra cambios con sentido. GitHub permite respaldarlos y moverlos a un entorno remoto.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193792" y="2688336"/>
            <a:ext cx="5358384" cy="1956816"/>
          </a:xfrm>
          <a:prstGeom prst="roundRect">
            <a:avLst>
              <a:gd name="adj" fmla="val 280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58384" y="2834640"/>
            <a:ext cx="5029200" cy="384048"/>
          </a:xfrm>
          <a:prstGeom prst="roundRect">
            <a:avLst>
              <a:gd name="adj" fmla="val 11905"/>
            </a:avLst>
          </a:prstGeom>
          <a:solidFill>
            <a:srgbClr val="214466"/>
          </a:solidFill>
          <a:ln w="12700">
            <a:solidFill>
              <a:srgbClr val="2144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2944368"/>
            <a:ext cx="100584" cy="10058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50992" y="2944368"/>
            <a:ext cx="100584" cy="10058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15584" y="2944368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04688" y="3438144"/>
            <a:ext cx="473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status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504688" y="3877056"/>
            <a:ext cx="473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add 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504688" y="4315968"/>
            <a:ext cx="473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commit -m "ajuste inicial"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596128" y="4974336"/>
            <a:ext cx="4553712" cy="475488"/>
          </a:xfrm>
          <a:prstGeom prst="roundRect">
            <a:avLst>
              <a:gd name="adj" fmla="val 7692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33872" y="5102352"/>
            <a:ext cx="40782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cambios también es parte del trabajo técnico.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Guardar no es lo mismo que versionar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problema no es solo conservar archivos: es entender qué cambió, cuándo y por qué.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96112" y="2139696"/>
            <a:ext cx="3730752" cy="3547872"/>
          </a:xfrm>
          <a:prstGeom prst="roundRect">
            <a:avLst>
              <a:gd name="adj" fmla="val 2062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70432" y="243230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Caos frecuente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 rot="-120000">
            <a:off x="1170432" y="2907792"/>
            <a:ext cx="2852928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371600" y="3026664"/>
            <a:ext cx="2450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index-final.html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 rot="120000">
            <a:off x="1335024" y="3456432"/>
            <a:ext cx="2852928" cy="402336"/>
          </a:xfrm>
          <a:prstGeom prst="roundRect">
            <a:avLst>
              <a:gd name="adj" fmla="val 909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0" y="3575304"/>
            <a:ext cx="2450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index-final-ahora-si.html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 rot="-120000">
            <a:off x="1170432" y="4005072"/>
            <a:ext cx="2852928" cy="402336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371600" y="4123944"/>
            <a:ext cx="2450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index-bueno-2.html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 rot="120000">
            <a:off x="1335024" y="4553712"/>
            <a:ext cx="2852928" cy="402336"/>
          </a:xfrm>
          <a:prstGeom prst="roundRect">
            <a:avLst>
              <a:gd name="adj" fmla="val 909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371600" y="4672584"/>
            <a:ext cx="2450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pagina-antes-del-cambio.html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956048" y="3602736"/>
            <a:ext cx="493776" cy="749808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742432" y="2304288"/>
            <a:ext cx="5340096" cy="3182112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053328" y="2651760"/>
            <a:ext cx="44988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Versionar significa registrar cambios con sentido.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6089904" y="3712464"/>
            <a:ext cx="4315968" cy="512064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199632" y="3822192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92240" y="3849624"/>
            <a:ext cx="3785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cambió?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6089904" y="4151376"/>
            <a:ext cx="4315968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199632" y="4261104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92240" y="4288536"/>
            <a:ext cx="3785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¿Cuándo ocurrió?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6089904" y="4590288"/>
            <a:ext cx="4315968" cy="512064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199632" y="4700016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92240" y="4727448"/>
            <a:ext cx="3785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¿Cuál era la versión buena?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089904" y="5029200"/>
            <a:ext cx="4315968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199632" y="5138928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492240" y="5166360"/>
            <a:ext cx="3785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vuelvo atrás?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 convierte cambios en historia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proyecto deja de ser solo una carpeta y pasa a tener una memoria técnica trazable.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170432" y="4041648"/>
            <a:ext cx="9710928" cy="0"/>
          </a:xfrm>
          <a:prstGeom prst="line">
            <a:avLst/>
          </a:prstGeom>
          <a:noFill/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98448" y="3785616"/>
            <a:ext cx="512064" cy="5120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13232" y="2212848"/>
            <a:ext cx="1682496" cy="1078992"/>
          </a:xfrm>
          <a:prstGeom prst="roundRect">
            <a:avLst>
              <a:gd name="adj" fmla="val 508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2359152"/>
            <a:ext cx="1353312" cy="384048"/>
          </a:xfrm>
          <a:prstGeom prst="roundRect">
            <a:avLst>
              <a:gd name="adj" fmla="val 11905"/>
            </a:avLst>
          </a:prstGeom>
          <a:solidFill>
            <a:srgbClr val="214466"/>
          </a:solidFill>
          <a:ln w="12700">
            <a:solidFill>
              <a:srgbClr val="2144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05840" y="2468880"/>
            <a:ext cx="100584" cy="10058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70432" y="2468880"/>
            <a:ext cx="100584" cy="10058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35024" y="2468880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24128" y="2962656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a1f3  Inicio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58368" y="3401568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crea la base del proyecto.</a:t>
            </a:r>
            <a:endParaRPr lang="en-US" sz="1120" dirty="0"/>
          </a:p>
        </p:txBody>
      </p:sp>
      <p:sp>
        <p:nvSpPr>
          <p:cNvPr id="19" name="Shape 16"/>
          <p:cNvSpPr/>
          <p:nvPr/>
        </p:nvSpPr>
        <p:spPr>
          <a:xfrm>
            <a:off x="3694176" y="3785616"/>
            <a:ext cx="512064" cy="51206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108960" y="4517136"/>
            <a:ext cx="1682496" cy="1078992"/>
          </a:xfrm>
          <a:prstGeom prst="roundRect">
            <a:avLst>
              <a:gd name="adj" fmla="val 508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273552" y="4663440"/>
            <a:ext cx="1353312" cy="384048"/>
          </a:xfrm>
          <a:prstGeom prst="roundRect">
            <a:avLst>
              <a:gd name="adj" fmla="val 11905"/>
            </a:avLst>
          </a:prstGeom>
          <a:solidFill>
            <a:srgbClr val="214466"/>
          </a:solidFill>
          <a:ln w="12700">
            <a:solidFill>
              <a:srgbClr val="21446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01568" y="4773168"/>
            <a:ext cx="100584" cy="10058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566160" y="4773168"/>
            <a:ext cx="100584" cy="10058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30752" y="4773168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419856" y="5266944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b7c2  Ajuste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3054096" y="5705856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corrigen estilos y estructura.</a:t>
            </a:r>
            <a:endParaRPr lang="en-US" sz="1120" dirty="0"/>
          </a:p>
        </p:txBody>
      </p:sp>
      <p:sp>
        <p:nvSpPr>
          <p:cNvPr id="27" name="Shape 24"/>
          <p:cNvSpPr/>
          <p:nvPr/>
        </p:nvSpPr>
        <p:spPr>
          <a:xfrm>
            <a:off x="6089904" y="3785616"/>
            <a:ext cx="512064" cy="51206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04688" y="2212848"/>
            <a:ext cx="1682496" cy="1078992"/>
          </a:xfrm>
          <a:prstGeom prst="roundRect">
            <a:avLst>
              <a:gd name="adj" fmla="val 508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669280" y="2359152"/>
            <a:ext cx="1353312" cy="384048"/>
          </a:xfrm>
          <a:prstGeom prst="roundRect">
            <a:avLst>
              <a:gd name="adj" fmla="val 11905"/>
            </a:avLst>
          </a:prstGeom>
          <a:solidFill>
            <a:srgbClr val="214466"/>
          </a:solidFill>
          <a:ln w="12700">
            <a:solidFill>
              <a:srgbClr val="21446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797296" y="2468880"/>
            <a:ext cx="100584" cy="10058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961888" y="2468880"/>
            <a:ext cx="100584" cy="10058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126480" y="2468880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815584" y="2962656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c9d4  Fix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5449824" y="3401568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resuelve un error detectado.</a:t>
            </a:r>
            <a:endParaRPr lang="en-US" sz="1120" dirty="0"/>
          </a:p>
        </p:txBody>
      </p:sp>
      <p:sp>
        <p:nvSpPr>
          <p:cNvPr id="35" name="Shape 32"/>
          <p:cNvSpPr/>
          <p:nvPr/>
        </p:nvSpPr>
        <p:spPr>
          <a:xfrm>
            <a:off x="8485632" y="3785616"/>
            <a:ext cx="512064" cy="51206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900416" y="4517136"/>
            <a:ext cx="1682496" cy="1078992"/>
          </a:xfrm>
          <a:prstGeom prst="roundRect">
            <a:avLst>
              <a:gd name="adj" fmla="val 5085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065008" y="4663440"/>
            <a:ext cx="1353312" cy="384048"/>
          </a:xfrm>
          <a:prstGeom prst="roundRect">
            <a:avLst>
              <a:gd name="adj" fmla="val 11905"/>
            </a:avLst>
          </a:prstGeom>
          <a:solidFill>
            <a:srgbClr val="214466"/>
          </a:solidFill>
          <a:ln w="12700">
            <a:solidFill>
              <a:srgbClr val="214466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193024" y="4773168"/>
            <a:ext cx="100584" cy="10058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357616" y="4773168"/>
            <a:ext cx="100584" cy="10058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522208" y="4773168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8211312" y="5266944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d2e8  Versión</a:t>
            </a:r>
            <a:endParaRPr lang="en-US" sz="1400" dirty="0"/>
          </a:p>
        </p:txBody>
      </p:sp>
      <p:sp>
        <p:nvSpPr>
          <p:cNvPr id="42" name="Text 39"/>
          <p:cNvSpPr/>
          <p:nvPr/>
        </p:nvSpPr>
        <p:spPr>
          <a:xfrm>
            <a:off x="7845552" y="5705856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Queda un estado claro para seguir.</a:t>
            </a:r>
            <a:endParaRPr lang="en-US" sz="112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Modificar no es lo mismo que registrar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Antes del commit, Git distingue varios estados y esa diferencia ayuda a pensar mejor el trabajo.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87552" y="2670048"/>
            <a:ext cx="261518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33856" y="2816352"/>
            <a:ext cx="164592" cy="153619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426464" y="2834640"/>
            <a:ext cx="2029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Working tree</a:t>
            </a:r>
            <a:endParaRPr lang="en-US" sz="1720" dirty="0"/>
          </a:p>
        </p:txBody>
      </p:sp>
      <p:sp>
        <p:nvSpPr>
          <p:cNvPr id="13" name="Text 10"/>
          <p:cNvSpPr/>
          <p:nvPr/>
        </p:nvSpPr>
        <p:spPr>
          <a:xfrm>
            <a:off x="1426464" y="3200400"/>
            <a:ext cx="199339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Cambios hechos en archivos locales.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151376" y="2670048"/>
            <a:ext cx="2615184" cy="1828800"/>
          </a:xfrm>
          <a:prstGeom prst="roundRect">
            <a:avLst>
              <a:gd name="adj" fmla="val 400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297680" y="2816352"/>
            <a:ext cx="164592" cy="153619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90288" y="2834640"/>
            <a:ext cx="2029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Staged</a:t>
            </a:r>
            <a:endParaRPr lang="en-US" sz="1720" dirty="0"/>
          </a:p>
        </p:txBody>
      </p:sp>
      <p:sp>
        <p:nvSpPr>
          <p:cNvPr id="17" name="Text 14"/>
          <p:cNvSpPr/>
          <p:nvPr/>
        </p:nvSpPr>
        <p:spPr>
          <a:xfrm>
            <a:off x="4590288" y="3200400"/>
            <a:ext cx="199339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Cambios seleccionados para el próximo commit.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315200" y="2670048"/>
            <a:ext cx="2615184" cy="1828800"/>
          </a:xfrm>
          <a:prstGeom prst="roundRect">
            <a:avLst>
              <a:gd name="adj" fmla="val 400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461504" y="2816352"/>
            <a:ext cx="164592" cy="153619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754112" y="2834640"/>
            <a:ext cx="2029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Commit</a:t>
            </a:r>
            <a:endParaRPr lang="en-US" sz="1720" dirty="0"/>
          </a:p>
        </p:txBody>
      </p:sp>
      <p:sp>
        <p:nvSpPr>
          <p:cNvPr id="21" name="Text 18"/>
          <p:cNvSpPr/>
          <p:nvPr/>
        </p:nvSpPr>
        <p:spPr>
          <a:xfrm>
            <a:off x="7754112" y="3200400"/>
            <a:ext cx="199339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Cambio ya registrado en la historia del proyecto.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803904" y="3419856"/>
            <a:ext cx="384048" cy="402336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967728" y="3419856"/>
            <a:ext cx="384048" cy="402336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993392" y="4992624"/>
            <a:ext cx="735177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103120" y="5102352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395728" y="5129784"/>
            <a:ext cx="6821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 no guarda solo archivos: guarda decisiones sobre qué cambio vale la pena conservar.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Secuencia básica de trabajo con Git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Cambiar, revisar, preparar y registrar forman una lógica mínima que conviene reconocer desde el inicio.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9536" y="2194560"/>
            <a:ext cx="3895344" cy="3145536"/>
          </a:xfrm>
          <a:prstGeom prst="roundRect">
            <a:avLst>
              <a:gd name="adj" fmla="val 174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24128" y="2340864"/>
            <a:ext cx="3566160" cy="384048"/>
          </a:xfrm>
          <a:prstGeom prst="roundRect">
            <a:avLst>
              <a:gd name="adj" fmla="val 11905"/>
            </a:avLst>
          </a:prstGeom>
          <a:solidFill>
            <a:srgbClr val="214466"/>
          </a:solidFill>
          <a:ln w="12700">
            <a:solidFill>
              <a:srgbClr val="2144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52144" y="2450592"/>
            <a:ext cx="100584" cy="10058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16736" y="2450592"/>
            <a:ext cx="100584" cy="10058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481328" y="2450592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70432" y="2944368"/>
            <a:ext cx="3273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status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170432" y="3383280"/>
            <a:ext cx="3273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add 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70432" y="3822192"/>
            <a:ext cx="3273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commit -m "ajuste del menú"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170432" y="4261104"/>
            <a:ext cx="3273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log --oneline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719072" y="2414016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Secuencia en terminal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230368" y="2999232"/>
            <a:ext cx="1316736" cy="1408176"/>
          </a:xfrm>
          <a:prstGeom prst="roundRect">
            <a:avLst>
              <a:gd name="adj" fmla="val 347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340096" y="323697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Revisar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5340096" y="376732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556248" y="3602736"/>
            <a:ext cx="164592" cy="219456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729984" y="2999232"/>
            <a:ext cx="1316736" cy="1408176"/>
          </a:xfrm>
          <a:prstGeom prst="roundRect">
            <a:avLst>
              <a:gd name="adj" fmla="val 347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39712" y="323697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Preparar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6839712" y="376732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055864" y="3602736"/>
            <a:ext cx="164592" cy="219456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29600" y="2999232"/>
            <a:ext cx="1316736" cy="1408176"/>
          </a:xfrm>
          <a:prstGeom prst="roundRect">
            <a:avLst>
              <a:gd name="adj" fmla="val 3472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339328" y="323697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Registrar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8339328" y="376732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9555480" y="3602736"/>
            <a:ext cx="164592" cy="219456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729216" y="2999232"/>
            <a:ext cx="1316736" cy="1408176"/>
          </a:xfrm>
          <a:prstGeom prst="roundRect">
            <a:avLst>
              <a:gd name="adj" fmla="val 347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838944" y="323697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Leer historia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9838944" y="376732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5084064" y="4992624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técnica sirve mejor cuando cada comando se entiende dentro de una secuencia.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Comandos base y propósito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basta con conocer el nombre del comando: conviene asociarlo con la función que cumple dentro del flujo.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69264" y="2121408"/>
            <a:ext cx="4425696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15568" y="2267712"/>
            <a:ext cx="164592" cy="6035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408176" y="22860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 init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408176" y="2651760"/>
            <a:ext cx="3803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 un repositorio Git en el proyecto actual.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888736" y="2121408"/>
            <a:ext cx="4425696" cy="896112"/>
          </a:xfrm>
          <a:prstGeom prst="roundRect">
            <a:avLst>
              <a:gd name="adj" fmla="val 816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035040" y="2267712"/>
            <a:ext cx="164592" cy="6035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22860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 status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327648" y="2651760"/>
            <a:ext cx="3803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Muestra qué archivos cambiaron y en qué estado están.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69264" y="3200400"/>
            <a:ext cx="4425696" cy="896112"/>
          </a:xfrm>
          <a:prstGeom prst="roundRect">
            <a:avLst>
              <a:gd name="adj" fmla="val 816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15568" y="3346704"/>
            <a:ext cx="164592" cy="6035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408176" y="336499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 add .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408176" y="3730752"/>
            <a:ext cx="3803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 cambios para el siguiente commit.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888736" y="3200400"/>
            <a:ext cx="4425696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035040" y="3346704"/>
            <a:ext cx="164592" cy="6035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27648" y="336499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 commit -m "mensaje"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327648" y="3730752"/>
            <a:ext cx="3803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 cambios en el historial con una descripción.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969264" y="4279392"/>
            <a:ext cx="9345168" cy="896112"/>
          </a:xfrm>
          <a:prstGeom prst="roundRect">
            <a:avLst>
              <a:gd name="adj" fmla="val 816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15568" y="4425696"/>
            <a:ext cx="164592" cy="6035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408176" y="4443984"/>
            <a:ext cx="8759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 log --oneline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408176" y="4809744"/>
            <a:ext cx="8723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revisar el historial de commits de forma resumida.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hace legible un buen commit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commit útil no solo guarda cambios: también deja claro qué se hizo y por qué.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2359152"/>
            <a:ext cx="3986784" cy="3054096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88720" y="2651760"/>
            <a:ext cx="1993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Comparación rápida</a:t>
            </a:r>
            <a:endParaRPr lang="en-US" sz="1820" dirty="0"/>
          </a:p>
        </p:txBody>
      </p:sp>
      <p:sp>
        <p:nvSpPr>
          <p:cNvPr id="12" name="Shape 9"/>
          <p:cNvSpPr/>
          <p:nvPr/>
        </p:nvSpPr>
        <p:spPr>
          <a:xfrm>
            <a:off x="1170432" y="3072384"/>
            <a:ext cx="3438144" cy="512064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80160" y="3182112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572768" y="3209544"/>
            <a:ext cx="2907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Mal: "cambios varios"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170432" y="3712464"/>
            <a:ext cx="3438144" cy="512064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280160" y="3822192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572768" y="3849624"/>
            <a:ext cx="2907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Bien: "corrige validación del formulario"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1188720" y="4498848"/>
            <a:ext cx="34015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segundo mensaje deja una pista clara para el futuro y para cualquier otra persona que lea el historial.</a:t>
            </a:r>
            <a:endParaRPr lang="en-US" sz="1180" dirty="0"/>
          </a:p>
        </p:txBody>
      </p:sp>
      <p:sp>
        <p:nvSpPr>
          <p:cNvPr id="19" name="Shape 16"/>
          <p:cNvSpPr/>
          <p:nvPr/>
        </p:nvSpPr>
        <p:spPr>
          <a:xfrm>
            <a:off x="5504688" y="2523744"/>
            <a:ext cx="274320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50992" y="2670048"/>
            <a:ext cx="164592" cy="67665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43600" y="2688336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 específico</a:t>
            </a:r>
            <a:endParaRPr lang="en-US" sz="1520" dirty="0"/>
          </a:p>
        </p:txBody>
      </p:sp>
      <p:sp>
        <p:nvSpPr>
          <p:cNvPr id="22" name="Text 19"/>
          <p:cNvSpPr/>
          <p:nvPr/>
        </p:nvSpPr>
        <p:spPr>
          <a:xfrm>
            <a:off x="5943600" y="3054096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mezcla varias intenciones en una misma frase.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8193024" y="3273552"/>
            <a:ext cx="2743200" cy="969264"/>
          </a:xfrm>
          <a:prstGeom prst="roundRect">
            <a:avLst>
              <a:gd name="adj" fmla="val 7547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339328" y="3419856"/>
            <a:ext cx="164592" cy="67665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631936" y="3438144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 breve</a:t>
            </a:r>
            <a:endParaRPr lang="en-US" sz="1520" dirty="0"/>
          </a:p>
        </p:txBody>
      </p:sp>
      <p:sp>
        <p:nvSpPr>
          <p:cNvPr id="26" name="Text 23"/>
          <p:cNvSpPr/>
          <p:nvPr/>
        </p:nvSpPr>
        <p:spPr>
          <a:xfrm>
            <a:off x="8631936" y="380390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lee rápido sin perder el punto central.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345936" y="4480560"/>
            <a:ext cx="2743200" cy="969264"/>
          </a:xfrm>
          <a:prstGeom prst="roundRect">
            <a:avLst>
              <a:gd name="adj" fmla="val 754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92240" y="4626864"/>
            <a:ext cx="164592" cy="67665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84848" y="4645152"/>
            <a:ext cx="2157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 útil después</a:t>
            </a:r>
            <a:endParaRPr lang="en-US" sz="1520" dirty="0"/>
          </a:p>
        </p:txBody>
      </p:sp>
      <p:sp>
        <p:nvSpPr>
          <p:cNvPr id="30" name="Text 27"/>
          <p:cNvSpPr/>
          <p:nvPr/>
        </p:nvSpPr>
        <p:spPr>
          <a:xfrm>
            <a:off x="6784848" y="5010912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Sirve para revisar, depurar y explicar cambios.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 no es lo mismo que GitHub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Uno registra cambios; el otro permite alojar el repositorio y conectarlo con un entorno remoto.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41248" y="2176272"/>
            <a:ext cx="4425696" cy="3529584"/>
          </a:xfrm>
          <a:prstGeom prst="roundRect">
            <a:avLst>
              <a:gd name="adj" fmla="val 207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52144" y="250545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152144" y="2871216"/>
            <a:ext cx="26883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Sistema local de control de versiones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152144" y="3968496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80160" y="4050792"/>
            <a:ext cx="7498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2340864" y="3968496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468880" y="4050792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Historial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584448" y="3968496"/>
            <a:ext cx="932688" cy="347472"/>
          </a:xfrm>
          <a:prstGeom prst="roundRect">
            <a:avLst>
              <a:gd name="adj" fmla="val 2105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712464" y="4050792"/>
            <a:ext cx="676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449824" y="3657600"/>
            <a:ext cx="530352" cy="713232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181344" y="2176272"/>
            <a:ext cx="5084064" cy="3529584"/>
          </a:xfrm>
          <a:prstGeom prst="roundRect">
            <a:avLst>
              <a:gd name="adj" fmla="val 207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92240" y="250545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GitHub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6492240" y="2871216"/>
            <a:ext cx="33284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Plataforma remota para alojar, respaldar y compartir repositorios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492240" y="3968496"/>
            <a:ext cx="1024128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20256" y="4050792"/>
            <a:ext cx="768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Remoto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717536" y="3968496"/>
            <a:ext cx="1152144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45552" y="4050792"/>
            <a:ext cx="8961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Respaldo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9070848" y="3968496"/>
            <a:ext cx="118872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198864" y="4050792"/>
            <a:ext cx="9326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Colaborar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Trabajo local y trabajo remoto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Cuando aparece GitHub, ciertos comandos conectan el repositorio local con una copia remota.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77824" y="2212848"/>
            <a:ext cx="3072384" cy="2194560"/>
          </a:xfrm>
          <a:prstGeom prst="roundRect">
            <a:avLst>
              <a:gd name="adj" fmla="val 2500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42416" y="2359152"/>
            <a:ext cx="2743200" cy="384048"/>
          </a:xfrm>
          <a:prstGeom prst="roundRect">
            <a:avLst>
              <a:gd name="adj" fmla="val 11905"/>
            </a:avLst>
          </a:prstGeom>
          <a:solidFill>
            <a:srgbClr val="214466"/>
          </a:solidFill>
          <a:ln w="12700">
            <a:solidFill>
              <a:srgbClr val="2144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70432" y="2468880"/>
            <a:ext cx="100584" cy="10058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35024" y="2468880"/>
            <a:ext cx="100584" cy="10058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499616" y="2468880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88720" y="2962656"/>
            <a:ext cx="2450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clone &lt;url&gt;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188720" y="3401568"/>
            <a:ext cx="2450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push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88720" y="3840480"/>
            <a:ext cx="2450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pull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719072" y="2432304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Comandos remotos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736592" y="2450592"/>
            <a:ext cx="1993392" cy="1152144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321808" y="2834640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Local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8485632" y="2450592"/>
            <a:ext cx="1993392" cy="1152144"/>
          </a:xfrm>
          <a:prstGeom prst="roundRect">
            <a:avLst>
              <a:gd name="adj" fmla="val 476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979408" y="283464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Remoto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7059168" y="2487168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620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059168" y="3493008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pull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839712" y="2761488"/>
            <a:ext cx="1042416" cy="201168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10800000">
            <a:off x="6839712" y="3163824"/>
            <a:ext cx="1042416" cy="201168"/>
          </a:xfrm>
          <a:prstGeom prst="chevron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718304" y="4279392"/>
            <a:ext cx="2359152" cy="1024128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864608" y="4425696"/>
            <a:ext cx="164592" cy="73152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157216" y="4443984"/>
            <a:ext cx="1773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clone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57216" y="480974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Trae una copia local de un repositorio remoto.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7004304" y="4279392"/>
            <a:ext cx="210312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150608" y="4425696"/>
            <a:ext cx="164592" cy="731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443216" y="4443984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push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443216" y="480974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Envía commits locales hacia el remoto.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9290304" y="4279392"/>
            <a:ext cx="1920240" cy="1024128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436608" y="4425696"/>
            <a:ext cx="164592" cy="73152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729216" y="4443984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pull</a:t>
            </a:r>
            <a:endParaRPr lang="en-US" sz="1500" dirty="0"/>
          </a:p>
        </p:txBody>
      </p:sp>
      <p:sp>
        <p:nvSpPr>
          <p:cNvPr id="38" name="Text 35"/>
          <p:cNvSpPr/>
          <p:nvPr/>
        </p:nvSpPr>
        <p:spPr>
          <a:xfrm>
            <a:off x="9729216" y="4809744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Trae cambios del remoto al local.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Rutina mínima con Git en este módulo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Más que un flujo complejo, al inicio conviene instalar una secuencia corta y repetible.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2907792"/>
            <a:ext cx="107899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27248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pull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2121408" y="3072384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70048" y="2907792"/>
            <a:ext cx="1078992" cy="640080"/>
          </a:xfrm>
          <a:prstGeom prst="roundRect">
            <a:avLst>
              <a:gd name="adj" fmla="val 571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670048" y="3127248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editar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3877056" y="3072384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425696" y="2907792"/>
            <a:ext cx="1078992" cy="640080"/>
          </a:xfrm>
          <a:prstGeom prst="roundRect">
            <a:avLst>
              <a:gd name="adj" fmla="val 571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425696" y="3127248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status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632704" y="3072384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181344" y="2907792"/>
            <a:ext cx="1078992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81344" y="3127248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add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7388352" y="3072384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936992" y="2907792"/>
            <a:ext cx="1078992" cy="640080"/>
          </a:xfrm>
          <a:prstGeom prst="roundRect">
            <a:avLst>
              <a:gd name="adj" fmla="val 5714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936992" y="3127248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commit</a:t>
            </a:r>
            <a:endParaRPr lang="en-US" sz="1320" dirty="0"/>
          </a:p>
        </p:txBody>
      </p:sp>
      <p:sp>
        <p:nvSpPr>
          <p:cNvPr id="24" name="Shape 21"/>
          <p:cNvSpPr/>
          <p:nvPr/>
        </p:nvSpPr>
        <p:spPr>
          <a:xfrm>
            <a:off x="9144000" y="3072384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692640" y="2907792"/>
            <a:ext cx="1078992" cy="640080"/>
          </a:xfrm>
          <a:prstGeom prst="roundRect">
            <a:avLst>
              <a:gd name="adj" fmla="val 5714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692640" y="3127248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push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1572768" y="4151376"/>
            <a:ext cx="8430768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682496" y="4261104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975104" y="4288536"/>
            <a:ext cx="7900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gracia de esta rutina es que puede repetirse muchas veces sin volverse confusa.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1938528" y="4736592"/>
            <a:ext cx="7699248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048256" y="4846320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340864" y="4873752"/>
            <a:ext cx="7168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Primero criterio y orden; después, flujos más complejos.</a:t>
            </a:r>
            <a:endParaRPr lang="en-US" sz="12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Versionar también expresa orden y criterio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 sirve mejor cuando se usa con hábitos claros y no solo como una lista de comandos.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32688" y="2176272"/>
            <a:ext cx="4279392" cy="3547872"/>
          </a:xfrm>
          <a:prstGeom prst="roundRect">
            <a:avLst>
              <a:gd name="adj" fmla="val 2062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25296" y="2505456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Hábitos que valen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1188720" y="3054096"/>
            <a:ext cx="3767328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98448" y="3163824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591056" y="3191256"/>
            <a:ext cx="3236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Cambiar con intención.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188720" y="3639312"/>
            <a:ext cx="3767328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298448" y="3749040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591056" y="3776472"/>
            <a:ext cx="3236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Revisar antes de registrar.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1188720" y="4224528"/>
            <a:ext cx="3767328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298448" y="4334256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591056" y="4361688"/>
            <a:ext cx="3236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Escribir mensajes que tengan sentido.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188720" y="4809744"/>
            <a:ext cx="3767328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298448" y="4919472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591056" y="4946904"/>
            <a:ext cx="3236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Mantener una historia legible.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5559552" y="2359152"/>
            <a:ext cx="557784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943600" y="2816352"/>
            <a:ext cx="47914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 no solo guarda trabajo: organiza la memoria técnica del proyecto.</a:t>
            </a:r>
            <a:endParaRPr lang="en-US" sz="2400" dirty="0"/>
          </a:p>
        </p:txBody>
      </p:sp>
      <p:sp>
        <p:nvSpPr>
          <p:cNvPr id="26" name="Shape 23"/>
          <p:cNvSpPr/>
          <p:nvPr/>
        </p:nvSpPr>
        <p:spPr>
          <a:xfrm>
            <a:off x="6291072" y="4846320"/>
            <a:ext cx="4096512" cy="457200"/>
          </a:xfrm>
          <a:prstGeom prst="roundRect">
            <a:avLst>
              <a:gd name="adj" fmla="val 800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92240" y="4974336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Cambios pequeños + registro claro + historia comprensible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Trunk-based y Gitflow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todos los equipos organizan ramas de la misma manera; conviene reconocer al menos dos enfoques iniciales.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77824" y="2176272"/>
            <a:ext cx="475488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88720" y="2505456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Trunk-based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1188720" y="2834640"/>
            <a:ext cx="731520" cy="347472"/>
          </a:xfrm>
          <a:prstGeom prst="roundRect">
            <a:avLst>
              <a:gd name="adj" fmla="val 2105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316736" y="2916936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2048256" y="2834640"/>
            <a:ext cx="1207008" cy="347472"/>
          </a:xfrm>
          <a:prstGeom prst="roundRect">
            <a:avLst>
              <a:gd name="adj" fmla="val 2105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176272" y="2916936"/>
            <a:ext cx="950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feature/*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401568" y="2834640"/>
            <a:ext cx="1444752" cy="347472"/>
          </a:xfrm>
          <a:prstGeom prst="roundRect">
            <a:avLst>
              <a:gd name="adj" fmla="val 2105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529584" y="2916936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merge rápido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1298448" y="4315968"/>
            <a:ext cx="3621024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426464" y="4187952"/>
            <a:ext cx="164592" cy="16459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139696" y="4187952"/>
            <a:ext cx="164592" cy="16459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852928" y="4187952"/>
            <a:ext cx="164592" cy="16459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566160" y="4187952"/>
            <a:ext cx="164592" cy="16459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79392" y="4187952"/>
            <a:ext cx="164592" cy="164592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901952" y="3602736"/>
            <a:ext cx="493776" cy="713232"/>
          </a:xfrm>
          <a:prstGeom prst="line">
            <a:avLst/>
          </a:prstGeom>
          <a:noFill/>
          <a:ln w="12700">
            <a:solidFill>
              <a:srgbClr val="102A43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828800" y="3529584"/>
            <a:ext cx="146304" cy="14630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779776" y="3529584"/>
            <a:ext cx="493776" cy="786384"/>
          </a:xfrm>
          <a:prstGeom prst="line">
            <a:avLst/>
          </a:prstGeom>
          <a:noFill/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706624" y="3456432"/>
            <a:ext cx="146304" cy="14630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657600" y="3675888"/>
            <a:ext cx="310896" cy="640080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584448" y="3602736"/>
            <a:ext cx="146304" cy="14630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298448" y="451713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20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1243584" y="4828032"/>
            <a:ext cx="3986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Rama principal estable, ramas muy cortas e integración frecuente sobre la línea principal.</a:t>
            </a:r>
            <a:endParaRPr lang="en-US" sz="1280" dirty="0"/>
          </a:p>
        </p:txBody>
      </p:sp>
      <p:sp>
        <p:nvSpPr>
          <p:cNvPr id="32" name="Shape 29"/>
          <p:cNvSpPr/>
          <p:nvPr/>
        </p:nvSpPr>
        <p:spPr>
          <a:xfrm>
            <a:off x="5870448" y="2176272"/>
            <a:ext cx="5394960" cy="3566160"/>
          </a:xfrm>
          <a:prstGeom prst="roundRect">
            <a:avLst>
              <a:gd name="adj" fmla="val 205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199632" y="250545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Gitflow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6199632" y="2834640"/>
            <a:ext cx="731520" cy="347472"/>
          </a:xfrm>
          <a:prstGeom prst="roundRect">
            <a:avLst>
              <a:gd name="adj" fmla="val 2105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327648" y="2916936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7040880" y="2834640"/>
            <a:ext cx="91440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168896" y="2916936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develop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8083296" y="2834640"/>
            <a:ext cx="1042416" cy="347472"/>
          </a:xfrm>
          <a:prstGeom prst="roundRect">
            <a:avLst>
              <a:gd name="adj" fmla="val 2105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211312" y="2916936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feature/*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9253728" y="2834640"/>
            <a:ext cx="859536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381744" y="2916936"/>
            <a:ext cx="603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release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10186416" y="2834640"/>
            <a:ext cx="749808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10314432" y="291693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hotfix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6473952" y="4535424"/>
            <a:ext cx="3694176" cy="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473952" y="3877056"/>
            <a:ext cx="3694176" cy="0"/>
          </a:xfrm>
          <a:prstGeom prst="line">
            <a:avLst/>
          </a:prstGeom>
          <a:noFill/>
          <a:ln w="12700">
            <a:solidFill>
              <a:srgbClr val="102A43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601968" y="3803904"/>
            <a:ext cx="146304" cy="14630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406640" y="3803904"/>
            <a:ext cx="146304" cy="14630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8211312" y="3803904"/>
            <a:ext cx="146304" cy="14630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9015984" y="3803904"/>
            <a:ext cx="146304" cy="14630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9820656" y="3803904"/>
            <a:ext cx="146304" cy="146304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729984" y="4462272"/>
            <a:ext cx="146304" cy="14630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754112" y="4462272"/>
            <a:ext cx="146304" cy="14630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778240" y="4462272"/>
            <a:ext cx="146304" cy="14630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9802368" y="4462272"/>
            <a:ext cx="146304" cy="14630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7077456" y="3273552"/>
            <a:ext cx="658368" cy="109728"/>
          </a:xfrm>
          <a:prstGeom prst="roundRect">
            <a:avLst>
              <a:gd name="adj" fmla="val 2500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7168896" y="3328416"/>
            <a:ext cx="0" cy="548640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7552944" y="3328416"/>
            <a:ext cx="0" cy="548640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8156448" y="3273552"/>
            <a:ext cx="658368" cy="109728"/>
          </a:xfrm>
          <a:prstGeom prst="roundRect">
            <a:avLst>
              <a:gd name="adj" fmla="val 2500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8247888" y="3328416"/>
            <a:ext cx="0" cy="548640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8631936" y="3328416"/>
            <a:ext cx="0" cy="548640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9144000" y="4096512"/>
            <a:ext cx="475488" cy="109728"/>
          </a:xfrm>
          <a:prstGeom prst="roundRect">
            <a:avLst>
              <a:gd name="adj" fmla="val 25000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9253728" y="3877056"/>
            <a:ext cx="0" cy="274320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9509760" y="4151376"/>
            <a:ext cx="0" cy="384048"/>
          </a:xfrm>
          <a:prstGeom prst="line">
            <a:avLst/>
          </a:prstGeom>
          <a:noFill/>
          <a:ln w="12700">
            <a:solidFill>
              <a:srgbClr val="E0BC5A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9765792" y="4059936"/>
            <a:ext cx="493776" cy="109728"/>
          </a:xfrm>
          <a:prstGeom prst="roundRect">
            <a:avLst>
              <a:gd name="adj" fmla="val 25000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9893808" y="4169664"/>
            <a:ext cx="0" cy="36576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10113264" y="4169664"/>
            <a:ext cx="0" cy="365760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6473952" y="3621024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0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6473952" y="4645152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20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7150608" y="3054096"/>
            <a:ext cx="841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features</a:t>
            </a:r>
            <a:endParaRPr lang="en-US" sz="1000" dirty="0"/>
          </a:p>
        </p:txBody>
      </p:sp>
      <p:sp>
        <p:nvSpPr>
          <p:cNvPr id="70" name="Text 67"/>
          <p:cNvSpPr/>
          <p:nvPr/>
        </p:nvSpPr>
        <p:spPr>
          <a:xfrm>
            <a:off x="9144000" y="391363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BC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release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765792" y="3877056"/>
            <a:ext cx="5852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620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hotfix</a:t>
            </a:r>
            <a:endParaRPr lang="en-US" sz="1000" dirty="0"/>
          </a:p>
        </p:txBody>
      </p:sp>
      <p:sp>
        <p:nvSpPr>
          <p:cNvPr id="72" name="Text 69"/>
          <p:cNvSpPr/>
          <p:nvPr/>
        </p:nvSpPr>
        <p:spPr>
          <a:xfrm>
            <a:off x="6199632" y="4828032"/>
            <a:ext cx="45171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 y develop conviven; features, release y hotfix salen y vuelven con mayor estructura.</a:t>
            </a:r>
            <a:endParaRPr lang="en-US" sz="128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conviene priorizar en este módulo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Primero importa entender una lógica simple y repetible antes de entrar a flujos más pesados.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50976" y="2194560"/>
            <a:ext cx="10241280" cy="1298448"/>
          </a:xfrm>
          <a:prstGeom prst="roundRect">
            <a:avLst>
              <a:gd name="adj" fmla="val 5634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335024" y="2578608"/>
            <a:ext cx="947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main + cambios pequeños + commits con sentido + sincronización frecuente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1024128" y="3968496"/>
            <a:ext cx="3035808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70432" y="4114800"/>
            <a:ext cx="164592" cy="115214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463040" y="4133088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Primero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1463040" y="4498848"/>
            <a:ext cx="2414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Entender qué problema resuelve Git y cómo se registra una historia clara.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572000" y="3968496"/>
            <a:ext cx="3035808" cy="1444752"/>
          </a:xfrm>
          <a:prstGeom prst="roundRect">
            <a:avLst>
              <a:gd name="adj" fmla="val 506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18304" y="4114800"/>
            <a:ext cx="164592" cy="115214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10912" y="4133088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Después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5010912" y="4498848"/>
            <a:ext cx="2414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Reconocer que existen modelos más estructurados como Gitflow.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119872" y="3968496"/>
            <a:ext cx="3035808" cy="1444752"/>
          </a:xfrm>
          <a:prstGeom prst="roundRect">
            <a:avLst>
              <a:gd name="adj" fmla="val 506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266176" y="4114800"/>
            <a:ext cx="164592" cy="115214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558784" y="4133088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Criterio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8558784" y="4498848"/>
            <a:ext cx="2414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Elegir una estrategia según complejidad, equipo y contexto del proyecto.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 para pensar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Estas preguntas recogen la lógica del bloque antes de pasar al flujo completo de trabajo.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96112" y="2157984"/>
            <a:ext cx="2523744" cy="3639312"/>
          </a:xfrm>
          <a:prstGeom prst="roundRect">
            <a:avLst>
              <a:gd name="adj" fmla="val 2899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15568" y="2596896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Git, GitHub y criterio</a:t>
            </a:r>
            <a:endParaRPr lang="en-US" sz="2300" dirty="0"/>
          </a:p>
        </p:txBody>
      </p:sp>
      <p:sp>
        <p:nvSpPr>
          <p:cNvPr id="12" name="Text 9"/>
          <p:cNvSpPr/>
          <p:nvPr/>
        </p:nvSpPr>
        <p:spPr>
          <a:xfrm>
            <a:off x="1152144" y="4187952"/>
            <a:ext cx="193852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9EE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cambia cuando el proyecto deja de ser solo una carpeta y pasa a tener historia?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895344" y="2249424"/>
            <a:ext cx="707745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005072" y="2359152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297680" y="2386584"/>
            <a:ext cx="6547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problema resuelve Git que no se resuelve solo guardando archivos?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3895344" y="2907792"/>
            <a:ext cx="7077456" cy="512064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5072" y="3017520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97680" y="3044952"/>
            <a:ext cx="6547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función cumplen git status, git add y git commit dentro de la secuencia básica?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3895344" y="3566160"/>
            <a:ext cx="707745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005072" y="3675888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97680" y="3703320"/>
            <a:ext cx="6547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diferencia existe entre Git local y GitHub como remoto?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3895344" y="4224528"/>
            <a:ext cx="7077456" cy="512064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005072" y="4334256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297680" y="4361688"/>
            <a:ext cx="6547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valor tiene poder volver a una versión anterior cuando algo falla?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3895344" y="4882896"/>
            <a:ext cx="707745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005072" y="4992624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297680" y="5020056"/>
            <a:ext cx="6547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diferencia general existe entre trunk-based y Gitflow?</a:t>
            </a:r>
            <a:endParaRPr lang="en-US" sz="12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 organiza la historia del proyecto y GitHub permite respaldarla y conectarla con un entorno remoto.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77824" y="2157984"/>
            <a:ext cx="6089904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70432" y="2450592"/>
            <a:ext cx="1261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clave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70432" y="2816352"/>
            <a:ext cx="54498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Versionar permite entender la historia del trabajo, no solo conservar archivos sueltos.</a:t>
            </a:r>
            <a:endParaRPr lang="en-US" sz="2300" dirty="0"/>
          </a:p>
        </p:txBody>
      </p:sp>
      <p:sp>
        <p:nvSpPr>
          <p:cNvPr id="13" name="Shape 10"/>
          <p:cNvSpPr/>
          <p:nvPr/>
        </p:nvSpPr>
        <p:spPr>
          <a:xfrm>
            <a:off x="7315200" y="2157984"/>
            <a:ext cx="3858768" cy="2907792"/>
          </a:xfrm>
          <a:prstGeom prst="roundRect">
            <a:avLst>
              <a:gd name="adj" fmla="val 2516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26096" y="250545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Siguiente foco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626096" y="2852928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Ahora toca integrar editor, navegador, DevTools, Git y GitHub dentro de una rutina real de trabajo.</a:t>
            </a:r>
            <a:endParaRPr lang="en-US" sz="1850" dirty="0"/>
          </a:p>
        </p:txBody>
      </p:sp>
      <p:sp>
        <p:nvSpPr>
          <p:cNvPr id="16" name="Shape 13"/>
          <p:cNvSpPr/>
          <p:nvPr/>
        </p:nvSpPr>
        <p:spPr>
          <a:xfrm>
            <a:off x="7644384" y="4352544"/>
            <a:ext cx="1152144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72400" y="4434840"/>
            <a:ext cx="8961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Flujo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979408" y="4352544"/>
            <a:ext cx="1408176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07424" y="4434840"/>
            <a:ext cx="11521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Integración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969264" y="4425696"/>
            <a:ext cx="5797296" cy="512064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78992" y="4535424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371600" y="4562856"/>
            <a:ext cx="5266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Pregunta de salida: ¿qué comando o concepto de este bloque te parece más decisivo para trabajar con orden?</a:t>
            </a:r>
            <a:endParaRPr lang="en-US" sz="12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5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8096" y="932688"/>
            <a:ext cx="3493008" cy="4608576"/>
          </a:xfrm>
          <a:prstGeom prst="roundRect">
            <a:avLst>
              <a:gd name="adj" fmla="val 209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78992" y="1439266"/>
            <a:ext cx="237744" cy="546811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64285" y="1225296"/>
            <a:ext cx="285293" cy="760781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697126" y="1439266"/>
            <a:ext cx="237744" cy="546811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938528" y="1554480"/>
            <a:ext cx="1389888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048256" y="1591056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4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1078992" y="2359152"/>
            <a:ext cx="2505456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Flujo de</a:t>
            </a:r>
            <a:endParaRPr lang="en-US" sz="2550" dirty="0"/>
          </a:p>
          <a:p>
            <a:pPr indent="0" marL="0">
              <a:buNone/>
            </a:pPr>
            <a:r>
              <a:rPr lang="en-US" sz="2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trabajo</a:t>
            </a:r>
            <a:endParaRPr lang="en-US" sz="2550" dirty="0"/>
          </a:p>
          <a:p>
            <a:pPr indent="0" marL="0">
              <a:buNone/>
            </a:pPr>
            <a:r>
              <a:rPr lang="en-US" sz="25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moderno</a:t>
            </a:r>
            <a:endParaRPr lang="en-US" sz="2550" dirty="0"/>
          </a:p>
        </p:txBody>
      </p:sp>
      <p:sp>
        <p:nvSpPr>
          <p:cNvPr id="13" name="Text 10"/>
          <p:cNvSpPr/>
          <p:nvPr/>
        </p:nvSpPr>
        <p:spPr>
          <a:xfrm>
            <a:off x="1078992" y="4297680"/>
            <a:ext cx="2542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80" dirty="0">
                <a:solidFill>
                  <a:srgbClr val="E9EE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herramientas se entienden mejor cuando aparecen dentro de una rutina técnica real.</a:t>
            </a:r>
            <a:endParaRPr lang="en-US" sz="1380" dirty="0"/>
          </a:p>
        </p:txBody>
      </p:sp>
      <p:sp>
        <p:nvSpPr>
          <p:cNvPr id="14" name="Shape 11"/>
          <p:cNvSpPr/>
          <p:nvPr/>
        </p:nvSpPr>
        <p:spPr>
          <a:xfrm>
            <a:off x="4535424" y="1353312"/>
            <a:ext cx="1792224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681728" y="1499616"/>
            <a:ext cx="164592" cy="58521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974336" y="151790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Editar</a:t>
            </a:r>
            <a:endParaRPr lang="en-US" sz="1520" dirty="0"/>
          </a:p>
        </p:txBody>
      </p:sp>
      <p:sp>
        <p:nvSpPr>
          <p:cNvPr id="17" name="Text 14"/>
          <p:cNvSpPr/>
          <p:nvPr/>
        </p:nvSpPr>
        <p:spPr>
          <a:xfrm>
            <a:off x="4974336" y="1883664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Proyecto</a:t>
            </a:r>
            <a:endParaRPr lang="en-US" sz="1110" dirty="0"/>
          </a:p>
        </p:txBody>
      </p:sp>
      <p:sp>
        <p:nvSpPr>
          <p:cNvPr id="18" name="Shape 15"/>
          <p:cNvSpPr/>
          <p:nvPr/>
        </p:nvSpPr>
        <p:spPr>
          <a:xfrm>
            <a:off x="6620256" y="1353312"/>
            <a:ext cx="1792224" cy="877824"/>
          </a:xfrm>
          <a:prstGeom prst="roundRect">
            <a:avLst>
              <a:gd name="adj" fmla="val 833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66560" y="1499616"/>
            <a:ext cx="164592" cy="58521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59168" y="151790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Probar</a:t>
            </a:r>
            <a:endParaRPr lang="en-US" sz="1520" dirty="0"/>
          </a:p>
        </p:txBody>
      </p:sp>
      <p:sp>
        <p:nvSpPr>
          <p:cNvPr id="21" name="Text 18"/>
          <p:cNvSpPr/>
          <p:nvPr/>
        </p:nvSpPr>
        <p:spPr>
          <a:xfrm>
            <a:off x="7059168" y="1883664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Navegador</a:t>
            </a:r>
            <a:endParaRPr lang="en-US" sz="1110" dirty="0"/>
          </a:p>
        </p:txBody>
      </p:sp>
      <p:sp>
        <p:nvSpPr>
          <p:cNvPr id="22" name="Shape 19"/>
          <p:cNvSpPr/>
          <p:nvPr/>
        </p:nvSpPr>
        <p:spPr>
          <a:xfrm>
            <a:off x="8705088" y="1353312"/>
            <a:ext cx="1792224" cy="877824"/>
          </a:xfrm>
          <a:prstGeom prst="roundRect">
            <a:avLst>
              <a:gd name="adj" fmla="val 83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851392" y="1499616"/>
            <a:ext cx="164592" cy="58521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144000" y="1517904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Inspeccionar</a:t>
            </a:r>
            <a:endParaRPr lang="en-US" sz="1360" dirty="0"/>
          </a:p>
        </p:txBody>
      </p:sp>
      <p:sp>
        <p:nvSpPr>
          <p:cNvPr id="25" name="Text 22"/>
          <p:cNvSpPr/>
          <p:nvPr/>
        </p:nvSpPr>
        <p:spPr>
          <a:xfrm>
            <a:off x="9144000" y="1883664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DevTools</a:t>
            </a:r>
            <a:endParaRPr lang="en-US" sz="1110" dirty="0"/>
          </a:p>
        </p:txBody>
      </p:sp>
      <p:sp>
        <p:nvSpPr>
          <p:cNvPr id="26" name="Shape 23"/>
          <p:cNvSpPr/>
          <p:nvPr/>
        </p:nvSpPr>
        <p:spPr>
          <a:xfrm>
            <a:off x="4535424" y="3493008"/>
            <a:ext cx="1792224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681728" y="3639312"/>
            <a:ext cx="164592" cy="58521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974336" y="3657600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Corregir</a:t>
            </a:r>
            <a:endParaRPr lang="en-US" sz="1520" dirty="0"/>
          </a:p>
        </p:txBody>
      </p:sp>
      <p:sp>
        <p:nvSpPr>
          <p:cNvPr id="29" name="Text 26"/>
          <p:cNvSpPr/>
          <p:nvPr/>
        </p:nvSpPr>
        <p:spPr>
          <a:xfrm>
            <a:off x="4974336" y="4023360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Ajustar</a:t>
            </a:r>
            <a:endParaRPr lang="en-US" sz="1110" dirty="0"/>
          </a:p>
        </p:txBody>
      </p:sp>
      <p:sp>
        <p:nvSpPr>
          <p:cNvPr id="30" name="Shape 27"/>
          <p:cNvSpPr/>
          <p:nvPr/>
        </p:nvSpPr>
        <p:spPr>
          <a:xfrm>
            <a:off x="6620256" y="3493008"/>
            <a:ext cx="1792224" cy="877824"/>
          </a:xfrm>
          <a:prstGeom prst="roundRect">
            <a:avLst>
              <a:gd name="adj" fmla="val 833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766560" y="3639312"/>
            <a:ext cx="164592" cy="58521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059168" y="3657600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Registrar</a:t>
            </a:r>
            <a:endParaRPr lang="en-US" sz="1520" dirty="0"/>
          </a:p>
        </p:txBody>
      </p:sp>
      <p:sp>
        <p:nvSpPr>
          <p:cNvPr id="33" name="Text 30"/>
          <p:cNvSpPr/>
          <p:nvPr/>
        </p:nvSpPr>
        <p:spPr>
          <a:xfrm>
            <a:off x="7059168" y="4023360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</a:t>
            </a:r>
            <a:endParaRPr lang="en-US" sz="1110" dirty="0"/>
          </a:p>
        </p:txBody>
      </p:sp>
      <p:sp>
        <p:nvSpPr>
          <p:cNvPr id="34" name="Shape 31"/>
          <p:cNvSpPr/>
          <p:nvPr/>
        </p:nvSpPr>
        <p:spPr>
          <a:xfrm>
            <a:off x="8705088" y="3493008"/>
            <a:ext cx="1792224" cy="877824"/>
          </a:xfrm>
          <a:prstGeom prst="roundRect">
            <a:avLst>
              <a:gd name="adj" fmla="val 833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851392" y="3639312"/>
            <a:ext cx="164592" cy="58521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144000" y="3657600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Sincronizar</a:t>
            </a:r>
            <a:endParaRPr lang="en-US" sz="1440" dirty="0"/>
          </a:p>
        </p:txBody>
      </p:sp>
      <p:sp>
        <p:nvSpPr>
          <p:cNvPr id="37" name="Text 34"/>
          <p:cNvSpPr/>
          <p:nvPr/>
        </p:nvSpPr>
        <p:spPr>
          <a:xfrm>
            <a:off x="9144000" y="4023360"/>
            <a:ext cx="1170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1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</a:t>
            </a:r>
            <a:endParaRPr lang="en-US" sz="1110" dirty="0"/>
          </a:p>
        </p:txBody>
      </p:sp>
      <p:sp>
        <p:nvSpPr>
          <p:cNvPr id="38" name="Shape 35"/>
          <p:cNvSpPr/>
          <p:nvPr/>
        </p:nvSpPr>
        <p:spPr>
          <a:xfrm>
            <a:off x="6382512" y="1627632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467344" y="1627632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382512" y="376732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467344" y="376732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553712" y="5047488"/>
            <a:ext cx="5980176" cy="420624"/>
          </a:xfrm>
          <a:prstGeom prst="roundRect">
            <a:avLst>
              <a:gd name="adj" fmla="val 8696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791456" y="5184648"/>
            <a:ext cx="5504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flujo sano hace visible el recorrido completo del cambio.</a:t>
            </a:r>
            <a:endParaRPr lang="en-US" sz="122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herramientas sueltas a rutina técnica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importante no es tener varias herramientas abiertas, sino entender cómo se articulan dentro del trabajo.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9536" y="2121408"/>
            <a:ext cx="2962656" cy="3511296"/>
          </a:xfrm>
          <a:prstGeom prst="roundRect">
            <a:avLst>
              <a:gd name="adj" fmla="val 2469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33856" y="2359152"/>
            <a:ext cx="19019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Herramientas</a:t>
            </a:r>
            <a:endParaRPr lang="en-US" sz="1860" dirty="0"/>
          </a:p>
          <a:p>
            <a:pPr indent="0" marL="0">
              <a:buNone/>
            </a:pPr>
            <a:r>
              <a:rPr lang="en-US" sz="18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sueltas</a:t>
            </a:r>
            <a:endParaRPr lang="en-US" sz="1860" dirty="0"/>
          </a:p>
        </p:txBody>
      </p:sp>
      <p:sp>
        <p:nvSpPr>
          <p:cNvPr id="12" name="Shape 9"/>
          <p:cNvSpPr/>
          <p:nvPr/>
        </p:nvSpPr>
        <p:spPr>
          <a:xfrm>
            <a:off x="1133856" y="2907792"/>
            <a:ext cx="1078992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61872" y="2990088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Editor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2432304" y="2907792"/>
            <a:ext cx="1298448" cy="347472"/>
          </a:xfrm>
          <a:prstGeom prst="roundRect">
            <a:avLst>
              <a:gd name="adj" fmla="val 2105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560320" y="2990088"/>
            <a:ext cx="10424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Navegador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1133856" y="3566160"/>
            <a:ext cx="1078992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61872" y="3648456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DevTools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2432304" y="3566160"/>
            <a:ext cx="1078992" cy="347472"/>
          </a:xfrm>
          <a:prstGeom prst="roundRect">
            <a:avLst>
              <a:gd name="adj" fmla="val 2105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560320" y="3648456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1133856" y="4224528"/>
            <a:ext cx="1901952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261872" y="4306824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1133856" y="4736592"/>
            <a:ext cx="24323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cada una aparece aislada, el trabajo se vuelve fragmentado y cuesta leer el proceso.</a:t>
            </a:r>
            <a:endParaRPr lang="en-US" sz="1230" dirty="0"/>
          </a:p>
        </p:txBody>
      </p:sp>
      <p:sp>
        <p:nvSpPr>
          <p:cNvPr id="23" name="Shape 20"/>
          <p:cNvSpPr/>
          <p:nvPr/>
        </p:nvSpPr>
        <p:spPr>
          <a:xfrm>
            <a:off x="4224528" y="3511296"/>
            <a:ext cx="530352" cy="749808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010912" y="2286000"/>
            <a:ext cx="5614416" cy="3255264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03520" y="2505456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4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Rutina técnica</a:t>
            </a:r>
            <a:endParaRPr lang="en-US" sz="1840" dirty="0"/>
          </a:p>
        </p:txBody>
      </p:sp>
      <p:sp>
        <p:nvSpPr>
          <p:cNvPr id="26" name="Shape 23"/>
          <p:cNvSpPr/>
          <p:nvPr/>
        </p:nvSpPr>
        <p:spPr>
          <a:xfrm>
            <a:off x="5321808" y="2926080"/>
            <a:ext cx="1682496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468112" y="3072384"/>
            <a:ext cx="164592" cy="530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760720" y="30906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Editar</a:t>
            </a:r>
            <a:endParaRPr lang="en-US" sz="1480" dirty="0"/>
          </a:p>
        </p:txBody>
      </p:sp>
      <p:sp>
        <p:nvSpPr>
          <p:cNvPr id="29" name="Text 26"/>
          <p:cNvSpPr/>
          <p:nvPr/>
        </p:nvSpPr>
        <p:spPr>
          <a:xfrm>
            <a:off x="5760720" y="3456432"/>
            <a:ext cx="1060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Cambiar con intención</a:t>
            </a:r>
            <a:endParaRPr lang="en-US" sz="1020" dirty="0"/>
          </a:p>
        </p:txBody>
      </p:sp>
      <p:sp>
        <p:nvSpPr>
          <p:cNvPr id="30" name="Shape 27"/>
          <p:cNvSpPr/>
          <p:nvPr/>
        </p:nvSpPr>
        <p:spPr>
          <a:xfrm>
            <a:off x="7278624" y="2926080"/>
            <a:ext cx="1682496" cy="822960"/>
          </a:xfrm>
          <a:prstGeom prst="roundRect">
            <a:avLst>
              <a:gd name="adj" fmla="val 8889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424928" y="3072384"/>
            <a:ext cx="164592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717536" y="30906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Probar</a:t>
            </a:r>
            <a:endParaRPr lang="en-US" sz="1480" dirty="0"/>
          </a:p>
        </p:txBody>
      </p:sp>
      <p:sp>
        <p:nvSpPr>
          <p:cNvPr id="33" name="Text 30"/>
          <p:cNvSpPr/>
          <p:nvPr/>
        </p:nvSpPr>
        <p:spPr>
          <a:xfrm>
            <a:off x="7717536" y="3456432"/>
            <a:ext cx="1060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 qué ocurrió</a:t>
            </a:r>
            <a:endParaRPr lang="en-US" sz="1020" dirty="0"/>
          </a:p>
        </p:txBody>
      </p:sp>
      <p:sp>
        <p:nvSpPr>
          <p:cNvPr id="34" name="Shape 31"/>
          <p:cNvSpPr/>
          <p:nvPr/>
        </p:nvSpPr>
        <p:spPr>
          <a:xfrm>
            <a:off x="9235440" y="2926080"/>
            <a:ext cx="1682496" cy="822960"/>
          </a:xfrm>
          <a:prstGeom prst="roundRect">
            <a:avLst>
              <a:gd name="adj" fmla="val 8889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381744" y="3072384"/>
            <a:ext cx="164592" cy="53035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674352" y="30906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Inspeccionar</a:t>
            </a:r>
            <a:endParaRPr lang="en-US" sz="1480" dirty="0"/>
          </a:p>
        </p:txBody>
      </p:sp>
      <p:sp>
        <p:nvSpPr>
          <p:cNvPr id="37" name="Text 34"/>
          <p:cNvSpPr/>
          <p:nvPr/>
        </p:nvSpPr>
        <p:spPr>
          <a:xfrm>
            <a:off x="9674352" y="3456432"/>
            <a:ext cx="1060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Reunir evidencia</a:t>
            </a:r>
            <a:endParaRPr lang="en-US" sz="1020" dirty="0"/>
          </a:p>
        </p:txBody>
      </p:sp>
      <p:sp>
        <p:nvSpPr>
          <p:cNvPr id="38" name="Shape 35"/>
          <p:cNvSpPr/>
          <p:nvPr/>
        </p:nvSpPr>
        <p:spPr>
          <a:xfrm>
            <a:off x="6309360" y="4133088"/>
            <a:ext cx="1682496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455664" y="4279392"/>
            <a:ext cx="164592" cy="530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748272" y="42976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Corregir</a:t>
            </a:r>
            <a:endParaRPr lang="en-US" sz="1480" dirty="0"/>
          </a:p>
        </p:txBody>
      </p:sp>
      <p:sp>
        <p:nvSpPr>
          <p:cNvPr id="41" name="Text 38"/>
          <p:cNvSpPr/>
          <p:nvPr/>
        </p:nvSpPr>
        <p:spPr>
          <a:xfrm>
            <a:off x="6748272" y="4663440"/>
            <a:ext cx="1060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Ajustar y repetir</a:t>
            </a:r>
            <a:endParaRPr lang="en-US" sz="1020" dirty="0"/>
          </a:p>
        </p:txBody>
      </p:sp>
      <p:sp>
        <p:nvSpPr>
          <p:cNvPr id="42" name="Shape 39"/>
          <p:cNvSpPr/>
          <p:nvPr/>
        </p:nvSpPr>
        <p:spPr>
          <a:xfrm>
            <a:off x="8266176" y="4133088"/>
            <a:ext cx="1682496" cy="822960"/>
          </a:xfrm>
          <a:prstGeom prst="roundRect">
            <a:avLst>
              <a:gd name="adj" fmla="val 8889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412480" y="4279392"/>
            <a:ext cx="164592" cy="530352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705088" y="42976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Registrar</a:t>
            </a:r>
            <a:endParaRPr lang="en-US" sz="1480" dirty="0"/>
          </a:p>
        </p:txBody>
      </p:sp>
      <p:sp>
        <p:nvSpPr>
          <p:cNvPr id="45" name="Text 42"/>
          <p:cNvSpPr/>
          <p:nvPr/>
        </p:nvSpPr>
        <p:spPr>
          <a:xfrm>
            <a:off x="8705088" y="4663440"/>
            <a:ext cx="1060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Guardar la historia</a:t>
            </a:r>
            <a:endParaRPr lang="en-US" sz="1020" dirty="0"/>
          </a:p>
        </p:txBody>
      </p:sp>
      <p:sp>
        <p:nvSpPr>
          <p:cNvPr id="46" name="Shape 43"/>
          <p:cNvSpPr/>
          <p:nvPr/>
        </p:nvSpPr>
        <p:spPr>
          <a:xfrm>
            <a:off x="6967728" y="3182112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924544" y="3182112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340096" y="5047488"/>
            <a:ext cx="4956048" cy="310896"/>
          </a:xfrm>
          <a:prstGeom prst="roundRect">
            <a:avLst>
              <a:gd name="adj" fmla="val 11765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577840" y="5129784"/>
            <a:ext cx="4480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herramientas dejan de ser ventanas separadas y pasan a formar una secuencia.</a:t>
            </a:r>
            <a:endParaRPr lang="en-US" sz="112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imagen lineal y el trabajo real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Aprender a desarrollar también implica abandonar la idea de escribir una vez y terminar.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77824" y="2139696"/>
            <a:ext cx="2871216" cy="3547872"/>
          </a:xfrm>
          <a:prstGeom prst="roundRect">
            <a:avLst>
              <a:gd name="adj" fmla="val 25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52144" y="2468880"/>
            <a:ext cx="1700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Imagen lineal</a:t>
            </a:r>
            <a:endParaRPr lang="en-US" sz="1850" dirty="0"/>
          </a:p>
        </p:txBody>
      </p:sp>
      <p:sp>
        <p:nvSpPr>
          <p:cNvPr id="12" name="Shape 9"/>
          <p:cNvSpPr/>
          <p:nvPr/>
        </p:nvSpPr>
        <p:spPr>
          <a:xfrm>
            <a:off x="1078992" y="2962656"/>
            <a:ext cx="2359152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88720" y="3072384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481328" y="3099816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Abrir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078992" y="3547872"/>
            <a:ext cx="2359152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88720" y="3657600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481328" y="368503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Escribir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1078992" y="4133088"/>
            <a:ext cx="2359152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88720" y="4242816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481328" y="4270248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Guardar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078992" y="4718304"/>
            <a:ext cx="2359152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88720" y="4828032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481328" y="4855464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Terminar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096512" y="2139696"/>
            <a:ext cx="7150608" cy="3547872"/>
          </a:xfrm>
          <a:prstGeom prst="roundRect">
            <a:avLst>
              <a:gd name="adj" fmla="val 206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443984" y="2468880"/>
            <a:ext cx="1847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Trabajo real</a:t>
            </a:r>
            <a:endParaRPr lang="en-US" sz="1850" dirty="0"/>
          </a:p>
        </p:txBody>
      </p:sp>
      <p:sp>
        <p:nvSpPr>
          <p:cNvPr id="26" name="Shape 23"/>
          <p:cNvSpPr/>
          <p:nvPr/>
        </p:nvSpPr>
        <p:spPr>
          <a:xfrm>
            <a:off x="4645152" y="2907792"/>
            <a:ext cx="1755648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754880" y="3017520"/>
            <a:ext cx="146304" cy="3108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10912" y="3054096"/>
            <a:ext cx="12435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Editar</a:t>
            </a:r>
            <a:endParaRPr lang="en-US" sz="1180" dirty="0"/>
          </a:p>
        </p:txBody>
      </p:sp>
      <p:sp>
        <p:nvSpPr>
          <p:cNvPr id="29" name="Shape 26"/>
          <p:cNvSpPr/>
          <p:nvPr/>
        </p:nvSpPr>
        <p:spPr>
          <a:xfrm>
            <a:off x="7479792" y="2907792"/>
            <a:ext cx="1755648" cy="530352"/>
          </a:xfrm>
          <a:prstGeom prst="roundRect">
            <a:avLst>
              <a:gd name="adj" fmla="val 689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589520" y="3017520"/>
            <a:ext cx="146304" cy="3108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45552" y="3054096"/>
            <a:ext cx="12435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Probar</a:t>
            </a:r>
            <a:endParaRPr lang="en-US" sz="1180" dirty="0"/>
          </a:p>
        </p:txBody>
      </p:sp>
      <p:sp>
        <p:nvSpPr>
          <p:cNvPr id="32" name="Shape 29"/>
          <p:cNvSpPr/>
          <p:nvPr/>
        </p:nvSpPr>
        <p:spPr>
          <a:xfrm>
            <a:off x="7479792" y="4023360"/>
            <a:ext cx="1755648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589520" y="4133088"/>
            <a:ext cx="146304" cy="3108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45552" y="4169664"/>
            <a:ext cx="12435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Observar</a:t>
            </a:r>
            <a:endParaRPr lang="en-US" sz="1180" dirty="0"/>
          </a:p>
        </p:txBody>
      </p:sp>
      <p:sp>
        <p:nvSpPr>
          <p:cNvPr id="35" name="Shape 32"/>
          <p:cNvSpPr/>
          <p:nvPr/>
        </p:nvSpPr>
        <p:spPr>
          <a:xfrm>
            <a:off x="4645152" y="4023360"/>
            <a:ext cx="1755648" cy="530352"/>
          </a:xfrm>
          <a:prstGeom prst="roundRect">
            <a:avLst>
              <a:gd name="adj" fmla="val 689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754880" y="4133088"/>
            <a:ext cx="146304" cy="3108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010912" y="4169664"/>
            <a:ext cx="12435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Corregir</a:t>
            </a:r>
            <a:endParaRPr lang="en-US" sz="1180" dirty="0"/>
          </a:p>
        </p:txBody>
      </p:sp>
      <p:sp>
        <p:nvSpPr>
          <p:cNvPr id="38" name="Shape 35"/>
          <p:cNvSpPr/>
          <p:nvPr/>
        </p:nvSpPr>
        <p:spPr>
          <a:xfrm>
            <a:off x="5815584" y="3529584"/>
            <a:ext cx="1956816" cy="347472"/>
          </a:xfrm>
          <a:prstGeom prst="roundRect">
            <a:avLst>
              <a:gd name="adj" fmla="val 2105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943600" y="3611880"/>
            <a:ext cx="17007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Repetir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4572000" y="4882896"/>
            <a:ext cx="566928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681728" y="4992624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974336" y="5020056"/>
            <a:ext cx="5138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aparece cuando el cambio ya fue revisado y entendido.</a:t>
            </a:r>
            <a:endParaRPr lang="en-US" sz="1250" dirty="0"/>
          </a:p>
        </p:txBody>
      </p:sp>
      <p:sp>
        <p:nvSpPr>
          <p:cNvPr id="43" name="Text 40"/>
          <p:cNvSpPr/>
          <p:nvPr/>
        </p:nvSpPr>
        <p:spPr>
          <a:xfrm>
            <a:off x="4535424" y="5449824"/>
            <a:ext cx="6272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trabajo real vuelve sobre el cambio varias veces antes de darlo por cerrado.</a:t>
            </a:r>
            <a:endParaRPr lang="en-US" sz="118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ciclo simple de desarrollo web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Editar, probar, inspeccionar, corregir y registrar forman una secuencia corta que se repite.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2286000"/>
            <a:ext cx="164592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60704" y="2432304"/>
            <a:ext cx="164592" cy="5669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353312" y="2450592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Editar</a:t>
            </a:r>
            <a:endParaRPr lang="en-US" sz="1460" dirty="0"/>
          </a:p>
        </p:txBody>
      </p:sp>
      <p:sp>
        <p:nvSpPr>
          <p:cNvPr id="13" name="Text 10"/>
          <p:cNvSpPr/>
          <p:nvPr/>
        </p:nvSpPr>
        <p:spPr>
          <a:xfrm>
            <a:off x="1353312" y="2816352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Proyecto</a:t>
            </a:r>
            <a:endParaRPr lang="en-US" sz="1020" dirty="0"/>
          </a:p>
        </p:txBody>
      </p:sp>
      <p:sp>
        <p:nvSpPr>
          <p:cNvPr id="14" name="Shape 11"/>
          <p:cNvSpPr/>
          <p:nvPr/>
        </p:nvSpPr>
        <p:spPr>
          <a:xfrm>
            <a:off x="2834640" y="2286000"/>
            <a:ext cx="1645920" cy="859536"/>
          </a:xfrm>
          <a:prstGeom prst="roundRect">
            <a:avLst>
              <a:gd name="adj" fmla="val 851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80944" y="2432304"/>
            <a:ext cx="164592" cy="5669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73552" y="2450592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Probar</a:t>
            </a:r>
            <a:endParaRPr lang="en-US" sz="1460" dirty="0"/>
          </a:p>
        </p:txBody>
      </p:sp>
      <p:sp>
        <p:nvSpPr>
          <p:cNvPr id="17" name="Text 14"/>
          <p:cNvSpPr/>
          <p:nvPr/>
        </p:nvSpPr>
        <p:spPr>
          <a:xfrm>
            <a:off x="3273552" y="2816352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Navegador</a:t>
            </a:r>
            <a:endParaRPr lang="en-US" sz="1020" dirty="0"/>
          </a:p>
        </p:txBody>
      </p:sp>
      <p:sp>
        <p:nvSpPr>
          <p:cNvPr id="18" name="Shape 15"/>
          <p:cNvSpPr/>
          <p:nvPr/>
        </p:nvSpPr>
        <p:spPr>
          <a:xfrm>
            <a:off x="4754880" y="2286000"/>
            <a:ext cx="1645920" cy="859536"/>
          </a:xfrm>
          <a:prstGeom prst="roundRect">
            <a:avLst>
              <a:gd name="adj" fmla="val 851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901184" y="2432304"/>
            <a:ext cx="164592" cy="5669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193792" y="2450592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Inspección</a:t>
            </a:r>
            <a:endParaRPr lang="en-US" sz="1320" dirty="0"/>
          </a:p>
        </p:txBody>
      </p:sp>
      <p:sp>
        <p:nvSpPr>
          <p:cNvPr id="21" name="Text 18"/>
          <p:cNvSpPr/>
          <p:nvPr/>
        </p:nvSpPr>
        <p:spPr>
          <a:xfrm>
            <a:off x="5193792" y="2816352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DevTools</a:t>
            </a:r>
            <a:endParaRPr lang="en-US" sz="1020" dirty="0"/>
          </a:p>
        </p:txBody>
      </p:sp>
      <p:sp>
        <p:nvSpPr>
          <p:cNvPr id="22" name="Shape 19"/>
          <p:cNvSpPr/>
          <p:nvPr/>
        </p:nvSpPr>
        <p:spPr>
          <a:xfrm>
            <a:off x="6675120" y="2286000"/>
            <a:ext cx="164592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821424" y="2432304"/>
            <a:ext cx="164592" cy="56692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114032" y="2450592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Corregir</a:t>
            </a:r>
            <a:endParaRPr lang="en-US" sz="1460" dirty="0"/>
          </a:p>
        </p:txBody>
      </p:sp>
      <p:sp>
        <p:nvSpPr>
          <p:cNvPr id="25" name="Text 22"/>
          <p:cNvSpPr/>
          <p:nvPr/>
        </p:nvSpPr>
        <p:spPr>
          <a:xfrm>
            <a:off x="7114032" y="2816352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Ajustar</a:t>
            </a:r>
            <a:endParaRPr lang="en-US" sz="1020" dirty="0"/>
          </a:p>
        </p:txBody>
      </p:sp>
      <p:sp>
        <p:nvSpPr>
          <p:cNvPr id="26" name="Shape 23"/>
          <p:cNvSpPr/>
          <p:nvPr/>
        </p:nvSpPr>
        <p:spPr>
          <a:xfrm>
            <a:off x="8595360" y="2286000"/>
            <a:ext cx="1645920" cy="859536"/>
          </a:xfrm>
          <a:prstGeom prst="roundRect">
            <a:avLst>
              <a:gd name="adj" fmla="val 851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741664" y="2432304"/>
            <a:ext cx="164592" cy="56692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034272" y="2450592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6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Revisar</a:t>
            </a:r>
            <a:endParaRPr lang="en-US" sz="1460" dirty="0"/>
          </a:p>
        </p:txBody>
      </p:sp>
      <p:sp>
        <p:nvSpPr>
          <p:cNvPr id="29" name="Text 26"/>
          <p:cNvSpPr/>
          <p:nvPr/>
        </p:nvSpPr>
        <p:spPr>
          <a:xfrm>
            <a:off x="9034272" y="2816352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 status</a:t>
            </a:r>
            <a:endParaRPr lang="en-US" sz="1020" dirty="0"/>
          </a:p>
        </p:txBody>
      </p:sp>
      <p:sp>
        <p:nvSpPr>
          <p:cNvPr id="30" name="Shape 27"/>
          <p:cNvSpPr/>
          <p:nvPr/>
        </p:nvSpPr>
        <p:spPr>
          <a:xfrm>
            <a:off x="2615184" y="257860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35424" y="257860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55664" y="257860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375904" y="257860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96112" y="4315968"/>
            <a:ext cx="1627632" cy="786384"/>
          </a:xfrm>
          <a:prstGeom prst="roundRect">
            <a:avLst>
              <a:gd name="adj" fmla="val 4651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078992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i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algo falla,</a:t>
            </a:r>
            <a:endParaRPr lang="en-US" sz="1020" dirty="0"/>
          </a:p>
          <a:p>
            <a:pPr indent="0" marL="0">
              <a:buNone/>
            </a:pPr>
            <a:r>
              <a:rPr lang="en-US" sz="1020" i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vuelve a editar.</a:t>
            </a:r>
            <a:endParaRPr lang="en-US" sz="1020" dirty="0"/>
          </a:p>
        </p:txBody>
      </p:sp>
      <p:sp>
        <p:nvSpPr>
          <p:cNvPr id="36" name="Shape 33"/>
          <p:cNvSpPr/>
          <p:nvPr/>
        </p:nvSpPr>
        <p:spPr>
          <a:xfrm>
            <a:off x="2871216" y="4224528"/>
            <a:ext cx="5394960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090672" y="4389120"/>
            <a:ext cx="2084832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236976" y="4535424"/>
            <a:ext cx="164592" cy="4206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529584" y="4553712"/>
            <a:ext cx="1499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Commit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3529584" y="4919472"/>
            <a:ext cx="1463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con sentido</a:t>
            </a:r>
            <a:endParaRPr lang="en-US" sz="1060" dirty="0"/>
          </a:p>
        </p:txBody>
      </p:sp>
      <p:sp>
        <p:nvSpPr>
          <p:cNvPr id="41" name="Shape 38"/>
          <p:cNvSpPr/>
          <p:nvPr/>
        </p:nvSpPr>
        <p:spPr>
          <a:xfrm>
            <a:off x="5760720" y="4389120"/>
            <a:ext cx="2084832" cy="713232"/>
          </a:xfrm>
          <a:prstGeom prst="roundRect">
            <a:avLst>
              <a:gd name="adj" fmla="val 10256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907024" y="4535424"/>
            <a:ext cx="164592" cy="4206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199632" y="4553712"/>
            <a:ext cx="1499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GitHub</a:t>
            </a:r>
            <a:endParaRPr lang="en-US" sz="1500" dirty="0"/>
          </a:p>
        </p:txBody>
      </p:sp>
      <p:sp>
        <p:nvSpPr>
          <p:cNvPr id="44" name="Text 41"/>
          <p:cNvSpPr/>
          <p:nvPr/>
        </p:nvSpPr>
        <p:spPr>
          <a:xfrm>
            <a:off x="6199632" y="4919472"/>
            <a:ext cx="1463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Sincronizar</a:t>
            </a:r>
            <a:endParaRPr lang="en-US" sz="1060" dirty="0"/>
          </a:p>
        </p:txBody>
      </p:sp>
      <p:sp>
        <p:nvSpPr>
          <p:cNvPr id="45" name="Shape 42"/>
          <p:cNvSpPr/>
          <p:nvPr/>
        </p:nvSpPr>
        <p:spPr>
          <a:xfrm>
            <a:off x="5321808" y="4608576"/>
            <a:ext cx="310896" cy="237744"/>
          </a:xfrm>
          <a:prstGeom prst="chevron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2834640" y="5522976"/>
            <a:ext cx="5504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algo falla, el ciclo vuelve hacia atrás con más información.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Antes de registrar, el cambio debe respirar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commit aparece mejor cuando el cambio ya fue visto, probado, acotado y entendido.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32688" y="2487168"/>
            <a:ext cx="1956816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78992" y="2633472"/>
            <a:ext cx="164592" cy="7863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371600" y="26517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Visto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371600" y="301752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Ya se revisó en navegador.</a:t>
            </a:r>
            <a:endParaRPr lang="en-US" sz="1080" dirty="0"/>
          </a:p>
        </p:txBody>
      </p:sp>
      <p:sp>
        <p:nvSpPr>
          <p:cNvPr id="14" name="Shape 11"/>
          <p:cNvSpPr/>
          <p:nvPr/>
        </p:nvSpPr>
        <p:spPr>
          <a:xfrm>
            <a:off x="3675888" y="2487168"/>
            <a:ext cx="1956816" cy="1078992"/>
          </a:xfrm>
          <a:prstGeom prst="roundRect">
            <a:avLst>
              <a:gd name="adj" fmla="val 678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2192" y="2633472"/>
            <a:ext cx="164592" cy="78638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14800" y="26517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Inspeccionado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114800" y="301752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DevTools ayudó a entender la causa.</a:t>
            </a:r>
            <a:endParaRPr lang="en-US" sz="1080" dirty="0"/>
          </a:p>
        </p:txBody>
      </p:sp>
      <p:sp>
        <p:nvSpPr>
          <p:cNvPr id="18" name="Shape 15"/>
          <p:cNvSpPr/>
          <p:nvPr/>
        </p:nvSpPr>
        <p:spPr>
          <a:xfrm>
            <a:off x="6419088" y="2487168"/>
            <a:ext cx="1956816" cy="1078992"/>
          </a:xfrm>
          <a:prstGeom prst="roundRect">
            <a:avLst>
              <a:gd name="adj" fmla="val 6780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65392" y="2633472"/>
            <a:ext cx="164592" cy="78638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858000" y="26517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Acotado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858000" y="301752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mezcla problemas distintos.</a:t>
            </a:r>
            <a:endParaRPr lang="en-US" sz="1080" dirty="0"/>
          </a:p>
        </p:txBody>
      </p:sp>
      <p:sp>
        <p:nvSpPr>
          <p:cNvPr id="22" name="Shape 19"/>
          <p:cNvSpPr/>
          <p:nvPr/>
        </p:nvSpPr>
        <p:spPr>
          <a:xfrm>
            <a:off x="9162288" y="2487168"/>
            <a:ext cx="1956816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308592" y="2633472"/>
            <a:ext cx="164592" cy="78638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01200" y="26517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Explicable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9601200" y="3017520"/>
            <a:ext cx="1335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puede resumir en una frase.</a:t>
            </a:r>
            <a:endParaRPr lang="en-US" sz="1080" dirty="0"/>
          </a:p>
        </p:txBody>
      </p:sp>
      <p:sp>
        <p:nvSpPr>
          <p:cNvPr id="26" name="Shape 23"/>
          <p:cNvSpPr/>
          <p:nvPr/>
        </p:nvSpPr>
        <p:spPr>
          <a:xfrm>
            <a:off x="2029968" y="4242816"/>
            <a:ext cx="7095744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139696" y="4352544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432304" y="4379976"/>
            <a:ext cx="65653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demasiado pronto produce historial ruidoso y commits poco útiles.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3877056" y="4828032"/>
            <a:ext cx="3383280" cy="438912"/>
          </a:xfrm>
          <a:prstGeom prst="roundRect">
            <a:avLst>
              <a:gd name="adj" fmla="val 833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151376" y="4956048"/>
            <a:ext cx="2816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Primero claridad; después registro.</a:t>
            </a:r>
            <a:endParaRPr lang="en-US" sz="1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53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Editar, probar e inspeccionar se alimentan entre sí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Estas tres acciones forman el núcleo del ciclo corto antes de registrar un cambio.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919472" y="2267712"/>
            <a:ext cx="2340864" cy="1024128"/>
          </a:xfrm>
          <a:prstGeom prst="roundRect">
            <a:avLst>
              <a:gd name="adj" fmla="val 71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65776" y="2414016"/>
            <a:ext cx="164592" cy="73152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58384" y="2432304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Navegador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5358384" y="2798064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Aquí se ve el resultado.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1408176" y="3383280"/>
            <a:ext cx="2340864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554480" y="3529584"/>
            <a:ext cx="164592" cy="731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847088" y="3547872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Editor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1847088" y="3913632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Aquí se modifica el proyecto.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430768" y="3383280"/>
            <a:ext cx="2340864" cy="1024128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577072" y="3529584"/>
            <a:ext cx="164592" cy="73152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869680" y="3547872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DevTools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8869680" y="3913632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Aquí se observa la causa.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114800" y="4590288"/>
            <a:ext cx="3968496" cy="841248"/>
          </a:xfrm>
          <a:prstGeom prst="roundRect">
            <a:avLst>
              <a:gd name="adj" fmla="val 8696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425696" y="4828032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Comprender el cambio</a:t>
            </a:r>
            <a:endParaRPr lang="en-US" sz="1950" dirty="0"/>
          </a:p>
        </p:txBody>
      </p:sp>
      <p:sp>
        <p:nvSpPr>
          <p:cNvPr id="24" name="Shape 21"/>
          <p:cNvSpPr/>
          <p:nvPr/>
        </p:nvSpPr>
        <p:spPr>
          <a:xfrm>
            <a:off x="3749040" y="3895344"/>
            <a:ext cx="1060704" cy="786384"/>
          </a:xfrm>
          <a:prstGeom prst="line">
            <a:avLst/>
          </a:prstGeom>
          <a:noFill/>
          <a:ln w="12700">
            <a:solidFill>
              <a:srgbClr val="102A43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089904" y="3291840"/>
            <a:ext cx="0" cy="1298448"/>
          </a:xfrm>
          <a:prstGeom prst="line">
            <a:avLst/>
          </a:prstGeom>
          <a:noFill/>
          <a:ln w="12700">
            <a:solidFill>
              <a:srgbClr val="D6202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7388352" y="3895344"/>
            <a:ext cx="1042416" cy="786384"/>
          </a:xfrm>
          <a:prstGeom prst="line">
            <a:avLst/>
          </a:prstGeom>
          <a:noFill/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810512" y="5577840"/>
            <a:ext cx="863193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920240" y="5687568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212848" y="5715000"/>
            <a:ext cx="8101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el navegador muestra el problema y DevTools ayuda a explicarlo, el editor puede corregir con mayor precisión.</a:t>
            </a:r>
            <a:endParaRPr lang="en-US" sz="12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Registrar cuando el cambio ya tiene sentido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 entra mejor al final del mini-ciclo, cuando el cambio ya fue probado y puede describirse con claridad.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2212848"/>
            <a:ext cx="3858768" cy="3127248"/>
          </a:xfrm>
          <a:prstGeom prst="roundRect">
            <a:avLst>
              <a:gd name="adj" fmla="val 1754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78992" y="2359152"/>
            <a:ext cx="3529584" cy="384048"/>
          </a:xfrm>
          <a:prstGeom prst="roundRect">
            <a:avLst>
              <a:gd name="adj" fmla="val 11905"/>
            </a:avLst>
          </a:prstGeom>
          <a:solidFill>
            <a:srgbClr val="214466"/>
          </a:solidFill>
          <a:ln w="12700">
            <a:solidFill>
              <a:srgbClr val="2144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07008" y="2468880"/>
            <a:ext cx="100584" cy="100584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71600" y="2468880"/>
            <a:ext cx="100584" cy="100584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536192" y="2468880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25296" y="2962656"/>
            <a:ext cx="3236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status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225296" y="3401568"/>
            <a:ext cx="3236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add 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225296" y="3840480"/>
            <a:ext cx="3236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commit -m "corrige botón principal"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25296" y="4279392"/>
            <a:ext cx="3236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git push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737360" y="2432304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Secuencia de registro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486400" y="2340864"/>
            <a:ext cx="2304288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32704" y="2487168"/>
            <a:ext cx="164592" cy="64008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25312" y="2505456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Probado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925312" y="2871216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cambio ya fue visto en el navegador.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900416" y="2724912"/>
            <a:ext cx="2304288" cy="932688"/>
          </a:xfrm>
          <a:prstGeom prst="roundRect">
            <a:avLst>
              <a:gd name="adj" fmla="val 784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046720" y="2871216"/>
            <a:ext cx="164592" cy="640080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339328" y="2889504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Acotado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8339328" y="325526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mezcla problemas distintos en el mismo commit.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236208" y="3895344"/>
            <a:ext cx="2304288" cy="932688"/>
          </a:xfrm>
          <a:prstGeom prst="roundRect">
            <a:avLst>
              <a:gd name="adj" fmla="val 78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382512" y="4041648"/>
            <a:ext cx="164592" cy="64008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675120" y="4059936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Explicable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675120" y="4425696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 resumirse con un mensaje comprensible.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8394192" y="4334256"/>
            <a:ext cx="2304288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540496" y="4480560"/>
            <a:ext cx="164592" cy="64008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833104" y="4498848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Sincronizable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8833104" y="4864608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Ya vale la pena enviarlo al remoto.</a:t>
            </a:r>
            <a:endParaRPr lang="en-US" sz="11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55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Antes de hacer push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Sincronizar no es un gesto automático: conviene hacerlo cuando el cambio ya tiene sentido técnico.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2340864"/>
            <a:ext cx="4608576" cy="3163824"/>
          </a:xfrm>
          <a:prstGeom prst="roundRect">
            <a:avLst>
              <a:gd name="adj" fmla="val 231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88720" y="2615184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Checklist breve</a:t>
            </a:r>
            <a:endParaRPr lang="en-US" sz="1820" dirty="0"/>
          </a:p>
        </p:txBody>
      </p:sp>
      <p:sp>
        <p:nvSpPr>
          <p:cNvPr id="12" name="Shape 9"/>
          <p:cNvSpPr/>
          <p:nvPr/>
        </p:nvSpPr>
        <p:spPr>
          <a:xfrm>
            <a:off x="1170432" y="2999232"/>
            <a:ext cx="387705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80160" y="3108960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572768" y="3136392"/>
            <a:ext cx="3346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cambio quedó probado.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170432" y="3529584"/>
            <a:ext cx="3877056" cy="512064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280160" y="3639312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572768" y="3666744"/>
            <a:ext cx="3346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commit se entiende al leerlo.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1170432" y="4059936"/>
            <a:ext cx="3877056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280160" y="4169664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572768" y="4197096"/>
            <a:ext cx="3346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faltan archivos importantes.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170432" y="4590288"/>
            <a:ext cx="3877056" cy="512064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280160" y="4700016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572768" y="4727448"/>
            <a:ext cx="3346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remoto sí corresponde al proyecto.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419088" y="2578608"/>
            <a:ext cx="2871216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565392" y="2724912"/>
            <a:ext cx="164592" cy="7680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858000" y="274320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te apuras</a:t>
            </a:r>
            <a:endParaRPr lang="en-US" sz="1520" dirty="0"/>
          </a:p>
        </p:txBody>
      </p:sp>
      <p:sp>
        <p:nvSpPr>
          <p:cNvPr id="27" name="Text 24"/>
          <p:cNvSpPr/>
          <p:nvPr/>
        </p:nvSpPr>
        <p:spPr>
          <a:xfrm>
            <a:off x="6858000" y="3108960"/>
            <a:ext cx="2249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Puedes enviar trabajo roto o difícil de explicar.</a:t>
            </a:r>
            <a:endParaRPr lang="en-US" sz="1120" dirty="0"/>
          </a:p>
        </p:txBody>
      </p:sp>
      <p:sp>
        <p:nvSpPr>
          <p:cNvPr id="28" name="Shape 25"/>
          <p:cNvSpPr/>
          <p:nvPr/>
        </p:nvSpPr>
        <p:spPr>
          <a:xfrm>
            <a:off x="7936992" y="3803904"/>
            <a:ext cx="2871216" cy="1060704"/>
          </a:xfrm>
          <a:prstGeom prst="roundRect">
            <a:avLst>
              <a:gd name="adj" fmla="val 6897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083296" y="3950208"/>
            <a:ext cx="164592" cy="7680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375904" y="39684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validas antes</a:t>
            </a:r>
            <a:endParaRPr lang="en-US" sz="1520" dirty="0"/>
          </a:p>
        </p:txBody>
      </p:sp>
      <p:sp>
        <p:nvSpPr>
          <p:cNvPr id="31" name="Text 28"/>
          <p:cNvSpPr/>
          <p:nvPr/>
        </p:nvSpPr>
        <p:spPr>
          <a:xfrm>
            <a:off x="8375904" y="4334256"/>
            <a:ext cx="2249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remoto queda más limpio y el proceso se entiende mejor.</a:t>
            </a:r>
            <a:endParaRPr lang="en-US" sz="112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56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Caso breve: corregir una interfaz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botón con poco contraste permite ver cómo se conectan navegador, DevTools, editor y Git dentro del mismo flujo.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43600" y="2267712"/>
            <a:ext cx="0" cy="3273552"/>
          </a:xfrm>
          <a:prstGeom prst="line">
            <a:avLst/>
          </a:prstGeom>
          <a:noFill/>
          <a:ln w="12700">
            <a:solidFill>
              <a:srgbClr val="102A4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705856" y="2468880"/>
            <a:ext cx="475488" cy="47548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705856" y="2606040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1078992" y="2322576"/>
            <a:ext cx="4498848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25296" y="2468880"/>
            <a:ext cx="164592" cy="5120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517904" y="2487168"/>
            <a:ext cx="3913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Detectar</a:t>
            </a:r>
            <a:endParaRPr lang="en-US" sz="1520" dirty="0"/>
          </a:p>
        </p:txBody>
      </p:sp>
      <p:sp>
        <p:nvSpPr>
          <p:cNvPr id="16" name="Text 13"/>
          <p:cNvSpPr/>
          <p:nvPr/>
        </p:nvSpPr>
        <p:spPr>
          <a:xfrm>
            <a:off x="1517904" y="2852928"/>
            <a:ext cx="38770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el navegador se ve que el botón no destaca.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705856" y="2962656"/>
            <a:ext cx="475488" cy="475488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705856" y="3099816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419088" y="2816352"/>
            <a:ext cx="4498848" cy="804672"/>
          </a:xfrm>
          <a:prstGeom prst="roundRect">
            <a:avLst>
              <a:gd name="adj" fmla="val 909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565392" y="2962656"/>
            <a:ext cx="164592" cy="5120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858000" y="2980944"/>
            <a:ext cx="3913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Inspeccionar</a:t>
            </a:r>
            <a:endParaRPr lang="en-US" sz="1520" dirty="0"/>
          </a:p>
        </p:txBody>
      </p:sp>
      <p:sp>
        <p:nvSpPr>
          <p:cNvPr id="22" name="Text 19"/>
          <p:cNvSpPr/>
          <p:nvPr/>
        </p:nvSpPr>
        <p:spPr>
          <a:xfrm>
            <a:off x="6858000" y="3346704"/>
            <a:ext cx="38770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DevTools revela la regla CSS que provoca el problema.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705856" y="3456432"/>
            <a:ext cx="475488" cy="475488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705856" y="3593592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1078992" y="3310128"/>
            <a:ext cx="4498848" cy="804672"/>
          </a:xfrm>
          <a:prstGeom prst="roundRect">
            <a:avLst>
              <a:gd name="adj" fmla="val 909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225296" y="3456432"/>
            <a:ext cx="164592" cy="51206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517904" y="3474720"/>
            <a:ext cx="3913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Probar</a:t>
            </a:r>
            <a:endParaRPr lang="en-US" sz="1520" dirty="0"/>
          </a:p>
        </p:txBody>
      </p:sp>
      <p:sp>
        <p:nvSpPr>
          <p:cNvPr id="28" name="Text 25"/>
          <p:cNvSpPr/>
          <p:nvPr/>
        </p:nvSpPr>
        <p:spPr>
          <a:xfrm>
            <a:off x="1517904" y="3840480"/>
            <a:ext cx="38770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ajusta temporalmente color y espaciado.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705856" y="3950208"/>
            <a:ext cx="475488" cy="475488"/>
          </a:xfrm>
          <a:prstGeom prst="ellipse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705856" y="408736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419088" y="3803904"/>
            <a:ext cx="4498848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565392" y="3950208"/>
            <a:ext cx="164592" cy="51206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858000" y="3968496"/>
            <a:ext cx="3913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Editar</a:t>
            </a:r>
            <a:endParaRPr lang="en-US" sz="1520" dirty="0"/>
          </a:p>
        </p:txBody>
      </p:sp>
      <p:sp>
        <p:nvSpPr>
          <p:cNvPr id="34" name="Text 31"/>
          <p:cNvSpPr/>
          <p:nvPr/>
        </p:nvSpPr>
        <p:spPr>
          <a:xfrm>
            <a:off x="6858000" y="4334256"/>
            <a:ext cx="38770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corrige el CSS real en el proyecto.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5705856" y="4443984"/>
            <a:ext cx="475488" cy="475488"/>
          </a:xfrm>
          <a:prstGeom prst="ellipse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705856" y="4581144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1250" dirty="0"/>
          </a:p>
        </p:txBody>
      </p:sp>
      <p:sp>
        <p:nvSpPr>
          <p:cNvPr id="37" name="Shape 34"/>
          <p:cNvSpPr/>
          <p:nvPr/>
        </p:nvSpPr>
        <p:spPr>
          <a:xfrm>
            <a:off x="1078992" y="4297680"/>
            <a:ext cx="4498848" cy="804672"/>
          </a:xfrm>
          <a:prstGeom prst="roundRect">
            <a:avLst>
              <a:gd name="adj" fmla="val 9091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225296" y="4443984"/>
            <a:ext cx="164592" cy="51206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1517904" y="4462272"/>
            <a:ext cx="3913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Comprobar</a:t>
            </a:r>
            <a:endParaRPr lang="en-US" sz="1520" dirty="0"/>
          </a:p>
        </p:txBody>
      </p:sp>
      <p:sp>
        <p:nvSpPr>
          <p:cNvPr id="40" name="Text 37"/>
          <p:cNvSpPr/>
          <p:nvPr/>
        </p:nvSpPr>
        <p:spPr>
          <a:xfrm>
            <a:off x="1517904" y="4828032"/>
            <a:ext cx="38770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recarga y se confirma que el cambio sí resolvió el caso.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705856" y="4937760"/>
            <a:ext cx="475488" cy="475488"/>
          </a:xfrm>
          <a:prstGeom prst="ellipse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705856" y="5074920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250" dirty="0"/>
          </a:p>
        </p:txBody>
      </p:sp>
      <p:sp>
        <p:nvSpPr>
          <p:cNvPr id="43" name="Shape 40"/>
          <p:cNvSpPr/>
          <p:nvPr/>
        </p:nvSpPr>
        <p:spPr>
          <a:xfrm>
            <a:off x="6419088" y="4791456"/>
            <a:ext cx="4498848" cy="804672"/>
          </a:xfrm>
          <a:prstGeom prst="roundRect">
            <a:avLst>
              <a:gd name="adj" fmla="val 9091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565392" y="4937760"/>
            <a:ext cx="164592" cy="51206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858000" y="4956048"/>
            <a:ext cx="3913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Registrar</a:t>
            </a:r>
            <a:endParaRPr lang="en-US" sz="1520" dirty="0"/>
          </a:p>
        </p:txBody>
      </p:sp>
      <p:sp>
        <p:nvSpPr>
          <p:cNvPr id="46" name="Text 43"/>
          <p:cNvSpPr/>
          <p:nvPr/>
        </p:nvSpPr>
        <p:spPr>
          <a:xfrm>
            <a:off x="6858000" y="5321808"/>
            <a:ext cx="38770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 status, commit claro y push al remoto.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57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Ninguna herramienta hace todo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flujo aparece cuando cada una resuelve una parte distinta del recorrido.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2487168"/>
            <a:ext cx="2103120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60704" y="2633472"/>
            <a:ext cx="164592" cy="17922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353312" y="265176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Navegador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353312" y="3017520"/>
            <a:ext cx="1481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Muestra el comportamiento visible.</a:t>
            </a:r>
            <a:endParaRPr lang="en-US" sz="1220" dirty="0"/>
          </a:p>
        </p:txBody>
      </p:sp>
      <p:sp>
        <p:nvSpPr>
          <p:cNvPr id="14" name="Shape 11"/>
          <p:cNvSpPr/>
          <p:nvPr/>
        </p:nvSpPr>
        <p:spPr>
          <a:xfrm>
            <a:off x="3675888" y="2487168"/>
            <a:ext cx="2103120" cy="2084832"/>
          </a:xfrm>
          <a:prstGeom prst="roundRect">
            <a:avLst>
              <a:gd name="adj" fmla="val 3509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2192" y="2633472"/>
            <a:ext cx="164592" cy="179222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14800" y="265176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DevTools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114800" y="3017520"/>
            <a:ext cx="1481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Ayuda a explicarlo con evidencia.</a:t>
            </a:r>
            <a:endParaRPr lang="en-US" sz="1220" dirty="0"/>
          </a:p>
        </p:txBody>
      </p:sp>
      <p:sp>
        <p:nvSpPr>
          <p:cNvPr id="18" name="Shape 15"/>
          <p:cNvSpPr/>
          <p:nvPr/>
        </p:nvSpPr>
        <p:spPr>
          <a:xfrm>
            <a:off x="6437376" y="2487168"/>
            <a:ext cx="2103120" cy="2084832"/>
          </a:xfrm>
          <a:prstGeom prst="roundRect">
            <a:avLst>
              <a:gd name="adj" fmla="val 3509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83680" y="2633472"/>
            <a:ext cx="164592" cy="179222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876288" y="265176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Editor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6876288" y="3017520"/>
            <a:ext cx="1481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Permite corregir el proyecto real.</a:t>
            </a:r>
            <a:endParaRPr lang="en-US" sz="1220" dirty="0"/>
          </a:p>
        </p:txBody>
      </p:sp>
      <p:sp>
        <p:nvSpPr>
          <p:cNvPr id="22" name="Shape 19"/>
          <p:cNvSpPr/>
          <p:nvPr/>
        </p:nvSpPr>
        <p:spPr>
          <a:xfrm>
            <a:off x="9198864" y="2487168"/>
            <a:ext cx="2103120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345168" y="2633472"/>
            <a:ext cx="164592" cy="179222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37776" y="265176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 y GitHub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9637776" y="3017520"/>
            <a:ext cx="1481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Conservan y sincronizan la solución.</a:t>
            </a:r>
            <a:endParaRPr lang="en-US" sz="1220" dirty="0"/>
          </a:p>
        </p:txBody>
      </p:sp>
      <p:sp>
        <p:nvSpPr>
          <p:cNvPr id="26" name="Shape 23"/>
          <p:cNvSpPr/>
          <p:nvPr/>
        </p:nvSpPr>
        <p:spPr>
          <a:xfrm>
            <a:off x="3218688" y="3255264"/>
            <a:ext cx="310896" cy="402336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80176" y="3255264"/>
            <a:ext cx="310896" cy="402336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741664" y="3255264"/>
            <a:ext cx="310896" cy="402336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207008" y="5010912"/>
            <a:ext cx="9637776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426464" y="5175504"/>
            <a:ext cx="9198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Herramientas distintas, una sola práctica técnica.</a:t>
            </a:r>
            <a:endParaRPr lang="en-US" sz="124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Criterios de un flujo sano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valor del flujo no está solo en las herramientas, sino en los hábitos que vuelven legible el trabajo.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50976" y="2267712"/>
            <a:ext cx="473659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97280" y="2414016"/>
            <a:ext cx="164592" cy="6035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389888" y="2432304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Cambios pequeños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1389888" y="2798064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Facilitan entender qué produjo el resultado.</a:t>
            </a:r>
            <a:endParaRPr lang="en-US" sz="1140" dirty="0"/>
          </a:p>
        </p:txBody>
      </p:sp>
      <p:sp>
        <p:nvSpPr>
          <p:cNvPr id="14" name="Shape 11"/>
          <p:cNvSpPr/>
          <p:nvPr/>
        </p:nvSpPr>
        <p:spPr>
          <a:xfrm>
            <a:off x="6053328" y="2267712"/>
            <a:ext cx="4736592" cy="896112"/>
          </a:xfrm>
          <a:prstGeom prst="roundRect">
            <a:avLst>
              <a:gd name="adj" fmla="val 816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99632" y="2414016"/>
            <a:ext cx="164592" cy="6035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92240" y="2432304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Prueba frecuente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6492240" y="2798064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Evita descubrir errores solo al final.</a:t>
            </a:r>
            <a:endParaRPr lang="en-US" sz="1140" dirty="0"/>
          </a:p>
        </p:txBody>
      </p:sp>
      <p:sp>
        <p:nvSpPr>
          <p:cNvPr id="18" name="Shape 15"/>
          <p:cNvSpPr/>
          <p:nvPr/>
        </p:nvSpPr>
        <p:spPr>
          <a:xfrm>
            <a:off x="950976" y="3346704"/>
            <a:ext cx="4736592" cy="896112"/>
          </a:xfrm>
          <a:prstGeom prst="roundRect">
            <a:avLst>
              <a:gd name="adj" fmla="val 816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97280" y="3493008"/>
            <a:ext cx="164592" cy="6035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389888" y="3511296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Inspeccionar antes de corregir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1389888" y="3877056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DevTools reduce la adivinación.</a:t>
            </a:r>
            <a:endParaRPr lang="en-US" sz="1140" dirty="0"/>
          </a:p>
        </p:txBody>
      </p:sp>
      <p:sp>
        <p:nvSpPr>
          <p:cNvPr id="22" name="Shape 19"/>
          <p:cNvSpPr/>
          <p:nvPr/>
        </p:nvSpPr>
        <p:spPr>
          <a:xfrm>
            <a:off x="6053328" y="3346704"/>
            <a:ext cx="473659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199632" y="3493008"/>
            <a:ext cx="164592" cy="6035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92240" y="3511296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Commits claros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6492240" y="3877056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historia debe leerse después.</a:t>
            </a:r>
            <a:endParaRPr lang="en-US" sz="1140" dirty="0"/>
          </a:p>
        </p:txBody>
      </p:sp>
      <p:sp>
        <p:nvSpPr>
          <p:cNvPr id="26" name="Shape 23"/>
          <p:cNvSpPr/>
          <p:nvPr/>
        </p:nvSpPr>
        <p:spPr>
          <a:xfrm>
            <a:off x="950976" y="4425696"/>
            <a:ext cx="4736592" cy="896112"/>
          </a:xfrm>
          <a:prstGeom prst="roundRect">
            <a:avLst>
              <a:gd name="adj" fmla="val 816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97280" y="4572000"/>
            <a:ext cx="164592" cy="6035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389888" y="459028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Sincronización regular</a:t>
            </a:r>
            <a:endParaRPr lang="en-US" sz="1550" dirty="0"/>
          </a:p>
        </p:txBody>
      </p:sp>
      <p:sp>
        <p:nvSpPr>
          <p:cNvPr id="29" name="Text 26"/>
          <p:cNvSpPr/>
          <p:nvPr/>
        </p:nvSpPr>
        <p:spPr>
          <a:xfrm>
            <a:off x="1389888" y="495604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remoto también forma parte del orden.</a:t>
            </a:r>
            <a:endParaRPr lang="en-US" sz="1140" dirty="0"/>
          </a:p>
        </p:txBody>
      </p:sp>
      <p:sp>
        <p:nvSpPr>
          <p:cNvPr id="30" name="Shape 27"/>
          <p:cNvSpPr/>
          <p:nvPr/>
        </p:nvSpPr>
        <p:spPr>
          <a:xfrm>
            <a:off x="6053328" y="4425696"/>
            <a:ext cx="4736592" cy="896112"/>
          </a:xfrm>
          <a:prstGeom prst="roundRect">
            <a:avLst>
              <a:gd name="adj" fmla="val 816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199632" y="4572000"/>
            <a:ext cx="164592" cy="603504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92240" y="459028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mezclar problemas</a:t>
            </a:r>
            <a:endParaRPr lang="en-US" sz="1550" dirty="0"/>
          </a:p>
        </p:txBody>
      </p:sp>
      <p:sp>
        <p:nvSpPr>
          <p:cNvPr id="33" name="Text 30"/>
          <p:cNvSpPr/>
          <p:nvPr/>
        </p:nvSpPr>
        <p:spPr>
          <a:xfrm>
            <a:off x="6492240" y="495604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4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commit debería responder a una intención.</a:t>
            </a:r>
            <a:endParaRPr lang="en-US" sz="114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59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Agentes como apoyo, no como reemplazo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asistencia puede acelerar partes del trabajo, pero la validación sigue siendo responsabilidad del desarrollador.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32688" y="2231136"/>
            <a:ext cx="4498848" cy="3438144"/>
          </a:xfrm>
          <a:prstGeom prst="roundRect">
            <a:avLst>
              <a:gd name="adj" fmla="val 2128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25296" y="2578608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IA puede ayudar a</a:t>
            </a:r>
            <a:endParaRPr lang="en-US" sz="1950" dirty="0"/>
          </a:p>
        </p:txBody>
      </p:sp>
      <p:sp>
        <p:nvSpPr>
          <p:cNvPr id="12" name="Shape 9"/>
          <p:cNvSpPr/>
          <p:nvPr/>
        </p:nvSpPr>
        <p:spPr>
          <a:xfrm>
            <a:off x="1188720" y="3054096"/>
            <a:ext cx="374904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98448" y="3163824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591056" y="3191256"/>
            <a:ext cx="3218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sugerir cambios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188720" y="3621024"/>
            <a:ext cx="374904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298448" y="3730752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591056" y="3758184"/>
            <a:ext cx="3218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explicar un error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1188720" y="4187952"/>
            <a:ext cx="374904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298448" y="4297680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591056" y="4325112"/>
            <a:ext cx="3218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proponer un commit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188720" y="4754880"/>
            <a:ext cx="3749040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298448" y="4864608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591056" y="4892040"/>
            <a:ext cx="3218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acelerar documentación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5779008" y="2231136"/>
            <a:ext cx="4572000" cy="3438144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089904" y="2578608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Sigue siendo tu responsabilidad</a:t>
            </a:r>
            <a:endParaRPr lang="en-US" sz="1950" dirty="0"/>
          </a:p>
        </p:txBody>
      </p:sp>
      <p:sp>
        <p:nvSpPr>
          <p:cNvPr id="26" name="Shape 23"/>
          <p:cNvSpPr/>
          <p:nvPr/>
        </p:nvSpPr>
        <p:spPr>
          <a:xfrm>
            <a:off x="6071616" y="3054096"/>
            <a:ext cx="3767328" cy="512064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181344" y="3163824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73952" y="3191256"/>
            <a:ext cx="3236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comprobar en el navegador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6071616" y="3621024"/>
            <a:ext cx="3767328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181344" y="3730752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73952" y="3758184"/>
            <a:ext cx="3236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revisar con DevTools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071616" y="4187952"/>
            <a:ext cx="3767328" cy="512064"/>
          </a:xfrm>
          <a:prstGeom prst="roundRect">
            <a:avLst>
              <a:gd name="adj" fmla="val 714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181344" y="4297680"/>
            <a:ext cx="164592" cy="2926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473952" y="4325112"/>
            <a:ext cx="3236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decidir qué registrar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6071616" y="4754880"/>
            <a:ext cx="3767328" cy="512064"/>
          </a:xfrm>
          <a:prstGeom prst="roundRect">
            <a:avLst>
              <a:gd name="adj" fmla="val 714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181344" y="4864608"/>
            <a:ext cx="164592" cy="29260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73952" y="4892040"/>
            <a:ext cx="32369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que el cambio tenga sentido</a:t>
            </a:r>
            <a:endParaRPr lang="en-US" sz="12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60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 el flujo se rompe, mira por capas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todos los problemas aparecen en el mismo lugar; por eso conviene ubicar primero la capa que está fallando.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005840" y="2743200"/>
            <a:ext cx="2048256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2889504"/>
            <a:ext cx="164592" cy="841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444752" y="29077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Archivos</a:t>
            </a:r>
            <a:endParaRPr lang="en-US" sz="1520" dirty="0"/>
          </a:p>
        </p:txBody>
      </p:sp>
      <p:sp>
        <p:nvSpPr>
          <p:cNvPr id="13" name="Text 10"/>
          <p:cNvSpPr/>
          <p:nvPr/>
        </p:nvSpPr>
        <p:spPr>
          <a:xfrm>
            <a:off x="1444752" y="3273552"/>
            <a:ext cx="1426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¿Se editó el archivo correcto?</a:t>
            </a:r>
            <a:endParaRPr lang="en-US" sz="1080" dirty="0"/>
          </a:p>
        </p:txBody>
      </p:sp>
      <p:sp>
        <p:nvSpPr>
          <p:cNvPr id="14" name="Shape 11"/>
          <p:cNvSpPr/>
          <p:nvPr/>
        </p:nvSpPr>
        <p:spPr>
          <a:xfrm>
            <a:off x="3584448" y="2743200"/>
            <a:ext cx="2048256" cy="1133856"/>
          </a:xfrm>
          <a:prstGeom prst="roundRect">
            <a:avLst>
              <a:gd name="adj" fmla="val 645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730752" y="2889504"/>
            <a:ext cx="164592" cy="84124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023360" y="29077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Navegador</a:t>
            </a:r>
            <a:endParaRPr lang="en-US" sz="1520" dirty="0"/>
          </a:p>
        </p:txBody>
      </p:sp>
      <p:sp>
        <p:nvSpPr>
          <p:cNvPr id="17" name="Text 14"/>
          <p:cNvSpPr/>
          <p:nvPr/>
        </p:nvSpPr>
        <p:spPr>
          <a:xfrm>
            <a:off x="4023360" y="3273552"/>
            <a:ext cx="1426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¿El resultado visible cambió?</a:t>
            </a:r>
            <a:endParaRPr lang="en-US" sz="1080" dirty="0"/>
          </a:p>
        </p:txBody>
      </p:sp>
      <p:sp>
        <p:nvSpPr>
          <p:cNvPr id="18" name="Shape 15"/>
          <p:cNvSpPr/>
          <p:nvPr/>
        </p:nvSpPr>
        <p:spPr>
          <a:xfrm>
            <a:off x="6163056" y="2743200"/>
            <a:ext cx="2048256" cy="1133856"/>
          </a:xfrm>
          <a:prstGeom prst="roundRect">
            <a:avLst>
              <a:gd name="adj" fmla="val 6452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2889504"/>
            <a:ext cx="164592" cy="8412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601968" y="29077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DevTools</a:t>
            </a:r>
            <a:endParaRPr lang="en-US" sz="1520" dirty="0"/>
          </a:p>
        </p:txBody>
      </p:sp>
      <p:sp>
        <p:nvSpPr>
          <p:cNvPr id="21" name="Text 18"/>
          <p:cNvSpPr/>
          <p:nvPr/>
        </p:nvSpPr>
        <p:spPr>
          <a:xfrm>
            <a:off x="6601968" y="3273552"/>
            <a:ext cx="1426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¿La causa se puede explicar?</a:t>
            </a:r>
            <a:endParaRPr lang="en-US" sz="1080" dirty="0"/>
          </a:p>
        </p:txBody>
      </p:sp>
      <p:sp>
        <p:nvSpPr>
          <p:cNvPr id="22" name="Shape 19"/>
          <p:cNvSpPr/>
          <p:nvPr/>
        </p:nvSpPr>
        <p:spPr>
          <a:xfrm>
            <a:off x="8741664" y="2743200"/>
            <a:ext cx="2048256" cy="1133856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887968" y="2889504"/>
            <a:ext cx="164592" cy="8412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180576" y="29077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 / remoto</a:t>
            </a:r>
            <a:endParaRPr lang="en-US" sz="1520" dirty="0"/>
          </a:p>
        </p:txBody>
      </p:sp>
      <p:sp>
        <p:nvSpPr>
          <p:cNvPr id="25" name="Text 22"/>
          <p:cNvSpPr/>
          <p:nvPr/>
        </p:nvSpPr>
        <p:spPr>
          <a:xfrm>
            <a:off x="9180576" y="3273552"/>
            <a:ext cx="1426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¿El cambio quedó registrado y sincronizado?</a:t>
            </a:r>
            <a:endParaRPr lang="en-US" sz="1080" dirty="0"/>
          </a:p>
        </p:txBody>
      </p:sp>
      <p:sp>
        <p:nvSpPr>
          <p:cNvPr id="26" name="Shape 23"/>
          <p:cNvSpPr/>
          <p:nvPr/>
        </p:nvSpPr>
        <p:spPr>
          <a:xfrm>
            <a:off x="3182112" y="312724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760720" y="312724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39328" y="3127248"/>
            <a:ext cx="384048" cy="329184"/>
          </a:xfrm>
          <a:prstGeom prst="chevron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737360" y="4773168"/>
            <a:ext cx="8302752" cy="51206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847088" y="4882896"/>
            <a:ext cx="164592" cy="29260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139696" y="4910328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Diagnosticar por capas reduce la tentación de corregir a ciegas.</a:t>
            </a:r>
            <a:endParaRPr lang="en-US" sz="12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Preguntas para pensar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Estas preguntas ayudan a cerrar la clase desde la lógica del proceso y no solo desde nombres de herramientas.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2212848"/>
            <a:ext cx="10259568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60704" y="2359152"/>
            <a:ext cx="164592" cy="731520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353312" y="2377440"/>
            <a:ext cx="9674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Pregunta central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353312" y="2743200"/>
            <a:ext cx="9637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un flujo de trabajo moderno no debería entenderse como una lista de herramientas sueltas?</a:t>
            </a:r>
            <a:endParaRPr lang="en-US" sz="1360" dirty="0"/>
          </a:p>
        </p:txBody>
      </p:sp>
      <p:sp>
        <p:nvSpPr>
          <p:cNvPr id="14" name="Shape 11"/>
          <p:cNvSpPr/>
          <p:nvPr/>
        </p:nvSpPr>
        <p:spPr>
          <a:xfrm>
            <a:off x="987552" y="3694176"/>
            <a:ext cx="4645152" cy="950976"/>
          </a:xfrm>
          <a:prstGeom prst="roundRect">
            <a:avLst>
              <a:gd name="adj" fmla="val 769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33856" y="3840480"/>
            <a:ext cx="164592" cy="6583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426464" y="3858768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Cambios grandes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1426464" y="422452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problema aparece cuando se hacen demasiados cambios antes de probar?</a:t>
            </a:r>
            <a:endParaRPr lang="en-US" sz="1160" dirty="0"/>
          </a:p>
        </p:txBody>
      </p:sp>
      <p:sp>
        <p:nvSpPr>
          <p:cNvPr id="18" name="Shape 15"/>
          <p:cNvSpPr/>
          <p:nvPr/>
        </p:nvSpPr>
        <p:spPr>
          <a:xfrm>
            <a:off x="6053328" y="3694176"/>
            <a:ext cx="4645152" cy="950976"/>
          </a:xfrm>
          <a:prstGeom prst="roundRect">
            <a:avLst>
              <a:gd name="adj" fmla="val 7692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199632" y="3840480"/>
            <a:ext cx="164592" cy="6583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3858768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Lugar de DevTools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6492240" y="422452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DevTools ocupa un lugar intermedio entre editar y registrar?</a:t>
            </a:r>
            <a:endParaRPr lang="en-US" sz="1160" dirty="0"/>
          </a:p>
        </p:txBody>
      </p:sp>
      <p:sp>
        <p:nvSpPr>
          <p:cNvPr id="22" name="Shape 19"/>
          <p:cNvSpPr/>
          <p:nvPr/>
        </p:nvSpPr>
        <p:spPr>
          <a:xfrm>
            <a:off x="987552" y="4901184"/>
            <a:ext cx="4645152" cy="950976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33856" y="5047488"/>
            <a:ext cx="164592" cy="65836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426464" y="5065776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Commit con sentido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1426464" y="543153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conviene registrar solo cambios ya probados y comprensibles?</a:t>
            </a:r>
            <a:endParaRPr lang="en-US" sz="1160" dirty="0"/>
          </a:p>
        </p:txBody>
      </p:sp>
      <p:sp>
        <p:nvSpPr>
          <p:cNvPr id="26" name="Shape 23"/>
          <p:cNvSpPr/>
          <p:nvPr/>
        </p:nvSpPr>
        <p:spPr>
          <a:xfrm>
            <a:off x="6053328" y="4901184"/>
            <a:ext cx="4645152" cy="950976"/>
          </a:xfrm>
          <a:prstGeom prst="roundRect">
            <a:avLst>
              <a:gd name="adj" fmla="val 7692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199632" y="5047488"/>
            <a:ext cx="164592" cy="658368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92240" y="5065776"/>
            <a:ext cx="40599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y criterio</a:t>
            </a:r>
            <a:endParaRPr lang="en-US" sz="1550" dirty="0"/>
          </a:p>
        </p:txBody>
      </p:sp>
      <p:sp>
        <p:nvSpPr>
          <p:cNvPr id="29" name="Text 26"/>
          <p:cNvSpPr/>
          <p:nvPr/>
        </p:nvSpPr>
        <p:spPr>
          <a:xfrm>
            <a:off x="6492240" y="543153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¿Cómo cambia este flujo si un agente ayuda pero no reemplaza la validación?</a:t>
            </a:r>
            <a:endParaRPr lang="en-US" sz="116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8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829800" y="23774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EADFD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62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475488"/>
            <a:ext cx="1965960" cy="310896"/>
          </a:xfrm>
          <a:prstGeom prst="roundRect">
            <a:avLst>
              <a:gd name="adj" fmla="val 14706"/>
            </a:avLst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Clase 02 · Bloque 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094976" y="859536"/>
            <a:ext cx="987552" cy="749808"/>
          </a:xfrm>
          <a:prstGeom prst="ellipse">
            <a:avLst/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pic>
        <p:nvPicPr>
          <p:cNvPr id="7" name="Image 0" descr="C:\dojo\pro301-taller-de-aplicaciones-para-internet\clases\semana-01\02\ppt\source\assets\logo-aie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2310" y="1060704"/>
            <a:ext cx="492884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896112"/>
            <a:ext cx="8138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Síntesis del bloque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76656" y="17007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flujo moderno integra edición, prueba, observación, corrección, versionado y sincronización en ciclos cortos.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96112" y="2157984"/>
            <a:ext cx="6510528" cy="3236976"/>
          </a:xfrm>
          <a:prstGeom prst="roundRect">
            <a:avLst>
              <a:gd name="adj" fmla="val 2260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88720" y="2468880"/>
            <a:ext cx="1225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 clave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761488"/>
            <a:ext cx="565099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Desarrollar bien no es solo escribir código:</a:t>
            </a:r>
            <a:endParaRPr lang="en-US" sz="2220" dirty="0"/>
          </a:p>
          <a:p>
            <a:pPr indent="0" marL="0">
              <a:buNone/>
            </a:pPr>
            <a:r>
              <a:rPr lang="en-US" sz="22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 sostener un proceso técnico legible y repetible.</a:t>
            </a:r>
            <a:endParaRPr lang="en-US" sz="2220" dirty="0"/>
          </a:p>
        </p:txBody>
      </p:sp>
      <p:sp>
        <p:nvSpPr>
          <p:cNvPr id="13" name="Text 10"/>
          <p:cNvSpPr/>
          <p:nvPr/>
        </p:nvSpPr>
        <p:spPr>
          <a:xfrm>
            <a:off x="1188720" y="4059936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Ciclo corto de trabajo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88720" y="4407408"/>
            <a:ext cx="932688" cy="347472"/>
          </a:xfrm>
          <a:prstGeom prst="roundRect">
            <a:avLst>
              <a:gd name="adj" fmla="val 21053"/>
            </a:avLst>
          </a:prstGeom>
          <a:solidFill>
            <a:srgbClr val="F8E4E5"/>
          </a:solidFill>
          <a:ln w="12700">
            <a:solidFill>
              <a:srgbClr val="F8E4E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16736" y="4489704"/>
            <a:ext cx="676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Editar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2267712" y="4407408"/>
            <a:ext cx="932688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395728" y="4489704"/>
            <a:ext cx="676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Probar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346704" y="4407408"/>
            <a:ext cx="1152144" cy="347472"/>
          </a:xfrm>
          <a:prstGeom prst="roundRect">
            <a:avLst>
              <a:gd name="adj" fmla="val 21053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74720" y="4489704"/>
            <a:ext cx="8961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Observar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645152" y="4407408"/>
            <a:ext cx="109728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773168" y="4489704"/>
            <a:ext cx="8412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Corregir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888736" y="4407408"/>
            <a:ext cx="1188720" cy="347472"/>
          </a:xfrm>
          <a:prstGeom prst="roundRect">
            <a:avLst>
              <a:gd name="adj" fmla="val 21053"/>
            </a:avLst>
          </a:prstGeom>
          <a:solidFill>
            <a:srgbClr val="EDE6DA"/>
          </a:solidFill>
          <a:ln w="12700">
            <a:solidFill>
              <a:srgbClr val="EDE6D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016752" y="4489704"/>
            <a:ext cx="9326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1188720" y="4992624"/>
            <a:ext cx="54681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Este criterio acompaña el resto del módulo.</a:t>
            </a:r>
            <a:endParaRPr lang="en-US" sz="1160" dirty="0"/>
          </a:p>
        </p:txBody>
      </p:sp>
      <p:sp>
        <p:nvSpPr>
          <p:cNvPr id="25" name="Shape 22"/>
          <p:cNvSpPr/>
          <p:nvPr/>
        </p:nvSpPr>
        <p:spPr>
          <a:xfrm>
            <a:off x="7754112" y="2157984"/>
            <a:ext cx="3364992" cy="3236976"/>
          </a:xfrm>
          <a:prstGeom prst="roundRect">
            <a:avLst>
              <a:gd name="adj" fmla="val 2260"/>
            </a:avLst>
          </a:prstGeom>
          <a:solidFill>
            <a:srgbClr val="E6EEF7"/>
          </a:solidFill>
          <a:ln w="12700">
            <a:solidFill>
              <a:srgbClr val="E6EEF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046720" y="254203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Próxima clase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8046720" y="2907792"/>
            <a:ext cx="257860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HTML semántico,</a:t>
            </a:r>
            <a:endParaRPr lang="en-US" sz="1820" dirty="0"/>
          </a:p>
          <a:p>
            <a:pPr indent="0" marL="0">
              <a:buNone/>
            </a:pPr>
            <a:r>
              <a:rPr lang="en-US" sz="18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estructura de documentos,</a:t>
            </a:r>
            <a:endParaRPr lang="en-US" sz="1820" dirty="0"/>
          </a:p>
          <a:p>
            <a:pPr indent="0" marL="0">
              <a:buNone/>
            </a:pPr>
            <a:r>
              <a:rPr lang="en-US" sz="182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formularios y accesibilidad inicial.</a:t>
            </a:r>
            <a:endParaRPr lang="en-US" sz="1820" dirty="0"/>
          </a:p>
        </p:txBody>
      </p:sp>
      <p:sp>
        <p:nvSpPr>
          <p:cNvPr id="28" name="Text 25"/>
          <p:cNvSpPr/>
          <p:nvPr/>
        </p:nvSpPr>
        <p:spPr>
          <a:xfrm>
            <a:off x="8046720" y="4681728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243B5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siguiente sesión ya se apoyará en esta forma de trabajo.</a:t>
            </a:r>
            <a:endParaRPr lang="en-US" sz="12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AIEP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Las Herramientas del Taller</dc:title>
  <dc:subject>Clase 02</dc:subject>
  <dc:creator>Codex</dc:creator>
  <cp:lastModifiedBy>Codex</cp:lastModifiedBy>
  <cp:revision>1</cp:revision>
  <dcterms:created xsi:type="dcterms:W3CDTF">2026-03-10T05:35:17Z</dcterms:created>
  <dcterms:modified xsi:type="dcterms:W3CDTF">2026-03-10T05:35:17Z</dcterms:modified>
</cp:coreProperties>
</file>