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960120"/>
            <a:ext cx="109728" cy="4663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1112825"/>
            <a:ext cx="301752" cy="69403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8758" y="841248"/>
            <a:ext cx="362102" cy="96560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1211" y="1112825"/>
            <a:ext cx="301752" cy="69403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713232"/>
            <a:ext cx="3246120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2256" y="841248"/>
            <a:ext cx="2483104" cy="8595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9264" y="13898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Semana 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32688" y="1865376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página bien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construida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50976" y="31821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semántico, formularios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accesibilidad inicial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60120" y="4572000"/>
            <a:ext cx="2880360" cy="786384"/>
          </a:xfrm>
          <a:prstGeom prst="roundRect">
            <a:avLst>
              <a:gd name="adj" fmla="val 4651"/>
            </a:avLst>
          </a:prstGeom>
          <a:solidFill>
            <a:srgbClr val="224E8D"/>
          </a:solidFill>
          <a:ln w="12700">
            <a:solidFill>
              <a:srgbClr val="224E8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4773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Miércoles 18 de marzo de 2026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10:00 - 13:00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41648" y="4572000"/>
            <a:ext cx="3749040" cy="786384"/>
          </a:xfrm>
          <a:prstGeom prst="roundRect">
            <a:avLst>
              <a:gd name="adj" fmla="val 465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97680" y="4681728"/>
            <a:ext cx="3246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la estructura de una página importa?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Clase completa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sesión avanza desde la idea de estructura hasta su expresión concreta en HTML, formularios y DOM.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13232" y="2212848"/>
            <a:ext cx="2267712" cy="2212848"/>
          </a:xfrm>
          <a:prstGeom prst="roundRect">
            <a:avLst>
              <a:gd name="adj" fmla="val 165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5054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32688" y="29992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la estructura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una página importa?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246120" y="2212848"/>
            <a:ext cx="2267712" cy="2212848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10712" y="25054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65576" y="29992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documento HTML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779008" y="2212848"/>
            <a:ext cx="2267712" cy="2212848"/>
          </a:xfrm>
          <a:prstGeom prst="roundRect">
            <a:avLst>
              <a:gd name="adj" fmla="val 165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25054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98464" y="29992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Formularios 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 inicial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8311896" y="2212848"/>
            <a:ext cx="2267712" cy="2212848"/>
          </a:xfrm>
          <a:prstGeom prst="roundRect">
            <a:avLst>
              <a:gd name="adj" fmla="val 165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76488" y="25054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531352" y="29992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HTML al DOM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1078992" y="5047488"/>
            <a:ext cx="10058400" cy="420624"/>
          </a:xfrm>
          <a:prstGeom prst="roundRect">
            <a:avLst>
              <a:gd name="adj" fmla="val 652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353312" y="5148072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abrimos una idea base: una página bien hecha no solo se ve bien, también se entiende, se mantiene y se puede usar mejor.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5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932688"/>
            <a:ext cx="3493008" cy="4114800"/>
          </a:xfrm>
          <a:prstGeom prst="roundRect">
            <a:avLst>
              <a:gd name="adj" fmla="val 10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2416" y="1480414"/>
            <a:ext cx="283464" cy="65196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82573" y="1225296"/>
            <a:ext cx="340157" cy="90708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79422" y="1480414"/>
            <a:ext cx="283464" cy="65196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04288" y="1371600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14016" y="140817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60704" y="2157984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la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de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página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importa?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60704" y="41330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hablar de etiquetas concretas, conviene entender por qué HTML no es solo una forma de mostrar cosas.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773168" y="1298448"/>
            <a:ext cx="2157984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6320" y="1408176"/>
            <a:ext cx="100584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1426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29200" y="170078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 el contenido y le da una forma reconocible.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315200" y="1298448"/>
            <a:ext cx="2157984" cy="914400"/>
          </a:xfrm>
          <a:prstGeom prst="roundRect">
            <a:avLst>
              <a:gd name="adj" fmla="val 3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88352" y="1408176"/>
            <a:ext cx="100584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71232" y="1426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Significado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571232" y="170078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 qué función cumple cada bloque del documento.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358384" y="2596896"/>
            <a:ext cx="2157984" cy="914400"/>
          </a:xfrm>
          <a:prstGeom prst="roundRect">
            <a:avLst>
              <a:gd name="adj" fmla="val 3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31536" y="2706624"/>
            <a:ext cx="100584" cy="6949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14416" y="27249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614416" y="29992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entender la página al abrirla o inspeccionarla.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900416" y="2596896"/>
            <a:ext cx="2157984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973568" y="2706624"/>
            <a:ext cx="100584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56448" y="27249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Mantenimiento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156448" y="29992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confusión cuando hay que corregir o ampliar.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828032" y="4041648"/>
            <a:ext cx="5559552" cy="768096"/>
          </a:xfrm>
          <a:prstGeom prst="roundRect">
            <a:avLst>
              <a:gd name="adj" fmla="val 476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38928" y="42976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estructura no es decoración interna: es parte de la calidad técnica del documento.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página web no es solo lo que se ve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visible importa, pero no alcanza: una página también necesita una organización interna que otros puedan interpretar.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49808" y="2176272"/>
            <a:ext cx="6419088" cy="1444752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0976" y="2340864"/>
            <a:ext cx="60167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página bien hecha no solo muestra contenido: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también lo organiza con sentido.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534656" y="2029968"/>
            <a:ext cx="2852928" cy="84124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07808" y="2139696"/>
            <a:ext cx="100584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90688" y="215798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90688" y="2432304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Necesita interpretar la estructura para construir la interfaz.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845552" y="2999232"/>
            <a:ext cx="2852928" cy="841248"/>
          </a:xfrm>
          <a:prstGeom prst="roundRect">
            <a:avLst>
              <a:gd name="adj" fmla="val 32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18704" y="3108960"/>
            <a:ext cx="100584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01584" y="312724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101584" y="340156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inspeccionar mejor cuando el documento es claro.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534656" y="3968496"/>
            <a:ext cx="2852928" cy="841248"/>
          </a:xfrm>
          <a:prstGeom prst="roundRect">
            <a:avLst>
              <a:gd name="adj" fmla="val 32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07808" y="4078224"/>
            <a:ext cx="100584" cy="6217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90688" y="409651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Tecnologías de apoyo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790688" y="437083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jerarquía mejor construida favorece accesibilidad.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133856" y="4133088"/>
            <a:ext cx="5614416" cy="512064"/>
          </a:xfrm>
          <a:prstGeom prst="roundRect">
            <a:avLst>
              <a:gd name="adj" fmla="val 535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35024" y="4279392"/>
            <a:ext cx="5193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también le habla al desarrollador que mañana tendrá que leer, corregir o ampliar ese mismo archivo.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Quién necesita entender la estructura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misma página es leída desde ángulos distintos. Por eso la organización interna importa más de lo que parece.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2103120"/>
            <a:ext cx="2523744" cy="1444752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231136"/>
            <a:ext cx="109728" cy="11887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21284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7280" y="2560320"/>
            <a:ext cx="21762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Construye la interfaz a partir del documento y necesita referencias claras.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712464" y="2103120"/>
            <a:ext cx="2523744" cy="1444752"/>
          </a:xfrm>
          <a:prstGeom prst="roundRect">
            <a:avLst>
              <a:gd name="adj" fmla="val 25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03904" y="2231136"/>
            <a:ext cx="109728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68496" y="221284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 de desarrollo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968496" y="2560320"/>
            <a:ext cx="21762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Inspeccionan la estructura real, no solo la apariencia final.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583680" y="2103120"/>
            <a:ext cx="2523744" cy="1444752"/>
          </a:xfrm>
          <a:prstGeom prst="roundRect">
            <a:avLst>
              <a:gd name="adj" fmla="val 25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5120" y="2231136"/>
            <a:ext cx="109728" cy="11887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39712" y="221284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Tecnologías de apoyo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39712" y="2560320"/>
            <a:ext cx="21762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organización con sentido ayuda a recorrer y comprender mejor.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9162288" y="2103120"/>
            <a:ext cx="1993392" cy="1444752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53728" y="2231136"/>
            <a:ext cx="109728" cy="11887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18320" y="22128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Desarrollador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418320" y="2560320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También necesita entender rápido qué pieza está viendo.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1316736" y="3968496"/>
            <a:ext cx="9436608" cy="914400"/>
          </a:xfrm>
          <a:prstGeom prst="roundRect">
            <a:avLst>
              <a:gd name="adj" fmla="val 4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737360" y="426110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la estructura solo sirve para que la página “se vea”, pero no para que otros la lean e interpreten, el documento quedó corto en términos técnicos.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contenido a la interpretación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HTML se vuelve un punto de encuentro entre el contenido y las distintas capas que interactúan con la página.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2743200"/>
            <a:ext cx="1792224" cy="95097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871216"/>
            <a:ext cx="109728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852928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Contenido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32004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Ideas, texto,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medios, acciones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98064" y="3090672"/>
            <a:ext cx="310896" cy="256032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2578608"/>
            <a:ext cx="1993392" cy="1280160"/>
          </a:xfrm>
          <a:prstGeom prst="roundRect">
            <a:avLst>
              <a:gd name="adj" fmla="val 2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2706624"/>
            <a:ext cx="109728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56432" y="26883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HTML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3035808"/>
            <a:ext cx="1645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Ordena, agrupa y nombra las piezas del documento.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49824" y="2468880"/>
            <a:ext cx="1042416" cy="713232"/>
          </a:xfrm>
          <a:prstGeom prst="lineInv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49824" y="3200400"/>
            <a:ext cx="1042416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49824" y="3218688"/>
            <a:ext cx="1042416" cy="841248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20256" y="1975104"/>
            <a:ext cx="1993392" cy="93268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93408" y="2084832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76288" y="210312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876288" y="237744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Construye la interfaz visible.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620256" y="2816352"/>
            <a:ext cx="1993392" cy="932688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93408" y="2926080"/>
            <a:ext cx="100584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76288" y="29443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876288" y="321868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Permiten inspeccionar y diagnosticar.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620256" y="3877056"/>
            <a:ext cx="1993392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693408" y="3986784"/>
            <a:ext cx="100584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76288" y="400507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876288" y="4279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Favorece lectura y navegación asistida.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979408" y="2816352"/>
            <a:ext cx="1993392" cy="93268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052560" y="2926080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235440" y="29443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Mantenimiento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9235440" y="321868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 más legible el documento futuro.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 algo no es entenderlo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páginas pueden verse parecidas y, aun así, estar construidas con niveles muy distintos de claridad interna.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59536" y="2194560"/>
            <a:ext cx="4663440" cy="2542032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322576"/>
            <a:ext cx="109728" cy="22860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0428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Superficie visual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15568" y="2743200"/>
            <a:ext cx="431596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Título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Botón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Menú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Eso es lo primero que suele notar un usuario.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10912" y="3017520"/>
            <a:ext cx="1847088" cy="896112"/>
          </a:xfrm>
          <a:prstGeom prst="roundRect">
            <a:avLst>
              <a:gd name="adj" fmla="val 40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30368" y="3255264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calidad técnica está 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se organiza todo eso.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187184" y="2194560"/>
            <a:ext cx="4169664" cy="2542032"/>
          </a:xfrm>
          <a:prstGeom prst="roundRect">
            <a:avLst>
              <a:gd name="adj" fmla="val 143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78624" y="2322576"/>
            <a:ext cx="109728" cy="2286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43216" y="230428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interna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443216" y="2743200"/>
            <a:ext cx="382219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Encabezado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Navegación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 principal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Sección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 etiquetado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 de página</a:t>
            </a:r>
            <a:endParaRPr lang="en-US" sz="1450" dirty="0"/>
          </a:p>
          <a:p>
            <a:pPr algn="l" indent="0" marL="0">
              <a:buNone/>
            </a:pP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Eso es lo que vuelve comprensible el documento.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no solo muestra: describe funciones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elegimos mejor los elementos, el documento deja de ser una suma de cajas y empieza a expresar su lógica interna.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2359152"/>
            <a:ext cx="1828800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468880"/>
            <a:ext cx="100584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48716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Título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97280" y="2761488"/>
            <a:ext cx="1499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 jerarquía y ayuda a ordenar la lectura.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054096" y="2048256"/>
            <a:ext cx="1828800" cy="1243584"/>
          </a:xfrm>
          <a:prstGeom prst="roundRect">
            <a:avLst>
              <a:gd name="adj" fmla="val 220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27248" y="2157984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10128" y="217627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Navegación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310128" y="2450592"/>
            <a:ext cx="1499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 enlaces que orientan el recorrido del sitio.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266944" y="2359152"/>
            <a:ext cx="1828800" cy="1243584"/>
          </a:xfrm>
          <a:prstGeom prst="roundRect">
            <a:avLst>
              <a:gd name="adj" fmla="val 220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40096" y="2468880"/>
            <a:ext cx="100584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22976" y="248716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Contenido principal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522976" y="2761488"/>
            <a:ext cx="1499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 lo central del resto de la interfaz.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479792" y="2048256"/>
            <a:ext cx="1828800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52944" y="2157984"/>
            <a:ext cx="100584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35824" y="217627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Sección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735824" y="2450592"/>
            <a:ext cx="1499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 el documento en partes con sentido propio.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692640" y="2359152"/>
            <a:ext cx="1828800" cy="1243584"/>
          </a:xfrm>
          <a:prstGeom prst="roundRect">
            <a:avLst>
              <a:gd name="adj" fmla="val 220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65792" y="2468880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948672" y="248716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948672" y="2761488"/>
            <a:ext cx="14996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Cierra la página con información complementaria.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792224" y="4078224"/>
            <a:ext cx="868680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737360" y="4315968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correcta no es solo “¿qué quiero poner en pantalla?”, sino también “¿qué es esta parte dentro del documento?”.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Improvisar etiquetas no basta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HTML no garantiza por sí mismo que el documento esté bien construido; la diferencia aparece en la calidad de la estructura.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2084832"/>
            <a:ext cx="4901184" cy="2724912"/>
          </a:xfrm>
          <a:prstGeom prst="roundRect">
            <a:avLst>
              <a:gd name="adj" fmla="val 13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Página improvisada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15568" y="283464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87121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103120" y="283464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76272" y="287121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090672" y="283464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63824" y="287121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115568" y="3419856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345643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103120" y="3419856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76272" y="345643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15568" y="3822192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existe, pero nada deja clara su función.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Leer, corregir o navegar ese documento cuesta más.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19088" y="2084832"/>
            <a:ext cx="4828032" cy="2724912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56832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Página con criterio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656832" y="2816352"/>
            <a:ext cx="987552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29984" y="285292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754112" y="2816352"/>
            <a:ext cx="987552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27264" y="285292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723376" y="2816352"/>
            <a:ext cx="987552" cy="256032"/>
          </a:xfrm>
          <a:prstGeom prst="roundRect">
            <a:avLst>
              <a:gd name="adj" fmla="val 1785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796528" y="285292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876288" y="3401568"/>
            <a:ext cx="987552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49440" y="34381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412480" y="3401568"/>
            <a:ext cx="987552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85632" y="34381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footer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656832" y="3822192"/>
            <a:ext cx="4078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empieza a expresar el rol de cada bloque.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Eso mejora lectura, inspección y mantenimiento.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no hay jerarquía aparecen fricciones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falta de estructura no siempre rompe la página de inmediato, pero sí vuelve más torpe todo lo que viene después.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2157984"/>
            <a:ext cx="2011680" cy="1042416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267712"/>
            <a:ext cx="100584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28600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cuesta más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70432" y="256032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archivo no deja claro qué es central y qué es secundario.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10128" y="1920240"/>
            <a:ext cx="2011680" cy="1042416"/>
          </a:xfrm>
          <a:prstGeom prst="roundRect">
            <a:avLst>
              <a:gd name="adj" fmla="val 26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2029968"/>
            <a:ext cx="100584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0" y="204825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Inspeccionar cuesta más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566160" y="232257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 muestra nodos, pero no una lógica bien expresada.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705856" y="2157984"/>
            <a:ext cx="2011680" cy="1042416"/>
          </a:xfrm>
          <a:prstGeom prst="roundRect">
            <a:avLst>
              <a:gd name="adj" fmla="val 26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79008" y="2267712"/>
            <a:ext cx="100584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228600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Mantener cuesta más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961888" y="256032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 una parte puede romper otra por falta de orden.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101584" y="1920240"/>
            <a:ext cx="2011680" cy="1042416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74736" y="2029968"/>
            <a:ext cx="100584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57616" y="204825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Navegar cuesta más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357616" y="232257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experiencia se vuelve menos clara para distintos usuarios.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865376" y="3712464"/>
            <a:ext cx="8503920" cy="914400"/>
          </a:xfrm>
          <a:prstGeom prst="roundRect">
            <a:avLst>
              <a:gd name="adj" fmla="val 4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66544" y="3877056"/>
            <a:ext cx="8101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falta de semántica no siempre se nota en el diseño,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pero sí se siente en el trabajo técnico.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semántica mejora tres capas a la vez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buena estructura no beneficia una sola cosa: ordena lectura, mantenimiento y accesibilidad inicial al mismo tiempo.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77824" y="2194560"/>
            <a:ext cx="3218688" cy="2340864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322576"/>
            <a:ext cx="109728" cy="20848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04288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técnica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33856" y="2651760"/>
            <a:ext cx="287121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archivo se vuelve más rápido de entender.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reconoce mejor qué parte es encabezado,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navegación, contenido principal o cierre.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498848" y="2048256"/>
            <a:ext cx="3218688" cy="2487168"/>
          </a:xfrm>
          <a:prstGeom prst="roundRect">
            <a:avLst>
              <a:gd name="adj" fmla="val 14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90288" y="2176272"/>
            <a:ext cx="109728" cy="22311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2157984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Mantenimiento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754880" y="2505456"/>
            <a:ext cx="287121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Corregir, ampliar o reorganizar una página cuesta menos cuando el documento ya viene con una lógica visible y consistente.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119872" y="2194560"/>
            <a:ext cx="3218688" cy="2340864"/>
          </a:xfrm>
          <a:prstGeom prst="roundRect">
            <a:avLst>
              <a:gd name="adj" fmla="val 156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11312" y="2322576"/>
            <a:ext cx="109728" cy="20848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75904" y="2304288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 inicial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375904" y="2651760"/>
            <a:ext cx="287121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con sentido mejora la base sobre la que después se construyen recorridos y lecturas más inclusivas.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breve: el mismo formulario, dos resultados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diseño visible puede parecer parecido, pero la experiencia técnica cambia cuando la estructura está mejor pensada.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96112" y="2212848"/>
            <a:ext cx="4956048" cy="2414016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340864"/>
            <a:ext cx="109728" cy="21579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322576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etiquetas claras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152144" y="2670048"/>
            <a:ext cx="46085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sueltos dentro de contenedores genéricos.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entiende rápido qué pregunta cada control,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parte es principal y dónde empieza o termina el formulario.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358384" y="2926080"/>
            <a:ext cx="1408176" cy="896112"/>
          </a:xfrm>
          <a:prstGeom prst="roundRect">
            <a:avLst>
              <a:gd name="adj" fmla="val 408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41264" y="3090672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visible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sobrevivir.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técnico, no siempre.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168896" y="2212848"/>
            <a:ext cx="4114800" cy="2414016"/>
          </a:xfrm>
          <a:prstGeom prst="roundRect">
            <a:avLst>
              <a:gd name="adj" fmla="val 151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60336" y="2340864"/>
            <a:ext cx="109728" cy="21579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24928" y="2322576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estructura y sentido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424928" y="2670048"/>
            <a:ext cx="37673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Etiquetas, agrupación y contexto hacen que el formulario se lea mejor,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 más fácil de mantener y deje una mejor base para accesibilidad.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guía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preguntas ayudan a fijar la idea antes de entrar a la anatomía concreta del documento HTML.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96112" y="2286000"/>
            <a:ext cx="3163824" cy="1865376"/>
          </a:xfrm>
          <a:prstGeom prst="roundRect">
            <a:avLst>
              <a:gd name="adj" fmla="val 196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2736616"/>
            <a:ext cx="175565" cy="40379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07958" y="2578608"/>
            <a:ext cx="210678" cy="56180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53748" y="2736616"/>
            <a:ext cx="175565" cy="40379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82496" y="25786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seguir...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97280" y="3200400"/>
            <a:ext cx="2670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es la base que hace posible leer, mantener e inspeccionar la página con más criterio.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72000" y="2103120"/>
            <a:ext cx="2011680" cy="1298448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45152" y="2212848"/>
            <a:ext cx="100584" cy="10789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8032" y="223113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828032" y="2505456"/>
            <a:ext cx="16824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una página no debería entenderse solo como algo visual?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12864" y="2542032"/>
            <a:ext cx="2011680" cy="1298448"/>
          </a:xfrm>
          <a:prstGeom prst="roundRect">
            <a:avLst>
              <a:gd name="adj" fmla="val 211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86016" y="2651760"/>
            <a:ext cx="100584" cy="10789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68896" y="26700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168896" y="2944368"/>
            <a:ext cx="16824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cambia cuando el HTML expresa mejor la función de cada parte?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253728" y="2103120"/>
            <a:ext cx="2011680" cy="1298448"/>
          </a:xfrm>
          <a:prstGeom prst="roundRect">
            <a:avLst>
              <a:gd name="adj" fmla="val 211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26880" y="2212848"/>
            <a:ext cx="100584" cy="10789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509760" y="223113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509760" y="2505456"/>
            <a:ext cx="16824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problema aparece cuando todo se construye sin jerarquía clara?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no solo sirve para mostrar contenido: organiza la información y deja una base más sana para todo lo que viene después.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77824" y="2176272"/>
            <a:ext cx="6473952" cy="2176272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487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15568" y="2724912"/>
            <a:ext cx="5577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página bien construida no solo se ve bien: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una estructura de información que también se puede leer, mantener e interpretar mejor.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1115568" y="3822192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88720" y="3858768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395728" y="3822192"/>
            <a:ext cx="1243584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68880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significado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803904" y="3822192"/>
            <a:ext cx="1426464" cy="256032"/>
          </a:xfrm>
          <a:prstGeom prst="roundRect">
            <a:avLst>
              <a:gd name="adj" fmla="val 1785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38587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26096" y="2176272"/>
            <a:ext cx="3584448" cy="2176272"/>
          </a:xfrm>
          <a:prstGeom prst="roundRect">
            <a:avLst>
              <a:gd name="adj" fmla="val 16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17536" y="2304288"/>
            <a:ext cx="109728" cy="19202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82128" y="228600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 Bloque 2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7882128" y="2633472"/>
            <a:ext cx="32369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siguiente tramo veremos cómo esa idea se traduce en elementos concretos del documento: `html`, `head`, `body`, `header`, `main`, `section` y más.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5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2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41248" y="1097280"/>
            <a:ext cx="3877056" cy="3931920"/>
          </a:xfrm>
          <a:prstGeom prst="roundRect">
            <a:avLst>
              <a:gd name="adj" fmla="val 9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1426464"/>
            <a:ext cx="23408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documento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097280" y="3090672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312724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&lt;!DOCTYPE html&gt;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097280" y="3529584"/>
            <a:ext cx="1024128" cy="274320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0432" y="356616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&lt;head&gt;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267712" y="3529584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40864" y="356616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&lt;body&gt;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138928" y="1353312"/>
            <a:ext cx="2139696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30368" y="1481328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94960" y="14630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válida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94960" y="1810512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parte con una estructura mínima bien declarada.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479792" y="1755648"/>
            <a:ext cx="2139696" cy="1078992"/>
          </a:xfrm>
          <a:prstGeom prst="roundRect">
            <a:avLst>
              <a:gd name="adj" fmla="val 339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71232" y="1883664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35824" y="186537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`head`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735824" y="2212848"/>
            <a:ext cx="17922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y configura el documento.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9820656" y="2157984"/>
            <a:ext cx="1627632" cy="1078992"/>
          </a:xfrm>
          <a:prstGeom prst="roundRect">
            <a:avLst>
              <a:gd name="adj" fmla="val 339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912096" y="2286000"/>
            <a:ext cx="109728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76688" y="22677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`body`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076688" y="2615184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el contenido visible.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212080" y="3986784"/>
            <a:ext cx="5596128" cy="713232"/>
          </a:xfrm>
          <a:prstGeom prst="roundRect">
            <a:avLst>
              <a:gd name="adj" fmla="val 512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22976" y="4224528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este bloque dejamos la idea general y entramos a leer HTML como estructura concreta.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base mínima de un documento HTML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construir secciones, navegación o formularios, el archivo necesita una estructura base válida.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4672" y="2212848"/>
            <a:ext cx="4992624" cy="2871216"/>
          </a:xfrm>
          <a:prstGeom prst="roundRect">
            <a:avLst>
              <a:gd name="adj" fmla="val 127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322576"/>
            <a:ext cx="473659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395728"/>
            <a:ext cx="4517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documento-base.html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" y="2779776"/>
            <a:ext cx="455371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DOCTYPE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5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charset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5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UTF-8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5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viewport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5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width=device-width, initial-scale=1.0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 primera página semántica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 mundo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Este documento ya tiene una base válida.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5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72784" y="2267712"/>
            <a:ext cx="2157984" cy="896112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45936" y="2377440"/>
            <a:ext cx="100584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28816" y="23957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`&lt;!DOCTYPE html&gt;`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28816" y="26700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 la interpretación del documento como HTML5.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796528" y="2267712"/>
            <a:ext cx="2157984" cy="896112"/>
          </a:xfrm>
          <a:prstGeom prst="roundRect">
            <a:avLst>
              <a:gd name="adj" fmla="val 30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869680" y="2377440"/>
            <a:ext cx="100584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52560" y="239572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`&lt;html lang="es"&gt;`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052560" y="26700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Envuelve todo y declara idioma principal.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72784" y="3383280"/>
            <a:ext cx="2157984" cy="896112"/>
          </a:xfrm>
          <a:prstGeom prst="roundRect">
            <a:avLst>
              <a:gd name="adj" fmla="val 306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45936" y="3493008"/>
            <a:ext cx="100584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28816" y="35112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`&lt;head&gt;`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528816" y="37856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 configuración, título y metadatos.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796528" y="3383280"/>
            <a:ext cx="2157984" cy="896112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869680" y="3493008"/>
            <a:ext cx="100584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052560" y="35112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`&lt;body&gt;`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9052560" y="37856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Contiene la estructura visible e interactiva.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dice cada parte del esqueleto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copiar una plantilla: conviene saber qué problema resuelve cada línea inicial del archivo.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96112" y="2286000"/>
            <a:ext cx="2286000" cy="1060704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395728"/>
            <a:ext cx="100584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41401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DOCTYPE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52144" y="268833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dice al navegador que debe trabajar con HTML5.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93008" y="2011680"/>
            <a:ext cx="2286000" cy="1060704"/>
          </a:xfrm>
          <a:prstGeom prst="roundRect">
            <a:avLst>
              <a:gd name="adj" fmla="val 258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6160" y="2121408"/>
            <a:ext cx="100584" cy="841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49040" y="213969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Idioma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749040" y="241401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lectores, herramientas y contexto del documento.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89904" y="2286000"/>
            <a:ext cx="2286000" cy="1060704"/>
          </a:xfrm>
          <a:prstGeom prst="roundRect">
            <a:avLst>
              <a:gd name="adj" fmla="val 258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63056" y="2395728"/>
            <a:ext cx="100584" cy="841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45936" y="241401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Charset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345936" y="268833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problemas de codificación de caracteres.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686800" y="2011680"/>
            <a:ext cx="2286000" cy="1060704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59952" y="2121408"/>
            <a:ext cx="100584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42832" y="213969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Viewport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942832" y="2414016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que la página responda mejor en dispositivos.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225296" y="3840480"/>
            <a:ext cx="9509760" cy="859536"/>
          </a:xfrm>
          <a:prstGeom prst="roundRect">
            <a:avLst>
              <a:gd name="adj" fmla="val 4255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426464" y="4005072"/>
            <a:ext cx="9107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base mínima válida ahorra confusión antes incluso de escribir el contenido real.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`head` y `body` no hacen lo mismo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de las primeras distinciones técnicas útiles es separar configuración del documento y estructura visible.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77824" y="2212848"/>
            <a:ext cx="4828032" cy="2615184"/>
          </a:xfrm>
          <a:prstGeom prst="roundRect">
            <a:avLst>
              <a:gd name="adj" fmla="val 13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`head`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70432" y="2907792"/>
            <a:ext cx="3145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y configura el documento.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viven charset, viewport, title,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metadatos y enlaces a recursos.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170432" y="4187952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43584" y="422452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596896" y="4187952"/>
            <a:ext cx="115214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70048" y="42245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metadatos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73952" y="2212848"/>
            <a:ext cx="4828032" cy="2615184"/>
          </a:xfrm>
          <a:prstGeom prst="roundRect">
            <a:avLst>
              <a:gd name="adj" fmla="val 139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2487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`body`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766560" y="2907792"/>
            <a:ext cx="34198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Contiene la estructura visible e interactiva.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viven encabezados, navegación,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secciones, formularios, enlaces y contenido principal.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766560" y="4187952"/>
            <a:ext cx="1024128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39712" y="42245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955280" y="4187952"/>
            <a:ext cx="117043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28432" y="42245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interacción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suele vivir dentro del elemento head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no se recorre como contenido principal, pero sigue siendo clave para que el documento funcione y se interprete mejor.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54880" y="2212848"/>
            <a:ext cx="2395728" cy="658368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92624" y="2414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 head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41248" y="3218688"/>
            <a:ext cx="2231136" cy="1042416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3328416"/>
            <a:ext cx="100584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334670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Charset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97280" y="362102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Codificación correcta de caracteres.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93008" y="3218688"/>
            <a:ext cx="2231136" cy="1042416"/>
          </a:xfrm>
          <a:prstGeom prst="roundRect">
            <a:avLst>
              <a:gd name="adj" fmla="val 26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66160" y="3328416"/>
            <a:ext cx="100584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9040" y="334670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Viewport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749040" y="362102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 y adaptación en dispositivos.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44768" y="3218688"/>
            <a:ext cx="2231136" cy="1042416"/>
          </a:xfrm>
          <a:prstGeom prst="roundRect">
            <a:avLst>
              <a:gd name="adj" fmla="val 26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3328416"/>
            <a:ext cx="100584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334670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Title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0800" y="362102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visible en pestañas y contexto.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796528" y="3218688"/>
            <a:ext cx="2231136" cy="1042416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69680" y="3328416"/>
            <a:ext cx="100584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52560" y="334670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Recursos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9052560" y="362102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enlazar CSS, íconos y otros metadatos.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943600" y="2871216"/>
            <a:ext cx="27432" cy="2377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956816" y="3090672"/>
            <a:ext cx="7973568" cy="274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56816" y="3090672"/>
            <a:ext cx="27432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08576" y="3090672"/>
            <a:ext cx="27432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260336" y="3090672"/>
            <a:ext cx="27432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912096" y="3090672"/>
            <a:ext cx="27432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243584" y="4535424"/>
            <a:ext cx="9692640" cy="457200"/>
          </a:xfrm>
          <a:prstGeom prst="roundRect">
            <a:avLst>
              <a:gd name="adj" fmla="val 6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499616" y="4681728"/>
            <a:ext cx="9180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Aunque no aparezca como contenido principal, aquí se define parte importante de cómo el documento se presenta, se adapta y se interpreta.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archivo al árbol del documento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navegador no “ve” un bloque plano de texto: interpreta relaciones entre nodos y construye una estructura jerárquica.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120640" y="201168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93792" y="204825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&lt;html&gt;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50992" y="2322576"/>
            <a:ext cx="0" cy="566928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62656" y="2889504"/>
            <a:ext cx="5376672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62656" y="2889504"/>
            <a:ext cx="0" cy="493776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39328" y="2889504"/>
            <a:ext cx="0" cy="493776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83664" y="3438144"/>
            <a:ext cx="2157984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975104" y="3566160"/>
            <a:ext cx="109728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39696" y="354787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`head`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139696" y="3895344"/>
            <a:ext cx="1810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Metadatos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Título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Viewport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37376" y="3438144"/>
            <a:ext cx="2926080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28816" y="3566160"/>
            <a:ext cx="109728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93408" y="354787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`body`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93408" y="3895344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 visible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semántica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Interacción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351776" y="4608576"/>
            <a:ext cx="1078992" cy="822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24928" y="4718304"/>
            <a:ext cx="100584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07808" y="473659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header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607808" y="50109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631936" y="4608576"/>
            <a:ext cx="1078992" cy="82296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705088" y="4718304"/>
            <a:ext cx="100584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87968" y="473659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8887968" y="50109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núcleo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912096" y="4608576"/>
            <a:ext cx="1078992" cy="822960"/>
          </a:xfrm>
          <a:prstGeom prst="roundRect">
            <a:avLst>
              <a:gd name="adj" fmla="val 333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985248" y="4718304"/>
            <a:ext cx="100584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68128" y="473659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footer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10168128" y="5010912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`body` necesita jerarquía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Dentro del cuerpo del documento no conviene acumular bloques sin criterio: cada pieza debería dejar más clara la lectura del conjunto.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96112" y="2578608"/>
            <a:ext cx="1170432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724912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194560" y="2724912"/>
            <a:ext cx="256032" cy="219456"/>
          </a:xfrm>
          <a:prstGeom prst="chevron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31136" y="2084832"/>
            <a:ext cx="1170432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40864" y="223113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529584" y="2231136"/>
            <a:ext cx="256032" cy="219456"/>
          </a:xfrm>
          <a:prstGeom prst="chevron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49040" y="2578608"/>
            <a:ext cx="1170432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58768" y="2724912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47488" y="2724912"/>
            <a:ext cx="256032" cy="219456"/>
          </a:xfrm>
          <a:prstGeom prst="chevron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94960" y="2084832"/>
            <a:ext cx="1170432" cy="512064"/>
          </a:xfrm>
          <a:prstGeom prst="roundRect">
            <a:avLst>
              <a:gd name="adj" fmla="val 714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04688" y="223113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693408" y="2231136"/>
            <a:ext cx="256032" cy="219456"/>
          </a:xfrm>
          <a:prstGeom prst="chevron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05472" y="2578608"/>
            <a:ext cx="1170432" cy="512064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0" y="2724912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503920" y="2724912"/>
            <a:ext cx="256032" cy="219456"/>
          </a:xfrm>
          <a:prstGeom prst="chevron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034272" y="2084832"/>
            <a:ext cx="1170432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0" y="223113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152144" y="3730752"/>
            <a:ext cx="2907792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243584" y="3858768"/>
            <a:ext cx="109728" cy="9692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408176" y="38404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Encabezado y navegación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408176" y="41879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 contexto inicial y orientan el recorrido del usuario.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4553712" y="3730752"/>
            <a:ext cx="2907792" cy="1225296"/>
          </a:xfrm>
          <a:prstGeom prst="roundRect">
            <a:avLst>
              <a:gd name="adj" fmla="val 298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45152" y="3858768"/>
            <a:ext cx="109728" cy="9692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09744" y="38404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Contenido principal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809744" y="41879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 el núcleo de la página y separa lo central del resto.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7955280" y="3730752"/>
            <a:ext cx="2907792" cy="1225296"/>
          </a:xfrm>
          <a:prstGeom prst="roundRect">
            <a:avLst>
              <a:gd name="adj" fmla="val 298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046720" y="3858768"/>
            <a:ext cx="109728" cy="96926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11312" y="38404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documento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211312" y="41879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pie no cumple la misma función que el contenido central.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`body` semántico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HTML organiza mejor las piezas, el archivo empieza a ser más legible incluso antes de aplicar estilos.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2157984"/>
            <a:ext cx="5632704" cy="2999232"/>
          </a:xfrm>
          <a:prstGeom prst="roundRect">
            <a:avLst>
              <a:gd name="adj" fmla="val 122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267712"/>
            <a:ext cx="537667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340864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body-semantico.html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42416" y="2724912"/>
            <a:ext cx="519379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Portafolio de Ana Pérez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4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4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sobre-mi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4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4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proyectos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Contacto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4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6894576" y="2212848"/>
            <a:ext cx="201168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67728" y="2322576"/>
            <a:ext cx="100584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50608" y="234086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`header`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150608" y="2615184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 el inicio y puede agrupar título y navegación.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125712" y="2816352"/>
            <a:ext cx="2011680" cy="914400"/>
          </a:xfrm>
          <a:prstGeom prst="roundRect">
            <a:avLst>
              <a:gd name="adj" fmla="val 3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98864" y="2926080"/>
            <a:ext cx="100584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381744" y="294436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`main`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381744" y="321868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 el contenido principal del resto.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894576" y="3767328"/>
            <a:ext cx="2011680" cy="914400"/>
          </a:xfrm>
          <a:prstGeom prst="roundRect">
            <a:avLst>
              <a:gd name="adj" fmla="val 3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67728" y="3877056"/>
            <a:ext cx="100584" cy="6949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50608" y="3895344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`footer`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150608" y="4169664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Cierra la página con información complementaria.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todos los bloques significan lo mismo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elementos semánticos no son piezas decorativas: ayudan a reconocer la función de cada zona del documento.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2212848"/>
            <a:ext cx="1609344" cy="1060704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322576"/>
            <a:ext cx="100584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408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70432" y="26151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 del documento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743200" y="2615184"/>
            <a:ext cx="1609344" cy="1060704"/>
          </a:xfrm>
          <a:prstGeom prst="roundRect">
            <a:avLst>
              <a:gd name="adj" fmla="val 258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16352" y="2724912"/>
            <a:ext cx="100584" cy="841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99232" y="2743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999232" y="3017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y enlaces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2212848"/>
            <a:ext cx="1609344" cy="1060704"/>
          </a:xfrm>
          <a:prstGeom prst="roundRect">
            <a:avLst>
              <a:gd name="adj" fmla="val 258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45152" y="2322576"/>
            <a:ext cx="100584" cy="841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8032" y="23408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828032" y="26151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Núcleo del contenido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0" y="2615184"/>
            <a:ext cx="1609344" cy="1060704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73952" y="2724912"/>
            <a:ext cx="100584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56832" y="2743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section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656832" y="3017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con sentido propio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229600" y="2212848"/>
            <a:ext cx="1609344" cy="1060704"/>
          </a:xfrm>
          <a:prstGeom prst="roundRect">
            <a:avLst>
              <a:gd name="adj" fmla="val 258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02752" y="2322576"/>
            <a:ext cx="100584" cy="841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85632" y="23408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article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485632" y="26151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más autónoma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0058400" y="2615184"/>
            <a:ext cx="1170432" cy="1060704"/>
          </a:xfrm>
          <a:prstGeom prst="roundRect">
            <a:avLst>
              <a:gd name="adj" fmla="val 258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131552" y="2724912"/>
            <a:ext cx="100584" cy="841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314432" y="274320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footer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0314432" y="301752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645920" y="4041648"/>
            <a:ext cx="8887968" cy="768096"/>
          </a:xfrm>
          <a:prstGeom prst="roundRect">
            <a:avLst>
              <a:gd name="adj" fmla="val 476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975104" y="4279392"/>
            <a:ext cx="8211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útil no es solo “qué etiqueta sé usar”, sino “qué función representa mejor esta parte del documento”.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semántica vs contenedores genéricos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no está solo en el nombre de la etiqueta, sino en la claridad que deja para leer e inspeccionar el documento.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2212848"/>
            <a:ext cx="4809744" cy="2560320"/>
          </a:xfrm>
          <a:prstGeom prst="roundRect">
            <a:avLst>
              <a:gd name="adj" fmla="val 14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322576"/>
            <a:ext cx="4553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395728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estructura-generica.html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60704" y="2779776"/>
            <a:ext cx="437083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Portafolio de Ana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 mí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Proyectos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Contacto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6492240" y="2212848"/>
            <a:ext cx="4809744" cy="2560320"/>
          </a:xfrm>
          <a:prstGeom prst="roundRect">
            <a:avLst>
              <a:gd name="adj" fmla="val 1429"/>
            </a:avLst>
          </a:prstGeom>
          <a:solidFill>
            <a:srgbClr val="1B3554"/>
          </a:solidFill>
          <a:ln w="12700">
            <a:solidFill>
              <a:srgbClr val="1B355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20256" y="2322576"/>
            <a:ext cx="4553712" cy="310896"/>
          </a:xfrm>
          <a:prstGeom prst="roundRect">
            <a:avLst>
              <a:gd name="adj" fmla="val 8824"/>
            </a:avLst>
          </a:prstGeom>
          <a:solidFill>
            <a:srgbClr val="335985"/>
          </a:solidFill>
          <a:ln w="12700">
            <a:solidFill>
              <a:srgbClr val="33598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9984" y="2395728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estructura-semantica.html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11696" y="2779776"/>
            <a:ext cx="437083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Portafolio de Ana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 mí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Proyectos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inspeccionas el DOM, esto sí importa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anatomía del documento afecta directamente la velocidad con que puedes ubicarte y diagnosticar algo en el navegador.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2212848"/>
            <a:ext cx="4224528" cy="2450592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40864"/>
            <a:ext cx="109728" cy="21945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32257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Árbol difícil de leer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70432" y="2670048"/>
            <a:ext cx="387705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div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div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div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div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div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existe, pero cuesta reconocer funciones.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376672" y="2980944"/>
            <a:ext cx="1335024" cy="822960"/>
          </a:xfrm>
          <a:prstGeom prst="roundRect">
            <a:avLst>
              <a:gd name="adj" fmla="val 444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41264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hace visible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059168" y="2212848"/>
            <a:ext cx="4224528" cy="2450592"/>
          </a:xfrm>
          <a:prstGeom prst="roundRect">
            <a:avLst>
              <a:gd name="adj" fmla="val 149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50608" y="2340864"/>
            <a:ext cx="109728" cy="21945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2322576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Árbol más legible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315200" y="2670048"/>
            <a:ext cx="387705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nav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section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article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footer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se entiende mucho más rápido qué parte estás mirando.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guía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pasar a formularios, conviene fijar qué piezas hacen reconocible a un documento HTML bien construido.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96112" y="2212848"/>
            <a:ext cx="3456432" cy="2395728"/>
          </a:xfrm>
          <a:prstGeom prst="roundRect">
            <a:avLst>
              <a:gd name="adj" fmla="val 152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322576"/>
            <a:ext cx="320040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95728"/>
            <a:ext cx="2980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 técnica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15568" y="2779776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DOCTYPE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1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4901184" y="2139696"/>
            <a:ext cx="1975104" cy="1078992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74336" y="2249424"/>
            <a:ext cx="100584" cy="859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57216" y="2267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157216" y="254203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problema resuelve realmente la estructura base del documento?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87184" y="2651760"/>
            <a:ext cx="1975104" cy="1078992"/>
          </a:xfrm>
          <a:prstGeom prst="roundRect">
            <a:avLst>
              <a:gd name="adj" fmla="val 254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60336" y="2761488"/>
            <a:ext cx="100584" cy="859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43216" y="277977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443216" y="3054096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`head` y `body` no deberían mezclarse ni conceptual ni técnicamente?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473184" y="2139696"/>
            <a:ext cx="1975104" cy="1078992"/>
          </a:xfrm>
          <a:prstGeom prst="roundRect">
            <a:avLst>
              <a:gd name="adj" fmla="val 254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546336" y="2249424"/>
            <a:ext cx="100584" cy="8595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29216" y="2267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9729216" y="2542032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gana un desarrollador cuando encuentra un `body` con jerarquía semántica clara?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documento HTML gana calidad cuando parte bien, separa `head` y `body` con claridad y organiza su contenido con una jerarquía reconocible.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32688" y="2286000"/>
            <a:ext cx="6199632" cy="1956816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27432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anatomía clara del documento facilita lectura, inspección, mantenimiento y futuras interacciones.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644384" y="2286000"/>
            <a:ext cx="3401568" cy="1956816"/>
          </a:xfrm>
          <a:prstGeom prst="roundRect">
            <a:avLst>
              <a:gd name="adj" fmla="val 186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35824" y="2414016"/>
            <a:ext cx="109728" cy="17007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00416" y="239572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 Bloque 3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900416" y="274320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siguiente tramo veremos formularios y accesibilidad inicial, donde etiquetar y agrupar correctamente deja de ser opcional.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5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3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41248" y="1097280"/>
            <a:ext cx="3913632" cy="3968496"/>
          </a:xfrm>
          <a:prstGeom prst="roundRect">
            <a:avLst>
              <a:gd name="adj" fmla="val 93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1444752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accesibilidad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inicial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097280" y="32004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323697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&lt;form&gt;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231136" y="32004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04288" y="323697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&lt;label&gt;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97280" y="3621024"/>
            <a:ext cx="896112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0432" y="365760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139696" y="3621024"/>
            <a:ext cx="1609344" cy="274320"/>
          </a:xfrm>
          <a:prstGeom prst="roundRect">
            <a:avLst>
              <a:gd name="adj" fmla="val 1666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12848" y="3657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accesibilidad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266944" y="1408176"/>
            <a:ext cx="2834640" cy="3072384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22976" y="168249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 de acceso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541264" y="221284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522976" y="2432304"/>
            <a:ext cx="2322576" cy="438912"/>
          </a:xfrm>
          <a:prstGeom prst="roundRect">
            <a:avLst>
              <a:gd name="adj" fmla="val 6250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41264" y="299923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Contraseña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522976" y="3218688"/>
            <a:ext cx="2322576" cy="438912"/>
          </a:xfrm>
          <a:prstGeom prst="roundRect">
            <a:avLst>
              <a:gd name="adj" fmla="val 6250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62472" y="3840480"/>
            <a:ext cx="1243584" cy="384048"/>
          </a:xfrm>
          <a:prstGeom prst="roundRect">
            <a:avLst>
              <a:gd name="adj" fmla="val 71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62472" y="391363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Ingresar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558784" y="1517904"/>
            <a:ext cx="2066544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650224" y="1645920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814816" y="16276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Captura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14816" y="197510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datos también implica estructurarlos bien.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9272016" y="2670048"/>
            <a:ext cx="1938528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363456" y="2798064"/>
            <a:ext cx="10972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28048" y="2779776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Claridad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528048" y="3127248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Etiquetas, nombres y tipos reducen ambigüedad.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540496" y="3822192"/>
            <a:ext cx="2139696" cy="932688"/>
          </a:xfrm>
          <a:prstGeom prst="roundRect">
            <a:avLst>
              <a:gd name="adj" fmla="val 392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631936" y="3950208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796528" y="393192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Acceso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796528" y="4279392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buena base mejora uso, lectura e inspección.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1042416" y="5266944"/>
            <a:ext cx="9966960" cy="402336"/>
          </a:xfrm>
          <a:prstGeom prst="roundRect">
            <a:avLst>
              <a:gd name="adj" fmla="val 681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298448" y="5394960"/>
            <a:ext cx="9454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este bloque pasamos de la estructura del documento a la estructura de interacción: cómo pedir datos con criterio.</a:t>
            </a:r>
            <a:endParaRPr lang="en-US" sz="11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formulario no es una suma de campos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Capturar datos significa organizar una interacción entre usuario, interfaz y sistema.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77824" y="2139696"/>
            <a:ext cx="2542032" cy="2670048"/>
          </a:xfrm>
          <a:prstGeom prst="roundRect">
            <a:avLst>
              <a:gd name="adj" fmla="val 14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3957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está en juego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15568" y="2834640"/>
            <a:ext cx="2011680" cy="292608"/>
          </a:xfrm>
          <a:prstGeom prst="roundRect">
            <a:avLst>
              <a:gd name="adj" fmla="val 937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16736" y="291693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pide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1115568" y="3273552"/>
            <a:ext cx="2011680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16736" y="3355848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nombra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1115568" y="3712464"/>
            <a:ext cx="2011680" cy="292608"/>
          </a:xfrm>
          <a:prstGeom prst="roundRect">
            <a:avLst>
              <a:gd name="adj" fmla="val 937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16736" y="3794760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agrupa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1115568" y="4151376"/>
            <a:ext cx="2011680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16736" y="4233672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recibe el sistema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3803904" y="2231136"/>
            <a:ext cx="4133088" cy="2011680"/>
          </a:xfrm>
          <a:prstGeom prst="roundRect">
            <a:avLst>
              <a:gd name="adj" fmla="val 181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05072" y="2395728"/>
            <a:ext cx="373075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formulario bien hecho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organiza una conversación técnica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 persona, navegador y sistema.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8321040" y="2157984"/>
            <a:ext cx="1975104" cy="95097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12480" y="2286000"/>
            <a:ext cx="109728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77072" y="226771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577072" y="261518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 datos y espera claridad.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9144000" y="3291840"/>
            <a:ext cx="2029968" cy="950976"/>
          </a:xfrm>
          <a:prstGeom prst="roundRect">
            <a:avLst>
              <a:gd name="adj" fmla="val 384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235440" y="3419856"/>
            <a:ext cx="109728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00032" y="340156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400032" y="374904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 tipos, valida y presenta controles.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8394192" y="4425696"/>
            <a:ext cx="1956816" cy="950976"/>
          </a:xfrm>
          <a:prstGeom prst="roundRect">
            <a:avLst>
              <a:gd name="adj" fmla="val 384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85632" y="4553712"/>
            <a:ext cx="109728" cy="6949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50224" y="453542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650224" y="488289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valores y los procesa.</a:t>
            </a:r>
            <a:endParaRPr lang="en-US" sz="11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básica de un formulario HTML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Form, label, input y button no cumplen la misma función: cada pieza aporta contexto técnico al dato.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6384" y="2066544"/>
            <a:ext cx="4882896" cy="3236976"/>
          </a:xfrm>
          <a:prstGeom prst="roundRect">
            <a:avLst>
              <a:gd name="adj" fmla="val 11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176272"/>
            <a:ext cx="462686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249424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mínima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05840" y="2633472"/>
            <a:ext cx="444398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Enviar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6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6071616" y="2194560"/>
            <a:ext cx="2231136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63056" y="2322576"/>
            <a:ext cx="10972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7648" y="230428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327648" y="265176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 la interacción completa.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613648" y="2194560"/>
            <a:ext cx="2231136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05088" y="2322576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69680" y="230428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869680" y="265176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Nombra el dato y lo vuelve más claro.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71616" y="3438144"/>
            <a:ext cx="2231136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63056" y="3566160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27648" y="354787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327648" y="389534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el valor y define tipo de entrada.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613648" y="3438144"/>
            <a:ext cx="2231136" cy="93268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705088" y="3566160"/>
            <a:ext cx="10972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869680" y="3547872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button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8869680" y="389534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 la acción que cierra o envía.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914400" y="2669092"/>
            <a:ext cx="64008" cy="105165"/>
          </a:xfrm>
          <a:prstGeom prst="roundRect">
            <a:avLst>
              <a:gd name="adj" fmla="val 4285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43677" y="2685099"/>
            <a:ext cx="91440" cy="73152"/>
          </a:xfrm>
          <a:prstGeom prst="roundRect">
            <a:avLst>
              <a:gd name="adj" fmla="val 37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52821" y="2713445"/>
            <a:ext cx="181051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25642" y="2660904"/>
            <a:ext cx="16459" cy="60771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33872" y="2652674"/>
            <a:ext cx="16459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52744" y="2624328"/>
            <a:ext cx="91440" cy="73152"/>
          </a:xfrm>
          <a:prstGeom prst="roundRect">
            <a:avLst>
              <a:gd name="adj" fmla="val 37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4400" y="2838714"/>
            <a:ext cx="64008" cy="105165"/>
          </a:xfrm>
          <a:prstGeom prst="roundRect">
            <a:avLst>
              <a:gd name="adj" fmla="val 4285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643677" y="2854720"/>
            <a:ext cx="91440" cy="73152"/>
          </a:xfrm>
          <a:prstGeom prst="roundRect">
            <a:avLst>
              <a:gd name="adj" fmla="val 37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652821" y="2883067"/>
            <a:ext cx="181051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825642" y="1993392"/>
            <a:ext cx="16459" cy="897904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833872" y="1985162"/>
            <a:ext cx="2706624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532266" y="1993392"/>
            <a:ext cx="16459" cy="667512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494776" y="2624328"/>
            <a:ext cx="91440" cy="73152"/>
          </a:xfrm>
          <a:prstGeom prst="roundRect">
            <a:avLst>
              <a:gd name="adj" fmla="val 37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14400" y="3008335"/>
            <a:ext cx="64008" cy="105165"/>
          </a:xfrm>
          <a:prstGeom prst="roundRect">
            <a:avLst>
              <a:gd name="adj" fmla="val 42857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643677" y="3024341"/>
            <a:ext cx="91440" cy="73152"/>
          </a:xfrm>
          <a:prstGeom prst="roundRect">
            <a:avLst>
              <a:gd name="adj" fmla="val 37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652821" y="3052688"/>
            <a:ext cx="181051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825642" y="3060917"/>
            <a:ext cx="16459" cy="843571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833872" y="3896258"/>
            <a:ext cx="16459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952744" y="3867912"/>
            <a:ext cx="91440" cy="73152"/>
          </a:xfrm>
          <a:prstGeom prst="roundRect">
            <a:avLst>
              <a:gd name="adj" fmla="val 37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914400" y="3856441"/>
            <a:ext cx="64008" cy="105165"/>
          </a:xfrm>
          <a:prstGeom prst="roundRect">
            <a:avLst>
              <a:gd name="adj" fmla="val 4285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643677" y="3872447"/>
            <a:ext cx="91440" cy="73152"/>
          </a:xfrm>
          <a:prstGeom prst="roundRect">
            <a:avLst>
              <a:gd name="adj" fmla="val 37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652821" y="3900794"/>
            <a:ext cx="181051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825642" y="3909023"/>
            <a:ext cx="16459" cy="516673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833872" y="4417466"/>
            <a:ext cx="2706624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532266" y="3904488"/>
            <a:ext cx="16459" cy="521208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494776" y="3867912"/>
            <a:ext cx="91440" cy="73152"/>
          </a:xfrm>
          <a:prstGeom prst="roundRect">
            <a:avLst>
              <a:gd name="adj" fmla="val 37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144768" y="4736592"/>
            <a:ext cx="4626864" cy="493776"/>
          </a:xfrm>
          <a:prstGeom prst="roundRect">
            <a:avLst>
              <a:gd name="adj" fmla="val 555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382512" y="4892040"/>
            <a:ext cx="4151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una de estas piezas falta, la intención del formulario se vuelve más confusa.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se conecta un dato dentro del formulario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ver un campo en pantalla: también importa cómo queda identificado dentro del documento y del envío.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77824" y="2596896"/>
            <a:ext cx="1700784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724912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70662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33856" y="3054096"/>
            <a:ext cx="1353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visible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orienta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2688336" y="2999232"/>
            <a:ext cx="237744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54096" y="2596896"/>
            <a:ext cx="1700784" cy="1170432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45536" y="2724912"/>
            <a:ext cx="10972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10128" y="270662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310128" y="3054096"/>
            <a:ext cx="1353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donde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escribe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4864608" y="2999232"/>
            <a:ext cx="237744" cy="219456"/>
          </a:xfrm>
          <a:prstGeom prst="chevron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30368" y="2596896"/>
            <a:ext cx="1700784" cy="1170432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21808" y="2724912"/>
            <a:ext cx="109728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0" y="270662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5486400" y="3054096"/>
            <a:ext cx="1353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técnico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dato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7040880" y="2999232"/>
            <a:ext cx="237744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06640" y="2596896"/>
            <a:ext cx="1700784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98080" y="2724912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62672" y="270662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7662672" y="3054096"/>
            <a:ext cx="1353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capturado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control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9217152" y="2999232"/>
            <a:ext cx="237744" cy="219456"/>
          </a:xfrm>
          <a:prstGeom prst="chevron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82912" y="2596896"/>
            <a:ext cx="1700784" cy="1170432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674352" y="2724912"/>
            <a:ext cx="10972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838944" y="270662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envío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9838944" y="3054096"/>
            <a:ext cx="13533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listo para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procesarse</a:t>
            </a:r>
            <a:endParaRPr lang="en-US" sz="1080" dirty="0"/>
          </a:p>
        </p:txBody>
      </p:sp>
      <p:sp>
        <p:nvSpPr>
          <p:cNvPr id="34" name="Shape 31"/>
          <p:cNvSpPr/>
          <p:nvPr/>
        </p:nvSpPr>
        <p:spPr>
          <a:xfrm>
            <a:off x="1170432" y="4407408"/>
            <a:ext cx="2816352" cy="914400"/>
          </a:xfrm>
          <a:prstGeom prst="roundRect">
            <a:avLst>
              <a:gd name="adj" fmla="val 3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243584" y="4517136"/>
            <a:ext cx="100584" cy="6949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426464" y="453542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1426464" y="4809744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el control dentro del documento.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498848" y="4407408"/>
            <a:ext cx="2816352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72000" y="4517136"/>
            <a:ext cx="100584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54880" y="453542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4754880" y="4809744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la etiqueta con el id del campo.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7827264" y="4407408"/>
            <a:ext cx="2816352" cy="914400"/>
          </a:xfrm>
          <a:prstGeom prst="roundRect">
            <a:avLst>
              <a:gd name="adj" fmla="val 3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00416" y="4517136"/>
            <a:ext cx="100584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083296" y="453542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8083296" y="4809744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Nombra el dato cuando el formulario se procesa.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 de campos que conviene reconocer pronto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todos los controles reciben la misma clase de dato. El tipo también comunica intención técnica.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77824" y="2212848"/>
            <a:ext cx="2395728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340864"/>
            <a:ext cx="109728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2257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33856" y="267004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breve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nombre o usuario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3785616" y="2212848"/>
            <a:ext cx="2395728" cy="1133856"/>
          </a:xfrm>
          <a:prstGeom prst="roundRect">
            <a:avLst>
              <a:gd name="adj" fmla="val 32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77056" y="2340864"/>
            <a:ext cx="109728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41648" y="232257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email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041648" y="267004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 con validación inicial distinta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6693408" y="2212848"/>
            <a:ext cx="2395728" cy="1133856"/>
          </a:xfrm>
          <a:prstGeom prst="roundRect">
            <a:avLst>
              <a:gd name="adj" fmla="val 322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84848" y="2340864"/>
            <a:ext cx="109728" cy="877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0" y="232257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password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949440" y="2670048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sensible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credenciales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877824" y="3749040"/>
            <a:ext cx="2395728" cy="1133856"/>
          </a:xfrm>
          <a:prstGeom prst="roundRect">
            <a:avLst>
              <a:gd name="adj" fmla="val 322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9264" y="3877056"/>
            <a:ext cx="109728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33856" y="385876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textarea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133856" y="420624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largo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mensaje o comentario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3785616" y="3749040"/>
            <a:ext cx="2395728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77056" y="3877056"/>
            <a:ext cx="109728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41648" y="385876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4041648" y="420624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Elección desde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conjunto cerrado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6693408" y="3749040"/>
            <a:ext cx="2395728" cy="1133856"/>
          </a:xfrm>
          <a:prstGeom prst="roundRect">
            <a:avLst>
              <a:gd name="adj" fmla="val 32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84848" y="3877056"/>
            <a:ext cx="109728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49440" y="385876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checkbox / radio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6949440" y="420624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Preferencias y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opciones específicas</a:t>
            </a:r>
            <a:endParaRPr lang="en-US" sz="1120" dirty="0"/>
          </a:p>
        </p:txBody>
      </p:sp>
      <p:sp>
        <p:nvSpPr>
          <p:cNvPr id="34" name="Shape 31"/>
          <p:cNvSpPr/>
          <p:nvPr/>
        </p:nvSpPr>
        <p:spPr>
          <a:xfrm>
            <a:off x="9601200" y="2395728"/>
            <a:ext cx="1664208" cy="2267712"/>
          </a:xfrm>
          <a:prstGeom prst="roundRect">
            <a:avLst>
              <a:gd name="adj" fmla="val 219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02368" y="2779776"/>
            <a:ext cx="126187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bien el tipo ayuda a validar,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guía la interacción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hace más clara la estructura.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técnicamente un formulario un poco más completo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Required, password, select y el texto del botón ya cuentan una historia de uso antes de ejecutar nada.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6384" y="2103120"/>
            <a:ext cx="5047488" cy="3511296"/>
          </a:xfrm>
          <a:prstGeom prst="roundRect">
            <a:avLst>
              <a:gd name="adj" fmla="val 10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212848"/>
            <a:ext cx="479145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28600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 de acceso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05840" y="2670048"/>
            <a:ext cx="4608576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Estudiante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docente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Docente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Ingresar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2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272784" y="2231136"/>
            <a:ext cx="1993392" cy="877824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45936" y="2340864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28816" y="235915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28816" y="263347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debería enviarse vacío.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485632" y="2231136"/>
            <a:ext cx="1993392" cy="877824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58784" y="2340864"/>
            <a:ext cx="10058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41664" y="235915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password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741664" y="263347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pensado para credenciales.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72784" y="3346704"/>
            <a:ext cx="1993392" cy="87782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45936" y="3456432"/>
            <a:ext cx="100584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28816" y="347472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528816" y="37490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que viene de opciones definidas.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485632" y="3346704"/>
            <a:ext cx="1993392" cy="877824"/>
          </a:xfrm>
          <a:prstGeom prst="roundRect">
            <a:avLst>
              <a:gd name="adj" fmla="val 3125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558784" y="3456432"/>
            <a:ext cx="100584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41664" y="347472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submit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741664" y="37490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acción del botón queda declarada.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254496" y="4553712"/>
            <a:ext cx="4206240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45936" y="4681728"/>
            <a:ext cx="109728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10528" y="466344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rápida del formulario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510528" y="501091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identidad, credencial y rol; además deja claro qué dato espera cada campo y qué acción cierra la interacción.</a:t>
            </a:r>
            <a:endParaRPr lang="en-US" sz="11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el formulario se ve corto, pero está mal resuelto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versiones muy breves que se leen rápido, pero dejan demasiadas cosas sin nombrar ni conectar.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4672" y="2212848"/>
            <a:ext cx="4023360" cy="2468880"/>
          </a:xfrm>
          <a:prstGeom prst="roundRect">
            <a:avLst>
              <a:gd name="adj" fmla="val 1481"/>
            </a:avLst>
          </a:prstGeom>
          <a:solidFill>
            <a:srgbClr val="6F1D1B"/>
          </a:solidFill>
          <a:ln w="12700">
            <a:solidFill>
              <a:srgbClr val="6F1D1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322576"/>
            <a:ext cx="3767328" cy="310896"/>
          </a:xfrm>
          <a:prstGeom prst="roundRect">
            <a:avLst>
              <a:gd name="adj" fmla="val 8824"/>
            </a:avLst>
          </a:prstGeom>
          <a:solidFill>
            <a:srgbClr val="962B27"/>
          </a:solidFill>
          <a:ln w="12700">
            <a:solidFill>
              <a:srgbClr val="962B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395728"/>
            <a:ext cx="3547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 débil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" y="2779776"/>
            <a:ext cx="358444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1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1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1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1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Enviar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1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48656" y="2121408"/>
            <a:ext cx="2523744" cy="987552"/>
          </a:xfrm>
          <a:prstGeom prst="roundRect">
            <a:avLst>
              <a:gd name="adj" fmla="val 370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40096" y="2249424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04688" y="22311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Falta etiqueta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504688" y="257860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placeholder no reemplaza a label.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8119872" y="2121408"/>
            <a:ext cx="2523744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11312" y="2249424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75904" y="223113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Falta name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375904" y="257860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dato no queda bien identificado.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5248656" y="3401568"/>
            <a:ext cx="2523744" cy="987552"/>
          </a:xfrm>
          <a:prstGeom prst="roundRect">
            <a:avLst>
              <a:gd name="adj" fmla="val 37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40096" y="3529584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04688" y="35112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Botón ambiguo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504688" y="385876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declara tipo ni una acción precisa.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8119872" y="3401568"/>
            <a:ext cx="2523744" cy="987552"/>
          </a:xfrm>
          <a:prstGeom prst="roundRect">
            <a:avLst>
              <a:gd name="adj" fmla="val 370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11312" y="3529584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75904" y="35112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Acceso más débil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8375904" y="385876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se vuelve peor para inspección y apoyo.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>
            <a:off x="1060704" y="4974336"/>
            <a:ext cx="9509760" cy="438912"/>
          </a:xfrm>
          <a:prstGeom prst="roundRect">
            <a:avLst>
              <a:gd name="adj" fmla="val 625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16736" y="5111496"/>
            <a:ext cx="899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algo se vea breve no significa que esté técnicamente bien construido.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Misma intención, mejor estructura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no es ornamental: cambia cómo se entiende, se usa y se mantiene el formulario.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86384" y="2194560"/>
            <a:ext cx="3895344" cy="2670048"/>
          </a:xfrm>
          <a:prstGeom prst="roundRect">
            <a:avLst>
              <a:gd name="adj" fmla="val 1370"/>
            </a:avLst>
          </a:prstGeom>
          <a:solidFill>
            <a:srgbClr val="6F1D1B"/>
          </a:solidFill>
          <a:ln w="12700">
            <a:solidFill>
              <a:srgbClr val="6F1D1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304288"/>
            <a:ext cx="3639312" cy="310896"/>
          </a:xfrm>
          <a:prstGeom prst="roundRect">
            <a:avLst>
              <a:gd name="adj" fmla="val 8824"/>
            </a:avLst>
          </a:prstGeom>
          <a:solidFill>
            <a:srgbClr val="962B27"/>
          </a:solidFill>
          <a:ln w="12700">
            <a:solidFill>
              <a:srgbClr val="962B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377440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05840" y="2761488"/>
            <a:ext cx="3456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7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7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7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7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7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7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7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7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7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7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7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7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7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7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7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7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7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7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7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7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7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Enviar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7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7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7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4974336" y="3236976"/>
            <a:ext cx="402336" cy="347472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50992" y="2194560"/>
            <a:ext cx="4718304" cy="2670048"/>
          </a:xfrm>
          <a:prstGeom prst="roundRect">
            <a:avLst>
              <a:gd name="adj" fmla="val 137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79008" y="2304288"/>
            <a:ext cx="446227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88736" y="2377440"/>
            <a:ext cx="4242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70448" y="2761488"/>
            <a:ext cx="4279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nombre-contacto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nombre-contacto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correo-contacto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 electrónico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correo-contacto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9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Enviar mensaje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9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99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99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90" dirty="0"/>
          </a:p>
        </p:txBody>
      </p:sp>
      <p:sp>
        <p:nvSpPr>
          <p:cNvPr id="19" name="Shape 16"/>
          <p:cNvSpPr/>
          <p:nvPr/>
        </p:nvSpPr>
        <p:spPr>
          <a:xfrm>
            <a:off x="1152144" y="5084064"/>
            <a:ext cx="1335024" cy="274320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25296" y="5120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 reales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61488" y="5084064"/>
            <a:ext cx="1335024" cy="274320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34640" y="51206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 claros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473952" y="5084064"/>
            <a:ext cx="1444752" cy="274320"/>
          </a:xfrm>
          <a:prstGeom prst="roundRect">
            <a:avLst>
              <a:gd name="adj" fmla="val 1666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47104" y="51206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 precisa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193024" y="5084064"/>
            <a:ext cx="1389888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66176" y="512064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 lectura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Agrupar también comunica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varios controles pertenecen a una misma decisión, conviene expresarlo en la estructura y no solo dejarlo implícito.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50976" y="2249424"/>
            <a:ext cx="4352544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07008" y="2084832"/>
            <a:ext cx="2011680" cy="329184"/>
          </a:xfrm>
          <a:prstGeom prst="roundRect">
            <a:avLst>
              <a:gd name="adj" fmla="val 8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08176" y="2185416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Preferencias de contacto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1444752" y="28346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85900" y="287578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55648" y="28163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 electrónico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444752" y="340156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55648" y="33832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Teléfono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88736" y="2231136"/>
            <a:ext cx="2066544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80176" y="2359152"/>
            <a:ext cx="10972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44768" y="234086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fieldset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144768" y="268833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 controles de una misma unidad lógica.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8302752" y="2231136"/>
            <a:ext cx="2066544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94192" y="2359152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58784" y="234086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legend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8558784" y="268833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Nombra el grupo para lectura y contexto.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5888736" y="3493008"/>
            <a:ext cx="448056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80176" y="3621024"/>
            <a:ext cx="109728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44768" y="3602736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Mismo nombre, misma decisión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144768" y="3950208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radio buttons, compartir name ayuda a expresar que las opciones forman parte de una sola elección.</a:t>
            </a:r>
            <a:endParaRPr lang="en-US" sz="1130" dirty="0"/>
          </a:p>
        </p:txBody>
      </p:sp>
      <p:sp>
        <p:nvSpPr>
          <p:cNvPr id="30" name="Shape 27"/>
          <p:cNvSpPr/>
          <p:nvPr/>
        </p:nvSpPr>
        <p:spPr>
          <a:xfrm>
            <a:off x="5961888" y="4828032"/>
            <a:ext cx="4315968" cy="438912"/>
          </a:xfrm>
          <a:prstGeom prst="roundRect">
            <a:avLst>
              <a:gd name="adj" fmla="val 625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4965192"/>
            <a:ext cx="3803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Agrupar no es decorar: es hacer visible la lógica de la decisión.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ejemplo simple con fieldset y legend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estructura deja mejor expresada una decisión compartida entre varias opciones relacionadas.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4672" y="2139696"/>
            <a:ext cx="4956048" cy="3273552"/>
          </a:xfrm>
          <a:prstGeom prst="roundRect">
            <a:avLst>
              <a:gd name="adj" fmla="val 111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249424"/>
            <a:ext cx="470001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322576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de preferencia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" y="2706624"/>
            <a:ext cx="451713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fieldset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Preferencias de contacto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1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1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radio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1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1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contacto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1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1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Correo electrónico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1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1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radio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1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1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contacto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1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1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telefono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Teléfono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fieldset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1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10" dirty="0"/>
          </a:p>
        </p:txBody>
      </p:sp>
      <p:sp>
        <p:nvSpPr>
          <p:cNvPr id="14" name="Shape 11"/>
          <p:cNvSpPr/>
          <p:nvPr/>
        </p:nvSpPr>
        <p:spPr>
          <a:xfrm>
            <a:off x="6236208" y="2286000"/>
            <a:ext cx="1883664" cy="914400"/>
          </a:xfrm>
          <a:prstGeom prst="roundRect">
            <a:avLst>
              <a:gd name="adj" fmla="val 3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2395728"/>
            <a:ext cx="100584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24140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legend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92240" y="26883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 el tema del grupo.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321040" y="2286000"/>
            <a:ext cx="1883664" cy="914400"/>
          </a:xfrm>
          <a:prstGeom prst="roundRect">
            <a:avLst>
              <a:gd name="adj" fmla="val 3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94192" y="2395728"/>
            <a:ext cx="100584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77072" y="24140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radio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577072" y="26883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opción dentro de una sola elección.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36208" y="3456432"/>
            <a:ext cx="1883664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566160"/>
            <a:ext cx="100584" cy="6949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92240" y="35844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92240" y="385876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 técnicamente las opciones.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321040" y="3456432"/>
            <a:ext cx="1883664" cy="914400"/>
          </a:xfrm>
          <a:prstGeom prst="roundRect">
            <a:avLst>
              <a:gd name="adj" fmla="val 3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94192" y="3566160"/>
            <a:ext cx="100584" cy="6949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77072" y="35844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577072" y="385876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 el valor elegido.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932688" y="3063805"/>
            <a:ext cx="64008" cy="100205"/>
          </a:xfrm>
          <a:prstGeom prst="roundRect">
            <a:avLst>
              <a:gd name="adj" fmla="val 4285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526536" y="3159161"/>
            <a:ext cx="376806" cy="45720"/>
          </a:xfrm>
          <a:prstGeom prst="roundRect">
            <a:avLst>
              <a:gd name="adj" fmla="val 40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35117" y="3077331"/>
            <a:ext cx="91440" cy="73152"/>
          </a:xfrm>
          <a:prstGeom prst="roundRect">
            <a:avLst>
              <a:gd name="adj" fmla="val 37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744261" y="3105677"/>
            <a:ext cx="162763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98794" y="2743200"/>
            <a:ext cx="16459" cy="370707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07024" y="2734970"/>
            <a:ext cx="25603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117336" y="2706624"/>
            <a:ext cx="91440" cy="73152"/>
          </a:xfrm>
          <a:prstGeom prst="roundRect">
            <a:avLst>
              <a:gd name="adj" fmla="val 37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32688" y="3548665"/>
            <a:ext cx="64008" cy="100205"/>
          </a:xfrm>
          <a:prstGeom prst="roundRect">
            <a:avLst>
              <a:gd name="adj" fmla="val 4285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405750" y="3644021"/>
            <a:ext cx="314005" cy="45720"/>
          </a:xfrm>
          <a:prstGeom prst="roundRect">
            <a:avLst>
              <a:gd name="adj" fmla="val 4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735117" y="3562192"/>
            <a:ext cx="91440" cy="73152"/>
          </a:xfrm>
          <a:prstGeom prst="roundRect">
            <a:avLst>
              <a:gd name="adj" fmla="val 37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744261" y="3590538"/>
            <a:ext cx="162763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898794" y="2029968"/>
            <a:ext cx="16459" cy="1568800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907024" y="2021738"/>
            <a:ext cx="2340864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39658" y="2029968"/>
            <a:ext cx="16459" cy="713232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202168" y="2706624"/>
            <a:ext cx="91440" cy="73152"/>
          </a:xfrm>
          <a:prstGeom prst="roundRect">
            <a:avLst>
              <a:gd name="adj" fmla="val 375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32688" y="3548665"/>
            <a:ext cx="64008" cy="100205"/>
          </a:xfrm>
          <a:prstGeom prst="roundRect">
            <a:avLst>
              <a:gd name="adj" fmla="val 4285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845357" y="3644021"/>
            <a:ext cx="251204" cy="45720"/>
          </a:xfrm>
          <a:prstGeom prst="roundRect">
            <a:avLst>
              <a:gd name="adj" fmla="val 40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735117" y="3562192"/>
            <a:ext cx="91440" cy="73152"/>
          </a:xfrm>
          <a:prstGeom prst="roundRect">
            <a:avLst>
              <a:gd name="adj" fmla="val 37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744261" y="3590538"/>
            <a:ext cx="162763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898794" y="3598768"/>
            <a:ext cx="16459" cy="314864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907024" y="3905402"/>
            <a:ext cx="25603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17336" y="3877056"/>
            <a:ext cx="91440" cy="73152"/>
          </a:xfrm>
          <a:prstGeom prst="roundRect">
            <a:avLst>
              <a:gd name="adj" fmla="val 37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32688" y="3548665"/>
            <a:ext cx="64008" cy="100205"/>
          </a:xfrm>
          <a:prstGeom prst="roundRect">
            <a:avLst>
              <a:gd name="adj" fmla="val 42857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850173" y="3644021"/>
            <a:ext cx="314005" cy="45720"/>
          </a:xfrm>
          <a:prstGeom prst="roundRect">
            <a:avLst>
              <a:gd name="adj" fmla="val 40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735117" y="3562192"/>
            <a:ext cx="91440" cy="73152"/>
          </a:xfrm>
          <a:prstGeom prst="roundRect">
            <a:avLst>
              <a:gd name="adj" fmla="val 37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744261" y="3590538"/>
            <a:ext cx="162763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898794" y="3598768"/>
            <a:ext cx="16459" cy="863504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907024" y="4454042"/>
            <a:ext cx="2340864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239658" y="3913632"/>
            <a:ext cx="16459" cy="548640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202168" y="3877056"/>
            <a:ext cx="91440" cy="73152"/>
          </a:xfrm>
          <a:prstGeom prst="roundRect">
            <a:avLst>
              <a:gd name="adj" fmla="val 37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199632" y="4590288"/>
            <a:ext cx="4041648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291072" y="4718304"/>
            <a:ext cx="109728" cy="585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455664" y="470001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técnica útil</a:t>
            </a:r>
            <a:endParaRPr lang="en-US" sz="1700" dirty="0"/>
          </a:p>
        </p:txBody>
      </p:sp>
      <p:sp>
        <p:nvSpPr>
          <p:cNvPr id="63" name="Text 60"/>
          <p:cNvSpPr/>
          <p:nvPr/>
        </p:nvSpPr>
        <p:spPr>
          <a:xfrm>
            <a:off x="6455664" y="504748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no solo hay dos controles: hay una misma decisión con dos respuestas posibles.</a:t>
            </a:r>
            <a:endParaRPr lang="en-US" sz="11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guía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preguntas ayudan a revisar si el formulario está siendo leído como estructura y no solo como apariencia.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2194560"/>
            <a:ext cx="2907792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322576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3042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7280" y="265176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 formulario no debería construirse como una suma de campos sueltos?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6144768" y="2194560"/>
            <a:ext cx="2907792" cy="1170432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36208" y="2322576"/>
            <a:ext cx="10972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23042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0" y="265176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técnica existe entre id, for y name dentro de un formulario?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1993392" y="3767328"/>
            <a:ext cx="2907792" cy="1170432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84832" y="3895344"/>
            <a:ext cx="109728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49424" y="38770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249424" y="4224528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el placeholder no debería reemplazar a una etiqueta real?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7296912" y="3767328"/>
            <a:ext cx="2907792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88352" y="3895344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52944" y="38770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552944" y="4224528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gana un formulario cuando los campos se agrupan y se nombran con claridad?</a:t>
            </a:r>
            <a:endParaRPr lang="en-US" sz="114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formulario mejora cuando su estructura deja claros los datos, las relaciones y las decisiones del usuario.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77824" y="2249424"/>
            <a:ext cx="6144768" cy="2340864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2578608"/>
            <a:ext cx="5340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formulario básico gana calidad cuando cada campo está bien nombrado, bien conectado con su etiqueta y bien integrado dentro de una estructura comprensible.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261872" y="4169664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35024" y="420624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267712" y="4169664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40864" y="4206240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73552" y="4169664"/>
            <a:ext cx="768096" cy="256032"/>
          </a:xfrm>
          <a:prstGeom prst="roundRect">
            <a:avLst>
              <a:gd name="adj" fmla="val 1785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46704" y="420624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24528" y="4169664"/>
            <a:ext cx="1152144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0" y="42062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644384" y="2249424"/>
            <a:ext cx="3438144" cy="2340864"/>
          </a:xfrm>
          <a:prstGeom prst="roundRect">
            <a:avLst>
              <a:gd name="adj" fmla="val 156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35824" y="2377440"/>
            <a:ext cx="109728" cy="20848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00416" y="235915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al Bloque 4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900416" y="2706624"/>
            <a:ext cx="309067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siguiente tramo veremos cómo el navegador transforma ese HTML en DOM y por qué eso importa para inspección y manipulación posterior.</a:t>
            </a:r>
            <a:endParaRPr lang="en-US" sz="13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5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987552"/>
            <a:ext cx="3621024" cy="4169664"/>
          </a:xfrm>
          <a:prstGeom prst="roundRect">
            <a:avLst>
              <a:gd name="adj" fmla="val 101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78992" y="1493764"/>
            <a:ext cx="277978" cy="6393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12565" y="1243584"/>
            <a:ext cx="333573" cy="8895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01734" y="1493764"/>
            <a:ext cx="277978" cy="6393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32304" y="1389888"/>
            <a:ext cx="10789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42032" y="1426464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78992" y="2139696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HTML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 DOM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1078992" y="3968496"/>
            <a:ext cx="2724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la estructura deja de verse solo como archivo y pasa a leerse como árbol vivo dentro del navegador.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10912" y="1408176"/>
            <a:ext cx="2048256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84064" y="1517904"/>
            <a:ext cx="100584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66944" y="153619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Árbol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266944" y="1810512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documento se interpreta como nodos y relaciones.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333488" y="1408176"/>
            <a:ext cx="2048256" cy="987552"/>
          </a:xfrm>
          <a:prstGeom prst="roundRect">
            <a:avLst>
              <a:gd name="adj" fmla="val 27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06640" y="1517904"/>
            <a:ext cx="100584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0" y="153619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Inspección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589520" y="1810512"/>
            <a:ext cx="17190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 deja ver esa estructura y recorrerla.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656064" y="1408176"/>
            <a:ext cx="1828800" cy="987552"/>
          </a:xfrm>
          <a:prstGeom prst="roundRect">
            <a:avLst>
              <a:gd name="adj" fmla="val 27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729216" y="1517904"/>
            <a:ext cx="100584" cy="768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12096" y="15361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9912096" y="1810512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consola permite ubicar nodos concretos.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919472" y="2816352"/>
            <a:ext cx="6309360" cy="1115568"/>
          </a:xfrm>
          <a:prstGeom prst="roundRect">
            <a:avLst>
              <a:gd name="adj" fmla="val 327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20640" y="2980944"/>
            <a:ext cx="5907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navegador no “muestra texto”: interpreta estructura.</a:t>
            </a:r>
            <a:endParaRPr lang="en-US" sz="2300" dirty="0"/>
          </a:p>
        </p:txBody>
      </p:sp>
      <p:sp>
        <p:nvSpPr>
          <p:cNvPr id="28" name="Shape 25"/>
          <p:cNvSpPr/>
          <p:nvPr/>
        </p:nvSpPr>
        <p:spPr>
          <a:xfrm>
            <a:off x="5120640" y="4297680"/>
            <a:ext cx="5925312" cy="512064"/>
          </a:xfrm>
          <a:prstGeom prst="roundRect">
            <a:avLst>
              <a:gd name="adj" fmla="val 535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76672" y="4462272"/>
            <a:ext cx="5413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este bloque veremos parser, árbol DOM, DevTools y primeras consultas desde consola.</a:t>
            </a:r>
            <a:endParaRPr lang="en-US" sz="113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navegador no muestra un archivo sin más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existir una interfaz visible, el documento HTML es leído, interpretado y convertido en una estructura navegable.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4672" y="2103120"/>
            <a:ext cx="4059936" cy="2596896"/>
          </a:xfrm>
          <a:prstGeom prst="roundRect">
            <a:avLst>
              <a:gd name="adj" fmla="val 140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212848"/>
            <a:ext cx="380390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86000"/>
            <a:ext cx="3584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HTML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" y="2670048"/>
            <a:ext cx="362102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Contacto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8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10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084064" y="2798064"/>
            <a:ext cx="384048" cy="292608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77840" y="2798064"/>
            <a:ext cx="384048" cy="292608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44768" y="2231136"/>
            <a:ext cx="1828800" cy="1572768"/>
          </a:xfrm>
          <a:prstGeom prst="roundRect">
            <a:avLst>
              <a:gd name="adj" fmla="val 23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45936" y="2395728"/>
            <a:ext cx="142646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8485632" y="2139696"/>
            <a:ext cx="2706624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58784" y="2249424"/>
            <a:ext cx="100584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41664" y="22677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Interpretación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741664" y="254203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parser transforma etiquetas y atributos en nodos reconocibles.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485632" y="3401568"/>
            <a:ext cx="2706624" cy="1024128"/>
          </a:xfrm>
          <a:prstGeom prst="roundRect">
            <a:avLst>
              <a:gd name="adj" fmla="val 267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58784" y="3511296"/>
            <a:ext cx="100584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41664" y="35295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técnico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741664" y="380390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ve DevTools y lo que recorrerá JavaScript ya no es texto plano.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archivo al DOM y al renderizado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página visible aparece después de una cadena técnica corta pero decisiva.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2596896"/>
            <a:ext cx="1645920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706624"/>
            <a:ext cx="100584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7249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78992" y="299923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de origen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542032" y="2926080"/>
            <a:ext cx="310896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98064" y="2596896"/>
            <a:ext cx="1645920" cy="1133856"/>
          </a:xfrm>
          <a:prstGeom prst="roundRect">
            <a:avLst>
              <a:gd name="adj" fmla="val 241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71216" y="2706624"/>
            <a:ext cx="100584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54096" y="27249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Parser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054096" y="299923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 etiquetas y atributos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17136" y="2926080"/>
            <a:ext cx="310896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73168" y="2596896"/>
            <a:ext cx="1645920" cy="1133856"/>
          </a:xfrm>
          <a:prstGeom prst="roundRect">
            <a:avLst>
              <a:gd name="adj" fmla="val 241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46320" y="2706624"/>
            <a:ext cx="100584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0" y="27249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0" y="299923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Árbol de nodos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92240" y="2926080"/>
            <a:ext cx="310896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48272" y="2596896"/>
            <a:ext cx="1645920" cy="1133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21424" y="2706624"/>
            <a:ext cx="100584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04304" y="27249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Render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004304" y="299923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visible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467344" y="2926080"/>
            <a:ext cx="310896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723376" y="2596896"/>
            <a:ext cx="1645920" cy="1133856"/>
          </a:xfrm>
          <a:prstGeom prst="roundRect">
            <a:avLst>
              <a:gd name="adj" fmla="val 241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96528" y="2706624"/>
            <a:ext cx="100584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979408" y="27249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Inspección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979408" y="2999232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 y consola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1408176" y="4169664"/>
            <a:ext cx="9473184" cy="8778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499616" y="4297680"/>
            <a:ext cx="109728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664208" y="4279392"/>
            <a:ext cx="9125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útil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664208" y="4626864"/>
            <a:ext cx="9125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HTML está mal organizado, el parser igual construirá un DOM, pero ese DOM será menos claro de inspeccionar, seleccionar y mantener.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misma página existe en dos formas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cosa es el código escrito y otra la estructura que el navegador deja disponible como árbol.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4672" y="2139696"/>
            <a:ext cx="4315968" cy="3072384"/>
          </a:xfrm>
          <a:prstGeom prst="roundRect">
            <a:avLst>
              <a:gd name="adj" fmla="val 119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249424"/>
            <a:ext cx="40599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3225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fuente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" y="2706624"/>
            <a:ext cx="387705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Contacto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3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3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3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3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3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3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03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0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5504688" y="2139696"/>
            <a:ext cx="4700016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3408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Árbol DOM simplificado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333488" y="2670048"/>
            <a:ext cx="1298448" cy="402336"/>
          </a:xfrm>
          <a:prstGeom prst="roundRect">
            <a:avLst>
              <a:gd name="adj" fmla="val 681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276148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33488" y="3273552"/>
            <a:ext cx="1298448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06640" y="3364992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82512" y="3913632"/>
            <a:ext cx="1097280" cy="402336"/>
          </a:xfrm>
          <a:prstGeom prst="roundRect">
            <a:avLst>
              <a:gd name="adj" fmla="val 681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55664" y="400507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973568" y="3913632"/>
            <a:ext cx="1170432" cy="402336"/>
          </a:xfrm>
          <a:prstGeom prst="roundRect">
            <a:avLst>
              <a:gd name="adj" fmla="val 681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0" y="400507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662672" y="4535424"/>
            <a:ext cx="1060704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35824" y="4626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887968" y="4535424"/>
            <a:ext cx="1060704" cy="402336"/>
          </a:xfrm>
          <a:prstGeom prst="roundRect">
            <a:avLst>
              <a:gd name="adj" fmla="val 681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961120" y="46268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955280" y="3054096"/>
            <a:ext cx="36576" cy="237744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3657600"/>
            <a:ext cx="36576" cy="237744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31152" y="3712464"/>
            <a:ext cx="1975104" cy="36576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522208" y="4334256"/>
            <a:ext cx="36576" cy="201168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144000" y="4334256"/>
            <a:ext cx="36576" cy="201168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Padre, hijo y hermano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el DOM como árbol obliga a pensar en relaciones entre nodos, no solo en etiquetas aisladas.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49824" y="2212848"/>
            <a:ext cx="1261872" cy="402336"/>
          </a:xfrm>
          <a:prstGeom prst="roundRect">
            <a:avLst>
              <a:gd name="adj" fmla="val 681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22976" y="230428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05072" y="3127248"/>
            <a:ext cx="1188720" cy="402336"/>
          </a:xfrm>
          <a:prstGeom prst="roundRect">
            <a:avLst>
              <a:gd name="adj" fmla="val 681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78224" y="321868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0" y="3127248"/>
            <a:ext cx="1188720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59552" y="321868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67728" y="3127248"/>
            <a:ext cx="1188720" cy="402336"/>
          </a:xfrm>
          <a:prstGeom prst="roundRect">
            <a:avLst>
              <a:gd name="adj" fmla="val 681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0" y="321868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62472" y="2615184"/>
            <a:ext cx="36576" cy="402336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53712" y="2944368"/>
            <a:ext cx="3017520" cy="36576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9536" y="2505456"/>
            <a:ext cx="2560320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0976" y="2633472"/>
            <a:ext cx="109728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5568" y="261518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Padre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15568" y="296265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nodo que contiene a otros dentro del árbol.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302752" y="2505456"/>
            <a:ext cx="2578608" cy="1042416"/>
          </a:xfrm>
          <a:prstGeom prst="roundRect">
            <a:avLst>
              <a:gd name="adj" fmla="val 350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94192" y="2633472"/>
            <a:ext cx="109728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58784" y="261518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Hijo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558784" y="296265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Nodo contenido directamente dentro de otro.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2871216" y="4206240"/>
            <a:ext cx="6437376" cy="8229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962656" y="4334256"/>
            <a:ext cx="109728" cy="5669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27248" y="4315968"/>
            <a:ext cx="6089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Hermano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127248" y="4663440"/>
            <a:ext cx="6089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nodos son hermanos cuando comparten el mismo nodo padre, como label, input y button dentro del mismo form.</a:t>
            </a:r>
            <a:endParaRPr lang="en-US" sz="116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nodo trae nombre, atributos y contenido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lectura del DOM también implica reconocer qué información concreta vive dentro de cada elemento.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05840" y="2176272"/>
            <a:ext cx="477316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61872" y="2542032"/>
            <a:ext cx="4279392" cy="2139696"/>
          </a:xfrm>
          <a:prstGeom prst="roundRect">
            <a:avLst>
              <a:gd name="adj" fmla="val 170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89888" y="2651760"/>
            <a:ext cx="40233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99616" y="2724912"/>
            <a:ext cx="3803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Nodo seleccionado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481328" y="3108960"/>
            <a:ext cx="3840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2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2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92240" y="2249424"/>
            <a:ext cx="1938528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65392" y="2359152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48272" y="23774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748272" y="265176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 qué elemento es.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686800" y="2249424"/>
            <a:ext cx="1938528" cy="932688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59952" y="2359152"/>
            <a:ext cx="100584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42832" y="23774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Atributos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942832" y="265176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id, name y type entregan contexto técnico.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92240" y="3529584"/>
            <a:ext cx="1938528" cy="932688"/>
          </a:xfrm>
          <a:prstGeom prst="roundRect">
            <a:avLst>
              <a:gd name="adj" fmla="val 294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65392" y="3639312"/>
            <a:ext cx="100584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48272" y="365760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748272" y="393192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cambiar si el usuario escribe.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686800" y="3529584"/>
            <a:ext cx="1938528" cy="93268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759952" y="3639312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42832" y="365760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Relación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8942832" y="393192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vincularse con label, CSS y JS.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semántica también mejora la lectura del DOM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estructura clara no solo ayuda al HTML: también hace que el árbol visible en el navegador sea más legible.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77824" y="2267712"/>
            <a:ext cx="4882896" cy="2523744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395728"/>
            <a:ext cx="109728" cy="22677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377440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Versión genérica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33856" y="2724912"/>
            <a:ext cx="453542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casi todo está resuelto con contenedores neutros, el árbol se vuelve menos expresivo y ubicar piezas útiles cuesta más.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└─ div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└─ div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├─ div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└─ div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181344" y="2267712"/>
            <a:ext cx="4882896" cy="2523744"/>
          </a:xfrm>
          <a:prstGeom prst="roundRect">
            <a:avLst>
              <a:gd name="adj" fmla="val 144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72784" y="2395728"/>
            <a:ext cx="109728" cy="22677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37376" y="2377440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Versión semántica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37376" y="2724912"/>
            <a:ext cx="453542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aparecen header, main, section, form o footer, el árbol deja ver mejor la función de cada parte.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└─ section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├─ h1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└─ form</a:t>
            </a:r>
            <a:endParaRPr lang="en-US" sz="122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 deja ver el DOM como estructura viva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pestaña de elementos muestra el documento ya interpretado por el navegador y no solo el archivo estático.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2157984"/>
            <a:ext cx="7662672" cy="3127248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57984"/>
            <a:ext cx="7662672" cy="384048"/>
          </a:xfrm>
          <a:prstGeom prst="roundRect">
            <a:avLst>
              <a:gd name="adj" fmla="val 95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9264" y="228600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15568" y="2286000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61872" y="2286000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89888" y="2258568"/>
            <a:ext cx="674827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36192" y="2295144"/>
            <a:ext cx="6492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http://localhost:3000/contacto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1115568" y="2743200"/>
            <a:ext cx="2962656" cy="2139696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16736" y="290779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16736" y="33101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316736" y="3529584"/>
            <a:ext cx="2322576" cy="329184"/>
          </a:xfrm>
          <a:prstGeom prst="roundRect">
            <a:avLst>
              <a:gd name="adj" fmla="val 8333"/>
            </a:avLst>
          </a:prstGeom>
          <a:solidFill>
            <a:srgbClr val="F8F3E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16736" y="4114800"/>
            <a:ext cx="1115568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27632" y="4187952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4407408" y="2743200"/>
            <a:ext cx="3730752" cy="2139696"/>
          </a:xfrm>
          <a:prstGeom prst="roundRect">
            <a:avLst>
              <a:gd name="adj" fmla="val 1282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45152" y="2944368"/>
            <a:ext cx="323697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&lt;section&gt;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&lt;h1&gt;Contacto&lt;/h1&gt;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&lt;form&gt;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&lt;label&gt;Correo&lt;/label&gt;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id="correo" /&gt;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8869680" y="2523744"/>
            <a:ext cx="2121408" cy="1042416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42832" y="2633472"/>
            <a:ext cx="100584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25712" y="265176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125712" y="292608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 izquierda aparece la página renderizada.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869680" y="3767328"/>
            <a:ext cx="2121408" cy="1042416"/>
          </a:xfrm>
          <a:prstGeom prst="roundRect">
            <a:avLst>
              <a:gd name="adj" fmla="val 26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942832" y="3877056"/>
            <a:ext cx="100584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25712" y="389534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Árbol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9125712" y="41696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 derecha se ve el DOM desplegado en elementos.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conviene leer en la pestaña Elements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ver el árbol: conviene saber qué señales técnicas leer cuando un nodo está seleccionado.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32688" y="2267712"/>
            <a:ext cx="2011680" cy="117043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77440"/>
            <a:ext cx="100584" cy="9509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39572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Etiqueta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2670048"/>
            <a:ext cx="1682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tipo de elemento fue interpretado.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3712464" y="2267712"/>
            <a:ext cx="2011680" cy="1170432"/>
          </a:xfrm>
          <a:prstGeom prst="roundRect">
            <a:avLst>
              <a:gd name="adj" fmla="val 234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85616" y="2377440"/>
            <a:ext cx="100584" cy="9509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68496" y="239572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Atributos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968496" y="2670048"/>
            <a:ext cx="1682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id, class, name, type y otros datos del nodo.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6492240" y="2267712"/>
            <a:ext cx="2011680" cy="1170432"/>
          </a:xfrm>
          <a:prstGeom prst="roundRect">
            <a:avLst>
              <a:gd name="adj" fmla="val 234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65392" y="2377440"/>
            <a:ext cx="100584" cy="9509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48272" y="239572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Jerarquía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748272" y="2670048"/>
            <a:ext cx="1682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contiene a qué y en qué nivel del árbol vive.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9272016" y="2267712"/>
            <a:ext cx="2011680" cy="1170432"/>
          </a:xfrm>
          <a:prstGeom prst="roundRect">
            <a:avLst>
              <a:gd name="adj" fmla="val 234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45168" y="2377440"/>
            <a:ext cx="100584" cy="9509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28048" y="239572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528048" y="2670048"/>
            <a:ext cx="16824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parte está seleccionada y qué cambios se reflejan.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1901952" y="3822192"/>
            <a:ext cx="8394192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93392" y="3950208"/>
            <a:ext cx="109728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157984" y="39319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técnica recomendada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2157984" y="427939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algo “se ve raro” en pantalla, Elements permite comprobar si el problema está en la estructura, en un atributo, en el anidamiento o después en los estilos.</a:t>
            </a:r>
            <a:endParaRPr lang="en-US" sz="117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formulario bien hecho también se inspecciona mejor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claridad estructural del HTML se vuelve visible cuando el árbol del DOM deja reconocer piezas concretas del formulario.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77824" y="2139696"/>
            <a:ext cx="4626864" cy="3054096"/>
          </a:xfrm>
          <a:prstGeom prst="roundRect">
            <a:avLst>
              <a:gd name="adj" fmla="val 11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67712"/>
            <a:ext cx="437083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31720"/>
            <a:ext cx="4151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 del formulario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133856" y="2852928"/>
            <a:ext cx="4114800" cy="2157984"/>
          </a:xfrm>
          <a:prstGeom prst="roundRect">
            <a:avLst>
              <a:gd name="adj" fmla="val 1271"/>
            </a:avLst>
          </a:prstGeom>
          <a:solidFill>
            <a:srgbClr val="F8F3EC"/>
          </a:solidFill>
          <a:ln w="12700">
            <a:solidFill>
              <a:srgbClr val="F8F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572768" y="2944368"/>
            <a:ext cx="0" cy="2157984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847088" y="2944368"/>
            <a:ext cx="0" cy="2157984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21408" y="2944368"/>
            <a:ext cx="0" cy="2157984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95728" y="2944368"/>
            <a:ext cx="0" cy="2157984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33856" y="3022092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98448" y="2944368"/>
            <a:ext cx="804672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71600" y="299923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1444752" y="3369564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08176" y="3332988"/>
            <a:ext cx="73152" cy="731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572768" y="3255264"/>
            <a:ext cx="804672" cy="228600"/>
          </a:xfrm>
          <a:prstGeom prst="roundRect">
            <a:avLst>
              <a:gd name="adj" fmla="val 12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0" y="33101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1719072" y="3680460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682496" y="3643884"/>
            <a:ext cx="73152" cy="7315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847088" y="3566160"/>
            <a:ext cx="1106424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920240" y="3621024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1993392" y="3991356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56816" y="395478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121408" y="3877056"/>
            <a:ext cx="804672" cy="228600"/>
          </a:xfrm>
          <a:prstGeom prst="roundRect">
            <a:avLst>
              <a:gd name="adj" fmla="val 12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94560" y="39319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</a:t>
            </a: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2267712" y="4302252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231136" y="4265676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95728" y="4187952"/>
            <a:ext cx="905256" cy="228600"/>
          </a:xfrm>
          <a:prstGeom prst="roundRect">
            <a:avLst>
              <a:gd name="adj" fmla="val 12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468880" y="4242816"/>
            <a:ext cx="758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</a:t>
            </a:r>
            <a:endParaRPr lang="en-US" sz="960" dirty="0"/>
          </a:p>
        </p:txBody>
      </p:sp>
      <p:sp>
        <p:nvSpPr>
          <p:cNvPr id="37" name="Text 34"/>
          <p:cNvSpPr/>
          <p:nvPr/>
        </p:nvSpPr>
        <p:spPr>
          <a:xfrm>
            <a:off x="3429000" y="423367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for="correo"</a:t>
            </a:r>
            <a:endParaRPr lang="en-US" sz="910" dirty="0"/>
          </a:p>
        </p:txBody>
      </p:sp>
      <p:sp>
        <p:nvSpPr>
          <p:cNvPr id="38" name="Shape 35"/>
          <p:cNvSpPr/>
          <p:nvPr/>
        </p:nvSpPr>
        <p:spPr>
          <a:xfrm>
            <a:off x="2267712" y="4613148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231136" y="4576572"/>
            <a:ext cx="73152" cy="731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395728" y="4498848"/>
            <a:ext cx="905256" cy="228600"/>
          </a:xfrm>
          <a:prstGeom prst="roundRect">
            <a:avLst>
              <a:gd name="adj" fmla="val 12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468880" y="4553712"/>
            <a:ext cx="758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960" dirty="0"/>
          </a:p>
        </p:txBody>
      </p:sp>
      <p:sp>
        <p:nvSpPr>
          <p:cNvPr id="42" name="Text 39"/>
          <p:cNvSpPr/>
          <p:nvPr/>
        </p:nvSpPr>
        <p:spPr>
          <a:xfrm>
            <a:off x="3429000" y="454456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id="correo" type="email"</a:t>
            </a:r>
            <a:endParaRPr lang="en-US" sz="910" dirty="0"/>
          </a:p>
        </p:txBody>
      </p:sp>
      <p:sp>
        <p:nvSpPr>
          <p:cNvPr id="43" name="Shape 40"/>
          <p:cNvSpPr/>
          <p:nvPr/>
        </p:nvSpPr>
        <p:spPr>
          <a:xfrm>
            <a:off x="2267712" y="4924044"/>
            <a:ext cx="12801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231136" y="4887468"/>
            <a:ext cx="73152" cy="731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395728" y="4809744"/>
            <a:ext cx="1005840" cy="228600"/>
          </a:xfrm>
          <a:prstGeom prst="roundRect">
            <a:avLst>
              <a:gd name="adj" fmla="val 120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468880" y="4864608"/>
            <a:ext cx="8595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</a:t>
            </a:r>
            <a:endParaRPr lang="en-US" sz="960" dirty="0"/>
          </a:p>
        </p:txBody>
      </p:sp>
      <p:sp>
        <p:nvSpPr>
          <p:cNvPr id="47" name="Text 44"/>
          <p:cNvSpPr/>
          <p:nvPr/>
        </p:nvSpPr>
        <p:spPr>
          <a:xfrm>
            <a:off x="3529584" y="485546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type="submit"</a:t>
            </a:r>
            <a:endParaRPr lang="en-US" sz="910" dirty="0"/>
          </a:p>
        </p:txBody>
      </p:sp>
      <p:sp>
        <p:nvSpPr>
          <p:cNvPr id="48" name="Shape 45"/>
          <p:cNvSpPr/>
          <p:nvPr/>
        </p:nvSpPr>
        <p:spPr>
          <a:xfrm>
            <a:off x="5907024" y="2267712"/>
            <a:ext cx="2157984" cy="987552"/>
          </a:xfrm>
          <a:prstGeom prst="roundRect">
            <a:avLst>
              <a:gd name="adj" fmla="val 370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998464" y="2395728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163056" y="237744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label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163056" y="272491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puede ubicar junto a su control asociado.</a:t>
            </a:r>
            <a:endParaRPr lang="en-US" sz="1250" dirty="0"/>
          </a:p>
        </p:txBody>
      </p:sp>
      <p:sp>
        <p:nvSpPr>
          <p:cNvPr id="52" name="Shape 49"/>
          <p:cNvSpPr/>
          <p:nvPr/>
        </p:nvSpPr>
        <p:spPr>
          <a:xfrm>
            <a:off x="8339328" y="2267712"/>
            <a:ext cx="2157984" cy="987552"/>
          </a:xfrm>
          <a:prstGeom prst="roundRect">
            <a:avLst>
              <a:gd name="adj" fmla="val 37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430768" y="2395728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595360" y="237744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595360" y="2724912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id y el type ya se leen a simple vista.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7114032" y="3584448"/>
            <a:ext cx="2157984" cy="987552"/>
          </a:xfrm>
          <a:prstGeom prst="roundRect">
            <a:avLst>
              <a:gd name="adj" fmla="val 370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205472" y="3712464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370064" y="36941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button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7370064" y="4041648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acción final también se reconoce como nodo.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5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" y="1170432"/>
            <a:ext cx="3785616" cy="3931920"/>
          </a:xfrm>
          <a:prstGeom prst="roundRect">
            <a:avLst>
              <a:gd name="adj" fmla="val 96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15568" y="1701881"/>
            <a:ext cx="245059" cy="5636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09639" y="1481328"/>
            <a:ext cx="294071" cy="78418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52722" y="1701881"/>
            <a:ext cx="245059" cy="5636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5568" y="2212848"/>
            <a:ext cx="2871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DOM también se puede consultar desde consola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15568" y="409651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no estamos programando en profundidad, pero sí podemos instalar la idea de que el documento ya es explorable con consultas concretas.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5065776" y="1645920"/>
            <a:ext cx="5705856" cy="3035808"/>
          </a:xfrm>
          <a:prstGeom prst="roundRect">
            <a:avLst>
              <a:gd name="adj" fmla="val 120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93792" y="1755648"/>
            <a:ext cx="5449824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21808" y="1828800"/>
            <a:ext cx="5193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85232" y="221284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96128" y="2212848"/>
            <a:ext cx="4956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285232" y="2468880"/>
            <a:ext cx="4956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HTMLDocument https://app.local/contacto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285232" y="272491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596128" y="2724912"/>
            <a:ext cx="4956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document.querySelector("form")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85232" y="2980944"/>
            <a:ext cx="4956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&lt;form&gt;...&lt;/form&gt;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285232" y="323697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596128" y="3236976"/>
            <a:ext cx="4956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document.getElementById("correo")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285232" y="3493008"/>
            <a:ext cx="4956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id="correo" type="email"&gt;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querySelector() busca la primera coincidencia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consulta permite ubicar un nodo usando la misma lógica de selectores que después veremos en CSS.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77824" y="2249424"/>
            <a:ext cx="4718304" cy="2651760"/>
          </a:xfrm>
          <a:prstGeom prst="roundRect">
            <a:avLst>
              <a:gd name="adj" fmla="val 137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359152"/>
            <a:ext cx="446227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432304"/>
            <a:ext cx="4242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básica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97280" y="2816352"/>
            <a:ext cx="427939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form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document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"form"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correo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document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"#correo"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boton 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document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2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2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"button"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6053328" y="2304288"/>
            <a:ext cx="2121408" cy="102412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44768" y="2432304"/>
            <a:ext cx="109728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41401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 match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09360" y="276148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Devuelve el primer nodo que cumpla el selector.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394192" y="2304288"/>
            <a:ext cx="2121408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85632" y="2432304"/>
            <a:ext cx="109728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50224" y="241401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Selector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50224" y="2761488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 tag, id, clase o combinaciones más complejas.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223760" y="3657600"/>
            <a:ext cx="2304288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15200" y="3785616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79792" y="3767328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Utilidad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479792" y="411480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ubicar rápido una pieza del DOM.</a:t>
            </a:r>
            <a:endParaRPr lang="en-US" sz="12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getElementById() apunta directo por identificador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 nodo tiene id único, esta consulta es una ruta directa y muy legible para encontrarlo.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133856" y="2212848"/>
            <a:ext cx="5669280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35024" y="2377440"/>
            <a:ext cx="5266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document.getElementById("correo")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1316736" y="3657600"/>
            <a:ext cx="1664208" cy="93268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89888" y="3767328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72768" y="378561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572768" y="405993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entrada al DOM cargado.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0" y="3657600"/>
            <a:ext cx="1664208" cy="932688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73552" y="3767328"/>
            <a:ext cx="100584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378561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456432" y="405993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un nodo por identificador exacto.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84064" y="3657600"/>
            <a:ext cx="1664208" cy="932688"/>
          </a:xfrm>
          <a:prstGeom prst="roundRect">
            <a:avLst>
              <a:gd name="adj" fmla="val 2941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57216" y="3767328"/>
            <a:ext cx="100584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40096" y="378561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340096" y="405993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Devuelve el nodo o null si no existe.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351776" y="2322576"/>
            <a:ext cx="3346704" cy="2267712"/>
          </a:xfrm>
          <a:prstGeom prst="roundRect">
            <a:avLst>
              <a:gd name="adj" fmla="val 161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479792" y="2432304"/>
            <a:ext cx="309067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0" y="2505456"/>
            <a:ext cx="2871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571232" y="2889504"/>
            <a:ext cx="290779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correo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document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6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"correo"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6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&lt;input id="correo" ...&gt;</a:t>
            </a:r>
            <a:endParaRPr lang="en-US" sz="106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querySelectorAll() devuelve una colección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queremos mirar varios nodos del mismo tipo, esta consulta sirve más que una búsqueda individual.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59536" y="2212848"/>
            <a:ext cx="4389120" cy="2651760"/>
          </a:xfrm>
          <a:prstGeom prst="roundRect">
            <a:avLst>
              <a:gd name="adj" fmla="val 137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322576"/>
            <a:ext cx="413308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395728"/>
            <a:ext cx="3913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de varios nodos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78992" y="2779776"/>
            <a:ext cx="395020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campos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document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querySelectorAll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"input"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campos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A6E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campos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50992" y="2286000"/>
            <a:ext cx="4572000" cy="2523744"/>
          </a:xfrm>
          <a:prstGeom prst="roundRect">
            <a:avLst>
              <a:gd name="adj" fmla="val 1449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79008" y="2395728"/>
            <a:ext cx="4315968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07024" y="246888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visible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70448" y="28529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6181344" y="2852928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campos.length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5870448" y="3108960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5870448" y="336499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6181344" y="336499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campos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5870448" y="3621024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NodeList(2) [input#nombre, input#correo]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5870448" y="3877056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colección se puede recorrer después.</a:t>
            </a:r>
            <a:endParaRPr lang="en-US" sz="108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relaciones del DOM conviene reconocer temprano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Aunque todavía no programemos eventos ni manipulación compleja, ya podemos instalar vocabulario de recorrido útil.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96112" y="2651760"/>
            <a:ext cx="1664208" cy="1115568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761488"/>
            <a:ext cx="100584" cy="896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77977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children</a:t>
            </a:r>
            <a:endParaRPr lang="en-US" sz="1340" dirty="0"/>
          </a:p>
        </p:txBody>
      </p:sp>
      <p:sp>
        <p:nvSpPr>
          <p:cNvPr id="13" name="Text 10"/>
          <p:cNvSpPr/>
          <p:nvPr/>
        </p:nvSpPr>
        <p:spPr>
          <a:xfrm>
            <a:off x="1152144" y="3054096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Hijos directos de un nodo.</a:t>
            </a:r>
            <a:endParaRPr lang="en-US" sz="1010" dirty="0"/>
          </a:p>
        </p:txBody>
      </p:sp>
      <p:sp>
        <p:nvSpPr>
          <p:cNvPr id="14" name="Shape 11"/>
          <p:cNvSpPr/>
          <p:nvPr/>
        </p:nvSpPr>
        <p:spPr>
          <a:xfrm>
            <a:off x="2889504" y="2651760"/>
            <a:ext cx="1664208" cy="1115568"/>
          </a:xfrm>
          <a:prstGeom prst="roundRect">
            <a:avLst>
              <a:gd name="adj" fmla="val 245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62656" y="2761488"/>
            <a:ext cx="100584" cy="896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45536" y="277977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parentElement</a:t>
            </a:r>
            <a:endParaRPr lang="en-US" sz="1340" dirty="0"/>
          </a:p>
        </p:txBody>
      </p:sp>
      <p:sp>
        <p:nvSpPr>
          <p:cNvPr id="17" name="Text 14"/>
          <p:cNvSpPr/>
          <p:nvPr/>
        </p:nvSpPr>
        <p:spPr>
          <a:xfrm>
            <a:off x="3145536" y="3054096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Nodo que contiene al elemento.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4882896" y="2651760"/>
            <a:ext cx="1664208" cy="1115568"/>
          </a:xfrm>
          <a:prstGeom prst="roundRect">
            <a:avLst>
              <a:gd name="adj" fmla="val 245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56048" y="2761488"/>
            <a:ext cx="100584" cy="8961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38928" y="277977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textContent</a:t>
            </a:r>
            <a:endParaRPr lang="en-US" sz="1340" dirty="0"/>
          </a:p>
        </p:txBody>
      </p:sp>
      <p:sp>
        <p:nvSpPr>
          <p:cNvPr id="21" name="Text 18"/>
          <p:cNvSpPr/>
          <p:nvPr/>
        </p:nvSpPr>
        <p:spPr>
          <a:xfrm>
            <a:off x="5138928" y="3054096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contenido en un nodo.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6876288" y="2651760"/>
            <a:ext cx="1664208" cy="1115568"/>
          </a:xfrm>
          <a:prstGeom prst="roundRect">
            <a:avLst>
              <a:gd name="adj" fmla="val 245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49440" y="2761488"/>
            <a:ext cx="100584" cy="896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0" y="277977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</a:t>
            </a:r>
            <a:endParaRPr lang="en-US" sz="1340" dirty="0"/>
          </a:p>
        </p:txBody>
      </p:sp>
      <p:sp>
        <p:nvSpPr>
          <p:cNvPr id="25" name="Text 22"/>
          <p:cNvSpPr/>
          <p:nvPr/>
        </p:nvSpPr>
        <p:spPr>
          <a:xfrm>
            <a:off x="7132320" y="3054096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actual de un control.</a:t>
            </a:r>
            <a:endParaRPr lang="en-US" sz="1010" dirty="0"/>
          </a:p>
        </p:txBody>
      </p:sp>
      <p:sp>
        <p:nvSpPr>
          <p:cNvPr id="26" name="Shape 23"/>
          <p:cNvSpPr/>
          <p:nvPr/>
        </p:nvSpPr>
        <p:spPr>
          <a:xfrm>
            <a:off x="8869680" y="2651760"/>
            <a:ext cx="1664208" cy="1115568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42832" y="2761488"/>
            <a:ext cx="100584" cy="8961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25712" y="277977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length</a:t>
            </a:r>
            <a:endParaRPr lang="en-US" sz="1340" dirty="0"/>
          </a:p>
        </p:txBody>
      </p:sp>
      <p:sp>
        <p:nvSpPr>
          <p:cNvPr id="29" name="Text 26"/>
          <p:cNvSpPr/>
          <p:nvPr/>
        </p:nvSpPr>
        <p:spPr>
          <a:xfrm>
            <a:off x="9125712" y="3054096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 dentro de una colección.</a:t>
            </a:r>
            <a:endParaRPr lang="en-US" sz="1010" dirty="0"/>
          </a:p>
        </p:txBody>
      </p:sp>
      <p:sp>
        <p:nvSpPr>
          <p:cNvPr id="30" name="Shape 27"/>
          <p:cNvSpPr/>
          <p:nvPr/>
        </p:nvSpPr>
        <p:spPr>
          <a:xfrm>
            <a:off x="1883664" y="4169664"/>
            <a:ext cx="8321040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975104" y="4297680"/>
            <a:ext cx="109728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39696" y="4279392"/>
            <a:ext cx="7973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útil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2139696" y="4626864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palabras vuelven más concreta la conversación técnica sobre un documento: ya no se habla de “cosas de la página”, sino de nodos, relaciones y propiedades.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DOM también deja leer estado actual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vez ubicado un control, el navegador permite revisar propiedades útiles como su valor o su contenido textual.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2286000"/>
            <a:ext cx="4864608" cy="2761488"/>
          </a:xfrm>
          <a:prstGeom prst="roundRect">
            <a:avLst>
              <a:gd name="adj" fmla="val 132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395728"/>
            <a:ext cx="460857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468880"/>
            <a:ext cx="4352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60704" y="28529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60" dirty="0"/>
          </a:p>
        </p:txBody>
      </p:sp>
      <p:sp>
        <p:nvSpPr>
          <p:cNvPr id="14" name="Text 11"/>
          <p:cNvSpPr/>
          <p:nvPr/>
        </p:nvSpPr>
        <p:spPr>
          <a:xfrm>
            <a:off x="1371600" y="28529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correo = document.getElementById("correo")</a:t>
            </a:r>
            <a:endParaRPr lang="en-US" sz="1060" dirty="0"/>
          </a:p>
        </p:txBody>
      </p:sp>
      <p:sp>
        <p:nvSpPr>
          <p:cNvPr id="15" name="Text 12"/>
          <p:cNvSpPr/>
          <p:nvPr/>
        </p:nvSpPr>
        <p:spPr>
          <a:xfrm>
            <a:off x="1060704" y="31089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60" dirty="0"/>
          </a:p>
        </p:txBody>
      </p:sp>
      <p:sp>
        <p:nvSpPr>
          <p:cNvPr id="16" name="Text 13"/>
          <p:cNvSpPr/>
          <p:nvPr/>
        </p:nvSpPr>
        <p:spPr>
          <a:xfrm>
            <a:off x="1371600" y="3108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correo.value</a:t>
            </a:r>
            <a:endParaRPr lang="en-US" sz="1060" dirty="0"/>
          </a:p>
        </p:txBody>
      </p:sp>
      <p:sp>
        <p:nvSpPr>
          <p:cNvPr id="17" name="Text 14"/>
          <p:cNvSpPr/>
          <p:nvPr/>
        </p:nvSpPr>
        <p:spPr>
          <a:xfrm>
            <a:off x="1060704" y="33649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"ana@email.com"</a:t>
            </a:r>
            <a:endParaRPr lang="en-US" sz="1060" dirty="0"/>
          </a:p>
        </p:txBody>
      </p:sp>
      <p:sp>
        <p:nvSpPr>
          <p:cNvPr id="18" name="Text 15"/>
          <p:cNvSpPr/>
          <p:nvPr/>
        </p:nvSpPr>
        <p:spPr>
          <a:xfrm>
            <a:off x="1060704" y="362102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060" dirty="0"/>
          </a:p>
        </p:txBody>
      </p:sp>
      <p:sp>
        <p:nvSpPr>
          <p:cNvPr id="19" name="Text 16"/>
          <p:cNvSpPr/>
          <p:nvPr/>
        </p:nvSpPr>
        <p:spPr>
          <a:xfrm>
            <a:off x="1371600" y="36210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correo.type</a:t>
            </a:r>
            <a:endParaRPr lang="en-US" sz="1060" dirty="0"/>
          </a:p>
        </p:txBody>
      </p:sp>
      <p:sp>
        <p:nvSpPr>
          <p:cNvPr id="20" name="Text 17"/>
          <p:cNvSpPr/>
          <p:nvPr/>
        </p:nvSpPr>
        <p:spPr>
          <a:xfrm>
            <a:off x="1060704" y="38770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6199632" y="2359152"/>
            <a:ext cx="2048256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91072" y="2487168"/>
            <a:ext cx="109728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55664" y="246888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55664" y="281635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 lo que el usuario escribió en el campo.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522208" y="2359152"/>
            <a:ext cx="2048256" cy="1042416"/>
          </a:xfrm>
          <a:prstGeom prst="roundRect">
            <a:avLst>
              <a:gd name="adj" fmla="val 350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13648" y="2487168"/>
            <a:ext cx="109728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78240" y="246888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778240" y="281635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Revela qué clase de control fue definido.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296912" y="3749040"/>
            <a:ext cx="2231136" cy="932688"/>
          </a:xfrm>
          <a:prstGeom prst="roundRect">
            <a:avLst>
              <a:gd name="adj" fmla="val 392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88352" y="3877056"/>
            <a:ext cx="109728" cy="676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52944" y="3858768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552944" y="420624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solo vemos nodos: también vemos estado actual.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DOM ayuda a diagnosticar problemas estructurales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Muchos errores aparentemente visuales en realidad comienzan en una mala estructura del documento.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59536" y="2212848"/>
            <a:ext cx="4718304" cy="2724912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340864"/>
            <a:ext cx="109728" cy="24688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22576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débil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15568" y="2670048"/>
            <a:ext cx="437083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inputs con el mismo id, un label sin conexión correcta y una estructura poco clara pueden volver ambiguo lo que se inspecciona.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CSS apunta mal, DevTools confunde el recorrido y JavaScript puede tomar el nodo equivocado.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6053328" y="2212848"/>
            <a:ext cx="4718304" cy="2724912"/>
          </a:xfrm>
          <a:prstGeom prst="roundRect">
            <a:avLst>
              <a:gd name="adj" fmla="val 134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44768" y="2340864"/>
            <a:ext cx="109728" cy="24688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2322576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mejorado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09360" y="2670048"/>
            <a:ext cx="4370832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cada nodo tiene un rol claro, ids únicos y relaciones bien definidas, el árbol del DOM también se vuelve más confiable de leer y de usar.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mejor inspección, selección más clara y menos debugging innecesario.</a:t>
            </a:r>
            <a:endParaRPr lang="en-US" sz="122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importa el DOM incluso antes de manipularlo?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esta capa ordena mejor lo que viene después en CSS, inspección, debugging y JavaScript.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97280" y="2286000"/>
            <a:ext cx="9966960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98448" y="2450592"/>
            <a:ext cx="9564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claro → DOM legible → trabajo técnico más razonable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987552" y="3749040"/>
            <a:ext cx="1993392" cy="1097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60704" y="3858768"/>
            <a:ext cx="100584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43584" y="387705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43584" y="4151376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 y estiliza mejor.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3621024" y="3749040"/>
            <a:ext cx="1993392" cy="1097280"/>
          </a:xfrm>
          <a:prstGeom prst="roundRect">
            <a:avLst>
              <a:gd name="adj" fmla="val 25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94176" y="3858768"/>
            <a:ext cx="100584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77056" y="387705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877056" y="4151376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ubicar problemas con menos fricción.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6254496" y="3749040"/>
            <a:ext cx="1993392" cy="1097280"/>
          </a:xfrm>
          <a:prstGeom prst="roundRect">
            <a:avLst>
              <a:gd name="adj" fmla="val 25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27648" y="3858768"/>
            <a:ext cx="100584" cy="877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10528" y="387705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10528" y="4151376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Podrá recorrer y modificar con más precisión.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8887968" y="3749040"/>
            <a:ext cx="1993392" cy="1097280"/>
          </a:xfrm>
          <a:prstGeom prst="roundRect">
            <a:avLst>
              <a:gd name="adj" fmla="val 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961120" y="3858768"/>
            <a:ext cx="100584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0" y="387705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Mantenimiento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144000" y="4151376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documento resiste mejor cambios futuros.</a:t>
            </a:r>
            <a:endParaRPr lang="en-US" sz="102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HTML, DOM, CSS y JavaScript no viven separados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cierre de esta semana deja lista la base estructural sobre la que se apoyarán los próximos contenidos.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2743200"/>
            <a:ext cx="1792224" cy="1408176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871216"/>
            <a:ext cx="109728" cy="11521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852928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70432" y="320040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estructura y significado.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2816352" y="3273552"/>
            <a:ext cx="292608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2743200"/>
            <a:ext cx="1792224" cy="1408176"/>
          </a:xfrm>
          <a:prstGeom prst="roundRect">
            <a:avLst>
              <a:gd name="adj" fmla="val 25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71216"/>
            <a:ext cx="109728" cy="11521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9312" y="2852928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639312" y="320040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Expone esa estructura dentro del navegador.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285232" y="3273552"/>
            <a:ext cx="292608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52160" y="2743200"/>
            <a:ext cx="1792224" cy="1408176"/>
          </a:xfrm>
          <a:prstGeom prst="roundRect">
            <a:avLst>
              <a:gd name="adj" fmla="val 259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0" y="2871216"/>
            <a:ext cx="109728" cy="11521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08192" y="2852928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108192" y="320040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Apunta y estiliza partes del documento.</a:t>
            </a:r>
            <a:endParaRPr lang="en-US" sz="1060" dirty="0"/>
          </a:p>
        </p:txBody>
      </p:sp>
      <p:sp>
        <p:nvSpPr>
          <p:cNvPr id="24" name="Shape 21"/>
          <p:cNvSpPr/>
          <p:nvPr/>
        </p:nvSpPr>
        <p:spPr>
          <a:xfrm>
            <a:off x="7754112" y="3273552"/>
            <a:ext cx="292608" cy="219456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321040" y="2743200"/>
            <a:ext cx="1792224" cy="1408176"/>
          </a:xfrm>
          <a:prstGeom prst="roundRect">
            <a:avLst>
              <a:gd name="adj" fmla="val 259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12480" y="2871216"/>
            <a:ext cx="109728" cy="11521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77072" y="2852928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8577072" y="320040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Consulta, reacciona y después modifica.</a:t>
            </a:r>
            <a:endParaRPr lang="en-US" sz="1060" dirty="0"/>
          </a:p>
        </p:txBody>
      </p:sp>
      <p:sp>
        <p:nvSpPr>
          <p:cNvPr id="29" name="Shape 26"/>
          <p:cNvSpPr/>
          <p:nvPr/>
        </p:nvSpPr>
        <p:spPr>
          <a:xfrm>
            <a:off x="1938528" y="4535424"/>
            <a:ext cx="8284464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029968" y="4663440"/>
            <a:ext cx="109728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194560" y="4645152"/>
            <a:ext cx="7936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de módulo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2194560" y="4992624"/>
            <a:ext cx="7936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hoy se instala como estructura y DOM será la base de la semana 2 cuando entremos a CSS moderno y, más adelante, a manipulación del documento.</a:t>
            </a:r>
            <a:endParaRPr lang="en-US" sz="114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guía del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preguntas ayudan a revisar si el DOM ya se está entendiendo como estructura técnica y no solo como palabra nueva.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59536" y="2231136"/>
            <a:ext cx="2907792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359152"/>
            <a:ext cx="109728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408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15568" y="268833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cambia entre el HTML escrito en el archivo y el DOM que interpreta el navegador?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6163056" y="2231136"/>
            <a:ext cx="2907792" cy="1188720"/>
          </a:xfrm>
          <a:prstGeom prst="roundRect">
            <a:avLst>
              <a:gd name="adj" fmla="val 307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54496" y="2359152"/>
            <a:ext cx="109728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9088" y="23408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19088" y="268833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una estructura semántica clara también facilita la lectura en DevTools?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2011680" y="3785616"/>
            <a:ext cx="2907792" cy="1188720"/>
          </a:xfrm>
          <a:prstGeom prst="roundRect">
            <a:avLst>
              <a:gd name="adj" fmla="val 307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03120" y="3913632"/>
            <a:ext cx="109728" cy="9326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67712" y="38953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267712" y="424281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existe entre buscar un nodo con querySelector() y hacerlo con getElementById()?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7315200" y="3785616"/>
            <a:ext cx="2907792" cy="11887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06640" y="3913632"/>
            <a:ext cx="109728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71232" y="38953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571232" y="424281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conviene entender el DOM antes de llegar a modificarlo con JavaScript?</a:t>
            </a:r>
            <a:endParaRPr lang="en-US" sz="112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dojo\pro301-taller-de-aplicaciones-para-internet\clases\semana-01\03\ppt\source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961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del bloque y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682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semana termina dejando una idea fuerte: la estructura del HTML importa también por cómo el navegador la vuelve operable.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96112" y="2231136"/>
            <a:ext cx="6272784" cy="2615184"/>
          </a:xfrm>
          <a:prstGeom prst="roundRect">
            <a:avLst>
              <a:gd name="adj" fmla="val 139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2596896"/>
            <a:ext cx="54681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documento HTML bien construido no solo se ve más ordenado: también produce un DOM más legible, más fácil de inspeccionar y más razonable de usar en CSS y JavaScript.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1261872" y="4261104"/>
            <a:ext cx="1060704" cy="274320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35024" y="4297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87168" y="4261104"/>
            <a:ext cx="804672" cy="274320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0" y="42976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56432" y="4261104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29584" y="429768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inspección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00016" y="4261104"/>
            <a:ext cx="950976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3168" y="429768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680960" y="2231136"/>
            <a:ext cx="3364992" cy="2615184"/>
          </a:xfrm>
          <a:prstGeom prst="roundRect">
            <a:avLst>
              <a:gd name="adj" fmla="val 13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0" y="2359152"/>
            <a:ext cx="109728" cy="2359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36992" y="23408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Próxima clase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936992" y="2688336"/>
            <a:ext cx="30175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semana 2 abrirá con CSS moderno. Esa parte tendrá mucho más sentido porque ya quedó claro qué estructura estamos intentando estilizar y por qué conviene que sea legible.</a:t>
            </a:r>
            <a:endParaRPr lang="en-US" sz="12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Pagina Bien Construida</dc:title>
  <dc:subject>Clase 03</dc:subject>
  <dc:creator>Codex</dc:creator>
  <cp:lastModifiedBy>Codex</cp:lastModifiedBy>
  <cp:revision>1</cp:revision>
  <dcterms:created xsi:type="dcterms:W3CDTF">2026-03-15T00:32:31Z</dcterms:created>
  <dcterms:modified xsi:type="dcterms:W3CDTF">2026-03-15T00:32:31Z</dcterms:modified>
</cp:coreProperties>
</file>