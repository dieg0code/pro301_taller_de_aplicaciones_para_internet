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663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" y="992673"/>
            <a:ext cx="168250" cy="3869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724" y="841248"/>
            <a:ext cx="201900" cy="5383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5273" y="992673"/>
            <a:ext cx="168250" cy="3869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731520"/>
            <a:ext cx="3246120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2256" y="859536"/>
            <a:ext cx="2483104" cy="8595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Semana 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61872" y="18470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No Es Magia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280160" y="2560320"/>
            <a:ext cx="4937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8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Internet, actores,</a:t>
            </a:r>
            <a:endParaRPr lang="en-US" sz="2180" dirty="0"/>
          </a:p>
          <a:p>
            <a:pPr indent="0" marL="0">
              <a:buNone/>
            </a:pPr>
            <a:r>
              <a:rPr lang="en-US" sz="218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publicación y seguridad básica</a:t>
            </a:r>
            <a:endParaRPr lang="en-US" sz="2180" dirty="0"/>
          </a:p>
        </p:txBody>
      </p:sp>
      <p:sp>
        <p:nvSpPr>
          <p:cNvPr id="11" name="Text 8"/>
          <p:cNvSpPr/>
          <p:nvPr/>
        </p:nvSpPr>
        <p:spPr>
          <a:xfrm>
            <a:off x="1280160" y="3703320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Abrimos el módulo construyendo el mapa técnico inicial de la Web: qué pasa cuando cargamos una URL, cómo se comunica una solicitud y qué cambia cuando una aplicación se publica.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50976" y="4718304"/>
            <a:ext cx="2852928" cy="749808"/>
          </a:xfrm>
          <a:prstGeom prst="roundRect">
            <a:avLst>
              <a:gd name="adj" fmla="val 4878"/>
            </a:avLst>
          </a:prstGeom>
          <a:solidFill>
            <a:srgbClr val="295596"/>
          </a:solidFill>
          <a:ln w="12700">
            <a:solidFill>
              <a:srgbClr val="2955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023360" y="4718304"/>
            <a:ext cx="3895344" cy="749808"/>
          </a:xfrm>
          <a:prstGeom prst="roundRect">
            <a:avLst>
              <a:gd name="adj" fmla="val 48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15568" y="4892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16 de marzo de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10:00 - 13:00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242816" y="4937760"/>
            <a:ext cx="3456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del curso se instala aquí: entender antes de construir.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no es magia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Abrimos la clase construyendo el mapa mental inicial del módulo: qué pasa cuando usamos una URL, qué diferencia hay entre Internet y Web y qué actores hacen posible una interacción.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 y recorrido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acción cotidiana activa varias capas técnicas aunque el usuario no las vea.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 y Web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conceptos cercanos, pero no equivalentes dentro del sistema.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Actores base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Usuario, navegador, cliente, servidor y aplicación aparecen desde el inicio.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meta del bloque es que abrir una página deje de verse como algo automático y pase a entenderse como un proceso técnico concreto.</a:t>
            </a:r>
            <a:endParaRPr lang="en-US" sz="12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seguimos estudiando estos fundamentos?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Incluso en una época de agentes, entender la Web sigue siendo una ventaja técnica real.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6151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 podemos programar más rápido, pero no pensar menos.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024128" y="4133088"/>
            <a:ext cx="3054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entiendes cómo funciona la Web, puedes diagnosticar mejor, pedir mejor a un agente, detectar errores y tomar decisiones con más criterio.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01184" y="2139696"/>
            <a:ext cx="269748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92624" y="2267712"/>
            <a:ext cx="109728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57216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Sirve para pedir mejor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57216" y="259689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agente responde mejor cuando las preguntas y restricciones técnicas son claras.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909560" y="2139696"/>
            <a:ext cx="269748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01000" y="2267712"/>
            <a:ext cx="109728" cy="12984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65592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Sirve para detectar errores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165592" y="259689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falla, necesitas ubicar si el problema está en cliente, red, DNS o servidor.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01184" y="3968496"/>
            <a:ext cx="5705856" cy="1536192"/>
          </a:xfrm>
          <a:prstGeom prst="roundRect">
            <a:avLst>
              <a:gd name="adj" fmla="val 2381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92624" y="4096512"/>
            <a:ext cx="109728" cy="12801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57216" y="4096512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profesional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57216" y="4425696"/>
            <a:ext cx="5340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cambian, pero la lógica sigue siendo la misma: entender el sistema, formular mejor la intención y recién después apoyarse en un agente con criterio.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Fundamentos que siguen importando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Acciones cotidianas que ya dependen de la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hablar de arquitectura, conviene reconocer cuántas interacciones usamos todos los días.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67712"/>
            <a:ext cx="109728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una página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noticias, mirar contenido o entrar a una plataforma.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30752" y="2139696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267712"/>
            <a:ext cx="109728" cy="11155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86784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Iniciar sesión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86784" y="2633472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Enviar credenciales para acceder a una cuenta.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11696" y="2139696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03136" y="2267712"/>
            <a:ext cx="10972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67728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Enviar un formulario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2633472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datos, buscar o completar un trámite.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49808" y="3913632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41648"/>
            <a:ext cx="10972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41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Reproducir un video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40740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Solicitar contenido y recibirlo en tiempo real.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730752" y="3913632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22192" y="4041648"/>
            <a:ext cx="109728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86784" y="4041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Buscar información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986784" y="440740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un recurso y recibir una respuesta filtrada.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711696" y="3913632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803136" y="4041648"/>
            <a:ext cx="109728" cy="11155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67728" y="4041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una app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67728" y="440740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Interactuar con múltiples solicitudes invisibles para el usuario.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901952" y="5541264"/>
            <a:ext cx="8412480" cy="438912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194560" y="5669280"/>
            <a:ext cx="7818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Aunque la experiencia cambia, detrás de todas estas acciones reaparece la misma lógica básica de comunicación.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Web ya organiza muchas acciones cotidianas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cuando escribimos una URL?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acción parece simple, pero no lo 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13232" y="2084832"/>
            <a:ext cx="3273552" cy="3493008"/>
          </a:xfrm>
          <a:prstGeom prst="roundRect">
            <a:avLst>
              <a:gd name="adj" fmla="val 223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482413"/>
            <a:ext cx="157277" cy="36173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76284" y="2340864"/>
            <a:ext cx="188732" cy="5032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6472" y="2482413"/>
            <a:ext cx="157277" cy="36173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87552" y="276148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de entrada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987552" y="3054096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`www.aiep.cl`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`www.youtube.com`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87552" y="4005072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 una URL no abre una página por arte de magia: dispara una cadena técnica breve que después iremos ampliando.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61104" y="2084832"/>
            <a:ext cx="6675120" cy="3493008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2212848"/>
            <a:ext cx="641908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98848" y="2286000"/>
            <a:ext cx="6199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mínimo que ya empieza a moverse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4425696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98848" y="2706624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90288" y="272491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90288" y="2770632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828032" y="2715768"/>
            <a:ext cx="5559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4626864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escribe una dirección.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5530291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49747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822899" y="2706624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14339" y="2724912"/>
            <a:ext cx="164592" cy="164592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14339" y="2770632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6152083" y="2715768"/>
            <a:ext cx="5559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5950915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inicia la solicitud.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6854342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073798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146950" y="2706624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38390" y="2724912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238390" y="2770632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7476134" y="2715768"/>
            <a:ext cx="5559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7274966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pedido viaja y se encamina.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8178394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397850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471002" y="2706624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562442" y="2724912"/>
            <a:ext cx="164592" cy="16459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562442" y="2770632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8800186" y="2715768"/>
            <a:ext cx="5559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8599018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una respuesta.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502445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721901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795053" y="2706624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886493" y="2724912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886493" y="2770632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80" dirty="0"/>
          </a:p>
        </p:txBody>
      </p:sp>
      <p:sp>
        <p:nvSpPr>
          <p:cNvPr id="52" name="Text 49"/>
          <p:cNvSpPr/>
          <p:nvPr/>
        </p:nvSpPr>
        <p:spPr>
          <a:xfrm>
            <a:off x="10124237" y="2715768"/>
            <a:ext cx="5559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Pantalla</a:t>
            </a:r>
            <a:endParaRPr lang="en-US" sz="1140" dirty="0"/>
          </a:p>
        </p:txBody>
      </p:sp>
      <p:sp>
        <p:nvSpPr>
          <p:cNvPr id="53" name="Text 50"/>
          <p:cNvSpPr/>
          <p:nvPr/>
        </p:nvSpPr>
        <p:spPr>
          <a:xfrm>
            <a:off x="9923069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representa el resultado.</a:t>
            </a:r>
            <a:endParaRPr lang="en-US" sz="910" dirty="0"/>
          </a:p>
        </p:txBody>
      </p:sp>
      <p:sp>
        <p:nvSpPr>
          <p:cNvPr id="54" name="Shape 51"/>
          <p:cNvSpPr/>
          <p:nvPr/>
        </p:nvSpPr>
        <p:spPr>
          <a:xfrm>
            <a:off x="4425696" y="4041648"/>
            <a:ext cx="6345936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498848" y="4151376"/>
            <a:ext cx="91440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663440" y="4151376"/>
            <a:ext cx="6016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central</a:t>
            </a:r>
            <a:endParaRPr lang="en-US" sz="1140" dirty="0"/>
          </a:p>
        </p:txBody>
      </p:sp>
      <p:sp>
        <p:nvSpPr>
          <p:cNvPr id="57" name="Text 54"/>
          <p:cNvSpPr/>
          <p:nvPr/>
        </p:nvSpPr>
        <p:spPr>
          <a:xfrm>
            <a:off x="4663440" y="4425696"/>
            <a:ext cx="60167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curso consiste en entender mejor esta coordinación y aprender a construirla con criterio.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Apertura conceptual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una URL también es una habilidad técnica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necesario memorizar todo hoy, pero sí reconocer qué partes aparecen en una dirección web.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86384" y="2139696"/>
            <a:ext cx="1062532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267712"/>
            <a:ext cx="1036929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2340864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Partes que conviene reconocer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87552" y="2633472"/>
            <a:ext cx="10222992" cy="658368"/>
          </a:xfrm>
          <a:prstGeom prst="roundRect">
            <a:avLst>
              <a:gd name="adj" fmla="val 555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2816352"/>
            <a:ext cx="9820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https://campus.example.com/cursos?id=3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060704" y="3364992"/>
            <a:ext cx="1780981" cy="45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51195" y="3410712"/>
            <a:ext cx="0" cy="14630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05475" y="3511296"/>
            <a:ext cx="91440" cy="9144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4128" y="3529584"/>
            <a:ext cx="1854133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15568" y="3657600"/>
            <a:ext cx="91440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657600"/>
            <a:ext cx="148837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Protocolo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1280160" y="3877056"/>
            <a:ext cx="14883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</a:t>
            </a:r>
            <a:endParaRPr lang="en-US" sz="1340" dirty="0"/>
          </a:p>
        </p:txBody>
      </p:sp>
      <p:sp>
        <p:nvSpPr>
          <p:cNvPr id="22" name="Text 19"/>
          <p:cNvSpPr/>
          <p:nvPr/>
        </p:nvSpPr>
        <p:spPr>
          <a:xfrm>
            <a:off x="1280160" y="4187952"/>
            <a:ext cx="1488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el esquema de acceso que usará el navegador.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2987989" y="3364992"/>
            <a:ext cx="3959652" cy="45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67815" y="3410712"/>
            <a:ext cx="0" cy="146304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22095" y="3511296"/>
            <a:ext cx="91440" cy="91440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51413" y="3529584"/>
            <a:ext cx="403280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042853" y="3657600"/>
            <a:ext cx="91440" cy="135331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7445" y="3657600"/>
            <a:ext cx="36670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3207445" y="3877056"/>
            <a:ext cx="36670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campus.example.com</a:t>
            </a:r>
            <a:endParaRPr lang="en-US" sz="1260" dirty="0"/>
          </a:p>
        </p:txBody>
      </p:sp>
      <p:sp>
        <p:nvSpPr>
          <p:cNvPr id="30" name="Text 27"/>
          <p:cNvSpPr/>
          <p:nvPr/>
        </p:nvSpPr>
        <p:spPr>
          <a:xfrm>
            <a:off x="3207445" y="4187952"/>
            <a:ext cx="36670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Nombra el sitio o servicio que queremos alcanzar.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7093945" y="3364992"/>
            <a:ext cx="1990469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89180" y="3410712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043460" y="3511296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057369" y="3529584"/>
            <a:ext cx="2063621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148809" y="3657600"/>
            <a:ext cx="91440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313401" y="3657600"/>
            <a:ext cx="169786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980" dirty="0"/>
          </a:p>
        </p:txBody>
      </p:sp>
      <p:sp>
        <p:nvSpPr>
          <p:cNvPr id="37" name="Text 34"/>
          <p:cNvSpPr/>
          <p:nvPr/>
        </p:nvSpPr>
        <p:spPr>
          <a:xfrm>
            <a:off x="7313401" y="3877056"/>
            <a:ext cx="16978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/cursos</a:t>
            </a:r>
            <a:endParaRPr lang="en-US" sz="1340" dirty="0"/>
          </a:p>
        </p:txBody>
      </p:sp>
      <p:sp>
        <p:nvSpPr>
          <p:cNvPr id="38" name="Text 35"/>
          <p:cNvSpPr/>
          <p:nvPr/>
        </p:nvSpPr>
        <p:spPr>
          <a:xfrm>
            <a:off x="7313401" y="4187952"/>
            <a:ext cx="16978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Apunta al recurso o sección pedida dentro del sitio.</a:t>
            </a:r>
            <a:endParaRPr lang="en-US" sz="1040" dirty="0"/>
          </a:p>
        </p:txBody>
      </p:sp>
      <p:sp>
        <p:nvSpPr>
          <p:cNvPr id="39" name="Shape 36"/>
          <p:cNvSpPr/>
          <p:nvPr/>
        </p:nvSpPr>
        <p:spPr>
          <a:xfrm>
            <a:off x="9230718" y="3364992"/>
            <a:ext cx="1906674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184055" y="3410712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38335" y="3511296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194142" y="3529584"/>
            <a:ext cx="1979826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285582" y="3657600"/>
            <a:ext cx="91440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50174" y="3657600"/>
            <a:ext cx="161406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Parámetro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9450174" y="3877056"/>
            <a:ext cx="1614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?id=3</a:t>
            </a:r>
            <a:endParaRPr lang="en-US" sz="1340" dirty="0"/>
          </a:p>
        </p:txBody>
      </p:sp>
      <p:sp>
        <p:nvSpPr>
          <p:cNvPr id="46" name="Text 43"/>
          <p:cNvSpPr/>
          <p:nvPr/>
        </p:nvSpPr>
        <p:spPr>
          <a:xfrm>
            <a:off x="9450174" y="4187952"/>
            <a:ext cx="16140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un dato adicional que acompaña la solicitud.</a:t>
            </a:r>
            <a:endParaRPr lang="en-US" sz="1040" dirty="0"/>
          </a:p>
        </p:txBody>
      </p:sp>
      <p:sp>
        <p:nvSpPr>
          <p:cNvPr id="47" name="Text 44"/>
          <p:cNvSpPr/>
          <p:nvPr/>
        </p:nvSpPr>
        <p:spPr>
          <a:xfrm>
            <a:off x="987552" y="5358384"/>
            <a:ext cx="102229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no memorizamos todo: aprendemos a reconocer qué partes suelen aparecer.</a:t>
            </a:r>
            <a:endParaRPr lang="en-US" sz="880" dirty="0"/>
          </a:p>
        </p:txBody>
      </p:sp>
      <p:sp>
        <p:nvSpPr>
          <p:cNvPr id="48" name="Text 4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Primer vistazo a la anatomía de una URL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es un servicio sobre Internet, no todo Internet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estos conceptos evita errores que luego se arrastran durante todo el módulo.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3383280" cy="3291840"/>
          </a:xfrm>
          <a:prstGeom prst="roundRect">
            <a:avLst>
              <a:gd name="adj" fmla="val 111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30358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301752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infraestructura global que permite conectar dispositivos y transportar información.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Sobre esa base pueden funcionar distintos servicios, no solo páginas web.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72000" y="213969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2267712"/>
            <a:ext cx="109728" cy="10972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226771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28032" y="263347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Sitios, aplicaciones y recursos que vemos en el navegador.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35240" y="213969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26680" y="2267712"/>
            <a:ext cx="109728" cy="10972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91272" y="226771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891272" y="263347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Mensajes enviados mediante servicios de email.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72000" y="387705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28032" y="40050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Videollamadas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828032" y="437083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Comunicación audiovisual sobre la red.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635240" y="387705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26680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91272" y="40050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Transferencia de archivos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891272" y="437083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Mover documentos o recursos entre sistemas conectados.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Otros servicios que también viven sobre Internet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Confusiones comunes que conviene corregir desde el inicio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Muchas dudas técnicas posteriores nacen de estas simplificaciones iniciales.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10680192" cy="3877056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12848"/>
            <a:ext cx="1042416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286000"/>
            <a:ext cx="10204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Atajos mentales que luego confunden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33472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43200"/>
            <a:ext cx="91440" cy="11247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33856" y="276148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33856" y="280720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33856" y="30540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"Internet = Web"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33856" y="3438144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Web es uno de los servicios que funciona sobre Internet.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4425696" y="2633472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17136" y="2743200"/>
            <a:ext cx="91440" cy="112471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663440" y="276148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63440" y="280720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4663440" y="30540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"Navegador = Internet"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4663440" y="3438144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es una herramienta cliente, no la red completa.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7955280" y="2633472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46720" y="2743200"/>
            <a:ext cx="91440" cy="11247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93024" y="276148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93024" y="280720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8193024" y="30540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"Abrir una página es instantáneo"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8193024" y="3438144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Detrás hay consultas, solicitudes y respuestas que ocurren muy rápido.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896112" y="4160520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87552" y="4270248"/>
            <a:ext cx="91440" cy="11247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33856" y="4288536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FF6E6"/>
          </a:solidFill>
          <a:ln w="12700">
            <a:solidFill>
              <a:srgbClr val="FFF6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33856" y="4334256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1133856" y="458114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"Dominio, sitio y servidor son lo mismo"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1133856" y="4965192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piezas distintas que se coordinan cuando una app se publica.</a:t>
            </a:r>
            <a:endParaRPr lang="en-US" sz="1040" dirty="0"/>
          </a:p>
        </p:txBody>
      </p:sp>
      <p:sp>
        <p:nvSpPr>
          <p:cNvPr id="37" name="Shape 34"/>
          <p:cNvSpPr/>
          <p:nvPr/>
        </p:nvSpPr>
        <p:spPr>
          <a:xfrm>
            <a:off x="4425696" y="4160520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517136" y="4270248"/>
            <a:ext cx="91440" cy="11247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63440" y="4288536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3440" y="4334256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4663440" y="458114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"Si algo carga, entonces está bien"</a:t>
            </a:r>
            <a:endParaRPr lang="en-US" sz="1380" dirty="0"/>
          </a:p>
        </p:txBody>
      </p:sp>
      <p:sp>
        <p:nvSpPr>
          <p:cNvPr id="42" name="Text 39"/>
          <p:cNvSpPr/>
          <p:nvPr/>
        </p:nvSpPr>
        <p:spPr>
          <a:xfrm>
            <a:off x="4663440" y="4965192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puede responder y seguir mal diseñado, mal desplegado o expuesto.</a:t>
            </a:r>
            <a:endParaRPr lang="en-US" sz="1040" dirty="0"/>
          </a:p>
        </p:txBody>
      </p:sp>
      <p:sp>
        <p:nvSpPr>
          <p:cNvPr id="43" name="Shape 40"/>
          <p:cNvSpPr/>
          <p:nvPr/>
        </p:nvSpPr>
        <p:spPr>
          <a:xfrm>
            <a:off x="950976" y="5559552"/>
            <a:ext cx="10277856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60704" y="5605272"/>
            <a:ext cx="10058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 estas confusiones temprano mejora todo el resto del curso.</a:t>
            </a:r>
            <a:endParaRPr lang="en-US" sz="880" dirty="0"/>
          </a:p>
        </p:txBody>
      </p:sp>
      <p:sp>
        <p:nvSpPr>
          <p:cNvPr id="45" name="Text 42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Corregir estas ideas mejora todo el resto del curso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 y cliente: cercanos, pero no idénticos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práctica suelen ir juntos, pero conviene distinguir su función desde el principio.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57984"/>
            <a:ext cx="3657600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286000"/>
            <a:ext cx="109728" cy="29443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97280" y="2688336"/>
            <a:ext cx="329184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herramienta que usamos para acceder a la Web.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 HTML, CSS y JavaScript.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contenido.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escribir URLs, hacer clic y enviar formularios.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73168" y="2157984"/>
            <a:ext cx="3657600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64608" y="2286000"/>
            <a:ext cx="109728" cy="2944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29200" y="2688336"/>
            <a:ext cx="329184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lado que realiza la solicitud dentro de una arquitectura cliente-servidor.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Muchas veces el navegador actúa como cliente, pero el concepto apunta al rol que cumple.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759952" y="2157984"/>
            <a:ext cx="2148840" cy="3200400"/>
          </a:xfrm>
          <a:prstGeom prst="roundRect">
            <a:avLst>
              <a:gd name="adj" fmla="val 25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15984" y="2359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97696" y="274320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suele ser el cliente, pero "cliente" nombra una función dentro del sistema.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Herramienta visible y rol técnico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hace realmente el servidor?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sin entrar a detalles avanzados, basta con reconocer su rol general dentro del recorrido.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9555480" cy="914400"/>
          </a:xfrm>
          <a:prstGeom prst="roundRect">
            <a:avLst>
              <a:gd name="adj" fmla="val 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87168"/>
            <a:ext cx="886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Recibe solicitudes -&gt; procesa información -&gt; devuelve respuestas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960120" y="3657600"/>
            <a:ext cx="26060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51560" y="378561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16152" y="37856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Entregar recursos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16152" y="415137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devolver páginas, imágenes, archivos o datos.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895344" y="3657600"/>
            <a:ext cx="26060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86784" y="3785616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51376" y="37856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Procesar acciones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51376" y="415137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validar formularios o ejecutar lógica de negocio.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30568" y="3657600"/>
            <a:ext cx="26060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22008" y="378561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37856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Responder según la solicitud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086600" y="415137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siempre devuelve lo mismo: depende de lo que el cliente pida.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170432" y="5504688"/>
            <a:ext cx="9144000" cy="420624"/>
          </a:xfrm>
          <a:prstGeom prst="roundRect">
            <a:avLst>
              <a:gd name="adj" fmla="val 8696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44752" y="5632704"/>
            <a:ext cx="8595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este módulo iremos refinando este rol, pero por ahora basta con entender que el servidor no es un actor pasivo.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servidor como parte activa de la interacción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 no es lo mismo que la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Distinguir estos conceptos evita muchos errores desde el inicio.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57984"/>
            <a:ext cx="5303520" cy="27432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86000"/>
            <a:ext cx="109728" cy="24871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860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15184"/>
            <a:ext cx="493776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infraestructura global de redes conectadas.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transportar información y conectar dispositivos, servicios y sistemas.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309360" y="2157984"/>
            <a:ext cx="5120640" cy="27432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286000"/>
            <a:ext cx="109728" cy="2487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65392" y="2286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65392" y="2615184"/>
            <a:ext cx="47548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uno de los servicios que funciona sobre Internet.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el único: también existen correo, mensajería, videollamadas y transferencia de archivos.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1417320" y="5230368"/>
            <a:ext cx="9281160" cy="82296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91640" y="539496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Analogía útil: Internet es la red de carreteras; la Web es uno de los vehículos que circula por ella.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Diferencia conceptual clave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Actores principales de una interacción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mapa aparecerá una y otra vez durante el módulo.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48256"/>
            <a:ext cx="10698480" cy="3968496"/>
          </a:xfrm>
          <a:prstGeom prst="roundRect">
            <a:avLst>
              <a:gd name="adj" fmla="val 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76272"/>
            <a:ext cx="104424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2494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interviene y que hace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280160" y="3730752"/>
            <a:ext cx="963777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07008" y="3657600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3438144"/>
            <a:ext cx="0" cy="2926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" y="2596896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0624" y="2688336"/>
            <a:ext cx="7315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220" dirty="0"/>
          </a:p>
        </p:txBody>
      </p:sp>
      <p:sp>
        <p:nvSpPr>
          <p:cNvPr id="19" name="Text 16"/>
          <p:cNvSpPr/>
          <p:nvPr/>
        </p:nvSpPr>
        <p:spPr>
          <a:xfrm>
            <a:off x="566928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acceder a un recurso o realizar una acción.</a:t>
            </a:r>
            <a:endParaRPr lang="en-US" sz="960" dirty="0"/>
          </a:p>
        </p:txBody>
      </p:sp>
      <p:sp>
        <p:nvSpPr>
          <p:cNvPr id="20" name="Shape 17"/>
          <p:cNvSpPr/>
          <p:nvPr/>
        </p:nvSpPr>
        <p:spPr>
          <a:xfrm>
            <a:off x="3616452" y="3657600"/>
            <a:ext cx="146304" cy="146304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89604" y="3730752"/>
            <a:ext cx="0" cy="31089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756916" y="4041648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30068" y="4133088"/>
            <a:ext cx="73152" cy="6583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976372" y="41330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220" dirty="0"/>
          </a:p>
        </p:txBody>
      </p:sp>
      <p:sp>
        <p:nvSpPr>
          <p:cNvPr id="25" name="Text 22"/>
          <p:cNvSpPr/>
          <p:nvPr/>
        </p:nvSpPr>
        <p:spPr>
          <a:xfrm>
            <a:off x="2976372" y="4389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 la respuesta y presenta la interfaz.</a:t>
            </a:r>
            <a:endParaRPr lang="en-US" sz="960" dirty="0"/>
          </a:p>
        </p:txBody>
      </p:sp>
      <p:sp>
        <p:nvSpPr>
          <p:cNvPr id="26" name="Shape 23"/>
          <p:cNvSpPr/>
          <p:nvPr/>
        </p:nvSpPr>
        <p:spPr>
          <a:xfrm>
            <a:off x="6025896" y="3657600"/>
            <a:ext cx="146304" cy="1463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099048" y="3438144"/>
            <a:ext cx="0" cy="292608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166360" y="2596896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39512" y="2688336"/>
            <a:ext cx="7315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85816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220" dirty="0"/>
          </a:p>
        </p:txBody>
      </p:sp>
      <p:sp>
        <p:nvSpPr>
          <p:cNvPr id="31" name="Text 28"/>
          <p:cNvSpPr/>
          <p:nvPr/>
        </p:nvSpPr>
        <p:spPr>
          <a:xfrm>
            <a:off x="5385816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lado que emite la solicitud hacia la red.</a:t>
            </a:r>
            <a:endParaRPr lang="en-US" sz="960" dirty="0"/>
          </a:p>
        </p:txBody>
      </p:sp>
      <p:sp>
        <p:nvSpPr>
          <p:cNvPr id="32" name="Shape 29"/>
          <p:cNvSpPr/>
          <p:nvPr/>
        </p:nvSpPr>
        <p:spPr>
          <a:xfrm>
            <a:off x="8435340" y="3657600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508492" y="3730752"/>
            <a:ext cx="0" cy="310896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5804" y="4041648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648956" y="4133088"/>
            <a:ext cx="73152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795260" y="41330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220" dirty="0"/>
          </a:p>
        </p:txBody>
      </p:sp>
      <p:sp>
        <p:nvSpPr>
          <p:cNvPr id="37" name="Text 34"/>
          <p:cNvSpPr/>
          <p:nvPr/>
        </p:nvSpPr>
        <p:spPr>
          <a:xfrm>
            <a:off x="7795260" y="4389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Recibe, procesa y prepara una respuesta.</a:t>
            </a:r>
            <a:endParaRPr lang="en-US" sz="960" dirty="0"/>
          </a:p>
        </p:txBody>
      </p:sp>
      <p:sp>
        <p:nvSpPr>
          <p:cNvPr id="38" name="Shape 35"/>
          <p:cNvSpPr/>
          <p:nvPr/>
        </p:nvSpPr>
        <p:spPr>
          <a:xfrm>
            <a:off x="10844784" y="3657600"/>
            <a:ext cx="146304" cy="1463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17936" y="3438144"/>
            <a:ext cx="0" cy="292608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985248" y="2596896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058400" y="2688336"/>
            <a:ext cx="7315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04704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Sitio o app</a:t>
            </a:r>
            <a:endParaRPr lang="en-US" sz="1220" dirty="0"/>
          </a:p>
        </p:txBody>
      </p:sp>
      <p:sp>
        <p:nvSpPr>
          <p:cNvPr id="43" name="Text 40"/>
          <p:cNvSpPr/>
          <p:nvPr/>
        </p:nvSpPr>
        <p:spPr>
          <a:xfrm>
            <a:off x="10204704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producto que finalmente consume la persona usuaria.</a:t>
            </a:r>
            <a:endParaRPr lang="en-US" sz="960" dirty="0"/>
          </a:p>
        </p:txBody>
      </p:sp>
      <p:sp>
        <p:nvSpPr>
          <p:cNvPr id="44" name="Shape 41"/>
          <p:cNvSpPr/>
          <p:nvPr/>
        </p:nvSpPr>
        <p:spPr>
          <a:xfrm>
            <a:off x="914400" y="5632704"/>
            <a:ext cx="10369296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2416" y="5678424"/>
            <a:ext cx="10113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no "contiene Internet": media entre personas, clientes y servicios remotos.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cliente-servidor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conceptual que sostendrá gran parte del curso.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68680" y="205740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34440" y="237744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3493008" y="2212848"/>
            <a:ext cx="914400" cy="7132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9160" y="205740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66360" y="23774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7333488" y="2212848"/>
            <a:ext cx="914400" cy="7132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2057400"/>
            <a:ext cx="2697480" cy="1051560"/>
          </a:xfrm>
          <a:prstGeom prst="roundRect">
            <a:avLst>
              <a:gd name="adj" fmla="val 521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06840" y="237744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1005840" y="3931920"/>
            <a:ext cx="1014984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97280" y="4059936"/>
            <a:ext cx="109728" cy="13898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61872" y="4059936"/>
            <a:ext cx="9784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significa esta arquitectura?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61872" y="4389120"/>
            <a:ext cx="9784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pide algo. El servidor recibe la solicitud, procesa y responde. La aplicación web existe gracias a esa conversación constante.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entendemos quiénes participan; luego veremos cómo se comunican.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2971800" y="5779008"/>
            <a:ext cx="6172200" cy="475488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46120" y="5916168"/>
            <a:ext cx="5623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Puente al bloque 2: HTTP, DNS y el recorrido técnico de una solicitud web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164592"/>
            <a:ext cx="1600200" cy="1600200"/>
          </a:xfrm>
          <a:prstGeom prst="ellipse">
            <a:avLst/>
          </a:prstGeom>
          <a:solidFill>
            <a:srgbClr val="D62027">
              <a:alpha val="92000"/>
            </a:srgbClr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22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916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funciona gracias a la interacción coordinada entre usuario, navegador, cliente y servidor.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466344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1956816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56832" y="195681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656832" y="2212848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hay entre Internet y la Web?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0" y="3035808"/>
            <a:ext cx="466344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3163824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316382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656832" y="3419856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hace la solicitud en una arquitectura cliente-servidor?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400800" y="4242816"/>
            <a:ext cx="466344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37083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437083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56832" y="4626864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decimos que abrir una página no es un acto mágico, sino un proceso?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786384" y="5623560"/>
            <a:ext cx="1627632" cy="310896"/>
          </a:xfrm>
          <a:prstGeom prst="roundRect">
            <a:avLst>
              <a:gd name="adj" fmla="val 1470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566013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Sigue: HTTP y DNS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606040" y="566928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bloque veremos cómo se comunican estos actores en la práctica.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 se comunican los actores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pasamos de identificar las piezas a entender el recorrido técnico de una solicitud web y la lógica que se repite detrás de muchas acciones cotidianas.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Solicitud y respuesta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interacción web ocurre como una petición del cliente y una respuesta del servidor.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 la conversación con reglas compartidas y visibles.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localizar el servidor correcto dentro de la red.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del bloque es que la apertura de una página deje de verse como un acto invisible y pase a entenderse como una secuencia precisa.</a:t>
            </a:r>
            <a:endParaRPr lang="en-US" sz="12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misma lógica aparece una y otra vez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una página, iniciar sesión o enviar un formulario parecen acciones distintas, pero comparten una estructura.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269748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67712"/>
            <a:ext cx="109728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una página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pide un recurso y el servidor responde con contenido.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30752" y="2139696"/>
            <a:ext cx="269748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267712"/>
            <a:ext cx="109728" cy="117043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86784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Iniciar sesión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86784" y="2633472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envía datos de acceso y el servidor responde con validación.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11696" y="2139696"/>
            <a:ext cx="269748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03136" y="2267712"/>
            <a:ext cx="109728" cy="11704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67728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Enviar un formulario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2633472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mandan datos y el servidor procesa la acción.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240280" y="3950208"/>
            <a:ext cx="329184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331720" y="4078224"/>
            <a:ext cx="109728" cy="11704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96312" y="40782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Cargar datos en una app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496312" y="44439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solicita información y el servidor devuelve resultados.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23560" y="3950208"/>
            <a:ext cx="329184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15000" y="4078224"/>
            <a:ext cx="109728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79592" y="40782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Buscar contenido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879592" y="44439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formula una consulta y el servidor responde según esa petición.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Mismo patrón, distintas acciones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contiene una solicitud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sin entrar a todos los detalles, conviene reconocer sus piezas más visibles.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76272"/>
            <a:ext cx="10058400" cy="987552"/>
          </a:xfrm>
          <a:prstGeom prst="roundRect">
            <a:avLst>
              <a:gd name="adj" fmla="val 463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50592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/cursos?id=3 HTTP/1.1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32688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78561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 la intención general: solicitar, enviar o modificar algo.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895344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86784" y="3785616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51376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o recurso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151376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Señala qué página, archivo o endpoint se está pidiendo.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58000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49440" y="378561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14032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adicionales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114032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incluir parámetros, cabeceras o un cuerpo con información.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225296" y="5504688"/>
            <a:ext cx="9098280" cy="420624"/>
          </a:xfrm>
          <a:prstGeom prst="roundRect">
            <a:avLst>
              <a:gd name="adj" fmla="val 8696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517904" y="5632704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solicitud no es solo "ir a un sitio": es un mensaje estructurado que el servidor puede interpretar.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Anatomía básica de una request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contiene una respuesta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el servidor devuelve también tiene estructura y no siempre representa éxito.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60120" y="2176272"/>
            <a:ext cx="9784080" cy="987552"/>
          </a:xfrm>
          <a:prstGeom prst="roundRect">
            <a:avLst>
              <a:gd name="adj" fmla="val 463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80160" y="24505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HTTP/1.1 200 OK   +   contenido HTML / JSON / error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932688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78561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de estado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 el resultado general de la solicitud.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895344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86784" y="3785616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51376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 de contenido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151376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entender qué está devolviendo el servidor.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58000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49440" y="378561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14032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Cuerpo de respuesta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114032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la página, los datos o el mensaje asociado.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Anatomía básica de una response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método expresa intención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lo mismo pedir información que enviar datos o activar una acción.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1078992" y="2212848"/>
            <a:ext cx="29260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70432" y="234086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35024" y="2340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35024" y="2724912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solicitar información o recursos sin modificar el estado general del sistema.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07408" y="2212848"/>
            <a:ext cx="29260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98848" y="2340864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340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63440" y="2724912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enviar datos al servidor y activar alguna acción o procesamiento.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35824" y="2212848"/>
            <a:ext cx="2331720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27264" y="2340864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91856" y="234086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útil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991856" y="272491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método no es un detalle decorativo: orienta la conversación entre cliente y servidor.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011680" y="4370832"/>
            <a:ext cx="7955280" cy="1207008"/>
          </a:xfrm>
          <a:prstGeom prst="roundRect">
            <a:avLst>
              <a:gd name="adj" fmla="val 3030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03120" y="4498848"/>
            <a:ext cx="109728" cy="9509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67712" y="449884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ahora basta con esto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2267712" y="486460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 primera clase no necesitamos memorizar todos los métodos posibles. Lo importante es entender que el cliente expresa intención y el servidor responde en consecuencia.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GET y POST como punto de partida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códigos de estado también comunican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respuesta no solo trae contenido: también informa si la solicitud salió bien o mal.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505456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70432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solicitud fue procesada correctamente.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419856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1296" y="2505456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7588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404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675888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recurso solicitado no fue encontrado.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925312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16752" y="2505456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81344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181344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el recurso, pero no tienes permiso para acceder.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430768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522208" y="2505456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86800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86800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ocurrió del lado del servidor.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417320" y="4645152"/>
            <a:ext cx="9281160" cy="4572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755648" y="4791456"/>
            <a:ext cx="8595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el código de estado ya permite entender bastante sobre lo que pasó en la interacción.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servidor también responde con señales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DNS: pensar en nombres, no solo en números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existe porque los humanos recordamos nombres mejor que direcciones numéricas.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87552" y="2176272"/>
            <a:ext cx="27889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35024" y="246888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www.aiep.cl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078224" y="2414016"/>
            <a:ext cx="822960" cy="45720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12080" y="2176272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42432" y="2468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424928" y="2414016"/>
            <a:ext cx="822960" cy="457200"/>
          </a:xfrm>
          <a:prstGeom prst="chevron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58784" y="2176272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87968" y="246888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Dirección IP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097280" y="3877056"/>
            <a:ext cx="44348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4005072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53312" y="400507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Analogía útil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53312" y="4389120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funciona como una agenda o directorio: tú recuerdas el nombre, el sistema busca el dato técnico necesario para llegar al destino.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833872" y="3877056"/>
            <a:ext cx="4297680" cy="1481328"/>
          </a:xfrm>
          <a:prstGeom prst="roundRect">
            <a:avLst>
              <a:gd name="adj" fmla="val 2469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25312" y="4005072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89904" y="4005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importante en esta etapa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089904" y="4389120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memorizar IPs, sino entender que la red necesita traducir nombres legibles en direcciones utilizables.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DNS como sistema de traducción y localización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fallar en distintos puntos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Comprender el recorrido ayuda a diagnosticar mejor y a dejar de pensar en errores como algo totalmente misterioso.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523744"/>
            <a:ext cx="109728" cy="14996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972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nombre no se resuelve o apunta al lugar incorrecto.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5844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75888" y="2523744"/>
            <a:ext cx="109728" cy="14996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8404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conexión se interrumpe o no logra llegar al destino.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276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19088" y="2523744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servicio no responde o falla al procesar la solicitud.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90708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62288" y="2523744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Recurso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3268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página o archivo solicitado no existe.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920240" y="4553712"/>
            <a:ext cx="8138160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11680" y="4681728"/>
            <a:ext cx="109728" cy="7680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76272" y="46817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 de mirada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2176272" y="5010912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no carga, ya no pensamos "la página está mala" sin más: empezamos a preguntarnos en qué etapa del recorrido se rompió.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Fallas posibles a lo largo del recorrido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Solicitud y respuesta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lógica básica que sostiene casi toda interacción web.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128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base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05840" y="2615184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actúa como cliente: envía una solicitud.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 recibe, interpreta y devuelve una respuesta.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24128" y="4736592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lógica se repite cuando abrimos una página, iniciamos sesión, enviamos un formulario o cargamos datos desde una app.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983480" y="2139696"/>
            <a:ext cx="269748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74920" y="2267712"/>
            <a:ext cx="109728" cy="1527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9512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Solicitud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239512" y="2651760"/>
            <a:ext cx="23317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mensaje inicial del cliente.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un recurso, envía datos o activa una acción.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001000" y="2139696"/>
            <a:ext cx="269748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92440" y="2267712"/>
            <a:ext cx="109728" cy="1527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57032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57032" y="2651760"/>
            <a:ext cx="23317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lo que devuelve el servidor.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ser contenido, un error o una confirmación.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983480" y="4005072"/>
            <a:ext cx="5715000" cy="1737360"/>
          </a:xfrm>
          <a:prstGeom prst="roundRect">
            <a:avLst>
              <a:gd name="adj" fmla="val 2105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74920" y="4133088"/>
            <a:ext cx="109728" cy="14813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39512" y="413308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importa?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239512" y="4462272"/>
            <a:ext cx="5349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esta estructura request / response aparece una y otra vez en el desarrollo web. Entenderla permite leer mejor una aplicación, diagnosticar errores y construir sistemas con más sentido técnico.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Lógica básica de comunicación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organiza la conversación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Internet: es una de las reglas que hacen posible la Web.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97764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12848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128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596896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Significa HyperText Transfer Protocol.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reglas para que cliente y servidor intercambien mensajes de forma ordenada.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983480" y="2084832"/>
            <a:ext cx="5715000" cy="1874520"/>
          </a:xfrm>
          <a:prstGeom prst="roundRect">
            <a:avLst>
              <a:gd name="adj" fmla="val 292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21808" y="23317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  -&gt;  GET /index.html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Servidor -&gt;  200 OK + contenido HTML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49808" y="4224528"/>
            <a:ext cx="22402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" y="4352544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05840" y="4352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05840" y="4681728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solicitar información.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46120" y="4224528"/>
            <a:ext cx="22402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37560" y="4352544"/>
            <a:ext cx="109728" cy="10241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02152" y="4352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502152" y="4681728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enviar datos al servidor.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42432" y="4224528"/>
            <a:ext cx="22402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833872" y="435254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98464" y="4352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200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998464" y="4681728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solicitud fue procesada correctamente.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238744" y="4224528"/>
            <a:ext cx="24688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30184" y="4352544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494776" y="435254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404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494776" y="468172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recurso solicitado no fue encontrado.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HTTP como protocolo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DNS: cómo la red sabe a dónde ir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nombres legibles en direcciones utilizables por la red.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14884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34440" y="24688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www.aiep.cl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749040" y="2286000"/>
            <a:ext cx="914400" cy="64008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37760" y="2148840"/>
            <a:ext cx="2286000" cy="960120"/>
          </a:xfrm>
          <a:prstGeom prst="roundRect">
            <a:avLst>
              <a:gd name="adj" fmla="val 571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32120" y="2468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452360" y="2286000"/>
            <a:ext cx="914400" cy="640080"/>
          </a:xfrm>
          <a:prstGeom prst="chevron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41080" y="2148840"/>
            <a:ext cx="26060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79408" y="24688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Dirección IP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005840" y="3794760"/>
            <a:ext cx="466344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97280" y="3922776"/>
            <a:ext cx="109728" cy="12984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61872" y="392277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61872" y="4251960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traduce un nombre fácil de recordar en una dirección que la red puede usar para localizar el servidor correcto.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897880" y="3794760"/>
            <a:ext cx="4663440" cy="1554480"/>
          </a:xfrm>
          <a:prstGeom prst="roundRect">
            <a:avLst>
              <a:gd name="adj" fmla="val 235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9320" y="3922776"/>
            <a:ext cx="109728" cy="12984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92277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hace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53912" y="4251960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no es una página web ni "crea" Internet. Es un sistema de localización dentro de la red.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DNS y localización del servidor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completo de una solicitud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parece instantáneo en realidad tiene varias etapas.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66544"/>
            <a:ext cx="10698480" cy="4005072"/>
          </a:xfrm>
          <a:prstGeom prst="roundRect">
            <a:avLst>
              <a:gd name="adj" fmla="val 91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94560"/>
            <a:ext cx="104424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267712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Etapas que conviene poder nombrar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688336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06624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752344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1316736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1115568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escribe una dirección en el navegador.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2468880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88336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761488" y="2688336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52928" y="2706624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852928" y="2752344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3090672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2889504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identifica el nombre a resolver.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242816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62272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35424" y="2688336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626864" y="2706624"/>
            <a:ext cx="164592" cy="164592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26864" y="2752344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4864608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4663440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traduce el nombre a dirección IP.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6016752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36208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09360" y="2688336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00800" y="2706624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0" y="2752344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6638544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6437376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envía la solicitud.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7790688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010144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83296" y="2688336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174736" y="2706624"/>
            <a:ext cx="164592" cy="16459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74736" y="2752344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8412480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8211312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 y prepara la respuesta.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564624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784080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857232" y="2688336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948672" y="2706624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948672" y="2752344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780" dirty="0"/>
          </a:p>
        </p:txBody>
      </p:sp>
      <p:sp>
        <p:nvSpPr>
          <p:cNvPr id="52" name="Text 49"/>
          <p:cNvSpPr/>
          <p:nvPr/>
        </p:nvSpPr>
        <p:spPr>
          <a:xfrm>
            <a:off x="10186416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Pantalla</a:t>
            </a:r>
            <a:endParaRPr lang="en-US" sz="1140" dirty="0"/>
          </a:p>
        </p:txBody>
      </p:sp>
      <p:sp>
        <p:nvSpPr>
          <p:cNvPr id="53" name="Text 50"/>
          <p:cNvSpPr/>
          <p:nvPr/>
        </p:nvSpPr>
        <p:spPr>
          <a:xfrm>
            <a:off x="9985248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representa el contenido.</a:t>
            </a:r>
            <a:endParaRPr lang="en-US" sz="910" dirty="0"/>
          </a:p>
        </p:txBody>
      </p:sp>
      <p:sp>
        <p:nvSpPr>
          <p:cNvPr id="54" name="Shape 51"/>
          <p:cNvSpPr/>
          <p:nvPr/>
        </p:nvSpPr>
        <p:spPr>
          <a:xfrm>
            <a:off x="914400" y="4023360"/>
            <a:ext cx="334670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87552" y="4133088"/>
            <a:ext cx="91440" cy="16459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152144" y="4133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140" dirty="0"/>
          </a:p>
        </p:txBody>
      </p:sp>
      <p:sp>
        <p:nvSpPr>
          <p:cNvPr id="57" name="Text 54"/>
          <p:cNvSpPr/>
          <p:nvPr/>
        </p:nvSpPr>
        <p:spPr>
          <a:xfrm>
            <a:off x="1152144" y="440740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fallar antes de llegar al servidor.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4425696" y="4023360"/>
            <a:ext cx="334670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98848" y="4133088"/>
            <a:ext cx="91440" cy="16459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663440" y="4133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140" dirty="0"/>
          </a:p>
        </p:txBody>
      </p:sp>
      <p:sp>
        <p:nvSpPr>
          <p:cNvPr id="61" name="Text 58"/>
          <p:cNvSpPr/>
          <p:nvPr/>
        </p:nvSpPr>
        <p:spPr>
          <a:xfrm>
            <a:off x="4663440" y="440740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responder con error o recurso ausente.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7936992" y="4023360"/>
            <a:ext cx="334670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010144" y="4133088"/>
            <a:ext cx="91440" cy="1645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74736" y="4133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140" dirty="0"/>
          </a:p>
        </p:txBody>
      </p:sp>
      <p:sp>
        <p:nvSpPr>
          <p:cNvPr id="65" name="Text 62"/>
          <p:cNvSpPr/>
          <p:nvPr/>
        </p:nvSpPr>
        <p:spPr>
          <a:xfrm>
            <a:off x="8174736" y="440740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llegar y aun así verse mal o incompleta.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69880" y="256032"/>
            <a:ext cx="1143000" cy="1143000"/>
          </a:xfrm>
          <a:prstGeom prst="ellipse">
            <a:avLst/>
          </a:prstGeom>
          <a:solidFill>
            <a:srgbClr val="284B75">
              <a:alpha val="92000"/>
            </a:srgbClr>
          </a:solidFill>
          <a:ln w="12700">
            <a:solidFill>
              <a:srgbClr val="284B7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41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64208"/>
            <a:ext cx="5349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comunicación web ocurre mediante solicitudes y respuestas organizadas por HTTP, mientras DNS ayuda a encontrar el servidor correcto.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86384" y="2907792"/>
            <a:ext cx="5285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E7EE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agente puede ayudarte a explicarlo o resumirlo, pero si tú no entiendes el flujo real, tampoco podrás validar una respuesta técnica.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92240" y="1865376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56832" y="1865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656832" y="2121408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función cumple HTTP dentro de la Web?</a:t>
            </a:r>
            <a:endParaRPr lang="en-US" sz="1060" dirty="0"/>
          </a:p>
        </p:txBody>
      </p:sp>
      <p:sp>
        <p:nvSpPr>
          <p:cNvPr id="10" name="Shape 8"/>
          <p:cNvSpPr/>
          <p:nvPr/>
        </p:nvSpPr>
        <p:spPr>
          <a:xfrm>
            <a:off x="6400800" y="2944368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72384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30723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656832" y="332841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necesitamos DNS si ya existen los servidores?</a:t>
            </a:r>
            <a:endParaRPr lang="en-US" sz="1060" dirty="0"/>
          </a:p>
        </p:txBody>
      </p:sp>
      <p:sp>
        <p:nvSpPr>
          <p:cNvPr id="14" name="Shape 12"/>
          <p:cNvSpPr/>
          <p:nvPr/>
        </p:nvSpPr>
        <p:spPr>
          <a:xfrm>
            <a:off x="6400800" y="4151376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427939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427939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6656832" y="4535424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hay entre una URL, un dominio y una dirección IP?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786384" y="5623560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66013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Sigue: dominio, hosting y despliegue</a:t>
            </a:r>
            <a:endParaRPr lang="en-US" sz="940" dirty="0"/>
          </a:p>
        </p:txBody>
      </p:sp>
      <p:sp>
        <p:nvSpPr>
          <p:cNvPr id="20" name="Text 18"/>
          <p:cNvSpPr/>
          <p:nvPr/>
        </p:nvSpPr>
        <p:spPr>
          <a:xfrm>
            <a:off x="3529584" y="5678424"/>
            <a:ext cx="612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bloque veremos dónde vive una aplicación web y qué significa publicarla en Internet.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Dónde vive una aplicación web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Pasamos desde la comunicación técnica hacia la publicación real: dominio, hosting y despliegue como decisiones que sacan el proyecto del equipo local.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nombre legible con el que las personas encuentran un sitio o aplicación.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donde realmente viven los archivos y servicios del proyecto.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proceso que lleva una versión desde local a un entorno público.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del bloque es que publicar una app deje de verse como un acto misterioso y pase a entenderse como una cadena de decisiones técnicas.</a:t>
            </a:r>
            <a:endParaRPr lang="en-US" sz="12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 una app abre nuevas preguntas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proyecto sale del equipo local, aparecen decisiones de acceso, infraestructura y operación.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0428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¿Dónde va a vivir?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infraestructura conectada a Internet; no basta con la carpeta del proyecto.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2304288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¿Con qué nombre entran?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53912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personas acceden por un dominio legible y luego DNS lo traduce al destino correcto.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808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248" y="3950208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llega cada versión?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05840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mejora o corrección necesita un despliegue para quedar realmente disponible.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897880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9320" y="395020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detecta una falla?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53912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no carga, conviene pensar en capas: dominio, DNS, hosting o despliegue.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78992" y="5577840"/>
            <a:ext cx="9985248" cy="384048"/>
          </a:xfrm>
          <a:prstGeom prst="roundRect">
            <a:avLst>
              <a:gd name="adj" fmla="val 9524"/>
            </a:avLst>
          </a:prstGeom>
          <a:solidFill>
            <a:srgbClr val="EEF7F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408176" y="5687568"/>
            <a:ext cx="9326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publicación deja de verse como un botón mágico cuando se separan estas preguntas.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Preguntas que aparecen al publicar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Tener una aplicación no es lo mismo que tenerla publicada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y publicar están conectados, pero no son el mismo proceso.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3886200" cy="3566160"/>
          </a:xfrm>
          <a:prstGeom prst="roundRect">
            <a:avLst>
              <a:gd name="adj" fmla="val 205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128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base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app puede funcionar bien en el computador del desarrollador y aun así no estar disponible para otras personas.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24128" y="46177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significa mover esa versión a infraestructura conectada a Internet y dejarla accesible para tráfico real.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956048" y="2121408"/>
            <a:ext cx="557784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47488" y="2249424"/>
            <a:ext cx="109728" cy="11612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12080" y="22494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local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212080" y="2578608"/>
            <a:ext cx="5212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crear, probar y corregir. Todavía depende del entorno del desarrollador y no está pensada para acceso público.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956048" y="3767328"/>
            <a:ext cx="5577840" cy="1901952"/>
          </a:xfrm>
          <a:prstGeom prst="roundRect">
            <a:avLst>
              <a:gd name="adj" fmla="val 192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47488" y="3895344"/>
            <a:ext cx="109728" cy="16459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12080" y="38953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publicarla hacen falta más piezas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12080" y="4224528"/>
            <a:ext cx="52120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 para identificarla.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Hosting para alojarla.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 para instalar una versión utilizable.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y HTTP para que la comunicación ocurra correctamente.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Del entorno local a Internet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Dominio: el nombre con el que encontramos un sitio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distinguirlo desde el inicio para no confundir nombre, dirección y recurso.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48256"/>
            <a:ext cx="3675888" cy="3584448"/>
          </a:xfrm>
          <a:prstGeom prst="roundRect">
            <a:avLst>
              <a:gd name="adj" fmla="val 153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34086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24128" y="27066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`example.com`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024128" y="3200400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nombre legible que las personas pueden recordar para encontrar un sitio sin memorizar una IP.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005840" y="4681728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173250"/>
          </a:solidFill>
          <a:ln w="12700">
            <a:solidFill>
              <a:srgbClr val="17325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70432" y="4846320"/>
            <a:ext cx="2212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el servidor ni la app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681728" y="2084832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73168" y="2212848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21284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Subdominio</a:t>
            </a:r>
            <a:endParaRPr lang="en-US" sz="1420" dirty="0"/>
          </a:p>
        </p:txBody>
      </p:sp>
      <p:sp>
        <p:nvSpPr>
          <p:cNvPr id="19" name="Text 16"/>
          <p:cNvSpPr/>
          <p:nvPr/>
        </p:nvSpPr>
        <p:spPr>
          <a:xfrm>
            <a:off x="4937760" y="2578608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`app.example.com`</a:t>
            </a:r>
            <a:endParaRPr lang="en-US" sz="1280" dirty="0"/>
          </a:p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derivado o sección distinta.</a:t>
            </a:r>
            <a:endParaRPr lang="en-US" sz="1280" dirty="0"/>
          </a:p>
        </p:txBody>
      </p:sp>
      <p:sp>
        <p:nvSpPr>
          <p:cNvPr id="20" name="Shape 17"/>
          <p:cNvSpPr/>
          <p:nvPr/>
        </p:nvSpPr>
        <p:spPr>
          <a:xfrm>
            <a:off x="7662672" y="2084832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754112" y="2212848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18704" y="221284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7918704" y="2578608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`https://.../cursos`</a:t>
            </a:r>
            <a:endParaRPr lang="en-US" sz="1280" dirty="0"/>
          </a:p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Dirección completa de un recurso.</a:t>
            </a:r>
            <a:endParaRPr lang="en-US" sz="1280" dirty="0"/>
          </a:p>
        </p:txBody>
      </p:sp>
      <p:sp>
        <p:nvSpPr>
          <p:cNvPr id="24" name="Shape 21"/>
          <p:cNvSpPr/>
          <p:nvPr/>
        </p:nvSpPr>
        <p:spPr>
          <a:xfrm>
            <a:off x="4681728" y="3858768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73168" y="3986784"/>
            <a:ext cx="109728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398678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IP</a:t>
            </a:r>
            <a:endParaRPr lang="en-US" sz="1420" dirty="0"/>
          </a:p>
        </p:txBody>
      </p:sp>
      <p:sp>
        <p:nvSpPr>
          <p:cNvPr id="27" name="Text 24"/>
          <p:cNvSpPr/>
          <p:nvPr/>
        </p:nvSpPr>
        <p:spPr>
          <a:xfrm>
            <a:off x="4937760" y="4352544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`192.0.2.10`</a:t>
            </a:r>
            <a:endParaRPr lang="en-US" sz="1280" dirty="0"/>
          </a:p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 numérico en la red.</a:t>
            </a:r>
            <a:endParaRPr lang="en-US" sz="1280" dirty="0"/>
          </a:p>
        </p:txBody>
      </p:sp>
      <p:sp>
        <p:nvSpPr>
          <p:cNvPr id="28" name="Shape 25"/>
          <p:cNvSpPr/>
          <p:nvPr/>
        </p:nvSpPr>
        <p:spPr>
          <a:xfrm>
            <a:off x="7662672" y="3858768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54112" y="3986784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18704" y="398678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Analogía útil</a:t>
            </a:r>
            <a:endParaRPr lang="en-US" sz="1420" dirty="0"/>
          </a:p>
        </p:txBody>
      </p:sp>
      <p:sp>
        <p:nvSpPr>
          <p:cNvPr id="31" name="Text 28"/>
          <p:cNvSpPr/>
          <p:nvPr/>
        </p:nvSpPr>
        <p:spPr>
          <a:xfrm>
            <a:off x="7918704" y="4352544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nombre visible con el que la gente ubica un local.</a:t>
            </a:r>
            <a:endParaRPr lang="en-US" sz="1280" dirty="0"/>
          </a:p>
        </p:txBody>
      </p:sp>
      <p:sp>
        <p:nvSpPr>
          <p:cNvPr id="32" name="Text 2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Nombre legible frente a dirección técnica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todo lo que vemos en la barra es el dominio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estos conceptos evita errores habituales al hablar de publicación.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04672" y="2084832"/>
            <a:ext cx="10570464" cy="3456432"/>
          </a:xfrm>
          <a:prstGeom prst="roundRect">
            <a:avLst>
              <a:gd name="adj" fmla="val 10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212848"/>
            <a:ext cx="1031443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86000"/>
            <a:ext cx="10094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Dentro de la barra hay piezas distintas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05840" y="2578608"/>
            <a:ext cx="10168128" cy="658368"/>
          </a:xfrm>
          <a:prstGeom prst="roundRect">
            <a:avLst>
              <a:gd name="adj" fmla="val 555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07008" y="2761488"/>
            <a:ext cx="9765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https://campus.example.com/cursos?id=2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078992" y="3310128"/>
            <a:ext cx="1662256" cy="45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10120" y="3355848"/>
            <a:ext cx="0" cy="14630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864400" y="3456432"/>
            <a:ext cx="91440" cy="9144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42416" y="3474720"/>
            <a:ext cx="1735408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33856" y="36027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98448" y="3602736"/>
            <a:ext cx="1369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Protocolo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1298448" y="3822192"/>
            <a:ext cx="1369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</a:t>
            </a:r>
            <a:endParaRPr lang="en-US" sz="1340" dirty="0"/>
          </a:p>
        </p:txBody>
      </p:sp>
      <p:sp>
        <p:nvSpPr>
          <p:cNvPr id="22" name="Text 19"/>
          <p:cNvSpPr/>
          <p:nvPr/>
        </p:nvSpPr>
        <p:spPr>
          <a:xfrm>
            <a:off x="1298448" y="4133088"/>
            <a:ext cx="1369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el esquema con que se abre la conexión.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2887552" y="3310128"/>
            <a:ext cx="1702447" cy="45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38776" y="3355848"/>
            <a:ext cx="0" cy="146304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93056" y="3456432"/>
            <a:ext cx="91440" cy="91440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50976" y="3474720"/>
            <a:ext cx="1775599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42416" y="3602736"/>
            <a:ext cx="91440" cy="13898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107008" y="3602736"/>
            <a:ext cx="140983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Subdominio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3107008" y="3822192"/>
            <a:ext cx="140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campus</a:t>
            </a:r>
            <a:endParaRPr lang="en-US" sz="1340" dirty="0"/>
          </a:p>
        </p:txBody>
      </p:sp>
      <p:sp>
        <p:nvSpPr>
          <p:cNvPr id="30" name="Text 27"/>
          <p:cNvSpPr/>
          <p:nvPr/>
        </p:nvSpPr>
        <p:spPr>
          <a:xfrm>
            <a:off x="3107008" y="4133088"/>
            <a:ext cx="140983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Apunta a una sección o servicio derivado.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4736303" y="3310128"/>
            <a:ext cx="2385680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929143" y="3355848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83423" y="3456432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699727" y="3474720"/>
            <a:ext cx="2458832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791167" y="3602736"/>
            <a:ext cx="91440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955759" y="3602736"/>
            <a:ext cx="2093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</a:t>
            </a:r>
            <a:endParaRPr lang="en-US" sz="980" dirty="0"/>
          </a:p>
        </p:txBody>
      </p:sp>
      <p:sp>
        <p:nvSpPr>
          <p:cNvPr id="37" name="Text 34"/>
          <p:cNvSpPr/>
          <p:nvPr/>
        </p:nvSpPr>
        <p:spPr>
          <a:xfrm>
            <a:off x="4955759" y="3822192"/>
            <a:ext cx="2093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example.com</a:t>
            </a:r>
            <a:endParaRPr lang="en-US" sz="1340" dirty="0"/>
          </a:p>
        </p:txBody>
      </p:sp>
      <p:sp>
        <p:nvSpPr>
          <p:cNvPr id="38" name="Text 35"/>
          <p:cNvSpPr/>
          <p:nvPr/>
        </p:nvSpPr>
        <p:spPr>
          <a:xfrm>
            <a:off x="4955759" y="4133088"/>
            <a:ext cx="2093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parte que nombra públicamente al sitio.</a:t>
            </a:r>
            <a:endParaRPr lang="en-US" sz="1040" dirty="0"/>
          </a:p>
        </p:txBody>
      </p:sp>
      <p:sp>
        <p:nvSpPr>
          <p:cNvPr id="39" name="Shape 36"/>
          <p:cNvSpPr/>
          <p:nvPr/>
        </p:nvSpPr>
        <p:spPr>
          <a:xfrm>
            <a:off x="7268287" y="3310128"/>
            <a:ext cx="1903398" cy="457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219986" y="3355848"/>
            <a:ext cx="0" cy="14630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74266" y="3456432"/>
            <a:ext cx="91440" cy="914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31711" y="3474720"/>
            <a:ext cx="197655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23151" y="36027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87743" y="3602736"/>
            <a:ext cx="16107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7487743" y="3822192"/>
            <a:ext cx="16107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/cursos</a:t>
            </a:r>
            <a:endParaRPr lang="en-US" sz="1340" dirty="0"/>
          </a:p>
        </p:txBody>
      </p:sp>
      <p:sp>
        <p:nvSpPr>
          <p:cNvPr id="46" name="Text 43"/>
          <p:cNvSpPr/>
          <p:nvPr/>
        </p:nvSpPr>
        <p:spPr>
          <a:xfrm>
            <a:off x="7487743" y="4133088"/>
            <a:ext cx="161079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al recurso o sección pedida.</a:t>
            </a:r>
            <a:endParaRPr lang="en-US" sz="1040" dirty="0"/>
          </a:p>
        </p:txBody>
      </p:sp>
      <p:sp>
        <p:nvSpPr>
          <p:cNvPr id="47" name="Shape 44"/>
          <p:cNvSpPr/>
          <p:nvPr/>
        </p:nvSpPr>
        <p:spPr>
          <a:xfrm>
            <a:off x="9317989" y="3310128"/>
            <a:ext cx="1782827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209402" y="3355848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163682" y="3456432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281413" y="3474720"/>
            <a:ext cx="1855979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372853" y="3602736"/>
            <a:ext cx="91440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537445" y="3602736"/>
            <a:ext cx="14902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Parámetro</a:t>
            </a:r>
            <a:endParaRPr lang="en-US" sz="980" dirty="0"/>
          </a:p>
        </p:txBody>
      </p:sp>
      <p:sp>
        <p:nvSpPr>
          <p:cNvPr id="53" name="Text 50"/>
          <p:cNvSpPr/>
          <p:nvPr/>
        </p:nvSpPr>
        <p:spPr>
          <a:xfrm>
            <a:off x="9537445" y="3822192"/>
            <a:ext cx="14902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?id=2</a:t>
            </a:r>
            <a:endParaRPr lang="en-US" sz="1340" dirty="0"/>
          </a:p>
        </p:txBody>
      </p:sp>
      <p:sp>
        <p:nvSpPr>
          <p:cNvPr id="54" name="Text 51"/>
          <p:cNvSpPr/>
          <p:nvPr/>
        </p:nvSpPr>
        <p:spPr>
          <a:xfrm>
            <a:off x="9537445" y="4133088"/>
            <a:ext cx="149021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un dato adicional a la solicitud.</a:t>
            </a:r>
            <a:endParaRPr lang="en-US" sz="1040" dirty="0"/>
          </a:p>
        </p:txBody>
      </p:sp>
      <p:sp>
        <p:nvSpPr>
          <p:cNvPr id="55" name="Text 52"/>
          <p:cNvSpPr/>
          <p:nvPr/>
        </p:nvSpPr>
        <p:spPr>
          <a:xfrm>
            <a:off x="1005840" y="5340096"/>
            <a:ext cx="10168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dominio es solo una parte de la URL completa, no toda la barra.</a:t>
            </a:r>
            <a:endParaRPr lang="en-US" sz="880" dirty="0"/>
          </a:p>
        </p:txBody>
      </p:sp>
      <p:sp>
        <p:nvSpPr>
          <p:cNvPr id="56" name="Shape 53"/>
          <p:cNvSpPr/>
          <p:nvPr/>
        </p:nvSpPr>
        <p:spPr>
          <a:xfrm>
            <a:off x="1005840" y="5650992"/>
            <a:ext cx="438912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97280" y="5779008"/>
            <a:ext cx="109728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261872" y="576072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320" dirty="0"/>
          </a:p>
        </p:txBody>
      </p:sp>
      <p:sp>
        <p:nvSpPr>
          <p:cNvPr id="59" name="Text 56"/>
          <p:cNvSpPr/>
          <p:nvPr/>
        </p:nvSpPr>
        <p:spPr>
          <a:xfrm>
            <a:off x="1261872" y="59436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siendo el destino técnico donde vive la aplicación o el recurso.</a:t>
            </a:r>
            <a:endParaRPr lang="en-US" sz="1080" dirty="0"/>
          </a:p>
        </p:txBody>
      </p:sp>
      <p:sp>
        <p:nvSpPr>
          <p:cNvPr id="60" name="Shape 57"/>
          <p:cNvSpPr/>
          <p:nvPr/>
        </p:nvSpPr>
        <p:spPr>
          <a:xfrm>
            <a:off x="5669280" y="5650992"/>
            <a:ext cx="4389120" cy="566928"/>
          </a:xfrm>
          <a:prstGeom prst="roundRect">
            <a:avLst>
              <a:gd name="adj" fmla="val 6452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760720" y="5779008"/>
            <a:ext cx="109728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925312" y="576072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Registro</a:t>
            </a:r>
            <a:endParaRPr lang="en-US" sz="1320" dirty="0"/>
          </a:p>
        </p:txBody>
      </p:sp>
      <p:sp>
        <p:nvSpPr>
          <p:cNvPr id="63" name="Text 60"/>
          <p:cNvSpPr/>
          <p:nvPr/>
        </p:nvSpPr>
        <p:spPr>
          <a:xfrm>
            <a:off x="5925312" y="59436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Comprar un dominio no publica la app por sí solo ni reemplaza hosting o despliegue.</a:t>
            </a:r>
            <a:endParaRPr lang="en-US" sz="1080" dirty="0"/>
          </a:p>
        </p:txBody>
      </p:sp>
      <p:sp>
        <p:nvSpPr>
          <p:cNvPr id="64" name="Text 6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Dominio, URL y servidor no son lo mismo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analogía útil: pensar en un local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reemplaza lo técnico, pero ayuda a separar funciones sin mezclar conceptos.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3072384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9385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24912"/>
            <a:ext cx="2706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nombre visible o dirección pública con la que la gente encuentra el lugar.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986784" y="2212848"/>
            <a:ext cx="3072384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78224" y="2340864"/>
            <a:ext cx="109728" cy="19385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42816" y="2340864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242816" y="2724912"/>
            <a:ext cx="2706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espacio real o infraestructura donde el servicio efectivamente existe.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23760" y="2212848"/>
            <a:ext cx="3072384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0" y="2340864"/>
            <a:ext cx="109728" cy="19385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79792" y="2340864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706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proceso de instalar, ordenar y dejar todo listo para atender público.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152144" y="4773168"/>
            <a:ext cx="9838944" cy="868680"/>
          </a:xfrm>
          <a:prstGeom prst="roundRect">
            <a:avLst>
              <a:gd name="adj" fmla="val 421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243584" y="4901184"/>
            <a:ext cx="109728" cy="6126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408176" y="4919472"/>
            <a:ext cx="9473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Punto clave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408176" y="5175504"/>
            <a:ext cx="947318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una de estas piezas no implica automáticamente cambiar las otras. Por eso conviene nombrarlas con precisión.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Analogía para distinguir roles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Hosting: el lugar donde vive la aplicación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 no conviene pensarlo solo como "subir archivos"; también es entorno, servicios y disponibilidad.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794760" cy="3337560"/>
          </a:xfrm>
          <a:prstGeom prst="roundRect">
            <a:avLst>
              <a:gd name="adj" fmla="val 21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2670048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la infraestructura donde quedan alojados los archivos, recursos o procesos que permiten que la app exista en Internet.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024128" y="45262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incluir archivos, un servidor de aplicaciones, una base de datos, variables de entorno, certificados y procesos en ejecución.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28032" y="2084832"/>
            <a:ext cx="274320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19472" y="2212848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84064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Sitio estático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84064" y="25968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archivos ya preparados: HTML, CSS, JavaScript del cliente e imágenes.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882128" y="2084832"/>
            <a:ext cx="274320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73568" y="2212848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38160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 dinámica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38160" y="25968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Además de archivos, ejecuta lógica en servidor, usa datos y responde según cada solicitud.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828032" y="3913632"/>
            <a:ext cx="5797296" cy="1664208"/>
          </a:xfrm>
          <a:prstGeom prst="roundRect">
            <a:avLst>
              <a:gd name="adj" fmla="val 2198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19472" y="4041648"/>
            <a:ext cx="109728" cy="140817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84064" y="4041648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actual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084064" y="4425696"/>
            <a:ext cx="5431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2026, hosting también puede significar plataformas cloud, servicios administrados, contenedores y despliegues automáticos. No se reduce a FTP ni a copiar archivos a mano.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Infraestructura y disponibilidad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puede vivir dentro del hosting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 del proyecto, pero el entorno publicado suele reunir varias piezas al mismo tiempo.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34086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3408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7280" y="270662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HTML, CSS y JavaScript que ve el navegador.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785616" y="221284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77056" y="2340864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41648" y="23408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41648" y="270662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Imágenes, PDFs, videos y otros recursos.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729984" y="221284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21424" y="2340864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408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70662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Procesos que ejecutan lógica de aplicación.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41248" y="385876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2688" y="398678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97280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97280" y="435254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de datos o servicios persistentes.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785616" y="385876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77056" y="398678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041648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Configuración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041648" y="435254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Variables, puertos, rutas y ajustes del entorno.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729984" y="385876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821424" y="3986784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86016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Servicios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86016" y="435254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Certificados, colas, APIs y piezas conectadas.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Componentes habituales del entorno publicado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 estático y hosting dinámico no resuelven lo mismo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no es de moda: depende del comportamiento que necesita la aplicación.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76272"/>
            <a:ext cx="493776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04288"/>
            <a:ext cx="109728" cy="2350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04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 estático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06624"/>
            <a:ext cx="45720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archivos ya construidos.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servir bien para portafolios, landing pages, documentación y sitios donde el navegador hace casi todo el trabajo.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25312" y="2176272"/>
            <a:ext cx="5303520" cy="2606040"/>
          </a:xfrm>
          <a:prstGeom prst="roundRect">
            <a:avLst>
              <a:gd name="adj" fmla="val 140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16752" y="2304288"/>
            <a:ext cx="109728" cy="235000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81344" y="23042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 dinámico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81344" y="2706624"/>
            <a:ext cx="493776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Además de entregar archivos, ejecuta lógica y responde distinto según cada solicitud.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 cuando hay login, datos, paneles, APIs o procesos del lado servidor.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389888" y="5230368"/>
            <a:ext cx="9418320" cy="384048"/>
          </a:xfrm>
          <a:prstGeom prst="roundRect">
            <a:avLst>
              <a:gd name="adj" fmla="val 9524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00784" y="5340096"/>
            <a:ext cx="8796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Elegir bien el entorno evita pagar complejidad donde no hace falta o quedarse corto donde sí la hace.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Tipo de hosting según el comportamiento de la app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Despliegue: publicar una versión utilizable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aplicación no llega sola a Internet; hay un proceso técnico que la prepara, publica y verifica.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2697480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49424"/>
            <a:ext cx="109728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494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Preparar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Compilar, ordenar archivos o dejar lista una versión del proyecto.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30752" y="2121408"/>
            <a:ext cx="2697480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249424"/>
            <a:ext cx="109728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86784" y="22494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986784" y="2633472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Mover la versión a la plataforma o servidor donde quedará disponible.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11696" y="2121408"/>
            <a:ext cx="2697480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03136" y="2249424"/>
            <a:ext cx="109728" cy="135331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67728" y="22494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967728" y="2633472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que responde bien, usa la configuración correcta y quedó estable.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49808" y="3858768"/>
            <a:ext cx="38404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398678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implica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05840" y="4370832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Desplegar no siempre es "subir archivos". También puede incluir dependencias, variables de entorno, servicios externos y automatizaciones.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892040" y="3858768"/>
            <a:ext cx="5715000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83480" y="3986784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8072" y="3986784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48072" y="437083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Desarrollo local: donde programamos.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Staging o prueba: donde validamos una versión.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Producción: donde acceden los usuarios reales.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Publicar con criterio técnico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Desplegar implica una lista de tareas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Pensarlo como proceso reduce errores y ayuda a revisar en qué etapa puede haberse roto algo.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67712"/>
            <a:ext cx="315468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95728"/>
            <a:ext cx="109728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95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Preparar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76148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Construir o dejar lista la versión que se publicará.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078224" y="2267712"/>
            <a:ext cx="315468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69664" y="2395728"/>
            <a:ext cx="109728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34256" y="2395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Dependencias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334256" y="276148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Asegurar librerías, paquetes y recursos necesarios.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06640" y="2267712"/>
            <a:ext cx="315468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0" y="2395728"/>
            <a:ext cx="109728" cy="113385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62672" y="2395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Configurar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662672" y="276148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Definir variables, servicios, rutas o credenciales.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1792224" y="3986784"/>
            <a:ext cx="379476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83664" y="4114800"/>
            <a:ext cx="109728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048256" y="4114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Publicar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048256" y="4480560"/>
            <a:ext cx="3429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Mover la versión al entorno donde quedará disponible.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0" y="3986784"/>
            <a:ext cx="379476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75120" y="4114800"/>
            <a:ext cx="109728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39712" y="4114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Verificar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39712" y="4480560"/>
            <a:ext cx="3429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que responde bien y quedó estable.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280160" y="5486400"/>
            <a:ext cx="9564624" cy="402336"/>
          </a:xfrm>
          <a:prstGeom prst="roundRect">
            <a:avLst>
              <a:gd name="adj" fmla="val 909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426464" y="5559552"/>
            <a:ext cx="164592" cy="25603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755648" y="5586984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 útil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456432" y="5586984"/>
            <a:ext cx="6839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verificación, un despliegue no está realmente terminado.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Checklist mental para publicar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despliegue puede ser manual o automático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no es memorizar herramientas ahora, sino entender las dos lógicas de trabajo.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57984"/>
            <a:ext cx="498348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86000"/>
            <a:ext cx="109728" cy="1527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860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70048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ejecuta los pasos: prepara la versión, la publica y revisa el resultado de forma directa.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943600" y="2157984"/>
            <a:ext cx="4983480" cy="1783080"/>
          </a:xfrm>
          <a:prstGeom prst="roundRect">
            <a:avLst>
              <a:gd name="adj" fmla="val 205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35040" y="2286000"/>
            <a:ext cx="109728" cy="1527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99632" y="22860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Automático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99632" y="2670048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cambio en el repositorio o una acción programada dispara una secuencia que prepara, publica y valida. Esto funciona mejor cuando intención, restricciones y pasos ya están claros.</a:t>
            </a:r>
            <a:endParaRPr lang="en-US" sz="1340" dirty="0"/>
          </a:p>
        </p:txBody>
      </p:sp>
      <p:sp>
        <p:nvSpPr>
          <p:cNvPr id="18" name="Text 15"/>
          <p:cNvSpPr/>
          <p:nvPr/>
        </p:nvSpPr>
        <p:spPr>
          <a:xfrm>
            <a:off x="786384" y="42793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Entornos habituales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60120" y="4608576"/>
            <a:ext cx="252374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51560" y="4736592"/>
            <a:ext cx="109728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16152" y="473659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216152" y="4992624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programamos y probamos primero.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639312" y="4919472"/>
            <a:ext cx="310896" cy="32918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041648" y="4608576"/>
            <a:ext cx="252374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133088" y="4736592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297680" y="473659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Staging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297680" y="4992624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validamos antes de producción.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720840" y="4919472"/>
            <a:ext cx="310896" cy="32918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23176" y="4608576"/>
            <a:ext cx="252374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14616" y="4736592"/>
            <a:ext cx="109728" cy="80467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79208" y="473659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Producción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7379208" y="4992624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entran los usuarios reales.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822960" y="5833872"/>
            <a:ext cx="9985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moderno: especificar qué se quiere publicar, dejar claras las restricciones y verificar el resultado después de automatizar.</a:t>
            </a:r>
            <a:endParaRPr lang="en-US" sz="114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Formas de publicar y entornos de trabajo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mismo "no funciona" puede significar cosas distintas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clave es asociar cada síntoma con la capa que conviene revisar primero.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0428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encuentra el sitio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revisar dominio y DNS antes de culpar a la aplicación.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2304288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 una versión vieja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53912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haber un despliegue incompleto o una actualización no aplicada.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808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248" y="3950208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Abre, pero falla al usarlo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05840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puede estar en la app, en datos o en servicios conectados.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897880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9320" y="395020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cae de forma intermitente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53912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apuntar a hosting, recursos insuficientes o procesos inestables.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Diagnóstico básico por capas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guiado: publicar un portafolio personal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escala es simple, pero la lógica del proceso es la misma que veremos en proyectos mayores.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Desarrollar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706624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construye y prueba en el equipo local.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712464" y="2212848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03904" y="2340864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68496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Elegir hosting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68496" y="2706624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define dónde quedarán los archivos publicados.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75120" y="2212848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66560" y="2340864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31152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Asociar dominio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31152" y="2706624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decide con qué nombre público entrarán las personas.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3895344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23360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Configurar DNS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389120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Ese nombre debe apuntar al destino correcto.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712464" y="3895344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03904" y="4023360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68496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Desplegar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968496" y="4389120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publica la versión actual del proyecto.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675120" y="3895344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4023360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Verificar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31152" y="4389120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comprueba que cargue bien cada vez que hay cambios.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637776" y="2212848"/>
            <a:ext cx="1645920" cy="3008376"/>
          </a:xfrm>
          <a:prstGeom prst="roundRect">
            <a:avLst>
              <a:gd name="adj" fmla="val 33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2468880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9838944" y="2926080"/>
            <a:ext cx="1225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Aunque cambien las herramientas, la relación entre nombre, infraestructura y despliegue sigue siendo esencial.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Ejemplo simple con lógica real de publicación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 se conectan dominio, hosting y despliegue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es entender la cadena completa, no memorizar herramientas aisladas.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10698480" cy="3730752"/>
          </a:xfrm>
          <a:prstGeom prst="roundRect">
            <a:avLst>
              <a:gd name="adj" fmla="val 9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31136"/>
            <a:ext cx="104424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04288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publicación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24912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43200"/>
            <a:ext cx="182880" cy="18288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788920"/>
            <a:ext cx="182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316736" y="2734056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local</a:t>
            </a:r>
            <a:endParaRPr lang="en-US" sz="1240" dirty="0"/>
          </a:p>
        </p:txBody>
      </p:sp>
      <p:sp>
        <p:nvSpPr>
          <p:cNvPr id="18" name="Text 15"/>
          <p:cNvSpPr/>
          <p:nvPr/>
        </p:nvSpPr>
        <p:spPr>
          <a:xfrm>
            <a:off x="1115568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app se desarrolla y prueba.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3319272" y="3118104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593592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F2E7D9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66744" y="2724912"/>
            <a:ext cx="82296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758184" y="2743200"/>
            <a:ext cx="182880" cy="18288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758184" y="2788920"/>
            <a:ext cx="182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3995928" y="2734056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</a:t>
            </a:r>
            <a:endParaRPr lang="en-US" sz="1240" dirty="0"/>
          </a:p>
        </p:txBody>
      </p:sp>
      <p:sp>
        <p:nvSpPr>
          <p:cNvPr id="25" name="Text 22"/>
          <p:cNvSpPr/>
          <p:nvPr/>
        </p:nvSpPr>
        <p:spPr>
          <a:xfrm>
            <a:off x="3794760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publica una versión lista.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5998464" y="3118104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72784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5936" y="2724912"/>
            <a:ext cx="82296" cy="10607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37376" y="2743200"/>
            <a:ext cx="182880" cy="182880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37376" y="2788920"/>
            <a:ext cx="182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675120" y="2734056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240" dirty="0"/>
          </a:p>
        </p:txBody>
      </p:sp>
      <p:sp>
        <p:nvSpPr>
          <p:cNvPr id="32" name="Text 29"/>
          <p:cNvSpPr/>
          <p:nvPr/>
        </p:nvSpPr>
        <p:spPr>
          <a:xfrm>
            <a:off x="6473952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la aloja.</a:t>
            </a:r>
            <a:endParaRPr lang="en-US" sz="980" dirty="0"/>
          </a:p>
        </p:txBody>
      </p:sp>
      <p:sp>
        <p:nvSpPr>
          <p:cNvPr id="33" name="Shape 30"/>
          <p:cNvSpPr/>
          <p:nvPr/>
        </p:nvSpPr>
        <p:spPr>
          <a:xfrm>
            <a:off x="8677656" y="3118104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51976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25128" y="2724912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116568" y="2743200"/>
            <a:ext cx="182880" cy="18288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16568" y="2788920"/>
            <a:ext cx="182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20" dirty="0"/>
          </a:p>
        </p:txBody>
      </p:sp>
      <p:sp>
        <p:nvSpPr>
          <p:cNvPr id="38" name="Text 35"/>
          <p:cNvSpPr/>
          <p:nvPr/>
        </p:nvSpPr>
        <p:spPr>
          <a:xfrm>
            <a:off x="9354312" y="2734056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 + DNS</a:t>
            </a:r>
            <a:endParaRPr lang="en-US" sz="1240" dirty="0"/>
          </a:p>
        </p:txBody>
      </p:sp>
      <p:sp>
        <p:nvSpPr>
          <p:cNvPr id="39" name="Text 36"/>
          <p:cNvSpPr/>
          <p:nvPr/>
        </p:nvSpPr>
        <p:spPr>
          <a:xfrm>
            <a:off x="9153144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nombre guía el tráfico al destino correcto.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914400" y="4187952"/>
            <a:ext cx="5102352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87552" y="4297680"/>
            <a:ext cx="91440" cy="12435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152144" y="4297680"/>
            <a:ext cx="4773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una capa falla</a:t>
            </a:r>
            <a:endParaRPr lang="en-US" sz="1140" dirty="0"/>
          </a:p>
        </p:txBody>
      </p:sp>
      <p:sp>
        <p:nvSpPr>
          <p:cNvPr id="43" name="Text 40"/>
          <p:cNvSpPr/>
          <p:nvPr/>
        </p:nvSpPr>
        <p:spPr>
          <a:xfrm>
            <a:off x="1152144" y="4572000"/>
            <a:ext cx="47731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 mal configurado, DNS apuntando mal, hosting caído o despliegue incompleto pueden romper el acceso.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181344" y="4187952"/>
            <a:ext cx="5102352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254496" y="4297680"/>
            <a:ext cx="91440" cy="124358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419088" y="4297680"/>
            <a:ext cx="4773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simple</a:t>
            </a:r>
            <a:endParaRPr lang="en-US" sz="1140" dirty="0"/>
          </a:p>
        </p:txBody>
      </p:sp>
      <p:sp>
        <p:nvSpPr>
          <p:cNvPr id="47" name="Text 44"/>
          <p:cNvSpPr/>
          <p:nvPr/>
        </p:nvSpPr>
        <p:spPr>
          <a:xfrm>
            <a:off x="6419088" y="4572000"/>
            <a:ext cx="47731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portafolio se construye en local, se publica, se asocia a un dominio y se verifica después de cada cambio.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Cadena completa de publicación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95560" y="201168"/>
            <a:ext cx="1371600" cy="1371600"/>
          </a:xfrm>
          <a:prstGeom prst="ellipse">
            <a:avLst/>
          </a:prstGeom>
          <a:solidFill>
            <a:srgbClr val="D62027">
              <a:alpha val="92000"/>
            </a:srgbClr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41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45920"/>
            <a:ext cx="5440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Dominio, hosting y despliegue no son sinónimos: son piezas distintas que hacen posible que una aplicación exista públicamente en Internet.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1865376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56832" y="1865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656832" y="2121408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una aplicación puede funcionar en local y aun así no estar publicada?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0" y="2944368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3072384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30723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656832" y="332841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hay entre un dominio, una URL completa y una dirección IP?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400800" y="4151376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27939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427939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56832" y="4535424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aparece si el proyecto está bien hecho, pero el dominio o DNS están mal configurados?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786384" y="5623560"/>
            <a:ext cx="1783080" cy="310896"/>
          </a:xfrm>
          <a:prstGeom prst="roundRect">
            <a:avLst>
              <a:gd name="adj" fmla="val 1470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566013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Sigue: seguridad básica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761488" y="568756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bloque veremos cómo publicar y navegar con más criterio y menos riesgo.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básica y criterio al publicar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Cerramos la clase entendiendo que una app no solo debe funcionar: también debe publicarse con responsabilidad técnica desde la conexión hasta los secretos del proyecto.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Conexión segura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lo mismo HTTP que HTTPS cuando una aplicación circula por Internet.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Secretos y acceso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Credenciales, claves y permisos no deberían quedar expuestos.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 al publicar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una app cargue bien no significa que esté bien publicada.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del bloque es pasar de una mirada técnica básica a una mirada más responsable sobre lo que significa dejar una aplicación expuesta en la Web.</a:t>
            </a:r>
            <a:endParaRPr lang="en-US" sz="122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seguridad acompaña todo el proceso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un parche final: cambia de sentido cuando la app pasa de local a Internet.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977640" cy="3547872"/>
          </a:xfrm>
          <a:prstGeom prst="roundRect">
            <a:avLst>
              <a:gd name="adj" fmla="val 206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base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2633472"/>
            <a:ext cx="31546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 una aplicación significa hacerla visible y utilizable, pero también más vulnerable si no se toman precauciones básicas.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024128" y="457200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se relaciona con datos, acceso, credenciales, formularios, rutas expuestas y confianza del entorno publicado.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10912" y="2103120"/>
            <a:ext cx="5504688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02352" y="2231136"/>
            <a:ext cx="109728" cy="13167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66944" y="2231136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Cuando una app ya está publicada...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266944" y="2560320"/>
            <a:ext cx="5138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en contacto con usuarios reales, tráfico real, errores reales e intentos de acceso no deseado.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010912" y="3913632"/>
            <a:ext cx="5504688" cy="1719072"/>
          </a:xfrm>
          <a:prstGeom prst="roundRect">
            <a:avLst>
              <a:gd name="adj" fmla="val 2128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2352" y="4041648"/>
            <a:ext cx="109728" cy="14630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66944" y="4041648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mínimas que conviene hacerse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66944" y="4425696"/>
            <a:ext cx="5138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datos maneja la app?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puede acceder?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se protegen las credenciales?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 si alguien usa mal un formulario o una ruta expuesta?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Seguridad como criterio transversal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 cambia el nivel de exposición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en local parece controlado, en Internet entra en contacto con otras personas, tráfico real y uso imprevisto.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980236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67712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4086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de superficie al publicar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88336"/>
            <a:ext cx="2688336" cy="2322576"/>
          </a:xfrm>
          <a:prstGeom prst="roundRect">
            <a:avLst>
              <a:gd name="adj" fmla="val 15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2834640"/>
            <a:ext cx="109728" cy="20299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28529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local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acotado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243584" y="3931920"/>
            <a:ext cx="2011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7EE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app vive en el equipo del desarrollador y solemos mirarla casi solo desde el criterio de si funciona o no.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3877056" y="3529584"/>
            <a:ext cx="1060704" cy="658368"/>
          </a:xfrm>
          <a:prstGeom prst="roundRect">
            <a:avLst>
              <a:gd name="adj" fmla="val 1111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950208" y="36941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a Internet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3950208" y="4443984"/>
            <a:ext cx="914400" cy="31089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30368" y="2688336"/>
            <a:ext cx="5468112" cy="2322576"/>
          </a:xfrm>
          <a:prstGeom prst="roundRect">
            <a:avLst>
              <a:gd name="adj" fmla="val 157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58384" y="2834640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14416" y="2852928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Publicado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14416" y="3163824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Exposición real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614416" y="3822192"/>
            <a:ext cx="4937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Aparecen personas, bots, tráfico real, configuraciones visibles y usos que no siempre fueron previstos durante el desarrollo.</a:t>
            </a:r>
            <a:endParaRPr lang="en-US" sz="1280" dirty="0"/>
          </a:p>
        </p:txBody>
      </p:sp>
      <p:sp>
        <p:nvSpPr>
          <p:cNvPr id="26" name="Shape 23"/>
          <p:cNvSpPr/>
          <p:nvPr/>
        </p:nvSpPr>
        <p:spPr>
          <a:xfrm>
            <a:off x="950976" y="5175504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5221224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empieza antes de un ataque complejo: basta con una clave expuesta, una ruta abierta o una mala configuración.</a:t>
            </a:r>
            <a:endParaRPr lang="en-US" sz="880" dirty="0"/>
          </a:p>
        </p:txBody>
      </p:sp>
      <p:sp>
        <p:nvSpPr>
          <p:cNvPr id="28" name="Text 2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Publicar amplía la superficie de riesgo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mínimas antes de publicar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resuelven toda la seguridad, pero sí obligan a pensar con más criterio técnico.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9802368" cy="3438144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67712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4086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Checklist mínimo antes de publicar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51760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779776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825496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17904" y="2779776"/>
            <a:ext cx="73152" cy="8686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19072" y="2798064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datos maneja?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19072" y="3090672"/>
            <a:ext cx="371246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igual mostrar contenido público que procesar formularios, credenciales o información de contacto.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5742432" y="2651760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52160" y="2779776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2825496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400800" y="2779776"/>
            <a:ext cx="73152" cy="8686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01968" y="2798064"/>
            <a:ext cx="3675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¿Quién puede entrar?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601968" y="3090672"/>
            <a:ext cx="36758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distinguir acceso público, usuarios autenticados y espacios reservados para administración.</a:t>
            </a:r>
            <a:endParaRPr lang="en-US" sz="1220" dirty="0"/>
          </a:p>
        </p:txBody>
      </p:sp>
      <p:sp>
        <p:nvSpPr>
          <p:cNvPr id="25" name="Shape 22"/>
          <p:cNvSpPr/>
          <p:nvPr/>
        </p:nvSpPr>
        <p:spPr>
          <a:xfrm>
            <a:off x="896112" y="3941064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05840" y="406908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05840" y="411480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Secretos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069080"/>
            <a:ext cx="73152" cy="8686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08736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¿Dónde están las credenciales?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379976"/>
            <a:ext cx="35661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clave visible en código, capturas o repositorios públicos ya es un problema aunque la interfaz se vea bien.</a:t>
            </a:r>
            <a:endParaRPr lang="en-US" sz="1220" dirty="0"/>
          </a:p>
        </p:txBody>
      </p:sp>
      <p:sp>
        <p:nvSpPr>
          <p:cNvPr id="31" name="Shape 28"/>
          <p:cNvSpPr/>
          <p:nvPr/>
        </p:nvSpPr>
        <p:spPr>
          <a:xfrm>
            <a:off x="5742432" y="3941064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52160" y="406908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52160" y="411480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real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510528" y="4069080"/>
            <a:ext cx="73152" cy="8686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711696" y="408736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se usa mal?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711696" y="4379976"/>
            <a:ext cx="35661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Hay que pensar en formularios, rutas de prueba, configuraciones incompletas y acceso no previsto.</a:t>
            </a:r>
            <a:endParaRPr lang="en-US" sz="1220" dirty="0"/>
          </a:p>
        </p:txBody>
      </p:sp>
      <p:sp>
        <p:nvSpPr>
          <p:cNvPr id="37" name="Shape 34"/>
          <p:cNvSpPr/>
          <p:nvPr/>
        </p:nvSpPr>
        <p:spPr>
          <a:xfrm>
            <a:off x="950976" y="5193792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0704" y="5239512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no resuelven toda la seguridad, pero mejoran mucho el criterio antes de compartir un enlace.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Preguntas de activación y revisión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HTTP, HTTPS y confianza mínima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conexión importa, especialmente cuando una app empieza a manejar formularios, sesiones o datos sensibles.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283464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560320"/>
            <a:ext cx="24688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 la comunicación entre cliente y servidor, pero no agrega por sí mismo una capa moderna de protección a la conexión.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858768" y="2103120"/>
            <a:ext cx="283464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50208" y="2231136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2311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114800" y="2560320"/>
            <a:ext cx="24688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 una capa de protección para que la comunicación viaje cifrada y sea más difícil de interceptar o manipular.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95160" y="2103120"/>
            <a:ext cx="3547872" cy="1828800"/>
          </a:xfrm>
          <a:prstGeom prst="roundRect">
            <a:avLst>
              <a:gd name="adj" fmla="val 3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9480" y="2286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mental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269480" y="26700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una aplicación va a circular por Internet, la seguridad de la conexión importa.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49808" y="4224528"/>
            <a:ext cx="4709160" cy="1444752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" y="4352544"/>
            <a:ext cx="109728" cy="1188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435254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aporta HTTPS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05840" y="4681728"/>
            <a:ext cx="4343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Protege mejor contraseñas, formularios y cierta información en tránsito, además de construir una confianza mínima para el usuario.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760720" y="4224528"/>
            <a:ext cx="4782312" cy="1444752"/>
          </a:xfrm>
          <a:prstGeom prst="roundRect">
            <a:avLst>
              <a:gd name="adj" fmla="val 2532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852160" y="4352544"/>
            <a:ext cx="109728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16752" y="435254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significa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016752" y="4681728"/>
            <a:ext cx="44165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 un candado no vuelve perfecto a un sitio. Solo indica que existe una capa de protección en la conexión y un certificado asociado.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Conexión segura y confianza básica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señales solemos ver en el navegador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sustituyen el análisis técnico, pero ayudan a formar un criterio inicial al abrir un sitio.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3127248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HTTPS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24912"/>
            <a:ext cx="2761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aparecer la conexión segura, el navegador no lanza advertencias básicas y el envío de formularios tiene una base mínima de confianza.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169664" y="2212848"/>
            <a:ext cx="3127248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61104" y="234086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25696" y="234086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HTTPS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25696" y="2724912"/>
            <a:ext cx="2761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puede marcar el sitio como no seguro y el usuario percibe un riesgo inmediato al interactuar.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589520" y="2212848"/>
            <a:ext cx="2962656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0" y="234086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45552" y="234086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correcta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724912"/>
            <a:ext cx="2596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señal del navegador orienta, pero no reemplaza revisar cómo está hecha la aplicación.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133856" y="4407408"/>
            <a:ext cx="9189720" cy="1005840"/>
          </a:xfrm>
          <a:prstGeom prst="roundRect">
            <a:avLst>
              <a:gd name="adj" fmla="val 3636"/>
            </a:avLst>
          </a:prstGeom>
          <a:solidFill>
            <a:srgbClr val="EEF7F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225296" y="4535424"/>
            <a:ext cx="109728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389888" y="4553712"/>
            <a:ext cx="8823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práctica para estudiantes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389888" y="4809744"/>
            <a:ext cx="8823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 proyecto publicado va a pedir datos o formularios, no deberíamos normalizar que viaje sin una conexión segura.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Señales visibles y criterio inicial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candado no significa "sitio perfecto"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 mejora la conexión, pero no resuelve por sí solo todos los problemas de seguridad.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4681728" cy="224028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9842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sí aporta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43200"/>
            <a:ext cx="4315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Cifra mejor la comunicación.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ciertos riesgos de interceptación.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Aporta una base mínima de confianza para navegar e ingresar datos.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705856" y="2212848"/>
            <a:ext cx="4864608" cy="2240280"/>
          </a:xfrm>
          <a:prstGeom prst="roundRect">
            <a:avLst>
              <a:gd name="adj" fmla="val 163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97296" y="2340864"/>
            <a:ext cx="109728" cy="1984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61888" y="2340864"/>
            <a:ext cx="4498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garantiza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61888" y="2743200"/>
            <a:ext cx="449884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corrige claves expuestas.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soluciona rutas de prueba abiertas.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vuelve segura una aplicación con mala lógica o mala configuración.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280160" y="4882896"/>
            <a:ext cx="8869680" cy="420624"/>
          </a:xfrm>
          <a:prstGeom prst="roundRect">
            <a:avLst>
              <a:gd name="adj" fmla="val 869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5010912"/>
            <a:ext cx="8193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Conclusión: HTTPS es condición importante, pero no es seguridad total.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Límites de una sola medida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Credenciales, autenticación y secretos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toda la información tiene el mismo nivel de sensibilidad cuando un proyecto se publica.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246120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12848"/>
            <a:ext cx="109728" cy="13167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128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542032"/>
            <a:ext cx="2880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que permiten identificarse o acceder: contraseñas, claves de API, tokens o cadenas de conexión.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279392" y="2084832"/>
            <a:ext cx="3246120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70832" y="2212848"/>
            <a:ext cx="109728" cy="13167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35424" y="22128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Autenticación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35424" y="2542032"/>
            <a:ext cx="2880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 mediante el cual un sistema verifica quién eres antes de entregarte acceso.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808976" y="2084832"/>
            <a:ext cx="2743200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00416" y="2212848"/>
            <a:ext cx="109728" cy="13167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65008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Autorización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65008" y="2542032"/>
            <a:ext cx="2377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Decisión sobre lo que puedes o no puedes hacer una vez autenticado.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808" y="3913632"/>
            <a:ext cx="4251960" cy="1755648"/>
          </a:xfrm>
          <a:prstGeom prst="roundRect">
            <a:avLst>
              <a:gd name="adj" fmla="val 208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41648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4164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no debería quedar expuesto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05840" y="4425696"/>
            <a:ext cx="3886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Contraseñas.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Claves de API.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Credenciales de administración.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Secretos incrustados en código público.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303520" y="3913632"/>
            <a:ext cx="5239512" cy="1755648"/>
          </a:xfrm>
          <a:prstGeom prst="roundRect">
            <a:avLst>
              <a:gd name="adj" fmla="val 208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394960" y="4041648"/>
            <a:ext cx="109728" cy="14996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41648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Práctica mínima recomendable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559552" y="4425696"/>
            <a:ext cx="48737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compartir claves por canales inseguros. No pegarlas en capturas, repositorios públicos ni agentes sin control. No asumir que un proyecto pequeño pasa desapercibido.</a:t>
            </a:r>
            <a:endParaRPr lang="en-US" sz="132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Acceso, identidad y secretos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tipo de información no debería quedar expuesta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a clasificar datos sensibles es parte del criterio profesional mínimo.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Contraseñas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70662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deberían circular visibles en proyectos o capturas.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712464" y="2212848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03904" y="2340864"/>
            <a:ext cx="109728" cy="10972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68496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de API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68496" y="270662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Dan acceso a servicios externos y pueden generar costos o abuso.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75120" y="2212848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66560" y="2340864"/>
            <a:ext cx="109728" cy="10972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31152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31152" y="270662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Pueden representar sesiones, acceso o automatizaciones activas.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3877056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05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Conexión a base de datos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370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Exponerla puede comprometer datos y administración.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712464" y="3877056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03904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68496" y="4005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 de administración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968496" y="4370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Afectan el control completo del proyecto o servicio.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675120" y="3877056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4005072"/>
            <a:ext cx="109728" cy="10972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4005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de entorno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31152" y="4370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Suelen contener variables sensibles que no deberían quedar públicas.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Tipos de datos con mayor sensibilidad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Credenciales, autenticación y autorización no son lo mismo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estas ideas ayuda a leer mejor cómo funciona un sistema cuando alguien intenta entrar.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86384" y="2157984"/>
            <a:ext cx="9747504" cy="3438144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286000"/>
            <a:ext cx="949147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2359152"/>
            <a:ext cx="9272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mínima de acceso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32688" y="2688336"/>
            <a:ext cx="301752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47872" y="2779776"/>
            <a:ext cx="256032" cy="201168"/>
          </a:xfrm>
          <a:prstGeom prst="roundRect">
            <a:avLst>
              <a:gd name="adj" fmla="val 2272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47872" y="2834640"/>
            <a:ext cx="256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060704" y="2852928"/>
            <a:ext cx="91440" cy="12984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43584" y="28529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243584" y="3163824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dato usado para presentarse: usuario, contraseña, token o clave.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3995928" y="3511296"/>
            <a:ext cx="109728" cy="237744"/>
          </a:xfrm>
          <a:prstGeom prst="chevron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51376" y="2688336"/>
            <a:ext cx="301752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2779776"/>
            <a:ext cx="256032" cy="201168"/>
          </a:xfrm>
          <a:prstGeom prst="roundRect">
            <a:avLst>
              <a:gd name="adj" fmla="val 22727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834640"/>
            <a:ext cx="256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4279392" y="2852928"/>
            <a:ext cx="91440" cy="12984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28529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Autenticación</a:t>
            </a:r>
            <a:endParaRPr lang="en-US" sz="1380" dirty="0"/>
          </a:p>
        </p:txBody>
      </p:sp>
      <p:sp>
        <p:nvSpPr>
          <p:cNvPr id="25" name="Text 22"/>
          <p:cNvSpPr/>
          <p:nvPr/>
        </p:nvSpPr>
        <p:spPr>
          <a:xfrm>
            <a:off x="4462272" y="3163824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proceso que comprueba si esos datos corresponden realmente a quien intenta entrar.</a:t>
            </a:r>
            <a:endParaRPr lang="en-US" sz="1060" dirty="0"/>
          </a:p>
        </p:txBody>
      </p:sp>
      <p:sp>
        <p:nvSpPr>
          <p:cNvPr id="26" name="Shape 23"/>
          <p:cNvSpPr/>
          <p:nvPr/>
        </p:nvSpPr>
        <p:spPr>
          <a:xfrm>
            <a:off x="7214616" y="3511296"/>
            <a:ext cx="109728" cy="237744"/>
          </a:xfrm>
          <a:prstGeom prst="chevron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70064" y="2688336"/>
            <a:ext cx="3017520" cy="1554480"/>
          </a:xfrm>
          <a:prstGeom prst="roundRect">
            <a:avLst>
              <a:gd name="adj" fmla="val 23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985248" y="2779776"/>
            <a:ext cx="256032" cy="201168"/>
          </a:xfrm>
          <a:prstGeom prst="roundRect">
            <a:avLst>
              <a:gd name="adj" fmla="val 2272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85248" y="2834640"/>
            <a:ext cx="256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498080" y="2852928"/>
            <a:ext cx="91440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80960" y="28529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Autorización</a:t>
            </a:r>
            <a:endParaRPr lang="en-US" sz="1380" dirty="0"/>
          </a:p>
        </p:txBody>
      </p:sp>
      <p:sp>
        <p:nvSpPr>
          <p:cNvPr id="32" name="Text 29"/>
          <p:cNvSpPr/>
          <p:nvPr/>
        </p:nvSpPr>
        <p:spPr>
          <a:xfrm>
            <a:off x="7680960" y="3163824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decisión sobre lo que esa persona puede o no puede hacer una vez que ya fue reconocida.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987552" y="4791456"/>
            <a:ext cx="9345168" cy="347472"/>
          </a:xfrm>
          <a:prstGeom prst="roundRect">
            <a:avLst>
              <a:gd name="adj" fmla="val 789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15568" y="4892040"/>
            <a:ext cx="9089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Ingresar una contraseña es credencial. Comprobarla es autenticación. Permitir entrar al panel de administración es autorización.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987552" y="5449824"/>
            <a:ext cx="9345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estas etapas ayuda a leer mejor cualquier sistema con cuentas, sesiones o permisos.</a:t>
            </a:r>
            <a:endParaRPr lang="en-US" sz="860" dirty="0"/>
          </a:p>
        </p:txBody>
      </p:sp>
      <p:sp>
        <p:nvSpPr>
          <p:cNvPr id="36" name="Text 3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Distinciones básicas de acceso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Riesgos comunes e higiene técnica básica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trata de paranoia: se trata de incorporar hábitos mínimos de trabajo responsable.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HTTPS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5968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Pérdida de confianza y mayor exposición de información.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913632" y="2103120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5072" y="2231136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69664" y="22311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Contraseñas débiles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169664" y="25968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Facilitan accesos no autorizados o malas prácticas repetidas.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077456" y="2103120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8896" y="2231136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33488" y="22311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visibles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33488" y="25968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Comprometen servicios externos o datos aunque la interfaz funcione bien.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49808" y="3803904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3931920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393192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Rutas expuestas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297680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Dejan paneles o funciones de prueba accesibles en producción.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913632" y="3803904"/>
            <a:ext cx="5952744" cy="1325880"/>
          </a:xfrm>
          <a:prstGeom prst="roundRect">
            <a:avLst>
              <a:gd name="adj" fmla="val 275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005072" y="3931920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169664" y="3931920"/>
            <a:ext cx="5586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mínimo al publicar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169664" y="4297680"/>
            <a:ext cx="558698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HTTPS. Evitar credenciales expuestas. Revisar qué archivos se suben. Mantener orden entre local, prueba y producción. Desconfiar del "es solo un proyecto pequeño".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77824" y="5522976"/>
            <a:ext cx="9985248" cy="438912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88720" y="5650992"/>
            <a:ext cx="9372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app puede verse bien y aun así estar mal publicada si no se revisan estos mínimos.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Riesgos iniciales y hábitos mínimos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Errores frecuentes al publicar proyectos iniciales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Suelen aparecer más por apuro o desconocimiento que por mala intención.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57984"/>
            <a:ext cx="980236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86000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5915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 que aparecen en primeras publicaciones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7004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79806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84378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17904" y="2798064"/>
            <a:ext cx="73152" cy="8595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19072" y="2816352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prueba visible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19072" y="310896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Quedan paneles o funciones que no estaban pensadas para usuarios finales.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5742432" y="267004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52160" y="279806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284378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455664" y="2798064"/>
            <a:ext cx="73152" cy="8595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56832" y="2816352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 sensible incluido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656832" y="3108960"/>
            <a:ext cx="36210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suben configuraciones o datos que debieron quedarse fuera del enlace público.</a:t>
            </a:r>
            <a:endParaRPr lang="en-US" sz="1220" dirty="0"/>
          </a:p>
        </p:txBody>
      </p:sp>
      <p:sp>
        <p:nvSpPr>
          <p:cNvPr id="25" name="Shape 22"/>
          <p:cNvSpPr/>
          <p:nvPr/>
        </p:nvSpPr>
        <p:spPr>
          <a:xfrm>
            <a:off x="896112" y="395020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05840" y="407822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05840" y="412394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54480" y="4078224"/>
            <a:ext cx="73152" cy="8595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55648" y="4096512"/>
            <a:ext cx="3675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en capturas o repo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55648" y="4389120"/>
            <a:ext cx="3675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funciona, pero ya perdió confiabilidad al exponer acceso o secretos.</a:t>
            </a:r>
            <a:endParaRPr lang="en-US" sz="1220" dirty="0"/>
          </a:p>
        </p:txBody>
      </p:sp>
      <p:sp>
        <p:nvSpPr>
          <p:cNvPr id="31" name="Shape 28"/>
          <p:cNvSpPr/>
          <p:nvPr/>
        </p:nvSpPr>
        <p:spPr>
          <a:xfrm>
            <a:off x="5742432" y="395020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52160" y="407822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52160" y="412394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Revisión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510528" y="4078224"/>
            <a:ext cx="73152" cy="8595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711696" y="409651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solo la interfaz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711696" y="438912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comprueba si carga bonito, pero no qué quedó realmente publicado detrás.</a:t>
            </a:r>
            <a:endParaRPr lang="en-US" sz="1220" dirty="0"/>
          </a:p>
        </p:txBody>
      </p:sp>
      <p:sp>
        <p:nvSpPr>
          <p:cNvPr id="37" name="Shape 34"/>
          <p:cNvSpPr/>
          <p:nvPr/>
        </p:nvSpPr>
        <p:spPr>
          <a:xfrm>
            <a:off x="950976" y="5193792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0704" y="5239512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errores iniciales no vienen de ataques complejos, sino de publicar con apuro y revisar muy poco.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Errores comunes en primeras publicaciones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Hábitos mínimos de higiene técnica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convierten una app en invulnerable, pero sí elevan el estándar del trabajo.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9802368" cy="3456432"/>
          </a:xfrm>
          <a:prstGeom prst="roundRect">
            <a:avLst>
              <a:gd name="adj" fmla="val 10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67712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4086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Higiene mínima al trabajar y publicar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51760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779776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825496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Conexión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64208" y="2779776"/>
            <a:ext cx="73152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65376" y="2798064"/>
            <a:ext cx="195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HTTPS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65376" y="3090672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normalizar conexiones inseguras en proyectos publicados.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4126992" y="2651760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36720" y="2779776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36720" y="2825496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Secretos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895088" y="2779776"/>
            <a:ext cx="73152" cy="8778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96256" y="2798064"/>
            <a:ext cx="195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Proteger secretos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5096256" y="3090672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dejar claves visibles en código, capturas o repositorios públicos.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357872" y="2651760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67600" y="2779776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67600" y="2825496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071104" y="2779776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72272" y="2798064"/>
            <a:ext cx="2005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archivos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8272272" y="3090672"/>
            <a:ext cx="2005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qué subimos realmente antes de compartir un enlace.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896112" y="3950208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5840" y="407822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412394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Entornos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1664208" y="4078224"/>
            <a:ext cx="73152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865376" y="4096512"/>
            <a:ext cx="195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 entornos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1865376" y="4389120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Diferenciar local, prueba y producción para reducir errores.</a:t>
            </a:r>
            <a:endParaRPr lang="en-US" sz="1060" dirty="0"/>
          </a:p>
        </p:txBody>
      </p:sp>
      <p:sp>
        <p:nvSpPr>
          <p:cNvPr id="37" name="Shape 34"/>
          <p:cNvSpPr/>
          <p:nvPr/>
        </p:nvSpPr>
        <p:spPr>
          <a:xfrm>
            <a:off x="4126992" y="3950208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36720" y="407822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236720" y="412394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780" dirty="0"/>
          </a:p>
        </p:txBody>
      </p:sp>
      <p:sp>
        <p:nvSpPr>
          <p:cNvPr id="40" name="Shape 37"/>
          <p:cNvSpPr/>
          <p:nvPr/>
        </p:nvSpPr>
        <p:spPr>
          <a:xfrm>
            <a:off x="4785360" y="4078224"/>
            <a:ext cx="73152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986528" y="4096512"/>
            <a:ext cx="2060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seguras</a:t>
            </a:r>
            <a:endParaRPr lang="en-US" sz="1360" dirty="0"/>
          </a:p>
        </p:txBody>
      </p:sp>
      <p:sp>
        <p:nvSpPr>
          <p:cNvPr id="42" name="Text 39"/>
          <p:cNvSpPr/>
          <p:nvPr/>
        </p:nvSpPr>
        <p:spPr>
          <a:xfrm>
            <a:off x="4986528" y="4389120"/>
            <a:ext cx="2060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claves débiles, repetidas o compartidas sin control.</a:t>
            </a:r>
            <a:endParaRPr lang="en-US" sz="1060" dirty="0"/>
          </a:p>
        </p:txBody>
      </p:sp>
      <p:sp>
        <p:nvSpPr>
          <p:cNvPr id="43" name="Shape 40"/>
          <p:cNvSpPr/>
          <p:nvPr/>
        </p:nvSpPr>
        <p:spPr>
          <a:xfrm>
            <a:off x="7357872" y="3950208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467600" y="407822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467600" y="412394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780" dirty="0"/>
          </a:p>
        </p:txBody>
      </p:sp>
      <p:sp>
        <p:nvSpPr>
          <p:cNvPr id="46" name="Shape 43"/>
          <p:cNvSpPr/>
          <p:nvPr/>
        </p:nvSpPr>
        <p:spPr>
          <a:xfrm>
            <a:off x="8016240" y="4078224"/>
            <a:ext cx="73152" cy="8778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217408" y="4096512"/>
            <a:ext cx="2060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 antes de mostrar</a:t>
            </a:r>
            <a:endParaRPr lang="en-US" sz="1360" dirty="0"/>
          </a:p>
        </p:txBody>
      </p:sp>
      <p:sp>
        <p:nvSpPr>
          <p:cNvPr id="48" name="Text 45"/>
          <p:cNvSpPr/>
          <p:nvPr/>
        </p:nvSpPr>
        <p:spPr>
          <a:xfrm>
            <a:off x="8217408" y="4389120"/>
            <a:ext cx="2060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revisión final evita compartir algo mal configurado.</a:t>
            </a:r>
            <a:endParaRPr lang="en-US" sz="1060" dirty="0"/>
          </a:p>
        </p:txBody>
      </p:sp>
      <p:sp>
        <p:nvSpPr>
          <p:cNvPr id="49" name="Shape 46"/>
          <p:cNvSpPr/>
          <p:nvPr/>
        </p:nvSpPr>
        <p:spPr>
          <a:xfrm>
            <a:off x="950976" y="5212080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060704" y="5257800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vuelven perfecta a una app, pero sí elevan el estándar técnico del trabajo desde el inicio.</a:t>
            </a:r>
            <a:endParaRPr lang="en-US" sz="880" dirty="0"/>
          </a:p>
        </p:txBody>
      </p:sp>
      <p:sp>
        <p:nvSpPr>
          <p:cNvPr id="51" name="Text 48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Hábitos básicos de trabajo responsable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"Es solo un proyecto pequeño" es una mala excusa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tamaño del proyecto no elimina la necesidad de trabajar con un mínimo de cuidado.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3063240" cy="2231136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43200"/>
            <a:ext cx="26974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es un proyecto académico o chico, no importa si una clave queda expuesta o si la configuración está a medias.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96512" y="2212848"/>
            <a:ext cx="3063240" cy="2231136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87952" y="2340864"/>
            <a:ext cx="109728" cy="19751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2544" y="23408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real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352544" y="2743200"/>
            <a:ext cx="26974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Ese hábito se arrastra después a proyectos mayores. Lo que hoy parece pequeño mañana puede afectar usuarios o servicios reales.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43216" y="2212848"/>
            <a:ext cx="3108960" cy="2231136"/>
          </a:xfrm>
          <a:prstGeom prst="roundRect">
            <a:avLst>
              <a:gd name="adj" fmla="val 163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534656" y="2340864"/>
            <a:ext cx="109728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99248" y="23408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 de estándar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699248" y="2743200"/>
            <a:ext cx="2743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desde temprano a publicar con orden y cuidado mejora el criterio técnico del curso completo.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335024" y="4919472"/>
            <a:ext cx="8668512" cy="457200"/>
          </a:xfrm>
          <a:prstGeom prst="roundRect">
            <a:avLst>
              <a:gd name="adj" fmla="val 8000"/>
            </a:avLst>
          </a:prstGeom>
          <a:solidFill>
            <a:srgbClr val="EEF7F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664208" y="5065776"/>
            <a:ext cx="80101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meta no es paranoia técnica: es formar hábitos que luego no haya que desaprender.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Desarmando una excusa muy común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seguridad atraviesa varias capas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depende de una sola pieza: aparece en el recorrido completo de la aplicación.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10680192" cy="3584448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49424"/>
            <a:ext cx="1042416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22576"/>
            <a:ext cx="10204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Capas donde puede aparecer riesgo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43200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61488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80720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1316736" y="2752344"/>
            <a:ext cx="1356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1115568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señales y recibe formularios.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2820010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39466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12618" y="2743200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204058" y="2761488"/>
            <a:ext cx="164592" cy="164592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04058" y="280720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3441802" y="2752344"/>
            <a:ext cx="1356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Conexión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3240634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o HTTPS cambia la protección.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945075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64531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37683" y="2743200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9123" y="2761488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29123" y="280720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5566867" y="2752344"/>
            <a:ext cx="1356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5365699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también puede fallar.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7070141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89597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62749" y="2743200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54189" y="2761488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454189" y="280720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7691933" y="2752344"/>
            <a:ext cx="1356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Aplicación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7490765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 rutas, accesos y lógica.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9195206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14662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487814" y="2743200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579254" y="2761488"/>
            <a:ext cx="164592" cy="16459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579254" y="2807208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9816998" y="2752344"/>
            <a:ext cx="1356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9615830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Credenciales y recursos sensibles requieren cuidado.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14400" y="4078224"/>
            <a:ext cx="10351008" cy="1444752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87552" y="4187952"/>
            <a:ext cx="91440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152144" y="4187952"/>
            <a:ext cx="10021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central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1152144" y="4462272"/>
            <a:ext cx="100218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se expone o falla, conviene pensar en capas y revisar el recorrido completo antes de culpar a una sola pieza.</a:t>
            </a:r>
            <a:endParaRPr lang="en-US" sz="950" dirty="0"/>
          </a:p>
        </p:txBody>
      </p:sp>
      <p:sp>
        <p:nvSpPr>
          <p:cNvPr id="51" name="Text 48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Mirada sistémica sobre el riesgo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en el recorrido completo de una app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rápido no siempre significa publicar bien.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9802368" cy="354787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31136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04288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completo de una app publicada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24912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43200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788920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1316736" y="2734056"/>
            <a:ext cx="11814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1115568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Accede desde navegador.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2644445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63901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37053" y="2724912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028493" y="2743200"/>
            <a:ext cx="164592" cy="164592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028493" y="2788920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3266237" y="2734056"/>
            <a:ext cx="11814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3065069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Encuentra el proyecto.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593946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813402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886554" y="2724912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77994" y="2743200"/>
            <a:ext cx="164592" cy="16459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77994" y="2788920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5215738" y="2734056"/>
            <a:ext cx="11814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5014570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Orienta la solicitud.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6543446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62902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836054" y="2724912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927494" y="2743200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27494" y="2788920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7165238" y="2734056"/>
            <a:ext cx="11814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6964070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Aloja la aplicación.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8492947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712403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785555" y="2724912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876995" y="2743200"/>
            <a:ext cx="164592" cy="16459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876995" y="2788920"/>
            <a:ext cx="164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9114739" y="2734056"/>
            <a:ext cx="11814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8913571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 rutas y datos.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14400" y="4059936"/>
            <a:ext cx="4654296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87552" y="4169664"/>
            <a:ext cx="91440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152144" y="4169664"/>
            <a:ext cx="4325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breve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1152144" y="4443984"/>
            <a:ext cx="4325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carga, pero queda una ruta de prueba expuesta, una configuración incompleta y una clave visible en el proyecto.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733288" y="4059936"/>
            <a:ext cx="4654296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806440" y="4169664"/>
            <a:ext cx="91440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971032" y="4169664"/>
            <a:ext cx="4325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Lección</a:t>
            </a:r>
            <a:endParaRPr lang="en-US" sz="1140" dirty="0"/>
          </a:p>
        </p:txBody>
      </p:sp>
      <p:sp>
        <p:nvSpPr>
          <p:cNvPr id="54" name="Text 51"/>
          <p:cNvSpPr/>
          <p:nvPr/>
        </p:nvSpPr>
        <p:spPr>
          <a:xfrm>
            <a:off x="5971032" y="4443984"/>
            <a:ext cx="4325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una app funcione no garantiza que sea confiable. Publicar bien también implica revisar qué quedó realmente disponible.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950976" y="5340096"/>
            <a:ext cx="9400032" cy="201168"/>
          </a:xfrm>
          <a:prstGeom prst="roundRect">
            <a:avLst>
              <a:gd name="adj" fmla="val 1363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78992" y="5385816"/>
            <a:ext cx="91440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aparece en el recorrido completo: no conviene revisar solo la pantalla final.</a:t>
            </a:r>
            <a:endParaRPr lang="en-US" sz="880" dirty="0"/>
          </a:p>
        </p:txBody>
      </p:sp>
      <p:sp>
        <p:nvSpPr>
          <p:cNvPr id="57" name="Text 54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Del funcionamiento al criterio técnico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219456"/>
            <a:ext cx="1417320" cy="1417320"/>
          </a:xfrm>
          <a:prstGeom prst="ellipse">
            <a:avLst/>
          </a:prstGeom>
          <a:solidFill>
            <a:srgbClr val="E0BC5A">
              <a:alpha val="92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41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45920"/>
            <a:ext cx="5468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aplicación web no solo debe funcionar: también debe publicarse con un nivel mínimo de seguridad, criterio y responsabilidad técnica.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1865376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56832" y="1865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656832" y="2121408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práctica existe entre HTTP y HTTPS?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0" y="2944368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3072384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30723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656832" y="332841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tipo de información nunca debería quedar expuesta en un proyecto público?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400800" y="4151376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279392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427939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56832" y="4535424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publicar rápido no siempre significa publicar correctamente?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786384" y="5623560"/>
            <a:ext cx="164592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56601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del bloque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651760" y="56875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esto completamos el mapa inicial de cómo funciona la Web y qué exige poner una aplicación en Internet.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Cierre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la clase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Web deja de verse como magia cuando aprendemos a nombrar sus piezas, recorridos y riesgos.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29968"/>
            <a:ext cx="3913632" cy="3456432"/>
          </a:xfrm>
          <a:prstGeom prst="roundRect">
            <a:avLst>
              <a:gd name="adj" fmla="val 158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507285"/>
            <a:ext cx="164592" cy="37856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03350" y="2359152"/>
            <a:ext cx="197510" cy="52669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33779" y="2507285"/>
            <a:ext cx="164592" cy="37856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29077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no es magia.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05840" y="3529584"/>
            <a:ext cx="2962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una coordinación entre direcciones, clientes, servidores, infraestructura, seguridad y decisiones de publicación.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87552" y="4754880"/>
            <a:ext cx="2889504" cy="457200"/>
          </a:xfrm>
          <a:prstGeom prst="roundRect">
            <a:avLst>
              <a:gd name="adj" fmla="val 8000"/>
            </a:avLst>
          </a:prstGeom>
          <a:solidFill>
            <a:srgbClr val="173250"/>
          </a:solidFill>
          <a:ln w="12700">
            <a:solidFill>
              <a:srgbClr val="1732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26464" y="4901184"/>
            <a:ext cx="2048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idea instalada del módulo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4992624" y="2048256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84064" y="2176272"/>
            <a:ext cx="109728" cy="1161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48656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Ideas que quedan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48656" y="2542032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Internet, Web, navegador, servidor, dominio, hosting y despliegue ya no son lo mismo.</a:t>
            </a:r>
            <a:endParaRPr lang="en-US" sz="1320" dirty="0"/>
          </a:p>
        </p:txBody>
      </p:sp>
      <p:sp>
        <p:nvSpPr>
          <p:cNvPr id="22" name="Shape 19"/>
          <p:cNvSpPr/>
          <p:nvPr/>
        </p:nvSpPr>
        <p:spPr>
          <a:xfrm>
            <a:off x="8028432" y="2048256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19872" y="2176272"/>
            <a:ext cx="109728" cy="11612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84464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Metodología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84464" y="2542032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el sistema, explicitar intención, apoyarse con inteligencia y verificar con criterio.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992624" y="3730752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84064" y="3858768"/>
            <a:ext cx="109728" cy="11612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48656" y="38587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de salida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248656" y="4224528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parte del recorrido web te ayuda más a entender lo que antes parecía invisible?</a:t>
            </a:r>
            <a:endParaRPr lang="en-US" sz="1320" dirty="0"/>
          </a:p>
        </p:txBody>
      </p:sp>
      <p:sp>
        <p:nvSpPr>
          <p:cNvPr id="30" name="Shape 27"/>
          <p:cNvSpPr/>
          <p:nvPr/>
        </p:nvSpPr>
        <p:spPr>
          <a:xfrm>
            <a:off x="8028432" y="3730752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19872" y="3858768"/>
            <a:ext cx="109728" cy="11612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84464" y="38587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clase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284464" y="4224528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Seguimos con las herramientas del taller: editor, navegador, DevTools, Git y flujo de trabajo moderno.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· Mapa inicial completo y puente a la clase 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Web No Es Magia</dc:title>
  <dc:subject>Clase 01 - Bloques 1 a 4</dc:subject>
  <dc:creator>Codex</dc:creator>
  <cp:lastModifiedBy>Codex</cp:lastModifiedBy>
  <cp:revision>1</cp:revision>
  <dcterms:created xsi:type="dcterms:W3CDTF">2026-03-15T21:29:54Z</dcterms:created>
  <dcterms:modified xsi:type="dcterms:W3CDTF">2026-03-15T21:29:54Z</dcterms:modified>
</cp:coreProperties>
</file>