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svg"/><Relationship Id="rId4" Type="http://schemas.openxmlformats.org/officeDocument/2006/relationships/image" Target="../media/image-44-4.png"/><Relationship Id="rId5" Type="http://schemas.openxmlformats.org/officeDocument/2006/relationships/image" Target="../media/image-44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6928"/>
            <a:ext cx="109728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912925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1910" y="1682496"/>
            <a:ext cx="307238" cy="81930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70355" y="1912925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578608"/>
            <a:ext cx="9381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Formularios, Validación y Consumo de APIs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04672" y="4041648"/>
            <a:ext cx="9381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02: Frontend Moderno, APIs y Legado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796528" y="5321808"/>
            <a:ext cx="749808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9" name="Image 1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¿Dónde estamos?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4 · Clase 03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3291840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3419856"/>
            <a:ext cx="109728" cy="23042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340156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Árbol de Componentes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60704" y="3749040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Dividimos la interfaz en piezas con responsabilidad única.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4672" y="20116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🌳</a:t>
            </a:r>
            <a:endParaRPr lang="en-US" sz="3600" dirty="0"/>
          </a:p>
        </p:txBody>
      </p:sp>
      <p:sp>
        <p:nvSpPr>
          <p:cNvPr id="15" name="Shape 12"/>
          <p:cNvSpPr/>
          <p:nvPr/>
        </p:nvSpPr>
        <p:spPr>
          <a:xfrm>
            <a:off x="3950208" y="3291840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41648" y="3419856"/>
            <a:ext cx="109728" cy="23042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0" y="340156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Props y Estado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206240" y="3749040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Diferenciamos el dato que llega (Props) del dato que muta (Estado).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950208" y="20116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💾</a:t>
            </a:r>
            <a:endParaRPr lang="en-US" sz="3600" dirty="0"/>
          </a:p>
        </p:txBody>
      </p:sp>
      <p:sp>
        <p:nvSpPr>
          <p:cNvPr id="20" name="Shape 17"/>
          <p:cNvSpPr/>
          <p:nvPr/>
        </p:nvSpPr>
        <p:spPr>
          <a:xfrm>
            <a:off x="7095744" y="3291840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419856"/>
            <a:ext cx="109728" cy="23042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0156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Reactividad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49040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Aprendimos que UI = f(state). El cambio de dato redibuja la vista.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095744" y="20116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salto de hoy: Del Componente a la Aplicación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estructuras aisladas a flujos de datos reales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97280"/>
          </a:xfrm>
          <a:prstGeom prst="roundRect">
            <a:avLst>
              <a:gd name="adj" fmla="val 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Hoy conectamos nuestra interfaz con la voluntad del usuario (Formularios) y con el mundo exterior (APIs).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493008"/>
            <a:ext cx="292608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602736"/>
            <a:ext cx="100584" cy="17922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Interacción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60704" y="3895344"/>
            <a:ext cx="259689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Capturamos lo que el usuario quiere decirnos.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493008"/>
            <a:ext cx="292608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602736"/>
            <a:ext cx="100584" cy="17922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Integridad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206240" y="3895344"/>
            <a:ext cx="259689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Aseguramos que los datos sean correctos antes de enviarlos.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493008"/>
            <a:ext cx="292608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602736"/>
            <a:ext cx="100584" cy="17922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Conectividad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351776" y="3895344"/>
            <a:ext cx="259689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Traemos vida desde servidores externos mediante Fetch.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Objetivos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la sesión (1/2)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serás capaz de hacer al final de la clase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804672" y="20299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1645920" y="21214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Dominar los Componentes Controlados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45920" y="23957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Vincular cada input al estado para una sincronización perfecta.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4672" y="332841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1645920" y="34198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Implementar Validación Profesional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45920" y="36941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inmediato y bloqueos de seguridad en el cliente.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4672" y="462686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1645920" y="47183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Consumir APIs Reales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645920" y="49926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fetch para traer datos vivos en formato JSON.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Objetivos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la sesión (2/2)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Competencias técnicas y metodológicas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804672" y="20299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1645920" y="21214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Gestionar la Incertidumbre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45920" y="23957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Manejar estados de carga (Loading) y fallos de red (Error).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4672" y="332841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1645920" y="34198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Inspección Técnica en DevTools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45920" y="36941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Auditar el tráfico de red como un desarrollador profesional.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4672" y="462686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1645920" y="47183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Experto de Agentes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645920" y="49926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Delegar lógica repetitiva (Regex) validando el resultado manual.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Formulario como Estado: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 Controlados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vincular cada tecla presionada con la memoria del componente para lograr sincronización total.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560320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minutos · fundamentos y código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Interfaz Reactiva: El dato manda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1.1 El cambio de paradigma en el manejo de inputs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73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el frontend moderno, el input no es el dueño de su valor. El Estado lo es.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255264"/>
            <a:ext cx="109728" cy="23042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Reactividad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1060704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estado cambia, el input se actualiza solo.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3950208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3255264"/>
            <a:ext cx="109728" cy="23042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Sincronía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4206240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ves en pantalla es exactamente lo que hay en memoria.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095744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255264"/>
            <a:ext cx="109728" cy="23042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Predicibilidad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7351776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Sabemos exactamente qué tiene el formulario en todo momento.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del DOM como Memoria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1.1 Por qué el enfoque tradicional (HTML + JS suelto) falla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011680"/>
          </a:xfrm>
          <a:prstGeom prst="roundRect">
            <a:avLst>
              <a:gd name="adj" fmla="val 181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 Antiguo (JS Imperativo)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12618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4672" y="4224528"/>
            <a:ext cx="2926080" cy="1645920"/>
          </a:xfrm>
          <a:prstGeom prst="roundRect">
            <a:avLst>
              <a:gd name="adj" fmla="val 1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7824" y="4334256"/>
            <a:ext cx="100584" cy="14264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60704" y="43525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Desconexión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60704" y="4626864"/>
            <a:ext cx="25968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no sabe qué hay en el input hasta que ocurre un evento final (ej. clic en enviar).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950208" y="4224528"/>
            <a:ext cx="2926080" cy="1645920"/>
          </a:xfrm>
          <a:prstGeom prst="roundRect">
            <a:avLst>
              <a:gd name="adj" fmla="val 1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023360" y="4334256"/>
            <a:ext cx="100584" cy="14264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06240" y="43525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Fragilidad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206240" y="4626864"/>
            <a:ext cx="25968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cambias el ID en el HTML, el JavaScript se rompe silenciosamente.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095744" y="4224528"/>
            <a:ext cx="2926080" cy="1645920"/>
          </a:xfrm>
          <a:prstGeom prst="roundRect">
            <a:avLst>
              <a:gd name="adj" fmla="val 1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168896" y="4334256"/>
            <a:ext cx="100584" cy="14264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51776" y="43525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Dificultad de Validación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351776" y="4626864"/>
            <a:ext cx="25968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mientras el usuario escribe requiere 'escuchar' manualmente cada tecla.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Conflicto de las «Dos Verdades»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1.1 El riesgo de la desincronización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Verdad del DOM vs La Verdad del Estado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Verdad A: El Input (DOM)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el navegador ve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input guarda caracteres internamente.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actualiza con cada pulsación de tecla.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Vive fuera del ciclo de vida de React.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Verdad B: El Estado (React)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el código cree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variable en memoria (useState).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 la lógica de la aplicación.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están conectados, hay dos verdades distintas.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tiene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razón?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evitar errores, forzamos que el Estado sea la ÚNICA fuente de verdad.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un Componente Controlado?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1.2 La solución técnica oficial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2412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un input cuyo valor es manejado íntegramente por el estado del componente.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9381744" cy="804672"/>
          </a:xfrm>
          <a:prstGeom prst="roundRect">
            <a:avLst>
              <a:gd name="adj" fmla="val 340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585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Estado manda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decimos al input: 'Tu texto será SIEMPRE lo que diga esta variable'.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" y="4261104"/>
            <a:ext cx="9381744" cy="804672"/>
          </a:xfrm>
          <a:prstGeom prst="roundRect">
            <a:avLst>
              <a:gd name="adj" fmla="val 340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7824" y="4370832"/>
            <a:ext cx="100584" cy="585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" y="4389120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Input avisa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60704" y="4663440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vez que el usuario presiona una tecla, el input avisa: 'Intentaron cambiarme'.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04672" y="5212080"/>
            <a:ext cx="9381744" cy="804672"/>
          </a:xfrm>
          <a:prstGeom prst="roundRect">
            <a:avLst>
              <a:gd name="adj" fmla="val 340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7824" y="5321808"/>
            <a:ext cx="100584" cy="585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5340096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Estado actualiza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60704" y="561441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recibe el aviso, actualiza la variable y el input se redibuja con el nuevo valor.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Contrato: Propiedad 'value'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1.2 La conexión hacia abajo (Downstream)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572000" cy="2560320"/>
          </a:xfrm>
          <a:prstGeom prst="roundRect">
            <a:avLst>
              <a:gd name="adj" fmla="val 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4315968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4096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Vinculando la vista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4151376" cy="18105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61888" y="2029968"/>
            <a:ext cx="4224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estamos haciendo aquí?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961888" y="2578608"/>
            <a:ext cx="4224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Obligamos al input a mostrar el contenido de la variable 'nombre'.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61888" y="3328416"/>
            <a:ext cx="4224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'nombre' es una cadena vacía, el input estará vacío.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61888" y="4078224"/>
            <a:ext cx="4224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intentas escribir y no hay un manejador de eventos, el input se quedará 'congelado'.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40680" y="2926080"/>
            <a:ext cx="274320" cy="365760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Contrato: Evento 'onChange'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1.2 La conexión hacia arriba (Upstream)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572000" cy="2560320"/>
          </a:xfrm>
          <a:prstGeom prst="roundRect">
            <a:avLst>
              <a:gd name="adj" fmla="val 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4315968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4096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Escuchando al usuario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4151376" cy="18105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61888" y="2029968"/>
            <a:ext cx="4224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estamos haciendo aquí?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961888" y="2578608"/>
            <a:ext cx="4224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 decimos al navegador: 'Cada vez que el usuario toque una tecla, ejecuta esta función'.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61888" y="3328416"/>
            <a:ext cx="4224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función 'handleChange' recibirá toda la información de lo que acaba de pasar.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61888" y="4078224"/>
            <a:ext cx="4224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 esto, el estado nunca se enteraría del cambio.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40680" y="2926080"/>
            <a:ext cx="274320" cy="365760"/>
          </a:xfrm>
          <a:prstGeom prst="chevron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del Evento: e.target.value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1.3 Cómo leer el interior del input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5669280" cy="2194560"/>
          </a:xfrm>
          <a:prstGeom prst="roundRect">
            <a:avLst>
              <a:gd name="adj" fmla="val 1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54132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5193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función manejadora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5248656" cy="14447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93408" y="2029968"/>
            <a:ext cx="349300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766560" y="2139696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49440" y="2157984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(o e)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949440" y="2432304"/>
            <a:ext cx="3163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objeto que contiene toda la información de lo que ocurrió en el navegador.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693408" y="3438144"/>
            <a:ext cx="349300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66560" y="3547872"/>
            <a:ext cx="100584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49440" y="356616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949440" y="3840480"/>
            <a:ext cx="3163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elemento del DOM que disparó el evento (en este caso, el input).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693408" y="4846320"/>
            <a:ext cx="349300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66560" y="4956048"/>
            <a:ext cx="100584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49440" y="4974336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949440" y="5248656"/>
            <a:ext cx="3163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texto que el usuario acaba de escribir o borrar.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 Completa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1.3 El patrón estándar de formularios reactivos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3840480"/>
          </a:xfrm>
          <a:prstGeom prst="roundRect">
            <a:avLst>
              <a:gd name="adj" fmla="val 9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FormularioReactivo.jsx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0906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Ciclo de Vida del Dato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1.3 De la pulsación física al renderizado digital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304288"/>
            <a:ext cx="9381744" cy="2852928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43230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50545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Cadena de etapas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69264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926080"/>
            <a:ext cx="82296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33856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33856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1426464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Pulsación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1170432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presiona una tecla (ej. 'A').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3044952" y="331927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19272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92424" y="2926080"/>
            <a:ext cx="82296" cy="10607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83864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83864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3776472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Evento</a:t>
            </a:r>
            <a:endParaRPr lang="en-US" sz="1240" dirty="0"/>
          </a:p>
        </p:txBody>
      </p:sp>
      <p:sp>
        <p:nvSpPr>
          <p:cNvPr id="25" name="Text 22"/>
          <p:cNvSpPr/>
          <p:nvPr/>
        </p:nvSpPr>
        <p:spPr>
          <a:xfrm>
            <a:off x="3520440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input detecta el cambio y dispara 'onChange'.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5394960" y="331927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69280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926080"/>
            <a:ext cx="82296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33872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33872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6126480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Update</a:t>
            </a:r>
            <a:endParaRPr lang="en-US" sz="1240" dirty="0"/>
          </a:p>
        </p:txBody>
      </p:sp>
      <p:sp>
        <p:nvSpPr>
          <p:cNvPr id="32" name="Text 29"/>
          <p:cNvSpPr/>
          <p:nvPr/>
        </p:nvSpPr>
        <p:spPr>
          <a:xfrm>
            <a:off x="5870448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función setState actualiza la memoria de React.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7744968" y="331927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19288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92440" y="2926080"/>
            <a:ext cx="82296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83880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83880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8476488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Re-render</a:t>
            </a:r>
            <a:endParaRPr lang="en-US" sz="1240" dirty="0"/>
          </a:p>
        </p:txBody>
      </p:sp>
      <p:sp>
        <p:nvSpPr>
          <p:cNvPr id="39" name="Text 36"/>
          <p:cNvSpPr/>
          <p:nvPr/>
        </p:nvSpPr>
        <p:spPr>
          <a:xfrm>
            <a:off x="8220456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redibuja el input con el nuevo valor.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804672" y="5504688"/>
            <a:ext cx="9381744" cy="566928"/>
          </a:xfrm>
          <a:prstGeom prst="roundRect">
            <a:avLst>
              <a:gd name="adj" fmla="val 64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05840" y="5669280"/>
            <a:ext cx="8979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Este ciclo ocurre en milisegundos por cada letra presionada.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gran ventaja: Control total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1.4 Por qué preferimos este camino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212848"/>
            <a:ext cx="2926080" cy="34747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340864"/>
            <a:ext cx="64008" cy="3218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3225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inmediata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60704" y="2670048"/>
            <a:ext cx="25786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Puedes impedir que el usuario escriba números en un campo de nombre en tiempo real.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50208" y="2212848"/>
            <a:ext cx="2926080" cy="34747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41648" y="2340864"/>
            <a:ext cx="64008" cy="3218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6240" y="23225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Formateo al vuelo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206240" y="2670048"/>
            <a:ext cx="25786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a mayúsculas o agregar puntos de miles automáticamente.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95744" y="2212848"/>
            <a:ext cx="2926080" cy="34747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87184" y="2340864"/>
            <a:ext cx="64008" cy="32186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51776" y="23225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Dinámica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351776" y="2670048"/>
            <a:ext cx="25786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Habilitar el botón de 'Enviar' solo cuando todos los campos son válidos.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Agente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en Formularios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Cómo usar IA para acelerar el desarrollo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Delegación Inteligente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Generar Boilerplate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al agente que cree una estructura base para un formulario de 15 campos. Te ahorrará 20 minutos de tipeo manual.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Debugging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 input se queda 'congelado', el agente te explicará de inmediato que olvidaste el onChange.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B8962A"/>
          </a:solidFill>
          <a:ln w="12700">
            <a:solidFill>
              <a:srgbClr val="B896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Estructural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dejes que el agente decida si usar una librería externa o estado nativo. Esa decisión depende de la escala de tu proyecto.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de Lógica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puede sugerir nombres de campos, pero tú debes asegurar que coincidan con lo que el backend espera recibir.</a:t>
            </a:r>
            <a:endParaRPr lang="en-US" sz="10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debes llevarte a casa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Controlar un componente es quitarle la 'memoria' al navegador para dársela a nuestra aplicación.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Única Verdad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estado manda sobre lo que el usuario ve.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Reactividad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letra pulsada es un ciclo de renderizado completo.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Interacción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Capturamos la intención del usuario a través del objeto Evento.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paso →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y Feedback: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Diseñando una UX robusta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asegurar la integridad de los datos y guiar al usuario mediante respuestas visuales inmediatas.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560320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minutos · lógica y experiencia</a:t>
            </a:r>
            <a:endParaRPr lang="en-US" sz="9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validar en el Cliente?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2.1 La primera línea de defensa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73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«Confía, pero verifica». La validación es el filtro de seguridad de tu negocio.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255264"/>
            <a:ext cx="109728" cy="23042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Calidad de Datos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1060704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que lleguen correos sin @ o precios negativos al servidor.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3950208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3255264"/>
            <a:ext cx="109728" cy="23042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Ahorro de Red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4206240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gastamos recursos de internet enviando datos que sabemos que están mal.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095744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255264"/>
            <a:ext cx="109728" cy="23042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Fricción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7351776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mejor avisar del error ahora que esperar 5 segundos a que el servidor responda.</a:t>
            </a:r>
            <a:endParaRPr lang="en-US" sz="11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Estrategias de Validación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2.1 Cuándo interrumpir al usuario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Real vs Envío Final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Inmediata (OnChange)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al instante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para reglas de formato (largo de clave).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error aparece mientras escribes.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Riesgo: Puede ser molesto si es muy intrusivo.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al Enviar (OnSubmit)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filtro final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el formulario completo.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'ansioso' para el usuario.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última oportunidad antes del fetch.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 amigable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segura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profesional es combinar ambas: avisar rápido lo obvio y validar lento lo complejo.</a:t>
            </a:r>
            <a:endParaRPr lang="en-US" sz="8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Modelando el Error con Estado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2.2 Cómo el código sabe que algo va mal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194560"/>
          </a:xfrm>
          <a:prstGeom prst="roundRect">
            <a:avLst>
              <a:gd name="adj" fmla="val 1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Patrón: Variable de Error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14447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4672" y="4407408"/>
            <a:ext cx="9381744" cy="1097280"/>
          </a:xfrm>
          <a:prstGeom prst="roundRect">
            <a:avLst>
              <a:gd name="adj" fmla="val 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7824" y="4517136"/>
            <a:ext cx="100584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60704" y="453542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estado 'error' controla la visibilidad de los mensajes en la UI.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060704" y="4809744"/>
            <a:ext cx="9052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error tiene un string, lo mostramos. Si es null, lo ocultamos.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Renderizado Condicional de Errores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2.2 Feedback visual sin alertas intrusivas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5669280" cy="3474720"/>
          </a:xfrm>
          <a:prstGeom prst="roundRect">
            <a:avLst>
              <a:gd name="adj" fmla="val 10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54132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5193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JSX: Lógica de cortocircuito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5248656" cy="2724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93408" y="2029968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no usar alert()?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693408" y="2578608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Bloquea el hilo principal del navegador.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693408" y="3328416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Se ve anticuado y poco profesional.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693408" y="4078224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El usuario pierde el contexto de lo que estaba escribiendo.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UX: Botones Reactivos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2.3 Prevenir errores antes de que ocurran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937760" cy="2560320"/>
          </a:xfrm>
          <a:prstGeom prst="roundRect">
            <a:avLst>
              <a:gd name="adj" fmla="val 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4681728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4462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propiedad 'disabled'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4517136" cy="18105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61888" y="2029968"/>
            <a:ext cx="4224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del botón: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961888" y="2578608"/>
            <a:ext cx="4224528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0" y="2688336"/>
            <a:ext cx="100584" cy="694944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17920" y="270662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Vacío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217920" y="2980944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Botón gris. No se puede hacer clic.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961888" y="3694176"/>
            <a:ext cx="4224528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35040" y="3803904"/>
            <a:ext cx="100584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17920" y="382219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Error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217920" y="4096512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Botón gris. El usuario sabe que debe corregir algo.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961888" y="4809744"/>
            <a:ext cx="4224528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035040" y="4919472"/>
            <a:ext cx="100584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17920" y="493776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Válido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217920" y="5212080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Botón azul/rojo. ¡Listo para la acción!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Pistas Visuales: Bordes e Iconos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2.3 Cómo guiar el ojo del usuario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381744" cy="566928"/>
          </a:xfrm>
          <a:prstGeom prst="roundRect">
            <a:avLst>
              <a:gd name="adj" fmla="val 645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8979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obligues al usuario a leer el mensaje de error para saber que algo falló.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" y="2578608"/>
            <a:ext cx="2926080" cy="31089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27614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⌨️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04672" y="3493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Normal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87552" y="4041648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Borde gris neutro. Estado de espera.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950208" y="2578608"/>
            <a:ext cx="2926080" cy="31089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50208" y="27614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❌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3950208" y="3493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Error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133088" y="4041648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Borde rojo. El ojo detecta peligro de inmediato.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095744" y="2578608"/>
            <a:ext cx="2926080" cy="31089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95744" y="27614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7095744" y="3493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Éxito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278624" y="4041648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Borde verde. Feedback positivo de confirmación.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de Formato vs. Negocio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2.4 Entendiendo los alcances de la validación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de la validación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de Formato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 del Frontend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¿Tiene un @?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6334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¿Tiene al menos 8 caracteres?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26567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¿Son solo números?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261872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53312" y="466801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9616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resuelve instantáneamente sin internet.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de Negocio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 del Backend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¿Este email ya está registrado?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38633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¿Este cupón de descuento es válido?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65976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57416" y="426567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03720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¿Hay stock de este producto?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65976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57416" y="466801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03720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una petición a la API (Asincronía).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capas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profundidad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Recuerda: El frontend valida por comodidad. El backend valida por seguridad.</a:t>
            </a:r>
            <a:endParaRPr lang="en-US" sz="8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Accesibilidad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Accesibilidad: Errores para todos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2.4 No dejes fuera a los usuarios con discapacidad visual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color no es suficiente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usuario daltónico o ciego no sabrá que el borde es rojo. Debes usar iconos, texto descriptivo y atributos ARIA.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3858768"/>
            <a:ext cx="4937760" cy="2194560"/>
          </a:xfrm>
          <a:prstGeom prst="roundRect">
            <a:avLst>
              <a:gd name="adj" fmla="val 1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" y="3968496"/>
            <a:ext cx="468172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2416" y="4041648"/>
            <a:ext cx="4462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Accesibilidad Técnica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4425696"/>
            <a:ext cx="4517136" cy="1444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61888" y="4041648"/>
            <a:ext cx="4224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 iconos (⚠️) junto al texto de error.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961888" y="4608576"/>
            <a:ext cx="4224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Asegúrate de que el contraste del texto sea alto.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61888" y="5175504"/>
            <a:ext cx="4224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ocultes las instrucciones de ayuda (`label`) al dar feedback.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de Estudio: El Formulario de Registro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Integrando todo lo aprendido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566928" y="2029968"/>
            <a:ext cx="512064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4944" y="2157984"/>
            <a:ext cx="4864608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31136"/>
            <a:ext cx="4645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de Registro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31520" y="2852928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7824" y="2706624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2779776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2542032" y="2743200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Contenedor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1664208" y="3346704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10512" y="3200400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01952" y="3273552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Email</a:t>
            </a:r>
            <a:endParaRPr lang="en-US" sz="940" dirty="0"/>
          </a:p>
        </p:txBody>
      </p:sp>
      <p:sp>
        <p:nvSpPr>
          <p:cNvPr id="20" name="Text 17"/>
          <p:cNvSpPr/>
          <p:nvPr/>
        </p:nvSpPr>
        <p:spPr>
          <a:xfrm>
            <a:off x="3474720" y="323697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formato @ [onChange]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1664208" y="3840480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10512" y="3694176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901952" y="3767328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Password</a:t>
            </a:r>
            <a:endParaRPr lang="en-US" sz="940" dirty="0"/>
          </a:p>
        </p:txBody>
      </p:sp>
      <p:sp>
        <p:nvSpPr>
          <p:cNvPr id="24" name="Text 21"/>
          <p:cNvSpPr/>
          <p:nvPr/>
        </p:nvSpPr>
        <p:spPr>
          <a:xfrm>
            <a:off x="3474720" y="373075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min 8 char [onChange]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1664208" y="4334256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10512" y="4187952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901952" y="426110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Message</a:t>
            </a:r>
            <a:endParaRPr lang="en-US" sz="940" dirty="0"/>
          </a:p>
        </p:txBody>
      </p:sp>
      <p:sp>
        <p:nvSpPr>
          <p:cNvPr id="28" name="Text 25"/>
          <p:cNvSpPr/>
          <p:nvPr/>
        </p:nvSpPr>
        <p:spPr>
          <a:xfrm>
            <a:off x="3474720" y="422452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alertas visuales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1664208" y="4828032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10512" y="4681728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901952" y="4754880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Button</a:t>
            </a:r>
            <a:endParaRPr lang="en-US" sz="940" dirty="0"/>
          </a:p>
        </p:txBody>
      </p:sp>
      <p:sp>
        <p:nvSpPr>
          <p:cNvPr id="32" name="Text 29"/>
          <p:cNvSpPr/>
          <p:nvPr/>
        </p:nvSpPr>
        <p:spPr>
          <a:xfrm>
            <a:off x="3474720" y="471830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Habilitado solo si todo OK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5961888" y="2029968"/>
            <a:ext cx="376732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035040" y="2139696"/>
            <a:ext cx="100584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17920" y="2157984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1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217920" y="2432304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escribe mal -&gt; Error inmediato.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961888" y="3438144"/>
            <a:ext cx="376732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035040" y="3547872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17920" y="3566160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2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217920" y="3840480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corrige -&gt; Error desaparece, botón se activa.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961888" y="4846320"/>
            <a:ext cx="376732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035040" y="4956048"/>
            <a:ext cx="100584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17920" y="497433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3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217920" y="5248656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 en enviar -&gt; Se dispara la lógica de red.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Comunes en Validación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Qué NO hacer al diseñar feedback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Anti-patrones de Validación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antes de que el usuario termine.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muestras 'Email inválido' apenas escribe la primera letra, generas ansiedad. Espera al primer desenfoque (onBlur) o pausa.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Borrar el campo si hay un error.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borres lo que el usuario escribió. Permítele corregir el error sin tener que empezar de cero.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Usar solo alertas de sistema.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alertas rompen el flujo visual. Usa elementos de la propia interfaz para una experiencia integrada.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5596128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87568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33872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33872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5833872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Olvidar la validación de servidor.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5833872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Saltarse la validación en el cliente es molesto, pero saltarse la del servidor es un agujero de seguridad grave.</a:t>
            </a:r>
            <a:endParaRPr lang="en-US" sz="10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Agente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en Validación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Potenciando la seguridad con 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841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superpoder de las Regex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 expresiones regulares para validar RUT, tarjetas de crédito o passwords complejos es difícil. Delegarlo a un agente es una gran idea.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3310128"/>
            <a:ext cx="4937760" cy="2743200"/>
          </a:xfrm>
          <a:prstGeom prst="roundRect">
            <a:avLst>
              <a:gd name="adj" fmla="val 1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" y="3419856"/>
            <a:ext cx="4681728" cy="310896"/>
          </a:xfrm>
          <a:prstGeom prst="roundRect">
            <a:avLst>
              <a:gd name="adj" fmla="val 8824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2416" y="3493008"/>
            <a:ext cx="4462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sugerido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3877056"/>
            <a:ext cx="4517136" cy="19933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61888" y="3310128"/>
            <a:ext cx="4224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⚠️ Validación Humana Obligatoria: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961888" y="3767328"/>
            <a:ext cx="42245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Prueba la Regex con casos de borde (ej. RUT con K).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61888" y="4517136"/>
            <a:ext cx="42245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Asegúrate de que la explicación del agente coincida con el código generado.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961888" y="5266944"/>
            <a:ext cx="42245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copies y pegues lógicas de validación bancaria sin entenderlas.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ventaja tiene usar el estado del componente para mostrar errores en lugar de las alertas tradicionales?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 formulario tiene 15 campos, ¿por qué es importante la validación en tiempo real frente a la validación final?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decimos que la validación en el cliente es para UX y la del servidor es para Seguridad?</a:t>
            </a:r>
            <a:endParaRPr lang="en-US" sz="156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debes dominar antes del Fetch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es acompañar. Un buen formulario guía al usuario hacia el éxito, no solo lo castiga en el fallo.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Feedback Visual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colores, bordes e iconos para hablarle al usuario.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Lógica Reactiva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el estado para deshabilitar botones y mostrar mensajes.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Inmediatez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lo simple rápido para ahorrarle tiempo al usuario.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paso →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Consumo de APIs: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Conectando con el mundo real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traer datos desde servidores externos y transformar texto JSON en interfaces dinámicas y vivas.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560320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minutos · asincronía y red</a:t>
            </a:r>
            <a:endParaRPr lang="en-US" sz="9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fin de los datos fijos (Hardcoding)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3.1 Por qué los datos deben vivir fuera del frontend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en el Código vs Datos en la API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el Código (Malo)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Fijos en el JS/HTML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cambiar un precio, debes editar el código y volver a desplegar.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archivo pesa mucho si hay miles de productos.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son iguales para todos los usuarios.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la API (Profesional)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Dinámicos y remotos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cambian en la base de datos y la UI se actualiza sola.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frontend solo descarga lo que necesita en el momento.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personalizar la info según quién inició sesión.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mantenibilidad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escala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aplicación real es una cáscara vacía que se llena con datos de un servidor.</a:t>
            </a:r>
            <a:endParaRPr lang="en-US" sz="8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Fundamentos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una API REST?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3.1 El contrato de comunicación entre sistemas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73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el 'mesero' que lleva tu pedido al servidor y te trae la respuesta.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840480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950208"/>
            <a:ext cx="100584" cy="19751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96849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Endpoint (URL)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242816"/>
            <a:ext cx="25968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dirección donde pedimos la info. Ej: /api/productos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4672" y="2926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📍</a:t>
            </a:r>
            <a:endParaRPr lang="en-US" sz="3200" dirty="0"/>
          </a:p>
        </p:txBody>
      </p:sp>
      <p:sp>
        <p:nvSpPr>
          <p:cNvPr id="17" name="Shape 14"/>
          <p:cNvSpPr/>
          <p:nvPr/>
        </p:nvSpPr>
        <p:spPr>
          <a:xfrm>
            <a:off x="3950208" y="3840480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3950208"/>
            <a:ext cx="100584" cy="19751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06240" y="396849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Método (Verbo)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206240" y="4242816"/>
            <a:ext cx="25968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(traer), POST (crear), DELETE (borrar).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950208" y="2926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22" name="Shape 19"/>
          <p:cNvSpPr/>
          <p:nvPr/>
        </p:nvSpPr>
        <p:spPr>
          <a:xfrm>
            <a:off x="7095744" y="3840480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68896" y="3950208"/>
            <a:ext cx="100584" cy="19751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51776" y="396849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51776" y="4242816"/>
            <a:ext cx="25968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formato de texto estándar en que viajan los datos.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095744" y="2926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Fundamentos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Contrato JSON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3.1 Cómo se ven los datos en tránsito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572000" cy="3840480"/>
          </a:xfrm>
          <a:prstGeom prst="roundRect">
            <a:avLst>
              <a:gd name="adj" fmla="val 9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4315968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4096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del Servidor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4151376" cy="30906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61888" y="2029968"/>
            <a:ext cx="4224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del JSON: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961888" y="2578608"/>
            <a:ext cx="4224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 puro texto (Strings).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61888" y="3328416"/>
            <a:ext cx="4224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Las claves siempre van entre comillas dobles.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61888" y="4078224"/>
            <a:ext cx="4224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soporta funciones, solo datos (objetos, arrays, números, strings).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961888" y="4828032"/>
            <a:ext cx="4224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 el lenguaje universal de la web.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Fundamentos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Entendiendo las Promesas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3.2 Por qué el código debe saber esperar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2412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Promesa es un objeto que representa un valor que aún no tenemos, pero que llegará.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9381744" cy="804672"/>
          </a:xfrm>
          <a:prstGeom prst="roundRect">
            <a:avLst>
              <a:gd name="adj" fmla="val 340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585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Pending (Pendiente)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petición está viajando por los cables submarinos. No sabemos el resultado todavía.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" y="4261104"/>
            <a:ext cx="9381744" cy="804672"/>
          </a:xfrm>
          <a:prstGeom prst="roundRect">
            <a:avLst>
              <a:gd name="adj" fmla="val 340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7824" y="4370832"/>
            <a:ext cx="100584" cy="585216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" y="4389120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Fulfilled (Cumplida)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60704" y="4663440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¡Éxito! El servidor respondió y tenemos los datos listos para usar.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04672" y="5212080"/>
            <a:ext cx="9381744" cy="804672"/>
          </a:xfrm>
          <a:prstGeom prst="roundRect">
            <a:avLst>
              <a:gd name="adj" fmla="val 340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7824" y="5321808"/>
            <a:ext cx="100584" cy="585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5340096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Rejected (Rechazada)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60704" y="561441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 falló (error 404, sin internet). La promesa devuelve un error.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del Fetch API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3.2 La herramienta nativa de red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560320"/>
          </a:xfrm>
          <a:prstGeom prst="roundRect">
            <a:avLst>
              <a:gd name="adj" fmla="val 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Sintaxis Base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18105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4672" y="4773168"/>
            <a:ext cx="2926080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7824" y="4882896"/>
            <a:ext cx="100584" cy="1243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60704" y="490118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1: res.json()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60704" y="5175504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inicial es un flujo de datos (stream). Debemos 'parsearlo' a un objeto JS.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950208" y="4773168"/>
            <a:ext cx="2926080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023360" y="4882896"/>
            <a:ext cx="100584" cy="12435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06240" y="490118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2: .then(data)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206240" y="5175504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es donde realmente guardamos la info en nuestro estado de React.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095744" y="4773168"/>
            <a:ext cx="2926080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168896" y="4882896"/>
            <a:ext cx="100584" cy="12435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51776" y="490118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3: .catch()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351776" y="5175504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Obligatorio para evitar que la app se 'caiga' si el servidor no responde.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¿Cuándo pedir los datos?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3.2 Introducción al efecto secundario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queremos pedir datos en cada renderizado (loop infinito). Queremos pedirlos al 'nacer' el componente.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4672" y="2852928"/>
            <a:ext cx="5852160" cy="3108960"/>
          </a:xfrm>
          <a:prstGeom prst="roundRect">
            <a:avLst>
              <a:gd name="adj" fmla="val 117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2962656"/>
            <a:ext cx="5596128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035808"/>
            <a:ext cx="5376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patrón useEffect (simplificado)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3419856"/>
            <a:ext cx="5431536" cy="235915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876288" y="2852928"/>
            <a:ext cx="3310128" cy="3108960"/>
          </a:xfrm>
          <a:prstGeom prst="roundRect">
            <a:avLst>
              <a:gd name="adj" fmla="val 88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49440" y="2962656"/>
            <a:ext cx="100584" cy="2889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32320" y="2980944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 Oro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132320" y="3255264"/>
            <a:ext cx="2980944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usas useEffect con array vacío, tu componente hará miles de peticiones por segundo, bloqueando el servidor y tu navegador.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Integración Real: Lista de Productos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3.3 De la API a la pantalla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 ProductList.jsx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Fundamentos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Viaje de los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3.3 El ciclo completo de la información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304288"/>
            <a:ext cx="9381744" cy="2852928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43230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50545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Cadena de etapas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69264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926080"/>
            <a:ext cx="82296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33856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33856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1426464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Component Mount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1170432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componente aparece en pantalla.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3044952" y="331927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19272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92424" y="2926080"/>
            <a:ext cx="82296" cy="10607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83864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83864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3776472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Fetch Request</a:t>
            </a:r>
            <a:endParaRPr lang="en-US" sz="1240" dirty="0"/>
          </a:p>
        </p:txBody>
      </p:sp>
      <p:sp>
        <p:nvSpPr>
          <p:cNvPr id="25" name="Text 22"/>
          <p:cNvSpPr/>
          <p:nvPr/>
        </p:nvSpPr>
        <p:spPr>
          <a:xfrm>
            <a:off x="3520440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dispara la petición HTTP al servidor.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5394960" y="331927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69280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926080"/>
            <a:ext cx="82296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33872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33872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6126480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JSON Received</a:t>
            </a:r>
            <a:endParaRPr lang="en-US" sz="1240" dirty="0"/>
          </a:p>
        </p:txBody>
      </p:sp>
      <p:sp>
        <p:nvSpPr>
          <p:cNvPr id="32" name="Text 29"/>
          <p:cNvSpPr/>
          <p:nvPr/>
        </p:nvSpPr>
        <p:spPr>
          <a:xfrm>
            <a:off x="5870448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Llegan los datos y se guardan en el State.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7744968" y="331927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19288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92440" y="2926080"/>
            <a:ext cx="82296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83880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83880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8476488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Re-render List</a:t>
            </a:r>
            <a:endParaRPr lang="en-US" sz="1240" dirty="0"/>
          </a:p>
        </p:txBody>
      </p:sp>
      <p:sp>
        <p:nvSpPr>
          <p:cNvPr id="39" name="Text 36"/>
          <p:cNvSpPr/>
          <p:nvPr/>
        </p:nvSpPr>
        <p:spPr>
          <a:xfrm>
            <a:off x="8220456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detecta el cambio y dibuja los items.</a:t>
            </a:r>
            <a:endParaRPr lang="en-US" sz="9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Herramientas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Inspección Pro: Pestaña Network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3.4 Cómo ver lo 'invisible'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381744" cy="566928"/>
          </a:xfrm>
          <a:prstGeom prst="roundRect">
            <a:avLst>
              <a:gd name="adj" fmla="val 645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8979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DevTools son tus ojos en el cable de red. Si algo no se ve en pantalla, el culpable está aquí.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" y="2578608"/>
            <a:ext cx="4590288" cy="1408176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2688336"/>
            <a:ext cx="100584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270662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 / Path</a:t>
            </a:r>
            <a:endParaRPr lang="en-US" sz="1280" dirty="0"/>
          </a:p>
        </p:txBody>
      </p:sp>
      <p:sp>
        <p:nvSpPr>
          <p:cNvPr id="15" name="Text 12"/>
          <p:cNvSpPr/>
          <p:nvPr/>
        </p:nvSpPr>
        <p:spPr>
          <a:xfrm>
            <a:off x="1060704" y="2980944"/>
            <a:ext cx="4261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¿Estamos llamando a la URL correcta?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5596128" y="2578608"/>
            <a:ext cx="4590288" cy="1408176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2688336"/>
            <a:ext cx="100584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270662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5852160" y="2980944"/>
            <a:ext cx="4261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 un GET o nos equivocamos de verbo?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804672" y="4151376"/>
            <a:ext cx="4590288" cy="1408176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7824" y="4261104"/>
            <a:ext cx="100584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4279392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1060704" y="4553712"/>
            <a:ext cx="4261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servidor nos dio permiso o nos rechazó?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5596128" y="4151376"/>
            <a:ext cx="4590288" cy="1408176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0" y="4261104"/>
            <a:ext cx="100584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52160" y="4279392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</a:t>
            </a:r>
            <a:endParaRPr lang="en-US" sz="1280" dirty="0"/>
          </a:p>
        </p:txBody>
      </p:sp>
      <p:sp>
        <p:nvSpPr>
          <p:cNvPr id="27" name="Text 24"/>
          <p:cNvSpPr/>
          <p:nvPr/>
        </p:nvSpPr>
        <p:spPr>
          <a:xfrm>
            <a:off x="5852160" y="4553712"/>
            <a:ext cx="4261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JSON que llegó tiene el formato que esperábamos?</a:t>
            </a:r>
            <a:endParaRPr lang="en-US" sz="104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Herramientas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Entendiendo el Idioma del Servidor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3.4 Los códigos de estado HTTP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590288" cy="1792224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139696"/>
            <a:ext cx="100584" cy="157276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5798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 OK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60704" y="2432304"/>
            <a:ext cx="4261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servidor encontró los datos y te los envió correctamente.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96128" y="2029968"/>
            <a:ext cx="4590288" cy="1792224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0" y="2139696"/>
            <a:ext cx="100584" cy="15727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15798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404 Not Found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2432304"/>
            <a:ext cx="4261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Esa URL no existe o el producto fue borrado.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4672" y="3986784"/>
            <a:ext cx="4590288" cy="1792224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824" y="4096512"/>
            <a:ext cx="100584" cy="15727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4114800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 Server Error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60704" y="4389120"/>
            <a:ext cx="4261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servidor explotó. No es culpa de tu frontend, es del backend.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596128" y="3986784"/>
            <a:ext cx="4590288" cy="1792224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0" y="4096512"/>
            <a:ext cx="100584" cy="1572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4114800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401 Unauthorized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52160" y="4389120"/>
            <a:ext cx="4261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Necesitas un token o iniciar sesión para ver esto.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Seguridad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Básica: Protegiendo la Llave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3.4 Cómo no regalar tu acceso al mundo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Nunca subas tus API Keys a GitHub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API te da una llave secreta, no la pongas directamente en el código. Usa variables de entorno (.env) para proteger tu cuenta.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3858768"/>
            <a:ext cx="4937760" cy="2194560"/>
          </a:xfrm>
          <a:prstGeom prst="roundRect">
            <a:avLst>
              <a:gd name="adj" fmla="val 1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" y="3968496"/>
            <a:ext cx="4681728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2416" y="4041648"/>
            <a:ext cx="4462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 ejemplo ❌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4425696"/>
            <a:ext cx="4517136" cy="144475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961888" y="3858768"/>
            <a:ext cx="4224528" cy="2194560"/>
          </a:xfrm>
          <a:prstGeom prst="roundRect">
            <a:avLst>
              <a:gd name="adj" fmla="val 1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89904" y="3968496"/>
            <a:ext cx="3968496" cy="310896"/>
          </a:xfrm>
          <a:prstGeom prst="roundRect">
            <a:avLst>
              <a:gd name="adj" fmla="val 8824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99632" y="404164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 ejemplo ✅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344" y="4425696"/>
            <a:ext cx="3803904" cy="144475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Agente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en el Consumo de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Transformando estructuras JSON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 para la IA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Mapear Estructuras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Pega un JSON gigante y pide al agente que extraiga solo los campos que necesitas para tu componente Card.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Simular Datos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API oficial está caída, pide al agente que genere un array de 10 objetos falsos para seguir maquetando.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B8962A"/>
          </a:solidFill>
          <a:ln w="12700">
            <a:solidFill>
              <a:srgbClr val="B896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Explicar Status Codes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recibes un error extraño (ej. 429 Too Many Requests), el agente te explicará qué significa y cómo solucionarlo.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Inspección de Seguridad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agente si el flujo de autenticación que estás diseñando sigue las mejores prácticas actuales.</a:t>
            </a:r>
            <a:endParaRPr lang="en-US" sz="106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el navegador nos obliga a usar .then() o await en lugar de recibir los datos instantáneamente?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servidor nos devuelve un código 404, ¿qué parte de la interfaz deberíamos mostrar al usuario?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peligro corremos si no usamos useEffect para envolver nuestras peticiones fetch?</a:t>
            </a:r>
            <a:endParaRPr lang="en-US" sz="156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conectamos hoy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frontend ya no está solo. Ahora consume, transforma y muestra la realidad del servidor.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Fetch API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herramienta para hablar con el mundo exterior.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Asincronía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 a esperar sin congelar la experiencia del usuario.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Auditar cada bit que entra y sale de nuestra aplicación.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paso →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Gestión de la Incertidumbre: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Carga, Errores y UX de Red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preparar nuestra interfaz para los momentos donde las cosas no salen bien o demoran más de lo esperado.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560320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minutos · robustez y resiliencia</a:t>
            </a:r>
            <a:endParaRPr lang="en-US" sz="94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UX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3 Estados Fundamentales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4.1 La realidad de una App en red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73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'Happy Path' (que todo funcione a la primera) es solo una de las 3 realidades.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255264"/>
            <a:ext cx="109728" cy="23042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Loading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1060704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ya pidió los datos pero el servidor aún no responde.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3950208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3255264"/>
            <a:ext cx="109728" cy="230428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Success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4206240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llegaron íntegros y la lista se dibuja correctamente.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095744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255264"/>
            <a:ext cx="109728" cy="23042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Error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7351776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WiFi se cayó, la API cambió o el servidor explotó.</a:t>
            </a:r>
            <a:endParaRPr lang="en-US" sz="112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Implementando el Estado de Carga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4.2 Lógica de semáforo en React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 de Carga Profesional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Implementando el Manejo de Fallos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4.2 Evitando que la app se quede en blanco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 Try/Catch con Fetch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Patrón Final de Producción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4.2 Cómo se ve un componente real en la industria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Enterprise Component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UX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UX: Spinners vs. Skeletons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4.2 Mejorando la percepción del tiempo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Percepción de Carga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Spinner / Loader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 Genérico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círculo dando vueltas.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 que la app está viva pero ocupada.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 más ansiedad en esperas largas.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Skeletons (Esqueletos)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 Moderno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Bloques grises que imitan el diseño final.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Utilizado por Facebook, YouTube e Instagram.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cerebro siente que la carga es más rápida.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percepción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velocidad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Para cargas de menos de 1 segundo, no muestres nada. Para más de 1s, usa Skeletons.</a:t>
            </a:r>
            <a:endParaRPr lang="en-US" sz="88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Herramientas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Simulando la Realidad en DevTools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4.3 No pruebes tu app solo con el WiFi de la oficina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381744" cy="566928"/>
          </a:xfrm>
          <a:prstGeom prst="roundRect">
            <a:avLst>
              <a:gd name="adj" fmla="val 645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8979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 la pestaña Network -&gt; Throttling para simular usuarios con mala conexión.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" y="2578608"/>
            <a:ext cx="4590288" cy="1408176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2688336"/>
            <a:ext cx="100584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270662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Throttling</a:t>
            </a:r>
            <a:endParaRPr lang="en-US" sz="1280" dirty="0"/>
          </a:p>
        </p:txBody>
      </p:sp>
      <p:sp>
        <p:nvSpPr>
          <p:cNvPr id="15" name="Text 12"/>
          <p:cNvSpPr/>
          <p:nvPr/>
        </p:nvSpPr>
        <p:spPr>
          <a:xfrm>
            <a:off x="1060704" y="2980944"/>
            <a:ext cx="4261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 total. Tu app vuela (No es la realidad de todos).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5596128" y="2578608"/>
            <a:ext cx="4590288" cy="1408176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2688336"/>
            <a:ext cx="100584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270662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3G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5852160" y="2980944"/>
            <a:ext cx="4261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 navegación en la calle. Ideal para probar Spinners.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804672" y="4151376"/>
            <a:ext cx="4590288" cy="1408176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7824" y="4261104"/>
            <a:ext cx="100584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4279392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Slow 3G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1060704" y="4553712"/>
            <a:ext cx="4261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 zonas con mala señal. Aquí es donde los Skeletons brillan.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5596128" y="4151376"/>
            <a:ext cx="4590288" cy="1408176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0" y="4261104"/>
            <a:ext cx="100584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52160" y="4279392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</a:t>
            </a:r>
            <a:endParaRPr lang="en-US" sz="1280" dirty="0"/>
          </a:p>
        </p:txBody>
      </p:sp>
      <p:sp>
        <p:nvSpPr>
          <p:cNvPr id="27" name="Text 24"/>
          <p:cNvSpPr/>
          <p:nvPr/>
        </p:nvSpPr>
        <p:spPr>
          <a:xfrm>
            <a:off x="5852160" y="4553712"/>
            <a:ext cx="4261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Desconecta el navegador. ¿Tu app muestra un error o se queda en blanco?</a:t>
            </a:r>
            <a:endParaRPr lang="en-US" sz="104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Herramientas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Gestión del Modo Offline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4.3 Qué pasa cuando el cable se corta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5669280" cy="2560320"/>
          </a:xfrm>
          <a:prstGeom prst="roundRect">
            <a:avLst>
              <a:gd name="adj" fmla="val 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5413248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5193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Detectando la conexión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5248656" cy="18105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93408" y="2029968"/>
            <a:ext cx="3493008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784848" y="2157984"/>
            <a:ext cx="109728" cy="23042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49440" y="2139696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de Fuego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949440" y="2487168"/>
            <a:ext cx="314553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 el modo Offline en DevTools y recarga. Si tu app no dice nada y solo muestra una pantalla vacía, fallaste en el manejo de incertidumbre.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4672" y="4773168"/>
            <a:ext cx="9381744" cy="1097280"/>
          </a:xfrm>
          <a:prstGeom prst="roundRect">
            <a:avLst>
              <a:gd name="adj" fmla="val 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77824" y="4882896"/>
            <a:ext cx="100584" cy="877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60704" y="490118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 no es solo 'sin internet'.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1060704" y="5175504"/>
            <a:ext cx="9052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También es cuando el servidor está caído (Error 500) o la API es bloqueada por un firewall empresarial.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UX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Ética del Feedback: Errores Humanos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4.4 No asustes a tu usuario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 de Fallos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Técnico (Mal ❌)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Confunde y asusta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TypeError: Cannot read property 'map' of undefined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Parse Error at line 1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NetworkError when attempting to fetch resource.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Humano (Bien ✅)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 y ayuda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pudimos cargar la lista. Por favor, revisa tu conexión.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Hubo un problema en nuestro servidor. Intenta de nuevo en un minuto.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Vaya, este producto ya no está disponible.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empatía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de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mensajes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Regla: Los errores técnicos van al console.log. Los errores humanos van a la pantalla.</a:t>
            </a:r>
            <a:endParaRPr lang="en-US" sz="8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Arquitectura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Redes de Seguridad: Error Boundaries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4.4 Evitando que un componente rompa toda la página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2412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error en un componente hijo no debería 'apagar' toda la aplicación.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9381744" cy="2194560"/>
          </a:xfrm>
          <a:prstGeom prst="roundRect">
            <a:avLst>
              <a:gd name="adj" fmla="val 1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41985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49300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 de Contención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3877056"/>
            <a:ext cx="8961120" cy="144475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Agente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en el Manejo de Errores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Generando resiliencia con 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Delegación en Crisis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Generar Skeletons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al agente que cree la animación CSS de 'shimmer' (brillo) para un skeleton profesional. Es tedioso hacerlo a mano.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MSG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Copywriting de Errores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5 variantes de mensajes de error amigables para diferentes situaciones (auth, red, stock).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B8962A"/>
          </a:solidFill>
          <a:ln w="12700">
            <a:solidFill>
              <a:srgbClr val="B896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Explicar Errores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Pega el error crudo de la consola y pide al agente que lo traduzca a lenguaje humano y sugiera 3 causas posibles.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Simular Latencia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código para un 'Sleep' o retraso artificial en tu fetch para probar tus Spinners sin usar DevTools.</a:t>
            </a:r>
            <a:endParaRPr lang="en-US" sz="106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resetear el estado de 'loading' es obligatorio tanto en el éxito (.then) como en el error (.catch)?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impacto tiene en el usuario ver un 'Skeleton' frente a ver un círculo girando (Spinner)?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es una mala práctica mostrar el mensaje de error técnico crudo en la interfaz de usuario?</a:t>
            </a:r>
            <a:endParaRPr lang="en-US" sz="156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aprendimos sobre la incertidumbre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aplicación profesional se mide por cómo se comporta cuando las cosas NO salen bien.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Estados de UI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Modelamos la carga, el éxito y el error como ciudadanos de primera clase.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Resiliencia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Preparamos el código para fallos de red usando .catch() y validación de status.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Inspección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Usamos las DevTools para auditar el tráfico y simular condiciones adversas.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Mental: La Integración Final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voluntad del usuario a la respuesta del servidor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Cadena de etapas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69264" y="256032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51760"/>
            <a:ext cx="82296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33856" y="267004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33856" y="271576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1426464" y="266090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1170432" y="296265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y Valida datos.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3044952" y="304495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19272" y="256032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92424" y="2651760"/>
            <a:ext cx="82296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83864" y="267004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83864" y="271576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3776472" y="266090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Fetch API</a:t>
            </a:r>
            <a:endParaRPr lang="en-US" sz="1240" dirty="0"/>
          </a:p>
        </p:txBody>
      </p:sp>
      <p:sp>
        <p:nvSpPr>
          <p:cNvPr id="25" name="Text 22"/>
          <p:cNvSpPr/>
          <p:nvPr/>
        </p:nvSpPr>
        <p:spPr>
          <a:xfrm>
            <a:off x="3520440" y="296265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Envía datos al servidor.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5394960" y="304495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69280" y="256032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651760"/>
            <a:ext cx="82296" cy="10607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33872" y="267004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33872" y="271576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6126480" y="266090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REST</a:t>
            </a:r>
            <a:endParaRPr lang="en-US" sz="1240" dirty="0"/>
          </a:p>
        </p:txBody>
      </p:sp>
      <p:sp>
        <p:nvSpPr>
          <p:cNvPr id="32" name="Text 29"/>
          <p:cNvSpPr/>
          <p:nvPr/>
        </p:nvSpPr>
        <p:spPr>
          <a:xfrm>
            <a:off x="5870448" y="296265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 y responde JSON.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7744968" y="304495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19288" y="256032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92440" y="2651760"/>
            <a:ext cx="82296" cy="1060704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83880" y="267004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83880" y="271576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8476488" y="266090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/ UI</a:t>
            </a:r>
            <a:endParaRPr lang="en-US" sz="1240" dirty="0"/>
          </a:p>
        </p:txBody>
      </p:sp>
      <p:sp>
        <p:nvSpPr>
          <p:cNvPr id="39" name="Text 36"/>
          <p:cNvSpPr/>
          <p:nvPr/>
        </p:nvSpPr>
        <p:spPr>
          <a:xfrm>
            <a:off x="8220456" y="296265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 y muestra éxito.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804672" y="495604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05840" y="512064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Este es el flujo que mueve internet hoy. Lo has dominado.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12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Síntesis: De la Pieza al Sistema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Clase · El modelo completo de aplicaciones modernas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59028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64008" cy="14447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Inputs Controlados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4242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Sincronía total entre el teclado y la memoria del código.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596128" y="2029968"/>
            <a:ext cx="459028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87568" y="2157984"/>
            <a:ext cx="64008" cy="14447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13969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UX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5852160" y="2487168"/>
            <a:ext cx="4242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inmediato y profesional para guiar al usuario.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04672" y="3895344"/>
            <a:ext cx="459028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6112" y="4023360"/>
            <a:ext cx="64008" cy="14447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400507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Promesas y Fetch</a:t>
            </a:r>
            <a:endParaRPr lang="en-US" sz="1420" dirty="0"/>
          </a:p>
        </p:txBody>
      </p:sp>
      <p:sp>
        <p:nvSpPr>
          <p:cNvPr id="21" name="Text 18"/>
          <p:cNvSpPr/>
          <p:nvPr/>
        </p:nvSpPr>
        <p:spPr>
          <a:xfrm>
            <a:off x="1060704" y="4352544"/>
            <a:ext cx="4242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asíncrona con el mundo real a través de APIs REST.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5596128" y="3895344"/>
            <a:ext cx="459028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4023360"/>
            <a:ext cx="64008" cy="14447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400507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Gestión de Red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5852160" y="4352544"/>
            <a:ext cx="4242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Manejo de carga y errores como estándar de calidad.</a:t>
            </a:r>
            <a:endParaRPr lang="en-US" sz="108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SALIDA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significa que un componente sea el 'dueño' de la verdad de un formulario?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API nos devuelve un código 500, ¿nuestro código entrará al segundo .then() o al .catch()?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es fundamental usar las DevTools para probar nuestra aplicación en condiciones de red 'no ideales'?</a:t>
            </a:r>
            <a:endParaRPr lang="en-US" sz="156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Próxima Semana: El Salto al Backend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04672" y="3310128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Dejaremos de pedir datos prestados para empezar a construir nuestros propios servidores: REST, JSON y la arquitectura del lado del servidor.</a:t>
            </a:r>
            <a:endParaRPr lang="en-US" sz="1520" dirty="0"/>
          </a:p>
        </p:txBody>
      </p:sp>
      <p:sp>
        <p:nvSpPr>
          <p:cNvPr id="9" name="Shape 6"/>
          <p:cNvSpPr/>
          <p:nvPr/>
        </p:nvSpPr>
        <p:spPr>
          <a:xfrm>
            <a:off x="804672" y="532180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548640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Nos vemos en la Semana 05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Formularios y APIs</dc:title>
  <dc:subject>Clase 12</dc:subject>
  <dc:creator>Diego Obando</dc:creator>
  <cp:lastModifiedBy>Diego Obando</cp:lastModifiedBy>
  <cp:revision>1</cp:revision>
  <dcterms:created xsi:type="dcterms:W3CDTF">2026-04-05T10:13:19Z</dcterms:created>
  <dcterms:modified xsi:type="dcterms:W3CDTF">2026-04-05T10:13:19Z</dcterms:modified>
</cp:coreProperties>
</file>