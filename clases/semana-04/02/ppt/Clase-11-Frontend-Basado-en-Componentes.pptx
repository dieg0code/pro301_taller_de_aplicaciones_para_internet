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svg"/><Relationship Id="rId4" Type="http://schemas.openxmlformats.org/officeDocument/2006/relationships/image" Target="../media/image-41-4.png"/><Relationship Id="rId5" Type="http://schemas.openxmlformats.org/officeDocument/2006/relationships/image" Target="../media/image-4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svg"/><Relationship Id="rId4" Type="http://schemas.openxmlformats.org/officeDocument/2006/relationships/image" Target="../media/image-42-4.png"/><Relationship Id="rId5" Type="http://schemas.openxmlformats.org/officeDocument/2006/relationships/image" Target="../media/image-42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svg"/><Relationship Id="rId4" Type="http://schemas.openxmlformats.org/officeDocument/2006/relationships/image" Target="../media/image-46-4.png"/><Relationship Id="rId5" Type="http://schemas.openxmlformats.org/officeDocument/2006/relationships/image" Target="../media/image-4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36" y="497645"/>
            <a:ext cx="1298448" cy="4494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859170"/>
            <a:ext cx="223114" cy="5131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968" y="658368"/>
            <a:ext cx="267736" cy="7139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3327" y="859170"/>
            <a:ext cx="223114" cy="5131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17904" y="749808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Semana 04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3232" y="1408176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basado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componentes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13232" y="2542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E5ED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Routing, props, estado y composición</a:t>
            </a:r>
            <a:endParaRPr lang="en-US" sz="1360" dirty="0"/>
          </a:p>
        </p:txBody>
      </p:sp>
      <p:sp>
        <p:nvSpPr>
          <p:cNvPr id="9" name="Text 6"/>
          <p:cNvSpPr/>
          <p:nvPr/>
        </p:nvSpPr>
        <p:spPr>
          <a:xfrm>
            <a:off x="713232" y="3035808"/>
            <a:ext cx="4206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interfaz moderna no se construye como una sola página. Se modela como un árbol de piezas con responsabilidad, navegación y estado propio.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13232" y="4736592"/>
            <a:ext cx="2926080" cy="713232"/>
          </a:xfrm>
          <a:prstGeom prst="roundRect">
            <a:avLst>
              <a:gd name="adj" fmla="val 5128"/>
            </a:avLst>
          </a:prstGeom>
          <a:solidFill>
            <a:srgbClr val="355B8E"/>
          </a:solidFill>
          <a:ln w="12700">
            <a:solidFill>
              <a:srgbClr val="355B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4919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7 de abril de 2026 · 10:50 - 13:10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04672" y="4882896"/>
            <a:ext cx="73152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0368" y="1243584"/>
            <a:ext cx="4261104" cy="3218688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58384" y="1371600"/>
            <a:ext cx="4005072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68112" y="1444752"/>
            <a:ext cx="3785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Árbol de componentes — Dashboard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5394960" y="2066544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541264" y="1920240"/>
            <a:ext cx="95097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32704" y="1993392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6327648" y="256032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27648" y="2560320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2414016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65392" y="248716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DashboardLayout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7260336" y="305409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406640" y="2907792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0" y="2980944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7260336" y="354787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06640" y="3401568"/>
            <a:ext cx="122529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0" y="3474720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Topbar</a:t>
            </a:r>
            <a:endParaRPr lang="en-US" sz="940" dirty="0"/>
          </a:p>
        </p:txBody>
      </p:sp>
      <p:sp>
        <p:nvSpPr>
          <p:cNvPr id="29" name="Shape 26"/>
          <p:cNvSpPr/>
          <p:nvPr/>
        </p:nvSpPr>
        <p:spPr>
          <a:xfrm>
            <a:off x="7260336" y="4041648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406640" y="3895344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0" y="396849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MainContent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bloques, un modelo mental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pieza individual al sistema completo: componentes, navegación, flujo de datos e interacción.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35 min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207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de</a:t>
            </a:r>
            <a:endParaRPr lang="en-US" sz="1540" dirty="0"/>
          </a:p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</a:t>
            </a:r>
            <a:endParaRPr lang="en-US" sz="1540" dirty="0"/>
          </a:p>
        </p:txBody>
      </p:sp>
      <p:sp>
        <p:nvSpPr>
          <p:cNvPr id="13" name="Shape 10"/>
          <p:cNvSpPr/>
          <p:nvPr/>
        </p:nvSpPr>
        <p:spPr>
          <a:xfrm>
            <a:off x="3072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35 min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493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</a:t>
            </a:r>
            <a:endParaRPr lang="en-US" sz="1660" dirty="0"/>
          </a:p>
        </p:txBody>
      </p:sp>
      <p:sp>
        <p:nvSpPr>
          <p:cNvPr id="17" name="Shape 14"/>
          <p:cNvSpPr/>
          <p:nvPr/>
        </p:nvSpPr>
        <p:spPr>
          <a:xfrm>
            <a:off x="5358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96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35 min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779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y</a:t>
            </a:r>
            <a:endParaRPr lang="en-US" sz="1540" dirty="0"/>
          </a:p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composición</a:t>
            </a:r>
            <a:endParaRPr lang="en-US" sz="1540" dirty="0"/>
          </a:p>
        </p:txBody>
      </p:sp>
      <p:sp>
        <p:nvSpPr>
          <p:cNvPr id="21" name="Shape 18"/>
          <p:cNvSpPr/>
          <p:nvPr/>
        </p:nvSpPr>
        <p:spPr>
          <a:xfrm>
            <a:off x="7644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35 min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8065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</a:t>
            </a:r>
            <a:endParaRPr lang="en-US" sz="1660" dirty="0"/>
          </a:p>
        </p:txBody>
      </p:sp>
      <p:sp>
        <p:nvSpPr>
          <p:cNvPr id="25" name="Shape 22"/>
          <p:cNvSpPr/>
          <p:nvPr/>
        </p:nvSpPr>
        <p:spPr>
          <a:xfrm>
            <a:off x="1408176" y="4992624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09344" y="5157216"/>
            <a:ext cx="7827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de piezas → navegación → flujo de datos → respuesta a la interacción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Pensar la interfaz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árbol de componentes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archivo único a la interfaz compuesta con responsabilidad y reutilización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expositivo y conversado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de página única empieza a fallar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Del archivo único a la interfaz compuesta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index.html + styles.css + script.js → funciona para empezar.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96112" y="267004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interfaz crece, aparecen estas señales: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96112" y="2926080"/>
            <a:ext cx="4059936" cy="658368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9264" y="3035808"/>
            <a:ext cx="100584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305409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Estructuras que se repiten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1152144" y="3328416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mismo bloque visual aparece copiado tres veces en distintas partes del código.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896112" y="3675888"/>
            <a:ext cx="4059936" cy="658368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" y="3785616"/>
            <a:ext cx="100584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2144" y="380390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Tarjetas sin reutilización</a:t>
            </a:r>
            <a:endParaRPr lang="en-US" sz="1140" dirty="0"/>
          </a:p>
        </p:txBody>
      </p:sp>
      <p:sp>
        <p:nvSpPr>
          <p:cNvPr id="20" name="Text 17"/>
          <p:cNvSpPr/>
          <p:nvPr/>
        </p:nvSpPr>
        <p:spPr>
          <a:xfrm>
            <a:off x="1152144" y="4078224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tarjeta de producto vive en tres páginas distintas, duplicada a mano.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896112" y="4425696"/>
            <a:ext cx="4059936" cy="658368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9264" y="4535424"/>
            <a:ext cx="100584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52144" y="4553712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 que se propagan demasiado</a:t>
            </a:r>
            <a:endParaRPr lang="en-US" sz="1140" dirty="0"/>
          </a:p>
        </p:txBody>
      </p:sp>
      <p:sp>
        <p:nvSpPr>
          <p:cNvPr id="24" name="Text 21"/>
          <p:cNvSpPr/>
          <p:nvPr/>
        </p:nvSpPr>
        <p:spPr>
          <a:xfrm>
            <a:off x="1152144" y="4828032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el estilo de un elemento obliga a editar muchos archivos a la vez.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896112" y="5175504"/>
            <a:ext cx="4059936" cy="658368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9264" y="5285232"/>
            <a:ext cx="100584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52144" y="530352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Interfaz difícil de mantener</a:t>
            </a:r>
            <a:endParaRPr lang="en-US" sz="1140" dirty="0"/>
          </a:p>
        </p:txBody>
      </p:sp>
      <p:sp>
        <p:nvSpPr>
          <p:cNvPr id="28" name="Text 25"/>
          <p:cNvSpPr/>
          <p:nvPr/>
        </p:nvSpPr>
        <p:spPr>
          <a:xfrm>
            <a:off x="1152144" y="5577840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sabe con certeza qué toca qué. El proyecto se vuelve frágil.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5230368" y="2670048"/>
            <a:ext cx="4334256" cy="3072384"/>
          </a:xfrm>
          <a:prstGeom prst="roundRect">
            <a:avLst>
              <a:gd name="adj" fmla="val 119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58384" y="2779776"/>
            <a:ext cx="40782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68112" y="2852928"/>
            <a:ext cx="3858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 — seis semanas después</a:t>
            </a:r>
            <a:endParaRPr lang="en-US" sz="10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9824" y="3328416"/>
            <a:ext cx="3913632" cy="2322576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804672" y="5870448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05840" y="603504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no es el tamaño del archivo — es que la estructura deja de tener responsabilidades claras.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93776"/>
            <a:ext cx="1207008" cy="274320"/>
          </a:xfrm>
          <a:prstGeom prst="roundRect">
            <a:avLst>
              <a:gd name="adj" fmla="val 1666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53035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243584"/>
            <a:ext cx="8705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Dividir la interfaz en componentes.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04672" y="2395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idea simple pero poderosa.</a:t>
            </a:r>
            <a:endParaRPr lang="en-US" sz="1740" dirty="0"/>
          </a:p>
        </p:txBody>
      </p:sp>
      <p:sp>
        <p:nvSpPr>
          <p:cNvPr id="8" name="Shape 5"/>
          <p:cNvSpPr/>
          <p:nvPr/>
        </p:nvSpPr>
        <p:spPr>
          <a:xfrm>
            <a:off x="804672" y="3072384"/>
            <a:ext cx="9400032" cy="859536"/>
          </a:xfrm>
          <a:prstGeom prst="roundRect">
            <a:avLst>
              <a:gd name="adj" fmla="val 6383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200400"/>
            <a:ext cx="8961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componente no es solo un fragmento visual. Es una pieza con propósito.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4672" y="4187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B8CE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pieza puede vivir, evolucionar y reutilizarse por separado.</a:t>
            </a:r>
            <a:endParaRPr lang="en-US" sz="13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realmente un componente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Tres características de una pieza bien definida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2926080" cy="3218688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64008" cy="2962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Propósito claro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25786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existe para «partir el código por sí». Resuelve una parte identificable de la interfaz.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950208" y="2029968"/>
            <a:ext cx="2926080" cy="3218688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41648" y="2157984"/>
            <a:ext cx="64008" cy="2962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Puede reutilizarse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4206240" y="2487168"/>
            <a:ext cx="25786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tarjeta aparece varias veces con distinto contenido, probablemente conviene que sea un componente.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095744" y="2029968"/>
            <a:ext cx="2926080" cy="3218688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87184" y="2157984"/>
            <a:ext cx="64008" cy="29626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Puede componerse con otros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7351776" y="2487168"/>
            <a:ext cx="25786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pantalla se arma combinando piezas más pequeñas. No se rehace desde cero en cada ruta.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04672" y="5376672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5541264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componente no es solo un fragmento de código — es una decisión de diseño sobre dónde vive una responsabilidad.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Nombres que aparecen en proyectos reales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Cómo nombra un componente un desarrollador que trabaja con equipos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96112" y="2029968"/>
            <a:ext cx="4059936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139696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157984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habla de «la página»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1152144" y="243230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habla de piezas: Navbar, Sidebar, ProductCard, UserBadge, SearchBar.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896112" y="3017520"/>
            <a:ext cx="4059936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9264" y="3127248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3145536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nombre identifica algo concreto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1152144" y="341985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DashboardLayout organiza. StatCard muestra un valor. FilterPanel filtra. El nombre lo dice.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896112" y="4005072"/>
            <a:ext cx="4059936" cy="841248"/>
          </a:xfrm>
          <a:prstGeom prst="roundRect">
            <a:avLst>
              <a:gd name="adj" fmla="val 326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" y="4114800"/>
            <a:ext cx="100584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52144" y="4133088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vocabulario es parte del diseño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1152144" y="440740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Nombrar bien los componentes es decidir bien sus responsabilidades.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5230368" y="202996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40096" y="20665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Navbar</a:t>
            </a:r>
            <a:endParaRPr lang="en-US" sz="1140" dirty="0"/>
          </a:p>
        </p:txBody>
      </p:sp>
      <p:sp>
        <p:nvSpPr>
          <p:cNvPr id="24" name="Shape 21"/>
          <p:cNvSpPr/>
          <p:nvPr/>
        </p:nvSpPr>
        <p:spPr>
          <a:xfrm>
            <a:off x="7772400" y="202996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82128" y="20665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5230368" y="267004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40096" y="270662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ProductCard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7772400" y="267004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82128" y="270662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UserBadge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5230368" y="331012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40096" y="33467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SearchBar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7772400" y="331012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82128" y="334670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DashboardLayout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5230368" y="395020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40096" y="39867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</a:t>
            </a:r>
            <a:endParaRPr lang="en-US" sz="1140" dirty="0"/>
          </a:p>
        </p:txBody>
      </p:sp>
      <p:sp>
        <p:nvSpPr>
          <p:cNvPr id="36" name="Shape 33"/>
          <p:cNvSpPr/>
          <p:nvPr/>
        </p:nvSpPr>
        <p:spPr>
          <a:xfrm>
            <a:off x="7772400" y="395020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82128" y="398678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1140" dirty="0"/>
          </a:p>
        </p:txBody>
      </p:sp>
      <p:sp>
        <p:nvSpPr>
          <p:cNvPr id="38" name="Shape 35"/>
          <p:cNvSpPr/>
          <p:nvPr/>
        </p:nvSpPr>
        <p:spPr>
          <a:xfrm>
            <a:off x="5230368" y="459028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40096" y="462686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InputField</a:t>
            </a:r>
            <a:endParaRPr lang="en-US" sz="1140" dirty="0"/>
          </a:p>
        </p:txBody>
      </p:sp>
      <p:sp>
        <p:nvSpPr>
          <p:cNvPr id="40" name="Shape 37"/>
          <p:cNvSpPr/>
          <p:nvPr/>
        </p:nvSpPr>
        <p:spPr>
          <a:xfrm>
            <a:off x="7772400" y="4590288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82128" y="462686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FilterPanel</a:t>
            </a:r>
            <a:endParaRPr lang="en-US" sz="1140" dirty="0"/>
          </a:p>
        </p:txBody>
      </p:sp>
      <p:sp>
        <p:nvSpPr>
          <p:cNvPr id="42" name="Shape 39"/>
          <p:cNvSpPr/>
          <p:nvPr/>
        </p:nvSpPr>
        <p:spPr>
          <a:xfrm>
            <a:off x="804672" y="5413248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05840" y="557784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 proyecto real, si alguien dice «toca el ProductCard», todos saben exactamente qué archivo abrir.</a:t>
            </a:r>
            <a:endParaRPr lang="en-US" sz="9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seguir: cuatro preguntas para leer una pantalla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cambio de perspectiva que introduce el modelo de componentes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87552" y="2029968"/>
            <a:ext cx="90525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157984"/>
            <a:ext cx="6400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39696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¿Qué piezas componen esta interfaz?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243584" y="2487168"/>
            <a:ext cx="8705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qué partes parecen independientes antes de mirar el código.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987552" y="3054096"/>
            <a:ext cx="90525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182112"/>
            <a:ext cx="6400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3163824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¿Qué responsabilidad tiene cada una?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1243584" y="3511296"/>
            <a:ext cx="8705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¿Organiza el layout? ¿Muestra un dato? ¿Captura una interacción?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987552" y="4078224"/>
            <a:ext cx="90525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4206240"/>
            <a:ext cx="6400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4187952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¿Qué se repite con distinto contenido?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1243584" y="4535424"/>
            <a:ext cx="8705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ves el mismo patrón visual con datos distintos, probablemente hay un componente reutilizable.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987552" y="5102352"/>
            <a:ext cx="90525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8992" y="5230368"/>
            <a:ext cx="64008" cy="6766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43584" y="5212080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¿Qué conviene que viva separado?</a:t>
            </a:r>
            <a:endParaRPr lang="en-US" sz="1380" dirty="0"/>
          </a:p>
        </p:txBody>
      </p:sp>
      <p:sp>
        <p:nvSpPr>
          <p:cNvPr id="25" name="Text 22"/>
          <p:cNvSpPr/>
          <p:nvPr/>
        </p:nvSpPr>
        <p:spPr>
          <a:xfrm>
            <a:off x="1243584" y="5559552"/>
            <a:ext cx="8705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cambiar una pieza debería poder hacerse sin tocar todo lo demás, merece vivir aparte.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493776"/>
            <a:ext cx="5669280" cy="6089904"/>
          </a:xfrm>
          <a:prstGeom prst="roundRect">
            <a:avLst>
              <a:gd name="adj" fmla="val 6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21792"/>
            <a:ext cx="541324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94944"/>
            <a:ext cx="5193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— árbol de componentes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58368" y="1316736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170432"/>
            <a:ext cx="95097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43584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1920240" y="1207008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raíz de la aplicación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591056" y="181051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1056" y="1810512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1664208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73736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DashboardLayout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3401568" y="17007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la pantalla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523744" y="2304288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0048" y="2157984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2231136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4151376" y="21945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 lateral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523744" y="279806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0048" y="2651760"/>
            <a:ext cx="122529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2724912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Topbar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4059936" y="268833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cabecera global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523744" y="329184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3744" y="3291840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70048" y="3145536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321868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MainContent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334256" y="318211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principal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456432" y="378561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02736" y="3639312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3712464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SectionTitle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3675888" y="3959352"/>
            <a:ext cx="2340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título de sección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456432" y="427939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56432" y="4279392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02736" y="4133088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94176" y="420624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StatsGrid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3675888" y="4453128"/>
            <a:ext cx="2340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contenedor de stats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389120" y="4773168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35424" y="4626864"/>
            <a:ext cx="140817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4700016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StatCard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4608576" y="4946904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 individual ×3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456432" y="526694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56432" y="5266944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2736" y="5120640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94176" y="519379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ActivityList</a:t>
            </a:r>
            <a:endParaRPr lang="en-US" sz="940" dirty="0"/>
          </a:p>
        </p:txBody>
      </p:sp>
      <p:sp>
        <p:nvSpPr>
          <p:cNvPr id="44" name="Text 42"/>
          <p:cNvSpPr/>
          <p:nvPr/>
        </p:nvSpPr>
        <p:spPr>
          <a:xfrm>
            <a:off x="3675888" y="5440680"/>
            <a:ext cx="2340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actividad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389120" y="576072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35424" y="5614416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26864" y="568756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ActivityItem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4608576" y="5934456"/>
            <a:ext cx="14081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ítem de actividad ×3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419088" y="493776"/>
            <a:ext cx="307238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10528" y="621792"/>
            <a:ext cx="64008" cy="14813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60350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Contenedores</a:t>
            </a:r>
            <a:endParaRPr lang="en-US" sz="1280" dirty="0"/>
          </a:p>
        </p:txBody>
      </p:sp>
      <p:sp>
        <p:nvSpPr>
          <p:cNvPr id="52" name="Text 50"/>
          <p:cNvSpPr/>
          <p:nvPr/>
        </p:nvSpPr>
        <p:spPr>
          <a:xfrm>
            <a:off x="6675120" y="950976"/>
            <a:ext cx="27249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DashboardLayout, MainContent, StatsGrid organizan el espacio y los hijos.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19088" y="2395728"/>
            <a:ext cx="307238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10528" y="2523744"/>
            <a:ext cx="64008" cy="14813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0" y="250545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Visuales reutilizables</a:t>
            </a:r>
            <a:endParaRPr lang="en-US" sz="1280" dirty="0"/>
          </a:p>
        </p:txBody>
      </p:sp>
      <p:sp>
        <p:nvSpPr>
          <p:cNvPr id="56" name="Text 54"/>
          <p:cNvSpPr/>
          <p:nvPr/>
        </p:nvSpPr>
        <p:spPr>
          <a:xfrm>
            <a:off x="6675120" y="2852928"/>
            <a:ext cx="27249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StatCard y ActivityItem son piezas independientes con contenido variable.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19088" y="4297680"/>
            <a:ext cx="3072384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10528" y="4425696"/>
            <a:ext cx="64008" cy="14813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440740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Niveles de responsabilidad</a:t>
            </a:r>
            <a:endParaRPr lang="en-US" sz="1280" dirty="0"/>
          </a:p>
        </p:txBody>
      </p:sp>
      <p:sp>
        <p:nvSpPr>
          <p:cNvPr id="60" name="Text 58"/>
          <p:cNvSpPr/>
          <p:nvPr/>
        </p:nvSpPr>
        <p:spPr>
          <a:xfrm>
            <a:off x="6675120" y="4754880"/>
            <a:ext cx="272491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nivel del árbol resuelve un problema distinto de la interfaz.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96528" y="6144768"/>
            <a:ext cx="475488" cy="47548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6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DashboardLayout no es lo mismo que StatCard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Niveles distintos de responsabilidad en el árbol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 en el árbol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DashboardLayout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organizador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la estructura visual de la pantalla completa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 a Sidebar, Topbar y MainContent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el layout general: columnas, franjas, espacios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si la estructura de la pantalla cambia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StatCard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 visual reutilizable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 una sola tarjeta con un valor específico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sabe nada del layout que la contiene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usar en cualquier sección sin cambiar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solo si cambia cómo se muestra un stat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 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bien esa jerarquía evita crear componentes sin criterio o dejarlos demasiado grandes.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conviene separar un componente?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Cuatro preguntas para decidir si una pieza merece vivir aparte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para decidir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¿Aparece más de una vez?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mismo patrón visual se repite con distinto contenido, separarlo tiene sentido claro.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¿Tiene responsabilidad distinguible?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puedes nombrarla con precisión y explicar qué hace sin describir la pantalla completa.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¿Vale la pena modificarla sola?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cambiar esa pieza no debería afectar todo lo demás, merece su propio espacio.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¿Su lógica o estructura merece vivir aparte?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complejidad interna es suficiente para leer por separado, separarla mejora la legibilidad.</a:t>
            </a:r>
            <a:endParaRPr lang="en-US" sz="10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con criterio, no por reflejo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Ejemplos donde sí conviene y donde no siempre conviene separar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separar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conviene separar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pieza tiene propósito propio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564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Tarjetas que se repiten con distinto contenido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39896"/>
            <a:ext cx="3227832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4962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85616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Botones con variantes o comportamientos distintos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33088"/>
            <a:ext cx="3227832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428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78808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Headers de sección reutilizables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26280"/>
            <a:ext cx="3227832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3600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72000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compartidos entre varias rutas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261872" y="4919472"/>
            <a:ext cx="3227832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53312" y="502920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99616" y="4965192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Ítems de lista con estructura uniforme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261872" y="5312664"/>
            <a:ext cx="3227832" cy="301752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353312" y="542239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499616" y="5358384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Modales o paneles que aparecen en múltiples contextos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siempre conviene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separar añade ruido sin claridad</a:t>
            </a:r>
            <a:endParaRPr lang="en-US" sz="940" dirty="0"/>
          </a:p>
        </p:txBody>
      </p:sp>
      <p:sp>
        <p:nvSpPr>
          <p:cNvPr id="39" name="Shape 36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bloque minúsculo que aparece solo una vez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estructura tan pequeña que al extraerla confunde más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creados solo por obsesión con fragmentar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Piezas que no tienen nombre preciso ni responsabilidad clara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060" dirty="0"/>
          </a:p>
        </p:txBody>
      </p:sp>
      <p:sp>
        <p:nvSpPr>
          <p:cNvPr id="55" name="Text 52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¿mejora la claridad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el mantenimiento?</a:t>
            </a:r>
            <a:endParaRPr lang="en-US" sz="720" dirty="0"/>
          </a:p>
        </p:txBody>
      </p:sp>
      <p:sp>
        <p:nvSpPr>
          <p:cNvPr id="56" name="Shape 53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tiene costo: más archivos, más contexto. Solo vale la pena si el resultado es más legible.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93776"/>
            <a:ext cx="1207008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53035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408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útil no es:</a:t>
            </a:r>
            <a:endParaRPr lang="en-US" sz="1340" dirty="0"/>
          </a:p>
        </p:txBody>
      </p:sp>
      <p:sp>
        <p:nvSpPr>
          <p:cNvPr id="7" name="Text 4"/>
          <p:cNvSpPr/>
          <p:nvPr/>
        </p:nvSpPr>
        <p:spPr>
          <a:xfrm>
            <a:off x="804672" y="18105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«mientras más componentes, mejor»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4672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sino:</a:t>
            </a:r>
            <a:endParaRPr lang="en-US" sz="1340" dirty="0"/>
          </a:p>
        </p:txBody>
      </p:sp>
      <p:sp>
        <p:nvSpPr>
          <p:cNvPr id="9" name="Shape 6"/>
          <p:cNvSpPr/>
          <p:nvPr/>
        </p:nvSpPr>
        <p:spPr>
          <a:xfrm>
            <a:off x="804672" y="2980944"/>
            <a:ext cx="9400032" cy="969264"/>
          </a:xfrm>
          <a:prstGeom prst="roundRect">
            <a:avLst>
              <a:gd name="adj" fmla="val 75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090672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buen componente hace más clara la interfaz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más fácil su mantenimiento.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04672" y="4315968"/>
            <a:ext cx="9400032" cy="640080"/>
          </a:xfrm>
          <a:prstGeom prst="roundRect">
            <a:avLst>
              <a:gd name="adj" fmla="val 4286"/>
            </a:avLst>
          </a:prstGeom>
          <a:solidFill>
            <a:srgbClr val="EADFD0"/>
          </a:solidFill>
          <a:ln w="12700">
            <a:solidFill>
              <a:srgbClr val="EADF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7824" y="4425696"/>
            <a:ext cx="100584" cy="420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4443984"/>
            <a:ext cx="9070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tiene costo: más archivos, más contexto para leer. Solo vale la pena si el resultado es más claro.</a:t>
            </a:r>
            <a:endParaRPr lang="en-US" sz="11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proponer — tú validas el criterio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Huella metodológica: IA y agentes en componentes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delegar y qué no delegar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ayudar 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donde la IA agrega velocidad real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una primera separación en componentes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Nombrar piezas de una interfaz con vocabulario estándar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Bosquejar un árbol App → Layout → Componentes hijos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una maqueta grande en piezas más pequeñas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 ciegamente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tu criterio técnico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de separación: ¿tiene responsabilidad real?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si los nombres elegidos tienen sentido como diseño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componentes artificiales sin propósito claro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la estructura propuesta mejora o complica la lectura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partir una pantalla en demasiados componentes o crear nombres arbitrarios. El modelo mental lo pones tú.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«partir una página en trozos» y diseñar componentes con responsabilidad real?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Mirando una landing o dashboard, ¿qué piezas parecen reutilizables y cuáles parecen demasiado específicas?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aparece cuando una misma tarjeta se copia tres veces en vez de modelarse como componente?</a:t>
            </a:r>
            <a:endParaRPr lang="en-US" sz="15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Lo que se instala antes de avanzar al routing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interfaz moderna no se construye como un bloque único.</a:t>
            </a:r>
            <a:endParaRPr lang="en-US" sz="1640" dirty="0"/>
          </a:p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compone de piezas con responsabilidad y posibilidad de reutilización.</a:t>
            </a:r>
            <a:endParaRPr lang="en-US" sz="164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438144"/>
            <a:ext cx="64008" cy="15361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060704" y="3767328"/>
            <a:ext cx="2578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pieza con propósito, reutilizable y composable con otras.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438144"/>
            <a:ext cx="64008" cy="1536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206240" y="3767328"/>
            <a:ext cx="2578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pantalla se lee como jerarquía de componentes con distintos niveles de responsabilidad.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438144"/>
            <a:ext cx="64008" cy="15361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51776" y="3767328"/>
            <a:ext cx="2578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tiene valor cuando clarifica la interfaz, no cuando es reflejo automático.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04672" y="532180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43153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44982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 →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como estructura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navegación y vistas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página única al sistema de vistas: rutas, layouts y navegación como arquitectura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expositivo con lectura guiada</a:t>
            </a:r>
            <a:endParaRPr lang="en-US" sz="9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Sitio de una página vs. aplicación con vistas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2.1 Cuándo el modelo de una página única deja de alcanzar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151376" cy="3621024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64008" cy="336499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Sitio de una sola página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380390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archivo, un documento, un destino.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 bien para una landing o página informativa.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el contenido relevante vive en un solo lugar.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5084064" y="3712464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13248" y="2029968"/>
            <a:ext cx="4151376" cy="3621024"/>
          </a:xfrm>
          <a:prstGeom prst="roundRect">
            <a:avLst>
              <a:gd name="adj" fmla="val 15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04688" y="2157984"/>
            <a:ext cx="64008" cy="3364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2139696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con vistas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669280" y="2487168"/>
            <a:ext cx="380390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Inicio, panel, perfil, productos, detalle, acceso.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se mueve entre pantallas relacionadas.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vista estoy? ¿Cómo llegué aquí? ¿Qué ruta es esta?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804672" y="5815584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5980176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el producto crece, ya no hablamos solo de «una página» — hablamos de vistas.</a:t>
            </a:r>
            <a:endParaRPr lang="en-US" sz="9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preguntas cambian cuando hay vistas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2.1 Qué empieza a preguntar el desarrollador frente a una app con navegación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13232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deja de ser solo «qué se muestra».</a:t>
            </a:r>
            <a:endParaRPr lang="en-US" sz="1840" dirty="0"/>
          </a:p>
        </p:txBody>
      </p:sp>
      <p:sp>
        <p:nvSpPr>
          <p:cNvPr id="12" name="Text 9"/>
          <p:cNvSpPr/>
          <p:nvPr/>
        </p:nvSpPr>
        <p:spPr>
          <a:xfrm>
            <a:off x="804672" y="28529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 a ser también: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04672" y="3145536"/>
            <a:ext cx="9381744" cy="585216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3255264"/>
            <a:ext cx="100584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27355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¿En qué vista estoy?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" y="3858768"/>
            <a:ext cx="9381744" cy="585216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7824" y="3968496"/>
            <a:ext cx="100584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398678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llegué hasta aquí?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4672" y="4572000"/>
            <a:ext cx="9381744" cy="585216"/>
          </a:xfrm>
          <a:prstGeom prst="roundRect">
            <a:avLst>
              <a:gd name="adj" fmla="val 468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7824" y="4681728"/>
            <a:ext cx="100584" cy="3657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0704" y="470001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ruta representa esta pantalla?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4672" y="5285232"/>
            <a:ext cx="9381744" cy="585216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824" y="5394960"/>
            <a:ext cx="100584" cy="3657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541324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cambia y qué se mantiene cuando navego?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1207008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9509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es el mecanismo que</a:t>
            </a:r>
            <a:endParaRPr lang="en-US" sz="1440" dirty="0"/>
          </a:p>
        </p:txBody>
      </p:sp>
      <p:sp>
        <p:nvSpPr>
          <p:cNvPr id="7" name="Shape 4"/>
          <p:cNvSpPr/>
          <p:nvPr/>
        </p:nvSpPr>
        <p:spPr>
          <a:xfrm>
            <a:off x="804672" y="1389888"/>
            <a:ext cx="9381744" cy="804672"/>
          </a:xfrm>
          <a:prstGeom prst="roundRect">
            <a:avLst>
              <a:gd name="adj" fmla="val 795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54480"/>
            <a:ext cx="8979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 una ruta con una vista o estructura de interfaz.</a:t>
            </a:r>
            <a:endParaRPr lang="en-US" sz="2040" dirty="0"/>
          </a:p>
        </p:txBody>
      </p:sp>
      <p:sp>
        <p:nvSpPr>
          <p:cNvPr id="9" name="Text 6"/>
          <p:cNvSpPr/>
          <p:nvPr/>
        </p:nvSpPr>
        <p:spPr>
          <a:xfrm>
            <a:off x="804672" y="2359152"/>
            <a:ext cx="9381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qué pantalla o conjunto de componentes debe mostrarse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 la ubicación actual dentro de la aplicación.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804672" y="3145536"/>
            <a:ext cx="420624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264" y="31455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2761488" y="3145536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Inicio</a:t>
            </a:r>
            <a:endParaRPr lang="en-US" sz="1040" dirty="0"/>
          </a:p>
        </p:txBody>
      </p:sp>
      <p:sp>
        <p:nvSpPr>
          <p:cNvPr id="13" name="Shape 10"/>
          <p:cNvSpPr/>
          <p:nvPr/>
        </p:nvSpPr>
        <p:spPr>
          <a:xfrm>
            <a:off x="5230368" y="3145536"/>
            <a:ext cx="4206240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314553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/dashboard</a:t>
            </a:r>
            <a:endParaRPr lang="en-US" sz="1160" dirty="0"/>
          </a:p>
        </p:txBody>
      </p:sp>
      <p:sp>
        <p:nvSpPr>
          <p:cNvPr id="15" name="Text 12"/>
          <p:cNvSpPr/>
          <p:nvPr/>
        </p:nvSpPr>
        <p:spPr>
          <a:xfrm>
            <a:off x="7187184" y="3145536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Panel principal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04672" y="3822192"/>
            <a:ext cx="420624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38221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/productos</a:t>
            </a:r>
            <a:endParaRPr lang="en-US" sz="1160" dirty="0"/>
          </a:p>
        </p:txBody>
      </p:sp>
      <p:sp>
        <p:nvSpPr>
          <p:cNvPr id="18" name="Text 15"/>
          <p:cNvSpPr/>
          <p:nvPr/>
        </p:nvSpPr>
        <p:spPr>
          <a:xfrm>
            <a:off x="2761488" y="3822192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Catálogo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230368" y="3822192"/>
            <a:ext cx="4206240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38221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/productos/42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7187184" y="3822192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Detalle de producto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804672" y="4498848"/>
            <a:ext cx="420624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" y="44988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/perfil</a:t>
            </a:r>
            <a:endParaRPr lang="en-US" sz="1160" dirty="0"/>
          </a:p>
        </p:txBody>
      </p:sp>
      <p:sp>
        <p:nvSpPr>
          <p:cNvPr id="24" name="Text 21"/>
          <p:cNvSpPr/>
          <p:nvPr/>
        </p:nvSpPr>
        <p:spPr>
          <a:xfrm>
            <a:off x="2761488" y="449884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Perfil de usuario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5230368" y="4498848"/>
            <a:ext cx="4206240" cy="512064"/>
          </a:xfrm>
          <a:prstGeom prst="roundRect">
            <a:avLst>
              <a:gd name="adj" fmla="val 714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94960" y="449884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/login</a:t>
            </a:r>
            <a:endParaRPr lang="en-US" sz="1160" dirty="0"/>
          </a:p>
        </p:txBody>
      </p:sp>
      <p:sp>
        <p:nvSpPr>
          <p:cNvPr id="27" name="Text 24"/>
          <p:cNvSpPr/>
          <p:nvPr/>
        </p:nvSpPr>
        <p:spPr>
          <a:xfrm>
            <a:off x="7187184" y="4498848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 Acceso</a:t>
            </a:r>
            <a:endParaRPr lang="en-US" sz="10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routing no es solo cambiar de URL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2.2 Cuatro formas en que el routing organiza la aplicación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87552" y="2029968"/>
            <a:ext cx="9052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157984"/>
            <a:ext cx="6400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39696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vistas por propósito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243584" y="2487168"/>
            <a:ext cx="8705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pantalla tiene un componente raíz propio con su lógica y presentación.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987552" y="3035808"/>
            <a:ext cx="9052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163824"/>
            <a:ext cx="6400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3145536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Definir navegación clara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1243584" y="3493008"/>
            <a:ext cx="8705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y código saben cómo moverse entre pantallas — no hay saltos sin estructura.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987552" y="4041648"/>
            <a:ext cx="9052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4169664"/>
            <a:ext cx="6400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4151376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Mantener layouts compartidos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1243584" y="4498848"/>
            <a:ext cx="8705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Sidebar, topbar o footer existen una sola vez, compartidos entre todas las rutas que los necesiten.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987552" y="5047488"/>
            <a:ext cx="9052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8992" y="5175504"/>
            <a:ext cx="6400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43584" y="5157216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Pensar la app como sistema de pantallas conectadas</a:t>
            </a:r>
            <a:endParaRPr lang="en-US" sz="1380" dirty="0"/>
          </a:p>
        </p:txBody>
      </p:sp>
      <p:sp>
        <p:nvSpPr>
          <p:cNvPr id="25" name="Text 22"/>
          <p:cNvSpPr/>
          <p:nvPr/>
        </p:nvSpPr>
        <p:spPr>
          <a:xfrm>
            <a:off x="1243584" y="5504688"/>
            <a:ext cx="8705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un documento enorme — una red de vistas con flujo de navegación explícito entre ellas.</a:t>
            </a:r>
            <a:endParaRPr lang="en-US" sz="9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Vista, ruta y layout no son lo mismo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Tres conceptos que se suelen mezclar en aplicaciones modernas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2926080" cy="3401568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64008" cy="3145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2578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dirección o segmento que identifica una ubicación dentro de la app.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Ejemplos: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/dashboard · /productos · /usuarios/15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950208" y="2029968"/>
            <a:ext cx="2926080" cy="3401568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41648" y="2157984"/>
            <a:ext cx="64008" cy="3145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o página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06240" y="2487168"/>
            <a:ext cx="2578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pantalla que se renderiza para esa ruta.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estar formada por varios componentes ensamblados.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095744" y="2029968"/>
            <a:ext cx="2926080" cy="3401568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87184" y="2157984"/>
            <a:ext cx="64008" cy="3145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21396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351776" y="2487168"/>
            <a:ext cx="257860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compartida que se mantiene entre varias vistas.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sidebar, topbar, footer, contenedor principal.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04672" y="5596128"/>
            <a:ext cx="9381744" cy="585216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5760720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cambia · la vista cambia · el layout puede mantenerse.</a:t>
            </a:r>
            <a:endParaRPr lang="en-US" sz="13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layout compartido entre vistas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2.3 Qué permanece fijo y qué cambia al navegar entre rutas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809744" cy="4041648"/>
          </a:xfrm>
          <a:prstGeom prst="roundRect">
            <a:avLst>
              <a:gd name="adj" fmla="val 905"/>
            </a:avLst>
          </a:prstGeom>
          <a:solidFill>
            <a:srgbClr val="EEF2F8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103120"/>
            <a:ext cx="1115568" cy="3895344"/>
          </a:xfrm>
          <a:prstGeom prst="roundRect">
            <a:avLst>
              <a:gd name="adj" fmla="val 32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380390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90B4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2066544" y="2103120"/>
            <a:ext cx="3474720" cy="475488"/>
          </a:xfrm>
          <a:prstGeom prst="roundRect">
            <a:avLst>
              <a:gd name="adj" fmla="val 76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2112264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Topbar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2066544" y="2651760"/>
            <a:ext cx="3474720" cy="3346704"/>
          </a:xfrm>
          <a:prstGeom prst="roundRect">
            <a:avLst>
              <a:gd name="adj" fmla="val 109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66544" y="36393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</a:t>
            </a:r>
            <a:endParaRPr lang="en-US" sz="1640" dirty="0"/>
          </a:p>
        </p:txBody>
      </p:sp>
      <p:sp>
        <p:nvSpPr>
          <p:cNvPr id="17" name="Text 14"/>
          <p:cNvSpPr/>
          <p:nvPr/>
        </p:nvSpPr>
        <p:spPr>
          <a:xfrm>
            <a:off x="2066544" y="40416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(cambia con la ruta)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5870448" y="202996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navegar de /dashboard a /productos: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70448" y="2395728"/>
            <a:ext cx="3730752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0" y="2505456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252374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cambia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6126480" y="279806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/dashboard → /productos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5870448" y="3529584"/>
            <a:ext cx="3730752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0" y="3639312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365760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vista central cambia</a:t>
            </a:r>
            <a:endParaRPr lang="en-US" sz="1180" dirty="0"/>
          </a:p>
        </p:txBody>
      </p:sp>
      <p:sp>
        <p:nvSpPr>
          <p:cNvPr id="26" name="Text 23"/>
          <p:cNvSpPr/>
          <p:nvPr/>
        </p:nvSpPr>
        <p:spPr>
          <a:xfrm>
            <a:off x="6126480" y="393192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componente que se renderiza en la zona de contenido es distinto.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5870448" y="4663440"/>
            <a:ext cx="3730752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0" y="4773168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479145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layout permanece fijo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6126480" y="5065776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y Topbar no se re-renderizan — siguen ahí entre rutas.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804672" y="6236208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5840" y="640080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Esa distinción evita rehacer la interfaz completa cada vez que el usuario navega.</a:t>
            </a:r>
            <a:endParaRPr lang="en-US" sz="9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1207008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Incluso sin entrar a la sintaxis concreta de React Router o Next.js:</a:t>
            </a:r>
            <a:endParaRPr lang="en-US" sz="1240" dirty="0"/>
          </a:p>
        </p:txBody>
      </p:sp>
      <p:sp>
        <p:nvSpPr>
          <p:cNvPr id="7" name="Shape 4"/>
          <p:cNvSpPr/>
          <p:nvPr/>
        </p:nvSpPr>
        <p:spPr>
          <a:xfrm>
            <a:off x="804672" y="1426464"/>
            <a:ext cx="9381744" cy="950976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91056"/>
            <a:ext cx="8979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es parte del diseño arquitectónico del frontend.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4672" y="2542032"/>
            <a:ext cx="9381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línea de configuración. Es una decisión sobre cómo está estructurado el sistema.</a:t>
            </a:r>
            <a:endParaRPr lang="en-US" sz="1340" dirty="0"/>
          </a:p>
        </p:txBody>
      </p:sp>
      <p:sp>
        <p:nvSpPr>
          <p:cNvPr id="10" name="Shape 7"/>
          <p:cNvSpPr/>
          <p:nvPr/>
        </p:nvSpPr>
        <p:spPr>
          <a:xfrm>
            <a:off x="804672" y="3145536"/>
            <a:ext cx="427939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3273552"/>
            <a:ext cx="64008" cy="2359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2552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Rutas de nivel superior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1060704" y="3602736"/>
            <a:ext cx="3931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Definen las secciones principales: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 ·  /dashboard  ·  /productos  ·  /login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visible desde la URL — la raíz del sistema.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40096" y="3145536"/>
            <a:ext cx="4279392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31536" y="3273552"/>
            <a:ext cx="64008" cy="2359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96128" y="32552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Rutas anidadas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5596128" y="3602736"/>
            <a:ext cx="3931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Desglosan el contenido dentro de esas secciones: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/productos/42  ·  /productos/42/editar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 de componentes: quién gestiona qué parte.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que organiza el routing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Routing como decisión de estructura — qué responde un routing bien diseñado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diseño del routing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vistas necesitan layout compartido?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productos y perfil comparten sidebar. Login y registro no necesitan ese contexto.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páginas son públicas o requieren acceso?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rutas de inicio y registro son públicas. El panel y el perfil requieren autenticación.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partes cambian al navegar y cuáles no?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vista central cambia con cada ruta. El layout permanece. Esa frontera define la jerarquía.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componentes pertenecen solo a una ruta?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lo exclusivo de una vista de lo reutilizable entre varias — esa es la frontera del routing.</a:t>
            </a:r>
            <a:endParaRPr lang="en-US" sz="10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el routing no 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2.4 Confusiones frecuentes sobre routing en una app frontend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— mitos y realidades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es poner un &lt;a href&gt; en el HTML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decide qué componente gestiona qué ubicación — no es solo un enlace.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ruta implica rehacer la interfaz desde cero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layout se comparte entre rutas. Solo cambia la vista central al navegar.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routing se configura al final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routing define la estructura del proyecto desde el inicio. Agregarlo tarde obliga a reestructurar.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funciona en el navegador, el routing está bien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routing técnicamente funcional puede ser incoherente como arquitectura y generar deuda.</a:t>
            </a:r>
            <a:endParaRPr lang="en-US" sz="10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sugerir — tú validas la estructura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Huella metodológica: IA y agentes en routing y navegación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delegar y qué no delegar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 ayudar 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donde la IA agrega velocidad real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un mapa inicial de rutas y vistas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qué pantallas podría necesitar la aplicación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Bosquejar una estructura pages/, routes/ o app/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la diferencia entre layout y vista específica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 sin revisión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tu criterio técnico y de producto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lógica estructural de la navegación de la app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qué rutas tienen sentido para los usuarios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rutas innecesarias o vistas duplicadas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que la estructura técnica sirva al producto real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sugiere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puede proponer rutas técnicamente válidas pero pobres como experiencia de usuario. El criterio de producto lo pones tú.</a:t>
            </a:r>
            <a:endParaRPr lang="en-US" sz="8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hay entre un sitio de una sola página y una aplicación con varias vistas?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cambias de /dashboard a /productos, ¿qué partes de la interfaz podrían mantenerse y cuáles deberían cambiar?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el routing no debería entenderse solo como «poner enlaces»?</a:t>
            </a:r>
            <a:endParaRPr lang="en-US" sz="15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Lo que se instala antes de avanzar a props y composición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routing no solo mueve al usuario entre pantallas.</a:t>
            </a:r>
            <a:endParaRPr lang="en-US" sz="1640" dirty="0"/>
          </a:p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 cómo la app distribuye sus vistas, layouts y navegación.</a:t>
            </a:r>
            <a:endParaRPr lang="en-US" sz="164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438144"/>
            <a:ext cx="64008" cy="15361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060704" y="3767328"/>
            <a:ext cx="2578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dirección que identifica una ubicación. La URL es su expresión visible.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438144"/>
            <a:ext cx="64008" cy="1536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 / Layout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206240" y="3767328"/>
            <a:ext cx="2578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vista cambia por ruta. El layout se comparte. No son lo mismo.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438144"/>
            <a:ext cx="64008" cy="15361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51776" y="3767328"/>
            <a:ext cx="25786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no es configuración — es una decisión sobre cómo está estructurado el sistema.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04672" y="532180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43153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44982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 →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y composición como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datos hacia abajo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las piezas se ensamblan y cómo viaja la información desde los padres hacia los hijos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lectura guiada de jerarquía</a:t>
            </a:r>
            <a:endParaRPr lang="en-US" sz="9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del monolito acoplado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Por qué un solo archivo con estructura y datos rompe la escalabilidad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acoplada vs. Estructura compuesta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Monolito (HTML/JS tradicional)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estructura en el mismo lugar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Copias y pegas el mismo &lt;div&gt; 5 veces para mostrar 5 productos.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diseño de la tarjeta cambia, editas 5 lugares.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se vuelve inmanejable (+1000 líneas).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(precios, títulos) están fijos en el HTML (Hardcoding).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Composición (Frontend Moderno)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de responsabilidades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Creas UN componente &lt;ProductCard /&gt;.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llamas 5 veces pasándole datos distintos.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diseño cambia, editas un solo archivo.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fluyen dinámicamente; la estructura es reutilizable.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escalabilidad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mantenimiento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Acoplar diseño y datos funciona para una página estática. Para un producto real, necesitas componer.</a:t>
            </a:r>
            <a:endParaRPr lang="en-US" sz="8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Entrenar el ojo: De Diseño a Componentes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Cómo los desarrolladores senior analizan una interfaz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381744" cy="585216"/>
          </a:xfrm>
          <a:prstGeom prst="roundRect">
            <a:avLst>
              <a:gd name="adj" fmla="val 781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programar, debemos aprender a 'rebanar' la interfaz.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804672" y="2670048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2798064"/>
            <a:ext cx="64008" cy="2670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797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Identificar Patrones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060704" y="3127248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elementos se repiten? (Botones, inputs, tarjetas). Esos son tus futuros componentes.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2670048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2798064"/>
            <a:ext cx="64008" cy="2670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27797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Definir lo Variable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206240" y="3127248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cambia entre una repetición y otra? (Títulos, imágenes, precios). Esas son tus Props.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2670048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2798064"/>
            <a:ext cx="64008" cy="2670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277977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Trazar Jerarquías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51776" y="3127248"/>
            <a:ext cx="25786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contiene a quién? ¿Qué pieza es el Layout y cuál es el detalle?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04672" y="5779008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888736"/>
            <a:ext cx="100584" cy="2560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90702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Mental: Mira Spotify. El reproductor es UN componente. La canción y el artista son sus PROPS.</a:t>
            </a:r>
            <a:endParaRPr lang="en-US" sz="10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Composición: El arte de ensamblar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Construir una interfaz insertando unos componentes dentro de otros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658368"/>
          </a:xfrm>
          <a:prstGeom prst="roundRect">
            <a:avLst>
              <a:gd name="adj" fmla="val 8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pantalla no se rehace desde cero cada vez — se compone.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2944368"/>
            <a:ext cx="2926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072384"/>
            <a:ext cx="64008" cy="19385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0540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Piezas que organizan</a:t>
            </a:r>
            <a:endParaRPr lang="en-US" sz="1380" dirty="0"/>
          </a:p>
        </p:txBody>
      </p:sp>
      <p:sp>
        <p:nvSpPr>
          <p:cNvPr id="15" name="Text 12"/>
          <p:cNvSpPr/>
          <p:nvPr/>
        </p:nvSpPr>
        <p:spPr>
          <a:xfrm>
            <a:off x="1060704" y="3401568"/>
            <a:ext cx="25786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como Layout, Grid o Container que deciden dónde van los hijos.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2944368"/>
            <a:ext cx="2926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072384"/>
            <a:ext cx="64008" cy="19385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0540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Piezas que muestran</a:t>
            </a:r>
            <a:endParaRPr lang="en-US" sz="1380" dirty="0"/>
          </a:p>
        </p:txBody>
      </p:sp>
      <p:sp>
        <p:nvSpPr>
          <p:cNvPr id="19" name="Text 16"/>
          <p:cNvSpPr/>
          <p:nvPr/>
        </p:nvSpPr>
        <p:spPr>
          <a:xfrm>
            <a:off x="4206240" y="3401568"/>
            <a:ext cx="25786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como Title, Badge o Avatar que resuelven una parte visual única.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2944368"/>
            <a:ext cx="29260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072384"/>
            <a:ext cx="64008" cy="19385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05409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Piezas que repiten</a:t>
            </a:r>
            <a:endParaRPr lang="en-US" sz="1380" dirty="0"/>
          </a:p>
        </p:txBody>
      </p:sp>
      <p:sp>
        <p:nvSpPr>
          <p:cNvPr id="23" name="Text 20"/>
          <p:cNvSpPr/>
          <p:nvPr/>
        </p:nvSpPr>
        <p:spPr>
          <a:xfrm>
            <a:off x="7351776" y="3401568"/>
            <a:ext cx="257860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como ListItem o ProductCard que multiplican un patrón visual con datos.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04672" y="5449824"/>
            <a:ext cx="9381744" cy="676656"/>
          </a:xfrm>
          <a:prstGeom prst="roundRect">
            <a:avLst>
              <a:gd name="adj" fmla="val 405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59552"/>
            <a:ext cx="100584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77840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composición permite construir pantallas complejas sin que todo quede mezclado en un solo archivo gigante.</a:t>
            </a:r>
            <a:endParaRPr lang="en-US" sz="11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Analogía Mental: El Set de Construcción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Entender la composición desde el mundo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377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🧩 El Principio de las Piezas Intercambiables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9728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bloque 2x4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3108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Es un componente base. No sabe si será parte de una casa o un auto. Solo sabe ser un bloque 2x4.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10972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ensamblaje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37490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Juntas bloques para hacer una pared (Componente compuesto).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109728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reutilización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4389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Usas la misma técnica de pared en 10 edificios distintos. Si cambias el color del bloque, cambia toda la pared.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097280" y="5029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separación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74720" y="5029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Si la pared se rompe, solo cambias la pared. No desarmas la ciudad entera.</a:t>
            </a:r>
            <a:endParaRPr lang="en-US" sz="12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Jerarquía: Contenedores vs Presentación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Distinguir los roles arquitectónicos de los componentes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en el Árbol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 Contenedor (Smart)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 de dónde vienen los datos. Sabe cómo conectarse al backend o al estado global. Delega el renderizado a otros.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 Presentacional (Dumb)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sabe de dónde vienen los datos. Solo recibe props y muestra HTML/CSS. Altamente reutilizable.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Oro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Mantén la mayoría de tus componentes 'tontos' (presentacionales). Haz que la lógica pesada viva arriba en los contenedores.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ProductListPage (Contenedor) hace el fetch() de productos. ProductCard (Presentacional) solo recibe un producto y lo dibuja.</a:t>
            </a:r>
            <a:endParaRPr lang="en-US" sz="10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Visualización: El árbol de un Dashboard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3.1 Cómo se ve la composición en un producto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566928" y="2029968"/>
            <a:ext cx="512064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157984"/>
            <a:ext cx="486460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31136"/>
            <a:ext cx="4645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 de Dashboard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852928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2706624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277977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DashboardLayout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2542032" y="274320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Contenedor Principal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664208" y="334670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64208" y="3346704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10512" y="3200400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01952" y="327355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3291840" y="3236976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Menú lateral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596896" y="384048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0" y="3694176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34640" y="3767328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NavItem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4224528" y="37307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'Inicio'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2596896" y="433425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0" y="4187952"/>
            <a:ext cx="131673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34640" y="4261104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NavItem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4224528" y="42245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'Perfil'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664208" y="4828032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64208" y="4828032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810512" y="4681728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901952" y="475488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MainContent</a:t>
            </a:r>
            <a:endParaRPr lang="en-US" sz="940" dirty="0"/>
          </a:p>
        </p:txBody>
      </p:sp>
      <p:sp>
        <p:nvSpPr>
          <p:cNvPr id="34" name="Text 31"/>
          <p:cNvSpPr/>
          <p:nvPr/>
        </p:nvSpPr>
        <p:spPr>
          <a:xfrm>
            <a:off x="3474720" y="471830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 de datos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2596896" y="5321808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596896" y="5321808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743200" y="5175504"/>
            <a:ext cx="122529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834640" y="5248656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4133088" y="521208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Barra superior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3529584" y="581558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675888" y="5669280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767328" y="574243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UserAvatar</a:t>
            </a:r>
            <a:endParaRPr lang="en-US" sz="940" dirty="0"/>
          </a:p>
        </p:txBody>
      </p:sp>
      <p:sp>
        <p:nvSpPr>
          <p:cNvPr id="43" name="Text 40"/>
          <p:cNvSpPr/>
          <p:nvPr/>
        </p:nvSpPr>
        <p:spPr>
          <a:xfrm>
            <a:off x="3749040" y="5989320"/>
            <a:ext cx="1792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 de perfil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2596896" y="630936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0" y="6163056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834640" y="623620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WidgetGrid</a:t>
            </a:r>
            <a:endParaRPr lang="en-US" sz="940" dirty="0"/>
          </a:p>
        </p:txBody>
      </p:sp>
      <p:sp>
        <p:nvSpPr>
          <p:cNvPr id="47" name="Text 44"/>
          <p:cNvSpPr/>
          <p:nvPr/>
        </p:nvSpPr>
        <p:spPr>
          <a:xfrm>
            <a:off x="4407408" y="61996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Contenedor de stats</a:t>
            </a:r>
            <a:endParaRPr lang="en-US" sz="720" dirty="0"/>
          </a:p>
        </p:txBody>
      </p:sp>
      <p:sp>
        <p:nvSpPr>
          <p:cNvPr id="48" name="Shape 45"/>
          <p:cNvSpPr/>
          <p:nvPr/>
        </p:nvSpPr>
        <p:spPr>
          <a:xfrm>
            <a:off x="5961888" y="2029968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035040" y="213969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17920" y="215798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Padres e Hijos</a:t>
            </a:r>
            <a:endParaRPr lang="en-US" sz="1240" dirty="0"/>
          </a:p>
        </p:txBody>
      </p:sp>
      <p:sp>
        <p:nvSpPr>
          <p:cNvPr id="51" name="Text 48"/>
          <p:cNvSpPr/>
          <p:nvPr/>
        </p:nvSpPr>
        <p:spPr>
          <a:xfrm>
            <a:off x="6217920" y="2432304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es hijo de DashboardLayout, pero padre de NavItem.</a:t>
            </a:r>
            <a:endParaRPr lang="en-US" sz="1020" dirty="0"/>
          </a:p>
        </p:txBody>
      </p:sp>
      <p:sp>
        <p:nvSpPr>
          <p:cNvPr id="52" name="Shape 49"/>
          <p:cNvSpPr/>
          <p:nvPr/>
        </p:nvSpPr>
        <p:spPr>
          <a:xfrm>
            <a:off x="5961888" y="3438144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035040" y="3547872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17920" y="356616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Encapsulamiento</a:t>
            </a:r>
            <a:endParaRPr lang="en-US" sz="1240" dirty="0"/>
          </a:p>
        </p:txBody>
      </p:sp>
      <p:sp>
        <p:nvSpPr>
          <p:cNvPr id="55" name="Text 52"/>
          <p:cNvSpPr/>
          <p:nvPr/>
        </p:nvSpPr>
        <p:spPr>
          <a:xfrm>
            <a:off x="6217920" y="3840480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WidgetGrid no necesita saber que existe el Sidebar.</a:t>
            </a:r>
            <a:endParaRPr lang="en-US" sz="1020" dirty="0"/>
          </a:p>
        </p:txBody>
      </p:sp>
      <p:sp>
        <p:nvSpPr>
          <p:cNvPr id="56" name="Shape 53"/>
          <p:cNvSpPr/>
          <p:nvPr/>
        </p:nvSpPr>
        <p:spPr>
          <a:xfrm>
            <a:off x="5961888" y="4846320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035040" y="4956048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217920" y="497433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Navegación Mental</a:t>
            </a:r>
            <a:endParaRPr lang="en-US" sz="1240" dirty="0"/>
          </a:p>
        </p:txBody>
      </p:sp>
      <p:sp>
        <p:nvSpPr>
          <p:cNvPr id="59" name="Text 56"/>
          <p:cNvSpPr/>
          <p:nvPr/>
        </p:nvSpPr>
        <p:spPr>
          <a:xfrm>
            <a:off x="6217920" y="5248656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falla la foto de perfil, vas directo a revisar UserAvatar.</a:t>
            </a:r>
            <a:endParaRPr lang="en-US" sz="10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1207008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8705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props son la entrada de un componente.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804672" y="2340864"/>
            <a:ext cx="9400032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468880"/>
            <a:ext cx="8961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 datos (parámetros) que un componente recibe desde afuera para decidir qué mostrar o cómo comportarse.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61872" y="37673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Hacen que la UI sea dinámica (mismo diseño, distintos datos).</a:t>
            </a:r>
            <a:endParaRPr lang="en-US" sz="1420" dirty="0"/>
          </a:p>
        </p:txBody>
      </p:sp>
      <p:sp>
        <p:nvSpPr>
          <p:cNvPr id="11" name="Text 8"/>
          <p:cNvSpPr/>
          <p:nvPr/>
        </p:nvSpPr>
        <p:spPr>
          <a:xfrm>
            <a:off x="804672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61872" y="43342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componente hijo NO decide sus props, el padre se las impone.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804672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61872" y="49011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inmutables para el hijo (Solo Lectura).</a:t>
            </a:r>
            <a:endParaRPr lang="en-US" sz="14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Puente Mental: De Atributos a Props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Por qué ya sabes más de Props de lo que crees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 HTML vs Prop de React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HTML (Estático)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 predefinidos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&lt;img src="foto.jpg" /&gt;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&lt;a href="https://google.cl"&gt;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&lt;input type="password"&gt;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puedes usar los que el navegador conoce.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Componentes (Dinámico)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Props personalizadas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&lt;Tarjeta title="Hola" /&gt;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&lt;Boton color="red" /&gt;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&lt;Avatar user={usuario} /&gt;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Tú inventas el nombre y el tipo de dato que pasas.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lo mismo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Prop es simplemente un atributo que tú inventaste para configurar tu propio componente.</a:t>
            </a:r>
            <a:endParaRPr lang="en-US" sz="8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Props como Contrato Estricto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3.2 La relación de confianza entre el componente Padre y el Hijo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Acuerdo de Renderizado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Hijo declara qué necesita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firma del componente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«Para renderizar, EXIJO que me des un título y un precio».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«Si no me das un título, me romperé o me veré mal».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la interfaz pública del componente (API del componente).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Padre cumple el contrato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inyección de datos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Llama al componente y pasa exactamente lo que se le pide.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Asegura que los datos sean del tipo correcto (String, Number).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Padre es el único responsable de la veracidad del dato.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contrato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 de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funcionamiento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tipado estricto (como TypeScript) brilla aquí: impide que el Padre rompa el contrato al compilar.</a:t>
            </a:r>
            <a:endParaRPr lang="en-US" sz="8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Datos Unidireccional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Por qué la información solo viaja hacia abajo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566928" y="2029968"/>
            <a:ext cx="4572000" cy="3950208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157984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31136"/>
            <a:ext cx="4096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Data Flow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852928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2706624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277977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ProductList (Padre)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2542032" y="27432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664208" y="334670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64208" y="3346704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10512" y="3200400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01952" y="327355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ProductCard (Hijo)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3474720" y="323697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props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2596896" y="384048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43200" y="3694176"/>
            <a:ext cx="113385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834640" y="3767328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Badge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4041648" y="3730752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props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2596896" y="4334256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0" y="4187952"/>
            <a:ext cx="1225296" cy="292608"/>
          </a:xfrm>
          <a:prstGeom prst="roundRect">
            <a:avLst>
              <a:gd name="adj" fmla="val 9375"/>
            </a:avLst>
          </a:prstGeom>
          <a:solidFill>
            <a:srgbClr val="EDE6D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34640" y="4261104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4133088" y="42245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props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5779008" y="2029968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52160" y="213969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35040" y="215798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Predicibilidad</a:t>
            </a:r>
            <a:endParaRPr lang="en-US" sz="1240" dirty="0"/>
          </a:p>
        </p:txBody>
      </p:sp>
      <p:sp>
        <p:nvSpPr>
          <p:cNvPr id="33" name="Text 30"/>
          <p:cNvSpPr/>
          <p:nvPr/>
        </p:nvSpPr>
        <p:spPr>
          <a:xfrm>
            <a:off x="6035040" y="2432304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precio se muestra mal, sabes exactamente de dónde vino: del componente superior. No hay 'estado fantasma'.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5779008" y="3438144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52160" y="3547872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35040" y="356616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</a:t>
            </a:r>
            <a:endParaRPr lang="en-US" sz="1240" dirty="0"/>
          </a:p>
        </p:txBody>
      </p:sp>
      <p:sp>
        <p:nvSpPr>
          <p:cNvPr id="37" name="Text 34"/>
          <p:cNvSpPr/>
          <p:nvPr/>
        </p:nvSpPr>
        <p:spPr>
          <a:xfrm>
            <a:off x="6035040" y="3840480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flujo hacia abajo (Top-Down) hace que el código sea fácil de depurar leyendo la cadena de padres.</a:t>
            </a:r>
            <a:endParaRPr lang="en-US" sz="1020" dirty="0"/>
          </a:p>
        </p:txBody>
      </p:sp>
      <p:sp>
        <p:nvSpPr>
          <p:cNvPr id="38" name="Shape 35"/>
          <p:cNvSpPr/>
          <p:nvPr/>
        </p:nvSpPr>
        <p:spPr>
          <a:xfrm>
            <a:off x="5779008" y="4846320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52160" y="4956048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35040" y="497433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</a:t>
            </a:r>
            <a:endParaRPr lang="en-US" sz="1240" dirty="0"/>
          </a:p>
        </p:txBody>
      </p:sp>
      <p:sp>
        <p:nvSpPr>
          <p:cNvPr id="41" name="Text 38"/>
          <p:cNvSpPr/>
          <p:nvPr/>
        </p:nvSpPr>
        <p:spPr>
          <a:xfrm>
            <a:off x="6035040" y="5248656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hijo no altera los datos de sus hermanos. Aisla los efectos secundarios.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5321808" y="2852928"/>
            <a:ext cx="384048" cy="493776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Código: Pasando y Recibiendo Props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Cómo se ve el contrato en código real (JSX)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72000" cy="3840480"/>
          </a:xfrm>
          <a:prstGeom prst="roundRect">
            <a:avLst>
              <a:gd name="adj" fmla="val 9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App.jsx (El Padre)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151376" cy="30906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3657600"/>
            <a:ext cx="274320" cy="365760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70448" y="2029968"/>
            <a:ext cx="4297680" cy="3840480"/>
          </a:xfrm>
          <a:prstGeom prst="roundRect">
            <a:avLst>
              <a:gd name="adj" fmla="val 9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98464" y="2139696"/>
            <a:ext cx="404164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08192" y="2212848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ProductCard.jsx (El Hijo)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89904" y="2596896"/>
            <a:ext cx="3877056" cy="30906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Sintaxis Pro: Desestructuración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3.3 Por qué los desarrolladores odian escribir 'props.'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72000" cy="3840480"/>
          </a:xfrm>
          <a:prstGeom prst="roundRect">
            <a:avLst>
              <a:gd name="adj" fmla="val 9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Opción A: Objeto props (Verboso)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151376" cy="30906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14416" y="2029968"/>
            <a:ext cx="4572000" cy="3840480"/>
          </a:xfrm>
          <a:prstGeom prst="roundRect">
            <a:avLst>
              <a:gd name="adj" fmla="val 9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42432" y="2139696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52160" y="2212848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Opción B: Desestructuración (Limpio)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3872" y="2596896"/>
            <a:ext cx="4151376" cy="309067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04672" y="5961888"/>
            <a:ext cx="9381744" cy="384048"/>
          </a:xfrm>
          <a:prstGeom prst="roundRect">
            <a:avLst>
              <a:gd name="adj" fmla="val 95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5840" y="6126480"/>
            <a:ext cx="897940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Opción B es el estándar de la industria. Hace el código más legible y fácil de mantener.</a:t>
            </a:r>
            <a:endParaRPr lang="en-US" sz="9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 Estudio: Reutilización Inteligente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Un componente, tres instancias, tres identidades visuales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381744" cy="585216"/>
          </a:xfrm>
          <a:prstGeom prst="roundRect">
            <a:avLst>
              <a:gd name="adj" fmla="val 7813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consistencia visual se mantiene. Los datos mutan el contexto.</a:t>
            </a:r>
            <a:endParaRPr lang="en-US" sz="1480" dirty="0"/>
          </a:p>
        </p:txBody>
      </p:sp>
      <p:sp>
        <p:nvSpPr>
          <p:cNvPr id="12" name="Shape 9"/>
          <p:cNvSpPr/>
          <p:nvPr/>
        </p:nvSpPr>
        <p:spPr>
          <a:xfrm>
            <a:off x="804672" y="2670048"/>
            <a:ext cx="2962656" cy="2194560"/>
          </a:xfrm>
          <a:prstGeom prst="roundRect">
            <a:avLst>
              <a:gd name="adj" fmla="val 1667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2926080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↑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04672" y="3547872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804672" y="389534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$4.2M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04672" y="4498848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del mes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804672" y="4956048"/>
            <a:ext cx="2962656" cy="731520"/>
          </a:xfrm>
          <a:prstGeom prst="rect">
            <a:avLst/>
          </a:prstGeom>
          <a:solidFill>
            <a:srgbClr val="EEF2F8"/>
          </a:solidFill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&lt;StatCard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title="Ventas"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value="$4.2M"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variant="default"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023360" y="2670048"/>
            <a:ext cx="2962656" cy="2194560"/>
          </a:xfrm>
          <a:prstGeom prst="roundRect">
            <a:avLst>
              <a:gd name="adj" fmla="val 1667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23360" y="2926080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👥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023360" y="3547872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4023360" y="389534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1,240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4023360" y="4498848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totales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4023360" y="4956048"/>
            <a:ext cx="2962656" cy="731520"/>
          </a:xfrm>
          <a:prstGeom prst="rect">
            <a:avLst/>
          </a:prstGeom>
          <a:solidFill>
            <a:srgbClr val="EEF2F8"/>
          </a:solidFill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&lt;StatCard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title="Usuarios"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value="1,240"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variant="default"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242048" y="2670048"/>
            <a:ext cx="2962656" cy="2194560"/>
          </a:xfrm>
          <a:prstGeom prst="roundRect">
            <a:avLst>
              <a:gd name="adj" fmla="val 1667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42048" y="2926080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!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242048" y="3547872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</a:t>
            </a:r>
            <a:endParaRPr lang="en-US" sz="1260" dirty="0"/>
          </a:p>
        </p:txBody>
      </p:sp>
      <p:sp>
        <p:nvSpPr>
          <p:cNvPr id="27" name="Text 24"/>
          <p:cNvSpPr/>
          <p:nvPr/>
        </p:nvSpPr>
        <p:spPr>
          <a:xfrm>
            <a:off x="7242048" y="3895344"/>
            <a:ext cx="296265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242048" y="4498848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caídos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7242048" y="4956048"/>
            <a:ext cx="2962656" cy="731520"/>
          </a:xfrm>
          <a:prstGeom prst="rect">
            <a:avLst/>
          </a:prstGeom>
          <a:solidFill>
            <a:srgbClr val="EEF2F8"/>
          </a:solidFill>
          <a:ln/>
        </p:spPr>
        <p:txBody>
          <a:bodyPr wrap="square" lIns="1270" tIns="1270" rIns="1270" bIns="127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&lt;StatCard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title="Alertas"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value="12"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variant="danger"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para Lógica Visual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Cómo las props controlan qué se muestra y qué no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937760" cy="4023360"/>
          </a:xfrm>
          <a:prstGeom prst="roundRect">
            <a:avLst>
              <a:gd name="adj" fmla="val 9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68172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462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Button.jsx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517136" cy="32735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61888" y="2029968"/>
            <a:ext cx="42245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0" y="213969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17920" y="215798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6217920" y="2432304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&lt;Button label="Ver más" /&gt;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5961888" y="3438144"/>
            <a:ext cx="42245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35040" y="3547872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7920" y="356616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Icono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6217920" y="3840480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&lt;Button label="Favorito" showIcon /&gt;</a:t>
            </a:r>
            <a:endParaRPr lang="en-US" sz="920" dirty="0"/>
          </a:p>
        </p:txBody>
      </p:sp>
      <p:sp>
        <p:nvSpPr>
          <p:cNvPr id="22" name="Shape 18"/>
          <p:cNvSpPr/>
          <p:nvPr/>
        </p:nvSpPr>
        <p:spPr>
          <a:xfrm>
            <a:off x="5961888" y="4846320"/>
            <a:ext cx="42245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35040" y="4956048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17920" y="497433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Peligro</a:t>
            </a:r>
            <a:endParaRPr lang="en-US" sz="1120" dirty="0"/>
          </a:p>
        </p:txBody>
      </p:sp>
      <p:sp>
        <p:nvSpPr>
          <p:cNvPr id="25" name="Text 21"/>
          <p:cNvSpPr/>
          <p:nvPr/>
        </p:nvSpPr>
        <p:spPr>
          <a:xfrm>
            <a:off x="6217920" y="5248656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&lt;Button label="Borrar" color="red" /&gt;</a:t>
            </a:r>
            <a:endParaRPr lang="en-US" sz="92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Costo del Hardcoding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3.4 Por qué inyectar props salva cientos de horas de mantenimiento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Duros vs Props Dinámicas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Hardcoding (Mala Práctica)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escritos directo en el HTML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&lt;h1&gt;Producto Z&lt;/h1&gt; escrito directo en la tarjeta.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necesitas mostrar otro producto, debes duplicar el componente entero.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cliente pide que los títulos sean &lt;h2&gt;, debes buscar y reemplazar en 50 archivos.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de Props (Buena Práctica)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Inyección de dependencias visual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&lt;h1&gt;{props.title}&lt;/h1&gt; escrito en la tarjeta.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componente sirve para cualquier producto, solo cambias la prop al llamarlo.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cliente pide &lt;h2&gt;, cambias UNA línea de código y se arreglan 50 tarjetas.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deuda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costo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cambio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Hardcodear es robarle tiempo a tu yo del futuro. Usa props para todo dato que pertenezca al dominio del negocio.</a:t>
            </a:r>
            <a:endParaRPr lang="en-US" sz="8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Composición Avanzada: La Prop 'children'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3.5 Inyectar componentes completos dentro de otros (Slots)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585216"/>
          </a:xfrm>
          <a:prstGeom prst="roundRect">
            <a:avLst>
              <a:gd name="adj" fmla="val 78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veces, el Padre no quiere pasar datos, quiere pasar ESTRUCTURA.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" y="2834640"/>
            <a:ext cx="4572000" cy="3291840"/>
          </a:xfrm>
          <a:prstGeom prst="roundRect">
            <a:avLst>
              <a:gd name="adj" fmla="val 111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2944368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017520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CardWrapper.jsx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3401568"/>
            <a:ext cx="4151376" cy="2542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14416" y="2834640"/>
            <a:ext cx="4572000" cy="3291840"/>
          </a:xfrm>
          <a:prstGeom prst="roundRect">
            <a:avLst>
              <a:gd name="adj" fmla="val 111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42432" y="2944368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52160" y="3017520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App.jsx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3872" y="3401568"/>
            <a:ext cx="4151376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🐛 Error Común: Intentar Mutar una Prop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error más destructivo de la inmutabilidad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389120" cy="3474720"/>
          </a:xfrm>
          <a:prstGeom prst="roundRect">
            <a:avLst>
              <a:gd name="adj" fmla="val 10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13308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3913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Counter.jsx (Bug ❌)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3968496" cy="2724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13248" y="2029968"/>
            <a:ext cx="477316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04688" y="2157984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0" y="213969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Predicción Errónea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5669280" y="248716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Creemos que al sumar `clicks`, el botón mostrará el nuevo número.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5413248" y="2926080"/>
            <a:ext cx="477316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504688" y="3054096"/>
            <a:ext cx="109728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69280" y="303580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Realidad Fuerte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5669280" y="3383280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TypeError: Cannot assign to read only property. O simplemente la UI no se actualiza.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5413248" y="3822192"/>
            <a:ext cx="477316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504688" y="3950208"/>
            <a:ext cx="109728" cy="548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669280" y="393192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Por qué falla</a:t>
            </a:r>
            <a:endParaRPr lang="en-US" sz="1120" dirty="0"/>
          </a:p>
        </p:txBody>
      </p:sp>
      <p:sp>
        <p:nvSpPr>
          <p:cNvPr id="25" name="Text 21"/>
          <p:cNvSpPr/>
          <p:nvPr/>
        </p:nvSpPr>
        <p:spPr>
          <a:xfrm>
            <a:off x="5669280" y="4279392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props son de SOLO LECTURA. El hijo no puede cambiar el dato que el padre le confió.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5413248" y="4718304"/>
            <a:ext cx="4773168" cy="80467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504688" y="4846320"/>
            <a:ext cx="109728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669280" y="482803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La Solución</a:t>
            </a:r>
            <a:endParaRPr lang="en-US" sz="1120" dirty="0"/>
          </a:p>
        </p:txBody>
      </p:sp>
      <p:sp>
        <p:nvSpPr>
          <p:cNvPr id="29" name="Text 25"/>
          <p:cNvSpPr/>
          <p:nvPr/>
        </p:nvSpPr>
        <p:spPr>
          <a:xfrm>
            <a:off x="5669280" y="5175504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el dato cambie desde adentro y actualice la UI, necesitamos ESTADO (Bloque 4).</a:t>
            </a:r>
            <a:endParaRPr lang="en-US" sz="940" dirty="0"/>
          </a:p>
        </p:txBody>
      </p:sp>
      <p:sp>
        <p:nvSpPr>
          <p:cNvPr id="30" name="Shape 26"/>
          <p:cNvSpPr/>
          <p:nvPr/>
        </p:nvSpPr>
        <p:spPr>
          <a:xfrm>
            <a:off x="804672" y="5687568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05840" y="585216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Oro: «El componente nunca, jamás, modifica sus propias props».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ventaja tiene construir una sección con componentes reutilizables en vez de copiar el mismo bloque de HTML muchas veces?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varias tarjetas de productos comparten estructura visual pero cambian precio y foto, ¿qué conviene variar: crear componentes nuevos o inyectar props?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Arquitectónicamente, ¿por qué forzamos que el flujo de datos sea unidireccional (de padre a hijo) y prohibimos que el hijo modifique sus props?</a:t>
            </a:r>
            <a:endParaRPr lang="en-US" sz="156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Lo que se instala en el modelo mental antes del estado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composición arma el esqueleto del frontend.</a:t>
            </a:r>
            <a:endParaRPr lang="en-US" sz="1640" dirty="0"/>
          </a:p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props son la sangre (datos) que corre por él hacia abajo.</a:t>
            </a:r>
            <a:endParaRPr lang="en-US" sz="164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438144"/>
            <a:ext cx="64008" cy="16276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Composición (El Qué)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060704" y="3767328"/>
            <a:ext cx="2578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Ensamblar componentes independientes para construir vistas complejas sin crear monolitos inmanejables.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438144"/>
            <a:ext cx="64008" cy="16276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(El Cómo)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206240" y="3767328"/>
            <a:ext cx="2578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estricto de solo lectura. El padre inyecta los datos, el hijo los consume ciegamente para pintar la UI.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438144"/>
            <a:ext cx="64008" cy="16276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(El Dónde)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51776" y="3767328"/>
            <a:ext cx="2578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Data Flow. Prevención de efectos colaterales forzando a que la verdad fluya en una sola dirección.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 → El Estado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Estado: Reactividad 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 del Componente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la interfaz responde a la interacción del usuario mutando la información desde adentro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6032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minutos · inmersión técnica</a:t>
            </a:r>
            <a:endParaRPr lang="en-US" sz="9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Limitación de las Props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4.1 Por qué un árbol estático no basta para una aplicación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9381744" cy="658368"/>
          </a:xfrm>
          <a:prstGeom prst="roundRect">
            <a:avLst>
              <a:gd name="adj" fmla="val 8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03120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Props configuran el componente al nacer, pero no pueden cambiar ante un clic.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4672" y="2852928"/>
            <a:ext cx="4389120" cy="3108960"/>
          </a:xfrm>
          <a:prstGeom prst="roundRect">
            <a:avLst>
              <a:gd name="adj" fmla="val 117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2962656"/>
            <a:ext cx="4133088" cy="310896"/>
          </a:xfrm>
          <a:prstGeom prst="roundRect">
            <a:avLst>
              <a:gd name="adj" fmla="val 8824"/>
            </a:avLst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3035808"/>
            <a:ext cx="3913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Botón que no Reacciona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3419856"/>
            <a:ext cx="3968496" cy="235915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13248" y="2852928"/>
            <a:ext cx="4773168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0" y="2962656"/>
            <a:ext cx="100584" cy="11521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69280" y="2980944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Callejón sin Salida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669280" y="3255264"/>
            <a:ext cx="4443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hijo no puede cambiar sus propias Props. Si el usuario hace clic, la interfaz se queda congelada.</a:t>
            </a:r>
            <a:endParaRPr lang="en-US" sz="1040" dirty="0"/>
          </a:p>
        </p:txBody>
      </p:sp>
      <p:sp>
        <p:nvSpPr>
          <p:cNvPr id="20" name="Shape 16"/>
          <p:cNvSpPr/>
          <p:nvPr/>
        </p:nvSpPr>
        <p:spPr>
          <a:xfrm>
            <a:off x="5413248" y="4462272"/>
            <a:ext cx="4773168" cy="1371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0" y="4572000"/>
            <a:ext cx="100584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69280" y="4590288"/>
            <a:ext cx="4443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Necesidad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669280" y="4864608"/>
            <a:ext cx="44439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Necesitamos una variable que el propio componente pueda modificar y que, al hacerlo, repinte la pantalla.</a:t>
            </a:r>
            <a:endParaRPr lang="en-US" sz="10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el Estado? (State)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Definición técnica de la memoria de un componente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938528"/>
            <a:ext cx="9381744" cy="585216"/>
          </a:xfrm>
          <a:prstGeom prst="roundRect">
            <a:avLst>
              <a:gd name="adj" fmla="val 78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03120"/>
            <a:ext cx="8979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es la memoria temporal de un componente.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2852928"/>
            <a:ext cx="459028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96265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98094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Paneles Ocultos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1060704" y="3255264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si un Sidebar está abierto o cerrado en este momento.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5596128" y="2852928"/>
            <a:ext cx="459028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96265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298094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Inputs Activos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5852160" y="3255264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Recordar qué letras ha escrito el usuario en un campo de texto.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804672" y="4261104"/>
            <a:ext cx="459028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7824" y="4370832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38912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Interacción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060704" y="4663440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el conteo de 'Me gusta' de un post mientras no se recargue la página.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5596128" y="4261104"/>
            <a:ext cx="459028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0" y="4370832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438912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Selecciones</a:t>
            </a:r>
            <a:endParaRPr lang="en-US" sz="1280" dirty="0"/>
          </a:p>
        </p:txBody>
      </p:sp>
      <p:sp>
        <p:nvSpPr>
          <p:cNvPr id="27" name="Text 24"/>
          <p:cNvSpPr/>
          <p:nvPr/>
        </p:nvSpPr>
        <p:spPr>
          <a:xfrm>
            <a:off x="5852160" y="4663440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Recordar qué pestaña (Tab) está viendo el usuario actualmente.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804672" y="5870448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5840" y="603504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diferencia de una variable normal (let x = 5), cambiar el Estado obliga a React a redibujar el componente.</a:t>
            </a:r>
            <a:endParaRPr lang="en-US" sz="9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Analogía Mental: El Termostato Digital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4.2 Entendiendo la reactividad en el mundo real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3774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🌡️ La Pantalla Solo Refleja la Realidad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9728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Oculto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0" y="3108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Dentro del termostato hay un chip que guarda el número '22'. Ese chip es el Estado (State).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10972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Pantalla (UI)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37490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La pantalla LCD no genera el número. Solo DIBUJA lo que dice el chip (UI = Render del Estado).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109728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Interacción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43891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Tú presionas el botón '+'. El botón NO pinta un '23' en la pantalla. El botón le dice al chip: 'ahora vales 23' (setState).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097280" y="5029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Reactividad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74720" y="5029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Al cambiar el chip, el termostato nota el cambio y repinta automáticamente la pantalla LCD con el '23'.</a:t>
            </a:r>
            <a:endParaRPr lang="en-US" sz="124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vs Estado: La Frontera del Control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4.3 Quién es el dueño definitivo del dato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vs. Mutabilidad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(Argumentos)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Vienen desde afuera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Inyectados por el componente Padre.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6334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Totalmente inmutables (Read-Only).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26567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 para inicializar y configurar.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261872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353312" y="466801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9616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Analogía: El ADN con el que naces.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(Memoria)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Vive por dentro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Iniciado y mantenido por el propio componente.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3749040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38633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3794760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Mutables a través de funciones setter (setState).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65976" y="415137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57416" y="4265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419709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 para reaccionar al usuario en el tiempo.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65976" y="4553712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57416" y="46680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03720" y="4599432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Analogía: Tu estado de ánimo actual.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es dueño\ndel dato?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Oro: Si un dato lo puedes calcular usando las Props, NO lo conviertas en Estado. Evita redundancias.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Ecuación del Frontend Moderno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4.3 UI = f(state)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1847088"/>
            <a:ext cx="9381744" cy="1097280"/>
          </a:xfrm>
          <a:prstGeom prst="roundRect">
            <a:avLst>
              <a:gd name="adj" fmla="val 41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11680"/>
            <a:ext cx="89794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= f (state)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438144"/>
            <a:ext cx="64008" cy="14447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(Interfaz)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060704" y="3767328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usuario ve en pantalla (Botones, textos, colores).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438144"/>
            <a:ext cx="64008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 (Función)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4206240" y="3767328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Tus componentes de React que devuelven HTML (JSX).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438144"/>
            <a:ext cx="64008" cy="14447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(Estado)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7351776" y="3767328"/>
            <a:ext cx="2578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crudos que viven en la memoria (true/false, arrays, strings).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04672" y="5321808"/>
            <a:ext cx="9381744" cy="658368"/>
          </a:xfrm>
          <a:prstGeom prst="roundRect">
            <a:avLst>
              <a:gd name="adj" fmla="val 416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431536"/>
            <a:ext cx="100584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44982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Paradigma Declarativo: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60704" y="5724144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no manipulamos el DOM directamente (adiós document.getElementById). Simplemente actualizamos el Estado y la función se encarga de redibujar la UI sola.</a:t>
            </a:r>
            <a:endParaRPr lang="en-US" sz="10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Ciclo de Vida de la Interacción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4.4 De la acción humana a la actualización visual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304288"/>
            <a:ext cx="9381744" cy="2852928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43230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50545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de etapas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69264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33856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33856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1426464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Render Inicial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1170432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componente dibuja la UI basado en su estado inicial (ej. isOpen = false).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3044952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19272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92424" y="2926080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83864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83864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3776472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Interacción</a:t>
            </a:r>
            <a:endParaRPr lang="en-US" sz="1240" dirty="0"/>
          </a:p>
        </p:txBody>
      </p:sp>
      <p:sp>
        <p:nvSpPr>
          <p:cNvPr id="25" name="Text 22"/>
          <p:cNvSpPr/>
          <p:nvPr/>
        </p:nvSpPr>
        <p:spPr>
          <a:xfrm>
            <a:off x="3520440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hace clic en el botón 'Abrir Menú'.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5394960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0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42432" y="2926080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33872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33872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6126480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Cambio de Estado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5870448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onClick ejecuta setIsOpen(true). El dato cambia.</a:t>
            </a:r>
            <a:endParaRPr lang="en-US" sz="980" dirty="0"/>
          </a:p>
        </p:txBody>
      </p:sp>
      <p:sp>
        <p:nvSpPr>
          <p:cNvPr id="33" name="Shape 30"/>
          <p:cNvSpPr/>
          <p:nvPr/>
        </p:nvSpPr>
        <p:spPr>
          <a:xfrm>
            <a:off x="7744968" y="331927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019288" y="283464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92608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83880" y="294436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83880" y="299008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476488" y="29352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Re-Renderizado</a:t>
            </a:r>
            <a:endParaRPr lang="en-US" sz="1240" dirty="0"/>
          </a:p>
        </p:txBody>
      </p:sp>
      <p:sp>
        <p:nvSpPr>
          <p:cNvPr id="39" name="Text 36"/>
          <p:cNvSpPr/>
          <p:nvPr/>
        </p:nvSpPr>
        <p:spPr>
          <a:xfrm>
            <a:off x="8220456" y="323697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nota el cambio y VUELVE a ejecutar la función para dibujar la UI abierta.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04672" y="5504688"/>
            <a:ext cx="9381744" cy="658368"/>
          </a:xfrm>
          <a:prstGeom prst="roundRect">
            <a:avLst>
              <a:gd name="adj" fmla="val 97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5669280"/>
            <a:ext cx="8979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interfaz no es un lienzo estático; es un proyector de cine. Cada vez que el estado cambia, se proyecta un nuevo fotograma (frame).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del Código: El Hook useState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4.4 Desglosando la sintaxis del estado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5120640" cy="4023360"/>
          </a:xfrm>
          <a:prstGeom prst="roundRect">
            <a:avLst>
              <a:gd name="adj" fmla="val 9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864608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645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Counter.jsx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700016" cy="32735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44768" y="2029968"/>
            <a:ext cx="404164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213969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0" y="2157984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useState(0)</a:t>
            </a:r>
            <a:endParaRPr lang="en-US" sz="1240" dirty="0"/>
          </a:p>
        </p:txBody>
      </p:sp>
      <p:sp>
        <p:nvSpPr>
          <p:cNvPr id="17" name="Text 13"/>
          <p:cNvSpPr/>
          <p:nvPr/>
        </p:nvSpPr>
        <p:spPr>
          <a:xfrm>
            <a:off x="6400800" y="2432304"/>
            <a:ext cx="3712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 la memoria con el valor 0.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6144768" y="3419856"/>
            <a:ext cx="404164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3529584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0" y="354787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</a:t>
            </a:r>
            <a:endParaRPr lang="en-US" sz="1240" dirty="0"/>
          </a:p>
        </p:txBody>
      </p:sp>
      <p:sp>
        <p:nvSpPr>
          <p:cNvPr id="21" name="Text 17"/>
          <p:cNvSpPr/>
          <p:nvPr/>
        </p:nvSpPr>
        <p:spPr>
          <a:xfrm>
            <a:off x="6400800" y="3822192"/>
            <a:ext cx="3712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variable de LECTURA actual. Contiene '0' en el primer render.</a:t>
            </a:r>
            <a:endParaRPr lang="en-US" sz="1020" dirty="0"/>
          </a:p>
        </p:txBody>
      </p:sp>
      <p:sp>
        <p:nvSpPr>
          <p:cNvPr id="22" name="Shape 18"/>
          <p:cNvSpPr/>
          <p:nvPr/>
        </p:nvSpPr>
        <p:spPr>
          <a:xfrm>
            <a:off x="6144768" y="4809744"/>
            <a:ext cx="404164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4919472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0" y="493776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setCount</a:t>
            </a:r>
            <a:endParaRPr lang="en-US" sz="1240" dirty="0"/>
          </a:p>
        </p:txBody>
      </p:sp>
      <p:sp>
        <p:nvSpPr>
          <p:cNvPr id="25" name="Text 21"/>
          <p:cNvSpPr/>
          <p:nvPr/>
        </p:nvSpPr>
        <p:spPr>
          <a:xfrm>
            <a:off x="6400800" y="5212080"/>
            <a:ext cx="3712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MUTADORA. La única forma autorizada de cambiar el valor de 'count'.</a:t>
            </a:r>
            <a:endParaRPr lang="en-US" sz="102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🐛 Error Común: Mutar el Estado Directamente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error que rompe la reactividad en Arrays y Objetos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754880" cy="3474720"/>
          </a:xfrm>
          <a:prstGeom prst="roundRect">
            <a:avLst>
              <a:gd name="adj" fmla="val 10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39696"/>
            <a:ext cx="4498848" cy="310896"/>
          </a:xfrm>
          <a:prstGeom prst="roundRect">
            <a:avLst>
              <a:gd name="adj" fmla="val 8824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12848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Cart.jsx (Bug ❌)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96896"/>
            <a:ext cx="4334256" cy="2724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42432" y="2029968"/>
            <a:ext cx="4443984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33872" y="2157984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98464" y="213969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El Instinto</a:t>
            </a:r>
            <a:endParaRPr lang="en-US" sz="1120" dirty="0"/>
          </a:p>
        </p:txBody>
      </p:sp>
      <p:sp>
        <p:nvSpPr>
          <p:cNvPr id="17" name="Text 13"/>
          <p:cNvSpPr/>
          <p:nvPr/>
        </p:nvSpPr>
        <p:spPr>
          <a:xfrm>
            <a:off x="5998464" y="2487168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JS tradicional, .push() es correcto para agregar.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5742432" y="3200400"/>
            <a:ext cx="4443984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33872" y="3328416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98464" y="331012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El Problema Físico</a:t>
            </a:r>
            <a:endParaRPr lang="en-US" sz="1120" dirty="0"/>
          </a:p>
        </p:txBody>
      </p:sp>
      <p:sp>
        <p:nvSpPr>
          <p:cNvPr id="21" name="Text 17"/>
          <p:cNvSpPr/>
          <p:nvPr/>
        </p:nvSpPr>
        <p:spPr>
          <a:xfrm>
            <a:off x="5998464" y="3657600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array cambia internamente, pero la UI NO SE ACTUALIZA. El nuevo item es invisible.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5742432" y="4370832"/>
            <a:ext cx="4443984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833872" y="4498848"/>
            <a:ext cx="109728" cy="822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98464" y="448056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La Razón (Referencia)</a:t>
            </a:r>
            <a:endParaRPr lang="en-US" sz="1120" dirty="0"/>
          </a:p>
        </p:txBody>
      </p:sp>
      <p:sp>
        <p:nvSpPr>
          <p:cNvPr id="25" name="Text 21"/>
          <p:cNvSpPr/>
          <p:nvPr/>
        </p:nvSpPr>
        <p:spPr>
          <a:xfrm>
            <a:off x="5998464" y="4828032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compara el array viejo con el nuevo. Como es exactamente la misma caja de memoria (referencia), React dice: 'No cambió, no redibujo'.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804672" y="5687568"/>
            <a:ext cx="9381744" cy="475488"/>
          </a:xfrm>
          <a:prstGeom prst="roundRect">
            <a:avLst>
              <a:gd name="adj" fmla="val 76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05840" y="585216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ignora los cambios silenciosos. Debes crear una NUEVA COPIA.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Principio de Inmutabilidad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4.5 La solución al re-renderizado de estructuras complejas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Mutación vs La Copia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28712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 ❌ (Mutar)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Alterar el original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.push() en Arrays.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obj.nombre = 'Juan' en Objetos.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no detecta el cambio porque la referencia de memoria (la 'caja') es la misma.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127248"/>
          </a:xfrm>
          <a:prstGeom prst="roundRect">
            <a:avLst>
              <a:gd name="adj" fmla="val 11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2871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Bien ✅ (Inmutabilidad)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Clonar y reemplazar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arrays: setItems([...items, 'Pera'])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objetos: setUser({...user, edad: 30})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ve una caja de memoria nueva, sabe que cambió y redibuja la pantalla de inmediato.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346704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493008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3913632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53872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325112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garantía de\nrenderizado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operador de propagación (...) es tu mejor amigo en React. Úsalo para crear copias frescas.</a:t>
            </a:r>
            <a:endParaRPr lang="en-US" sz="8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Arquitectura: ¿Dónde vive el Estado?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4.6 El concepto de Elevación de Estado (Lifting State Up)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566928" y="2029968"/>
            <a:ext cx="512064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4944" y="2157984"/>
            <a:ext cx="4864608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31136"/>
            <a:ext cx="4645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de los Hermanos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731520" y="2852928"/>
            <a:ext cx="0" cy="4937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2706624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2779776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ProductPage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2542032" y="274320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Ancestro Común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1664208" y="3346704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10512" y="3200400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901952" y="3273552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FilterSidebar</a:t>
            </a:r>
            <a:endParaRPr lang="en-US" sz="940" dirty="0"/>
          </a:p>
        </p:txBody>
      </p:sp>
      <p:sp>
        <p:nvSpPr>
          <p:cNvPr id="20" name="Text 17"/>
          <p:cNvSpPr/>
          <p:nvPr/>
        </p:nvSpPr>
        <p:spPr>
          <a:xfrm>
            <a:off x="3474720" y="323697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Categoría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1664208" y="3840480"/>
            <a:ext cx="1463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10512" y="3694176"/>
            <a:ext cx="1499616" cy="292608"/>
          </a:xfrm>
          <a:prstGeom prst="roundRect">
            <a:avLst>
              <a:gd name="adj" fmla="val 9375"/>
            </a:avLst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01952" y="3767328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ProductGrid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3474720" y="373075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Productos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961888" y="2029968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2139696"/>
            <a:ext cx="10058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0" y="215798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Dilema</a:t>
            </a:r>
            <a:endParaRPr lang="en-US" sz="1240" dirty="0"/>
          </a:p>
        </p:txBody>
      </p:sp>
      <p:sp>
        <p:nvSpPr>
          <p:cNvPr id="28" name="Text 25"/>
          <p:cNvSpPr/>
          <p:nvPr/>
        </p:nvSpPr>
        <p:spPr>
          <a:xfrm>
            <a:off x="6217920" y="2432304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FilterSidebar elige 'Zapatillas', pero el ProductGrid necesita saber eso para filtrar. Los hermanos no pueden hablarse directamente.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5961888" y="3438144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3547872"/>
            <a:ext cx="100584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56616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Solución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6217920" y="3840480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Elevamos el Estado (categoría = 'Zapatillas') al ProductPage (Ancestro Común).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5961888" y="4846320"/>
            <a:ext cx="3767328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35040" y="4956048"/>
            <a:ext cx="100584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17920" y="4974336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Flujo</a:t>
            </a:r>
            <a:endParaRPr lang="en-US" sz="1240" dirty="0"/>
          </a:p>
        </p:txBody>
      </p:sp>
      <p:sp>
        <p:nvSpPr>
          <p:cNvPr id="36" name="Text 33"/>
          <p:cNvSpPr/>
          <p:nvPr/>
        </p:nvSpPr>
        <p:spPr>
          <a:xfrm>
            <a:off x="6217920" y="5248656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ProductPage guarda el estado, se lo pasa al Sidebar como función para que lo cambie, y al Grid como dato para que filtre.</a:t>
            </a:r>
            <a:endParaRPr lang="en-US" sz="102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Estado: Mitos y Realidades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4.7 Destruyendo malas prácticas frecuentes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trampas del Estado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Todas las variables deben ser 'estado'.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los datos que cambian visualmente la interfaz deben ser estado. Lo demás son variables o props normales.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se actualiza al instante.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es asíncrono (batching). React agrupa cambios para repintar una sola vez por rendimiento.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puedo calcularlo, lo guardo en estado.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Falso. Si tienes estado firstName y lastName, no crees estado fullName. Calcúlalo al vuelo.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componente hijo puede cambiar al padre.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si el padre le pasa una función (setter) por Props al hijo (Data Flow hacia abajo, Action hacia arriba).</a:t>
            </a:r>
            <a:endParaRPr lang="en-US" sz="104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React nos prohíbe usar variables normales (let contador = 0) para manejar información que debe mostrarse en la pantalla?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tengo un carrito de compras y modifico su array interno usando .push(), la interfaz no muestra el nuevo producto. ¿Qué principio ignoré?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componentes hermanos (A y B) necesitan saber si un menú lateral está abierto. ¿Dónde debería vivir el useState?</a:t>
            </a:r>
            <a:endParaRPr lang="en-US" sz="15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motor de la interactividad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(State) es la memoria viva de tu componente.\nUI = f(state)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310128"/>
            <a:ext cx="292608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3438144"/>
            <a:ext cx="64008" cy="16276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Reactividad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060704" y="3767328"/>
            <a:ext cx="2578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manipulamos el DOM. Solo cambiamos los datos mediante setState() y React redibuja automáticamente la pantalla.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3950208" y="3310128"/>
            <a:ext cx="292608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41648" y="3438144"/>
            <a:ext cx="64008" cy="16276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Inmutabilidad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206240" y="3767328"/>
            <a:ext cx="2578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Jamás modificar datos directos. Siempre generar copias frescas (ej: spreads en arrays y objetos) para que el redibujo se active.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095744" y="3310128"/>
            <a:ext cx="2926080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87184" y="3438144"/>
            <a:ext cx="64008" cy="16276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4198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Elevación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351776" y="3767328"/>
            <a:ext cx="2578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Lifting State Up: Si dos componentes necesitan compartir un dato mutante, el estado se guarda en el padre común.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Cierre del Círculo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11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Síntesis: Del Bloque al Sistema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Clase · El modelo completo de aplicaciones modernas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64008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Árbol (B1)</a:t>
            </a:r>
            <a:endParaRPr lang="en-US" sz="142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se divide en componentes con responsabilidad única.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596128" y="2029968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87568" y="2157984"/>
            <a:ext cx="64008" cy="14447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139696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(B2)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5852160" y="2487168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navegación organiza layouts y protege vistas bajo rutas.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04672" y="3895344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6112" y="4023360"/>
            <a:ext cx="64008" cy="14447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005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Props (B3)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1060704" y="4352544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Inyección Top-Down de datos de solo lectura para reciclar piezas.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5596128" y="3895344"/>
            <a:ext cx="4590288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87568" y="4023360"/>
            <a:ext cx="64008" cy="14447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4005072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(B4)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852160" y="4352544"/>
            <a:ext cx="42428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Memoria mutante que dispara actualizaciones automáticas en la UI.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804672" y="5870448"/>
            <a:ext cx="9381744" cy="475488"/>
          </a:xfrm>
          <a:prstGeom prst="roundRect">
            <a:avLst>
              <a:gd name="adj" fmla="val 576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77824" y="5980176"/>
            <a:ext cx="100584" cy="2560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59984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Próxima Clase: Formularios, validación de datos y consumo de APIs reales usando useEffect.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Frontend Basado en Componentes</dc:title>
  <dc:subject>Clase 11</dc:subject>
  <dc:creator>Codex</dc:creator>
  <cp:lastModifiedBy>Codex</cp:lastModifiedBy>
  <cp:revision>1</cp:revision>
  <dcterms:created xsi:type="dcterms:W3CDTF">2026-04-05T08:16:01Z</dcterms:created>
  <dcterms:modified xsi:type="dcterms:W3CDTF">2026-04-05T08:16:01Z</dcterms:modified>
</cp:coreProperties>
</file>