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notesMasterIdLst>
    <p:notesMasterId r:id="rId6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notesMaster" Target="notesMasters/notesMaster1.xml"/><Relationship Id="rId65" Type="http://schemas.openxmlformats.org/officeDocument/2006/relationships/presProps" Target="presProps.xml"/><Relationship Id="rId66" Type="http://schemas.openxmlformats.org/officeDocument/2006/relationships/viewProps" Target="viewProps.xml"/><Relationship Id="rId67" Type="http://schemas.openxmlformats.org/officeDocument/2006/relationships/theme" Target="theme/theme1.xml"/><Relationship Id="rId6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svg"/><Relationship Id="rId4" Type="http://schemas.openxmlformats.org/officeDocument/2006/relationships/image" Target="../media/image-6-4.png"/><Relationship Id="rId5" Type="http://schemas.openxmlformats.org/officeDocument/2006/relationships/image" Target="../media/image-6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svg"/><Relationship Id="rId4" Type="http://schemas.openxmlformats.org/officeDocument/2006/relationships/image" Target="../media/image-7-4.png"/><Relationship Id="rId5" Type="http://schemas.openxmlformats.org/officeDocument/2006/relationships/image" Target="../media/image-7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svg"/><Relationship Id="rId4" Type="http://schemas.openxmlformats.org/officeDocument/2006/relationships/image" Target="../media/image-8-4.png"/><Relationship Id="rId5" Type="http://schemas.openxmlformats.org/officeDocument/2006/relationships/image" Target="../media/image-8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svg"/><Relationship Id="rId4" Type="http://schemas.openxmlformats.org/officeDocument/2006/relationships/image" Target="../media/image-9-4.png"/><Relationship Id="rId5" Type="http://schemas.openxmlformats.org/officeDocument/2006/relationships/image" Target="../media/image-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image" Target="../media/image-10-4.png"/><Relationship Id="rId5" Type="http://schemas.openxmlformats.org/officeDocument/2006/relationships/image" Target="../media/image-10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svg"/><Relationship Id="rId4" Type="http://schemas.openxmlformats.org/officeDocument/2006/relationships/image" Target="../media/image-19-4.png"/><Relationship Id="rId5" Type="http://schemas.openxmlformats.org/officeDocument/2006/relationships/image" Target="../media/image-19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svg"/><Relationship Id="rId4" Type="http://schemas.openxmlformats.org/officeDocument/2006/relationships/image" Target="../media/image-20-4.png"/><Relationship Id="rId5" Type="http://schemas.openxmlformats.org/officeDocument/2006/relationships/image" Target="../media/image-20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svg"/><Relationship Id="rId4" Type="http://schemas.openxmlformats.org/officeDocument/2006/relationships/image" Target="../media/image-21-4.png"/><Relationship Id="rId5" Type="http://schemas.openxmlformats.org/officeDocument/2006/relationships/image" Target="../media/image-2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svg"/><Relationship Id="rId4" Type="http://schemas.openxmlformats.org/officeDocument/2006/relationships/image" Target="../media/image-22-4.png"/><Relationship Id="rId5" Type="http://schemas.openxmlformats.org/officeDocument/2006/relationships/image" Target="../media/image-22-5.svg"/><Relationship Id="rId6" Type="http://schemas.openxmlformats.org/officeDocument/2006/relationships/image" Target="../media/image-22-6.png"/><Relationship Id="rId7" Type="http://schemas.openxmlformats.org/officeDocument/2006/relationships/image" Target="../media/image-22-7.sv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svg"/><Relationship Id="rId4" Type="http://schemas.openxmlformats.org/officeDocument/2006/relationships/image" Target="../media/image-23-4.png"/><Relationship Id="rId5" Type="http://schemas.openxmlformats.org/officeDocument/2006/relationships/image" Target="../media/image-23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svg"/><Relationship Id="rId4" Type="http://schemas.openxmlformats.org/officeDocument/2006/relationships/image" Target="../media/image-27-4.png"/><Relationship Id="rId5" Type="http://schemas.openxmlformats.org/officeDocument/2006/relationships/image" Target="../media/image-27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image" Target="../media/image-30-2.png"/><Relationship Id="rId3" Type="http://schemas.openxmlformats.org/officeDocument/2006/relationships/image" Target="../media/image-3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image" Target="../media/image-38-2.png"/><Relationship Id="rId3" Type="http://schemas.openxmlformats.org/officeDocument/2006/relationships/image" Target="../media/image-38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image" Target="../media/image-39-2.png"/><Relationship Id="rId3" Type="http://schemas.openxmlformats.org/officeDocument/2006/relationships/image" Target="../media/image-39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image" Target="../media/image-41-2.png"/><Relationship Id="rId3" Type="http://schemas.openxmlformats.org/officeDocument/2006/relationships/image" Target="../media/image-41-3.svg"/><Relationship Id="rId4" Type="http://schemas.openxmlformats.org/officeDocument/2006/relationships/image" Target="../media/image-41-4.png"/><Relationship Id="rId5" Type="http://schemas.openxmlformats.org/officeDocument/2006/relationships/image" Target="../media/image-4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image" Target="../media/image-42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image" Target="../media/image-50-2.png"/><Relationship Id="rId3" Type="http://schemas.openxmlformats.org/officeDocument/2006/relationships/image" Target="../media/image-50-3.sv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Diego Obando\dev\pro301-taller-de-aplicaciones-para-internet\.agent\skills\slides-aiep\assets\logo-aie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89136" y="497645"/>
            <a:ext cx="1298448" cy="449463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3232" y="859170"/>
            <a:ext cx="223114" cy="5131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980968" y="658368"/>
            <a:ext cx="267736" cy="71396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1293327" y="859170"/>
            <a:ext cx="223114" cy="513161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517904" y="749808"/>
            <a:ext cx="23774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Semana 04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13232" y="1408176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moderno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713232" y="21579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60" dirty="0">
                <a:solidFill>
                  <a:srgbClr val="E5EDF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ES6+, módulos, asincronía, Promises y async/await</a:t>
            </a:r>
            <a:endParaRPr lang="en-US" sz="1360" dirty="0"/>
          </a:p>
        </p:txBody>
      </p:sp>
      <p:sp>
        <p:nvSpPr>
          <p:cNvPr id="9" name="Text 6"/>
          <p:cNvSpPr/>
          <p:nvPr/>
        </p:nvSpPr>
        <p:spPr>
          <a:xfrm>
            <a:off x="713232" y="2962656"/>
            <a:ext cx="402336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 JavaScript se ordena como lenguaje de trabajo real: sintaxis más legible, módulos para escalar y asincronía que ya puede leerse con criterio.</a:t>
            </a:r>
            <a:endParaRPr lang="en-US" sz="1120" dirty="0"/>
          </a:p>
        </p:txBody>
      </p:sp>
      <p:sp>
        <p:nvSpPr>
          <p:cNvPr id="10" name="Shape 7"/>
          <p:cNvSpPr/>
          <p:nvPr/>
        </p:nvSpPr>
        <p:spPr>
          <a:xfrm>
            <a:off x="713232" y="4736592"/>
            <a:ext cx="2743200" cy="713232"/>
          </a:xfrm>
          <a:prstGeom prst="roundRect">
            <a:avLst>
              <a:gd name="adj" fmla="val 5128"/>
            </a:avLst>
          </a:prstGeom>
          <a:solidFill>
            <a:srgbClr val="355B8E"/>
          </a:solidFill>
          <a:ln w="12700">
            <a:solidFill>
              <a:srgbClr val="355B8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932688" y="491947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Lunes 6 de abril de 2026 · 10:50 - 13:10</a:t>
            </a:r>
            <a:endParaRPr lang="en-US" sz="1020" dirty="0"/>
          </a:p>
        </p:txBody>
      </p:sp>
      <p:sp>
        <p:nvSpPr>
          <p:cNvPr id="12" name="Shape 9"/>
          <p:cNvSpPr/>
          <p:nvPr/>
        </p:nvSpPr>
        <p:spPr>
          <a:xfrm>
            <a:off x="804672" y="4882896"/>
            <a:ext cx="73152" cy="38404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974336" y="1261872"/>
            <a:ext cx="4590288" cy="2340864"/>
          </a:xfrm>
          <a:prstGeom prst="roundRect">
            <a:avLst>
              <a:gd name="adj" fmla="val 1563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102352" y="1371600"/>
            <a:ext cx="433425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212080" y="1444752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previa — ES6+</a:t>
            </a:r>
            <a:endParaRPr lang="en-US" sz="10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93792" y="1920240"/>
            <a:ext cx="4169664" cy="1591056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4974336" y="3803904"/>
            <a:ext cx="4590288" cy="713232"/>
          </a:xfrm>
          <a:prstGeom prst="roundRect">
            <a:avLst>
              <a:gd name="adj" fmla="val 384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5047488" y="3913632"/>
            <a:ext cx="100584" cy="49377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30368" y="3931920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 · arrow · destructuring · template literal · spread</a:t>
            </a:r>
            <a:endParaRPr lang="en-US" sz="1080" dirty="0"/>
          </a:p>
        </p:txBody>
      </p:sp>
      <p:sp>
        <p:nvSpPr>
          <p:cNvPr id="20" name="Text 16"/>
          <p:cNvSpPr/>
          <p:nvPr/>
        </p:nvSpPr>
        <p:spPr>
          <a:xfrm>
            <a:off x="5230368" y="4206240"/>
            <a:ext cx="42611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cinco patrones que veremos en el Bloque 1.</a:t>
            </a:r>
            <a:endParaRPr lang="en-US" sz="82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Cuatro bloques, una sesión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lenguaje moderno a la lectura del flujo asíncrono: una progresión técnica continua.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1024128" y="2249424"/>
            <a:ext cx="1975104" cy="2377440"/>
          </a:xfrm>
          <a:prstGeom prst="roundRect">
            <a:avLst>
              <a:gd name="adj" fmla="val 18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24128" y="239572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 · 30 min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207008" y="2852928"/>
            <a:ext cx="16093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salto</a:t>
            </a:r>
            <a:endParaRPr lang="en-US" sz="1660" dirty="0"/>
          </a:p>
          <a:p>
            <a:pPr algn="ctr" indent="0" marL="0">
              <a:buNone/>
            </a:pPr>
            <a:r>
              <a:rPr lang="en-US" sz="166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ES6+</a:t>
            </a:r>
            <a:endParaRPr lang="en-US" sz="1660" dirty="0"/>
          </a:p>
        </p:txBody>
      </p:sp>
      <p:sp>
        <p:nvSpPr>
          <p:cNvPr id="13" name="Shape 10"/>
          <p:cNvSpPr/>
          <p:nvPr/>
        </p:nvSpPr>
        <p:spPr>
          <a:xfrm>
            <a:off x="3072384" y="3310128"/>
            <a:ext cx="18288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3310128" y="2249424"/>
            <a:ext cx="1975104" cy="237744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310128" y="239572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· 30 min</a:t>
            </a:r>
            <a:endParaRPr lang="en-US" sz="1080" dirty="0"/>
          </a:p>
        </p:txBody>
      </p:sp>
      <p:sp>
        <p:nvSpPr>
          <p:cNvPr id="16" name="Text 13"/>
          <p:cNvSpPr/>
          <p:nvPr/>
        </p:nvSpPr>
        <p:spPr>
          <a:xfrm>
            <a:off x="3493008" y="2852928"/>
            <a:ext cx="16093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</a:t>
            </a:r>
            <a:endParaRPr lang="en-US" sz="1660" dirty="0"/>
          </a:p>
        </p:txBody>
      </p:sp>
      <p:sp>
        <p:nvSpPr>
          <p:cNvPr id="17" name="Shape 14"/>
          <p:cNvSpPr/>
          <p:nvPr/>
        </p:nvSpPr>
        <p:spPr>
          <a:xfrm>
            <a:off x="5358384" y="3310128"/>
            <a:ext cx="18288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596128" y="2249424"/>
            <a:ext cx="1975104" cy="2377440"/>
          </a:xfrm>
          <a:prstGeom prst="roundRect">
            <a:avLst>
              <a:gd name="adj" fmla="val 185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96128" y="239572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· 30 min</a:t>
            </a:r>
            <a:endParaRPr lang="en-US" sz="1080" dirty="0"/>
          </a:p>
        </p:txBody>
      </p:sp>
      <p:sp>
        <p:nvSpPr>
          <p:cNvPr id="20" name="Text 17"/>
          <p:cNvSpPr/>
          <p:nvPr/>
        </p:nvSpPr>
        <p:spPr>
          <a:xfrm>
            <a:off x="5779008" y="2852928"/>
            <a:ext cx="16093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</a:t>
            </a:r>
            <a:endParaRPr lang="en-US" sz="1660" dirty="0"/>
          </a:p>
          <a:p>
            <a:pPr algn="ctr" indent="0" marL="0">
              <a:buNone/>
            </a:pPr>
            <a:r>
              <a:rPr lang="en-US" sz="16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asincronía</a:t>
            </a:r>
            <a:endParaRPr lang="en-US" sz="1660" dirty="0"/>
          </a:p>
        </p:txBody>
      </p:sp>
      <p:sp>
        <p:nvSpPr>
          <p:cNvPr id="21" name="Shape 18"/>
          <p:cNvSpPr/>
          <p:nvPr/>
        </p:nvSpPr>
        <p:spPr>
          <a:xfrm>
            <a:off x="7644384" y="3310128"/>
            <a:ext cx="182880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882128" y="2249424"/>
            <a:ext cx="1975104" cy="2377440"/>
          </a:xfrm>
          <a:prstGeom prst="roundRect">
            <a:avLst>
              <a:gd name="adj" fmla="val 18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882128" y="239572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· 30 min</a:t>
            </a:r>
            <a:endParaRPr lang="en-US" sz="1080" dirty="0"/>
          </a:p>
        </p:txBody>
      </p:sp>
      <p:sp>
        <p:nvSpPr>
          <p:cNvPr id="24" name="Text 21"/>
          <p:cNvSpPr/>
          <p:nvPr/>
        </p:nvSpPr>
        <p:spPr>
          <a:xfrm>
            <a:off x="8065008" y="2852928"/>
            <a:ext cx="160934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Promises</a:t>
            </a:r>
            <a:endParaRPr lang="en-US" sz="1440" dirty="0"/>
          </a:p>
          <a:p>
            <a:pPr algn="ctr" indent="0" marL="0">
              <a:buNone/>
            </a:pPr>
            <a:r>
              <a:rPr lang="en-US" sz="14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 async/await</a:t>
            </a:r>
            <a:endParaRPr lang="en-US" sz="1440" dirty="0"/>
          </a:p>
        </p:txBody>
      </p:sp>
      <p:sp>
        <p:nvSpPr>
          <p:cNvPr id="25" name="Shape 22"/>
          <p:cNvSpPr/>
          <p:nvPr/>
        </p:nvSpPr>
        <p:spPr>
          <a:xfrm>
            <a:off x="1408176" y="4992624"/>
            <a:ext cx="8229600" cy="658368"/>
          </a:xfrm>
          <a:prstGeom prst="roundRect">
            <a:avLst>
              <a:gd name="adj" fmla="val 555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609344" y="5157216"/>
            <a:ext cx="78272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sintaxis → módulos → asincronía → flujo moderno</a:t>
            </a:r>
            <a:endParaRPr lang="en-US" sz="186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1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048256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salto a JavaScript moderno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804672" y="3218688"/>
            <a:ext cx="6583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 qué ES6+ cambió el lenguaje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048256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minutos · expositivo y conversado</a:t>
            </a:r>
            <a:endParaRPr lang="en-US" sz="94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JavaScript heredado tenía problemas reales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era una crítica estética: eran comportamientos que generaban errores difíciles de detectar.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96112" y="2121408"/>
            <a:ext cx="4169664" cy="749808"/>
          </a:xfrm>
          <a:prstGeom prst="roundRect">
            <a:avLst>
              <a:gd name="adj" fmla="val 365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69264" y="2231136"/>
            <a:ext cx="10058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52144" y="224942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 con alcance de función, no de bloque</a:t>
            </a:r>
            <a:endParaRPr lang="en-US" sz="1140" dirty="0"/>
          </a:p>
        </p:txBody>
      </p:sp>
      <p:sp>
        <p:nvSpPr>
          <p:cNvPr id="13" name="Text 10"/>
          <p:cNvSpPr/>
          <p:nvPr/>
        </p:nvSpPr>
        <p:spPr>
          <a:xfrm>
            <a:off x="1152144" y="25237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variable declarada dentro de un if seguía existiendo fuera de él.</a:t>
            </a:r>
            <a:endParaRPr lang="en-US" sz="840" dirty="0"/>
          </a:p>
        </p:txBody>
      </p:sp>
      <p:sp>
        <p:nvSpPr>
          <p:cNvPr id="14" name="Shape 11"/>
          <p:cNvSpPr/>
          <p:nvPr/>
        </p:nvSpPr>
        <p:spPr>
          <a:xfrm>
            <a:off x="896112" y="2980944"/>
            <a:ext cx="4169664" cy="749808"/>
          </a:xfrm>
          <a:prstGeom prst="roundRect">
            <a:avLst>
              <a:gd name="adj" fmla="val 365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969264" y="3090672"/>
            <a:ext cx="10058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52144" y="31089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Redeclaración silenciosa de variables</a:t>
            </a:r>
            <a:endParaRPr lang="en-US" sz="1140" dirty="0"/>
          </a:p>
        </p:txBody>
      </p:sp>
      <p:sp>
        <p:nvSpPr>
          <p:cNvPr id="17" name="Text 14"/>
          <p:cNvSpPr/>
          <p:nvPr/>
        </p:nvSpPr>
        <p:spPr>
          <a:xfrm>
            <a:off x="1152144" y="338328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Era posible declarar la misma variable múltiples veces sin error ni advertencia.</a:t>
            </a:r>
            <a:endParaRPr lang="en-US" sz="840" dirty="0"/>
          </a:p>
        </p:txBody>
      </p:sp>
      <p:sp>
        <p:nvSpPr>
          <p:cNvPr id="18" name="Shape 15"/>
          <p:cNvSpPr/>
          <p:nvPr/>
        </p:nvSpPr>
        <p:spPr>
          <a:xfrm>
            <a:off x="896112" y="3840480"/>
            <a:ext cx="4169664" cy="749808"/>
          </a:xfrm>
          <a:prstGeom prst="roundRect">
            <a:avLst>
              <a:gd name="adj" fmla="val 365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69264" y="3950208"/>
            <a:ext cx="10058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52144" y="396849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Concatenación de strings verbose y propensa a errores</a:t>
            </a:r>
            <a:endParaRPr lang="en-US" sz="1140" dirty="0"/>
          </a:p>
        </p:txBody>
      </p:sp>
      <p:sp>
        <p:nvSpPr>
          <p:cNvPr id="21" name="Text 18"/>
          <p:cNvSpPr/>
          <p:nvPr/>
        </p:nvSpPr>
        <p:spPr>
          <a:xfrm>
            <a:off x="1152144" y="424281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Combinar texto con valores: "Hola, " + nombre + ". Tienes " + edad + " años."</a:t>
            </a:r>
            <a:endParaRPr lang="en-US" sz="840" dirty="0"/>
          </a:p>
        </p:txBody>
      </p:sp>
      <p:sp>
        <p:nvSpPr>
          <p:cNvPr id="22" name="Shape 19"/>
          <p:cNvSpPr/>
          <p:nvPr/>
        </p:nvSpPr>
        <p:spPr>
          <a:xfrm>
            <a:off x="896112" y="4700016"/>
            <a:ext cx="4169664" cy="749808"/>
          </a:xfrm>
          <a:prstGeom prst="roundRect">
            <a:avLst>
              <a:gd name="adj" fmla="val 365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969264" y="4809744"/>
            <a:ext cx="100584" cy="53035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152144" y="48280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Extracción de propiedades en múltiples líneas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1152144" y="5102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propiedad de un objeto requería una línea de asignación separada.</a:t>
            </a:r>
            <a:endParaRPr lang="en-US" sz="840" dirty="0"/>
          </a:p>
        </p:txBody>
      </p:sp>
      <p:sp>
        <p:nvSpPr>
          <p:cNvPr id="26" name="Shape 23"/>
          <p:cNvSpPr/>
          <p:nvPr/>
        </p:nvSpPr>
        <p:spPr>
          <a:xfrm>
            <a:off x="5340096" y="2121408"/>
            <a:ext cx="4224528" cy="3328416"/>
          </a:xfrm>
          <a:prstGeom prst="roundRect">
            <a:avLst>
              <a:gd name="adj" fmla="val 109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468112" y="2231136"/>
            <a:ext cx="396849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577840" y="2304288"/>
            <a:ext cx="37490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JS antes de ES6</a:t>
            </a:r>
            <a:endParaRPr lang="en-US" sz="1000" dirty="0"/>
          </a:p>
        </p:txBody>
      </p:sp>
      <p:pic>
        <p:nvPicPr>
          <p:cNvPr id="29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59552" y="2779776"/>
            <a:ext cx="3803904" cy="2578608"/>
          </a:xfrm>
          <a:prstGeom prst="rect">
            <a:avLst/>
          </a:prstGeom>
        </p:spPr>
      </p:pic>
      <p:sp>
        <p:nvSpPr>
          <p:cNvPr id="30" name="Shape 26"/>
          <p:cNvSpPr/>
          <p:nvPr/>
        </p:nvSpPr>
        <p:spPr>
          <a:xfrm>
            <a:off x="896112" y="5522976"/>
            <a:ext cx="4169664" cy="256032"/>
          </a:xfrm>
          <a:prstGeom prst="roundRect">
            <a:avLst>
              <a:gd name="adj" fmla="val 14286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987552" y="5541264"/>
            <a:ext cx="398678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escala, estos comportamientos acumulaban errores silenciosos y código difícil de razonar.</a:t>
            </a:r>
            <a:endParaRPr lang="en-US" sz="82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ECMAScript 2015 transformó el lenguaje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ES6 no fue una actualización menor: redefinió cómo se escribe JavaScript en todo el ecosistema.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987552" y="2084832"/>
            <a:ext cx="1664208" cy="310896"/>
          </a:xfrm>
          <a:prstGeom prst="roundRect">
            <a:avLst>
              <a:gd name="adj" fmla="val 14706"/>
            </a:avLst>
          </a:prstGeom>
          <a:solidFill>
            <a:srgbClr val="3A4A5E"/>
          </a:solidFill>
          <a:ln w="12700">
            <a:solidFill>
              <a:srgbClr val="3A4A5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2121408"/>
            <a:ext cx="1444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CA0B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ES5 (legacy)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06624" y="2157984"/>
            <a:ext cx="20116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2962656" y="2084832"/>
            <a:ext cx="2048256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3072384" y="212140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ES6 / 2015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5065776" y="2157984"/>
            <a:ext cx="201168" cy="25603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321808" y="2084832"/>
            <a:ext cx="1810512" cy="310896"/>
          </a:xfrm>
          <a:prstGeom prst="roundRect">
            <a:avLst>
              <a:gd name="adj" fmla="val 1470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31536" y="2121408"/>
            <a:ext cx="15910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ES2016+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87552" y="2779776"/>
            <a:ext cx="6144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hoy se habla de «JavaScript moderno», casi siempre se habla de ES6 en adelante.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987552" y="3255264"/>
            <a:ext cx="2487168" cy="310896"/>
          </a:xfrm>
          <a:prstGeom prst="roundRect">
            <a:avLst>
              <a:gd name="adj" fmla="val 1470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097280" y="329184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/ const</a:t>
            </a:r>
            <a:endParaRPr lang="en-US" sz="1080" dirty="0"/>
          </a:p>
        </p:txBody>
      </p:sp>
      <p:sp>
        <p:nvSpPr>
          <p:cNvPr id="21" name="Shape 18"/>
          <p:cNvSpPr/>
          <p:nvPr/>
        </p:nvSpPr>
        <p:spPr>
          <a:xfrm>
            <a:off x="3694176" y="3255264"/>
            <a:ext cx="2487168" cy="310896"/>
          </a:xfrm>
          <a:prstGeom prst="roundRect">
            <a:avLst>
              <a:gd name="adj" fmla="val 1470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803904" y="329184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Arrow functions</a:t>
            </a:r>
            <a:endParaRPr lang="en-US" sz="1080" dirty="0"/>
          </a:p>
        </p:txBody>
      </p:sp>
      <p:sp>
        <p:nvSpPr>
          <p:cNvPr id="23" name="Shape 20"/>
          <p:cNvSpPr/>
          <p:nvPr/>
        </p:nvSpPr>
        <p:spPr>
          <a:xfrm>
            <a:off x="6400800" y="3255264"/>
            <a:ext cx="2487168" cy="310896"/>
          </a:xfrm>
          <a:prstGeom prst="roundRect">
            <a:avLst>
              <a:gd name="adj" fmla="val 1470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6510528" y="3291840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literals</a:t>
            </a:r>
            <a:endParaRPr lang="en-US" sz="1080" dirty="0"/>
          </a:p>
        </p:txBody>
      </p:sp>
      <p:sp>
        <p:nvSpPr>
          <p:cNvPr id="25" name="Shape 22"/>
          <p:cNvSpPr/>
          <p:nvPr/>
        </p:nvSpPr>
        <p:spPr>
          <a:xfrm>
            <a:off x="987552" y="3785616"/>
            <a:ext cx="2487168" cy="310896"/>
          </a:xfrm>
          <a:prstGeom prst="roundRect">
            <a:avLst>
              <a:gd name="adj" fmla="val 1470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097280" y="382219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Destructuring</a:t>
            </a:r>
            <a:endParaRPr lang="en-US" sz="1080" dirty="0"/>
          </a:p>
        </p:txBody>
      </p:sp>
      <p:sp>
        <p:nvSpPr>
          <p:cNvPr id="27" name="Shape 24"/>
          <p:cNvSpPr/>
          <p:nvPr/>
        </p:nvSpPr>
        <p:spPr>
          <a:xfrm>
            <a:off x="3694176" y="3785616"/>
            <a:ext cx="2487168" cy="310896"/>
          </a:xfrm>
          <a:prstGeom prst="roundRect">
            <a:avLst>
              <a:gd name="adj" fmla="val 1470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3803904" y="382219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 operator</a:t>
            </a:r>
            <a:endParaRPr lang="en-US" sz="1080" dirty="0"/>
          </a:p>
        </p:txBody>
      </p:sp>
      <p:sp>
        <p:nvSpPr>
          <p:cNvPr id="29" name="Shape 26"/>
          <p:cNvSpPr/>
          <p:nvPr/>
        </p:nvSpPr>
        <p:spPr>
          <a:xfrm>
            <a:off x="6400800" y="3785616"/>
            <a:ext cx="2487168" cy="310896"/>
          </a:xfrm>
          <a:prstGeom prst="roundRect">
            <a:avLst>
              <a:gd name="adj" fmla="val 1470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6510528" y="3822192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Módulos (import/export)</a:t>
            </a:r>
            <a:endParaRPr lang="en-US" sz="1080" dirty="0"/>
          </a:p>
        </p:txBody>
      </p:sp>
      <p:sp>
        <p:nvSpPr>
          <p:cNvPr id="31" name="Shape 28"/>
          <p:cNvSpPr/>
          <p:nvPr/>
        </p:nvSpPr>
        <p:spPr>
          <a:xfrm>
            <a:off x="3694176" y="4315968"/>
            <a:ext cx="248716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803904" y="4352544"/>
            <a:ext cx="22677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Promises</a:t>
            </a:r>
            <a:endParaRPr lang="en-US" sz="1080" dirty="0"/>
          </a:p>
        </p:txBody>
      </p:sp>
      <p:sp>
        <p:nvSpPr>
          <p:cNvPr id="33" name="Text 30"/>
          <p:cNvSpPr/>
          <p:nvPr/>
        </p:nvSpPr>
        <p:spPr>
          <a:xfrm>
            <a:off x="987552" y="557784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i="1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bloque cubre las primeras cinco. Módulos y asincronía tienen sus propios bloques.</a:t>
            </a:r>
            <a:endParaRPr lang="en-US" sz="84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var → let y const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cambio más inmediato de ES6: declarar variables con alcance de bloque y semántica clara.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1024128" y="1975104"/>
            <a:ext cx="4416552" cy="2834640"/>
          </a:xfrm>
          <a:prstGeom prst="roundRect">
            <a:avLst>
              <a:gd name="adj" fmla="val 1290"/>
            </a:avLst>
          </a:prstGeom>
          <a:solidFill>
            <a:srgbClr val="102A43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2066544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3A4A5E"/>
          </a:solidFill>
          <a:ln w="12700">
            <a:solidFill>
              <a:srgbClr val="3A4A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21408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 (legado)</a:t>
            </a:r>
            <a:endParaRPr lang="en-US" sz="98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8" y="2450592"/>
            <a:ext cx="4233672" cy="2286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0" y="2103120"/>
            <a:ext cx="54864" cy="2578608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86984" y="1975104"/>
            <a:ext cx="4416552" cy="2834640"/>
          </a:xfrm>
          <a:prstGeom prst="roundRect">
            <a:avLst>
              <a:gd name="adj" fmla="val 1290"/>
            </a:avLst>
          </a:prstGeom>
          <a:solidFill>
            <a:srgbClr val="102A43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78424" y="2066544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1A4230"/>
          </a:solidFill>
          <a:ln w="12700">
            <a:solidFill>
              <a:srgbClr val="1A423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96712" y="2121408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let / const (ES6+)</a:t>
            </a:r>
            <a:endParaRPr lang="en-US" sz="98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8424" y="2450592"/>
            <a:ext cx="4233672" cy="2286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" y="5010912"/>
            <a:ext cx="8942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 por defecto, let cuando el valor cambia, var nunca en código nuevo</a:t>
            </a:r>
            <a:endParaRPr lang="en-US" sz="8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Funciones tradicionales → arrow functions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Sintaxis más corta para funciones. Cuando el cuerpo es una sola expresión, return y llaves son opcionales.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1024128" y="1975104"/>
            <a:ext cx="4416552" cy="2834640"/>
          </a:xfrm>
          <a:prstGeom prst="roundRect">
            <a:avLst>
              <a:gd name="adj" fmla="val 1290"/>
            </a:avLst>
          </a:prstGeom>
          <a:solidFill>
            <a:srgbClr val="102A43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2066544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3A4A5E"/>
          </a:solidFill>
          <a:ln w="12700">
            <a:solidFill>
              <a:srgbClr val="3A4A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21408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Función tradicional</a:t>
            </a:r>
            <a:endParaRPr lang="en-US" sz="98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8" y="2450592"/>
            <a:ext cx="4233672" cy="2286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0" y="2103120"/>
            <a:ext cx="54864" cy="2578608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86984" y="1975104"/>
            <a:ext cx="4416552" cy="2834640"/>
          </a:xfrm>
          <a:prstGeom prst="roundRect">
            <a:avLst>
              <a:gd name="adj" fmla="val 1290"/>
            </a:avLst>
          </a:prstGeom>
          <a:solidFill>
            <a:srgbClr val="102A43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78424" y="2066544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1A4230"/>
          </a:solidFill>
          <a:ln w="12700">
            <a:solidFill>
              <a:srgbClr val="1A423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96712" y="2121408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Arrow function</a:t>
            </a:r>
            <a:endParaRPr lang="en-US" sz="98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8424" y="2450592"/>
            <a:ext cx="4233672" cy="2286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" y="5010912"/>
            <a:ext cx="8942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Nota: las arrow functions no tienen su propio this — relevante al trabajar con objetos y clases</a:t>
            </a:r>
            <a:endParaRPr lang="en-US" sz="8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Concatenación → template literals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Interpolar texto con valores usando backticks y ${}. También permiten strings multilínea sin \n.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1024128" y="1975104"/>
            <a:ext cx="4416552" cy="2834640"/>
          </a:xfrm>
          <a:prstGeom prst="roundRect">
            <a:avLst>
              <a:gd name="adj" fmla="val 1290"/>
            </a:avLst>
          </a:prstGeom>
          <a:solidFill>
            <a:srgbClr val="102A43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2066544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3A4A5E"/>
          </a:solidFill>
          <a:ln w="12700">
            <a:solidFill>
              <a:srgbClr val="3A4A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21408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Concatenación</a:t>
            </a:r>
            <a:endParaRPr lang="en-US" sz="98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8" y="2450592"/>
            <a:ext cx="4233672" cy="2286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0" y="2103120"/>
            <a:ext cx="54864" cy="2578608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86984" y="1975104"/>
            <a:ext cx="4416552" cy="2834640"/>
          </a:xfrm>
          <a:prstGeom prst="roundRect">
            <a:avLst>
              <a:gd name="adj" fmla="val 1290"/>
            </a:avLst>
          </a:prstGeom>
          <a:solidFill>
            <a:srgbClr val="102A43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78424" y="2066544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1A4230"/>
          </a:solidFill>
          <a:ln w="12700">
            <a:solidFill>
              <a:srgbClr val="1A423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96712" y="2121408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literals</a:t>
            </a:r>
            <a:endParaRPr lang="en-US" sz="98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8424" y="2450592"/>
            <a:ext cx="4233672" cy="2286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" y="5010912"/>
            <a:ext cx="8942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backticks permiten expresiones completas dentro de ${}: llamadas a funciones, operaciones, ternarios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Extracción manual → destructuring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Extraer valores de objetos o arreglos directamente en variables con nombre.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1024128" y="1975104"/>
            <a:ext cx="4416552" cy="2834640"/>
          </a:xfrm>
          <a:prstGeom prst="roundRect">
            <a:avLst>
              <a:gd name="adj" fmla="val 1290"/>
            </a:avLst>
          </a:prstGeom>
          <a:solidFill>
            <a:srgbClr val="102A43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2066544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3A4A5E"/>
          </a:solidFill>
          <a:ln w="12700">
            <a:solidFill>
              <a:srgbClr val="3A4A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21408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Extracción manual</a:t>
            </a:r>
            <a:endParaRPr lang="en-US" sz="98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8" y="2450592"/>
            <a:ext cx="4233672" cy="2286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0" y="2103120"/>
            <a:ext cx="54864" cy="2578608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86984" y="1975104"/>
            <a:ext cx="4416552" cy="2834640"/>
          </a:xfrm>
          <a:prstGeom prst="roundRect">
            <a:avLst>
              <a:gd name="adj" fmla="val 1290"/>
            </a:avLst>
          </a:prstGeom>
          <a:solidFill>
            <a:srgbClr val="102A43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78424" y="2066544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1A4230"/>
          </a:solidFill>
          <a:ln w="12700">
            <a:solidFill>
              <a:srgbClr val="1A423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96712" y="2121408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Destructuring</a:t>
            </a:r>
            <a:endParaRPr lang="en-US" sz="98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8424" y="2450592"/>
            <a:ext cx="4233672" cy="2286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" y="5010912"/>
            <a:ext cx="8942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Muy habitual en respuestas de APIs, props de componentes y parámetros de funciones</a:t>
            </a:r>
            <a:endParaRPr lang="en-US" sz="8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Spread operator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Expande los elementos de un arreglo u objeto dentro de otro. Combina estructuras sin mutar las originales.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75104"/>
            <a:ext cx="4590288" cy="3364992"/>
          </a:xfrm>
          <a:prstGeom prst="roundRect">
            <a:avLst>
              <a:gd name="adj" fmla="val 108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84832"/>
            <a:ext cx="433425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57984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 en arreglos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33472"/>
            <a:ext cx="4169664" cy="261518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280" y="1975104"/>
            <a:ext cx="4352544" cy="3364992"/>
          </a:xfrm>
          <a:prstGeom prst="roundRect">
            <a:avLst>
              <a:gd name="adj" fmla="val 108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97296" y="2084832"/>
            <a:ext cx="409651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07024" y="2157984"/>
            <a:ext cx="38770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Spread en objetos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888736" y="2633472"/>
            <a:ext cx="3931920" cy="261518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859536" y="5376672"/>
            <a:ext cx="9162288" cy="475488"/>
          </a:xfrm>
          <a:prstGeom prst="roundRect">
            <a:avLst>
              <a:gd name="adj" fmla="val 769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1060704" y="5541264"/>
            <a:ext cx="875995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Combinar estructuras sin mutar las originales — patrón fundamental en React, Redux y código funcional</a:t>
            </a:r>
            <a:endParaRPr lang="en-US" sz="9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¿Puedes leer esto sin haberlo escrito antes?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de código moderno: reconocer patrones ES6+ en código real es una habilidad base para trabajar sobre código existente.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75104"/>
            <a:ext cx="5486400" cy="3401568"/>
          </a:xfrm>
          <a:prstGeom prst="roundRect">
            <a:avLst>
              <a:gd name="adj" fmla="val 10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84832"/>
            <a:ext cx="52303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57984"/>
            <a:ext cx="50109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Carrito — ES6+ en acción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33472"/>
            <a:ext cx="5065776" cy="2651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310152" y="3282074"/>
            <a:ext cx="793846" cy="164592"/>
          </a:xfrm>
          <a:prstGeom prst="roundRect">
            <a:avLst>
              <a:gd name="adj" fmla="val 22222"/>
            </a:avLst>
          </a:prstGeom>
          <a:solidFill>
            <a:srgbClr val="F2E7D9">
              <a:alpha val="32000"/>
            </a:srgbClr>
          </a:solidFill>
          <a:ln w="12700">
            <a:solidFill>
              <a:srgbClr val="F2E7D9">
                <a:alpha val="0"/>
              </a:srgbClr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64224" y="3247729"/>
            <a:ext cx="73152" cy="164592"/>
          </a:xfrm>
          <a:prstGeom prst="roundRect">
            <a:avLst>
              <a:gd name="adj" fmla="val 625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6345936" y="3321796"/>
            <a:ext cx="1828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6437376" y="3321796"/>
            <a:ext cx="73152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18" name="Shape 14"/>
          <p:cNvSpPr/>
          <p:nvPr/>
        </p:nvSpPr>
        <p:spPr>
          <a:xfrm>
            <a:off x="6502298" y="3330025"/>
            <a:ext cx="16459" cy="217847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510528" y="3539642"/>
            <a:ext cx="109728" cy="16459"/>
          </a:xfrm>
          <a:prstGeom prst="rect">
            <a:avLst/>
          </a:prstGeom>
          <a:solidFill>
            <a:srgbClr val="96A3B2"/>
          </a:solidFill>
          <a:ln w="12700">
            <a:solidFill>
              <a:srgbClr val="96A3B2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583680" y="2322576"/>
            <a:ext cx="3328416" cy="658368"/>
          </a:xfrm>
          <a:prstGeom prst="roundRect">
            <a:avLst>
              <a:gd name="adj" fmla="val 4167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656832" y="2432304"/>
            <a:ext cx="100584" cy="4389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6839712" y="2450592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Arrow function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6839712" y="2724912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callback de reduce se escribe como arrow: (acc, { precio }) =&gt; acc + precio</a:t>
            </a:r>
            <a:endParaRPr lang="en-US" sz="820" dirty="0"/>
          </a:p>
        </p:txBody>
      </p:sp>
      <p:sp>
        <p:nvSpPr>
          <p:cNvPr id="24" name="Shape 20"/>
          <p:cNvSpPr/>
          <p:nvPr/>
        </p:nvSpPr>
        <p:spPr>
          <a:xfrm>
            <a:off x="6583680" y="3127248"/>
            <a:ext cx="3328416" cy="658368"/>
          </a:xfrm>
          <a:prstGeom prst="roundRect">
            <a:avLst>
              <a:gd name="adj" fmla="val 41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6656832" y="3236976"/>
            <a:ext cx="100584" cy="4389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839712" y="3255264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Destructuring en parámetro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6839712" y="3529584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 precio } extrae directamente la propiedad del objeto en el parámetro del callback.</a:t>
            </a:r>
            <a:endParaRPr lang="en-US" sz="820" dirty="0"/>
          </a:p>
        </p:txBody>
      </p:sp>
      <p:sp>
        <p:nvSpPr>
          <p:cNvPr id="28" name="Shape 24"/>
          <p:cNvSpPr/>
          <p:nvPr/>
        </p:nvSpPr>
        <p:spPr>
          <a:xfrm>
            <a:off x="6583680" y="3931920"/>
            <a:ext cx="3328416" cy="658368"/>
          </a:xfrm>
          <a:prstGeom prst="roundRect">
            <a:avLst>
              <a:gd name="adj" fmla="val 41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6656832" y="4041648"/>
            <a:ext cx="100584" cy="43891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6839712" y="4059936"/>
            <a:ext cx="29992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Template literal</a:t>
            </a:r>
            <a:endParaRPr lang="en-US" sz="1100" dirty="0"/>
          </a:p>
        </p:txBody>
      </p:sp>
      <p:sp>
        <p:nvSpPr>
          <p:cNvPr id="31" name="Text 27"/>
          <p:cNvSpPr/>
          <p:nvPr/>
        </p:nvSpPr>
        <p:spPr>
          <a:xfrm>
            <a:off x="6839712" y="4334256"/>
            <a:ext cx="2999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` Total a pagar: $${...} ` interpola la expresión del total formateado.</a:t>
            </a:r>
            <a:endParaRPr lang="en-US" sz="820" dirty="0"/>
          </a:p>
        </p:txBody>
      </p:sp>
      <p:sp>
        <p:nvSpPr>
          <p:cNvPr id="32" name="Shape 28"/>
          <p:cNvSpPr/>
          <p:nvPr/>
        </p:nvSpPr>
        <p:spPr>
          <a:xfrm>
            <a:off x="859536" y="5449824"/>
            <a:ext cx="9162288" cy="493776"/>
          </a:xfrm>
          <a:prstGeom prst="roundRect">
            <a:avLst>
              <a:gd name="adj" fmla="val 740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1060704" y="5614416"/>
            <a:ext cx="8759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Leer código moderno antes de escribirlo es una habilidad, no un trámite.</a:t>
            </a:r>
            <a:endParaRPr lang="en-US" sz="116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Antes de seguir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preguntas para verificar comprensión antes de avanzar al Bloque 2.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987552" y="2029968"/>
            <a:ext cx="905256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078992" y="2157984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243584" y="2139696"/>
            <a:ext cx="8705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¿Qué diferencia práctica hay entre let y const?</a:t>
            </a:r>
            <a:endParaRPr lang="en-US" sz="1380" dirty="0"/>
          </a:p>
        </p:txBody>
      </p:sp>
      <p:sp>
        <p:nvSpPr>
          <p:cNvPr id="13" name="Text 10"/>
          <p:cNvSpPr/>
          <p:nvPr/>
        </p:nvSpPr>
        <p:spPr>
          <a:xfrm>
            <a:off x="1243584" y="2487168"/>
            <a:ext cx="8705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Piensa en reasignación y en cuál usarías por defecto al declarar cualquier variable.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987552" y="3200400"/>
            <a:ext cx="905256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078992" y="3328416"/>
            <a:ext cx="109728" cy="73152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43584" y="3310128"/>
            <a:ext cx="8705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¿Cuándo usarías destructuring sobre una respuesta de API?</a:t>
            </a:r>
            <a:endParaRPr lang="en-US" sz="1380" dirty="0"/>
          </a:p>
        </p:txBody>
      </p:sp>
      <p:sp>
        <p:nvSpPr>
          <p:cNvPr id="17" name="Text 14"/>
          <p:cNvSpPr/>
          <p:nvPr/>
        </p:nvSpPr>
        <p:spPr>
          <a:xfrm>
            <a:off x="1243584" y="3657600"/>
            <a:ext cx="8705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Imagina que fetch devuelve { nombre, email, ciudad }. ¿Cómo lo extraerías en una sola línea?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987552" y="4370832"/>
            <a:ext cx="9052560" cy="987552"/>
          </a:xfrm>
          <a:prstGeom prst="roundRect">
            <a:avLst>
              <a:gd name="adj" fmla="val 370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078992" y="4498848"/>
            <a:ext cx="109728" cy="73152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243584" y="4480560"/>
            <a:ext cx="87050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¿Por qué evitar var en código nuevo?</a:t>
            </a:r>
            <a:endParaRPr lang="en-US" sz="1380" dirty="0"/>
          </a:p>
        </p:txBody>
      </p:sp>
      <p:sp>
        <p:nvSpPr>
          <p:cNvPr id="21" name="Text 18"/>
          <p:cNvSpPr/>
          <p:nvPr/>
        </p:nvSpPr>
        <p:spPr>
          <a:xfrm>
            <a:off x="1243584" y="4828032"/>
            <a:ext cx="87050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comportamiento de var puede generar errores silenciosos que let y const no tienen?</a:t>
            </a:r>
            <a:endParaRPr lang="en-US" sz="94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y agentes en ES6+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puede proponer la versión moderna. La revisión del alcance y el comportamiento es tuya.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883664"/>
            <a:ext cx="9308592" cy="3767328"/>
          </a:xfrm>
          <a:prstGeom prst="roundRect">
            <a:avLst>
              <a:gd name="adj" fmla="val 9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11680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084832"/>
            <a:ext cx="883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posible vs. validación obligatoria — ES6+ y sintaxis moderna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05840" y="2450592"/>
            <a:ext cx="3648456" cy="2743200"/>
          </a:xfrm>
          <a:prstGeom prst="roundRect">
            <a:avLst>
              <a:gd name="adj" fmla="val 1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15568" y="2578608"/>
            <a:ext cx="109728" cy="248716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16736" y="257860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16736" y="2852928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rápido y transformaciones sintácticas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16736" y="3200400"/>
            <a:ext cx="3191256" cy="303581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08176" y="3311042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54480" y="3246120"/>
            <a:ext cx="28986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 fragmentos ES6+ correctos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16736" y="3595421"/>
            <a:ext cx="3191256" cy="303581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08176" y="3706063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54480" y="3641141"/>
            <a:ext cx="28986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Refactorizar var a let/const automáticamente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16736" y="3990442"/>
            <a:ext cx="3191256" cy="303581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08176" y="4101084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54480" y="4036162"/>
            <a:ext cx="28986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funciones tradicionales a arrow functions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16736" y="4385462"/>
            <a:ext cx="3191256" cy="303581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08176" y="4496105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54480" y="4431182"/>
            <a:ext cx="28986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destructuring para objetos de API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1316736" y="4780483"/>
            <a:ext cx="3191256" cy="303581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408176" y="4891126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554480" y="4826203"/>
            <a:ext cx="28986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diferencias de sintaxis con ejemplos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373368" y="2450592"/>
            <a:ext cx="3648456" cy="27432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83096" y="2578608"/>
            <a:ext cx="109728" cy="24871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84264" y="257860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684264" y="2852928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criterio, lectura y validación técnica</a:t>
            </a:r>
            <a:endParaRPr lang="en-US" sz="940" dirty="0"/>
          </a:p>
        </p:txBody>
      </p:sp>
      <p:sp>
        <p:nvSpPr>
          <p:cNvPr id="36" name="Shape 33"/>
          <p:cNvSpPr/>
          <p:nvPr/>
        </p:nvSpPr>
        <p:spPr>
          <a:xfrm>
            <a:off x="6684264" y="3200400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75704" y="331470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22008" y="324612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alcance de variables en el contexto real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84264" y="3602736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75704" y="371703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22008" y="3648456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comportamiento de this en arrow functions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84264" y="4005072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75704" y="411937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22008" y="4050792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Comprobar en consola que el resultado es el esperado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684264" y="4407408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775704" y="452170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22008" y="4453128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que const no bloquea mutaciones de objetos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910328" y="3008376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020056" y="3154680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093208" y="3575304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074920" y="320040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sano</a:t>
            </a:r>
            <a:endParaRPr lang="en-US" sz="1060" dirty="0"/>
          </a:p>
        </p:txBody>
      </p:sp>
      <p:sp>
        <p:nvSpPr>
          <p:cNvPr id="52" name="Text 49"/>
          <p:cNvSpPr/>
          <p:nvPr/>
        </p:nvSpPr>
        <p:spPr>
          <a:xfrm>
            <a:off x="5038344" y="398678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Intentar, leer y decidir con evidencia.</a:t>
            </a:r>
            <a:endParaRPr lang="en-US" sz="720" dirty="0"/>
          </a:p>
        </p:txBody>
      </p:sp>
      <p:sp>
        <p:nvSpPr>
          <p:cNvPr id="53" name="Shape 50"/>
          <p:cNvSpPr/>
          <p:nvPr/>
        </p:nvSpPr>
        <p:spPr>
          <a:xfrm>
            <a:off x="1060704" y="5248656"/>
            <a:ext cx="8906256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170432" y="5294376"/>
            <a:ext cx="8686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el agente refactoriza una función a arrow, revisar el uso de this antes de aceptar el cambio.</a:t>
            </a:r>
            <a:endParaRPr lang="en-US" sz="8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1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ES6+ es el estándar del ecosistema actual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una versión más de JavaScript: es el punto desde donde el lenguaje se volvió más legible, más seguro y más expresivo.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38528"/>
            <a:ext cx="9308592" cy="658368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2103120"/>
            <a:ext cx="8906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const · let · arrow · template literal · destructuring · spread → ya son el estándar, no opciones</a:t>
            </a:r>
            <a:endParaRPr lang="en-US" sz="1640" dirty="0"/>
          </a:p>
        </p:txBody>
      </p:sp>
      <p:sp>
        <p:nvSpPr>
          <p:cNvPr id="12" name="Shape 9"/>
          <p:cNvSpPr/>
          <p:nvPr/>
        </p:nvSpPr>
        <p:spPr>
          <a:xfrm>
            <a:off x="859536" y="2779776"/>
            <a:ext cx="4462272" cy="1847088"/>
          </a:xfrm>
          <a:prstGeom prst="roundRect">
            <a:avLst>
              <a:gd name="adj" fmla="val 198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0976" y="2907792"/>
            <a:ext cx="109728" cy="159105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8895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15568" y="3236976"/>
            <a:ext cx="41148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ES6+ resolvió problemas reales que existían en la sintaxis anterior. Cada construcción nueva tiene un problema concreto que vino a resolver: alcance de bloque, legibilidad, extracción directa, combinación sin mutación.</a:t>
            </a:r>
            <a:endParaRPr lang="en-US" sz="1020" dirty="0"/>
          </a:p>
        </p:txBody>
      </p:sp>
      <p:sp>
        <p:nvSpPr>
          <p:cNvPr id="16" name="Shape 13"/>
          <p:cNvSpPr/>
          <p:nvPr/>
        </p:nvSpPr>
        <p:spPr>
          <a:xfrm>
            <a:off x="5687568" y="2779776"/>
            <a:ext cx="4462272" cy="1847088"/>
          </a:xfrm>
          <a:prstGeom prst="roundRect">
            <a:avLst>
              <a:gd name="adj" fmla="val 198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79008" y="2907792"/>
            <a:ext cx="109728" cy="15910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43600" y="288950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queda para validar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5943600" y="3236976"/>
            <a:ext cx="4114800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Reconocer estos patrones en código que no escribiste. Si puedes leer un reduce con destructuring y un template literal sin detenerte, la sintaxis ya no es una barrera.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859536" y="4882896"/>
            <a:ext cx="9308592" cy="713232"/>
          </a:xfrm>
          <a:prstGeom prst="roundRect">
            <a:avLst>
              <a:gd name="adj" fmla="val 512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1024128" y="4956048"/>
            <a:ext cx="6766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4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organiza un proyecto que crece más allá de un solo archivo?</a:t>
            </a:r>
            <a:endParaRPr lang="en-US" sz="1240" dirty="0"/>
          </a:p>
        </p:txBody>
      </p:sp>
      <p:sp>
        <p:nvSpPr>
          <p:cNvPr id="22" name="Shape 19"/>
          <p:cNvSpPr/>
          <p:nvPr/>
        </p:nvSpPr>
        <p:spPr>
          <a:xfrm>
            <a:off x="7973568" y="5029200"/>
            <a:ext cx="2048256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8083296" y="5065776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 → Módulos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2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048256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</a:t>
            </a:r>
            <a:endParaRPr lang="en-US" sz="4800" dirty="0"/>
          </a:p>
        </p:txBody>
      </p:sp>
      <p:sp>
        <p:nvSpPr>
          <p:cNvPr id="10" name="Text 7"/>
          <p:cNvSpPr/>
          <p:nvPr/>
        </p:nvSpPr>
        <p:spPr>
          <a:xfrm>
            <a:off x="804672" y="3218688"/>
            <a:ext cx="6949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Organizar el código en archivos con propósito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414016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194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minutos · expositivo con ejemplos guiados</a:t>
            </a:r>
            <a:endParaRPr lang="en-US" sz="94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Todo en un archivo: funciona hasta que no funciona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medida que el proyecto crece, un solo archivo se convierte en un obstáculo de mantenimiento.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75104"/>
            <a:ext cx="5084064" cy="3401568"/>
          </a:xfrm>
          <a:prstGeom prst="roundRect">
            <a:avLst>
              <a:gd name="adj" fmla="val 10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84832"/>
            <a:ext cx="482803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57984"/>
            <a:ext cx="46085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app.js — sin separación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33472"/>
            <a:ext cx="4663440" cy="2651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44768" y="1975104"/>
            <a:ext cx="3877056" cy="1005840"/>
          </a:xfrm>
          <a:prstGeom prst="roundRect">
            <a:avLst>
              <a:gd name="adj" fmla="val 272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217920" y="2084832"/>
            <a:ext cx="100584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400800" y="2103120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Difícil de navegar</a:t>
            </a:r>
            <a:endParaRPr lang="en-US" sz="1140" dirty="0"/>
          </a:p>
        </p:txBody>
      </p:sp>
      <p:sp>
        <p:nvSpPr>
          <p:cNvPr id="17" name="Text 13"/>
          <p:cNvSpPr/>
          <p:nvPr/>
        </p:nvSpPr>
        <p:spPr>
          <a:xfrm>
            <a:off x="6400800" y="2377440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Cientos de líneas sin relación entre sí. Encontrar una función específica requiere buscar en todo el archivo.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6144768" y="3145536"/>
            <a:ext cx="3877056" cy="1005840"/>
          </a:xfrm>
          <a:prstGeom prst="roundRect">
            <a:avLst>
              <a:gd name="adj" fmla="val 272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217920" y="3255264"/>
            <a:ext cx="100584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400800" y="3273552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Cambios rompen cosas no relacionadas</a:t>
            </a:r>
            <a:endParaRPr lang="en-US" sz="1140" dirty="0"/>
          </a:p>
        </p:txBody>
      </p:sp>
      <p:sp>
        <p:nvSpPr>
          <p:cNvPr id="21" name="Text 17"/>
          <p:cNvSpPr/>
          <p:nvPr/>
        </p:nvSpPr>
        <p:spPr>
          <a:xfrm>
            <a:off x="6400800" y="3547872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 validarEmail puede afectar renderizarTarjeta si comparten variables globales.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6144768" y="4315968"/>
            <a:ext cx="3877056" cy="1005840"/>
          </a:xfrm>
          <a:prstGeom prst="roundRect">
            <a:avLst>
              <a:gd name="adj" fmla="val 272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217920" y="4425696"/>
            <a:ext cx="100584" cy="7863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400800" y="4443984"/>
            <a:ext cx="3547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Conflictos al trabajar en equipo</a:t>
            </a:r>
            <a:endParaRPr lang="en-US" sz="1140" dirty="0"/>
          </a:p>
        </p:txBody>
      </p:sp>
      <p:sp>
        <p:nvSpPr>
          <p:cNvPr id="25" name="Text 21"/>
          <p:cNvSpPr/>
          <p:nvPr/>
        </p:nvSpPr>
        <p:spPr>
          <a:xfrm>
            <a:off x="6400800" y="4718304"/>
            <a:ext cx="35478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Dos personas editando el mismo archivo simultáneamente generan conflictos de versión constantes.</a:t>
            </a:r>
            <a:endParaRPr lang="en-US" sz="84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módulo: propósito claro y control de lo que expone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solo un archivo separado — es una unidad con responsabilidad definida.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883664"/>
            <a:ext cx="9308592" cy="768096"/>
          </a:xfrm>
          <a:prstGeom prst="roundRect">
            <a:avLst>
              <a:gd name="adj" fmla="val 476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2048256"/>
            <a:ext cx="89062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módulo es un archivo con un propósito claro que controla qué expone y qué encapsula.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59536" y="2907792"/>
            <a:ext cx="4462272" cy="2414016"/>
          </a:xfrm>
          <a:prstGeom prst="roundRect">
            <a:avLst>
              <a:gd name="adj" fmla="val 151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0976" y="3035808"/>
            <a:ext cx="109728" cy="21579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30175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 módulos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15568" y="3364992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Todo visible y accesible desde cualquier parte del código.</a:t>
            </a:r>
            <a:endParaRPr lang="en-US" sz="980" dirty="0"/>
          </a:p>
          <a:p>
            <a:pPr algn="l" indent="0" marL="0">
              <a:buNone/>
            </a:pP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funciones conviven sin relación lógica, cualquier cambio puede afectar cualquier otra pieza, y no hay forma de saber qué depende de qué.</a:t>
            </a:r>
            <a:endParaRPr lang="en-US" sz="980" dirty="0"/>
          </a:p>
        </p:txBody>
      </p:sp>
      <p:sp>
        <p:nvSpPr>
          <p:cNvPr id="16" name="Shape 13"/>
          <p:cNvSpPr/>
          <p:nvPr/>
        </p:nvSpPr>
        <p:spPr>
          <a:xfrm>
            <a:off x="5705856" y="2907792"/>
            <a:ext cx="4462272" cy="2414016"/>
          </a:xfrm>
          <a:prstGeom prst="roundRect">
            <a:avLst>
              <a:gd name="adj" fmla="val 151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97296" y="3035808"/>
            <a:ext cx="109728" cy="21579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61888" y="3017520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módulos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61888" y="3364992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 claro por archivo: validación, datos, interfaz.</a:t>
            </a:r>
            <a:endParaRPr lang="en-US" sz="980" dirty="0"/>
          </a:p>
          <a:p>
            <a:pPr algn="l" indent="0" marL="0">
              <a:buNone/>
            </a:pP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Encapsulación explícita: solo se expone lo que otros archivos necesitan. El resto queda privado dentro del módulo.</a:t>
            </a:r>
            <a:endParaRPr lang="en-US" sz="98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Estructura de un proyecto modular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carpeta agrupa archivos por responsabilidad. Cada archivo sabe qué importa y qué exporta.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75104"/>
            <a:ext cx="4791456" cy="3401568"/>
          </a:xfrm>
          <a:prstGeom prst="roundRect">
            <a:avLst>
              <a:gd name="adj" fmla="val 107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84832"/>
            <a:ext cx="453542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57984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Árbol del proyecto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33472"/>
            <a:ext cx="4370832" cy="2651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833872" y="1975104"/>
            <a:ext cx="4224528" cy="749808"/>
          </a:xfrm>
          <a:prstGeom prst="roundRect">
            <a:avLst>
              <a:gd name="adj" fmla="val 365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07024" y="2084832"/>
            <a:ext cx="100584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89904" y="2103120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utils/ — Lógica de validación</a:t>
            </a:r>
            <a:endParaRPr lang="en-US" sz="1140" dirty="0"/>
          </a:p>
        </p:txBody>
      </p:sp>
      <p:sp>
        <p:nvSpPr>
          <p:cNvPr id="17" name="Text 13"/>
          <p:cNvSpPr/>
          <p:nvPr/>
        </p:nvSpPr>
        <p:spPr>
          <a:xfrm>
            <a:off x="6089904" y="2377440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que verifican datos de entrada. Sin dependencias de UI.</a:t>
            </a:r>
            <a:endParaRPr lang="en-US" sz="840" dirty="0"/>
          </a:p>
        </p:txBody>
      </p:sp>
      <p:sp>
        <p:nvSpPr>
          <p:cNvPr id="18" name="Shape 14"/>
          <p:cNvSpPr/>
          <p:nvPr/>
        </p:nvSpPr>
        <p:spPr>
          <a:xfrm>
            <a:off x="5833872" y="2871216"/>
            <a:ext cx="4224528" cy="749808"/>
          </a:xfrm>
          <a:prstGeom prst="roundRect">
            <a:avLst>
              <a:gd name="adj" fmla="val 365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07024" y="2980944"/>
            <a:ext cx="100584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89904" y="2999232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servicios/ — Comunicación con datos</a:t>
            </a:r>
            <a:endParaRPr lang="en-US" sz="1140" dirty="0"/>
          </a:p>
        </p:txBody>
      </p:sp>
      <p:sp>
        <p:nvSpPr>
          <p:cNvPr id="21" name="Text 17"/>
          <p:cNvSpPr/>
          <p:nvPr/>
        </p:nvSpPr>
        <p:spPr>
          <a:xfrm>
            <a:off x="6089904" y="3273552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que obtienen o envían información. Aisladas del renderizado.</a:t>
            </a:r>
            <a:endParaRPr lang="en-US" sz="840" dirty="0"/>
          </a:p>
        </p:txBody>
      </p:sp>
      <p:sp>
        <p:nvSpPr>
          <p:cNvPr id="22" name="Shape 18"/>
          <p:cNvSpPr/>
          <p:nvPr/>
        </p:nvSpPr>
        <p:spPr>
          <a:xfrm>
            <a:off x="5833872" y="3767328"/>
            <a:ext cx="4224528" cy="749808"/>
          </a:xfrm>
          <a:prstGeom prst="roundRect">
            <a:avLst>
              <a:gd name="adj" fmla="val 365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07024" y="3877056"/>
            <a:ext cx="100584" cy="5303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089904" y="3895344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ui/ — Renderizado</a:t>
            </a:r>
            <a:endParaRPr lang="en-US" sz="1140" dirty="0"/>
          </a:p>
        </p:txBody>
      </p:sp>
      <p:sp>
        <p:nvSpPr>
          <p:cNvPr id="25" name="Text 21"/>
          <p:cNvSpPr/>
          <p:nvPr/>
        </p:nvSpPr>
        <p:spPr>
          <a:xfrm>
            <a:off x="6089904" y="4169664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Funciones que generan o modifican elementos visuales. Solo dependen de los datos que reciben.</a:t>
            </a:r>
            <a:endParaRPr lang="en-US" sz="840" dirty="0"/>
          </a:p>
        </p:txBody>
      </p:sp>
      <p:sp>
        <p:nvSpPr>
          <p:cNvPr id="26" name="Shape 22"/>
          <p:cNvSpPr/>
          <p:nvPr/>
        </p:nvSpPr>
        <p:spPr>
          <a:xfrm>
            <a:off x="5833872" y="4663440"/>
            <a:ext cx="4224528" cy="749808"/>
          </a:xfrm>
          <a:prstGeom prst="roundRect">
            <a:avLst>
              <a:gd name="adj" fmla="val 365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907024" y="4773168"/>
            <a:ext cx="100584" cy="53035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6089904" y="4791456"/>
            <a:ext cx="38953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main.js — Punto de entrada</a:t>
            </a:r>
            <a:endParaRPr lang="en-US" sz="1140" dirty="0"/>
          </a:p>
        </p:txBody>
      </p:sp>
      <p:sp>
        <p:nvSpPr>
          <p:cNvPr id="29" name="Text 25"/>
          <p:cNvSpPr/>
          <p:nvPr/>
        </p:nvSpPr>
        <p:spPr>
          <a:xfrm>
            <a:off x="6089904" y="5065776"/>
            <a:ext cx="38953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 y coordina los módulos. No contiene lógica de negocio directa.</a:t>
            </a:r>
            <a:endParaRPr lang="en-US" sz="84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 nombrado: múltiples exportaciones por archivo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Cualquier función o valor puede marcarse como export. Al importar, se usa el nombre exacto entre llaves.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75104"/>
            <a:ext cx="4864608" cy="1938528"/>
          </a:xfrm>
          <a:prstGeom prst="roundRect">
            <a:avLst>
              <a:gd name="adj" fmla="val 188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84832"/>
            <a:ext cx="460857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57984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validaciones.js — exportar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33472"/>
            <a:ext cx="4443984" cy="118872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59536" y="4059936"/>
            <a:ext cx="4864608" cy="1536192"/>
          </a:xfrm>
          <a:prstGeom prst="roundRect">
            <a:avLst>
              <a:gd name="adj" fmla="val 238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552" y="4169664"/>
            <a:ext cx="460857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97280" y="4242816"/>
            <a:ext cx="43891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main.js — importar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8992" y="4718304"/>
            <a:ext cx="4443984" cy="786384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925312" y="1975104"/>
            <a:ext cx="4133088" cy="969264"/>
          </a:xfrm>
          <a:prstGeom prst="roundRect">
            <a:avLst>
              <a:gd name="adj" fmla="val 28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998464" y="2084832"/>
            <a:ext cx="100584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6181344" y="2103120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exports nombrados se importan con llaves { }</a:t>
            </a:r>
            <a:endParaRPr lang="en-US" sz="1140" dirty="0"/>
          </a:p>
        </p:txBody>
      </p:sp>
      <p:sp>
        <p:nvSpPr>
          <p:cNvPr id="21" name="Text 16"/>
          <p:cNvSpPr/>
          <p:nvPr/>
        </p:nvSpPr>
        <p:spPr>
          <a:xfrm>
            <a:off x="6181344" y="2377440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nombre en el import debe coincidir exactamente con el nombre del export.</a:t>
            </a:r>
            <a:endParaRPr lang="en-US" sz="840" dirty="0"/>
          </a:p>
        </p:txBody>
      </p:sp>
      <p:sp>
        <p:nvSpPr>
          <p:cNvPr id="22" name="Shape 17"/>
          <p:cNvSpPr/>
          <p:nvPr/>
        </p:nvSpPr>
        <p:spPr>
          <a:xfrm>
            <a:off x="5925312" y="3108960"/>
            <a:ext cx="4133088" cy="969264"/>
          </a:xfrm>
          <a:prstGeom prst="roundRect">
            <a:avLst>
              <a:gd name="adj" fmla="val 283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18"/>
          <p:cNvSpPr/>
          <p:nvPr/>
        </p:nvSpPr>
        <p:spPr>
          <a:xfrm>
            <a:off x="5998464" y="3218688"/>
            <a:ext cx="100584" cy="74980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6181344" y="3236976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archivo puede tener múltiples exports nombrados</a:t>
            </a:r>
            <a:endParaRPr lang="en-US" sz="1140" dirty="0"/>
          </a:p>
        </p:txBody>
      </p:sp>
      <p:sp>
        <p:nvSpPr>
          <p:cNvPr id="25" name="Text 20"/>
          <p:cNvSpPr/>
          <p:nvPr/>
        </p:nvSpPr>
        <p:spPr>
          <a:xfrm>
            <a:off x="6181344" y="3511296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función o constante que se marque con export queda disponible para importarse de forma individual.</a:t>
            </a:r>
            <a:endParaRPr lang="en-US" sz="840" dirty="0"/>
          </a:p>
        </p:txBody>
      </p:sp>
      <p:sp>
        <p:nvSpPr>
          <p:cNvPr id="26" name="Shape 21"/>
          <p:cNvSpPr/>
          <p:nvPr/>
        </p:nvSpPr>
        <p:spPr>
          <a:xfrm>
            <a:off x="5925312" y="4242816"/>
            <a:ext cx="4133088" cy="969264"/>
          </a:xfrm>
          <a:prstGeom prst="roundRect">
            <a:avLst>
              <a:gd name="adj" fmla="val 283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5998464" y="4352544"/>
            <a:ext cx="100584" cy="74980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6181344" y="4370832"/>
            <a:ext cx="3803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no exportado queda privado al módulo</a:t>
            </a:r>
            <a:endParaRPr lang="en-US" sz="1140" dirty="0"/>
          </a:p>
        </p:txBody>
      </p:sp>
      <p:sp>
        <p:nvSpPr>
          <p:cNvPr id="29" name="Text 24"/>
          <p:cNvSpPr/>
          <p:nvPr/>
        </p:nvSpPr>
        <p:spPr>
          <a:xfrm>
            <a:off x="6181344" y="4645152"/>
            <a:ext cx="38039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Las variables y funciones sin export son invisibles para el resto del proyecto.</a:t>
            </a:r>
            <a:endParaRPr lang="en-US" sz="84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 default: una exportación principal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un módulo tiene una única exportación relevante, export default simplifica la importación.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1024128" y="1975104"/>
            <a:ext cx="4416552" cy="2834640"/>
          </a:xfrm>
          <a:prstGeom prst="roundRect">
            <a:avLst>
              <a:gd name="adj" fmla="val 1290"/>
            </a:avLst>
          </a:prstGeom>
          <a:solidFill>
            <a:srgbClr val="102A43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2066544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3A4A5E"/>
          </a:solidFill>
          <a:ln w="12700">
            <a:solidFill>
              <a:srgbClr val="3A4A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121408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nombrado</a:t>
            </a:r>
            <a:endParaRPr lang="en-US" sz="98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8" y="2450592"/>
            <a:ext cx="4233672" cy="22860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0" y="2103120"/>
            <a:ext cx="54864" cy="2578608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86984" y="1975104"/>
            <a:ext cx="4416552" cy="2834640"/>
          </a:xfrm>
          <a:prstGeom prst="roundRect">
            <a:avLst>
              <a:gd name="adj" fmla="val 1290"/>
            </a:avLst>
          </a:prstGeom>
          <a:solidFill>
            <a:srgbClr val="102A43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78424" y="2066544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1A4230"/>
          </a:solidFill>
          <a:ln w="12700">
            <a:solidFill>
              <a:srgbClr val="1A423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96712" y="2121408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Export default</a:t>
            </a:r>
            <a:endParaRPr lang="en-US" sz="98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8424" y="2450592"/>
            <a:ext cx="4233672" cy="228600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" y="5010912"/>
            <a:ext cx="8942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Default: una exportación principal sin llaves. El nombre al importar es libre.</a:t>
            </a:r>
            <a:endParaRPr lang="en-US" sz="88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patrón barrel: index.js como punto de acceso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archivo index.js agrupa los exports de una carpeta para que los consumidores no necesiten conocer la estructura interna.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75104"/>
            <a:ext cx="4572000" cy="1975104"/>
          </a:xfrm>
          <a:prstGeom prst="roundRect">
            <a:avLst>
              <a:gd name="adj" fmla="val 185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84832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57984"/>
            <a:ext cx="4096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utils/index.js — agrupar exports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33472"/>
            <a:ext cx="4151376" cy="12252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59536" y="4096512"/>
            <a:ext cx="4572000" cy="1316736"/>
          </a:xfrm>
          <a:prstGeom prst="roundRect">
            <a:avLst>
              <a:gd name="adj" fmla="val 27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987552" y="4206240"/>
            <a:ext cx="4315968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097280" y="4279392"/>
            <a:ext cx="4096512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main.js — import limpio</a:t>
            </a:r>
            <a:endParaRPr lang="en-US" sz="100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8992" y="4754880"/>
            <a:ext cx="4151376" cy="56692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650992" y="1975104"/>
            <a:ext cx="4517136" cy="3438144"/>
          </a:xfrm>
          <a:prstGeom prst="roundRect">
            <a:avLst>
              <a:gd name="adj" fmla="val 1064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742432" y="2103120"/>
            <a:ext cx="109728" cy="31821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5"/>
          <p:cNvSpPr/>
          <p:nvPr/>
        </p:nvSpPr>
        <p:spPr>
          <a:xfrm>
            <a:off x="5907024" y="2084832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Ventajas del patrón barrel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5907024" y="2432304"/>
            <a:ext cx="416966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consumidor solo necesita una ruta de importación, sin saber si la función viene de validaciones.js, fechas.js o calculos.js.</a:t>
            </a:r>
            <a:endParaRPr lang="en-US" sz="960" dirty="0"/>
          </a:p>
          <a:p>
            <a:pPr algn="l" indent="0" marL="0">
              <a:buNone/>
            </a:pP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se reorganiza la estructura interna de utils/, los imports en main.js no cambian.</a:t>
            </a:r>
            <a:endParaRPr lang="en-US" sz="960" dirty="0"/>
          </a:p>
          <a:p>
            <a:pPr algn="l" indent="0" marL="0">
              <a:buNone/>
            </a:pP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 refactorizaciones internas sin impacto externo.</a:t>
            </a:r>
            <a:endParaRPr lang="en-US" sz="960" dirty="0"/>
          </a:p>
        </p:txBody>
      </p:sp>
      <p:sp>
        <p:nvSpPr>
          <p:cNvPr id="22" name="Shape 17"/>
          <p:cNvSpPr/>
          <p:nvPr/>
        </p:nvSpPr>
        <p:spPr>
          <a:xfrm>
            <a:off x="859536" y="5504688"/>
            <a:ext cx="9308592" cy="493776"/>
          </a:xfrm>
          <a:prstGeom prst="roundRect">
            <a:avLst>
              <a:gd name="adj" fmla="val 7407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1060704" y="5669280"/>
            <a:ext cx="89062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index.js agrupa y simplifica — los consumidores no necesitan conocer la estructura interna</a:t>
            </a:r>
            <a:endParaRPr lang="en-US" sz="104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 en el navegador: type="module"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ese atributo, el navegador no reconoce import/export y arroja un error de sintaxis.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75104"/>
            <a:ext cx="9308592" cy="1316736"/>
          </a:xfrm>
          <a:prstGeom prst="roundRect">
            <a:avLst>
              <a:gd name="adj" fmla="val 27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84832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57984"/>
            <a:ext cx="8833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index.html — activar el sistema de módulos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33472"/>
            <a:ext cx="8887968" cy="5669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024128" y="3456432"/>
            <a:ext cx="4416552" cy="1755648"/>
          </a:xfrm>
          <a:prstGeom prst="roundRect">
            <a:avLst>
              <a:gd name="adj" fmla="val 2083"/>
            </a:avLst>
          </a:prstGeom>
          <a:solidFill>
            <a:srgbClr val="102A43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15568" y="3547872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3A4A5E"/>
          </a:solidFill>
          <a:ln w="12700">
            <a:solidFill>
              <a:srgbClr val="3A4A5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133856" y="3602736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type="module" — error</a:t>
            </a:r>
            <a:endParaRPr lang="en-US" sz="980" dirty="0"/>
          </a:p>
        </p:txBody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15568" y="3931920"/>
            <a:ext cx="4233672" cy="1207008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5486400" y="3584448"/>
            <a:ext cx="54864" cy="1499616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5586984" y="3456432"/>
            <a:ext cx="4416552" cy="1755648"/>
          </a:xfrm>
          <a:prstGeom prst="roundRect">
            <a:avLst>
              <a:gd name="adj" fmla="val 2083"/>
            </a:avLst>
          </a:prstGeom>
          <a:solidFill>
            <a:srgbClr val="102A43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678424" y="3547872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1A4230"/>
          </a:solidFill>
          <a:ln w="12700">
            <a:solidFill>
              <a:srgbClr val="1A4230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5696712" y="3602736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type="module" — correcto</a:t>
            </a:r>
            <a:endParaRPr lang="en-US" sz="980" dirty="0"/>
          </a:p>
        </p:txBody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678424" y="3931920"/>
            <a:ext cx="4233672" cy="12070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42416" y="5413248"/>
            <a:ext cx="8942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 type="module" el navegador arroja error de sintaxis al encontrar import</a:t>
            </a:r>
            <a:endParaRPr lang="en-US" sz="88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¿Cómo importarías calcularTotal desde main.js?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Dado el árbol de archivos, escribe la línea de import correcta.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2029968"/>
            <a:ext cx="4590288" cy="2157984"/>
          </a:xfrm>
          <a:prstGeom prst="roundRect">
            <a:avLst>
              <a:gd name="adj" fmla="val 169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139696"/>
            <a:ext cx="433425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212848"/>
            <a:ext cx="4114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Árbol de archivos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88336"/>
            <a:ext cx="4169664" cy="140817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669280" y="2029968"/>
            <a:ext cx="4352544" cy="2157984"/>
          </a:xfrm>
          <a:prstGeom prst="roundRect">
            <a:avLst>
              <a:gd name="adj" fmla="val 169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60720" y="2157984"/>
            <a:ext cx="109728" cy="190195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925312" y="2139696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Piensa antes de ver la respuesta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5925312" y="2487168"/>
            <a:ext cx="4005072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ruta necesitas? ¿Usas llaves o no? ¿Qué nombre le das a la función importada?</a:t>
            </a:r>
            <a:endParaRPr lang="en-US" sz="1020" dirty="0"/>
          </a:p>
        </p:txBody>
      </p:sp>
      <p:sp>
        <p:nvSpPr>
          <p:cNvPr id="18" name="Shape 14"/>
          <p:cNvSpPr/>
          <p:nvPr/>
        </p:nvSpPr>
        <p:spPr>
          <a:xfrm>
            <a:off x="859536" y="4352544"/>
            <a:ext cx="9308592" cy="1207008"/>
          </a:xfrm>
          <a:prstGeom prst="roundRect">
            <a:avLst>
              <a:gd name="adj" fmla="val 303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987552" y="4462272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097280" y="4535424"/>
            <a:ext cx="8833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Respuesta</a:t>
            </a:r>
            <a:endParaRPr lang="en-US" sz="100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8992" y="5010912"/>
            <a:ext cx="8887968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y agentes en la organización modular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puede proponer la estructura. La decisión de diseño es tuya.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883664"/>
            <a:ext cx="9308592" cy="3767328"/>
          </a:xfrm>
          <a:prstGeom prst="roundRect">
            <a:avLst>
              <a:gd name="adj" fmla="val 971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11680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084832"/>
            <a:ext cx="883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posible vs. criterio de diseño — Módulos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05840" y="2450592"/>
            <a:ext cx="3648456" cy="2743200"/>
          </a:xfrm>
          <a:prstGeom prst="roundRect">
            <a:avLst>
              <a:gd name="adj" fmla="val 133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15568" y="2578608"/>
            <a:ext cx="109728" cy="2487168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16736" y="257860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16736" y="2852928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rápido en estructura y sintaxis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16736" y="3200400"/>
            <a:ext cx="3191256" cy="303581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08176" y="3311042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54480" y="3246120"/>
            <a:ext cx="28986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estructura de carpetas para el proyecto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16736" y="3595421"/>
            <a:ext cx="3191256" cy="303581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08176" y="3706063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54480" y="3641141"/>
            <a:ext cx="28986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Generar exports e imports correctos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16736" y="3990442"/>
            <a:ext cx="3191256" cy="303581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08176" y="4101084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54480" y="4036162"/>
            <a:ext cx="28986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Refactorizar un archivo único en módulos separados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16736" y="4385462"/>
            <a:ext cx="3191256" cy="303581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08176" y="4496105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54480" y="4431182"/>
            <a:ext cx="28986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archivos index.js con re-exportaciones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1316736" y="4780483"/>
            <a:ext cx="3191256" cy="303581"/>
          </a:xfrm>
          <a:prstGeom prst="roundRect">
            <a:avLst>
              <a:gd name="adj" fmla="val 1204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1408176" y="4891126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1554480" y="4826203"/>
            <a:ext cx="2898648" cy="23042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imports no utilizados o rutas incorrectas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6373368" y="2450592"/>
            <a:ext cx="3648456" cy="2743200"/>
          </a:xfrm>
          <a:prstGeom prst="roundRect">
            <a:avLst>
              <a:gd name="adj" fmla="val 133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6483096" y="2578608"/>
            <a:ext cx="109728" cy="248716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6684264" y="2578608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6684264" y="2852928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 de diseño y cohesión</a:t>
            </a:r>
            <a:endParaRPr lang="en-US" sz="940" dirty="0"/>
          </a:p>
        </p:txBody>
      </p:sp>
      <p:sp>
        <p:nvSpPr>
          <p:cNvPr id="36" name="Shape 33"/>
          <p:cNvSpPr/>
          <p:nvPr/>
        </p:nvSpPr>
        <p:spPr>
          <a:xfrm>
            <a:off x="6684264" y="3200400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75704" y="331470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22008" y="324612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Decidir qué responsabilidades van juntas en un módulo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84264" y="3602736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75704" y="371703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22008" y="3648456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Validar que la separación tiene sentido para el dominio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84264" y="4005072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75704" y="4119372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22008" y="4050792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Evitar over-engineering en proyectos pequeños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6684264" y="4407408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6775704" y="452170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6922008" y="4453128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Definir qué debe quedar privado y qué se expone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4910328" y="3008376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5020056" y="3154680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5093208" y="3575304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5074920" y="3200400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sano</a:t>
            </a:r>
            <a:endParaRPr lang="en-US" sz="1060" dirty="0"/>
          </a:p>
        </p:txBody>
      </p:sp>
      <p:sp>
        <p:nvSpPr>
          <p:cNvPr id="52" name="Text 49"/>
          <p:cNvSpPr/>
          <p:nvPr/>
        </p:nvSpPr>
        <p:spPr>
          <a:xfrm>
            <a:off x="5038344" y="3986784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Intentar, leer y decidir con evidencia.</a:t>
            </a:r>
            <a:endParaRPr lang="en-US" sz="720" dirty="0"/>
          </a:p>
        </p:txBody>
      </p:sp>
      <p:sp>
        <p:nvSpPr>
          <p:cNvPr id="53" name="Shape 50"/>
          <p:cNvSpPr/>
          <p:nvPr/>
        </p:nvSpPr>
        <p:spPr>
          <a:xfrm>
            <a:off x="1060704" y="5248656"/>
            <a:ext cx="8906256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1170432" y="5294376"/>
            <a:ext cx="8686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estructura la propone el agente. La decisión de diseño es tuya.</a:t>
            </a:r>
            <a:endParaRPr lang="en-US" sz="8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2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módulos no ordenan archivos — definen límites de responsabilidad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código por responsabilidad es una decisión de diseño que importa cuando el proyecto crece y cuando se trabaja en equipo.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38528"/>
            <a:ext cx="2103120" cy="2633472"/>
          </a:xfrm>
          <a:prstGeom prst="roundRect">
            <a:avLst>
              <a:gd name="adj" fmla="val 17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66544"/>
            <a:ext cx="109728" cy="2377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4825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 nombrado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15568" y="2395728"/>
            <a:ext cx="175564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Múltiples exports por archivo. Se importan con llaves {}. El nombre debe coincidir.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3127248" y="1938528"/>
            <a:ext cx="2103120" cy="2633472"/>
          </a:xfrm>
          <a:prstGeom prst="roundRect">
            <a:avLst>
              <a:gd name="adj" fmla="val 17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18688" y="2066544"/>
            <a:ext cx="109728" cy="2377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83280" y="204825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Export default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83280" y="2395728"/>
            <a:ext cx="175564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exportación principal por archivo. Se importa sin llaves y con el nombre que se elija.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5394960" y="1938528"/>
            <a:ext cx="2103120" cy="2633472"/>
          </a:xfrm>
          <a:prstGeom prst="roundRect">
            <a:avLst>
              <a:gd name="adj" fmla="val 17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0" y="2066544"/>
            <a:ext cx="109728" cy="2377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50992" y="204825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Index barrel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50992" y="2395728"/>
            <a:ext cx="175564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index.js agrupa exports de una carpeta. Los consumidores importan desde una sola ruta.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7662672" y="1938528"/>
            <a:ext cx="2505456" cy="2633472"/>
          </a:xfrm>
          <a:prstGeom prst="roundRect">
            <a:avLst>
              <a:gd name="adj" fmla="val 146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54112" y="2066544"/>
            <a:ext cx="109728" cy="2377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18704" y="20482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type="module"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918704" y="2395728"/>
            <a:ext cx="2157984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Atributo requerido en el script HTML para activar el sistema de módulos ES6 en el navegador.</a:t>
            </a:r>
            <a:endParaRPr lang="en-US" sz="940" dirty="0"/>
          </a:p>
        </p:txBody>
      </p:sp>
      <p:sp>
        <p:nvSpPr>
          <p:cNvPr id="26" name="Shape 23"/>
          <p:cNvSpPr/>
          <p:nvPr/>
        </p:nvSpPr>
        <p:spPr>
          <a:xfrm>
            <a:off x="859536" y="4828032"/>
            <a:ext cx="9308592" cy="804672"/>
          </a:xfrm>
          <a:prstGeom prst="roundRect">
            <a:avLst>
              <a:gd name="adj" fmla="val 454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24128" y="4901184"/>
            <a:ext cx="6766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pasa cuando una operación tarda en completarse?</a:t>
            </a:r>
            <a:endParaRPr lang="en-US" sz="1320" dirty="0"/>
          </a:p>
        </p:txBody>
      </p:sp>
      <p:sp>
        <p:nvSpPr>
          <p:cNvPr id="28" name="Shape 25"/>
          <p:cNvSpPr/>
          <p:nvPr/>
        </p:nvSpPr>
        <p:spPr>
          <a:xfrm>
            <a:off x="7973568" y="4974336"/>
            <a:ext cx="208483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83296" y="501091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 → Asincronía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3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048256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Asincronía</a:t>
            </a:r>
            <a:endParaRPr lang="en-US" sz="4600" dirty="0"/>
          </a:p>
        </p:txBody>
      </p:sp>
      <p:sp>
        <p:nvSpPr>
          <p:cNvPr id="10" name="Text 7"/>
          <p:cNvSpPr/>
          <p:nvPr/>
        </p:nvSpPr>
        <p:spPr>
          <a:xfrm>
            <a:off x="804672" y="3218688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pasa cuando una operación tarda en completarse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578608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3225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minutos · modelo mental + ejemplos</a:t>
            </a:r>
            <a:endParaRPr lang="en-US" sz="94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Sincronía y asincronía no son estilos: son formas distintas de esperar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diferencia clave es si el programa se detiene hasta tener el resultado o si deja el trabajo pendiente mientras sigue ejecutando otras líneas.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1024128" y="1883664"/>
            <a:ext cx="4416552" cy="2231136"/>
          </a:xfrm>
          <a:prstGeom prst="roundRect">
            <a:avLst>
              <a:gd name="adj" fmla="val 1639"/>
            </a:avLst>
          </a:prstGeom>
          <a:solidFill>
            <a:srgbClr val="102A43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1975104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3A4A5E"/>
          </a:solidFill>
          <a:ln w="12700">
            <a:solidFill>
              <a:srgbClr val="3A4A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029968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Sincrónico — todo espera</a:t>
            </a:r>
            <a:endParaRPr lang="en-US" sz="98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8" y="2359152"/>
            <a:ext cx="4233672" cy="16824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0" y="2011680"/>
            <a:ext cx="54864" cy="1975104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86984" y="1883664"/>
            <a:ext cx="4416552" cy="2231136"/>
          </a:xfrm>
          <a:prstGeom prst="roundRect">
            <a:avLst>
              <a:gd name="adj" fmla="val 1639"/>
            </a:avLst>
          </a:prstGeom>
          <a:solidFill>
            <a:srgbClr val="102A43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78424" y="1975104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1A4230"/>
          </a:solidFill>
          <a:ln w="12700">
            <a:solidFill>
              <a:srgbClr val="1A423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96712" y="2029968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Asincrónico — el trabajo queda pendiente</a:t>
            </a:r>
            <a:endParaRPr lang="en-US" sz="98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8424" y="2359152"/>
            <a:ext cx="4233672" cy="168249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" y="4315968"/>
            <a:ext cx="8942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asincronía el resultado no está listo inmediatamente, por eso el flujo cambia.</a:t>
            </a:r>
            <a:endParaRPr lang="en-US" sz="880" dirty="0"/>
          </a:p>
        </p:txBody>
      </p:sp>
      <p:sp>
        <p:nvSpPr>
          <p:cNvPr id="20" name="Shape 15"/>
          <p:cNvSpPr/>
          <p:nvPr/>
        </p:nvSpPr>
        <p:spPr>
          <a:xfrm>
            <a:off x="859536" y="4773168"/>
            <a:ext cx="9308592" cy="658368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1060704" y="4937760"/>
            <a:ext cx="8906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Asincronía no significa caos: significa que el programa coordina esperas sin congelar toda la ejecución.</a:t>
            </a:r>
            <a:endParaRPr lang="en-US" sz="152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ejecuta en una sola hebra, pero el navegador no trabaja solo con esa hebra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llamada JS corre en el call stack. Timers, red y otras esperas las gestiona el entorno hasta poder devolver el callback.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56816"/>
            <a:ext cx="2852928" cy="3145536"/>
          </a:xfrm>
          <a:prstGeom prst="roundRect">
            <a:avLst>
              <a:gd name="adj" fmla="val 12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84832"/>
            <a:ext cx="109728" cy="28895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6654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Call stack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" y="2414016"/>
            <a:ext cx="25054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se ejecuta el código JavaScript línea por línea. Si una tarea bloquea esta hebra, la interfaz se siente pesada o congelada.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05072" y="1956816"/>
            <a:ext cx="2852928" cy="3145536"/>
          </a:xfrm>
          <a:prstGeom prst="roundRect">
            <a:avLst>
              <a:gd name="adj" fmla="val 12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096512" y="2084832"/>
            <a:ext cx="109728" cy="288950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261104" y="206654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Entorno del navegador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4261104" y="2414016"/>
            <a:ext cx="2505456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Timers, eventos y peticiones de red pueden quedar gestionados fuera del stack principal mientras la app sigue respondiendo.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150608" y="1956816"/>
            <a:ext cx="3017520" cy="3145536"/>
          </a:xfrm>
          <a:prstGeom prst="roundRect">
            <a:avLst>
              <a:gd name="adj" fmla="val 121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242048" y="2084832"/>
            <a:ext cx="109728" cy="288950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406640" y="2066544"/>
            <a:ext cx="26700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importante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7406640" y="2414016"/>
            <a:ext cx="2670048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todo ocurre al mismo tiempo. Lo que hace el motor es coordinar cuándo una tarea vuelve a entrar al stack para ejecutarse.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event loop decide cuándo una tarea pendiente puede volver a ejecutarse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clave no es memorizar nombres aislados, sino leer la secuencia completa de una operación asíncrona.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01952"/>
            <a:ext cx="9308592" cy="3822192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29968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883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Recorrido típico de una operación asíncrona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432304"/>
            <a:ext cx="1267968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" y="2523744"/>
            <a:ext cx="82296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1463040" y="2532888"/>
            <a:ext cx="71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1225296" y="2834640"/>
            <a:ext cx="97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lanza setTimeout, fetch o un listener.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2346960" y="2852928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66416" y="2432304"/>
            <a:ext cx="1267968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639568" y="2523744"/>
            <a:ext cx="82296" cy="9326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31008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31008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3005328" y="2532888"/>
            <a:ext cx="71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API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2767584" y="2834640"/>
            <a:ext cx="97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entorno toma la tarea externa fuera del stack.</a:t>
            </a:r>
            <a:endParaRPr lang="en-US" sz="910" dirty="0"/>
          </a:p>
        </p:txBody>
      </p:sp>
      <p:sp>
        <p:nvSpPr>
          <p:cNvPr id="26" name="Shape 23"/>
          <p:cNvSpPr/>
          <p:nvPr/>
        </p:nvSpPr>
        <p:spPr>
          <a:xfrm>
            <a:off x="3889248" y="2852928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08704" y="2432304"/>
            <a:ext cx="1267968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81856" y="2523744"/>
            <a:ext cx="82296" cy="93268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73296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73296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4547616" y="2532888"/>
            <a:ext cx="71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Espera</a:t>
            </a:r>
            <a:endParaRPr lang="en-US" sz="1140" dirty="0"/>
          </a:p>
        </p:txBody>
      </p:sp>
      <p:sp>
        <p:nvSpPr>
          <p:cNvPr id="32" name="Text 29"/>
          <p:cNvSpPr/>
          <p:nvPr/>
        </p:nvSpPr>
        <p:spPr>
          <a:xfrm>
            <a:off x="4309872" y="2834640"/>
            <a:ext cx="97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operación sigue su curso mientras JS continúa con otras líneas.</a:t>
            </a:r>
            <a:endParaRPr lang="en-US" sz="910" dirty="0"/>
          </a:p>
        </p:txBody>
      </p:sp>
      <p:sp>
        <p:nvSpPr>
          <p:cNvPr id="33" name="Shape 30"/>
          <p:cNvSpPr/>
          <p:nvPr/>
        </p:nvSpPr>
        <p:spPr>
          <a:xfrm>
            <a:off x="5431536" y="2852928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50992" y="2432304"/>
            <a:ext cx="1267968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24144" y="2523744"/>
            <a:ext cx="82296" cy="932688"/>
          </a:xfrm>
          <a:prstGeom prst="rect">
            <a:avLst/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815584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15584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6089904" y="2532888"/>
            <a:ext cx="71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Cola</a:t>
            </a:r>
            <a:endParaRPr lang="en-US" sz="1140" dirty="0"/>
          </a:p>
        </p:txBody>
      </p:sp>
      <p:sp>
        <p:nvSpPr>
          <p:cNvPr id="39" name="Text 36"/>
          <p:cNvSpPr/>
          <p:nvPr/>
        </p:nvSpPr>
        <p:spPr>
          <a:xfrm>
            <a:off x="5852160" y="2834640"/>
            <a:ext cx="97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Cuando termina, el callback queda esperando turno.</a:t>
            </a:r>
            <a:endParaRPr lang="en-US" sz="910" dirty="0"/>
          </a:p>
        </p:txBody>
      </p:sp>
      <p:sp>
        <p:nvSpPr>
          <p:cNvPr id="40" name="Shape 37"/>
          <p:cNvSpPr/>
          <p:nvPr/>
        </p:nvSpPr>
        <p:spPr>
          <a:xfrm>
            <a:off x="6973824" y="2852928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93280" y="2432304"/>
            <a:ext cx="1267968" cy="1115568"/>
          </a:xfrm>
          <a:prstGeom prst="roundRect">
            <a:avLst>
              <a:gd name="adj" fmla="val 327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266432" y="2523744"/>
            <a:ext cx="82296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357872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57872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7632192" y="2532888"/>
            <a:ext cx="71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loop</a:t>
            </a:r>
            <a:endParaRPr lang="en-US" sz="1140" dirty="0"/>
          </a:p>
        </p:txBody>
      </p:sp>
      <p:sp>
        <p:nvSpPr>
          <p:cNvPr id="46" name="Text 43"/>
          <p:cNvSpPr/>
          <p:nvPr/>
        </p:nvSpPr>
        <p:spPr>
          <a:xfrm>
            <a:off x="7394448" y="2834640"/>
            <a:ext cx="97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 si el stack está libre para devolver la tarea.</a:t>
            </a:r>
            <a:endParaRPr lang="en-US" sz="910" dirty="0"/>
          </a:p>
        </p:txBody>
      </p:sp>
      <p:sp>
        <p:nvSpPr>
          <p:cNvPr id="47" name="Shape 44"/>
          <p:cNvSpPr/>
          <p:nvPr/>
        </p:nvSpPr>
        <p:spPr>
          <a:xfrm>
            <a:off x="8516112" y="2852928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735568" y="2432304"/>
            <a:ext cx="1267968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808720" y="2523744"/>
            <a:ext cx="82296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00160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900160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80" dirty="0"/>
          </a:p>
        </p:txBody>
      </p:sp>
      <p:sp>
        <p:nvSpPr>
          <p:cNvPr id="52" name="Text 49"/>
          <p:cNvSpPr/>
          <p:nvPr/>
        </p:nvSpPr>
        <p:spPr>
          <a:xfrm>
            <a:off x="9174480" y="2532888"/>
            <a:ext cx="71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Stack</a:t>
            </a:r>
            <a:endParaRPr lang="en-US" sz="1140" dirty="0"/>
          </a:p>
        </p:txBody>
      </p:sp>
      <p:sp>
        <p:nvSpPr>
          <p:cNvPr id="53" name="Text 50"/>
          <p:cNvSpPr/>
          <p:nvPr/>
        </p:nvSpPr>
        <p:spPr>
          <a:xfrm>
            <a:off x="8936736" y="2834640"/>
            <a:ext cx="97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Recién ahí el callback vuelve a ejecutarse en JavaScript.</a:t>
            </a:r>
            <a:endParaRPr lang="en-US" sz="910" dirty="0"/>
          </a:p>
        </p:txBody>
      </p:sp>
      <p:sp>
        <p:nvSpPr>
          <p:cNvPr id="54" name="Shape 51"/>
          <p:cNvSpPr/>
          <p:nvPr/>
        </p:nvSpPr>
        <p:spPr>
          <a:xfrm>
            <a:off x="1024128" y="3858768"/>
            <a:ext cx="4407408" cy="1682496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5" name="Shape 52"/>
          <p:cNvSpPr/>
          <p:nvPr/>
        </p:nvSpPr>
        <p:spPr>
          <a:xfrm>
            <a:off x="1097280" y="3968496"/>
            <a:ext cx="91440" cy="146304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61872" y="3968496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clave</a:t>
            </a:r>
            <a:endParaRPr lang="en-US" sz="1140" dirty="0"/>
          </a:p>
        </p:txBody>
      </p:sp>
      <p:sp>
        <p:nvSpPr>
          <p:cNvPr id="57" name="Text 54"/>
          <p:cNvSpPr/>
          <p:nvPr/>
        </p:nvSpPr>
        <p:spPr>
          <a:xfrm>
            <a:off x="1261872" y="4242816"/>
            <a:ext cx="4078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tarea no entra apenas termina; entra cuando el stack queda libre.</a:t>
            </a:r>
            <a:endParaRPr lang="en-US" sz="950" dirty="0"/>
          </a:p>
        </p:txBody>
      </p:sp>
      <p:sp>
        <p:nvSpPr>
          <p:cNvPr id="58" name="Shape 55"/>
          <p:cNvSpPr/>
          <p:nvPr/>
        </p:nvSpPr>
        <p:spPr>
          <a:xfrm>
            <a:off x="5596128" y="3858768"/>
            <a:ext cx="4407408" cy="1682496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5669280" y="3968496"/>
            <a:ext cx="91440" cy="14630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5833872" y="3968496"/>
            <a:ext cx="4078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común</a:t>
            </a:r>
            <a:endParaRPr lang="en-US" sz="1140" dirty="0"/>
          </a:p>
        </p:txBody>
      </p:sp>
      <p:sp>
        <p:nvSpPr>
          <p:cNvPr id="61" name="Text 58"/>
          <p:cNvSpPr/>
          <p:nvPr/>
        </p:nvSpPr>
        <p:spPr>
          <a:xfrm>
            <a:off x="5833872" y="4242816"/>
            <a:ext cx="407822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 'terminó' con 'ya se ejecutó el callback'.</a:t>
            </a:r>
            <a:endParaRPr lang="en-US" sz="9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Orden de ejecución: primero el stack, después la cola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timer de 0 ms no se adelanta mágicamente. Solo queda listo para entrar cuando JavaScript termina lo que ya está corriendo.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56816"/>
            <a:ext cx="4791456" cy="3493008"/>
          </a:xfrm>
          <a:prstGeom prst="roundRect">
            <a:avLst>
              <a:gd name="adj" fmla="val 10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66544"/>
            <a:ext cx="453542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39696"/>
            <a:ext cx="431596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Predice la salida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15184"/>
            <a:ext cx="4370832" cy="274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07024" y="2029968"/>
            <a:ext cx="4096512" cy="1024128"/>
          </a:xfrm>
          <a:prstGeom prst="roundRect">
            <a:avLst>
              <a:gd name="adj" fmla="val 267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80176" y="2139696"/>
            <a:ext cx="100584" cy="80467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63056" y="2157984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Salida correcta</a:t>
            </a:r>
            <a:endParaRPr lang="en-US" sz="1220" dirty="0"/>
          </a:p>
        </p:txBody>
      </p:sp>
      <p:sp>
        <p:nvSpPr>
          <p:cNvPr id="17" name="Text 13"/>
          <p:cNvSpPr/>
          <p:nvPr/>
        </p:nvSpPr>
        <p:spPr>
          <a:xfrm>
            <a:off x="6163056" y="2432304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inicio → fin → timer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5907024" y="3273552"/>
            <a:ext cx="4096512" cy="1024128"/>
          </a:xfrm>
          <a:prstGeom prst="roundRect">
            <a:avLst>
              <a:gd name="adj" fmla="val 267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980176" y="3383280"/>
            <a:ext cx="100584" cy="80467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163056" y="3401568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qué</a:t>
            </a:r>
            <a:endParaRPr lang="en-US" sz="1220" dirty="0"/>
          </a:p>
        </p:txBody>
      </p:sp>
      <p:sp>
        <p:nvSpPr>
          <p:cNvPr id="21" name="Text 17"/>
          <p:cNvSpPr/>
          <p:nvPr/>
        </p:nvSpPr>
        <p:spPr>
          <a:xfrm>
            <a:off x="6163056" y="3675888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callback queda en espera. Primero termina el código que ya estaba ocupando el stack.</a:t>
            </a:r>
            <a:endParaRPr lang="en-US" sz="880" dirty="0"/>
          </a:p>
        </p:txBody>
      </p:sp>
      <p:sp>
        <p:nvSpPr>
          <p:cNvPr id="22" name="Shape 18"/>
          <p:cNvSpPr/>
          <p:nvPr/>
        </p:nvSpPr>
        <p:spPr>
          <a:xfrm>
            <a:off x="5907024" y="4517136"/>
            <a:ext cx="4096512" cy="1024128"/>
          </a:xfrm>
          <a:prstGeom prst="roundRect">
            <a:avLst>
              <a:gd name="adj" fmla="val 267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5980176" y="4626864"/>
            <a:ext cx="100584" cy="80467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163056" y="4645152"/>
            <a:ext cx="37673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frecuente</a:t>
            </a:r>
            <a:endParaRPr lang="en-US" sz="1220" dirty="0"/>
          </a:p>
        </p:txBody>
      </p:sp>
      <p:sp>
        <p:nvSpPr>
          <p:cNvPr id="25" name="Text 21"/>
          <p:cNvSpPr/>
          <p:nvPr/>
        </p:nvSpPr>
        <p:spPr>
          <a:xfrm>
            <a:off x="6163056" y="4919472"/>
            <a:ext cx="376732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Creer que '0 ms' significa 'ejecución inmediata'. No significa eso.</a:t>
            </a:r>
            <a:endParaRPr lang="en-US" sz="88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Los callbacks resolvieron la espera, pero complicaron la lectura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Promises y async/await, encadenar operaciones asíncronas solía derivar en estructuras difíciles de seguir y depurar.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20240"/>
            <a:ext cx="4974336" cy="3639312"/>
          </a:xfrm>
          <a:prstGeom prst="roundRect">
            <a:avLst>
              <a:gd name="adj" fmla="val 100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29968"/>
            <a:ext cx="4718304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44988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Callback hell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578608"/>
            <a:ext cx="4553712" cy="288950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108192" y="1938528"/>
            <a:ext cx="4041648" cy="1609344"/>
          </a:xfrm>
          <a:prstGeom prst="roundRect">
            <a:avLst>
              <a:gd name="adj" fmla="val 2273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99632" y="2066544"/>
            <a:ext cx="109728" cy="135331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364224" y="2048256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sí resolvía</a:t>
            </a:r>
            <a:endParaRPr lang="en-US" sz="1340" dirty="0"/>
          </a:p>
        </p:txBody>
      </p:sp>
      <p:sp>
        <p:nvSpPr>
          <p:cNvPr id="17" name="Text 13"/>
          <p:cNvSpPr/>
          <p:nvPr/>
        </p:nvSpPr>
        <p:spPr>
          <a:xfrm>
            <a:off x="6364224" y="2395728"/>
            <a:ext cx="3694176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Permitía continuar el flujo cuando una operación terminaba después, sin bloquear toda la aplicación.</a:t>
            </a:r>
            <a:endParaRPr lang="en-US" sz="940" dirty="0"/>
          </a:p>
        </p:txBody>
      </p:sp>
      <p:sp>
        <p:nvSpPr>
          <p:cNvPr id="18" name="Shape 14"/>
          <p:cNvSpPr/>
          <p:nvPr/>
        </p:nvSpPr>
        <p:spPr>
          <a:xfrm>
            <a:off x="6108192" y="3730752"/>
            <a:ext cx="4041648" cy="1810512"/>
          </a:xfrm>
          <a:prstGeom prst="roundRect">
            <a:avLst>
              <a:gd name="adj" fmla="val 202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99632" y="3858768"/>
            <a:ext cx="109728" cy="15544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364224" y="3840480"/>
            <a:ext cx="36941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Dónde empezaba el problema</a:t>
            </a:r>
            <a:endParaRPr lang="en-US" sz="1340" dirty="0"/>
          </a:p>
        </p:txBody>
      </p:sp>
      <p:sp>
        <p:nvSpPr>
          <p:cNvPr id="21" name="Text 17"/>
          <p:cNvSpPr/>
          <p:nvPr/>
        </p:nvSpPr>
        <p:spPr>
          <a:xfrm>
            <a:off x="6364224" y="4187952"/>
            <a:ext cx="3694176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medida que las operaciones se anidaban, leer el flujo completo y manejar errores se volvía cada vez más difícil.</a:t>
            </a:r>
            <a:endParaRPr lang="en-US" sz="94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Chequeo rápido: ¿en qué orden se ejecuta esto?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objetivo no es memorizar trucos, sino poder seguir mentalmente el flujo antes de ejecutar.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75104"/>
            <a:ext cx="4736592" cy="2487168"/>
          </a:xfrm>
          <a:prstGeom prst="roundRect">
            <a:avLst>
              <a:gd name="adj" fmla="val 147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84832"/>
            <a:ext cx="44805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57984"/>
            <a:ext cx="4261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33472"/>
            <a:ext cx="4315968" cy="17373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797296" y="1975104"/>
            <a:ext cx="4352544" cy="1316736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88736" y="2103120"/>
            <a:ext cx="109728" cy="1060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53328" y="208483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053328" y="2432304"/>
            <a:ext cx="40050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→ C → B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797296" y="3529584"/>
            <a:ext cx="4352544" cy="1847088"/>
          </a:xfrm>
          <a:prstGeom prst="roundRect">
            <a:avLst>
              <a:gd name="adj" fmla="val 198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88736" y="3657600"/>
            <a:ext cx="109728" cy="159105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53328" y="3639312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Razón técnica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053328" y="3986784"/>
            <a:ext cx="4005072" cy="1261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timer no interrumpe el stack. Su callback queda listo y entra recién cuando JavaScript termina las instrucciones sincrónicas actuales.</a:t>
            </a:r>
            <a:endParaRPr lang="en-US" sz="96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y agentes frente a la asincronía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puede escribir la sintaxis. Tú necesitas entender el orden de ejecución.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01952"/>
            <a:ext cx="9308592" cy="3803904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29968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883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posible vs. criterio técnico — Asincronía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05840" y="2468880"/>
            <a:ext cx="3648456" cy="2779776"/>
          </a:xfrm>
          <a:prstGeom prst="roundRect">
            <a:avLst>
              <a:gd name="adj" fmla="val 131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15568" y="2596896"/>
            <a:ext cx="109728" cy="25237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16736" y="2596896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16736" y="287121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útil para partir más rápido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16736" y="3218688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08176" y="3332988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54480" y="3264408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qué hace setTimeout o un listener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16736" y="3621024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08176" y="3735324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54480" y="3666744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Proponer ejemplos pequeños para observar el orden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16736" y="4023360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08176" y="4137660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54480" y="40690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Transformar un callback en Promise o async/await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16736" y="4425696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08176" y="4539996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54480" y="4471416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Ayudar a comentar un flujo paso a paso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73368" y="2468880"/>
            <a:ext cx="3648456" cy="2779776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83096" y="2596896"/>
            <a:ext cx="109728" cy="2523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84264" y="2596896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84264" y="287121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comprensión del flujo real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84264" y="3218688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75704" y="333298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22008" y="3264408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Confiar en que el orden de ejecución es correcto sin probarlo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84264" y="3621024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75704" y="373532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22008" y="3666744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0 ms como ejecución inmediata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84264" y="4023360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75704" y="413766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22008" y="40690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Diagnosticar asincronía sin correr el ejemplo y mirar la salida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84264" y="4425696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75704" y="453999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22008" y="4471416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Confundir 'terminó la tarea' con 'ya corrió el callback'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910328" y="3044952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20056" y="3191256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93208" y="3611880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74920" y="323697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sano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038344" y="40233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Intentar, leer y decidir con evidencia.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60704" y="5303520"/>
            <a:ext cx="8906256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70432" y="5349240"/>
            <a:ext cx="8686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acelera la explicación. La comprensión del flujo real sigue dependiendo de ti.</a:t>
            </a:r>
            <a:endParaRPr lang="en-US" sz="8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3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Asincronía es coordinación del tiempo, no ejecución mágica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stack, espera, cola y event loop prepara el terreno para leer Promises y async/await sin confundir sintaxis con mecanismo.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38528"/>
            <a:ext cx="2103120" cy="2670048"/>
          </a:xfrm>
          <a:prstGeom prst="roundRect">
            <a:avLst>
              <a:gd name="adj" fmla="val 17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66544"/>
            <a:ext cx="109728" cy="24140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4825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Call stack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15568" y="2395728"/>
            <a:ext cx="175564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Donde JavaScript ejecuta lo que está corriendo ahora mismo.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3127248" y="1938528"/>
            <a:ext cx="2103120" cy="2670048"/>
          </a:xfrm>
          <a:prstGeom prst="roundRect">
            <a:avLst>
              <a:gd name="adj" fmla="val 173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18688" y="2066544"/>
            <a:ext cx="109728" cy="24140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83280" y="204825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Web APIs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83280" y="2395728"/>
            <a:ext cx="175564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entorno se hace cargo de timers, eventos o red mientras el stack sigue libre.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5394960" y="1938528"/>
            <a:ext cx="2103120" cy="2670048"/>
          </a:xfrm>
          <a:prstGeom prst="roundRect">
            <a:avLst>
              <a:gd name="adj" fmla="val 17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0" y="2066544"/>
            <a:ext cx="109728" cy="24140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50992" y="204825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Cola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50992" y="2395728"/>
            <a:ext cx="175564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callbacks listos esperan su turno hasta que JavaScript pueda retomarlos.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7662672" y="1938528"/>
            <a:ext cx="2505456" cy="2670048"/>
          </a:xfrm>
          <a:prstGeom prst="roundRect">
            <a:avLst>
              <a:gd name="adj" fmla="val 146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54112" y="2066544"/>
            <a:ext cx="109728" cy="24140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18704" y="20482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Event loop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918704" y="2395728"/>
            <a:ext cx="215798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 cuándo el stack queda libre y devuelve la tarea pendiente para ejecutarla.</a:t>
            </a:r>
            <a:endParaRPr lang="en-US" sz="940" dirty="0"/>
          </a:p>
        </p:txBody>
      </p:sp>
      <p:sp>
        <p:nvSpPr>
          <p:cNvPr id="26" name="Shape 23"/>
          <p:cNvSpPr/>
          <p:nvPr/>
        </p:nvSpPr>
        <p:spPr>
          <a:xfrm>
            <a:off x="859536" y="4828032"/>
            <a:ext cx="9308592" cy="804672"/>
          </a:xfrm>
          <a:prstGeom prst="roundRect">
            <a:avLst>
              <a:gd name="adj" fmla="val 454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24128" y="4901184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se lee este flujo sin caer en callback hell?</a:t>
            </a:r>
            <a:endParaRPr lang="en-US" sz="1320" dirty="0"/>
          </a:p>
        </p:txBody>
      </p:sp>
      <p:sp>
        <p:nvSpPr>
          <p:cNvPr id="28" name="Shape 25"/>
          <p:cNvSpPr/>
          <p:nvPr/>
        </p:nvSpPr>
        <p:spPr>
          <a:xfrm>
            <a:off x="7973568" y="4974336"/>
            <a:ext cx="2048256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83296" y="501091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 → Promises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207008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987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BLOQUE 4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1993392"/>
            <a:ext cx="8595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Promises y async/await</a:t>
            </a:r>
            <a:endParaRPr lang="en-US" sz="3900" dirty="0"/>
          </a:p>
        </p:txBody>
      </p:sp>
      <p:sp>
        <p:nvSpPr>
          <p:cNvPr id="10" name="Text 7"/>
          <p:cNvSpPr/>
          <p:nvPr/>
        </p:nvSpPr>
        <p:spPr>
          <a:xfrm>
            <a:off x="804672" y="3145536"/>
            <a:ext cx="7498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forma moderna de leer y manejar flujos asíncronos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04672" y="5340096"/>
            <a:ext cx="2871216" cy="365760"/>
          </a:xfrm>
          <a:prstGeom prst="roundRect">
            <a:avLst>
              <a:gd name="adj" fmla="val 10000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50976" y="5413248"/>
            <a:ext cx="26334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A8C4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 minutos · flujo + errores + fetch</a:t>
            </a:r>
            <a:endParaRPr lang="en-US" sz="94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Una Promise representa un valor que todavía no está disponible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guarda el valor final de inmediato: modela una operación que puede resolverse después con éxito o error.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883664"/>
            <a:ext cx="9308592" cy="749808"/>
          </a:xfrm>
          <a:prstGeom prst="roundRect">
            <a:avLst>
              <a:gd name="adj" fmla="val 4878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60704" y="2048256"/>
            <a:ext cx="890625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Promise = una promesa de resultado futuro, no el resultado mismo.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59536" y="2871216"/>
            <a:ext cx="4462272" cy="2414016"/>
          </a:xfrm>
          <a:prstGeom prst="roundRect">
            <a:avLst>
              <a:gd name="adj" fmla="val 151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950976" y="2999232"/>
            <a:ext cx="109728" cy="21579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15568" y="29809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resuelve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1115568" y="3328416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 describir una operación asíncrona sin anidar callbacks desde el primer paso. El flujo queda encadenado y el manejo de error se vuelve más legible.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705856" y="2871216"/>
            <a:ext cx="4462272" cy="2414016"/>
          </a:xfrm>
          <a:prstGeom prst="roundRect">
            <a:avLst>
              <a:gd name="adj" fmla="val 1515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5797296" y="2999232"/>
            <a:ext cx="109728" cy="21579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961888" y="29809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no significa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5961888" y="3328416"/>
            <a:ext cx="4114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significa ejecución instantánea ni paralelismo mágico. Sigue existiendo una espera; solo cambia la forma de representarla y leerla.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 Promise pasa por estados bien definidos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Conviene nombrarlos porque ayudan a leer qué está ocurriendo antes de que aparezcan then, catch o await.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20240"/>
            <a:ext cx="9308592" cy="3639312"/>
          </a:xfrm>
          <a:prstGeom prst="roundRect">
            <a:avLst>
              <a:gd name="adj" fmla="val 100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48256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21408"/>
            <a:ext cx="883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Estados que importan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450592"/>
            <a:ext cx="2810256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" y="2542032"/>
            <a:ext cx="82296" cy="9326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560320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60604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1463040" y="2551176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pending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1225296" y="2852928"/>
            <a:ext cx="2517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operación sigue en curso. Aún no hay resultado final.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3889248" y="2871216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108704" y="2450592"/>
            <a:ext cx="2810256" cy="1115568"/>
          </a:xfrm>
          <a:prstGeom prst="roundRect">
            <a:avLst>
              <a:gd name="adj" fmla="val 3279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181856" y="2542032"/>
            <a:ext cx="82296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273296" y="2560320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4273296" y="260604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4547616" y="2551176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fulfilled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4309872" y="2852928"/>
            <a:ext cx="2517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Promise terminó con éxito y entrega un valor.</a:t>
            </a:r>
            <a:endParaRPr lang="en-US" sz="910" dirty="0"/>
          </a:p>
        </p:txBody>
      </p:sp>
      <p:sp>
        <p:nvSpPr>
          <p:cNvPr id="26" name="Shape 23"/>
          <p:cNvSpPr/>
          <p:nvPr/>
        </p:nvSpPr>
        <p:spPr>
          <a:xfrm>
            <a:off x="6973824" y="2871216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7193280" y="2450592"/>
            <a:ext cx="2810256" cy="1115568"/>
          </a:xfrm>
          <a:prstGeom prst="roundRect">
            <a:avLst>
              <a:gd name="adj" fmla="val 3279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7266432" y="2542032"/>
            <a:ext cx="82296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357872" y="2560320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57872" y="2606040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7632192" y="2551176"/>
            <a:ext cx="226161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rejected</a:t>
            </a:r>
            <a:endParaRPr lang="en-US" sz="1140" dirty="0"/>
          </a:p>
        </p:txBody>
      </p:sp>
      <p:sp>
        <p:nvSpPr>
          <p:cNvPr id="32" name="Text 29"/>
          <p:cNvSpPr/>
          <p:nvPr/>
        </p:nvSpPr>
        <p:spPr>
          <a:xfrm>
            <a:off x="7394448" y="2852928"/>
            <a:ext cx="25176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Promise falló y ahora tiene un motivo de error.</a:t>
            </a:r>
            <a:endParaRPr lang="en-US" sz="910" dirty="0"/>
          </a:p>
        </p:txBody>
      </p:sp>
      <p:sp>
        <p:nvSpPr>
          <p:cNvPr id="33" name="Shape 30"/>
          <p:cNvSpPr/>
          <p:nvPr/>
        </p:nvSpPr>
        <p:spPr>
          <a:xfrm>
            <a:off x="1024128" y="3877056"/>
            <a:ext cx="8979408" cy="1499616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1097280" y="3986784"/>
            <a:ext cx="91440" cy="128016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1261872" y="3986784"/>
            <a:ext cx="8650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Importante</a:t>
            </a:r>
            <a:endParaRPr lang="en-US" sz="1140" dirty="0"/>
          </a:p>
        </p:txBody>
      </p:sp>
      <p:sp>
        <p:nvSpPr>
          <p:cNvPr id="36" name="Text 33"/>
          <p:cNvSpPr/>
          <p:nvPr/>
        </p:nvSpPr>
        <p:spPr>
          <a:xfrm>
            <a:off x="1261872" y="4261104"/>
            <a:ext cx="865022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Promise no vuelve a pending después de resolverse o rechazarse.</a:t>
            </a:r>
            <a:endParaRPr lang="en-US" sz="9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then, catch y finally son reacciones al resultado de una Promise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Primero apareció este patrón. Sigue siendo válido y todavía conviene saber leerlo aunque luego prefiramos async/await.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56816"/>
            <a:ext cx="5175504" cy="3547872"/>
          </a:xfrm>
          <a:prstGeom prst="roundRect">
            <a:avLst>
              <a:gd name="adj" fmla="val 103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66544"/>
            <a:ext cx="491947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39696"/>
            <a:ext cx="4700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 base con fetch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15184"/>
            <a:ext cx="4754880" cy="27980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6254496" y="2029968"/>
            <a:ext cx="3822192" cy="932688"/>
          </a:xfrm>
          <a:prstGeom prst="roundRect">
            <a:avLst>
              <a:gd name="adj" fmla="val 294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27648" y="2139696"/>
            <a:ext cx="100584" cy="713232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510528" y="2157984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then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6510528" y="2432304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el valor cuando la Promise se resuelve correctamente.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6254496" y="3182112"/>
            <a:ext cx="3822192" cy="932688"/>
          </a:xfrm>
          <a:prstGeom prst="roundRect">
            <a:avLst>
              <a:gd name="adj" fmla="val 2941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327648" y="3291840"/>
            <a:ext cx="100584" cy="713232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10528" y="3310128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catch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6510528" y="3584448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Recibe el error si la Promise se rechaza o algo lanza excepción en la cadena.</a:t>
            </a:r>
            <a:endParaRPr lang="en-US" sz="860" dirty="0"/>
          </a:p>
        </p:txBody>
      </p:sp>
      <p:sp>
        <p:nvSpPr>
          <p:cNvPr id="22" name="Shape 18"/>
          <p:cNvSpPr/>
          <p:nvPr/>
        </p:nvSpPr>
        <p:spPr>
          <a:xfrm>
            <a:off x="6254496" y="4334256"/>
            <a:ext cx="3822192" cy="932688"/>
          </a:xfrm>
          <a:prstGeom prst="roundRect">
            <a:avLst>
              <a:gd name="adj" fmla="val 2941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6327648" y="4443984"/>
            <a:ext cx="100584" cy="71323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510528" y="4462272"/>
            <a:ext cx="3493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finally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6510528" y="4736592"/>
            <a:ext cx="3493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 siempre al final, independiente del resultado.</a:t>
            </a:r>
            <a:endParaRPr lang="en-US" sz="8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Encadenar then permite transformar el resultado paso a paso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then recibe lo que devolvió el paso anterior. Eso ordena el flujo mejor que anidar callbacks uno dentro de otro.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56816"/>
            <a:ext cx="4773168" cy="3493008"/>
          </a:xfrm>
          <a:prstGeom prst="roundRect">
            <a:avLst>
              <a:gd name="adj" fmla="val 1047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66544"/>
            <a:ext cx="451713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39696"/>
            <a:ext cx="4297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Transformación encadenada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15184"/>
            <a:ext cx="4352544" cy="274320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870448" y="1993392"/>
            <a:ext cx="4297680" cy="3419856"/>
          </a:xfrm>
          <a:prstGeom prst="roundRect">
            <a:avLst>
              <a:gd name="adj" fmla="val 10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961888" y="2121408"/>
            <a:ext cx="109728" cy="3163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126480" y="2103120"/>
            <a:ext cx="39502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Lectura correcta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126480" y="2450592"/>
            <a:ext cx="3950208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Llega la respuesta.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Se convierte a JSON.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Se filtran los datos.</a:t>
            </a: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Se renderiza lo necesario.</a:t>
            </a:r>
            <a:endParaRPr lang="en-US" sz="980" dirty="0"/>
          </a:p>
          <a:p>
            <a:pPr algn="l" indent="0" marL="0">
              <a:buNone/>
            </a:pPr>
            <a:endParaRPr lang="en-US" sz="980" dirty="0"/>
          </a:p>
          <a:p>
            <a:pPr algn="l" indent="0" marL="0">
              <a:buNone/>
            </a:pPr>
            <a:r>
              <a:rPr lang="en-US" sz="9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va cambiando de forma a medida que avanza la cadena.</a:t>
            </a:r>
            <a:endParaRPr lang="en-US" sz="98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fetch devuelve una Promise; respuesta.json también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Ese detalle explica por qué en async/await suelen aparecer dos await distintos cuando trabajamos con APIs.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01952"/>
            <a:ext cx="9308592" cy="3712464"/>
          </a:xfrm>
          <a:prstGeom prst="roundRect">
            <a:avLst>
              <a:gd name="adj" fmla="val 98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29968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883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mínima con fetch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432304"/>
            <a:ext cx="203911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" y="2523744"/>
            <a:ext cx="82296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1463040" y="253288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fetch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1225296" y="2834640"/>
            <a:ext cx="1746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Devuelve una Promise que resuelve a un objeto Response.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3118104" y="2852928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3337560" y="2432304"/>
            <a:ext cx="203911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3410712" y="2523744"/>
            <a:ext cx="82296" cy="9326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502152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3502152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3776472" y="253288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Response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3538728" y="2834640"/>
            <a:ext cx="1746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no son tus datos; es la respuesta HTTP completa.</a:t>
            </a:r>
            <a:endParaRPr lang="en-US" sz="910" dirty="0"/>
          </a:p>
        </p:txBody>
      </p:sp>
      <p:sp>
        <p:nvSpPr>
          <p:cNvPr id="26" name="Shape 23"/>
          <p:cNvSpPr/>
          <p:nvPr/>
        </p:nvSpPr>
        <p:spPr>
          <a:xfrm>
            <a:off x="5431536" y="2852928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5650992" y="2432304"/>
            <a:ext cx="203911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5724144" y="2523744"/>
            <a:ext cx="82296" cy="93268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5815584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5815584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6089904" y="253288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json()</a:t>
            </a:r>
            <a:endParaRPr lang="en-US" sz="1140" dirty="0"/>
          </a:p>
        </p:txBody>
      </p:sp>
      <p:sp>
        <p:nvSpPr>
          <p:cNvPr id="32" name="Text 29"/>
          <p:cNvSpPr/>
          <p:nvPr/>
        </p:nvSpPr>
        <p:spPr>
          <a:xfrm>
            <a:off x="5852160" y="2834640"/>
            <a:ext cx="1746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También devuelve una Promise porque parsear el cuerpo es otro paso.</a:t>
            </a:r>
            <a:endParaRPr lang="en-US" sz="910" dirty="0"/>
          </a:p>
        </p:txBody>
      </p:sp>
      <p:sp>
        <p:nvSpPr>
          <p:cNvPr id="33" name="Shape 30"/>
          <p:cNvSpPr/>
          <p:nvPr/>
        </p:nvSpPr>
        <p:spPr>
          <a:xfrm>
            <a:off x="7744968" y="2852928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7964424" y="2432304"/>
            <a:ext cx="203911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8037576" y="2523744"/>
            <a:ext cx="82296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8129016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8129016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8403336" y="2532888"/>
            <a:ext cx="14904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datos</a:t>
            </a:r>
            <a:endParaRPr lang="en-US" sz="1140" dirty="0"/>
          </a:p>
        </p:txBody>
      </p:sp>
      <p:sp>
        <p:nvSpPr>
          <p:cNvPr id="39" name="Text 36"/>
          <p:cNvSpPr/>
          <p:nvPr/>
        </p:nvSpPr>
        <p:spPr>
          <a:xfrm>
            <a:off x="8165592" y="2834640"/>
            <a:ext cx="174650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Recién aquí tienes el objeto utilizable en la app.</a:t>
            </a:r>
            <a:endParaRPr lang="en-US" sz="910" dirty="0"/>
          </a:p>
        </p:txBody>
      </p:sp>
      <p:sp>
        <p:nvSpPr>
          <p:cNvPr id="40" name="Shape 37"/>
          <p:cNvSpPr/>
          <p:nvPr/>
        </p:nvSpPr>
        <p:spPr>
          <a:xfrm>
            <a:off x="1024128" y="3858768"/>
            <a:ext cx="8979408" cy="1572768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1097280" y="3968496"/>
            <a:ext cx="91440" cy="1353312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1261872" y="3968496"/>
            <a:ext cx="865022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Por eso</a:t>
            </a:r>
            <a:endParaRPr lang="en-US" sz="1140" dirty="0"/>
          </a:p>
        </p:txBody>
      </p:sp>
      <p:sp>
        <p:nvSpPr>
          <p:cNvPr id="43" name="Text 40"/>
          <p:cNvSpPr/>
          <p:nvPr/>
        </p:nvSpPr>
        <p:spPr>
          <a:xfrm>
            <a:off x="1261872" y="4242816"/>
            <a:ext cx="8650224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async/await suele aparecer await para fetch y otro await para response.json().</a:t>
            </a:r>
            <a:endParaRPr lang="en-US" sz="9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async/await no reemplaza Promises: las vuelve más legibles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Debajo sigue habiendo Promises. Lo que cambia es la forma de escribir y leer el flujo.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1024128" y="1901952"/>
            <a:ext cx="4416552" cy="3218688"/>
          </a:xfrm>
          <a:prstGeom prst="roundRect">
            <a:avLst>
              <a:gd name="adj" fmla="val 1136"/>
            </a:avLst>
          </a:prstGeom>
          <a:solidFill>
            <a:srgbClr val="102A43"/>
          </a:solidFill>
          <a:ln w="12700">
            <a:solidFill>
              <a:srgbClr val="2A3A4E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15568" y="1993392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3A4A5E"/>
          </a:solidFill>
          <a:ln w="12700">
            <a:solidFill>
              <a:srgbClr val="3A4A5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33856" y="2048256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96A3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then/catch</a:t>
            </a:r>
            <a:endParaRPr lang="en-US" sz="98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15568" y="2377440"/>
            <a:ext cx="4233672" cy="2670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486400" y="2029968"/>
            <a:ext cx="54864" cy="2962656"/>
          </a:xfrm>
          <a:prstGeom prst="rect">
            <a:avLst/>
          </a:prstGeom>
          <a:solidFill>
            <a:srgbClr val="D8CFC4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586984" y="1901952"/>
            <a:ext cx="4416552" cy="3218688"/>
          </a:xfrm>
          <a:prstGeom prst="roundRect">
            <a:avLst>
              <a:gd name="adj" fmla="val 1136"/>
            </a:avLst>
          </a:prstGeom>
          <a:solidFill>
            <a:srgbClr val="102A43"/>
          </a:solidFill>
          <a:ln w="12700">
            <a:solidFill>
              <a:srgbClr val="1C3A2E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5678424" y="1993392"/>
            <a:ext cx="4233672" cy="292608"/>
          </a:xfrm>
          <a:prstGeom prst="roundRect">
            <a:avLst>
              <a:gd name="adj" fmla="val 9375"/>
            </a:avLst>
          </a:prstGeom>
          <a:solidFill>
            <a:srgbClr val="1A4230"/>
          </a:solidFill>
          <a:ln w="12700">
            <a:solidFill>
              <a:srgbClr val="1A423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696712" y="2048256"/>
            <a:ext cx="4197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80" b="1" dirty="0">
                <a:solidFill>
                  <a:srgbClr val="3FAE6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async/await</a:t>
            </a:r>
            <a:endParaRPr lang="en-US" sz="98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678424" y="2377440"/>
            <a:ext cx="4233672" cy="267004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042416" y="5321808"/>
            <a:ext cx="89428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Mismo mecanismo, distinta legibilidad.</a:t>
            </a:r>
            <a:endParaRPr lang="en-US" sz="88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Toda función async devuelve una Promise, incluso si parece devolver un valor normal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Eso importa para leer llamadas encadenadas, componer funciones asíncronas y entender por qué await solo puede usarse en contexto async.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56816"/>
            <a:ext cx="4718304" cy="3419856"/>
          </a:xfrm>
          <a:prstGeom prst="roundRect">
            <a:avLst>
              <a:gd name="adj" fmla="val 107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66544"/>
            <a:ext cx="4462272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39696"/>
            <a:ext cx="42428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función async devuelve Promise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15184"/>
            <a:ext cx="4297680" cy="267004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797296" y="1993392"/>
            <a:ext cx="4352544" cy="3383280"/>
          </a:xfrm>
          <a:prstGeom prst="roundRect">
            <a:avLst>
              <a:gd name="adj" fmla="val 1081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88736" y="2121408"/>
            <a:ext cx="109728" cy="312724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53328" y="2103120"/>
            <a:ext cx="4005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 práctica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053328" y="2450592"/>
            <a:ext cx="4005072" cy="2798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función async siempre envuelve su retorno en una Promise. Por eso otra función puede esperar su resultado con await o reaccionar con then.</a:t>
            </a:r>
            <a:endParaRPr lang="en-US" sz="10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await pausa esa función, no congela todo JavaScript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 una pausa local del flujo dentro de una función async. El entorno puede seguir procesando otras tareas mientras tanto.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56816"/>
            <a:ext cx="4462272" cy="2633472"/>
          </a:xfrm>
          <a:prstGeom prst="roundRect">
            <a:avLst>
              <a:gd name="adj" fmla="val 138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84832"/>
            <a:ext cx="109728" cy="237744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665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correcto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" y="2414016"/>
            <a:ext cx="41148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 detiene temporalmente la continuación de esa función async hasta que la Promise se resuelve o rechaza.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05856" y="1956816"/>
            <a:ext cx="4462272" cy="2633472"/>
          </a:xfrm>
          <a:prstGeom prst="roundRect">
            <a:avLst>
              <a:gd name="adj" fmla="val 1389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97296" y="2084832"/>
            <a:ext cx="109728" cy="237744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0665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incorrecto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961888" y="2414016"/>
            <a:ext cx="4114800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significa que se congeló la interfaz ni que el navegador quedó detenido esperando. Esa es una confusión frecuente.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59536" y="4809744"/>
            <a:ext cx="9308592" cy="658368"/>
          </a:xfrm>
          <a:prstGeom prst="roundRect">
            <a:avLst>
              <a:gd name="adj" fmla="val 5556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060704" y="4974336"/>
            <a:ext cx="890625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2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await mejora la lectura del flujo; no cambia el hecho de que seguimos trabajando sobre asincronía.</a:t>
            </a:r>
            <a:endParaRPr lang="en-US" sz="152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 async/await, el manejo de errores se lee con try/catch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sintaxis se parece a código sincrónico, pero el principio sigue siendo el mismo: decidir qué haces cuando algo falla.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56816"/>
            <a:ext cx="4919472" cy="3547872"/>
          </a:xfrm>
          <a:prstGeom prst="roundRect">
            <a:avLst>
              <a:gd name="adj" fmla="val 103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66544"/>
            <a:ext cx="466344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39696"/>
            <a:ext cx="44439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 base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15184"/>
            <a:ext cx="4498848" cy="2798064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998464" y="2011680"/>
            <a:ext cx="4151376" cy="3474720"/>
          </a:xfrm>
          <a:prstGeom prst="roundRect">
            <a:avLst>
              <a:gd name="adj" fmla="val 1053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089904" y="2139696"/>
            <a:ext cx="109728" cy="32186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254496" y="2121408"/>
            <a:ext cx="380390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conviene mirar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254496" y="2468880"/>
            <a:ext cx="3803904" cy="2889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Qué puede fallar dentro del try.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Qué mensaje útil entrega el catch.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Qué devuelve la función si hubo error.</a:t>
            </a:r>
            <a:endParaRPr lang="en-US" sz="960" dirty="0"/>
          </a:p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Si el resto del código sabe tratar ese caso.</a:t>
            </a:r>
            <a:endParaRPr lang="en-US" sz="96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fetch no rechaza la Promise por un 404 o 500: por eso hay que revisar response.ok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es uno de los errores silenciosos más comunes cuando alguien aprendió la sintaxis pero todavía no revisa bien la semántica de la respuesta HTTP.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01952"/>
            <a:ext cx="9308592" cy="3840480"/>
          </a:xfrm>
          <a:prstGeom prst="roundRect">
            <a:avLst>
              <a:gd name="adj" fmla="val 95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29968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883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común de lectura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05840" y="2450592"/>
            <a:ext cx="4407408" cy="2834640"/>
          </a:xfrm>
          <a:prstGeom prst="roundRect">
            <a:avLst>
              <a:gd name="adj" fmla="val 1290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" y="2560320"/>
            <a:ext cx="91440" cy="261518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43584" y="257860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43584" y="262432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243584" y="287121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la API responde 404, catch corre automáticamente.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243584" y="3255264"/>
            <a:ext cx="405993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fetch solo rechaza por problemas de red. Un 404 sigue llegando como Response y debes revisarlo manualmente.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614416" y="2450592"/>
            <a:ext cx="4407408" cy="2834640"/>
          </a:xfrm>
          <a:prstGeom prst="roundRect">
            <a:avLst>
              <a:gd name="adj" fmla="val 1290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05856" y="2560320"/>
            <a:ext cx="91440" cy="261518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52160" y="257860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262432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Clave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52160" y="287121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Basta con await fetch(...).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52160" y="3255264"/>
            <a:ext cx="4059936" cy="1901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Después de await fetch(...) todavía conviene validar response.ok antes de asumir que todo salió bien.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1060704" y="5340096"/>
            <a:ext cx="8906256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170432" y="5385816"/>
            <a:ext cx="8686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Sintaxis correcta no garantiza manejo correcto de errores HTTP.</a:t>
            </a:r>
            <a:endParaRPr lang="en-US" sz="88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Un ejemplo completo: fetch, verificación, JSON y salida útil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patrón será la base de la clase siguiente cuando el dato ya no quede solo en consola y empiece a alimentar interfaz y formularios.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20240"/>
            <a:ext cx="9308592" cy="3621024"/>
          </a:xfrm>
          <a:prstGeom prst="roundRect">
            <a:avLst>
              <a:gd name="adj" fmla="val 101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29968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883310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Patrón completo con async/await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578608"/>
            <a:ext cx="8887968" cy="2871216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¿Por qué aparecen dos await?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Este detalle ayuda mucho a dejar de copiar patrones mecánicamente y empezar a leer lo que está pasando en cada línea.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56816"/>
            <a:ext cx="4462272" cy="3182112"/>
          </a:xfrm>
          <a:prstGeom prst="roundRect">
            <a:avLst>
              <a:gd name="adj" fmla="val 114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84832"/>
            <a:ext cx="109728" cy="29260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665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Primer await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" y="2414016"/>
            <a:ext cx="411480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 fetch(...) espera la Promise que entrega un objeto Response. Aquí todavía no tienes tus datos finales.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705856" y="1956816"/>
            <a:ext cx="4462272" cy="3182112"/>
          </a:xfrm>
          <a:prstGeom prst="roundRect">
            <a:avLst>
              <a:gd name="adj" fmla="val 114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97296" y="2084832"/>
            <a:ext cx="109728" cy="29260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61888" y="2066544"/>
            <a:ext cx="4114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Segundo await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5961888" y="2414016"/>
            <a:ext cx="4114800" cy="2596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await respuesta.json() espera el parseo del cuerpo para obtener el objeto JavaScript usable dentro de la aplicación.</a:t>
            </a:r>
            <a:endParaRPr lang="en-US" sz="1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 comunes con async/await que conviene detectar temprano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errores extraños: aparecen justamente cuando ya se entiende la sintaxis superficial pero todavía no se lee completo el flujo.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75104"/>
            <a:ext cx="4517136" cy="987552"/>
          </a:xfrm>
          <a:prstGeom prst="roundRect">
            <a:avLst>
              <a:gd name="adj" fmla="val 27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32688" y="2084832"/>
            <a:ext cx="100584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03120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Olvidar await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115568" y="2377440"/>
            <a:ext cx="4187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termina trabajando con una Promise en vez del dato resuelto.</a:t>
            </a:r>
            <a:endParaRPr lang="en-US" sz="880" dirty="0"/>
          </a:p>
        </p:txBody>
      </p:sp>
      <p:sp>
        <p:nvSpPr>
          <p:cNvPr id="14" name="Shape 11"/>
          <p:cNvSpPr/>
          <p:nvPr/>
        </p:nvSpPr>
        <p:spPr>
          <a:xfrm>
            <a:off x="5650992" y="1975104"/>
            <a:ext cx="4517136" cy="987552"/>
          </a:xfrm>
          <a:prstGeom prst="roundRect">
            <a:avLst>
              <a:gd name="adj" fmla="val 2778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24144" y="2084832"/>
            <a:ext cx="100584" cy="76809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07024" y="2103120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revisar response.ok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907024" y="2377440"/>
            <a:ext cx="4187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función parece funcionar, pero falla silenciosamente ante un 404 o 500.</a:t>
            </a:r>
            <a:endParaRPr lang="en-US" sz="860" dirty="0"/>
          </a:p>
        </p:txBody>
      </p:sp>
      <p:sp>
        <p:nvSpPr>
          <p:cNvPr id="18" name="Shape 15"/>
          <p:cNvSpPr/>
          <p:nvPr/>
        </p:nvSpPr>
        <p:spPr>
          <a:xfrm>
            <a:off x="859536" y="3236976"/>
            <a:ext cx="4517136" cy="987552"/>
          </a:xfrm>
          <a:prstGeom prst="roundRect">
            <a:avLst>
              <a:gd name="adj" fmla="val 27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32688" y="3346704"/>
            <a:ext cx="100584" cy="768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3364992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Usar await fuera de async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115568" y="3639312"/>
            <a:ext cx="4187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motor marca error porque no existe contexto asíncrono válido.</a:t>
            </a:r>
            <a:endParaRPr lang="en-US" sz="880" dirty="0"/>
          </a:p>
        </p:txBody>
      </p:sp>
      <p:sp>
        <p:nvSpPr>
          <p:cNvPr id="22" name="Shape 19"/>
          <p:cNvSpPr/>
          <p:nvPr/>
        </p:nvSpPr>
        <p:spPr>
          <a:xfrm>
            <a:off x="5650992" y="3236976"/>
            <a:ext cx="4517136" cy="987552"/>
          </a:xfrm>
          <a:prstGeom prst="roundRect">
            <a:avLst>
              <a:gd name="adj" fmla="val 2778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24144" y="3346704"/>
            <a:ext cx="100584" cy="76809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07024" y="3364992"/>
            <a:ext cx="41879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Capturar error pero no decidir nada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5907024" y="3639312"/>
            <a:ext cx="418795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catch existe, pero la función no devuelve nada útil ni informa bien qué pasó.</a:t>
            </a:r>
            <a:endParaRPr lang="en-US" sz="860" dirty="0"/>
          </a:p>
        </p:txBody>
      </p:sp>
      <p:sp>
        <p:nvSpPr>
          <p:cNvPr id="26" name="Shape 23"/>
          <p:cNvSpPr/>
          <p:nvPr/>
        </p:nvSpPr>
        <p:spPr>
          <a:xfrm>
            <a:off x="859536" y="4498848"/>
            <a:ext cx="9308592" cy="987552"/>
          </a:xfrm>
          <a:prstGeom prst="roundRect">
            <a:avLst>
              <a:gd name="adj" fmla="val 2778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932688" y="4608576"/>
            <a:ext cx="100584" cy="76809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115568" y="4626864"/>
            <a:ext cx="8979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2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 de fondo</a:t>
            </a:r>
            <a:endParaRPr lang="en-US" sz="1220" dirty="0"/>
          </a:p>
        </p:txBody>
      </p:sp>
      <p:sp>
        <p:nvSpPr>
          <p:cNvPr id="29" name="Text 26"/>
          <p:cNvSpPr/>
          <p:nvPr/>
        </p:nvSpPr>
        <p:spPr>
          <a:xfrm>
            <a:off x="1115568" y="4901184"/>
            <a:ext cx="897940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Creer que async/await resuelve por sí solo la lógica del flujo. La sintaxis ayuda; el criterio sigue siendo tuyo.</a:t>
            </a:r>
            <a:endParaRPr lang="en-US" sz="88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Callbacks, Promises y async/await: tres formas de mirar el mismo problema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son tres mundos distintos. Son capas históricas sobre el mismo desafío: esperar, continuar y manejar errores sin perder legibilidad.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56816"/>
            <a:ext cx="2852928" cy="3401568"/>
          </a:xfrm>
          <a:prstGeom prst="roundRect">
            <a:avLst>
              <a:gd name="adj" fmla="val 128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84832"/>
            <a:ext cx="109728" cy="3145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6654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Callbacks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414016"/>
            <a:ext cx="2505456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Primera solución práctica. Funcionan, pero anidar varios pasos complica la lectura y el manejo de errores.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78224" y="1956816"/>
            <a:ext cx="2852928" cy="3401568"/>
          </a:xfrm>
          <a:prstGeom prst="roundRect">
            <a:avLst>
              <a:gd name="adj" fmla="val 12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9664" y="2084832"/>
            <a:ext cx="109728" cy="3145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34256" y="206654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Promises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334256" y="2414016"/>
            <a:ext cx="2505456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Ordenan mejor el flujo y permiten encadenar pasos con then/catch/finally.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296912" y="1956816"/>
            <a:ext cx="2852928" cy="3401568"/>
          </a:xfrm>
          <a:prstGeom prst="roundRect">
            <a:avLst>
              <a:gd name="adj" fmla="val 12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88352" y="2084832"/>
            <a:ext cx="109728" cy="31455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2944" y="206654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async/await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552944" y="2414016"/>
            <a:ext cx="2505456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Hace más legible la misma lógica de Promises y permite leer el flujo como si fuera casi lineal.</a:t>
            </a:r>
            <a:endParaRPr lang="en-US" sz="10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Chequeo rápido: ¿cuál de estas líneas todavía no entrega el dato final?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idea es distinguir Response, Promise y dato utilizable antes de seguir a la siguiente clase.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75104"/>
            <a:ext cx="4681728" cy="2688336"/>
          </a:xfrm>
          <a:prstGeom prst="roundRect">
            <a:avLst>
              <a:gd name="adj" fmla="val 1361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84832"/>
            <a:ext cx="4425696" cy="310896"/>
          </a:xfrm>
          <a:prstGeom prst="roundRect">
            <a:avLst>
              <a:gd name="adj" fmla="val 8824"/>
            </a:avLst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57984"/>
            <a:ext cx="4206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</a:t>
            </a:r>
            <a:endParaRPr lang="en-US" sz="10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8992" y="2633472"/>
            <a:ext cx="4261104" cy="1938528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5779008" y="2011680"/>
            <a:ext cx="4370832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870448" y="2139696"/>
            <a:ext cx="109728" cy="859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35040" y="212140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Respuesta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6035040" y="2468880"/>
            <a:ext cx="40233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6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primera línea todavía entrega un Response, no el dato final de negocio.</a:t>
            </a:r>
            <a:endParaRPr lang="en-US" sz="960" dirty="0"/>
          </a:p>
        </p:txBody>
      </p:sp>
      <p:sp>
        <p:nvSpPr>
          <p:cNvPr id="18" name="Shape 14"/>
          <p:cNvSpPr/>
          <p:nvPr/>
        </p:nvSpPr>
        <p:spPr>
          <a:xfrm>
            <a:off x="5779008" y="3364992"/>
            <a:ext cx="4370832" cy="1298448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5870448" y="3493008"/>
            <a:ext cx="109728" cy="10424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035040" y="347472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importa aquí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6035040" y="3822192"/>
            <a:ext cx="402336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qué tipo de valor tienes en cada paso, no repetir await como gesto automático.</a:t>
            </a:r>
            <a:endParaRPr lang="en-US" sz="94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IA y agentes en Promises y async/await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Aquí el agente acelera mucho la escritura, pero eso no reemplaza verificar si el flujo realmente maneja bien éxito, error y tipos de respuesta.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01952"/>
            <a:ext cx="9308592" cy="3803904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29968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883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Ayuda posible vs. criterio técnico — Async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05840" y="2468880"/>
            <a:ext cx="3648456" cy="2779776"/>
          </a:xfrm>
          <a:prstGeom prst="roundRect">
            <a:avLst>
              <a:gd name="adj" fmla="val 131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15568" y="2596896"/>
            <a:ext cx="109728" cy="2523744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16736" y="2596896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El agente puede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16736" y="287121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generación rápida y refactorización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16736" y="3218688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08176" y="3332988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54480" y="3264408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Convertir callbacks a Promises o async/await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16736" y="3621024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08176" y="3735324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54480" y="3666744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un patrón base con try/catch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16736" y="4023360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08176" y="4137660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54480" y="40690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Sugerir una llamada fetch completa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16736" y="4425696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08176" y="4539996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54480" y="4471416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para qué sirve response.ok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73368" y="2468880"/>
            <a:ext cx="3648456" cy="2779776"/>
          </a:xfrm>
          <a:prstGeom prst="roundRect">
            <a:avLst>
              <a:gd name="adj" fmla="val 131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83096" y="2596896"/>
            <a:ext cx="109728" cy="252374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84264" y="2596896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No conviene delegar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84264" y="287121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real del flujo y errores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84264" y="3218688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75704" y="333298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22008" y="3264408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 por correcto el manejo HTTP sin probarlo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84264" y="3621024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75704" y="373532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22008" y="3666744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Confiar en que await está donde corresponde solo porque compila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84264" y="4023360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75704" y="413766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22008" y="40690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Ignorar qué devuelve cada línea del flujo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84264" y="4425696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75704" y="453999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22008" y="4471416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Suponer que el catch cubre todos los casos sin revisarlo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910328" y="3044952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20056" y="3191256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93208" y="3611880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74920" y="3236976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sano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038344" y="4023360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Intentar, leer y decidir con evidencia.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60704" y="5303520"/>
            <a:ext cx="8906256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70432" y="5349240"/>
            <a:ext cx="8686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IA escribe rápido. El criterio técnico sigue estando en cómo lees el flujo y manejas el error.</a:t>
            </a:r>
            <a:endParaRPr lang="en-US" sz="88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52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fijación antes de cerrar el bloque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estas preguntas ya te hacen sentido, la base para formularios y APIs reales está quedando instalada.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2011680"/>
            <a:ext cx="9308592" cy="3419856"/>
          </a:xfrm>
          <a:prstGeom prst="roundRect">
            <a:avLst>
              <a:gd name="adj" fmla="val 10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139696"/>
            <a:ext cx="109728" cy="3163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21408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Qué deberías poder responder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" y="2468880"/>
            <a:ext cx="8961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¿Qué diferencia hay entre Response y datos parseados?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¿Por qué una función async devuelve Promise aunque parezca retornar un valor simple?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¿Por qué catch no siempre detecta un 404 por sí solo?</a:t>
            </a:r>
            <a:endParaRPr lang="en-US" sz="1100" dirty="0"/>
          </a:p>
          <a:p>
            <a:pPr algn="l" indent="0" marL="0">
              <a:buNone/>
            </a:pP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¿Qué mejora de lectura ofrece async/await frente a then/catch?</a:t>
            </a:r>
            <a:endParaRPr lang="en-US" sz="11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53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Bloque 4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Promises y async/await no cambian la asincronía: la vuelven más legible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valor de este bloque está en leer mejor el flujo, entender qué devuelve cada paso y manejar errores con criterio antes de pasar a APIs aplicadas.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38528"/>
            <a:ext cx="2103120" cy="2670048"/>
          </a:xfrm>
          <a:prstGeom prst="roundRect">
            <a:avLst>
              <a:gd name="adj" fmla="val 17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66544"/>
            <a:ext cx="109728" cy="24140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4825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Promise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15568" y="2395728"/>
            <a:ext cx="175564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Representa un valor futuro que puede resolverse o fallar.</a:t>
            </a:r>
            <a:endParaRPr lang="en-US" sz="940" dirty="0"/>
          </a:p>
        </p:txBody>
      </p:sp>
      <p:sp>
        <p:nvSpPr>
          <p:cNvPr id="14" name="Shape 11"/>
          <p:cNvSpPr/>
          <p:nvPr/>
        </p:nvSpPr>
        <p:spPr>
          <a:xfrm>
            <a:off x="3127248" y="1938528"/>
            <a:ext cx="2103120" cy="2670048"/>
          </a:xfrm>
          <a:prstGeom prst="roundRect">
            <a:avLst>
              <a:gd name="adj" fmla="val 1739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3218688" y="2066544"/>
            <a:ext cx="109728" cy="241401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3383280" y="204825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then/catch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3383280" y="2395728"/>
            <a:ext cx="175564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Permiten reaccionar al éxito o error y encadenar transformaciones.</a:t>
            </a:r>
            <a:endParaRPr lang="en-US" sz="940" dirty="0"/>
          </a:p>
        </p:txBody>
      </p:sp>
      <p:sp>
        <p:nvSpPr>
          <p:cNvPr id="18" name="Shape 15"/>
          <p:cNvSpPr/>
          <p:nvPr/>
        </p:nvSpPr>
        <p:spPr>
          <a:xfrm>
            <a:off x="5394960" y="1938528"/>
            <a:ext cx="2103120" cy="2670048"/>
          </a:xfrm>
          <a:prstGeom prst="roundRect">
            <a:avLst>
              <a:gd name="adj" fmla="val 1739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486400" y="2066544"/>
            <a:ext cx="109728" cy="241401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5650992" y="2048256"/>
            <a:ext cx="175564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async/await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5650992" y="2395728"/>
            <a:ext cx="1755648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Escribe el mismo mecanismo con una lectura más limpia y casi lineal.</a:t>
            </a:r>
            <a:endParaRPr lang="en-US" sz="940" dirty="0"/>
          </a:p>
        </p:txBody>
      </p:sp>
      <p:sp>
        <p:nvSpPr>
          <p:cNvPr id="22" name="Shape 19"/>
          <p:cNvSpPr/>
          <p:nvPr/>
        </p:nvSpPr>
        <p:spPr>
          <a:xfrm>
            <a:off x="7662672" y="1938528"/>
            <a:ext cx="2505456" cy="2670048"/>
          </a:xfrm>
          <a:prstGeom prst="roundRect">
            <a:avLst>
              <a:gd name="adj" fmla="val 1460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7754112" y="2066544"/>
            <a:ext cx="109728" cy="241401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7918704" y="2048256"/>
            <a:ext cx="21579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Errores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7918704" y="2395728"/>
            <a:ext cx="2157984" cy="2084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manejan mejor cuando entiendes HTTP, response.ok y lo que realmente devuelve cada paso.</a:t>
            </a:r>
            <a:endParaRPr lang="en-US" sz="940" dirty="0"/>
          </a:p>
        </p:txBody>
      </p:sp>
      <p:sp>
        <p:nvSpPr>
          <p:cNvPr id="26" name="Shape 23"/>
          <p:cNvSpPr/>
          <p:nvPr/>
        </p:nvSpPr>
        <p:spPr>
          <a:xfrm>
            <a:off x="859536" y="4828032"/>
            <a:ext cx="9308592" cy="804672"/>
          </a:xfrm>
          <a:prstGeom prst="roundRect">
            <a:avLst>
              <a:gd name="adj" fmla="val 4545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024128" y="4901184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esta base ya podemos pasar de la consola a formularios, validación y APIs reales.</a:t>
            </a:r>
            <a:endParaRPr lang="en-US" sz="1320" dirty="0"/>
          </a:p>
        </p:txBody>
      </p:sp>
      <p:sp>
        <p:nvSpPr>
          <p:cNvPr id="28" name="Shape 25"/>
          <p:cNvSpPr/>
          <p:nvPr/>
        </p:nvSpPr>
        <p:spPr>
          <a:xfrm>
            <a:off x="7936992" y="4974336"/>
            <a:ext cx="208483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8046720" y="5010912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 de la clase</a:t>
            </a:r>
            <a:endParaRPr lang="en-US" sz="11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804672" y="621792"/>
            <a:ext cx="1005840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914400" y="658368"/>
            <a:ext cx="786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CIERRE</a:t>
            </a:r>
            <a:endParaRPr lang="en-US" sz="1060" dirty="0"/>
          </a:p>
        </p:txBody>
      </p:sp>
      <p:sp>
        <p:nvSpPr>
          <p:cNvPr id="6" name="Shape 3"/>
          <p:cNvSpPr/>
          <p:nvPr/>
        </p:nvSpPr>
        <p:spPr>
          <a:xfrm>
            <a:off x="804672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1046074" y="1115568"/>
            <a:ext cx="241402" cy="64373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1327709" y="1296619"/>
            <a:ext cx="201168" cy="46268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04672" y="2029968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Síntesis de la clase</a:t>
            </a:r>
            <a:endParaRPr lang="en-US" sz="4200" dirty="0"/>
          </a:p>
        </p:txBody>
      </p:sp>
      <p:sp>
        <p:nvSpPr>
          <p:cNvPr id="10" name="Text 7"/>
          <p:cNvSpPr/>
          <p:nvPr/>
        </p:nvSpPr>
        <p:spPr>
          <a:xfrm>
            <a:off x="804672" y="3182112"/>
            <a:ext cx="7223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 sintaxis moderna a flujo asíncrono legible</a:t>
            </a:r>
            <a:endParaRPr lang="en-US" sz="16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La progresión técnica completa de la clase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fueron cuatro temas sueltos: fue un recorrido desde sintaxis moderna hasta lectura de flujo asíncrono usable en trabajo real.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01952"/>
            <a:ext cx="9308592" cy="3749040"/>
          </a:xfrm>
          <a:prstGeom prst="roundRect">
            <a:avLst>
              <a:gd name="adj" fmla="val 97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29968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883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Del lenguaje al flujo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24128" y="2432304"/>
            <a:ext cx="1267968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" y="2523744"/>
            <a:ext cx="82296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188720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188720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680" dirty="0"/>
          </a:p>
        </p:txBody>
      </p:sp>
      <p:sp>
        <p:nvSpPr>
          <p:cNvPr id="17" name="Text 14"/>
          <p:cNvSpPr/>
          <p:nvPr/>
        </p:nvSpPr>
        <p:spPr>
          <a:xfrm>
            <a:off x="1463040" y="2532888"/>
            <a:ext cx="71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ES6+</a:t>
            </a:r>
            <a:endParaRPr lang="en-US" sz="1140" dirty="0"/>
          </a:p>
        </p:txBody>
      </p:sp>
      <p:sp>
        <p:nvSpPr>
          <p:cNvPr id="18" name="Text 15"/>
          <p:cNvSpPr/>
          <p:nvPr/>
        </p:nvSpPr>
        <p:spPr>
          <a:xfrm>
            <a:off x="1225296" y="2834640"/>
            <a:ext cx="97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lenguaje se vuelve más legible y expresivo.</a:t>
            </a:r>
            <a:endParaRPr lang="en-US" sz="910" dirty="0"/>
          </a:p>
        </p:txBody>
      </p:sp>
      <p:sp>
        <p:nvSpPr>
          <p:cNvPr id="19" name="Shape 16"/>
          <p:cNvSpPr/>
          <p:nvPr/>
        </p:nvSpPr>
        <p:spPr>
          <a:xfrm>
            <a:off x="2346960" y="2852928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2566416" y="2432304"/>
            <a:ext cx="1267968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2639568" y="2523744"/>
            <a:ext cx="82296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2731008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31008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680" dirty="0"/>
          </a:p>
        </p:txBody>
      </p:sp>
      <p:sp>
        <p:nvSpPr>
          <p:cNvPr id="24" name="Text 21"/>
          <p:cNvSpPr/>
          <p:nvPr/>
        </p:nvSpPr>
        <p:spPr>
          <a:xfrm>
            <a:off x="3005328" y="2532888"/>
            <a:ext cx="71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</a:t>
            </a:r>
            <a:endParaRPr lang="en-US" sz="1140" dirty="0"/>
          </a:p>
        </p:txBody>
      </p:sp>
      <p:sp>
        <p:nvSpPr>
          <p:cNvPr id="25" name="Text 22"/>
          <p:cNvSpPr/>
          <p:nvPr/>
        </p:nvSpPr>
        <p:spPr>
          <a:xfrm>
            <a:off x="2767584" y="2834640"/>
            <a:ext cx="97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código empieza a organizarse por responsabilidad.</a:t>
            </a:r>
            <a:endParaRPr lang="en-US" sz="910" dirty="0"/>
          </a:p>
        </p:txBody>
      </p:sp>
      <p:sp>
        <p:nvSpPr>
          <p:cNvPr id="26" name="Shape 23"/>
          <p:cNvSpPr/>
          <p:nvPr/>
        </p:nvSpPr>
        <p:spPr>
          <a:xfrm>
            <a:off x="3889248" y="2852928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108704" y="2432304"/>
            <a:ext cx="1267968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4181856" y="2523744"/>
            <a:ext cx="82296" cy="932688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73296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273296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680" dirty="0"/>
          </a:p>
        </p:txBody>
      </p:sp>
      <p:sp>
        <p:nvSpPr>
          <p:cNvPr id="31" name="Text 28"/>
          <p:cNvSpPr/>
          <p:nvPr/>
        </p:nvSpPr>
        <p:spPr>
          <a:xfrm>
            <a:off x="4547616" y="2532888"/>
            <a:ext cx="71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Asincronía</a:t>
            </a:r>
            <a:endParaRPr lang="en-US" sz="1140" dirty="0"/>
          </a:p>
        </p:txBody>
      </p:sp>
      <p:sp>
        <p:nvSpPr>
          <p:cNvPr id="32" name="Text 29"/>
          <p:cNvSpPr/>
          <p:nvPr/>
        </p:nvSpPr>
        <p:spPr>
          <a:xfrm>
            <a:off x="4309872" y="2834640"/>
            <a:ext cx="97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instala el problema del tiempo y la espera.</a:t>
            </a:r>
            <a:endParaRPr lang="en-US" sz="910" dirty="0"/>
          </a:p>
        </p:txBody>
      </p:sp>
      <p:sp>
        <p:nvSpPr>
          <p:cNvPr id="33" name="Shape 30"/>
          <p:cNvSpPr/>
          <p:nvPr/>
        </p:nvSpPr>
        <p:spPr>
          <a:xfrm>
            <a:off x="5431536" y="2852928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50992" y="2432304"/>
            <a:ext cx="1267968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5724144" y="2523744"/>
            <a:ext cx="82296" cy="932688"/>
          </a:xfrm>
          <a:prstGeom prst="rect">
            <a:avLst/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6" name="Shape 33"/>
          <p:cNvSpPr/>
          <p:nvPr/>
        </p:nvSpPr>
        <p:spPr>
          <a:xfrm>
            <a:off x="5815584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815584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680" dirty="0"/>
          </a:p>
        </p:txBody>
      </p:sp>
      <p:sp>
        <p:nvSpPr>
          <p:cNvPr id="38" name="Text 35"/>
          <p:cNvSpPr/>
          <p:nvPr/>
        </p:nvSpPr>
        <p:spPr>
          <a:xfrm>
            <a:off x="6089904" y="2532888"/>
            <a:ext cx="71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Promises</a:t>
            </a:r>
            <a:endParaRPr lang="en-US" sz="1140" dirty="0"/>
          </a:p>
        </p:txBody>
      </p:sp>
      <p:sp>
        <p:nvSpPr>
          <p:cNvPr id="39" name="Text 36"/>
          <p:cNvSpPr/>
          <p:nvPr/>
        </p:nvSpPr>
        <p:spPr>
          <a:xfrm>
            <a:off x="5852160" y="2834640"/>
            <a:ext cx="97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espera se representa como valor futuro.</a:t>
            </a:r>
            <a:endParaRPr lang="en-US" sz="910" dirty="0"/>
          </a:p>
        </p:txBody>
      </p:sp>
      <p:sp>
        <p:nvSpPr>
          <p:cNvPr id="40" name="Shape 37"/>
          <p:cNvSpPr/>
          <p:nvPr/>
        </p:nvSpPr>
        <p:spPr>
          <a:xfrm>
            <a:off x="6973824" y="2852928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7193280" y="2432304"/>
            <a:ext cx="1267968" cy="1115568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7266432" y="2523744"/>
            <a:ext cx="82296" cy="932688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7357872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7357872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680" dirty="0"/>
          </a:p>
        </p:txBody>
      </p:sp>
      <p:sp>
        <p:nvSpPr>
          <p:cNvPr id="45" name="Text 42"/>
          <p:cNvSpPr/>
          <p:nvPr/>
        </p:nvSpPr>
        <p:spPr>
          <a:xfrm>
            <a:off x="7632192" y="2532888"/>
            <a:ext cx="71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async/await</a:t>
            </a:r>
            <a:endParaRPr lang="en-US" sz="1140" dirty="0"/>
          </a:p>
        </p:txBody>
      </p:sp>
      <p:sp>
        <p:nvSpPr>
          <p:cNvPr id="46" name="Text 43"/>
          <p:cNvSpPr/>
          <p:nvPr/>
        </p:nvSpPr>
        <p:spPr>
          <a:xfrm>
            <a:off x="7394448" y="2834640"/>
            <a:ext cx="97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mismo mecanismo se vuelve mucho más legible.</a:t>
            </a:r>
            <a:endParaRPr lang="en-US" sz="910" dirty="0"/>
          </a:p>
        </p:txBody>
      </p:sp>
      <p:sp>
        <p:nvSpPr>
          <p:cNvPr id="47" name="Shape 44"/>
          <p:cNvSpPr/>
          <p:nvPr/>
        </p:nvSpPr>
        <p:spPr>
          <a:xfrm>
            <a:off x="8516112" y="2852928"/>
            <a:ext cx="164592" cy="274320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8735568" y="2432304"/>
            <a:ext cx="1267968" cy="1115568"/>
          </a:xfrm>
          <a:prstGeom prst="roundRect">
            <a:avLst>
              <a:gd name="adj" fmla="val 3279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8808720" y="2523744"/>
            <a:ext cx="82296" cy="932688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0" name="Shape 47"/>
          <p:cNvSpPr/>
          <p:nvPr/>
        </p:nvSpPr>
        <p:spPr>
          <a:xfrm>
            <a:off x="8900160" y="2542032"/>
            <a:ext cx="201168" cy="182880"/>
          </a:xfrm>
          <a:prstGeom prst="roundRect">
            <a:avLst>
              <a:gd name="adj" fmla="val 15000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8900160" y="2587752"/>
            <a:ext cx="20116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680" dirty="0"/>
          </a:p>
        </p:txBody>
      </p:sp>
      <p:sp>
        <p:nvSpPr>
          <p:cNvPr id="52" name="Text 49"/>
          <p:cNvSpPr/>
          <p:nvPr/>
        </p:nvSpPr>
        <p:spPr>
          <a:xfrm>
            <a:off x="9174480" y="2532888"/>
            <a:ext cx="719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4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APIs</a:t>
            </a:r>
            <a:endParaRPr lang="en-US" sz="1140" dirty="0"/>
          </a:p>
        </p:txBody>
      </p:sp>
      <p:sp>
        <p:nvSpPr>
          <p:cNvPr id="53" name="Text 50"/>
          <p:cNvSpPr/>
          <p:nvPr/>
        </p:nvSpPr>
        <p:spPr>
          <a:xfrm>
            <a:off x="8936736" y="2834640"/>
            <a:ext cx="97536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siguiente clase aplica esto sobre datos reales e interfaz.</a:t>
            </a:r>
            <a:endParaRPr lang="en-US" sz="91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56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Ideas que deberían quedar instaladas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estas cuatro ideas ya suenan razonables, el lunes quedó bien aprovechado.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75104"/>
            <a:ext cx="4517136" cy="1133856"/>
          </a:xfrm>
          <a:prstGeom prst="roundRect">
            <a:avLst>
              <a:gd name="adj" fmla="val 32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103120"/>
            <a:ext cx="109728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84832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ES6+ no es adorno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115568" y="2432304"/>
            <a:ext cx="4169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Resuelve problemas reales de legibilidad y mantenimiento.</a:t>
            </a:r>
            <a:endParaRPr lang="en-US" sz="920" dirty="0"/>
          </a:p>
        </p:txBody>
      </p:sp>
      <p:sp>
        <p:nvSpPr>
          <p:cNvPr id="14" name="Shape 11"/>
          <p:cNvSpPr/>
          <p:nvPr/>
        </p:nvSpPr>
        <p:spPr>
          <a:xfrm>
            <a:off x="5650992" y="1975104"/>
            <a:ext cx="4517136" cy="1133856"/>
          </a:xfrm>
          <a:prstGeom prst="roundRect">
            <a:avLst>
              <a:gd name="adj" fmla="val 3226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5742432" y="2103120"/>
            <a:ext cx="109728" cy="877824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5907024" y="2084832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 son diseño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907024" y="2432304"/>
            <a:ext cx="4169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Separar archivos importa porque separa responsabilidades.</a:t>
            </a:r>
            <a:endParaRPr lang="en-US" sz="920" dirty="0"/>
          </a:p>
        </p:txBody>
      </p:sp>
      <p:sp>
        <p:nvSpPr>
          <p:cNvPr id="18" name="Shape 15"/>
          <p:cNvSpPr/>
          <p:nvPr/>
        </p:nvSpPr>
        <p:spPr>
          <a:xfrm>
            <a:off x="859536" y="3456432"/>
            <a:ext cx="4517136" cy="1133856"/>
          </a:xfrm>
          <a:prstGeom prst="roundRect">
            <a:avLst>
              <a:gd name="adj" fmla="val 3226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950976" y="3584448"/>
            <a:ext cx="109728" cy="877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1115568" y="356616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Asincronía es tiempo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1115568" y="3913632"/>
            <a:ext cx="4169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es magia: es coordinación de espera, cola y ejecución.</a:t>
            </a:r>
            <a:endParaRPr lang="en-US" sz="920" dirty="0"/>
          </a:p>
        </p:txBody>
      </p:sp>
      <p:sp>
        <p:nvSpPr>
          <p:cNvPr id="22" name="Shape 19"/>
          <p:cNvSpPr/>
          <p:nvPr/>
        </p:nvSpPr>
        <p:spPr>
          <a:xfrm>
            <a:off x="5650992" y="3456432"/>
            <a:ext cx="4517136" cy="1133856"/>
          </a:xfrm>
          <a:prstGeom prst="roundRect">
            <a:avLst>
              <a:gd name="adj" fmla="val 3226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742432" y="3584448"/>
            <a:ext cx="109728" cy="877824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907024" y="3566160"/>
            <a:ext cx="41696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async/await es lectura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5907024" y="3913632"/>
            <a:ext cx="41696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2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Mejora la forma de leer Promises, pero no cambia el mecanismo de fondo.</a:t>
            </a:r>
            <a:endParaRPr lang="en-US" sz="92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57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Checklist antes de pasar a trabajo aplicado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 para detectar qué conviene repasar antes de entrar a formularios, validación y APIs aplicadas.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38528"/>
            <a:ext cx="9308592" cy="3602736"/>
          </a:xfrm>
          <a:prstGeom prst="roundRect">
            <a:avLst>
              <a:gd name="adj" fmla="val 101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66544"/>
            <a:ext cx="109728" cy="33467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48256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¿Ya puedes hacer esto?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" y="2395728"/>
            <a:ext cx="896112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Leer una función con arrow y destructuring sin detenerte.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Distinguir export nombrado y export default.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Explicar por qué setTimeout(..., 0) no corre inmediatamente.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Decir qué devuelve fetch y qué devuelve response.json().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- Leer un try/catch con async/await y detectar dónde se maneja el error.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58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Confusiones que conviene corregir antes de seguir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Varias de las dificultades con JavaScript moderno no nacen en la sintaxis, sino en ideas mal instaladas sobre lo que realmente hace el lenguaje.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01952"/>
            <a:ext cx="9308592" cy="3822192"/>
          </a:xfrm>
          <a:prstGeom prst="roundRect">
            <a:avLst>
              <a:gd name="adj" fmla="val 957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29968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883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Confusiones frecuentes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05840" y="2450592"/>
            <a:ext cx="4407408" cy="1316736"/>
          </a:xfrm>
          <a:prstGeom prst="roundRect">
            <a:avLst>
              <a:gd name="adj" fmla="val 2778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097280" y="2560320"/>
            <a:ext cx="91440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1243584" y="257860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1243584" y="262432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17" name="Text 14"/>
          <p:cNvSpPr/>
          <p:nvPr/>
        </p:nvSpPr>
        <p:spPr>
          <a:xfrm>
            <a:off x="1243584" y="287121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async/await vuelve síncrono el programa</a:t>
            </a:r>
            <a:endParaRPr lang="en-US" sz="1380" dirty="0"/>
          </a:p>
        </p:txBody>
      </p:sp>
      <p:sp>
        <p:nvSpPr>
          <p:cNvPr id="18" name="Text 15"/>
          <p:cNvSpPr/>
          <p:nvPr/>
        </p:nvSpPr>
        <p:spPr>
          <a:xfrm>
            <a:off x="1243584" y="3255264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Sigue siendo asincronía; lo que cambia es la forma de escribir el flujo.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5614416" y="2450592"/>
            <a:ext cx="4407408" cy="1316736"/>
          </a:xfrm>
          <a:prstGeom prst="roundRect">
            <a:avLst>
              <a:gd name="adj" fmla="val 2778"/>
            </a:avLst>
          </a:prstGeom>
          <a:solidFill>
            <a:srgbClr val="F2E7D9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705856" y="2560320"/>
            <a:ext cx="91440" cy="1097280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5852160" y="2578608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5852160" y="2624328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E0BC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23" name="Text 20"/>
          <p:cNvSpPr/>
          <p:nvPr/>
        </p:nvSpPr>
        <p:spPr>
          <a:xfrm>
            <a:off x="5852160" y="2871216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 ms significa ejecución instantánea</a:t>
            </a:r>
            <a:endParaRPr lang="en-US" sz="1380" dirty="0"/>
          </a:p>
        </p:txBody>
      </p:sp>
      <p:sp>
        <p:nvSpPr>
          <p:cNvPr id="24" name="Text 21"/>
          <p:cNvSpPr/>
          <p:nvPr/>
        </p:nvSpPr>
        <p:spPr>
          <a:xfrm>
            <a:off x="5852160" y="3255264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callback entra cuando el stack queda libre, no apenas se agenda.</a:t>
            </a:r>
            <a:endParaRPr lang="en-US" sz="1040" dirty="0"/>
          </a:p>
        </p:txBody>
      </p:sp>
      <p:sp>
        <p:nvSpPr>
          <p:cNvPr id="25" name="Shape 22"/>
          <p:cNvSpPr/>
          <p:nvPr/>
        </p:nvSpPr>
        <p:spPr>
          <a:xfrm>
            <a:off x="1005840" y="3950208"/>
            <a:ext cx="4407408" cy="1316736"/>
          </a:xfrm>
          <a:prstGeom prst="roundRect">
            <a:avLst>
              <a:gd name="adj" fmla="val 2778"/>
            </a:avLst>
          </a:prstGeom>
          <a:solidFill>
            <a:srgbClr val="E6EEF7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1097280" y="4059936"/>
            <a:ext cx="91440" cy="1097280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243584" y="40782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243584" y="41239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29" name="Text 26"/>
          <p:cNvSpPr/>
          <p:nvPr/>
        </p:nvSpPr>
        <p:spPr>
          <a:xfrm>
            <a:off x="1243584" y="4370832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Módulos son solo carpetas bonitas</a:t>
            </a:r>
            <a:endParaRPr lang="en-US" sz="1380" dirty="0"/>
          </a:p>
        </p:txBody>
      </p:sp>
      <p:sp>
        <p:nvSpPr>
          <p:cNvPr id="30" name="Text 27"/>
          <p:cNvSpPr/>
          <p:nvPr/>
        </p:nvSpPr>
        <p:spPr>
          <a:xfrm>
            <a:off x="1243584" y="4754880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modularidad define límites de responsabilidad y exposición.</a:t>
            </a:r>
            <a:endParaRPr lang="en-US" sz="1040" dirty="0"/>
          </a:p>
        </p:txBody>
      </p:sp>
      <p:sp>
        <p:nvSpPr>
          <p:cNvPr id="31" name="Shape 28"/>
          <p:cNvSpPr/>
          <p:nvPr/>
        </p:nvSpPr>
        <p:spPr>
          <a:xfrm>
            <a:off x="5614416" y="3950208"/>
            <a:ext cx="4407408" cy="1316736"/>
          </a:xfrm>
          <a:prstGeom prst="roundRect">
            <a:avLst>
              <a:gd name="adj" fmla="val 2778"/>
            </a:avLst>
          </a:prstGeom>
          <a:solidFill>
            <a:srgbClr val="F8E4E5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5705856" y="4059936"/>
            <a:ext cx="91440" cy="1097280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5852160" y="4078224"/>
            <a:ext cx="585216" cy="219456"/>
          </a:xfrm>
          <a:prstGeom prst="roundRect">
            <a:avLst>
              <a:gd name="adj" fmla="val 16667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852160" y="4123944"/>
            <a:ext cx="58521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D620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</a:t>
            </a:r>
            <a:endParaRPr lang="en-US" sz="880" dirty="0"/>
          </a:p>
        </p:txBody>
      </p:sp>
      <p:sp>
        <p:nvSpPr>
          <p:cNvPr id="35" name="Text 32"/>
          <p:cNvSpPr/>
          <p:nvPr/>
        </p:nvSpPr>
        <p:spPr>
          <a:xfrm>
            <a:off x="5852160" y="4370832"/>
            <a:ext cx="40599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8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 el código compila, el manejo de error ya está bien</a:t>
            </a:r>
            <a:endParaRPr lang="en-US" sz="1380" dirty="0"/>
          </a:p>
        </p:txBody>
      </p:sp>
      <p:sp>
        <p:nvSpPr>
          <p:cNvPr id="36" name="Text 33"/>
          <p:cNvSpPr/>
          <p:nvPr/>
        </p:nvSpPr>
        <p:spPr>
          <a:xfrm>
            <a:off x="5852160" y="4754880"/>
            <a:ext cx="4059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4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Todavía debes revisar response.ok, retornos útiles y lectura del flujo real.</a:t>
            </a:r>
            <a:endParaRPr lang="en-US" sz="1040" dirty="0"/>
          </a:p>
        </p:txBody>
      </p:sp>
      <p:sp>
        <p:nvSpPr>
          <p:cNvPr id="37" name="Shape 34"/>
          <p:cNvSpPr/>
          <p:nvPr/>
        </p:nvSpPr>
        <p:spPr>
          <a:xfrm>
            <a:off x="1060704" y="5321808"/>
            <a:ext cx="8906256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170432" y="5367528"/>
            <a:ext cx="8686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Parte importante de aprender JavaScript moderno es corregir malos modelos mentales.</a:t>
            </a:r>
            <a:endParaRPr lang="en-US" sz="88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59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Preguntas de salida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Sirven como cierre de comprensión y como puente hacia el trabajo aplicado de la siguiente clase.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93392"/>
            <a:ext cx="9308592" cy="3419856"/>
          </a:xfrm>
          <a:prstGeom prst="roundRect">
            <a:avLst>
              <a:gd name="adj" fmla="val 1070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121408"/>
            <a:ext cx="109728" cy="316382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103120"/>
            <a:ext cx="8961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Para salir con la idea correcta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115568" y="2450592"/>
            <a:ext cx="8961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¿Qué problema concreto resolvió ES6+ respecto del JavaScript anterior?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¿Por qué separar código en módulos es una decisión de diseño y no solo de orden?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¿Qué hace el event loop cuando una tarea termina pero el stack sigue ocupado?</a:t>
            </a:r>
            <a:endParaRPr lang="en-US" sz="1080" dirty="0"/>
          </a:p>
          <a:p>
            <a:pPr algn="l" indent="0" marL="0">
              <a:buNone/>
            </a:pPr>
            <a:endParaRPr lang="en-US" sz="1080" dirty="0"/>
          </a:p>
          <a:p>
            <a:pPr algn="l" indent="0" marL="0">
              <a:buNone/>
            </a:pPr>
            <a:r>
              <a:rPr lang="en-US" sz="108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¿Qué diferencia práctica hay entre Response y datos parseados en una llamada fetch?</a:t>
            </a:r>
            <a:endParaRPr lang="en-US" sz="108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60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 que sigue: formularios, validación y consumo de APIs en una interfaz real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próxima clase toma todo esto y lo aterriza en una página que recibe input, valida, consulta y muestra información.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56816"/>
            <a:ext cx="2852928" cy="3401568"/>
          </a:xfrm>
          <a:prstGeom prst="roundRect">
            <a:avLst>
              <a:gd name="adj" fmla="val 1282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50976" y="2084832"/>
            <a:ext cx="109728" cy="3145536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115568" y="206654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Input del usuario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115568" y="2414016"/>
            <a:ext cx="2505456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Formularios y eventos reales, no solo ejemplos aislados en consola.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4078224" y="1956816"/>
            <a:ext cx="2852928" cy="3401568"/>
          </a:xfrm>
          <a:prstGeom prst="roundRect">
            <a:avLst>
              <a:gd name="adj" fmla="val 1282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169664" y="2084832"/>
            <a:ext cx="109728" cy="3145536"/>
          </a:xfrm>
          <a:prstGeom prst="rect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334256" y="206654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4334256" y="2414016"/>
            <a:ext cx="2505456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Condiciones, mensajes de error y control del dato antes de consultar o renderizar.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296912" y="1956816"/>
            <a:ext cx="2852928" cy="3401568"/>
          </a:xfrm>
          <a:prstGeom prst="roundRect">
            <a:avLst>
              <a:gd name="adj" fmla="val 1282"/>
            </a:avLst>
          </a:prstGeom>
          <a:solidFill>
            <a:srgbClr val="F8E4E5"/>
          </a:solidFill>
          <a:ln w="12700">
            <a:solidFill>
              <a:srgbClr val="F8E4E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7388352" y="2084832"/>
            <a:ext cx="109728" cy="314553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7552944" y="2066544"/>
            <a:ext cx="25054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API + interfaz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7552944" y="2414016"/>
            <a:ext cx="2505456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dato deja de vivir en la consola y empieza a transformar la pantalla frente al usuario.</a:t>
            </a:r>
            <a:endParaRPr lang="en-US" sz="10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8F3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829800" y="237744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800" b="1" dirty="0">
                <a:solidFill>
                  <a:srgbClr val="EADFD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58368" y="475488"/>
            <a:ext cx="1993392" cy="310896"/>
          </a:xfrm>
          <a:prstGeom prst="roundRect">
            <a:avLst>
              <a:gd name="adj" fmla="val 14706"/>
            </a:avLst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68096" y="512064"/>
            <a:ext cx="17739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Clase 10 · Cierre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0094976" y="859536"/>
            <a:ext cx="987552" cy="749808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7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859536"/>
            <a:ext cx="81381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Método de trabajo con agentes para esta etapa del módulo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676656" y="1536192"/>
            <a:ext cx="8275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6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herramienta ya acelera bastante, pero solo suma si el estudiante mantiene control de lectura, validación y criterio.</a:t>
            </a:r>
            <a:endParaRPr lang="en-US" sz="1060" dirty="0"/>
          </a:p>
        </p:txBody>
      </p:sp>
      <p:sp>
        <p:nvSpPr>
          <p:cNvPr id="10" name="Shape 7"/>
          <p:cNvSpPr/>
          <p:nvPr/>
        </p:nvSpPr>
        <p:spPr>
          <a:xfrm>
            <a:off x="859536" y="1901952"/>
            <a:ext cx="9308592" cy="3785616"/>
          </a:xfrm>
          <a:prstGeom prst="roundRect">
            <a:avLst>
              <a:gd name="adj" fmla="val 966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987552" y="2029968"/>
            <a:ext cx="9052560" cy="310896"/>
          </a:xfrm>
          <a:prstGeom prst="roundRect">
            <a:avLst>
              <a:gd name="adj" fmla="val 8824"/>
            </a:avLst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097280" y="2103120"/>
            <a:ext cx="88331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Entender → apoyarse → verificar</a:t>
            </a:r>
            <a:endParaRPr lang="en-US" sz="980" dirty="0"/>
          </a:p>
        </p:txBody>
      </p:sp>
      <p:sp>
        <p:nvSpPr>
          <p:cNvPr id="13" name="Shape 10"/>
          <p:cNvSpPr/>
          <p:nvPr/>
        </p:nvSpPr>
        <p:spPr>
          <a:xfrm>
            <a:off x="1005840" y="2468880"/>
            <a:ext cx="3648456" cy="2761488"/>
          </a:xfrm>
          <a:prstGeom prst="roundRect">
            <a:avLst>
              <a:gd name="adj" fmla="val 1325"/>
            </a:avLst>
          </a:prstGeom>
          <a:solidFill>
            <a:srgbClr val="E6EEF7"/>
          </a:solidFill>
          <a:ln w="12700">
            <a:solidFill>
              <a:srgbClr val="E6EEF7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1115568" y="2596896"/>
            <a:ext cx="109728" cy="2505456"/>
          </a:xfrm>
          <a:prstGeom prst="rect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1316736" y="2596896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Buen uso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1316736" y="287121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agente como acelerador</a:t>
            </a:r>
            <a:endParaRPr lang="en-US" sz="940" dirty="0"/>
          </a:p>
        </p:txBody>
      </p:sp>
      <p:sp>
        <p:nvSpPr>
          <p:cNvPr id="17" name="Shape 14"/>
          <p:cNvSpPr/>
          <p:nvPr/>
        </p:nvSpPr>
        <p:spPr>
          <a:xfrm>
            <a:off x="1316736" y="3218688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408176" y="3332988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1554480" y="3264408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refactors de sintaxis a ES6+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1316736" y="3621024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1408176" y="3735324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1554480" y="3666744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explicaciones de un flujo async paso a paso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1316736" y="4023360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408176" y="4137660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1554480" y="40690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un ejemplo base de fetch con try/catch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1316736" y="4425696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1408176" y="4539996"/>
            <a:ext cx="82296" cy="82296"/>
          </a:xfrm>
          <a:prstGeom prst="ellipse">
            <a:avLst/>
          </a:prstGeom>
          <a:solidFill>
            <a:srgbClr val="284B75"/>
          </a:solidFill>
          <a:ln w="12700">
            <a:solidFill>
              <a:srgbClr val="284B75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1554480" y="4471416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Usarlo para generar primeras versiones de módulos o funciones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6373368" y="2468880"/>
            <a:ext cx="3648456" cy="2761488"/>
          </a:xfrm>
          <a:prstGeom prst="roundRect">
            <a:avLst>
              <a:gd name="adj" fmla="val 132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483096" y="2596896"/>
            <a:ext cx="109728" cy="2505456"/>
          </a:xfrm>
          <a:prstGeom prst="rect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684264" y="2596896"/>
            <a:ext cx="3209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Validación obligatoria</a:t>
            </a:r>
            <a:endParaRPr lang="en-US" sz="1500" dirty="0"/>
          </a:p>
        </p:txBody>
      </p:sp>
      <p:sp>
        <p:nvSpPr>
          <p:cNvPr id="32" name="Text 29"/>
          <p:cNvSpPr/>
          <p:nvPr/>
        </p:nvSpPr>
        <p:spPr>
          <a:xfrm>
            <a:off x="6684264" y="2871216"/>
            <a:ext cx="32095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 que sigue siendo tuyo</a:t>
            </a:r>
            <a:endParaRPr lang="en-US" sz="940" dirty="0"/>
          </a:p>
        </p:txBody>
      </p:sp>
      <p:sp>
        <p:nvSpPr>
          <p:cNvPr id="33" name="Shape 30"/>
          <p:cNvSpPr/>
          <p:nvPr/>
        </p:nvSpPr>
        <p:spPr>
          <a:xfrm>
            <a:off x="6684264" y="3218688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6775704" y="3332988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6922008" y="3264408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Leer si el orden de ejecución tiene sentido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6684264" y="3621024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775704" y="3735324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922008" y="3666744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Probar qué devuelve cada línea del flujo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6684264" y="4023360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6775704" y="4137660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6922008" y="4069080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que el manejo HTTP está bien hecho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684264" y="4425696"/>
            <a:ext cx="3191256" cy="310896"/>
          </a:xfrm>
          <a:prstGeom prst="roundRect">
            <a:avLst>
              <a:gd name="adj" fmla="val 11765"/>
            </a:avLst>
          </a:prstGeom>
          <a:solidFill>
            <a:srgbClr val="FFFFFF"/>
          </a:solidFill>
          <a:ln w="12700">
            <a:solidFill>
              <a:srgbClr val="D8CFC4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6775704" y="4539996"/>
            <a:ext cx="82296" cy="82296"/>
          </a:xfrm>
          <a:prstGeom prst="ellipse">
            <a:avLst/>
          </a:prstGeom>
          <a:solidFill>
            <a:srgbClr val="D62027"/>
          </a:solidFill>
          <a:ln w="12700">
            <a:solidFill>
              <a:srgbClr val="D62027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6922008" y="4471416"/>
            <a:ext cx="289864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243B5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Verificar que la modularidad realmente tenga coherencia de diseño</a:t>
            </a:r>
            <a:endParaRPr lang="en-US" sz="850" dirty="0"/>
          </a:p>
        </p:txBody>
      </p:sp>
      <p:sp>
        <p:nvSpPr>
          <p:cNvPr id="45" name="Shape 42"/>
          <p:cNvSpPr/>
          <p:nvPr/>
        </p:nvSpPr>
        <p:spPr>
          <a:xfrm>
            <a:off x="4910328" y="3035808"/>
            <a:ext cx="1207008" cy="1627632"/>
          </a:xfrm>
          <a:prstGeom prst="roundRect">
            <a:avLst>
              <a:gd name="adj" fmla="val 4545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46" name="Shape 43"/>
          <p:cNvSpPr/>
          <p:nvPr/>
        </p:nvSpPr>
        <p:spPr>
          <a:xfrm>
            <a:off x="5020056" y="3182112"/>
            <a:ext cx="987552" cy="27432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Shape 44"/>
          <p:cNvSpPr/>
          <p:nvPr/>
        </p:nvSpPr>
        <p:spPr>
          <a:xfrm>
            <a:off x="5093208" y="3602736"/>
            <a:ext cx="841248" cy="164592"/>
          </a:xfrm>
          <a:prstGeom prst="chevron">
            <a:avLst/>
          </a:prstGeom>
          <a:solidFill>
            <a:srgbClr val="E0BC5A"/>
          </a:solidFill>
          <a:ln w="12700">
            <a:solidFill>
              <a:srgbClr val="E0BC5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5074920" y="3227832"/>
            <a:ext cx="8778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" b="1" dirty="0">
                <a:solidFill>
                  <a:srgbClr val="102A43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Flujo sano</a:t>
            </a:r>
            <a:endParaRPr lang="en-US" sz="1060" dirty="0"/>
          </a:p>
        </p:txBody>
      </p:sp>
      <p:sp>
        <p:nvSpPr>
          <p:cNvPr id="49" name="Text 46"/>
          <p:cNvSpPr/>
          <p:nvPr/>
        </p:nvSpPr>
        <p:spPr>
          <a:xfrm>
            <a:off x="5038344" y="4014216"/>
            <a:ext cx="9509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dirty="0">
                <a:solidFill>
                  <a:srgbClr val="52606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Intentar, leer y decidir con evidencia.</a:t>
            </a:r>
            <a:endParaRPr lang="en-US" sz="720" dirty="0"/>
          </a:p>
        </p:txBody>
      </p:sp>
      <p:sp>
        <p:nvSpPr>
          <p:cNvPr id="50" name="Shape 47"/>
          <p:cNvSpPr/>
          <p:nvPr/>
        </p:nvSpPr>
        <p:spPr>
          <a:xfrm>
            <a:off x="1060704" y="5285232"/>
            <a:ext cx="8906256" cy="219456"/>
          </a:xfrm>
          <a:prstGeom prst="roundRect">
            <a:avLst>
              <a:gd name="adj" fmla="val 12500"/>
            </a:avLst>
          </a:prstGeom>
          <a:solidFill>
            <a:srgbClr val="F2E7D9"/>
          </a:solidFill>
          <a:ln w="12700">
            <a:solidFill>
              <a:srgbClr val="F2E7D9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1170432" y="5330952"/>
            <a:ext cx="868680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velocidad del agente suma. La comprensión y la validación siguen siendo humanas.</a:t>
            </a:r>
            <a:endParaRPr lang="en-US" sz="88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96528" y="256032"/>
            <a:ext cx="621792" cy="621792"/>
          </a:xfrm>
          <a:prstGeom prst="ellipse">
            <a:avLst/>
          </a:prstGeom>
          <a:solidFill>
            <a:srgbClr val="EDE6DA"/>
          </a:solidFill>
          <a:ln w="12700">
            <a:solidFill>
              <a:srgbClr val="EDE6DA"/>
            </a:solidFill>
            <a:prstDash val="solid"/>
          </a:ln>
        </p:spPr>
      </p:sp>
      <p:pic>
        <p:nvPicPr>
          <p:cNvPr id="3" name="Image 0" descr="C:\Users\Diego Obando\dev\pro301-taller-de-aplicaciones-para-internet\.agent\skills\slides-aiep\assets\logo-aiep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42310" y="1060704"/>
            <a:ext cx="492884" cy="310896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987552" y="1901952"/>
            <a:ext cx="9034272" cy="1389888"/>
          </a:xfrm>
          <a:prstGeom prst="roundRect">
            <a:avLst>
              <a:gd name="adj" fmla="val 2632"/>
            </a:avLst>
          </a:prstGeom>
          <a:solidFill>
            <a:srgbClr val="102A43"/>
          </a:solidFill>
          <a:ln w="12700">
            <a:solidFill>
              <a:srgbClr val="102A43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1188720" y="2066544"/>
            <a:ext cx="863193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JavaScript moderno no se trata solo de nueva sintaxis.</a:t>
            </a:r>
            <a:endParaRPr lang="en-US" sz="2400" dirty="0"/>
          </a:p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 trata de escribir mejor, organizar mejor y leer mejor el tiempo del programa.</a:t>
            </a:r>
            <a:endParaRPr lang="en-US" sz="2400" dirty="0"/>
          </a:p>
        </p:txBody>
      </p:sp>
      <p:sp>
        <p:nvSpPr>
          <p:cNvPr id="6" name="Shape 3"/>
          <p:cNvSpPr/>
          <p:nvPr/>
        </p:nvSpPr>
        <p:spPr>
          <a:xfrm>
            <a:off x="1609344" y="4187952"/>
            <a:ext cx="7772400" cy="676656"/>
          </a:xfrm>
          <a:prstGeom prst="roundRect">
            <a:avLst>
              <a:gd name="adj" fmla="val 5405"/>
            </a:avLst>
          </a:prstGeom>
          <a:solidFill>
            <a:srgbClr val="173A5A"/>
          </a:solidFill>
          <a:ln w="12700">
            <a:solidFill>
              <a:srgbClr val="173A5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865376" y="4379976"/>
            <a:ext cx="7315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20" dirty="0">
                <a:solidFill>
                  <a:srgbClr val="DCE6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04 · Clase 10 · Base lista para formularios y APIs</a:t>
            </a:r>
            <a:endParaRPr lang="en-US" sz="122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62</Slides>
  <Notes>62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</vt:vector>
  </TitlesOfParts>
  <Company>AIEP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Moderno</dc:title>
  <dc:subject>Clase 10</dc:subject>
  <dc:creator>Codex</dc:creator>
  <cp:lastModifiedBy>Codex</cp:lastModifiedBy>
  <cp:revision>1</cp:revision>
  <dcterms:created xsi:type="dcterms:W3CDTF">2026-04-01T02:03:52Z</dcterms:created>
  <dcterms:modified xsi:type="dcterms:W3CDTF">2026-04-01T02:03:52Z</dcterms:modified>
</cp:coreProperties>
</file>