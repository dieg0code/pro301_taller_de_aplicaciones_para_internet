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svg"/><Relationship Id="rId4" Type="http://schemas.openxmlformats.org/officeDocument/2006/relationships/image" Target="../media/image-18-4.png"/><Relationship Id="rId5" Type="http://schemas.openxmlformats.org/officeDocument/2006/relationships/image" Target="../media/image-18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svg"/><Relationship Id="rId4" Type="http://schemas.openxmlformats.org/officeDocument/2006/relationships/image" Target="../media/image-21-4.png"/><Relationship Id="rId5" Type="http://schemas.openxmlformats.org/officeDocument/2006/relationships/image" Target="../media/image-21-5.svg"/><Relationship Id="rId6" Type="http://schemas.openxmlformats.org/officeDocument/2006/relationships/image" Target="../media/image-21-6.png"/><Relationship Id="rId7" Type="http://schemas.openxmlformats.org/officeDocument/2006/relationships/image" Target="../media/image-21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ojo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36" y="497645"/>
            <a:ext cx="1298448" cy="44946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13232" y="859170"/>
            <a:ext cx="223114" cy="51316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0968" y="658368"/>
            <a:ext cx="267736" cy="7139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93327" y="859170"/>
            <a:ext cx="223114" cy="51316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517904" y="749808"/>
            <a:ext cx="2194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Semana 03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13232" y="1408176"/>
            <a:ext cx="4133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 base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13232" y="2157984"/>
            <a:ext cx="4261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D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Tipos de datos, funciones, estructuras de control y eventos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" y="2962656"/>
            <a:ext cx="3986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ya organiza y CSS ya presenta. Hoy entra la capa que hace reaccionar la interfaz, leer datos y ejecutar decisiones observables.</a:t>
            </a:r>
            <a:endParaRPr lang="en-US" sz="1160" dirty="0"/>
          </a:p>
        </p:txBody>
      </p:sp>
      <p:sp>
        <p:nvSpPr>
          <p:cNvPr id="10" name="Shape 7"/>
          <p:cNvSpPr/>
          <p:nvPr/>
        </p:nvSpPr>
        <p:spPr>
          <a:xfrm>
            <a:off x="713232" y="4736592"/>
            <a:ext cx="2432304" cy="713232"/>
          </a:xfrm>
          <a:prstGeom prst="roundRect">
            <a:avLst>
              <a:gd name="adj" fmla="val 5128"/>
            </a:avLst>
          </a:prstGeom>
          <a:solidFill>
            <a:srgbClr val="355B8E"/>
          </a:solidFill>
          <a:ln w="12700">
            <a:solidFill>
              <a:srgbClr val="355B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49194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 31 de marzo de 2026</a:t>
            </a:r>
            <a:endParaRPr lang="en-US" sz="1020" dirty="0"/>
          </a:p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10:50 - 13:10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804672" y="4882896"/>
            <a:ext cx="73152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74336" y="1261872"/>
            <a:ext cx="4590288" cy="2231136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74336" y="1261872"/>
            <a:ext cx="4590288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20640" y="1389888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66944" y="1389888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13248" y="1389888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41264" y="1362456"/>
            <a:ext cx="36758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87568" y="1399032"/>
            <a:ext cx="3383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https://demo.local/landing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5157216" y="1810512"/>
            <a:ext cx="4224528" cy="384048"/>
          </a:xfrm>
          <a:prstGeom prst="roundRect">
            <a:avLst>
              <a:gd name="adj" fmla="val 714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285232" y="1920240"/>
            <a:ext cx="1097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Botón visible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157216" y="2340864"/>
            <a:ext cx="1353312" cy="1316736"/>
          </a:xfrm>
          <a:prstGeom prst="roundRect">
            <a:avLst>
              <a:gd name="adj" fmla="val 27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6832" y="2340864"/>
            <a:ext cx="2633472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6832" y="2907792"/>
            <a:ext cx="2633472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74336" y="3712464"/>
            <a:ext cx="4590288" cy="1572768"/>
          </a:xfrm>
          <a:prstGeom prst="roundRect">
            <a:avLst>
              <a:gd name="adj" fmla="val 232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02352" y="3822192"/>
            <a:ext cx="433425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212080" y="389534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 comportamiento observable</a:t>
            </a:r>
            <a:endParaRPr lang="en-US" sz="10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93792" y="4370832"/>
            <a:ext cx="4169664" cy="82296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3218688" y="4736592"/>
            <a:ext cx="1609344" cy="713232"/>
          </a:xfrm>
          <a:prstGeom prst="roundRect">
            <a:avLst>
              <a:gd name="adj" fmla="val 384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291840" y="4846320"/>
            <a:ext cx="100584" cy="4937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3474720" y="48646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central</a:t>
            </a:r>
            <a:endParaRPr lang="en-US" sz="1180" dirty="0"/>
          </a:p>
        </p:txBody>
      </p:sp>
      <p:sp>
        <p:nvSpPr>
          <p:cNvPr id="32" name="Text 28"/>
          <p:cNvSpPr/>
          <p:nvPr/>
        </p:nvSpPr>
        <p:spPr>
          <a:xfrm>
            <a:off x="3474720" y="51389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Agrega ejecución y respuesta.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Hoy JavaScript aparece como comportamiento observable: datos, decisiones y reacción frente a eventos.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1024128" y="2249424"/>
            <a:ext cx="1975104" cy="2377440"/>
          </a:xfrm>
          <a:prstGeom prst="roundRect">
            <a:avLst>
              <a:gd name="adj" fmla="val 1852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395728"/>
            <a:ext cx="19751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80" dirty="0"/>
          </a:p>
        </p:txBody>
      </p:sp>
      <p:sp>
        <p:nvSpPr>
          <p:cNvPr id="12" name="Text 9"/>
          <p:cNvSpPr/>
          <p:nvPr/>
        </p:nvSpPr>
        <p:spPr>
          <a:xfrm>
            <a:off x="1207008" y="2852928"/>
            <a:ext cx="160934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Rol de</a:t>
            </a:r>
            <a:endParaRPr lang="en-US" sz="1820" dirty="0"/>
          </a:p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</a:t>
            </a:r>
            <a:endParaRPr lang="en-US" sz="1820" dirty="0"/>
          </a:p>
        </p:txBody>
      </p:sp>
      <p:sp>
        <p:nvSpPr>
          <p:cNvPr id="13" name="Shape 10"/>
          <p:cNvSpPr/>
          <p:nvPr/>
        </p:nvSpPr>
        <p:spPr>
          <a:xfrm>
            <a:off x="3072384" y="3310128"/>
            <a:ext cx="182880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10128" y="2249424"/>
            <a:ext cx="1975104" cy="237744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10128" y="2395728"/>
            <a:ext cx="19751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3493008" y="2852928"/>
            <a:ext cx="160934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 y</a:t>
            </a:r>
            <a:endParaRPr lang="en-US" sz="1660" dirty="0"/>
          </a:p>
          <a:p>
            <a:pPr algn="ctr"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</a:t>
            </a:r>
            <a:endParaRPr lang="en-US" sz="1660" dirty="0"/>
          </a:p>
        </p:txBody>
      </p:sp>
      <p:sp>
        <p:nvSpPr>
          <p:cNvPr id="17" name="Shape 14"/>
          <p:cNvSpPr/>
          <p:nvPr/>
        </p:nvSpPr>
        <p:spPr>
          <a:xfrm>
            <a:off x="5358384" y="3310128"/>
            <a:ext cx="182880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96128" y="2249424"/>
            <a:ext cx="1975104" cy="2377440"/>
          </a:xfrm>
          <a:prstGeom prst="roundRect">
            <a:avLst>
              <a:gd name="adj" fmla="val 185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2395728"/>
            <a:ext cx="19751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5779008" y="2852928"/>
            <a:ext cx="160934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Funciones y</a:t>
            </a:r>
            <a:endParaRPr lang="en-US" sz="1660" dirty="0"/>
          </a:p>
          <a:p>
            <a:pPr algn="ctr"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</a:t>
            </a:r>
            <a:endParaRPr lang="en-US" sz="1660" dirty="0"/>
          </a:p>
        </p:txBody>
      </p:sp>
      <p:sp>
        <p:nvSpPr>
          <p:cNvPr id="21" name="Shape 18"/>
          <p:cNvSpPr/>
          <p:nvPr/>
        </p:nvSpPr>
        <p:spPr>
          <a:xfrm>
            <a:off x="7644384" y="3310128"/>
            <a:ext cx="182880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82128" y="2249424"/>
            <a:ext cx="1975104" cy="2377440"/>
          </a:xfrm>
          <a:prstGeom prst="roundRect">
            <a:avLst>
              <a:gd name="adj" fmla="val 185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82128" y="2395728"/>
            <a:ext cx="19751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8065008" y="2852928"/>
            <a:ext cx="160934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Eventos e</a:t>
            </a:r>
            <a:endParaRPr lang="en-US" sz="1660" dirty="0"/>
          </a:p>
          <a:p>
            <a:pPr algn="ctr" indent="0" marL="0">
              <a:buNone/>
            </a:pPr>
            <a:r>
              <a:rPr lang="en-US" sz="16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interacción</a:t>
            </a:r>
            <a:endParaRPr lang="en-US" sz="1660" dirty="0"/>
          </a:p>
        </p:txBody>
      </p:sp>
      <p:sp>
        <p:nvSpPr>
          <p:cNvPr id="25" name="Shape 22"/>
          <p:cNvSpPr/>
          <p:nvPr/>
        </p:nvSpPr>
        <p:spPr>
          <a:xfrm>
            <a:off x="1408176" y="4992624"/>
            <a:ext cx="8229600" cy="658368"/>
          </a:xfrm>
          <a:prstGeom prst="roundRect">
            <a:avLst>
              <a:gd name="adj" fmla="val 555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609344" y="5157216"/>
            <a:ext cx="7827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-&gt; datos -&gt; lógica -&gt; eventos</a:t>
            </a:r>
            <a:endParaRPr lang="en-US" sz="1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 entra como capa de comportamiento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organiza, CSS presenta y JavaScript decide qué pasa cuando algo cambia, se ejecuta o se interactúa.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139696"/>
            <a:ext cx="3511296" cy="3438144"/>
          </a:xfrm>
          <a:prstGeom prst="roundRect">
            <a:avLst>
              <a:gd name="adj" fmla="val 106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70432" y="2530693"/>
            <a:ext cx="149962" cy="3449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50386" y="2395728"/>
            <a:ext cx="179954" cy="479877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60332" y="2530693"/>
            <a:ext cx="149962" cy="3449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00784" y="2852928"/>
            <a:ext cx="1993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página ya puede verse bien.</a:t>
            </a:r>
            <a:endParaRPr lang="en-US" sz="1560" dirty="0"/>
          </a:p>
        </p:txBody>
      </p:sp>
      <p:sp>
        <p:nvSpPr>
          <p:cNvPr id="15" name="Text 12"/>
          <p:cNvSpPr/>
          <p:nvPr/>
        </p:nvSpPr>
        <p:spPr>
          <a:xfrm>
            <a:off x="1700784" y="3328416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Pero todavía puede seguir completamente estática.</a:t>
            </a:r>
            <a:endParaRPr lang="en-US" sz="1040" dirty="0"/>
          </a:p>
        </p:txBody>
      </p:sp>
      <p:sp>
        <p:nvSpPr>
          <p:cNvPr id="16" name="Shape 13"/>
          <p:cNvSpPr/>
          <p:nvPr/>
        </p:nvSpPr>
        <p:spPr>
          <a:xfrm>
            <a:off x="1170432" y="4005072"/>
            <a:ext cx="2852928" cy="603504"/>
          </a:xfrm>
          <a:prstGeom prst="roundRect">
            <a:avLst>
              <a:gd name="adj" fmla="val 454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43584" y="4114800"/>
            <a:ext cx="100584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426464" y="4133088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426464" y="4407408"/>
            <a:ext cx="2523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 estructura y jerarquía.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170432" y="4663440"/>
            <a:ext cx="2852928" cy="603504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43584" y="4773168"/>
            <a:ext cx="100584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26464" y="4791456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426464" y="5065776"/>
            <a:ext cx="2523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resuelve apariencia, layout y responsive.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791456" y="2340864"/>
            <a:ext cx="3712464" cy="1901952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91456" y="2340864"/>
            <a:ext cx="3712464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937760" y="2468880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84064" y="2468880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230368" y="2468880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58384" y="2441448"/>
            <a:ext cx="2798064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504688" y="2478024"/>
            <a:ext cx="2505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https://demo.local/portafolio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4974336" y="2798064"/>
            <a:ext cx="3346704" cy="347472"/>
          </a:xfrm>
          <a:prstGeom prst="roundRect">
            <a:avLst>
              <a:gd name="adj" fmla="val 789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102352" y="288950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visible</a:t>
            </a:r>
            <a:endParaRPr lang="en-US" sz="860" dirty="0"/>
          </a:p>
        </p:txBody>
      </p:sp>
      <p:sp>
        <p:nvSpPr>
          <p:cNvPr id="33" name="Shape 30"/>
          <p:cNvSpPr/>
          <p:nvPr/>
        </p:nvSpPr>
        <p:spPr>
          <a:xfrm>
            <a:off x="4974336" y="3273552"/>
            <a:ext cx="1115568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36208" y="3273552"/>
            <a:ext cx="2084832" cy="603504"/>
          </a:xfrm>
          <a:prstGeom prst="roundRect">
            <a:avLst>
              <a:gd name="adj" fmla="val 60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717536" y="4187952"/>
            <a:ext cx="2432304" cy="1481328"/>
          </a:xfrm>
          <a:prstGeom prst="roundRect">
            <a:avLst>
              <a:gd name="adj" fmla="val 246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45552" y="4297680"/>
            <a:ext cx="217627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955280" y="4370832"/>
            <a:ext cx="1956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</a:t>
            </a:r>
            <a:endParaRPr lang="en-US" sz="1000" dirty="0"/>
          </a:p>
        </p:txBody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6992" y="4754880"/>
            <a:ext cx="2011680" cy="73152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4791456" y="4681728"/>
            <a:ext cx="2724912" cy="658368"/>
          </a:xfrm>
          <a:prstGeom prst="roundRect">
            <a:avLst>
              <a:gd name="adj" fmla="val 41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864608" y="4791456"/>
            <a:ext cx="100584" cy="4389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047488" y="4809744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</a:t>
            </a:r>
            <a:endParaRPr lang="en-US" sz="1250" dirty="0"/>
          </a:p>
        </p:txBody>
      </p:sp>
      <p:sp>
        <p:nvSpPr>
          <p:cNvPr id="42" name="Text 38"/>
          <p:cNvSpPr/>
          <p:nvPr/>
        </p:nvSpPr>
        <p:spPr>
          <a:xfrm>
            <a:off x="5047488" y="5084064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agrega lógica, ejecución y respuesta a acciones del usuario.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página puede verse bien y seguir completamente estática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diferencia útil no es solo estética: es si la interfaz responde o no a una acción observable.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77824" y="2139696"/>
            <a:ext cx="9272016" cy="3529584"/>
          </a:xfrm>
          <a:prstGeom prst="roundRect">
            <a:avLst>
              <a:gd name="adj" fmla="val 10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267712"/>
            <a:ext cx="9015984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2340864"/>
            <a:ext cx="8796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correcta vs interfaz que ya reacciona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24128" y="2706624"/>
            <a:ext cx="4407408" cy="2523744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2706624"/>
            <a:ext cx="73152" cy="25237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852928"/>
            <a:ext cx="4096512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80160" y="2926080"/>
            <a:ext cx="3913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Solo HTML + CSS</a:t>
            </a:r>
            <a:endParaRPr lang="en-US" sz="1140" dirty="0"/>
          </a:p>
        </p:txBody>
      </p:sp>
      <p:sp>
        <p:nvSpPr>
          <p:cNvPr id="17" name="Text 14"/>
          <p:cNvSpPr/>
          <p:nvPr/>
        </p:nvSpPr>
        <p:spPr>
          <a:xfrm>
            <a:off x="1225296" y="323697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maqueta se ve sólida, pero todavía no ocurre nada al interactuar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207008" y="3566160"/>
            <a:ext cx="4041648" cy="950976"/>
          </a:xfrm>
          <a:prstGeom prst="roundRect">
            <a:avLst>
              <a:gd name="adj" fmla="val 2885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07008" y="3566160"/>
            <a:ext cx="4041648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80160" y="3639312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71600" y="3639312"/>
            <a:ext cx="45720" cy="4572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463040" y="3639312"/>
            <a:ext cx="45720" cy="45720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316736" y="3877056"/>
            <a:ext cx="3822192" cy="237744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16736" y="4187952"/>
            <a:ext cx="1697492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27832" y="4187952"/>
            <a:ext cx="1374160" cy="201168"/>
          </a:xfrm>
          <a:prstGeom prst="roundRect">
            <a:avLst>
              <a:gd name="adj" fmla="val 1363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82696" y="4251960"/>
            <a:ext cx="12644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Botón visible</a:t>
            </a:r>
            <a:endParaRPr lang="en-US" sz="740" dirty="0"/>
          </a:p>
        </p:txBody>
      </p:sp>
      <p:sp>
        <p:nvSpPr>
          <p:cNvPr id="27" name="Shape 24"/>
          <p:cNvSpPr/>
          <p:nvPr/>
        </p:nvSpPr>
        <p:spPr>
          <a:xfrm>
            <a:off x="1207008" y="4828032"/>
            <a:ext cx="404164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80160" y="4892040"/>
            <a:ext cx="38953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evento ni respuesta</a:t>
            </a:r>
            <a:endParaRPr lang="en-US" sz="730" dirty="0"/>
          </a:p>
        </p:txBody>
      </p:sp>
      <p:sp>
        <p:nvSpPr>
          <p:cNvPr id="29" name="Text 26"/>
          <p:cNvSpPr/>
          <p:nvPr/>
        </p:nvSpPr>
        <p:spPr>
          <a:xfrm>
            <a:off x="1225296" y="4572000"/>
            <a:ext cx="4005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fijo</a:t>
            </a:r>
            <a:endParaRPr lang="en-US" sz="740" dirty="0"/>
          </a:p>
        </p:txBody>
      </p:sp>
      <p:sp>
        <p:nvSpPr>
          <p:cNvPr id="30" name="Shape 27"/>
          <p:cNvSpPr/>
          <p:nvPr/>
        </p:nvSpPr>
        <p:spPr>
          <a:xfrm>
            <a:off x="5596128" y="2706624"/>
            <a:ext cx="4407408" cy="2523744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596128" y="2706624"/>
            <a:ext cx="73152" cy="25237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760720" y="2852928"/>
            <a:ext cx="4096512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852160" y="2926080"/>
            <a:ext cx="3913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JavaScript</a:t>
            </a:r>
            <a:endParaRPr lang="en-US" sz="1140" dirty="0"/>
          </a:p>
        </p:txBody>
      </p:sp>
      <p:sp>
        <p:nvSpPr>
          <p:cNvPr id="34" name="Text 31"/>
          <p:cNvSpPr/>
          <p:nvPr/>
        </p:nvSpPr>
        <p:spPr>
          <a:xfrm>
            <a:off x="5797296" y="323697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acción del usuario dispara una respuesta observable en la interfaz o en la consola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5779008" y="3566160"/>
            <a:ext cx="4041648" cy="950976"/>
          </a:xfrm>
          <a:prstGeom prst="roundRect">
            <a:avLst>
              <a:gd name="adj" fmla="val 2885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779008" y="3566160"/>
            <a:ext cx="4041648" cy="201168"/>
          </a:xfrm>
          <a:prstGeom prst="roundRect">
            <a:avLst>
              <a:gd name="adj" fmla="val 1363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52160" y="3639312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943600" y="3639312"/>
            <a:ext cx="45720" cy="4572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35040" y="3639312"/>
            <a:ext cx="45720" cy="45720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88736" y="3877056"/>
            <a:ext cx="3822192" cy="237744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88736" y="4187952"/>
            <a:ext cx="1697492" cy="40233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99832" y="4187952"/>
            <a:ext cx="1374160" cy="201168"/>
          </a:xfrm>
          <a:prstGeom prst="roundRect">
            <a:avLst>
              <a:gd name="adj" fmla="val 136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854696" y="4251960"/>
            <a:ext cx="12644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Botón activo</a:t>
            </a:r>
            <a:endParaRPr lang="en-US" sz="740" dirty="0"/>
          </a:p>
        </p:txBody>
      </p:sp>
      <p:sp>
        <p:nvSpPr>
          <p:cNvPr id="44" name="Shape 41"/>
          <p:cNvSpPr/>
          <p:nvPr/>
        </p:nvSpPr>
        <p:spPr>
          <a:xfrm>
            <a:off x="5779008" y="4828032"/>
            <a:ext cx="4041648" cy="219456"/>
          </a:xfrm>
          <a:prstGeom prst="roundRect">
            <a:avLst>
              <a:gd name="adj" fmla="val 12500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852160" y="4892040"/>
            <a:ext cx="38953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-&gt; mensaje en consola</a:t>
            </a:r>
            <a:endParaRPr lang="en-US" sz="730" dirty="0"/>
          </a:p>
        </p:txBody>
      </p:sp>
      <p:sp>
        <p:nvSpPr>
          <p:cNvPr id="46" name="Text 43"/>
          <p:cNvSpPr/>
          <p:nvPr/>
        </p:nvSpPr>
        <p:spPr>
          <a:xfrm>
            <a:off x="5797296" y="4572000"/>
            <a:ext cx="4005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comportamiento</a:t>
            </a:r>
            <a:endParaRPr lang="en-US" sz="740" dirty="0"/>
          </a:p>
        </p:txBody>
      </p:sp>
      <p:sp>
        <p:nvSpPr>
          <p:cNvPr id="47" name="Shape 44"/>
          <p:cNvSpPr/>
          <p:nvPr/>
        </p:nvSpPr>
        <p:spPr>
          <a:xfrm>
            <a:off x="5458968" y="3822192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060704" y="5504688"/>
            <a:ext cx="89062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interactividad no se deduce por apariencia: se comprueba ejecutando.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 no reemplaza HTML ni CSS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 sobre otra capa del sistema y conviene mantener separadas las responsabilidades desde el principio.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359152"/>
            <a:ext cx="2743200" cy="1847088"/>
          </a:xfrm>
          <a:prstGeom prst="roundRect">
            <a:avLst>
              <a:gd name="adj" fmla="val 198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487168"/>
            <a:ext cx="109728" cy="15910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88720" y="246888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88720" y="2816352"/>
            <a:ext cx="23957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 contenido, semántica y jerarquía del documento. Si la estructura está mal, JavaScript no la vuelve clara por sí solo.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895344" y="3145536"/>
            <a:ext cx="20116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14800" y="2359152"/>
            <a:ext cx="2743200" cy="1847088"/>
          </a:xfrm>
          <a:prstGeom prst="roundRect">
            <a:avLst>
              <a:gd name="adj" fmla="val 198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6240" y="2487168"/>
            <a:ext cx="109728" cy="15910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70832" y="246888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370832" y="2816352"/>
            <a:ext cx="23957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apariencia, layout, responsive y sistema visual. No conviene pedirle a JavaScript lo que ya resuelve mejor la hoja de estilos.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077456" y="3145536"/>
            <a:ext cx="20116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296912" y="2359152"/>
            <a:ext cx="2743200" cy="1847088"/>
          </a:xfrm>
          <a:prstGeom prst="roundRect">
            <a:avLst>
              <a:gd name="adj" fmla="val 198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88352" y="2487168"/>
            <a:ext cx="109728" cy="15910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552944" y="246888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7552944" y="2816352"/>
            <a:ext cx="23957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 datos, ejecuta instrucciones, toma decisiones y responde a eventos. Ahí empieza la lógica y el comportamiento.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207008" y="4773168"/>
            <a:ext cx="8558784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08176" y="4937760"/>
            <a:ext cx="8156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interfaz final aparece cuando estructura, presentación y comportamiento conversan bien.</a:t>
            </a:r>
            <a:endParaRPr lang="en-US" sz="1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script es una secuencia de instrucciones que el navegador ejecuta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no adivina intenciones: lee el código, lo ejecuta y deja evidencia técnica en consola.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139696"/>
            <a:ext cx="4754880" cy="3511296"/>
          </a:xfrm>
          <a:prstGeom prst="roundRect">
            <a:avLst>
              <a:gd name="adj" fmla="val 104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249424"/>
            <a:ext cx="449884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322576"/>
            <a:ext cx="4279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Fragmento mínimo ejecutable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8" y="2706624"/>
            <a:ext cx="4334256" cy="276148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888736" y="2359152"/>
            <a:ext cx="1225296" cy="877824"/>
          </a:xfrm>
          <a:prstGeom prst="roundRect">
            <a:avLst>
              <a:gd name="adj" fmla="val 3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961888" y="2468880"/>
            <a:ext cx="100584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144768" y="248716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Lee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144768" y="276148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interpreta el script.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260336" y="2359152"/>
            <a:ext cx="1225296" cy="877824"/>
          </a:xfrm>
          <a:prstGeom prst="roundRect">
            <a:avLst>
              <a:gd name="adj" fmla="val 312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333488" y="2468880"/>
            <a:ext cx="100584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516368" y="248716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Ejecuta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516368" y="276148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instrucciones en orden.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631936" y="2359152"/>
            <a:ext cx="1225296" cy="877824"/>
          </a:xfrm>
          <a:prstGeom prst="roundRect">
            <a:avLst>
              <a:gd name="adj" fmla="val 312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705088" y="2468880"/>
            <a:ext cx="100584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887968" y="248716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Evidencia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887968" y="276148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aparece en consola o en pantalla.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888736" y="3511296"/>
            <a:ext cx="3986784" cy="1572768"/>
          </a:xfrm>
          <a:prstGeom prst="roundRect">
            <a:avLst>
              <a:gd name="adj" fmla="val 232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108192" y="371246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</a:t>
            </a:r>
            <a:endParaRPr lang="en-US" sz="1340" dirty="0"/>
          </a:p>
        </p:txBody>
      </p:sp>
      <p:sp>
        <p:nvSpPr>
          <p:cNvPr id="28" name="Text 24"/>
          <p:cNvSpPr/>
          <p:nvPr/>
        </p:nvSpPr>
        <p:spPr>
          <a:xfrm>
            <a:off x="6108192" y="4041648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29" name="Text 25"/>
          <p:cNvSpPr/>
          <p:nvPr/>
        </p:nvSpPr>
        <p:spPr>
          <a:xfrm>
            <a:off x="6345936" y="404164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A7E3A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"JavaScript está corriendo"</a:t>
            </a:r>
            <a:endParaRPr lang="en-US" sz="920" dirty="0"/>
          </a:p>
        </p:txBody>
      </p:sp>
      <p:sp>
        <p:nvSpPr>
          <p:cNvPr id="30" name="Text 26"/>
          <p:cNvSpPr/>
          <p:nvPr/>
        </p:nvSpPr>
        <p:spPr>
          <a:xfrm>
            <a:off x="6108192" y="4297680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31" name="Text 27"/>
          <p:cNvSpPr/>
          <p:nvPr/>
        </p:nvSpPr>
        <p:spPr>
          <a:xfrm>
            <a:off x="6345936" y="4297680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F6E29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20" dirty="0"/>
          </a:p>
        </p:txBody>
      </p:sp>
      <p:sp>
        <p:nvSpPr>
          <p:cNvPr id="32" name="Text 28"/>
          <p:cNvSpPr/>
          <p:nvPr/>
        </p:nvSpPr>
        <p:spPr>
          <a:xfrm>
            <a:off x="6108192" y="455371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820" dirty="0"/>
          </a:p>
        </p:txBody>
      </p:sp>
      <p:sp>
        <p:nvSpPr>
          <p:cNvPr id="33" name="Text 29"/>
          <p:cNvSpPr/>
          <p:nvPr/>
        </p:nvSpPr>
        <p:spPr>
          <a:xfrm>
            <a:off x="6345936" y="455371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undefined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5888736" y="5230368"/>
            <a:ext cx="3986784" cy="420624"/>
          </a:xfrm>
          <a:prstGeom prst="roundRect">
            <a:avLst>
              <a:gd name="adj" fmla="val 652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961888" y="5340096"/>
            <a:ext cx="100584" cy="201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144768" y="53583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útil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consola es parte del trabajo, no un accesorio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JavaScript empieza a ser obligatorio escribir, ejecutar, observar resultados y corregir con evidencia.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176272"/>
            <a:ext cx="4718304" cy="3145536"/>
          </a:xfrm>
          <a:prstGeom prst="roundRect">
            <a:avLst>
              <a:gd name="adj" fmla="val 116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395728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 real de un script simple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188720" y="281635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13" name="Text 10"/>
          <p:cNvSpPr/>
          <p:nvPr/>
        </p:nvSpPr>
        <p:spPr>
          <a:xfrm>
            <a:off x="1426464" y="281635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A7E3A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"Hola desde JavaScript"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1188720" y="309067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15" name="Text 12"/>
          <p:cNvSpPr/>
          <p:nvPr/>
        </p:nvSpPr>
        <p:spPr>
          <a:xfrm>
            <a:off x="1426464" y="309067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F6E29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1188720" y="336499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426464" y="336499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89D1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true</a:t>
            </a:r>
            <a:endParaRPr lang="en-US" sz="920" dirty="0"/>
          </a:p>
        </p:txBody>
      </p:sp>
      <p:sp>
        <p:nvSpPr>
          <p:cNvPr id="18" name="Text 15"/>
          <p:cNvSpPr/>
          <p:nvPr/>
        </p:nvSpPr>
        <p:spPr>
          <a:xfrm>
            <a:off x="1188720" y="3803904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1426464" y="3803904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FFB3B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Uncaught ReferenceError: saludoo is not defined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1170432" y="4389120"/>
            <a:ext cx="4224528" cy="713232"/>
          </a:xfrm>
          <a:prstGeom prst="roundRect">
            <a:avLst>
              <a:gd name="adj" fmla="val 384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43584" y="4498848"/>
            <a:ext cx="100584" cy="4937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26464" y="4517136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diferencia importante</a:t>
            </a:r>
            <a:endParaRPr lang="en-US" sz="1160" dirty="0"/>
          </a:p>
        </p:txBody>
      </p:sp>
      <p:sp>
        <p:nvSpPr>
          <p:cNvPr id="23" name="Text 20"/>
          <p:cNvSpPr/>
          <p:nvPr/>
        </p:nvSpPr>
        <p:spPr>
          <a:xfrm>
            <a:off x="1426464" y="4791456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script puede fallar aunque la página siga viéndose casi igual. La consola muestra esa verdad técnica.</a:t>
            </a:r>
            <a:endParaRPr lang="en-US" sz="810" dirty="0"/>
          </a:p>
        </p:txBody>
      </p:sp>
      <p:sp>
        <p:nvSpPr>
          <p:cNvPr id="24" name="Shape 21"/>
          <p:cNvSpPr/>
          <p:nvPr/>
        </p:nvSpPr>
        <p:spPr>
          <a:xfrm>
            <a:off x="5925312" y="2395728"/>
            <a:ext cx="4041648" cy="749808"/>
          </a:xfrm>
          <a:prstGeom prst="roundRect">
            <a:avLst>
              <a:gd name="adj" fmla="val 365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998464" y="2505456"/>
            <a:ext cx="10058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181344" y="2523744"/>
            <a:ext cx="3712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Mensajes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181344" y="279806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sirven para confirmar valores, entender orden de ejecución y observar qué está ocurriendo.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25312" y="3310128"/>
            <a:ext cx="4041648" cy="749808"/>
          </a:xfrm>
          <a:prstGeom prst="roundRect">
            <a:avLst>
              <a:gd name="adj" fmla="val 365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98464" y="3419856"/>
            <a:ext cx="100584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181344" y="3438144"/>
            <a:ext cx="3712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Errores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6181344" y="371246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obligan a leer nombre, línea y causa del problema antes de aceptar cualquier ayuda externa.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925312" y="4224528"/>
            <a:ext cx="4041648" cy="749808"/>
          </a:xfrm>
          <a:prstGeom prst="roundRect">
            <a:avLst>
              <a:gd name="adj" fmla="val 365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998464" y="4334256"/>
            <a:ext cx="100584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181344" y="4352544"/>
            <a:ext cx="3712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Pruebas rápidas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6181344" y="462686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consola permite ejecutar pequeñas expresiones y verificar hipótesis sin reconstruir toda la página.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133856" y="548640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207008" y="5596128"/>
            <a:ext cx="100584" cy="4754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389888" y="561441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Escribir</a:t>
            </a:r>
            <a:endParaRPr lang="en-US" sz="1140" dirty="0"/>
          </a:p>
        </p:txBody>
      </p:sp>
      <p:sp>
        <p:nvSpPr>
          <p:cNvPr id="39" name="Text 36"/>
          <p:cNvSpPr/>
          <p:nvPr/>
        </p:nvSpPr>
        <p:spPr>
          <a:xfrm>
            <a:off x="1389888" y="58887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instrucción pequeña y clara.</a:t>
            </a:r>
            <a:endParaRPr lang="en-US" sz="810" dirty="0"/>
          </a:p>
        </p:txBody>
      </p:sp>
      <p:sp>
        <p:nvSpPr>
          <p:cNvPr id="40" name="Shape 37"/>
          <p:cNvSpPr/>
          <p:nvPr/>
        </p:nvSpPr>
        <p:spPr>
          <a:xfrm>
            <a:off x="3383280" y="572414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621024" y="548640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94176" y="5596128"/>
            <a:ext cx="100584" cy="4754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877056" y="561441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Ejecutar</a:t>
            </a:r>
            <a:endParaRPr lang="en-US" sz="1140" dirty="0"/>
          </a:p>
        </p:txBody>
      </p:sp>
      <p:sp>
        <p:nvSpPr>
          <p:cNvPr id="44" name="Text 41"/>
          <p:cNvSpPr/>
          <p:nvPr/>
        </p:nvSpPr>
        <p:spPr>
          <a:xfrm>
            <a:off x="3877056" y="58887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cargar la página y disparar el caso.</a:t>
            </a:r>
            <a:endParaRPr lang="en-US" sz="810" dirty="0"/>
          </a:p>
        </p:txBody>
      </p:sp>
      <p:sp>
        <p:nvSpPr>
          <p:cNvPr id="45" name="Shape 42"/>
          <p:cNvSpPr/>
          <p:nvPr/>
        </p:nvSpPr>
        <p:spPr>
          <a:xfrm>
            <a:off x="5870448" y="572414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108192" y="548640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181344" y="5596128"/>
            <a:ext cx="100584" cy="4754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64224" y="561441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</a:t>
            </a:r>
            <a:endParaRPr lang="en-US" sz="1140" dirty="0"/>
          </a:p>
        </p:txBody>
      </p:sp>
      <p:sp>
        <p:nvSpPr>
          <p:cNvPr id="49" name="Text 46"/>
          <p:cNvSpPr/>
          <p:nvPr/>
        </p:nvSpPr>
        <p:spPr>
          <a:xfrm>
            <a:off x="6364224" y="58887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consola y resultado observable.</a:t>
            </a:r>
            <a:endParaRPr lang="en-US" sz="810" dirty="0"/>
          </a:p>
        </p:txBody>
      </p:sp>
      <p:sp>
        <p:nvSpPr>
          <p:cNvPr id="50" name="Shape 47"/>
          <p:cNvSpPr/>
          <p:nvPr/>
        </p:nvSpPr>
        <p:spPr>
          <a:xfrm>
            <a:off x="8357616" y="572414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595360" y="548640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668512" y="5596128"/>
            <a:ext cx="100584" cy="4754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851392" y="561441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140" dirty="0"/>
          </a:p>
        </p:txBody>
      </p:sp>
      <p:sp>
        <p:nvSpPr>
          <p:cNvPr id="54" name="Text 51"/>
          <p:cNvSpPr/>
          <p:nvPr/>
        </p:nvSpPr>
        <p:spPr>
          <a:xfrm>
            <a:off x="8851392" y="588873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volver a probar con criterio.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puede explicar; tú validas el comportamiento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JavaScript inicial ayuda mucho una primera explicación, pero el resultado real siempre debe comprobarse en navegador y consola.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139696"/>
            <a:ext cx="9015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267712"/>
            <a:ext cx="875995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40864"/>
            <a:ext cx="8540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puede acelerar un agente y qué sigue siendo tuyo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78992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88720" y="2834640"/>
            <a:ext cx="109728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89888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Puede ayudar con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389888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explicación inicial y primeras versiones pequeñas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389888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481328" y="3570732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una línea de código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89888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81328" y="397306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627632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un console.log mínimo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389888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81328" y="43754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627632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 dos variantes de una función simple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389888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481328" y="4777740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27632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resumir qué hace un fragmento corto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9944" y="2834640"/>
            <a:ext cx="109728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11112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conviene delegar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11112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técnica, prueba real y validación final</a:t>
            </a:r>
            <a:endParaRPr lang="en-US" sz="940" dirty="0"/>
          </a:p>
        </p:txBody>
      </p:sp>
      <p:sp>
        <p:nvSpPr>
          <p:cNvPr id="33" name="Shape 30"/>
          <p:cNvSpPr/>
          <p:nvPr/>
        </p:nvSpPr>
        <p:spPr>
          <a:xfrm>
            <a:off x="6611112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02552" y="3570732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48856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 si el código corre sin abrir la consola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11112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02552" y="397306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848856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 por correcta una salida no verificada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611112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02552" y="43754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48856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ignorar errores reales del navegador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611112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702552" y="4777740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848856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 comportamiento que no coincide con la intención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837176" y="3081528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46904" y="3227832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20056" y="3648456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001768" y="327355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Verificación</a:t>
            </a:r>
            <a:endParaRPr lang="en-US" sz="1060" dirty="0"/>
          </a:p>
        </p:txBody>
      </p:sp>
      <p:sp>
        <p:nvSpPr>
          <p:cNvPr id="49" name="Text 46"/>
          <p:cNvSpPr/>
          <p:nvPr/>
        </p:nvSpPr>
        <p:spPr>
          <a:xfrm>
            <a:off x="4965192" y="4059936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apoyo sirve para destrabar. La validez del código se confirma ejecutando.</a:t>
            </a:r>
            <a:endParaRPr lang="en-US" sz="720" dirty="0"/>
          </a:p>
        </p:txBody>
      </p:sp>
      <p:sp>
        <p:nvSpPr>
          <p:cNvPr id="50" name="Shape 47"/>
          <p:cNvSpPr/>
          <p:nvPr/>
        </p:nvSpPr>
        <p:spPr>
          <a:xfrm>
            <a:off x="1133856" y="5138928"/>
            <a:ext cx="861364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243584" y="5184648"/>
            <a:ext cx="83941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-&gt; ejecutar -&gt; leer -&gt; validar.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cerrar 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pasar a datos y variables, conviene fijar por qué JavaScript entra recién ahora al flujo de la interfaz.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69264" y="2249424"/>
            <a:ext cx="9144000" cy="877824"/>
          </a:xfrm>
          <a:prstGeom prst="roundRect">
            <a:avLst>
              <a:gd name="adj" fmla="val 41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377440"/>
            <a:ext cx="109728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25296" y="2359152"/>
            <a:ext cx="8796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¿Por qué una página bien construida con HTML y CSS puede seguir siendo completamente estática?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25296" y="2706624"/>
            <a:ext cx="8796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debería mencionar estructura, apariencia y ausencia de comportamiento observable.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969264" y="3401568"/>
            <a:ext cx="9144000" cy="877824"/>
          </a:xfrm>
          <a:prstGeom prst="roundRect">
            <a:avLst>
              <a:gd name="adj" fmla="val 41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0704" y="3529584"/>
            <a:ext cx="109728" cy="6217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25296" y="3511296"/>
            <a:ext cx="8796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¿Qué tipo de problemas empieza a resolver JavaScript dentro de una interfaz web?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25296" y="3858768"/>
            <a:ext cx="8796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datos, ejecutar instrucciones, tomar decisiones y responder a acciones del usuario.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969264" y="4553712"/>
            <a:ext cx="9144000" cy="877824"/>
          </a:xfrm>
          <a:prstGeom prst="roundRect">
            <a:avLst>
              <a:gd name="adj" fmla="val 416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60704" y="4681728"/>
            <a:ext cx="109728" cy="6217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25296" y="4663440"/>
            <a:ext cx="8796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¿Por qué la consola del navegador se vuelve una herramienta central al empezar a trabajar con scripts?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010912"/>
            <a:ext cx="8796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deja evidencia de ejecución, errores y resultados que no siempre aparecen directamente en pantalla.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ya quedó instalado como capa de comportamiento. El siguiente paso es entender con qué datos trabaja esa lógica.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322576"/>
            <a:ext cx="4315968" cy="1463040"/>
          </a:xfrm>
          <a:prstGeom prst="roundRect">
            <a:avLst>
              <a:gd name="adj" fmla="val 25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487168"/>
            <a:ext cx="391363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reaccionar, un programa necesita representar información con claridad.</a:t>
            </a:r>
            <a:endParaRPr lang="en-US" sz="2120" dirty="0"/>
          </a:p>
        </p:txBody>
      </p:sp>
      <p:sp>
        <p:nvSpPr>
          <p:cNvPr id="12" name="Shape 9"/>
          <p:cNvSpPr/>
          <p:nvPr/>
        </p:nvSpPr>
        <p:spPr>
          <a:xfrm>
            <a:off x="1115568" y="4169664"/>
            <a:ext cx="3931920" cy="914400"/>
          </a:xfrm>
          <a:prstGeom prst="roundRect">
            <a:avLst>
              <a:gd name="adj" fmla="val 3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88720" y="4279392"/>
            <a:ext cx="100584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4297680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sigue</a:t>
            </a:r>
            <a:endParaRPr lang="en-US" sz="1240" dirty="0"/>
          </a:p>
        </p:txBody>
      </p:sp>
      <p:sp>
        <p:nvSpPr>
          <p:cNvPr id="15" name="Text 12"/>
          <p:cNvSpPr/>
          <p:nvPr/>
        </p:nvSpPr>
        <p:spPr>
          <a:xfrm>
            <a:off x="1371600" y="4572000"/>
            <a:ext cx="3602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Variables, let, const, string, number y boolean preparan el terreno para toda la lógica posterior.</a:t>
            </a:r>
            <a:endParaRPr lang="en-US" sz="870" dirty="0"/>
          </a:p>
        </p:txBody>
      </p:sp>
      <p:sp>
        <p:nvSpPr>
          <p:cNvPr id="16" name="Shape 13"/>
          <p:cNvSpPr/>
          <p:nvPr/>
        </p:nvSpPr>
        <p:spPr>
          <a:xfrm>
            <a:off x="5449824" y="2212848"/>
            <a:ext cx="4645152" cy="3438144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577840" y="2340864"/>
            <a:ext cx="438912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87568" y="2414016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del Bloque 2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650992" y="2779776"/>
            <a:ext cx="2057400" cy="1152144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50992" y="2779776"/>
            <a:ext cx="73152" cy="11521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79008" y="2889504"/>
            <a:ext cx="1801368" cy="219456"/>
          </a:xfrm>
          <a:prstGeom prst="roundRect">
            <a:avLst>
              <a:gd name="adj" fmla="val 125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889504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5779008" y="3182112"/>
            <a:ext cx="1801368" cy="347472"/>
          </a:xfrm>
          <a:prstGeom prst="roundRect">
            <a:avLst>
              <a:gd name="adj" fmla="val 1052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52160" y="3182112"/>
            <a:ext cx="1655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"Nodo Web"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5797296" y="3602736"/>
            <a:ext cx="1764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para nombres, mensajes y contenido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7836408" y="2779776"/>
            <a:ext cx="2057400" cy="1152144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836408" y="2779776"/>
            <a:ext cx="73152" cy="11521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964424" y="2889504"/>
            <a:ext cx="180136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019288" y="2889504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number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7964424" y="3182112"/>
            <a:ext cx="1801368" cy="347472"/>
          </a:xfrm>
          <a:prstGeom prst="roundRect">
            <a:avLst>
              <a:gd name="adj" fmla="val 1052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037576" y="3182112"/>
            <a:ext cx="1655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14990</a:t>
            </a:r>
            <a:endParaRPr lang="en-US" sz="740" dirty="0"/>
          </a:p>
        </p:txBody>
      </p:sp>
      <p:sp>
        <p:nvSpPr>
          <p:cNvPr id="32" name="Text 29"/>
          <p:cNvSpPr/>
          <p:nvPr/>
        </p:nvSpPr>
        <p:spPr>
          <a:xfrm>
            <a:off x="7982712" y="3602736"/>
            <a:ext cx="1764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calcular, contar o comparar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5650992" y="4078224"/>
            <a:ext cx="2057400" cy="1152144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50992" y="4078224"/>
            <a:ext cx="73152" cy="11521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79008" y="4187952"/>
            <a:ext cx="1801368" cy="219456"/>
          </a:xfrm>
          <a:prstGeom prst="roundRect">
            <a:avLst>
              <a:gd name="adj" fmla="val 125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833872" y="4187952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boolean</a:t>
            </a:r>
            <a:endParaRPr lang="en-US" sz="1040" dirty="0"/>
          </a:p>
        </p:txBody>
      </p:sp>
      <p:sp>
        <p:nvSpPr>
          <p:cNvPr id="37" name="Shape 34"/>
          <p:cNvSpPr/>
          <p:nvPr/>
        </p:nvSpPr>
        <p:spPr>
          <a:xfrm>
            <a:off x="5779008" y="4480560"/>
            <a:ext cx="1801368" cy="347472"/>
          </a:xfrm>
          <a:prstGeom prst="roundRect">
            <a:avLst>
              <a:gd name="adj" fmla="val 1052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852160" y="4480560"/>
            <a:ext cx="1655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5797296" y="4901184"/>
            <a:ext cx="1764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si una condicion se cumple o no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7836408" y="4078224"/>
            <a:ext cx="2057400" cy="1152144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36408" y="4078224"/>
            <a:ext cx="73152" cy="11521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64424" y="4187952"/>
            <a:ext cx="1801368" cy="219456"/>
          </a:xfrm>
          <a:prstGeom prst="roundRect">
            <a:avLst>
              <a:gd name="adj" fmla="val 125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019288" y="4187952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</a:t>
            </a:r>
            <a:endParaRPr lang="en-US" sz="1040" dirty="0"/>
          </a:p>
        </p:txBody>
      </p:sp>
      <p:sp>
        <p:nvSpPr>
          <p:cNvPr id="44" name="Shape 41"/>
          <p:cNvSpPr/>
          <p:nvPr/>
        </p:nvSpPr>
        <p:spPr>
          <a:xfrm>
            <a:off x="7964424" y="4480560"/>
            <a:ext cx="1801368" cy="347472"/>
          </a:xfrm>
          <a:prstGeom prst="roundRect">
            <a:avLst>
              <a:gd name="adj" fmla="val 1052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037576" y="4480560"/>
            <a:ext cx="1655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precio = 14990</a:t>
            </a:r>
            <a:endParaRPr lang="en-US" sz="740" dirty="0"/>
          </a:p>
        </p:txBody>
      </p:sp>
      <p:sp>
        <p:nvSpPr>
          <p:cNvPr id="46" name="Text 43"/>
          <p:cNvSpPr/>
          <p:nvPr/>
        </p:nvSpPr>
        <p:spPr>
          <a:xfrm>
            <a:off x="7982712" y="4901184"/>
            <a:ext cx="1764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nombre que guarda un valor util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632704" y="5486400"/>
            <a:ext cx="4279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datos claros no hay decisiones claras.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pagina ordenada puede seguir completamente muda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primer contraste importante no es bonito versus feo. Es estructura visible versus comportamiento observable.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4443984" cy="2980944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1993392"/>
            <a:ext cx="4443984" cy="3840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121408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ve resuelta</a:t>
            </a:r>
            <a:endParaRPr lang="en-US" sz="1260" dirty="0"/>
          </a:p>
        </p:txBody>
      </p:sp>
      <p:sp>
        <p:nvSpPr>
          <p:cNvPr id="13" name="Shape 10"/>
          <p:cNvSpPr/>
          <p:nvPr/>
        </p:nvSpPr>
        <p:spPr>
          <a:xfrm>
            <a:off x="1152144" y="2578608"/>
            <a:ext cx="3931920" cy="384048"/>
          </a:xfrm>
          <a:prstGeom prst="roundRect">
            <a:avLst>
              <a:gd name="adj" fmla="val 95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" y="3145536"/>
            <a:ext cx="1847088" cy="1188720"/>
          </a:xfrm>
          <a:prstGeom prst="roundRect">
            <a:avLst>
              <a:gd name="adj" fmla="val 307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182112" y="3145536"/>
            <a:ext cx="1901952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182112" y="3803904"/>
            <a:ext cx="1901952" cy="530352"/>
          </a:xfrm>
          <a:prstGeom prst="roundRect">
            <a:avLst>
              <a:gd name="adj" fmla="val 689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61872" y="4480560"/>
            <a:ext cx="3675888" cy="274320"/>
          </a:xfrm>
          <a:prstGeom prst="roundRect">
            <a:avLst>
              <a:gd name="adj" fmla="val 13333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4572000"/>
            <a:ext cx="91440" cy="914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536192" y="4558284"/>
            <a:ext cx="3255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Hay HTML y CSS. Todavia no hay respuesta al usuario.</a:t>
            </a:r>
            <a:endParaRPr lang="en-US" sz="810" dirty="0"/>
          </a:p>
        </p:txBody>
      </p:sp>
      <p:sp>
        <p:nvSpPr>
          <p:cNvPr id="20" name="Shape 17"/>
          <p:cNvSpPr/>
          <p:nvPr/>
        </p:nvSpPr>
        <p:spPr>
          <a:xfrm>
            <a:off x="5522976" y="1993392"/>
            <a:ext cx="4425696" cy="896112"/>
          </a:xfrm>
          <a:prstGeom prst="roundRect">
            <a:avLst>
              <a:gd name="adj" fmla="val 408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14416" y="2121408"/>
            <a:ext cx="109728" cy="640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79008" y="2103120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Hay estructura</a:t>
            </a:r>
            <a:endParaRPr lang="en-US" sz="1420" dirty="0"/>
          </a:p>
        </p:txBody>
      </p:sp>
      <p:sp>
        <p:nvSpPr>
          <p:cNvPr id="23" name="Text 20"/>
          <p:cNvSpPr/>
          <p:nvPr/>
        </p:nvSpPr>
        <p:spPr>
          <a:xfrm>
            <a:off x="5779008" y="2450592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contenido se puede leer, pero aun no ejecuta decisiones ni reacciones.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5522976" y="3090672"/>
            <a:ext cx="4425696" cy="896112"/>
          </a:xfrm>
          <a:prstGeom prst="roundRect">
            <a:avLst>
              <a:gd name="adj" fmla="val 408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14416" y="3218688"/>
            <a:ext cx="109728" cy="6400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79008" y="3200400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Hay presentacion</a:t>
            </a:r>
            <a:endParaRPr lang="en-US" sz="1420" dirty="0"/>
          </a:p>
        </p:txBody>
      </p:sp>
      <p:sp>
        <p:nvSpPr>
          <p:cNvPr id="27" name="Text 24"/>
          <p:cNvSpPr/>
          <p:nvPr/>
        </p:nvSpPr>
        <p:spPr>
          <a:xfrm>
            <a:off x="5779008" y="3547872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puede verse ordenada sin que eso implique comportamiento real.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5522976" y="4187952"/>
            <a:ext cx="4425696" cy="896112"/>
          </a:xfrm>
          <a:prstGeom prst="roundRect">
            <a:avLst>
              <a:gd name="adj" fmla="val 408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14416" y="4315968"/>
            <a:ext cx="109728" cy="6400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79008" y="4297680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Falta reaccion</a:t>
            </a:r>
            <a:endParaRPr lang="en-US" sz="1420" dirty="0"/>
          </a:p>
        </p:txBody>
      </p:sp>
      <p:sp>
        <p:nvSpPr>
          <p:cNvPr id="31" name="Text 28"/>
          <p:cNvSpPr/>
          <p:nvPr/>
        </p:nvSpPr>
        <p:spPr>
          <a:xfrm>
            <a:off x="5779008" y="4645152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aparece cuando la pagina necesita ejecutar algo en el momento correcto.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 hace el navegador con un script corto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Pensarlo como secuencia ayuda a entender por que consola, carga y ejecucion estan conectadas.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01168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121408"/>
            <a:ext cx="100584" cy="4754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13969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Leer HTML</a:t>
            </a:r>
            <a:endParaRPr lang="en-US" sz="1140" dirty="0"/>
          </a:p>
        </p:txBody>
      </p:sp>
      <p:sp>
        <p:nvSpPr>
          <p:cNvPr id="13" name="Text 10"/>
          <p:cNvSpPr/>
          <p:nvPr/>
        </p:nvSpPr>
        <p:spPr>
          <a:xfrm>
            <a:off x="1152144" y="241401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encuentra el script dentro de la pagina</a:t>
            </a:r>
            <a:endParaRPr lang="en-US" sz="810" dirty="0"/>
          </a:p>
        </p:txBody>
      </p:sp>
      <p:sp>
        <p:nvSpPr>
          <p:cNvPr id="14" name="Shape 11"/>
          <p:cNvSpPr/>
          <p:nvPr/>
        </p:nvSpPr>
        <p:spPr>
          <a:xfrm>
            <a:off x="3127248" y="224942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01568" y="201168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74720" y="2121408"/>
            <a:ext cx="100584" cy="4754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57600" y="213969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Cargar JS</a:t>
            </a:r>
            <a:endParaRPr lang="en-US" sz="1140" dirty="0"/>
          </a:p>
        </p:txBody>
      </p:sp>
      <p:sp>
        <p:nvSpPr>
          <p:cNvPr id="18" name="Text 15"/>
          <p:cNvSpPr/>
          <p:nvPr/>
        </p:nvSpPr>
        <p:spPr>
          <a:xfrm>
            <a:off x="3657600" y="241401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 instrucciones para ejecutar</a:t>
            </a:r>
            <a:endParaRPr lang="en-US" sz="810" dirty="0"/>
          </a:p>
        </p:txBody>
      </p:sp>
      <p:sp>
        <p:nvSpPr>
          <p:cNvPr id="19" name="Shape 16"/>
          <p:cNvSpPr/>
          <p:nvPr/>
        </p:nvSpPr>
        <p:spPr>
          <a:xfrm>
            <a:off x="5632704" y="224942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907024" y="201168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980176" y="2121408"/>
            <a:ext cx="100584" cy="4754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63056" y="213969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Ejecutar</a:t>
            </a:r>
            <a:endParaRPr lang="en-US" sz="1140" dirty="0"/>
          </a:p>
        </p:txBody>
      </p:sp>
      <p:sp>
        <p:nvSpPr>
          <p:cNvPr id="23" name="Text 20"/>
          <p:cNvSpPr/>
          <p:nvPr/>
        </p:nvSpPr>
        <p:spPr>
          <a:xfrm>
            <a:off x="6163056" y="241401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 linea por linea en el contexto del navegador</a:t>
            </a:r>
            <a:endParaRPr lang="en-US" sz="810" dirty="0"/>
          </a:p>
        </p:txBody>
      </p:sp>
      <p:sp>
        <p:nvSpPr>
          <p:cNvPr id="24" name="Shape 21"/>
          <p:cNvSpPr/>
          <p:nvPr/>
        </p:nvSpPr>
        <p:spPr>
          <a:xfrm>
            <a:off x="8138160" y="224942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412480" y="201168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485632" y="2121408"/>
            <a:ext cx="100584" cy="4754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68512" y="213969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Observar</a:t>
            </a:r>
            <a:endParaRPr lang="en-US" sz="1140" dirty="0"/>
          </a:p>
        </p:txBody>
      </p:sp>
      <p:sp>
        <p:nvSpPr>
          <p:cNvPr id="28" name="Text 25"/>
          <p:cNvSpPr/>
          <p:nvPr/>
        </p:nvSpPr>
        <p:spPr>
          <a:xfrm>
            <a:off x="8668512" y="241401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mirar consola y resultado visible</a:t>
            </a:r>
            <a:endParaRPr lang="en-US" sz="810" dirty="0"/>
          </a:p>
        </p:txBody>
      </p:sp>
      <p:sp>
        <p:nvSpPr>
          <p:cNvPr id="29" name="Shape 26"/>
          <p:cNvSpPr/>
          <p:nvPr/>
        </p:nvSpPr>
        <p:spPr>
          <a:xfrm>
            <a:off x="932688" y="3127248"/>
            <a:ext cx="4517136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" y="3236976"/>
            <a:ext cx="4261104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70432" y="3310128"/>
            <a:ext cx="40416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minimo</a:t>
            </a:r>
            <a:endParaRPr lang="en-US" sz="100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144" y="3730752"/>
            <a:ext cx="4096512" cy="107899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5650992" y="3127248"/>
            <a:ext cx="4315968" cy="1828800"/>
          </a:xfrm>
          <a:prstGeom prst="roundRect">
            <a:avLst>
              <a:gd name="adj" fmla="val 2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870448" y="3273552"/>
            <a:ext cx="1188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</a:t>
            </a:r>
            <a:endParaRPr lang="en-US" sz="1240" dirty="0"/>
          </a:p>
        </p:txBody>
      </p:sp>
      <p:sp>
        <p:nvSpPr>
          <p:cNvPr id="35" name="Text 31"/>
          <p:cNvSpPr/>
          <p:nvPr/>
        </p:nvSpPr>
        <p:spPr>
          <a:xfrm>
            <a:off x="5870448" y="373075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36" name="Text 32"/>
          <p:cNvSpPr/>
          <p:nvPr/>
        </p:nvSpPr>
        <p:spPr>
          <a:xfrm>
            <a:off x="6108192" y="373075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&gt; Script encontrado</a:t>
            </a:r>
            <a:endParaRPr lang="en-US" sz="890" dirty="0"/>
          </a:p>
        </p:txBody>
      </p:sp>
      <p:sp>
        <p:nvSpPr>
          <p:cNvPr id="37" name="Text 33"/>
          <p:cNvSpPr/>
          <p:nvPr/>
        </p:nvSpPr>
        <p:spPr>
          <a:xfrm>
            <a:off x="5870448" y="3968496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6108192" y="3968496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&gt; Ejecutando...</a:t>
            </a:r>
            <a:endParaRPr lang="en-US" sz="890" dirty="0"/>
          </a:p>
        </p:txBody>
      </p:sp>
      <p:sp>
        <p:nvSpPr>
          <p:cNvPr id="39" name="Text 35"/>
          <p:cNvSpPr/>
          <p:nvPr/>
        </p:nvSpPr>
        <p:spPr>
          <a:xfrm>
            <a:off x="5870448" y="4206240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820" dirty="0"/>
          </a:p>
        </p:txBody>
      </p:sp>
      <p:sp>
        <p:nvSpPr>
          <p:cNvPr id="40" name="Text 36"/>
          <p:cNvSpPr/>
          <p:nvPr/>
        </p:nvSpPr>
        <p:spPr>
          <a:xfrm>
            <a:off x="6108192" y="4206240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F2D2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JS activo</a:t>
            </a:r>
            <a:endParaRPr lang="en-US" sz="910" dirty="0"/>
          </a:p>
        </p:txBody>
      </p:sp>
      <p:sp>
        <p:nvSpPr>
          <p:cNvPr id="41" name="Shape 37"/>
          <p:cNvSpPr/>
          <p:nvPr/>
        </p:nvSpPr>
        <p:spPr>
          <a:xfrm>
            <a:off x="5833872" y="4572000"/>
            <a:ext cx="3785616" cy="274320"/>
          </a:xfrm>
          <a:prstGeom prst="roundRect">
            <a:avLst>
              <a:gd name="adj" fmla="val 13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925312" y="4663440"/>
            <a:ext cx="91440" cy="91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108192" y="4649724"/>
            <a:ext cx="3273552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output confirma que el codigo si paso por el navegador.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consola no esta de adorno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confirmar si el script corre, si un valor existe y si una accion produjo salida real.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4535424" cy="3127248"/>
          </a:xfrm>
          <a:prstGeom prst="roundRect">
            <a:avLst>
              <a:gd name="adj" fmla="val 117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15798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 te permite comprobar</a:t>
            </a:r>
            <a:endParaRPr lang="en-US" sz="1280" dirty="0"/>
          </a:p>
        </p:txBody>
      </p:sp>
      <p:sp>
        <p:nvSpPr>
          <p:cNvPr id="12" name="Text 9"/>
          <p:cNvSpPr/>
          <p:nvPr/>
        </p:nvSpPr>
        <p:spPr>
          <a:xfrm>
            <a:off x="1133856" y="2615184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13" name="Text 10"/>
          <p:cNvSpPr/>
          <p:nvPr/>
        </p:nvSpPr>
        <p:spPr>
          <a:xfrm>
            <a:off x="1371600" y="2615184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&gt; El archivo si se ejecuto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1133856" y="2871216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15" name="Text 12"/>
          <p:cNvSpPr/>
          <p:nvPr/>
        </p:nvSpPr>
        <p:spPr>
          <a:xfrm>
            <a:off x="1371600" y="2871216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&gt; El valor existe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1133856" y="3127248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371600" y="312724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&gt; La condicion entro por una rama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1133856" y="3383280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1371600" y="3383280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&gt; El evento si disparo la accion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1133856" y="363931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820" dirty="0"/>
          </a:p>
        </p:txBody>
      </p:sp>
      <p:sp>
        <p:nvSpPr>
          <p:cNvPr id="21" name="Text 18"/>
          <p:cNvSpPr/>
          <p:nvPr/>
        </p:nvSpPr>
        <p:spPr>
          <a:xfrm>
            <a:off x="1371600" y="363931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2D2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&gt; El error apunta a una linea concreta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115568" y="4261104"/>
            <a:ext cx="3840480" cy="658368"/>
          </a:xfrm>
          <a:prstGeom prst="roundRect">
            <a:avLst>
              <a:gd name="adj" fmla="val 555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207008" y="4389120"/>
            <a:ext cx="91440" cy="2743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389888" y="4407408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clave</a:t>
            </a:r>
            <a:endParaRPr lang="en-US" sz="1220" dirty="0"/>
          </a:p>
        </p:txBody>
      </p:sp>
      <p:sp>
        <p:nvSpPr>
          <p:cNvPr id="25" name="Text 22"/>
          <p:cNvSpPr/>
          <p:nvPr/>
        </p:nvSpPr>
        <p:spPr>
          <a:xfrm>
            <a:off x="1389888" y="4599432"/>
            <a:ext cx="3273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consola es parte de programar, no un paso opcional al final.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596128" y="1993392"/>
            <a:ext cx="4352544" cy="896112"/>
          </a:xfrm>
          <a:prstGeom prst="roundRect">
            <a:avLst>
              <a:gd name="adj" fmla="val 408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87568" y="2121408"/>
            <a:ext cx="109728" cy="640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52160" y="210312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Ejecuta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852160" y="245059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Abre la pagina y aseguralo en el navegador, no solo en el editor.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5596128" y="3090672"/>
            <a:ext cx="4352544" cy="896112"/>
          </a:xfrm>
          <a:prstGeom prst="roundRect">
            <a:avLst>
              <a:gd name="adj" fmla="val 408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687568" y="3218688"/>
            <a:ext cx="109728" cy="6400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20040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Mira salida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5852160" y="354787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una evidencia concreta: texto, valor, error o confirmacion visible.</a:t>
            </a:r>
            <a:endParaRPr lang="en-US" sz="880" dirty="0"/>
          </a:p>
        </p:txBody>
      </p:sp>
      <p:sp>
        <p:nvSpPr>
          <p:cNvPr id="34" name="Shape 31"/>
          <p:cNvSpPr/>
          <p:nvPr/>
        </p:nvSpPr>
        <p:spPr>
          <a:xfrm>
            <a:off x="5596128" y="4187952"/>
            <a:ext cx="4352544" cy="896112"/>
          </a:xfrm>
          <a:prstGeom prst="roundRect">
            <a:avLst>
              <a:gd name="adj" fmla="val 408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687568" y="4315968"/>
            <a:ext cx="109728" cy="6400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852160" y="429768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Ajusta con criterio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852160" y="464515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aparece evidencia, el problema no esta resuelto aunque el codigo se vea correcto.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Errores comunes al entrar a JavaScript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Estos tropiezos aparecen cuando se piensa que escribir codigo ya equivale a haber agregado comportamiento.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4407408" cy="987552"/>
          </a:xfrm>
          <a:prstGeom prst="roundRect">
            <a:avLst>
              <a:gd name="adj" fmla="val 370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121408"/>
            <a:ext cx="109728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10312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Confundir diseno con comportamiento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70432" y="2450592"/>
            <a:ext cx="4059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pagina puede verse completa y seguir sin responder a nada.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0" y="1993392"/>
            <a:ext cx="4407408" cy="987552"/>
          </a:xfrm>
          <a:prstGeom prst="roundRect">
            <a:avLst>
              <a:gd name="adj" fmla="val 37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121408"/>
            <a:ext cx="109728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10312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abrir la consola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742432" y="2450592"/>
            <a:ext cx="4059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evidencia de ejecucion, el diagnostico queda a ciegas.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14400" y="3255264"/>
            <a:ext cx="4407408" cy="987552"/>
          </a:xfrm>
          <a:prstGeom prst="roundRect">
            <a:avLst>
              <a:gd name="adj" fmla="val 3704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383280"/>
            <a:ext cx="109728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36499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el codigo como si ya estuviera probado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70432" y="3712464"/>
            <a:ext cx="4059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algo suene logico no significa que el navegador lo este ejecutando.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486400" y="3255264"/>
            <a:ext cx="4407408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383280"/>
            <a:ext cx="109728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42432" y="336499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Aceptar una explicacion sin verificar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742432" y="3712464"/>
            <a:ext cx="4059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agente puede explicar bien algo que igual necesitas comprobar con resultado real.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1133856" y="4645152"/>
            <a:ext cx="8759952" cy="530352"/>
          </a:xfrm>
          <a:prstGeom prst="roundRect">
            <a:avLst>
              <a:gd name="adj" fmla="val 68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335024" y="4809744"/>
            <a:ext cx="8357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evidencia de comportamiento aparece en navegador, consola y resultado visible.</a:t>
            </a:r>
            <a:endParaRPr lang="en-US" sz="14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decidir o reaccionar, un programa necesita datos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empieza a construir comportamiento cuando puede guardar informacion, leerla y transformarla con claridad.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3822192" cy="3547872"/>
          </a:xfrm>
          <a:prstGeom prst="roundRect">
            <a:avLst>
              <a:gd name="adj" fmla="val 103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3584" y="2670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datos, la logica no tiene sobre que operar.</a:t>
            </a:r>
            <a:endParaRPr lang="en-US" sz="2180" dirty="0"/>
          </a:p>
        </p:txBody>
      </p:sp>
      <p:sp>
        <p:nvSpPr>
          <p:cNvPr id="12" name="Text 9"/>
          <p:cNvSpPr/>
          <p:nvPr/>
        </p:nvSpPr>
        <p:spPr>
          <a:xfrm>
            <a:off x="1225296" y="3657600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Nombre, precio, estado, texto de un input o cantidad en carrito son ejemplos de informacion que un programa necesita representar antes de hacer algo util.</a:t>
            </a:r>
            <a:endParaRPr lang="en-US" sz="1040" dirty="0"/>
          </a:p>
        </p:txBody>
      </p:sp>
      <p:sp>
        <p:nvSpPr>
          <p:cNvPr id="13" name="Shape 10"/>
          <p:cNvSpPr/>
          <p:nvPr/>
        </p:nvSpPr>
        <p:spPr>
          <a:xfrm>
            <a:off x="1170432" y="4791456"/>
            <a:ext cx="3291840" cy="694944"/>
          </a:xfrm>
          <a:prstGeom prst="roundRect">
            <a:avLst>
              <a:gd name="adj" fmla="val 39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43584" y="4901184"/>
            <a:ext cx="100584" cy="4754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26464" y="491947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del bloque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426464" y="5193792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y tipos de datos preparan el terreno para toda la logica posterior.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138928" y="2267712"/>
            <a:ext cx="4535424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138928" y="2267712"/>
            <a:ext cx="4535424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285232" y="2395728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31536" y="2395728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0" y="2395728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05856" y="2368296"/>
            <a:ext cx="3621024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52160" y="2404872"/>
            <a:ext cx="33284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https://demo.local/checkout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5340096" y="2743200"/>
            <a:ext cx="1920240" cy="310896"/>
          </a:xfrm>
          <a:prstGeom prst="roundRect">
            <a:avLst>
              <a:gd name="adj" fmla="val 882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504688" y="2834640"/>
            <a:ext cx="157276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Finalizar compra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5138928" y="4114800"/>
            <a:ext cx="2139696" cy="1243584"/>
          </a:xfrm>
          <a:prstGeom prst="roundRect">
            <a:avLst>
              <a:gd name="adj" fmla="val 294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8928" y="4114800"/>
            <a:ext cx="73152" cy="12435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4242816"/>
            <a:ext cx="1883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285232" y="4480560"/>
            <a:ext cx="1883664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58384" y="4581144"/>
            <a:ext cx="1737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"Camila"</a:t>
            </a:r>
            <a:endParaRPr lang="en-US" sz="810" dirty="0"/>
          </a:p>
        </p:txBody>
      </p:sp>
      <p:sp>
        <p:nvSpPr>
          <p:cNvPr id="31" name="Text 28"/>
          <p:cNvSpPr/>
          <p:nvPr/>
        </p:nvSpPr>
        <p:spPr>
          <a:xfrm>
            <a:off x="5285232" y="490118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para identificar a la persona que interactua con la pagina.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7424928" y="4114800"/>
            <a:ext cx="2249424" cy="1243584"/>
          </a:xfrm>
          <a:prstGeom prst="roundRect">
            <a:avLst>
              <a:gd name="adj" fmla="val 294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24928" y="4114800"/>
            <a:ext cx="73152" cy="124358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71232" y="4242816"/>
            <a:ext cx="1993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precio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571232" y="4480560"/>
            <a:ext cx="1993392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644384" y="4581144"/>
            <a:ext cx="18470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14990</a:t>
            </a:r>
            <a:endParaRPr lang="en-US" sz="810" dirty="0"/>
          </a:p>
        </p:txBody>
      </p:sp>
      <p:sp>
        <p:nvSpPr>
          <p:cNvPr id="37" name="Text 34"/>
          <p:cNvSpPr/>
          <p:nvPr/>
        </p:nvSpPr>
        <p:spPr>
          <a:xfrm>
            <a:off x="7571232" y="4901184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numero que luego puede sumarse, restarse o compararse.</a:t>
            </a:r>
            <a:endParaRPr lang="en-US" sz="7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interfaz usa datos aunque la accion parezca simple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Hasta el click mas basico depende de informacion representada de alguna forma dentro del programa.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77824" y="2267712"/>
            <a:ext cx="2852928" cy="932688"/>
          </a:xfrm>
          <a:prstGeom prst="roundRect">
            <a:avLst>
              <a:gd name="adj" fmla="val 392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395728"/>
            <a:ext cx="109728" cy="6766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37744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133856" y="272491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construir mensajes, validar formularios o personalizar una respuesta.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77824" y="3456432"/>
            <a:ext cx="2852928" cy="932688"/>
          </a:xfrm>
          <a:prstGeom prst="roundRect">
            <a:avLst>
              <a:gd name="adj" fmla="val 392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69264" y="3584448"/>
            <a:ext cx="109728" cy="6766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33856" y="356616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Cantidad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33856" y="391363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contar productos, intentos, resultados o pasos dentro de una tarea.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77824" y="4645152"/>
            <a:ext cx="2852928" cy="932688"/>
          </a:xfrm>
          <a:prstGeom prst="roundRect">
            <a:avLst>
              <a:gd name="adj" fmla="val 392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69264" y="4773168"/>
            <a:ext cx="109728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33856" y="475488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33856" y="510235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saber si algo esta activo, disponible, abierto o permitido.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041648" y="2267712"/>
            <a:ext cx="2926080" cy="3310128"/>
          </a:xfrm>
          <a:prstGeom prst="roundRect">
            <a:avLst>
              <a:gd name="adj" fmla="val 12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69664" y="2377440"/>
            <a:ext cx="267004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79392" y="2450592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Valores que una pagina puede necesitar</a:t>
            </a:r>
            <a:endParaRPr lang="en-US" sz="10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1104" y="2907792"/>
            <a:ext cx="2505456" cy="256032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260336" y="2395728"/>
            <a:ext cx="2761488" cy="822960"/>
          </a:xfrm>
          <a:prstGeom prst="roundRect">
            <a:avLst>
              <a:gd name="adj" fmla="val 3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33488" y="2505456"/>
            <a:ext cx="100584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516368" y="252374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util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7516368" y="2798064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programa solo con botones y pantallas: tambien con datos que representan pequenas partes del mundo.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7260336" y="3438144"/>
            <a:ext cx="2761488" cy="822960"/>
          </a:xfrm>
          <a:prstGeom prst="roundRect">
            <a:avLst>
              <a:gd name="adj" fmla="val 3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333488" y="3547872"/>
            <a:ext cx="100584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516368" y="356616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Consecuencia</a:t>
            </a:r>
            <a:endParaRPr lang="en-US" sz="1250" dirty="0"/>
          </a:p>
        </p:txBody>
      </p:sp>
      <p:sp>
        <p:nvSpPr>
          <p:cNvPr id="33" name="Text 29"/>
          <p:cNvSpPr/>
          <p:nvPr/>
        </p:nvSpPr>
        <p:spPr>
          <a:xfrm>
            <a:off x="7516368" y="3840480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entiendes que valor tienes, despues sera mas dificil leer operaciones, condiciones y resultados.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7260336" y="4480560"/>
            <a:ext cx="2761488" cy="822960"/>
          </a:xfrm>
          <a:prstGeom prst="roundRect">
            <a:avLst>
              <a:gd name="adj" fmla="val 3333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333488" y="4590288"/>
            <a:ext cx="100584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516368" y="460857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7516368" y="4882896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eso aparecen primero variables y tipos, antes de funciones complejas o eventos mas ricos.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Variables: nombres para guardar valores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variable no es decoracion sintactica: es una forma de modelar informacion util con un identificador claro.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176272"/>
            <a:ext cx="4517136" cy="3584448"/>
          </a:xfrm>
          <a:prstGeom prst="roundRect">
            <a:avLst>
              <a:gd name="adj" fmla="val 1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286000"/>
            <a:ext cx="4261104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359152"/>
            <a:ext cx="40416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Primeras variables utiles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8" y="2889504"/>
            <a:ext cx="4096512" cy="28346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50992" y="2340864"/>
            <a:ext cx="1389888" cy="2048256"/>
          </a:xfrm>
          <a:prstGeom prst="roundRect">
            <a:avLst>
              <a:gd name="adj" fmla="val 263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50992" y="2340864"/>
            <a:ext cx="73152" cy="20482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797296" y="2468880"/>
            <a:ext cx="1133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97296" y="2706624"/>
            <a:ext cx="113385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870448" y="2807208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"Camila"</a:t>
            </a:r>
            <a:endParaRPr lang="en-US" sz="810" dirty="0"/>
          </a:p>
        </p:txBody>
      </p:sp>
      <p:sp>
        <p:nvSpPr>
          <p:cNvPr id="19" name="Text 15"/>
          <p:cNvSpPr/>
          <p:nvPr/>
        </p:nvSpPr>
        <p:spPr>
          <a:xfrm>
            <a:off x="5797296" y="3127248"/>
            <a:ext cx="11338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 texto para identificar a una persona o construir mensajes.</a:t>
            </a:r>
            <a:endParaRPr lang="en-US" sz="760" dirty="0"/>
          </a:p>
        </p:txBody>
      </p:sp>
      <p:sp>
        <p:nvSpPr>
          <p:cNvPr id="20" name="Shape 16"/>
          <p:cNvSpPr/>
          <p:nvPr/>
        </p:nvSpPr>
        <p:spPr>
          <a:xfrm>
            <a:off x="7205472" y="2340864"/>
            <a:ext cx="1389888" cy="2048256"/>
          </a:xfrm>
          <a:prstGeom prst="roundRect">
            <a:avLst>
              <a:gd name="adj" fmla="val 263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205472" y="2340864"/>
            <a:ext cx="73152" cy="20482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351776" y="2468880"/>
            <a:ext cx="1133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edad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351776" y="2706624"/>
            <a:ext cx="113385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24928" y="2807208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22</a:t>
            </a:r>
            <a:endParaRPr lang="en-US" sz="810" dirty="0"/>
          </a:p>
        </p:txBody>
      </p:sp>
      <p:sp>
        <p:nvSpPr>
          <p:cNvPr id="25" name="Text 21"/>
          <p:cNvSpPr/>
          <p:nvPr/>
        </p:nvSpPr>
        <p:spPr>
          <a:xfrm>
            <a:off x="7351776" y="3127248"/>
            <a:ext cx="11338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 un numero que luego puede compararse o calcularse.</a:t>
            </a:r>
            <a:endParaRPr lang="en-US" sz="760" dirty="0"/>
          </a:p>
        </p:txBody>
      </p:sp>
      <p:sp>
        <p:nvSpPr>
          <p:cNvPr id="26" name="Shape 22"/>
          <p:cNvSpPr/>
          <p:nvPr/>
        </p:nvSpPr>
        <p:spPr>
          <a:xfrm>
            <a:off x="8759952" y="2340864"/>
            <a:ext cx="1389888" cy="2048256"/>
          </a:xfrm>
          <a:prstGeom prst="roundRect">
            <a:avLst>
              <a:gd name="adj" fmla="val 263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59952" y="2340864"/>
            <a:ext cx="73152" cy="20482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906256" y="2468880"/>
            <a:ext cx="11338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acceso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906256" y="2706624"/>
            <a:ext cx="113385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979408" y="2807208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true</a:t>
            </a:r>
            <a:endParaRPr lang="en-US" sz="810" dirty="0"/>
          </a:p>
        </p:txBody>
      </p:sp>
      <p:sp>
        <p:nvSpPr>
          <p:cNvPr id="31" name="Text 27"/>
          <p:cNvSpPr/>
          <p:nvPr/>
        </p:nvSpPr>
        <p:spPr>
          <a:xfrm>
            <a:off x="8906256" y="3127248"/>
            <a:ext cx="11338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 un valor logico para decidir si algo se cumple o no.</a:t>
            </a:r>
            <a:endParaRPr lang="en-US" sz="760" dirty="0"/>
          </a:p>
        </p:txBody>
      </p:sp>
      <p:sp>
        <p:nvSpPr>
          <p:cNvPr id="32" name="Shape 28"/>
          <p:cNvSpPr/>
          <p:nvPr/>
        </p:nvSpPr>
        <p:spPr>
          <a:xfrm>
            <a:off x="5650992" y="4681728"/>
            <a:ext cx="4498848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852160" y="4846320"/>
            <a:ext cx="4096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Nombrar bien una variable ayuda a leer mejor la logica despues.</a:t>
            </a:r>
            <a:endParaRPr lang="en-US" sz="17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 y let no dicen lo mismo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 el inicio conviene distinguir entre un valor que deberia mantenerse fijo y otro que podria cambiar durante la ejecucion.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86000"/>
            <a:ext cx="3730752" cy="1883664"/>
          </a:xfrm>
          <a:prstGeom prst="roundRect">
            <a:avLst>
              <a:gd name="adj" fmla="val 194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95728"/>
            <a:ext cx="34747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468880"/>
            <a:ext cx="3255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3035808"/>
            <a:ext cx="3310128" cy="113385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4370832"/>
            <a:ext cx="3730752" cy="914400"/>
          </a:xfrm>
          <a:prstGeom prst="roundRect">
            <a:avLst>
              <a:gd name="adj" fmla="val 3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87552" y="4480560"/>
            <a:ext cx="100584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70432" y="4498848"/>
            <a:ext cx="3401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correcta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1170432" y="4773168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usa para un valor que no deberia reescribirse en el flujo normal del programa.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486400" y="2286000"/>
            <a:ext cx="3730752" cy="1883664"/>
          </a:xfrm>
          <a:prstGeom prst="roundRect">
            <a:avLst>
              <a:gd name="adj" fmla="val 194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614416" y="2395728"/>
            <a:ext cx="34747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724144" y="2468880"/>
            <a:ext cx="3255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</a:t>
            </a:r>
            <a:endParaRPr lang="en-US" sz="10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05856" y="2962656"/>
            <a:ext cx="3310128" cy="113385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486400" y="4370832"/>
            <a:ext cx="3730752" cy="914400"/>
          </a:xfrm>
          <a:prstGeom prst="roundRect">
            <a:avLst>
              <a:gd name="adj" fmla="val 3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559552" y="4480560"/>
            <a:ext cx="100584" cy="6949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742432" y="4498848"/>
            <a:ext cx="3401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correcta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5742432" y="4773168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usa cuando el valor puede cambiar al contar, actualizar estado o recibir nueva informacion.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4828032" y="3310128"/>
            <a:ext cx="201168" cy="27432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Tipos de datos basicos: texto, numeros y booleanos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valor se comporta distinto. Entender eso evita muchos errores tempranos al mezclar informacion.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77824" y="2157984"/>
            <a:ext cx="9253728" cy="3621024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286000"/>
            <a:ext cx="899769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23591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string, number, boolean y variable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78992" y="2724912"/>
            <a:ext cx="2116836" cy="2633472"/>
          </a:xfrm>
          <a:prstGeom prst="roundRect">
            <a:avLst>
              <a:gd name="adj" fmla="val 17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78992" y="2724912"/>
            <a:ext cx="73152" cy="26334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25296" y="2871216"/>
            <a:ext cx="1824228" cy="274320"/>
          </a:xfrm>
          <a:prstGeom prst="roundRect">
            <a:avLst>
              <a:gd name="adj" fmla="val 10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80160" y="2871216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1225296" y="3255264"/>
            <a:ext cx="1824228" cy="475488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98448" y="3255264"/>
            <a:ext cx="16779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"Nodo Web"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1225296" y="3858768"/>
            <a:ext cx="18242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para nombres, mensajes y contenido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3323844" y="2724912"/>
            <a:ext cx="2116836" cy="2633472"/>
          </a:xfrm>
          <a:prstGeom prst="roundRect">
            <a:avLst>
              <a:gd name="adj" fmla="val 17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23844" y="2724912"/>
            <a:ext cx="73152" cy="2633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70148" y="2871216"/>
            <a:ext cx="1824228" cy="274320"/>
          </a:xfrm>
          <a:prstGeom prst="roundRect">
            <a:avLst>
              <a:gd name="adj" fmla="val 10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25012" y="2871216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number</a:t>
            </a:r>
            <a:endParaRPr lang="en-US" sz="1120" dirty="0"/>
          </a:p>
        </p:txBody>
      </p:sp>
      <p:sp>
        <p:nvSpPr>
          <p:cNvPr id="24" name="Shape 21"/>
          <p:cNvSpPr/>
          <p:nvPr/>
        </p:nvSpPr>
        <p:spPr>
          <a:xfrm>
            <a:off x="3470148" y="3255264"/>
            <a:ext cx="1824228" cy="475488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543300" y="3255264"/>
            <a:ext cx="16779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14990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3470148" y="3858768"/>
            <a:ext cx="18242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calcular, contar o comparar</a:t>
            </a:r>
            <a:endParaRPr lang="en-US" sz="760" dirty="0"/>
          </a:p>
        </p:txBody>
      </p:sp>
      <p:sp>
        <p:nvSpPr>
          <p:cNvPr id="27" name="Shape 24"/>
          <p:cNvSpPr/>
          <p:nvPr/>
        </p:nvSpPr>
        <p:spPr>
          <a:xfrm>
            <a:off x="5568696" y="2724912"/>
            <a:ext cx="2116836" cy="2633472"/>
          </a:xfrm>
          <a:prstGeom prst="roundRect">
            <a:avLst>
              <a:gd name="adj" fmla="val 17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68696" y="2724912"/>
            <a:ext cx="73152" cy="26334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715000" y="2871216"/>
            <a:ext cx="1824228" cy="274320"/>
          </a:xfrm>
          <a:prstGeom prst="roundRect">
            <a:avLst>
              <a:gd name="adj" fmla="val 10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69864" y="2871216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boolean</a:t>
            </a:r>
            <a:endParaRPr lang="en-US" sz="1120" dirty="0"/>
          </a:p>
        </p:txBody>
      </p:sp>
      <p:sp>
        <p:nvSpPr>
          <p:cNvPr id="31" name="Shape 28"/>
          <p:cNvSpPr/>
          <p:nvPr/>
        </p:nvSpPr>
        <p:spPr>
          <a:xfrm>
            <a:off x="5715000" y="3255264"/>
            <a:ext cx="1824228" cy="475488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788152" y="3255264"/>
            <a:ext cx="16779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5715000" y="3858768"/>
            <a:ext cx="18242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si una condicion se cumple o no</a:t>
            </a:r>
            <a:endParaRPr lang="en-US" sz="760" dirty="0"/>
          </a:p>
        </p:txBody>
      </p:sp>
      <p:sp>
        <p:nvSpPr>
          <p:cNvPr id="34" name="Shape 31"/>
          <p:cNvSpPr/>
          <p:nvPr/>
        </p:nvSpPr>
        <p:spPr>
          <a:xfrm>
            <a:off x="7813548" y="2724912"/>
            <a:ext cx="2116836" cy="2633472"/>
          </a:xfrm>
          <a:prstGeom prst="roundRect">
            <a:avLst>
              <a:gd name="adj" fmla="val 17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13548" y="2724912"/>
            <a:ext cx="73152" cy="26334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59852" y="2871216"/>
            <a:ext cx="1824228" cy="274320"/>
          </a:xfrm>
          <a:prstGeom prst="roundRect">
            <a:avLst>
              <a:gd name="adj" fmla="val 1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014716" y="2871216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</a:t>
            </a:r>
            <a:endParaRPr lang="en-US" sz="1120" dirty="0"/>
          </a:p>
        </p:txBody>
      </p:sp>
      <p:sp>
        <p:nvSpPr>
          <p:cNvPr id="38" name="Shape 35"/>
          <p:cNvSpPr/>
          <p:nvPr/>
        </p:nvSpPr>
        <p:spPr>
          <a:xfrm>
            <a:off x="7959852" y="3255264"/>
            <a:ext cx="1824228" cy="475488"/>
          </a:xfrm>
          <a:prstGeom prst="roundRect">
            <a:avLst>
              <a:gd name="adj" fmla="val 769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033004" y="3255264"/>
            <a:ext cx="16779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precio = 14990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7959852" y="3858768"/>
            <a:ext cx="18242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nombre que guarda un valor util</a:t>
            </a:r>
            <a:endParaRPr lang="en-US" sz="760" dirty="0"/>
          </a:p>
        </p:txBody>
      </p:sp>
      <p:sp>
        <p:nvSpPr>
          <p:cNvPr id="41" name="Text 38"/>
          <p:cNvSpPr/>
          <p:nvPr/>
        </p:nvSpPr>
        <p:spPr>
          <a:xfrm>
            <a:off x="1060704" y="5614416"/>
            <a:ext cx="8887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no es memorizar nombres: es reconocer que tipo de valor tienes delante.</a:t>
            </a:r>
            <a:endParaRPr lang="en-US" sz="8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typeof ayuda a inspeccionar que clase de valor tienes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tambien permite leer el tipo de un valor antes de seguir operando con el.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4443984" cy="3401568"/>
          </a:xfrm>
          <a:prstGeom prst="roundRect">
            <a:avLst>
              <a:gd name="adj" fmla="val 107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22576"/>
            <a:ext cx="418795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395728"/>
            <a:ext cx="3968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 minima en consola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871216"/>
            <a:ext cx="4023360" cy="26517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50992" y="2212848"/>
            <a:ext cx="4370832" cy="3401568"/>
          </a:xfrm>
          <a:prstGeom prst="roundRect">
            <a:avLst>
              <a:gd name="adj" fmla="val 107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870448" y="239572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870448" y="2871216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17" name="Text 13"/>
          <p:cNvSpPr/>
          <p:nvPr/>
        </p:nvSpPr>
        <p:spPr>
          <a:xfrm>
            <a:off x="6108192" y="2871216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A7E3A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"string"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5870448" y="3163824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19" name="Text 15"/>
          <p:cNvSpPr/>
          <p:nvPr/>
        </p:nvSpPr>
        <p:spPr>
          <a:xfrm>
            <a:off x="6108192" y="3163824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F6E29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"number"</a:t>
            </a:r>
            <a:endParaRPr lang="en-US" sz="920" dirty="0"/>
          </a:p>
        </p:txBody>
      </p:sp>
      <p:sp>
        <p:nvSpPr>
          <p:cNvPr id="20" name="Text 16"/>
          <p:cNvSpPr/>
          <p:nvPr/>
        </p:nvSpPr>
        <p:spPr>
          <a:xfrm>
            <a:off x="5870448" y="345643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820" dirty="0"/>
          </a:p>
        </p:txBody>
      </p:sp>
      <p:sp>
        <p:nvSpPr>
          <p:cNvPr id="21" name="Text 17"/>
          <p:cNvSpPr/>
          <p:nvPr/>
        </p:nvSpPr>
        <p:spPr>
          <a:xfrm>
            <a:off x="6108192" y="345643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89D1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"boolean"</a:t>
            </a:r>
            <a:endParaRPr lang="en-US" sz="920" dirty="0"/>
          </a:p>
        </p:txBody>
      </p:sp>
      <p:sp>
        <p:nvSpPr>
          <p:cNvPr id="22" name="Shape 18"/>
          <p:cNvSpPr/>
          <p:nvPr/>
        </p:nvSpPr>
        <p:spPr>
          <a:xfrm>
            <a:off x="5870448" y="4059936"/>
            <a:ext cx="3822192" cy="987552"/>
          </a:xfrm>
          <a:prstGeom prst="roundRect">
            <a:avLst>
              <a:gd name="adj" fmla="val 27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943600" y="4169664"/>
            <a:ext cx="100584" cy="768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126480" y="4187952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util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6126480" y="4462272"/>
            <a:ext cx="3493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mezclar datos, conviene comprobar si estas trabajando con texto, numero o un valor logico.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Operaciones basicas: combinar, calcular y comparar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datos ya representados, el siguiente paso es producir resultados pequenos pero utiles.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77824" y="2212848"/>
            <a:ext cx="2852928" cy="1499616"/>
          </a:xfrm>
          <a:prstGeom prst="roundRect">
            <a:avLst>
              <a:gd name="adj" fmla="val 243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22576"/>
            <a:ext cx="259689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2395728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Concatenar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" y="2834640"/>
            <a:ext cx="2432304" cy="74980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77824" y="3895344"/>
            <a:ext cx="2852928" cy="731520"/>
          </a:xfrm>
          <a:prstGeom prst="roundRect">
            <a:avLst>
              <a:gd name="adj" fmla="val 375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976" y="4005072"/>
            <a:ext cx="100584" cy="5120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33856" y="402336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Texto</a:t>
            </a:r>
            <a:endParaRPr lang="en-US" sz="1120" dirty="0"/>
          </a:p>
        </p:txBody>
      </p:sp>
      <p:sp>
        <p:nvSpPr>
          <p:cNvPr id="17" name="Text 13"/>
          <p:cNvSpPr/>
          <p:nvPr/>
        </p:nvSpPr>
        <p:spPr>
          <a:xfrm>
            <a:off x="1133856" y="4297680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Une valores string para construir un mensaje o etiqueta visible.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078224" y="2212848"/>
            <a:ext cx="2852928" cy="1499616"/>
          </a:xfrm>
          <a:prstGeom prst="roundRect">
            <a:avLst>
              <a:gd name="adj" fmla="val 243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06240" y="2322576"/>
            <a:ext cx="259689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315968" y="2395728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Calcular</a:t>
            </a:r>
            <a:endParaRPr lang="en-US" sz="10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97680" y="2834640"/>
            <a:ext cx="2432304" cy="749808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078224" y="3895344"/>
            <a:ext cx="2852928" cy="731520"/>
          </a:xfrm>
          <a:prstGeom prst="roundRect">
            <a:avLst>
              <a:gd name="adj" fmla="val 375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151376" y="4005072"/>
            <a:ext cx="100584" cy="5120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334256" y="402336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Numero</a:t>
            </a:r>
            <a:endParaRPr lang="en-US" sz="1120" dirty="0"/>
          </a:p>
        </p:txBody>
      </p:sp>
      <p:sp>
        <p:nvSpPr>
          <p:cNvPr id="25" name="Text 20"/>
          <p:cNvSpPr/>
          <p:nvPr/>
        </p:nvSpPr>
        <p:spPr>
          <a:xfrm>
            <a:off x="4334256" y="4297680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 con cantidades para obtener un resultado numerico util.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7278624" y="2212848"/>
            <a:ext cx="2852928" cy="1499616"/>
          </a:xfrm>
          <a:prstGeom prst="roundRect">
            <a:avLst>
              <a:gd name="adj" fmla="val 243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406640" y="2322576"/>
            <a:ext cx="259689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16368" y="2395728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</a:t>
            </a:r>
            <a:endParaRPr lang="en-US" sz="10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98080" y="2834640"/>
            <a:ext cx="2432304" cy="74980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78624" y="3895344"/>
            <a:ext cx="2852928" cy="731520"/>
          </a:xfrm>
          <a:prstGeom prst="roundRect">
            <a:avLst>
              <a:gd name="adj" fmla="val 375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7351776" y="4005072"/>
            <a:ext cx="100584" cy="5120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7534656" y="402336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Boolean</a:t>
            </a:r>
            <a:endParaRPr lang="en-US" sz="1120" dirty="0"/>
          </a:p>
        </p:txBody>
      </p:sp>
      <p:sp>
        <p:nvSpPr>
          <p:cNvPr id="33" name="Text 27"/>
          <p:cNvSpPr/>
          <p:nvPr/>
        </p:nvSpPr>
        <p:spPr>
          <a:xfrm>
            <a:off x="7534656" y="4297680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true o false y prepara el terreno para decisiones posteriores.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1938528" y="5138928"/>
            <a:ext cx="713232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2139696" y="5303520"/>
            <a:ext cx="6729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 -&gt; operacion -&gt; resultado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puede explicar los datos; tu debes probarlos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esta etapa ayuda mucho una explicacion rapida, pero sigue siendo necesario cambiar valores, ejecutar y leer resultados.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139696"/>
            <a:ext cx="9015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267712"/>
            <a:ext cx="875995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40864"/>
            <a:ext cx="8540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puede acelerar un agente y que no conviene delegar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78992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88720" y="2834640"/>
            <a:ext cx="109728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89888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Puede ayudar con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389888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explicacion inicial y ejemplos cortos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389888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481328" y="3570732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que representa una variable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89888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81328" y="397306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627632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 let y const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389888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81328" y="43754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627632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ejemplos con string, number y boolean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389888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481328" y="4777740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27632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mostrar por que una comparacion da true o false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9944" y="2834640"/>
            <a:ext cx="109728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11112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conviene delegar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11112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comprension del valor y validacion real</a:t>
            </a:r>
            <a:endParaRPr lang="en-US" sz="940" dirty="0"/>
          </a:p>
        </p:txBody>
      </p:sp>
      <p:sp>
        <p:nvSpPr>
          <p:cNvPr id="33" name="Shape 30"/>
          <p:cNvSpPr/>
          <p:nvPr/>
        </p:nvSpPr>
        <p:spPr>
          <a:xfrm>
            <a:off x="6611112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02552" y="3570732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48856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copiar variables sin saber que representan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11112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02552" y="397306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848856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 operaciones sin ejecutarlas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611112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02552" y="43754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48856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confundir texto con numero por no probar en consola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611112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702552" y="4777740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848856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reutilizar codigo sin cambiar valores ni observar resultados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837176" y="3081528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46904" y="3227832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20056" y="3648456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001768" y="327355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</a:t>
            </a:r>
            <a:endParaRPr lang="en-US" sz="1060" dirty="0"/>
          </a:p>
        </p:txBody>
      </p:sp>
      <p:sp>
        <p:nvSpPr>
          <p:cNvPr id="49" name="Text 46"/>
          <p:cNvSpPr/>
          <p:nvPr/>
        </p:nvSpPr>
        <p:spPr>
          <a:xfrm>
            <a:off x="4965192" y="4059936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Leer, ejecutar, cambiar un valor y volver a mirar el resultado sigue siendo obligatorio.</a:t>
            </a:r>
            <a:endParaRPr lang="en-US" sz="720" dirty="0"/>
          </a:p>
        </p:txBody>
      </p:sp>
      <p:sp>
        <p:nvSpPr>
          <p:cNvPr id="50" name="Shape 47"/>
          <p:cNvSpPr/>
          <p:nvPr/>
        </p:nvSpPr>
        <p:spPr>
          <a:xfrm>
            <a:off x="1133856" y="5138928"/>
            <a:ext cx="861364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243584" y="5184648"/>
            <a:ext cx="83941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-&gt; ejecutar -&gt; cambiar -&gt; observar.</a:t>
            </a:r>
            <a:endParaRPr lang="en-US" sz="8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cerrar 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pasar a funciones y estructuras de control, conviene fijar por que los datos importan tanto.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31136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5915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4086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¿Por que un programa necesita representar informacion antes de tomar decisiones?</a:t>
            </a:r>
            <a:endParaRPr lang="en-US" sz="1360" dirty="0"/>
          </a:p>
        </p:txBody>
      </p:sp>
      <p:sp>
        <p:nvSpPr>
          <p:cNvPr id="13" name="Text 10"/>
          <p:cNvSpPr/>
          <p:nvPr/>
        </p:nvSpPr>
        <p:spPr>
          <a:xfrm>
            <a:off x="1170432" y="2688336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deberia conectar datos, operaciones y comportamiento posterior.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0" y="2231136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359152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34086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¿Que diferencia practica existe entre let y const?</a:t>
            </a:r>
            <a:endParaRPr lang="en-US" sz="1360" dirty="0"/>
          </a:p>
        </p:txBody>
      </p:sp>
      <p:sp>
        <p:nvSpPr>
          <p:cNvPr id="17" name="Text 14"/>
          <p:cNvSpPr/>
          <p:nvPr/>
        </p:nvSpPr>
        <p:spPr>
          <a:xfrm>
            <a:off x="5742432" y="2688336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decir que son palabras reservadas: importa si el valor deberia cambiar o no.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14400" y="3675888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803904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78561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¿Que cambia cuando un valor es texto, numero o booleano?</a:t>
            </a:r>
            <a:endParaRPr lang="en-US" sz="1360" dirty="0"/>
          </a:p>
        </p:txBody>
      </p:sp>
      <p:sp>
        <p:nvSpPr>
          <p:cNvPr id="21" name="Text 18"/>
          <p:cNvSpPr/>
          <p:nvPr/>
        </p:nvSpPr>
        <p:spPr>
          <a:xfrm>
            <a:off x="1170432" y="4133088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tipo permite operaciones distintas y eso afecta como se lee el codigo.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486400" y="3675888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803904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42432" y="378561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¿Por que conviene ejecutar y modificar ejemplos cortos en vez de solo leerlos?</a:t>
            </a:r>
            <a:endParaRPr lang="en-US" sz="1360" dirty="0"/>
          </a:p>
        </p:txBody>
      </p:sp>
      <p:sp>
        <p:nvSpPr>
          <p:cNvPr id="25" name="Text 22"/>
          <p:cNvSpPr/>
          <p:nvPr/>
        </p:nvSpPr>
        <p:spPr>
          <a:xfrm>
            <a:off x="5742432" y="4133088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el resultado real y la consola muestran si entendiste de verdad lo que hace cada valor.</a:t>
            </a:r>
            <a:endParaRPr lang="en-US" sz="8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tenemos datos, variables y operaciones. El siguiente paso es organizar esa logica con funciones y decisiones.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322576"/>
            <a:ext cx="4169664" cy="1298448"/>
          </a:xfrm>
          <a:prstGeom prst="roundRect">
            <a:avLst>
              <a:gd name="adj" fmla="val 281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487168"/>
            <a:ext cx="37673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 claros permiten decisiones claras.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78992" y="4078224"/>
            <a:ext cx="3803904" cy="969264"/>
          </a:xfrm>
          <a:prstGeom prst="roundRect">
            <a:avLst>
              <a:gd name="adj" fmla="val 283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" y="4187952"/>
            <a:ext cx="100584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35024" y="4206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sigue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1335024" y="448056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Funciones agrupan acciones con nombre y if / else decide que camino sigue el programa segun una condicion.</a:t>
            </a:r>
            <a:endParaRPr lang="en-US" sz="860" dirty="0"/>
          </a:p>
        </p:txBody>
      </p:sp>
      <p:sp>
        <p:nvSpPr>
          <p:cNvPr id="16" name="Shape 13"/>
          <p:cNvSpPr/>
          <p:nvPr/>
        </p:nvSpPr>
        <p:spPr>
          <a:xfrm>
            <a:off x="5358384" y="2176272"/>
            <a:ext cx="4754880" cy="3566160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0" y="2304288"/>
            <a:ext cx="449884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96128" y="2377440"/>
            <a:ext cx="4279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del Bloque 3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522976" y="2743200"/>
            <a:ext cx="1371600" cy="2560320"/>
          </a:xfrm>
          <a:prstGeom prst="roundRect">
            <a:avLst>
              <a:gd name="adj" fmla="val 2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87568" y="2907792"/>
            <a:ext cx="1042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Funcion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87568" y="3218688"/>
            <a:ext cx="1042416" cy="493776"/>
          </a:xfrm>
          <a:prstGeom prst="roundRect">
            <a:avLst>
              <a:gd name="adj" fmla="val 740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0720" y="3392424"/>
            <a:ext cx="896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verificarAcceso(edad)</a:t>
            </a:r>
            <a:endParaRPr lang="en-US" sz="840" dirty="0"/>
          </a:p>
        </p:txBody>
      </p:sp>
      <p:sp>
        <p:nvSpPr>
          <p:cNvPr id="23" name="Text 20"/>
          <p:cNvSpPr/>
          <p:nvPr/>
        </p:nvSpPr>
        <p:spPr>
          <a:xfrm>
            <a:off x="5687568" y="3895344"/>
            <a:ext cx="104241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misma logica puede reutilizarse cuando recibe datos distintos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922008" y="3877056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059168" y="2743200"/>
            <a:ext cx="1280160" cy="2560320"/>
          </a:xfrm>
          <a:prstGeom prst="roundRect">
            <a:avLst>
              <a:gd name="adj" fmla="val 2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68896" y="2907792"/>
            <a:ext cx="1060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Condicion</a:t>
            </a:r>
            <a:endParaRPr lang="en-US" sz="1080" dirty="0"/>
          </a:p>
        </p:txBody>
      </p:sp>
      <p:sp>
        <p:nvSpPr>
          <p:cNvPr id="27" name="Shape 24"/>
          <p:cNvSpPr/>
          <p:nvPr/>
        </p:nvSpPr>
        <p:spPr>
          <a:xfrm>
            <a:off x="7388352" y="3310128"/>
            <a:ext cx="621792" cy="31089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87184" y="373075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edad &gt;= 18</a:t>
            </a:r>
            <a:endParaRPr lang="en-US" sz="820" dirty="0"/>
          </a:p>
        </p:txBody>
      </p:sp>
      <p:sp>
        <p:nvSpPr>
          <p:cNvPr id="29" name="Text 26"/>
          <p:cNvSpPr/>
          <p:nvPr/>
        </p:nvSpPr>
        <p:spPr>
          <a:xfrm>
            <a:off x="7168896" y="4041648"/>
            <a:ext cx="10607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estructura de control decide si se cumple o no</a:t>
            </a:r>
            <a:endParaRPr lang="en-US" sz="730" dirty="0"/>
          </a:p>
        </p:txBody>
      </p:sp>
      <p:sp>
        <p:nvSpPr>
          <p:cNvPr id="30" name="Shape 27"/>
          <p:cNvSpPr/>
          <p:nvPr/>
        </p:nvSpPr>
        <p:spPr>
          <a:xfrm>
            <a:off x="8366760" y="3877056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503920" y="2743200"/>
            <a:ext cx="1444752" cy="25603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650224" y="290779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Salidas posibles</a:t>
            </a:r>
            <a:endParaRPr lang="en-US" sz="1160" dirty="0"/>
          </a:p>
        </p:txBody>
      </p:sp>
      <p:sp>
        <p:nvSpPr>
          <p:cNvPr id="33" name="Shape 30"/>
          <p:cNvSpPr/>
          <p:nvPr/>
        </p:nvSpPr>
        <p:spPr>
          <a:xfrm>
            <a:off x="8631936" y="3236976"/>
            <a:ext cx="1188720" cy="896112"/>
          </a:xfrm>
          <a:prstGeom prst="roundRect">
            <a:avLst>
              <a:gd name="adj" fmla="val 4082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1936" y="3236976"/>
            <a:ext cx="73152" cy="89611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759952" y="3346704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se cumple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8759952" y="35112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 permitido</a:t>
            </a:r>
            <a:endParaRPr lang="en-US" sz="780" dirty="0"/>
          </a:p>
        </p:txBody>
      </p:sp>
      <p:sp>
        <p:nvSpPr>
          <p:cNvPr id="37" name="Shape 34"/>
          <p:cNvSpPr/>
          <p:nvPr/>
        </p:nvSpPr>
        <p:spPr>
          <a:xfrm>
            <a:off x="8631936" y="4297680"/>
            <a:ext cx="1188720" cy="896112"/>
          </a:xfrm>
          <a:prstGeom prst="roundRect">
            <a:avLst>
              <a:gd name="adj" fmla="val 408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631936" y="4297680"/>
            <a:ext cx="73152" cy="8961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759952" y="4407408"/>
            <a:ext cx="10058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se cumple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8759952" y="45720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 denegado</a:t>
            </a:r>
            <a:endParaRPr lang="en-US" sz="780" dirty="0"/>
          </a:p>
        </p:txBody>
      </p:sp>
      <p:sp>
        <p:nvSpPr>
          <p:cNvPr id="41" name="Text 38"/>
          <p:cNvSpPr/>
          <p:nvPr/>
        </p:nvSpPr>
        <p:spPr>
          <a:xfrm>
            <a:off x="5541264" y="5577840"/>
            <a:ext cx="4389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+ funciones + condiciones = primeras decisiones reales.</a:t>
            </a:r>
            <a:endParaRPr lang="en-US" sz="84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datos aparecen antes de cualquier decision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interfaces reales no trabajas con palabras sueltas: trabajas con nombres, precios, cantidades, estados y mensajes.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50976" y="2066544"/>
            <a:ext cx="2157984" cy="1572768"/>
          </a:xfrm>
          <a:prstGeom prst="roundRect">
            <a:avLst>
              <a:gd name="adj" fmla="val 232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066544"/>
            <a:ext cx="73152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194560"/>
            <a:ext cx="1901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97280" y="2432304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70432" y="2532888"/>
            <a:ext cx="17556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"Notebook Pro"</a:t>
            </a:r>
            <a:endParaRPr lang="en-US" sz="810" dirty="0"/>
          </a:p>
        </p:txBody>
      </p:sp>
      <p:sp>
        <p:nvSpPr>
          <p:cNvPr id="15" name="Text 12"/>
          <p:cNvSpPr/>
          <p:nvPr/>
        </p:nvSpPr>
        <p:spPr>
          <a:xfrm>
            <a:off x="1097280" y="2852928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para mostrar un nombre visible.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3236976" y="2066544"/>
            <a:ext cx="2157984" cy="1572768"/>
          </a:xfrm>
          <a:prstGeom prst="roundRect">
            <a:avLst>
              <a:gd name="adj" fmla="val 232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236976" y="2066544"/>
            <a:ext cx="73152" cy="15727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83280" y="2194560"/>
            <a:ext cx="1901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2432304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56432" y="2532888"/>
            <a:ext cx="17556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149990</a:t>
            </a:r>
            <a:endParaRPr lang="en-US" sz="810" dirty="0"/>
          </a:p>
        </p:txBody>
      </p:sp>
      <p:sp>
        <p:nvSpPr>
          <p:cNvPr id="21" name="Text 18"/>
          <p:cNvSpPr/>
          <p:nvPr/>
        </p:nvSpPr>
        <p:spPr>
          <a:xfrm>
            <a:off x="3383280" y="2852928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numero para operar y comparar.</a:t>
            </a:r>
            <a:endParaRPr lang="en-US" sz="760" dirty="0"/>
          </a:p>
        </p:txBody>
      </p:sp>
      <p:sp>
        <p:nvSpPr>
          <p:cNvPr id="22" name="Shape 19"/>
          <p:cNvSpPr/>
          <p:nvPr/>
        </p:nvSpPr>
        <p:spPr>
          <a:xfrm>
            <a:off x="5522976" y="2066544"/>
            <a:ext cx="2157984" cy="1572768"/>
          </a:xfrm>
          <a:prstGeom prst="roundRect">
            <a:avLst>
              <a:gd name="adj" fmla="val 232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22976" y="2066544"/>
            <a:ext cx="73152" cy="15727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0" y="2194560"/>
            <a:ext cx="1901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stock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0" y="2432304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42432" y="2532888"/>
            <a:ext cx="17556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12</a:t>
            </a:r>
            <a:endParaRPr lang="en-US" sz="810" dirty="0"/>
          </a:p>
        </p:txBody>
      </p:sp>
      <p:sp>
        <p:nvSpPr>
          <p:cNvPr id="27" name="Text 24"/>
          <p:cNvSpPr/>
          <p:nvPr/>
        </p:nvSpPr>
        <p:spPr>
          <a:xfrm>
            <a:off x="5669280" y="2852928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cantidad disponible para tomar decisiones.</a:t>
            </a:r>
            <a:endParaRPr lang="en-US" sz="760" dirty="0"/>
          </a:p>
        </p:txBody>
      </p:sp>
      <p:sp>
        <p:nvSpPr>
          <p:cNvPr id="28" name="Shape 25"/>
          <p:cNvSpPr/>
          <p:nvPr/>
        </p:nvSpPr>
        <p:spPr>
          <a:xfrm>
            <a:off x="7808976" y="2066544"/>
            <a:ext cx="2157984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808976" y="2066544"/>
            <a:ext cx="73152" cy="15727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194560"/>
            <a:ext cx="1901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955280" y="2432304"/>
            <a:ext cx="1901952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028432" y="2532888"/>
            <a:ext cx="17556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true</a:t>
            </a:r>
            <a:endParaRPr lang="en-US" sz="810" dirty="0"/>
          </a:p>
        </p:txBody>
      </p:sp>
      <p:sp>
        <p:nvSpPr>
          <p:cNvPr id="33" name="Text 30"/>
          <p:cNvSpPr/>
          <p:nvPr/>
        </p:nvSpPr>
        <p:spPr>
          <a:xfrm>
            <a:off x="7955280" y="2852928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simple para habilitar o bloquear algo.</a:t>
            </a:r>
            <a:endParaRPr lang="en-US" sz="760" dirty="0"/>
          </a:p>
        </p:txBody>
      </p:sp>
      <p:sp>
        <p:nvSpPr>
          <p:cNvPr id="34" name="Shape 31"/>
          <p:cNvSpPr/>
          <p:nvPr/>
        </p:nvSpPr>
        <p:spPr>
          <a:xfrm>
            <a:off x="914400" y="4041648"/>
            <a:ext cx="4425696" cy="1024128"/>
          </a:xfrm>
          <a:prstGeom prst="roundRect">
            <a:avLst>
              <a:gd name="adj" fmla="val 357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05840" y="4169664"/>
            <a:ext cx="109728" cy="768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170432" y="4151376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 representas</a:t>
            </a:r>
            <a:endParaRPr lang="en-US" sz="1420" dirty="0"/>
          </a:p>
        </p:txBody>
      </p:sp>
      <p:sp>
        <p:nvSpPr>
          <p:cNvPr id="37" name="Text 34"/>
          <p:cNvSpPr/>
          <p:nvPr/>
        </p:nvSpPr>
        <p:spPr>
          <a:xfrm>
            <a:off x="1170432" y="4498848"/>
            <a:ext cx="4078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programar una accion, necesitas decidir que informacion existira y en que forma.</a:t>
            </a:r>
            <a:endParaRPr lang="en-US" sz="890" dirty="0"/>
          </a:p>
        </p:txBody>
      </p:sp>
      <p:sp>
        <p:nvSpPr>
          <p:cNvPr id="38" name="Shape 35"/>
          <p:cNvSpPr/>
          <p:nvPr/>
        </p:nvSpPr>
        <p:spPr>
          <a:xfrm>
            <a:off x="5504688" y="4041648"/>
            <a:ext cx="4425696" cy="1024128"/>
          </a:xfrm>
          <a:prstGeom prst="roundRect">
            <a:avLst>
              <a:gd name="adj" fmla="val 357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596128" y="4169664"/>
            <a:ext cx="109728" cy="7680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760720" y="4151376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Despues operas</a:t>
            </a:r>
            <a:endParaRPr lang="en-US" sz="1420" dirty="0"/>
          </a:p>
        </p:txBody>
      </p:sp>
      <p:sp>
        <p:nvSpPr>
          <p:cNvPr id="41" name="Text 38"/>
          <p:cNvSpPr/>
          <p:nvPr/>
        </p:nvSpPr>
        <p:spPr>
          <a:xfrm>
            <a:off x="5760720" y="4498848"/>
            <a:ext cx="4078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9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esos valores el programa ya puede mostrar, calcular, comparar o decidir algo.</a:t>
            </a:r>
            <a:endParaRPr lang="en-US" sz="89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valor puede cambiar durante la ejecucion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eso importa distinguir entre declarar, leer y actualizar un dato dentro del programa.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4828032" cy="2468880"/>
          </a:xfrm>
          <a:prstGeom prst="roundRect">
            <a:avLst>
              <a:gd name="adj" fmla="val 14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103120"/>
            <a:ext cx="457200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176272"/>
            <a:ext cx="4352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de estado simple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596896"/>
            <a:ext cx="4407408" cy="17190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961888" y="2029968"/>
            <a:ext cx="3950208" cy="877824"/>
          </a:xfrm>
          <a:prstGeom prst="roundRect">
            <a:avLst>
              <a:gd name="adj" fmla="val 3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035040" y="2139696"/>
            <a:ext cx="100584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2157984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 inicial</a:t>
            </a:r>
            <a:endParaRPr lang="en-US" sz="1280" dirty="0"/>
          </a:p>
        </p:txBody>
      </p:sp>
      <p:sp>
        <p:nvSpPr>
          <p:cNvPr id="17" name="Text 13"/>
          <p:cNvSpPr/>
          <p:nvPr/>
        </p:nvSpPr>
        <p:spPr>
          <a:xfrm>
            <a:off x="6217920" y="2432304"/>
            <a:ext cx="3621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programa parte en 0 porque todavia no ha ocurrido ninguna visita.</a:t>
            </a:r>
            <a:endParaRPr lang="en-US" sz="860" dirty="0"/>
          </a:p>
        </p:txBody>
      </p:sp>
      <p:sp>
        <p:nvSpPr>
          <p:cNvPr id="18" name="Shape 14"/>
          <p:cNvSpPr/>
          <p:nvPr/>
        </p:nvSpPr>
        <p:spPr>
          <a:xfrm>
            <a:off x="5961888" y="3054096"/>
            <a:ext cx="3950208" cy="877824"/>
          </a:xfrm>
          <a:prstGeom prst="roundRect">
            <a:avLst>
              <a:gd name="adj" fmla="val 312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035040" y="3163824"/>
            <a:ext cx="100584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17920" y="3182112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Operacion</a:t>
            </a:r>
            <a:endParaRPr lang="en-US" sz="1280" dirty="0"/>
          </a:p>
        </p:txBody>
      </p:sp>
      <p:sp>
        <p:nvSpPr>
          <p:cNvPr id="21" name="Text 17"/>
          <p:cNvSpPr/>
          <p:nvPr/>
        </p:nvSpPr>
        <p:spPr>
          <a:xfrm>
            <a:off x="6217920" y="3456432"/>
            <a:ext cx="3621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linea del medio toma el valor actual y lo reemplaza por uno nuevo.</a:t>
            </a:r>
            <a:endParaRPr lang="en-US" sz="860" dirty="0"/>
          </a:p>
        </p:txBody>
      </p:sp>
      <p:sp>
        <p:nvSpPr>
          <p:cNvPr id="22" name="Shape 18"/>
          <p:cNvSpPr/>
          <p:nvPr/>
        </p:nvSpPr>
        <p:spPr>
          <a:xfrm>
            <a:off x="5961888" y="4078224"/>
            <a:ext cx="3950208" cy="877824"/>
          </a:xfrm>
          <a:prstGeom prst="roundRect">
            <a:avLst>
              <a:gd name="adj" fmla="val 312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035040" y="4187952"/>
            <a:ext cx="100584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217920" y="4206240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observable</a:t>
            </a:r>
            <a:endParaRPr lang="en-US" sz="1280" dirty="0"/>
          </a:p>
        </p:txBody>
      </p:sp>
      <p:sp>
        <p:nvSpPr>
          <p:cNvPr id="25" name="Text 21"/>
          <p:cNvSpPr/>
          <p:nvPr/>
        </p:nvSpPr>
        <p:spPr>
          <a:xfrm>
            <a:off x="6217920" y="4480560"/>
            <a:ext cx="3621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consola confirma si el cambio realmente se produjo durante la ejecucion.</a:t>
            </a:r>
            <a:endParaRPr lang="en-US" sz="8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es lo mismo un numero que un texto que se le parece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del criterio inicial en JavaScript es no confundir forma visual con tipo real del dato.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029968"/>
            <a:ext cx="4407408" cy="1225296"/>
          </a:xfrm>
          <a:prstGeom prst="roundRect">
            <a:avLst>
              <a:gd name="adj" fmla="val 29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2029968"/>
            <a:ext cx="73152" cy="12252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57984"/>
            <a:ext cx="4151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texto "14990"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60704" y="2395728"/>
            <a:ext cx="415137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" y="2496312"/>
            <a:ext cx="4005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"14990"</a:t>
            </a:r>
            <a:endParaRPr lang="en-US" sz="810" dirty="0"/>
          </a:p>
        </p:txBody>
      </p:sp>
      <p:sp>
        <p:nvSpPr>
          <p:cNvPr id="15" name="Text 12"/>
          <p:cNvSpPr/>
          <p:nvPr/>
        </p:nvSpPr>
        <p:spPr>
          <a:xfrm>
            <a:off x="1060704" y="2816352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lee como precio, pero sigue siendo texto si no cambias su tipo.</a:t>
            </a:r>
            <a:endParaRPr lang="en-US" sz="760" dirty="0"/>
          </a:p>
        </p:txBody>
      </p:sp>
      <p:sp>
        <p:nvSpPr>
          <p:cNvPr id="16" name="Shape 13"/>
          <p:cNvSpPr/>
          <p:nvPr/>
        </p:nvSpPr>
        <p:spPr>
          <a:xfrm>
            <a:off x="5486400" y="2029968"/>
            <a:ext cx="4407408" cy="1225296"/>
          </a:xfrm>
          <a:prstGeom prst="roundRect">
            <a:avLst>
              <a:gd name="adj" fmla="val 298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0" y="2029968"/>
            <a:ext cx="73152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32704" y="2157984"/>
            <a:ext cx="4151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numero 14990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32704" y="2395728"/>
            <a:ext cx="415137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496312"/>
            <a:ext cx="4005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14990</a:t>
            </a:r>
            <a:endParaRPr lang="en-US" sz="810" dirty="0"/>
          </a:p>
        </p:txBody>
      </p:sp>
      <p:sp>
        <p:nvSpPr>
          <p:cNvPr id="21" name="Text 18"/>
          <p:cNvSpPr/>
          <p:nvPr/>
        </p:nvSpPr>
        <p:spPr>
          <a:xfrm>
            <a:off x="5632704" y="2816352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sumar, comparar y operar como cantidad.</a:t>
            </a:r>
            <a:endParaRPr lang="en-US" sz="760" dirty="0"/>
          </a:p>
        </p:txBody>
      </p:sp>
      <p:sp>
        <p:nvSpPr>
          <p:cNvPr id="22" name="Shape 19"/>
          <p:cNvSpPr/>
          <p:nvPr/>
        </p:nvSpPr>
        <p:spPr>
          <a:xfrm>
            <a:off x="914400" y="3547872"/>
            <a:ext cx="4407408" cy="1225296"/>
          </a:xfrm>
          <a:prstGeom prst="roundRect">
            <a:avLst>
              <a:gd name="adj" fmla="val 298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4400" y="3547872"/>
            <a:ext cx="73152" cy="1225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60704" y="3675888"/>
            <a:ext cx="4151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texto "true"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60704" y="3913632"/>
            <a:ext cx="415137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33856" y="4014216"/>
            <a:ext cx="4005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"true"</a:t>
            </a:r>
            <a:endParaRPr lang="en-US" sz="810" dirty="0"/>
          </a:p>
        </p:txBody>
      </p:sp>
      <p:sp>
        <p:nvSpPr>
          <p:cNvPr id="27" name="Text 24"/>
          <p:cNvSpPr/>
          <p:nvPr/>
        </p:nvSpPr>
        <p:spPr>
          <a:xfrm>
            <a:off x="1060704" y="4334256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parece estado logico, pero sigue siendo una cadena de texto.</a:t>
            </a:r>
            <a:endParaRPr lang="en-US" sz="760" dirty="0"/>
          </a:p>
        </p:txBody>
      </p:sp>
      <p:sp>
        <p:nvSpPr>
          <p:cNvPr id="28" name="Shape 25"/>
          <p:cNvSpPr/>
          <p:nvPr/>
        </p:nvSpPr>
        <p:spPr>
          <a:xfrm>
            <a:off x="5486400" y="3547872"/>
            <a:ext cx="4407408" cy="1225296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0" y="3547872"/>
            <a:ext cx="73152" cy="12252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32704" y="3675888"/>
            <a:ext cx="4151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boolean true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32704" y="3913632"/>
            <a:ext cx="415137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705856" y="4014216"/>
            <a:ext cx="4005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true</a:t>
            </a:r>
            <a:endParaRPr lang="en-US" sz="810" dirty="0"/>
          </a:p>
        </p:txBody>
      </p:sp>
      <p:sp>
        <p:nvSpPr>
          <p:cNvPr id="33" name="Text 30"/>
          <p:cNvSpPr/>
          <p:nvPr/>
        </p:nvSpPr>
        <p:spPr>
          <a:xfrm>
            <a:off x="5632704" y="4334256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decidir entre ramas y activar comportamiento segun condicion.</a:t>
            </a:r>
            <a:endParaRPr lang="en-US" sz="7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usar un valor conviene revisar cuatro cosas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Esa mini rutina evita muchos errores tempranos de lectura y de operaciones equivocadas.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011680"/>
            <a:ext cx="4407408" cy="914400"/>
          </a:xfrm>
          <a:prstGeom prst="roundRect">
            <a:avLst>
              <a:gd name="adj" fmla="val 4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139696"/>
            <a:ext cx="109728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12140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Como se llama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70432" y="2468880"/>
            <a:ext cx="4059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nombre debe dejar clara la idea del dato, no obligarte a adivinarlo.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0" y="2011680"/>
            <a:ext cx="4407408" cy="914400"/>
          </a:xfrm>
          <a:prstGeom prst="roundRect">
            <a:avLst>
              <a:gd name="adj" fmla="val 4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139696"/>
            <a:ext cx="109728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12140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Que tipo tiene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742432" y="2468880"/>
            <a:ext cx="4059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Texto, numero o boolean no se usan igual aunque se parezcan visualmente.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14400" y="3200400"/>
            <a:ext cx="4407408" cy="914400"/>
          </a:xfrm>
          <a:prstGeom prst="roundRect">
            <a:avLst>
              <a:gd name="adj" fmla="val 40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328416"/>
            <a:ext cx="109728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31012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De donde sale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70432" y="3657600"/>
            <a:ext cx="4059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lo mismo un valor escrito a mano que uno que llega desde input o desde datos externos.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486400" y="3200400"/>
            <a:ext cx="440740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328416"/>
            <a:ext cx="109728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42432" y="331012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Si puede cambiar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742432" y="3657600"/>
            <a:ext cx="4059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Esa respuesta te orienta entre const, let y la manera de leer su estado.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1078992" y="4590288"/>
            <a:ext cx="8796528" cy="548640"/>
          </a:xfrm>
          <a:prstGeom prst="roundRect">
            <a:avLst>
              <a:gd name="adj" fmla="val 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80160" y="4754880"/>
            <a:ext cx="8394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Nombrar, tipar, ubicar el origen y leer el cambio son parte del criterio basico.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Funciones y control: la logica deja de ser una secuencia fija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Ahora JavaScript ya no solo guarda datos: tambien puede agrupar acciones y decidir que camino seguir segun una condicion.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3895344" cy="3547872"/>
          </a:xfrm>
          <a:prstGeom prst="roundRect">
            <a:avLst>
              <a:gd name="adj" fmla="val 103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296" y="2688336"/>
            <a:ext cx="3273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funcion agrupa una accion con nombre.</a:t>
            </a:r>
            <a:endParaRPr lang="en-US" sz="2120" dirty="0"/>
          </a:p>
        </p:txBody>
      </p:sp>
      <p:sp>
        <p:nvSpPr>
          <p:cNvPr id="12" name="Text 9"/>
          <p:cNvSpPr/>
          <p:nvPr/>
        </p:nvSpPr>
        <p:spPr>
          <a:xfrm>
            <a:off x="1261872" y="3657600"/>
            <a:ext cx="32004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una condicion permite que esa logica no responda siempre igual, sino segun el dato que recibe.</a:t>
            </a:r>
            <a:endParaRPr lang="en-US" sz="1040" dirty="0"/>
          </a:p>
        </p:txBody>
      </p:sp>
      <p:sp>
        <p:nvSpPr>
          <p:cNvPr id="13" name="Shape 10"/>
          <p:cNvSpPr/>
          <p:nvPr/>
        </p:nvSpPr>
        <p:spPr>
          <a:xfrm>
            <a:off x="1170432" y="4791456"/>
            <a:ext cx="3310128" cy="694944"/>
          </a:xfrm>
          <a:prstGeom prst="roundRect">
            <a:avLst>
              <a:gd name="adj" fmla="val 39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43584" y="4901184"/>
            <a:ext cx="100584" cy="4754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26464" y="4919472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del bloque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426464" y="5193792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 + dato + condicion = primeras decisiones reutilizables.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266944" y="2231136"/>
            <a:ext cx="4645152" cy="1408176"/>
          </a:xfrm>
          <a:prstGeom prst="roundRect">
            <a:avLst>
              <a:gd name="adj" fmla="val 25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94960" y="2340864"/>
            <a:ext cx="43891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04688" y="2414016"/>
            <a:ext cx="4169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 simple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0" y="2889504"/>
            <a:ext cx="4224528" cy="65836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5266944" y="3767328"/>
            <a:ext cx="4645152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394960" y="3895344"/>
            <a:ext cx="438912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504688" y="3968496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 + decision</a:t>
            </a:r>
            <a:endParaRPr lang="en-US" sz="980" dirty="0"/>
          </a:p>
        </p:txBody>
      </p:sp>
      <p:sp>
        <p:nvSpPr>
          <p:cNvPr id="24" name="Shape 20"/>
          <p:cNvSpPr/>
          <p:nvPr/>
        </p:nvSpPr>
        <p:spPr>
          <a:xfrm>
            <a:off x="5431536" y="4334256"/>
            <a:ext cx="1371600" cy="1243584"/>
          </a:xfrm>
          <a:prstGeom prst="roundRect">
            <a:avLst>
              <a:gd name="adj" fmla="val 294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596128" y="4443984"/>
            <a:ext cx="10424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Entrada</a:t>
            </a:r>
            <a:endParaRPr lang="en-US" sz="1060" dirty="0"/>
          </a:p>
        </p:txBody>
      </p:sp>
      <p:sp>
        <p:nvSpPr>
          <p:cNvPr id="26" name="Shape 22"/>
          <p:cNvSpPr/>
          <p:nvPr/>
        </p:nvSpPr>
        <p:spPr>
          <a:xfrm>
            <a:off x="5596128" y="4663440"/>
            <a:ext cx="104241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669280" y="4764024"/>
            <a:ext cx="89611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edad = 19</a:t>
            </a:r>
            <a:endParaRPr lang="en-US" sz="720" dirty="0"/>
          </a:p>
        </p:txBody>
      </p:sp>
      <p:sp>
        <p:nvSpPr>
          <p:cNvPr id="28" name="Text 24"/>
          <p:cNvSpPr/>
          <p:nvPr/>
        </p:nvSpPr>
        <p:spPr>
          <a:xfrm>
            <a:off x="5596128" y="5047488"/>
            <a:ext cx="1042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un dato que la funcion debe leer</a:t>
            </a:r>
            <a:endParaRPr lang="en-US" sz="650" dirty="0"/>
          </a:p>
        </p:txBody>
      </p:sp>
      <p:sp>
        <p:nvSpPr>
          <p:cNvPr id="29" name="Shape 25"/>
          <p:cNvSpPr/>
          <p:nvPr/>
        </p:nvSpPr>
        <p:spPr>
          <a:xfrm>
            <a:off x="6830568" y="4809744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967728" y="4334256"/>
            <a:ext cx="1280160" cy="1243584"/>
          </a:xfrm>
          <a:prstGeom prst="roundRect">
            <a:avLst>
              <a:gd name="adj" fmla="val 294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077456" y="4443984"/>
            <a:ext cx="10607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/ else</a:t>
            </a:r>
            <a:endParaRPr lang="en-US" sz="980" dirty="0"/>
          </a:p>
        </p:txBody>
      </p:sp>
      <p:sp>
        <p:nvSpPr>
          <p:cNvPr id="32" name="Shape 28"/>
          <p:cNvSpPr/>
          <p:nvPr/>
        </p:nvSpPr>
        <p:spPr>
          <a:xfrm>
            <a:off x="7379208" y="4809744"/>
            <a:ext cx="457200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095744" y="5120640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edad &gt;= 18</a:t>
            </a:r>
            <a:endParaRPr lang="en-US" sz="740" dirty="0"/>
          </a:p>
        </p:txBody>
      </p:sp>
      <p:sp>
        <p:nvSpPr>
          <p:cNvPr id="34" name="Text 30"/>
          <p:cNvSpPr/>
          <p:nvPr/>
        </p:nvSpPr>
        <p:spPr>
          <a:xfrm>
            <a:off x="7077456" y="526694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condicion decide que camino sigue</a:t>
            </a:r>
            <a:endParaRPr lang="en-US" sz="650" dirty="0"/>
          </a:p>
        </p:txBody>
      </p:sp>
      <p:sp>
        <p:nvSpPr>
          <p:cNvPr id="35" name="Shape 31"/>
          <p:cNvSpPr/>
          <p:nvPr/>
        </p:nvSpPr>
        <p:spPr>
          <a:xfrm>
            <a:off x="8275320" y="4809744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412480" y="4334256"/>
            <a:ext cx="1335024" cy="124358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558784" y="4425696"/>
            <a:ext cx="10424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Salidas</a:t>
            </a:r>
            <a:endParaRPr lang="en-US" sz="1060" dirty="0"/>
          </a:p>
        </p:txBody>
      </p:sp>
      <p:sp>
        <p:nvSpPr>
          <p:cNvPr id="38" name="Shape 34"/>
          <p:cNvSpPr/>
          <p:nvPr/>
        </p:nvSpPr>
        <p:spPr>
          <a:xfrm>
            <a:off x="8540496" y="4645152"/>
            <a:ext cx="1078992" cy="374904"/>
          </a:xfrm>
          <a:prstGeom prst="roundRect">
            <a:avLst>
              <a:gd name="adj" fmla="val 9756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540496" y="4645152"/>
            <a:ext cx="73152" cy="37490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8668512" y="4718304"/>
            <a:ext cx="8961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8668512" y="4846320"/>
            <a:ext cx="896112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670" dirty="0"/>
          </a:p>
        </p:txBody>
      </p:sp>
      <p:sp>
        <p:nvSpPr>
          <p:cNvPr id="42" name="Shape 38"/>
          <p:cNvSpPr/>
          <p:nvPr/>
        </p:nvSpPr>
        <p:spPr>
          <a:xfrm>
            <a:off x="8540496" y="5093208"/>
            <a:ext cx="1078992" cy="374904"/>
          </a:xfrm>
          <a:prstGeom prst="roundRect">
            <a:avLst>
              <a:gd name="adj" fmla="val 975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40496" y="5093208"/>
            <a:ext cx="73152" cy="3749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668512" y="5166360"/>
            <a:ext cx="8961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Niega</a:t>
            </a:r>
            <a:endParaRPr lang="en-US" sz="740" dirty="0"/>
          </a:p>
        </p:txBody>
      </p:sp>
      <p:sp>
        <p:nvSpPr>
          <p:cNvPr id="45" name="Text 41"/>
          <p:cNvSpPr/>
          <p:nvPr/>
        </p:nvSpPr>
        <p:spPr>
          <a:xfrm>
            <a:off x="8668512" y="5294376"/>
            <a:ext cx="896112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67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funcion permite agrupar una accion con nombre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Eso evita repetir instrucciones dispersas y convierte la logica en una pieza reutilizable.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31136"/>
            <a:ext cx="4462272" cy="3493008"/>
          </a:xfrm>
          <a:prstGeom prst="roundRect">
            <a:avLst>
              <a:gd name="adj" fmla="val 104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40864"/>
            <a:ext cx="420624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414016"/>
            <a:ext cx="3986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 minima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944368"/>
            <a:ext cx="4041648" cy="274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50992" y="2340864"/>
            <a:ext cx="1298448" cy="2029968"/>
          </a:xfrm>
          <a:prstGeom prst="roundRect">
            <a:avLst>
              <a:gd name="adj" fmla="val 281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50992" y="2340864"/>
            <a:ext cx="73152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797296" y="2468880"/>
            <a:ext cx="10424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97296" y="2706624"/>
            <a:ext cx="104241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870448" y="2807208"/>
            <a:ext cx="8961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saludar</a:t>
            </a:r>
            <a:endParaRPr lang="en-US" sz="810" dirty="0"/>
          </a:p>
        </p:txBody>
      </p:sp>
      <p:sp>
        <p:nvSpPr>
          <p:cNvPr id="19" name="Text 15"/>
          <p:cNvSpPr/>
          <p:nvPr/>
        </p:nvSpPr>
        <p:spPr>
          <a:xfrm>
            <a:off x="5797296" y="3127248"/>
            <a:ext cx="1042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que accion cumple la funcion dentro del programa.</a:t>
            </a:r>
            <a:endParaRPr lang="en-US" sz="760" dirty="0"/>
          </a:p>
        </p:txBody>
      </p:sp>
      <p:sp>
        <p:nvSpPr>
          <p:cNvPr id="20" name="Shape 16"/>
          <p:cNvSpPr/>
          <p:nvPr/>
        </p:nvSpPr>
        <p:spPr>
          <a:xfrm>
            <a:off x="7114032" y="2340864"/>
            <a:ext cx="1298448" cy="2029968"/>
          </a:xfrm>
          <a:prstGeom prst="roundRect">
            <a:avLst>
              <a:gd name="adj" fmla="val 281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114032" y="2340864"/>
            <a:ext cx="73152" cy="20299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0336" y="2468880"/>
            <a:ext cx="10424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260336" y="2706624"/>
            <a:ext cx="104241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333488" y="2807208"/>
            <a:ext cx="8961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nombre</a:t>
            </a:r>
            <a:endParaRPr lang="en-US" sz="810" dirty="0"/>
          </a:p>
        </p:txBody>
      </p:sp>
      <p:sp>
        <p:nvSpPr>
          <p:cNvPr id="25" name="Text 21"/>
          <p:cNvSpPr/>
          <p:nvPr/>
        </p:nvSpPr>
        <p:spPr>
          <a:xfrm>
            <a:off x="7260336" y="3127248"/>
            <a:ext cx="1042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como parametro para que la misma logica sirva varias veces.</a:t>
            </a:r>
            <a:endParaRPr lang="en-US" sz="760" dirty="0"/>
          </a:p>
        </p:txBody>
      </p:sp>
      <p:sp>
        <p:nvSpPr>
          <p:cNvPr id="26" name="Shape 22"/>
          <p:cNvSpPr/>
          <p:nvPr/>
        </p:nvSpPr>
        <p:spPr>
          <a:xfrm>
            <a:off x="8577072" y="2340864"/>
            <a:ext cx="1298448" cy="2029968"/>
          </a:xfrm>
          <a:prstGeom prst="roundRect">
            <a:avLst>
              <a:gd name="adj" fmla="val 281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577072" y="2340864"/>
            <a:ext cx="73152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723376" y="2468880"/>
            <a:ext cx="10424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723376" y="2706624"/>
            <a:ext cx="104241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796528" y="2807208"/>
            <a:ext cx="8961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"Hola..."</a:t>
            </a:r>
            <a:endParaRPr lang="en-US" sz="810" dirty="0"/>
          </a:p>
        </p:txBody>
      </p:sp>
      <p:sp>
        <p:nvSpPr>
          <p:cNvPr id="31" name="Text 27"/>
          <p:cNvSpPr/>
          <p:nvPr/>
        </p:nvSpPr>
        <p:spPr>
          <a:xfrm>
            <a:off x="8723376" y="3127248"/>
            <a:ext cx="1042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devuelve un resultado que puede mostrarse o seguir usandose despues.</a:t>
            </a:r>
            <a:endParaRPr lang="en-US" sz="760" dirty="0"/>
          </a:p>
        </p:txBody>
      </p:sp>
      <p:sp>
        <p:nvSpPr>
          <p:cNvPr id="32" name="Shape 28"/>
          <p:cNvSpPr/>
          <p:nvPr/>
        </p:nvSpPr>
        <p:spPr>
          <a:xfrm>
            <a:off x="5650992" y="4718304"/>
            <a:ext cx="422452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852160" y="4882896"/>
            <a:ext cx="3822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 + entrada + resultado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misma logica puede correrse varias veces sin reescribirla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Ese es el valor practico de una funcion: mantiene la accion y cambia solo el dato que entra.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31136"/>
            <a:ext cx="4498848" cy="3438144"/>
          </a:xfrm>
          <a:prstGeom prst="roundRect">
            <a:avLst>
              <a:gd name="adj" fmla="val 106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40864"/>
            <a:ext cx="424281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414016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funcion, varios usos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889504"/>
            <a:ext cx="4078224" cy="268833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32704" y="2340864"/>
            <a:ext cx="4279392" cy="1152144"/>
          </a:xfrm>
          <a:prstGeom prst="roundRect">
            <a:avLst>
              <a:gd name="adj" fmla="val 317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870448" y="2542032"/>
            <a:ext cx="896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</a:t>
            </a:r>
            <a:endParaRPr lang="en-US" sz="1360" dirty="0"/>
          </a:p>
        </p:txBody>
      </p:sp>
      <p:sp>
        <p:nvSpPr>
          <p:cNvPr id="16" name="Text 12"/>
          <p:cNvSpPr/>
          <p:nvPr/>
        </p:nvSpPr>
        <p:spPr>
          <a:xfrm>
            <a:off x="5870448" y="290779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17" name="Text 13"/>
          <p:cNvSpPr/>
          <p:nvPr/>
        </p:nvSpPr>
        <p:spPr>
          <a:xfrm>
            <a:off x="6108192" y="290779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A7E3A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"Hola, Ana"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5870448" y="3163824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19" name="Text 15"/>
          <p:cNvSpPr/>
          <p:nvPr/>
        </p:nvSpPr>
        <p:spPr>
          <a:xfrm>
            <a:off x="6108192" y="3163824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89D1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"Hola, Diego"</a:t>
            </a:r>
            <a:endParaRPr lang="en-US" sz="920" dirty="0"/>
          </a:p>
        </p:txBody>
      </p:sp>
      <p:sp>
        <p:nvSpPr>
          <p:cNvPr id="20" name="Shape 16"/>
          <p:cNvSpPr/>
          <p:nvPr/>
        </p:nvSpPr>
        <p:spPr>
          <a:xfrm>
            <a:off x="5632704" y="3822192"/>
            <a:ext cx="4279392" cy="841248"/>
          </a:xfrm>
          <a:prstGeom prst="roundRect">
            <a:avLst>
              <a:gd name="adj" fmla="val 32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705856" y="3931920"/>
            <a:ext cx="100584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888736" y="3950208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util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888736" y="4224528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funcion no cambia. Lo que cambia es el valor que entra y, por eso, tambien el resultado.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632704" y="4809744"/>
            <a:ext cx="4279392" cy="841248"/>
          </a:xfrm>
          <a:prstGeom prst="roundRect">
            <a:avLst>
              <a:gd name="adj" fmla="val 326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705856" y="4919472"/>
            <a:ext cx="100584" cy="6217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888736" y="4937760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base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5888736" y="521208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Eso prepara una forma de pensar mas cercana al trabajo real: una logica estable para varios casos.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parametros vuelven reutilizable una misma logica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vez de escribir una accion distinta para cada situacion, se define una estructura general y cambian solo los datos.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212848"/>
            <a:ext cx="4590288" cy="3511296"/>
          </a:xfrm>
          <a:prstGeom prst="roundRect">
            <a:avLst>
              <a:gd name="adj" fmla="val 104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22576"/>
            <a:ext cx="4334256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39572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Calcular total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8" y="2852928"/>
            <a:ext cx="4169664" cy="276148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724144" y="2340864"/>
            <a:ext cx="1847088" cy="1463040"/>
          </a:xfrm>
          <a:prstGeom prst="roundRect">
            <a:avLst>
              <a:gd name="adj" fmla="val 25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724144" y="2340864"/>
            <a:ext cx="73152" cy="14630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870448" y="2468880"/>
            <a:ext cx="15910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logica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870448" y="2706624"/>
            <a:ext cx="159105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943600" y="2807208"/>
            <a:ext cx="14447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precio - descuento</a:t>
            </a:r>
            <a:endParaRPr lang="en-US" sz="810" dirty="0"/>
          </a:p>
        </p:txBody>
      </p:sp>
      <p:sp>
        <p:nvSpPr>
          <p:cNvPr id="19" name="Text 15"/>
          <p:cNvSpPr/>
          <p:nvPr/>
        </p:nvSpPr>
        <p:spPr>
          <a:xfrm>
            <a:off x="5870448" y="3127248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mantiene igual en ambos casos.</a:t>
            </a:r>
            <a:endParaRPr lang="en-US" sz="760" dirty="0"/>
          </a:p>
        </p:txBody>
      </p:sp>
      <p:sp>
        <p:nvSpPr>
          <p:cNvPr id="20" name="Shape 16"/>
          <p:cNvSpPr/>
          <p:nvPr/>
        </p:nvSpPr>
        <p:spPr>
          <a:xfrm>
            <a:off x="7754112" y="2340864"/>
            <a:ext cx="2121408" cy="1463040"/>
          </a:xfrm>
          <a:prstGeom prst="roundRect">
            <a:avLst>
              <a:gd name="adj" fmla="val 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754112" y="2340864"/>
            <a:ext cx="73152" cy="14630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900416" y="2468880"/>
            <a:ext cx="1865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parametros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900416" y="2706624"/>
            <a:ext cx="1865376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973568" y="2807208"/>
            <a:ext cx="1719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10000, 1500 / 25000, 3000</a:t>
            </a:r>
            <a:endParaRPr lang="en-US" sz="810" dirty="0"/>
          </a:p>
        </p:txBody>
      </p:sp>
      <p:sp>
        <p:nvSpPr>
          <p:cNvPr id="25" name="Text 21"/>
          <p:cNvSpPr/>
          <p:nvPr/>
        </p:nvSpPr>
        <p:spPr>
          <a:xfrm>
            <a:off x="7900416" y="312724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cambian segun el caso que entra a la funcion.</a:t>
            </a:r>
            <a:endParaRPr lang="en-US" sz="760" dirty="0"/>
          </a:p>
        </p:txBody>
      </p:sp>
      <p:sp>
        <p:nvSpPr>
          <p:cNvPr id="26" name="Shape 22"/>
          <p:cNvSpPr/>
          <p:nvPr/>
        </p:nvSpPr>
        <p:spPr>
          <a:xfrm>
            <a:off x="5724144" y="4078224"/>
            <a:ext cx="4151376" cy="1024128"/>
          </a:xfrm>
          <a:prstGeom prst="roundRect">
            <a:avLst>
              <a:gd name="adj" fmla="val 267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797296" y="4187952"/>
            <a:ext cx="100584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980176" y="4206240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5980176" y="4480560"/>
            <a:ext cx="3822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misma funcion sirve para distintos totales porque la accion es estable y la entrada varia.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/ else permite decidir que camino sigue el programa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datos y definir funciones todavia no basta si el codigo no puede elegir entre dos respuestas posibles.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212848"/>
            <a:ext cx="4370832" cy="3529584"/>
          </a:xfrm>
          <a:prstGeom prst="roundRect">
            <a:avLst>
              <a:gd name="adj" fmla="val 10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322576"/>
            <a:ext cx="411480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95728"/>
            <a:ext cx="38953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Plantilla minima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144" y="2962656"/>
            <a:ext cx="3950208" cy="277977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04688" y="2212848"/>
            <a:ext cx="4572000" cy="3529584"/>
          </a:xfrm>
          <a:prstGeom prst="roundRect">
            <a:avLst>
              <a:gd name="adj" fmla="val 10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32704" y="2340864"/>
            <a:ext cx="431596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742432" y="2414016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de la estructura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669280" y="2779776"/>
            <a:ext cx="1371600" cy="2523744"/>
          </a:xfrm>
          <a:prstGeom prst="roundRect">
            <a:avLst>
              <a:gd name="adj" fmla="val 2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833872" y="2944368"/>
            <a:ext cx="1042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833872" y="3255264"/>
            <a:ext cx="1042416" cy="493776"/>
          </a:xfrm>
          <a:prstGeom prst="roundRect">
            <a:avLst>
              <a:gd name="adj" fmla="val 740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907024" y="3429000"/>
            <a:ext cx="896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condicion</a:t>
            </a:r>
            <a:endParaRPr lang="en-US" sz="840" dirty="0"/>
          </a:p>
        </p:txBody>
      </p:sp>
      <p:sp>
        <p:nvSpPr>
          <p:cNvPr id="21" name="Text 17"/>
          <p:cNvSpPr/>
          <p:nvPr/>
        </p:nvSpPr>
        <p:spPr>
          <a:xfrm>
            <a:off x="5833872" y="3931920"/>
            <a:ext cx="104241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una expresion que puede ser verdadera o falsa</a:t>
            </a:r>
            <a:endParaRPr lang="en-US" sz="780" dirty="0"/>
          </a:p>
        </p:txBody>
      </p:sp>
      <p:sp>
        <p:nvSpPr>
          <p:cNvPr id="22" name="Shape 18"/>
          <p:cNvSpPr/>
          <p:nvPr/>
        </p:nvSpPr>
        <p:spPr>
          <a:xfrm>
            <a:off x="7068312" y="3895344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2779776"/>
            <a:ext cx="1280160" cy="2523744"/>
          </a:xfrm>
          <a:prstGeom prst="roundRect">
            <a:avLst>
              <a:gd name="adj" fmla="val 2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315200" y="2944368"/>
            <a:ext cx="1060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7534656" y="3346704"/>
            <a:ext cx="621792" cy="31089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333488" y="376732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/ false</a:t>
            </a:r>
            <a:endParaRPr lang="en-US" sz="820" dirty="0"/>
          </a:p>
        </p:txBody>
      </p:sp>
      <p:sp>
        <p:nvSpPr>
          <p:cNvPr id="27" name="Text 23"/>
          <p:cNvSpPr/>
          <p:nvPr/>
        </p:nvSpPr>
        <p:spPr>
          <a:xfrm>
            <a:off x="7315200" y="4078224"/>
            <a:ext cx="10607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segun el resultado, el programa toma un camino distinto</a:t>
            </a:r>
            <a:endParaRPr lang="en-US" sz="730" dirty="0"/>
          </a:p>
        </p:txBody>
      </p:sp>
      <p:sp>
        <p:nvSpPr>
          <p:cNvPr id="28" name="Shape 24"/>
          <p:cNvSpPr/>
          <p:nvPr/>
        </p:nvSpPr>
        <p:spPr>
          <a:xfrm>
            <a:off x="8513064" y="3895344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650224" y="2779776"/>
            <a:ext cx="1261872" cy="2523744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796528" y="2944368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Salidas posibles</a:t>
            </a:r>
            <a:endParaRPr lang="en-US" sz="1160" dirty="0"/>
          </a:p>
        </p:txBody>
      </p:sp>
      <p:sp>
        <p:nvSpPr>
          <p:cNvPr id="31" name="Shape 27"/>
          <p:cNvSpPr/>
          <p:nvPr/>
        </p:nvSpPr>
        <p:spPr>
          <a:xfrm>
            <a:off x="8778240" y="3273552"/>
            <a:ext cx="1005840" cy="877824"/>
          </a:xfrm>
          <a:prstGeom prst="roundRect">
            <a:avLst>
              <a:gd name="adj" fmla="val 4167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778240" y="3273552"/>
            <a:ext cx="73152" cy="8778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8906256" y="3383280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se cumple</a:t>
            </a:r>
            <a:endParaRPr lang="en-US" sz="880" dirty="0"/>
          </a:p>
        </p:txBody>
      </p:sp>
      <p:sp>
        <p:nvSpPr>
          <p:cNvPr id="34" name="Text 30"/>
          <p:cNvSpPr/>
          <p:nvPr/>
        </p:nvSpPr>
        <p:spPr>
          <a:xfrm>
            <a:off x="8906256" y="354787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 una accion</a:t>
            </a:r>
            <a:endParaRPr lang="en-US" sz="780" dirty="0"/>
          </a:p>
        </p:txBody>
      </p:sp>
      <p:sp>
        <p:nvSpPr>
          <p:cNvPr id="35" name="Shape 31"/>
          <p:cNvSpPr/>
          <p:nvPr/>
        </p:nvSpPr>
        <p:spPr>
          <a:xfrm>
            <a:off x="8778240" y="4315968"/>
            <a:ext cx="1005840" cy="877824"/>
          </a:xfrm>
          <a:prstGeom prst="roundRect">
            <a:avLst>
              <a:gd name="adj" fmla="val 41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778240" y="4315968"/>
            <a:ext cx="73152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906256" y="442569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se cumple</a:t>
            </a:r>
            <a:endParaRPr lang="en-US" sz="880" dirty="0"/>
          </a:p>
        </p:txBody>
      </p:sp>
      <p:sp>
        <p:nvSpPr>
          <p:cNvPr id="38" name="Text 34"/>
          <p:cNvSpPr/>
          <p:nvPr/>
        </p:nvSpPr>
        <p:spPr>
          <a:xfrm>
            <a:off x="8906256" y="45902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 otra accion</a:t>
            </a:r>
            <a:endParaRPr lang="en-US" sz="780" dirty="0"/>
          </a:p>
        </p:txBody>
      </p:sp>
      <p:sp>
        <p:nvSpPr>
          <p:cNvPr id="39" name="Text 35"/>
          <p:cNvSpPr/>
          <p:nvPr/>
        </p:nvSpPr>
        <p:spPr>
          <a:xfrm>
            <a:off x="5687568" y="5577840"/>
            <a:ext cx="4206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estructura de control convierte un dato en una decision.</a:t>
            </a:r>
            <a:endParaRPr lang="en-US" sz="84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condicion cambia la respuesta segun el dato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 el programa ya no solo guarda una edad: la interpreta para decidir que mensaje corresponde.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212848"/>
            <a:ext cx="4626864" cy="3529584"/>
          </a:xfrm>
          <a:prstGeom prst="roundRect">
            <a:avLst>
              <a:gd name="adj" fmla="val 10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22576"/>
            <a:ext cx="437083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395728"/>
            <a:ext cx="4151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Edad y acceso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8" y="2852928"/>
            <a:ext cx="4206240" cy="277977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760720" y="2340864"/>
            <a:ext cx="4169664" cy="1152144"/>
          </a:xfrm>
          <a:prstGeom prst="roundRect">
            <a:avLst>
              <a:gd name="adj" fmla="val 317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998464" y="254203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actual</a:t>
            </a:r>
            <a:endParaRPr lang="en-US" sz="1360" dirty="0"/>
          </a:p>
        </p:txBody>
      </p:sp>
      <p:sp>
        <p:nvSpPr>
          <p:cNvPr id="16" name="Text 12"/>
          <p:cNvSpPr/>
          <p:nvPr/>
        </p:nvSpPr>
        <p:spPr>
          <a:xfrm>
            <a:off x="5998464" y="290779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17" name="Text 13"/>
          <p:cNvSpPr/>
          <p:nvPr/>
        </p:nvSpPr>
        <p:spPr>
          <a:xfrm>
            <a:off x="6236208" y="290779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A7E3A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"Puede ingresar"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5760720" y="3785616"/>
            <a:ext cx="4169664" cy="841248"/>
          </a:xfrm>
          <a:prstGeom prst="roundRect">
            <a:avLst>
              <a:gd name="adj" fmla="val 326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833872" y="3895344"/>
            <a:ext cx="100584" cy="6217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016752" y="3913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cambia el dato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016752" y="418795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misma estructura se mantiene, pero el resultado puede pasar al otro camino.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760720" y="4773168"/>
            <a:ext cx="4169664" cy="841248"/>
          </a:xfrm>
          <a:prstGeom prst="roundRect">
            <a:avLst>
              <a:gd name="adj" fmla="val 32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833872" y="4882896"/>
            <a:ext cx="100584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016752" y="49011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correcta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6016752" y="51755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valor no importa solo por existir: importa porque activa una decision concreta.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Funciones y condiciones suelen aparecer juntas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Ese cruce ya se parece mucho mas al tipo de logica que luego veremos en validaciones, formularios y eventos.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176272"/>
            <a:ext cx="4736592" cy="3584448"/>
          </a:xfrm>
          <a:prstGeom prst="roundRect">
            <a:avLst>
              <a:gd name="adj" fmla="val 1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286000"/>
            <a:ext cx="448056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359152"/>
            <a:ext cx="4261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 con decision interna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8" y="2798064"/>
            <a:ext cx="4315968" cy="28346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833872" y="2249424"/>
            <a:ext cx="4224528" cy="3511296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961888" y="2377440"/>
            <a:ext cx="3968496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071616" y="24505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se lee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998464" y="2816352"/>
            <a:ext cx="1371600" cy="2505456"/>
          </a:xfrm>
          <a:prstGeom prst="roundRect">
            <a:avLst>
              <a:gd name="adj" fmla="val 2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163056" y="2980944"/>
            <a:ext cx="1042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 que entra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63056" y="3291840"/>
            <a:ext cx="1042416" cy="493776"/>
          </a:xfrm>
          <a:prstGeom prst="roundRect">
            <a:avLst>
              <a:gd name="adj" fmla="val 740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36208" y="3465576"/>
            <a:ext cx="8961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edad</a:t>
            </a:r>
            <a:endParaRPr lang="en-US" sz="840" dirty="0"/>
          </a:p>
        </p:txBody>
      </p:sp>
      <p:sp>
        <p:nvSpPr>
          <p:cNvPr id="21" name="Text 17"/>
          <p:cNvSpPr/>
          <p:nvPr/>
        </p:nvSpPr>
        <p:spPr>
          <a:xfrm>
            <a:off x="6163056" y="3968496"/>
            <a:ext cx="104241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funcion recibe un valor concreto</a:t>
            </a:r>
            <a:endParaRPr lang="en-US" sz="780" dirty="0"/>
          </a:p>
        </p:txBody>
      </p:sp>
      <p:sp>
        <p:nvSpPr>
          <p:cNvPr id="22" name="Shape 18"/>
          <p:cNvSpPr/>
          <p:nvPr/>
        </p:nvSpPr>
        <p:spPr>
          <a:xfrm>
            <a:off x="7397496" y="3922776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34656" y="2816352"/>
            <a:ext cx="1280160" cy="2505456"/>
          </a:xfrm>
          <a:prstGeom prst="roundRect">
            <a:avLst>
              <a:gd name="adj" fmla="val 285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644384" y="2980944"/>
            <a:ext cx="1060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Condicion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7863840" y="3383280"/>
            <a:ext cx="621792" cy="31089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662672" y="380390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edad &gt;= 18</a:t>
            </a:r>
            <a:endParaRPr lang="en-US" sz="820" dirty="0"/>
          </a:p>
        </p:txBody>
      </p:sp>
      <p:sp>
        <p:nvSpPr>
          <p:cNvPr id="27" name="Text 23"/>
          <p:cNvSpPr/>
          <p:nvPr/>
        </p:nvSpPr>
        <p:spPr>
          <a:xfrm>
            <a:off x="7644384" y="4114800"/>
            <a:ext cx="10607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 si el dato cumple el criterio</a:t>
            </a:r>
            <a:endParaRPr lang="en-US" sz="730" dirty="0"/>
          </a:p>
        </p:txBody>
      </p:sp>
      <p:sp>
        <p:nvSpPr>
          <p:cNvPr id="28" name="Shape 24"/>
          <p:cNvSpPr/>
          <p:nvPr/>
        </p:nvSpPr>
        <p:spPr>
          <a:xfrm>
            <a:off x="8842248" y="3922776"/>
            <a:ext cx="109728" cy="29260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979408" y="2816352"/>
            <a:ext cx="914400" cy="2505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125712" y="2980944"/>
            <a:ext cx="6217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Salidas</a:t>
            </a:r>
            <a:endParaRPr lang="en-US" sz="1160" dirty="0"/>
          </a:p>
        </p:txBody>
      </p:sp>
      <p:sp>
        <p:nvSpPr>
          <p:cNvPr id="31" name="Shape 27"/>
          <p:cNvSpPr/>
          <p:nvPr/>
        </p:nvSpPr>
        <p:spPr>
          <a:xfrm>
            <a:off x="9107424" y="3310128"/>
            <a:ext cx="658368" cy="868680"/>
          </a:xfrm>
          <a:prstGeom prst="roundRect">
            <a:avLst>
              <a:gd name="adj" fmla="val 5556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9107424" y="3310128"/>
            <a:ext cx="73152" cy="86868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235440" y="3419856"/>
            <a:ext cx="4754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</a:t>
            </a:r>
            <a:endParaRPr lang="en-US" sz="880" dirty="0"/>
          </a:p>
        </p:txBody>
      </p:sp>
      <p:sp>
        <p:nvSpPr>
          <p:cNvPr id="34" name="Text 30"/>
          <p:cNvSpPr/>
          <p:nvPr/>
        </p:nvSpPr>
        <p:spPr>
          <a:xfrm>
            <a:off x="9235440" y="3584448"/>
            <a:ext cx="47548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780" dirty="0"/>
          </a:p>
        </p:txBody>
      </p:sp>
      <p:sp>
        <p:nvSpPr>
          <p:cNvPr id="35" name="Shape 31"/>
          <p:cNvSpPr/>
          <p:nvPr/>
        </p:nvSpPr>
        <p:spPr>
          <a:xfrm>
            <a:off x="9107424" y="4343400"/>
            <a:ext cx="658368" cy="868680"/>
          </a:xfrm>
          <a:prstGeom prst="roundRect">
            <a:avLst>
              <a:gd name="adj" fmla="val 555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9107424" y="4343400"/>
            <a:ext cx="73152" cy="8686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235440" y="4453128"/>
            <a:ext cx="4754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Niega</a:t>
            </a:r>
            <a:endParaRPr lang="en-US" sz="880" dirty="0"/>
          </a:p>
        </p:txBody>
      </p:sp>
      <p:sp>
        <p:nvSpPr>
          <p:cNvPr id="38" name="Text 34"/>
          <p:cNvSpPr/>
          <p:nvPr/>
        </p:nvSpPr>
        <p:spPr>
          <a:xfrm>
            <a:off x="9235440" y="4617720"/>
            <a:ext cx="47548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Acceso</a:t>
            </a:r>
            <a:endParaRPr lang="en-US" sz="780" dirty="0"/>
          </a:p>
        </p:txBody>
      </p:sp>
      <p:sp>
        <p:nvSpPr>
          <p:cNvPr id="39" name="Text 35"/>
          <p:cNvSpPr/>
          <p:nvPr/>
        </p:nvSpPr>
        <p:spPr>
          <a:xfrm>
            <a:off x="6016752" y="5596128"/>
            <a:ext cx="3858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 -&gt; evaluacion -&gt; resultado.</a:t>
            </a:r>
            <a:endParaRPr lang="en-US" sz="84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puede bosquejar funciones; tu debes leer cada rama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este punto ya no basta con que el codigo se vea bien: importa que entiendas que entra, que condicion corre y que devuelve cada camino.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139696"/>
            <a:ext cx="9015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267712"/>
            <a:ext cx="875995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40864"/>
            <a:ext cx="8540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puede acelerar un agente y que sigue siendo tuyo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78992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88720" y="2834640"/>
            <a:ext cx="109728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89888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Puede ayudar con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389888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 bosquejo y explicacion de pseudologica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389888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481328" y="3570732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traducir una idea verbal a una funcion simple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89888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81328" y="397306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627632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un if / else inicial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389888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81328" y="43754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627632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que hace cada rama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389888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481328" y="4777740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27632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simplificar codigo repetido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9944" y="2834640"/>
            <a:ext cx="109728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11112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conviene delegar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11112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lectura, prueba y validacion de resultados</a:t>
            </a:r>
            <a:endParaRPr lang="en-US" sz="940" dirty="0"/>
          </a:p>
        </p:txBody>
      </p:sp>
      <p:sp>
        <p:nvSpPr>
          <p:cNvPr id="33" name="Shape 30"/>
          <p:cNvSpPr/>
          <p:nvPr/>
        </p:nvSpPr>
        <p:spPr>
          <a:xfrm>
            <a:off x="6611112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02552" y="3570732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48856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 una funcion porque se ve ordenada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11112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02552" y="397306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848856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revisar que devuelve en cada caso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611112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02552" y="43754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48856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 solo con un dato de entrada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611112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702552" y="4777740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848856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ignorar una rama que no se ejecuto todavia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837176" y="3081528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46904" y="3227832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20056" y="3648456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001768" y="327355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Habito</a:t>
            </a:r>
            <a:endParaRPr lang="en-US" sz="1060" dirty="0"/>
          </a:p>
        </p:txBody>
      </p:sp>
      <p:sp>
        <p:nvSpPr>
          <p:cNvPr id="49" name="Text 46"/>
          <p:cNvSpPr/>
          <p:nvPr/>
        </p:nvSpPr>
        <p:spPr>
          <a:xfrm>
            <a:off x="4965192" y="4059936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de la funcion, dato de entrada, condicion y salida deben leerse paso a paso.</a:t>
            </a:r>
            <a:endParaRPr lang="en-US" sz="720" dirty="0"/>
          </a:p>
        </p:txBody>
      </p:sp>
      <p:sp>
        <p:nvSpPr>
          <p:cNvPr id="50" name="Shape 47"/>
          <p:cNvSpPr/>
          <p:nvPr/>
        </p:nvSpPr>
        <p:spPr>
          <a:xfrm>
            <a:off x="1133856" y="5138928"/>
            <a:ext cx="861364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243584" y="5184648"/>
            <a:ext cx="83941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-&gt; seguir la condicion -&gt; probar varios casos.</a:t>
            </a:r>
            <a:endParaRPr lang="en-US" sz="88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cerrar 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pasar a eventos, conviene fijar por que funciones y condiciones ya cambian la forma de leer el programa.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49424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77440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5915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¿Que problema resuelve una funcion dentro de un programa?</a:t>
            </a:r>
            <a:endParaRPr lang="en-US" sz="1360" dirty="0"/>
          </a:p>
        </p:txBody>
      </p:sp>
      <p:sp>
        <p:nvSpPr>
          <p:cNvPr id="13" name="Text 10"/>
          <p:cNvSpPr/>
          <p:nvPr/>
        </p:nvSpPr>
        <p:spPr>
          <a:xfrm>
            <a:off x="1170432" y="2706624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deberia mencionar organizacion, nombre y reutilizacion de la logica.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0" y="2249424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377440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359152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¿Por que los parametros vuelven reutilizable una misma logica?</a:t>
            </a:r>
            <a:endParaRPr lang="en-US" sz="1360" dirty="0"/>
          </a:p>
        </p:txBody>
      </p:sp>
      <p:sp>
        <p:nvSpPr>
          <p:cNvPr id="17" name="Text 14"/>
          <p:cNvSpPr/>
          <p:nvPr/>
        </p:nvSpPr>
        <p:spPr>
          <a:xfrm>
            <a:off x="5742432" y="2706624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la accion se mantiene y cambian los datos que entran a la funcion.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14400" y="3694176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822192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80390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¿Que cambia cuando el programa puede decidir entre dos caminos?</a:t>
            </a:r>
            <a:endParaRPr lang="en-US" sz="1360" dirty="0"/>
          </a:p>
        </p:txBody>
      </p:sp>
      <p:sp>
        <p:nvSpPr>
          <p:cNvPr id="21" name="Text 18"/>
          <p:cNvSpPr/>
          <p:nvPr/>
        </p:nvSpPr>
        <p:spPr>
          <a:xfrm>
            <a:off x="1170432" y="4151376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 de ejecutar una secuencia fija a responder segun datos y condiciones.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486400" y="3694176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822192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42432" y="380390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¿Por que conviene probar una funcion con varios valores y no solo con uno?</a:t>
            </a:r>
            <a:endParaRPr lang="en-US" sz="1360" dirty="0"/>
          </a:p>
        </p:txBody>
      </p:sp>
      <p:sp>
        <p:nvSpPr>
          <p:cNvPr id="25" name="Text 22"/>
          <p:cNvSpPr/>
          <p:nvPr/>
        </p:nvSpPr>
        <p:spPr>
          <a:xfrm>
            <a:off x="5742432" y="4151376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cada dato puede activar una rama distinta y cambiar completamente el resultado.</a:t>
            </a:r>
            <a:endParaRPr lang="en-US" sz="88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tenemos logica reutilizable y decisiones. El ultimo paso del martes es conectar eso con acciones reales del usuario.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322576"/>
            <a:ext cx="4297680" cy="1408176"/>
          </a:xfrm>
          <a:prstGeom prst="roundRect">
            <a:avLst>
              <a:gd name="adj" fmla="val 259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487168"/>
            <a:ext cx="3895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6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logica gana sentido cuando puede reaccionar a una accion real.</a:t>
            </a:r>
            <a:endParaRPr lang="en-US" sz="2060" dirty="0"/>
          </a:p>
        </p:txBody>
      </p:sp>
      <p:sp>
        <p:nvSpPr>
          <p:cNvPr id="12" name="Shape 9"/>
          <p:cNvSpPr/>
          <p:nvPr/>
        </p:nvSpPr>
        <p:spPr>
          <a:xfrm>
            <a:off x="1078992" y="4114800"/>
            <a:ext cx="3822192" cy="950976"/>
          </a:xfrm>
          <a:prstGeom prst="roundRect">
            <a:avLst>
              <a:gd name="adj" fmla="val 28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" y="4224528"/>
            <a:ext cx="100584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35024" y="4242816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sigue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1335024" y="4517136"/>
            <a:ext cx="3493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Eventos como click, input o submit conectan el codigo con acciones reales dentro de la interfaz.</a:t>
            </a:r>
            <a:endParaRPr lang="en-US" sz="860" dirty="0"/>
          </a:p>
        </p:txBody>
      </p:sp>
      <p:sp>
        <p:nvSpPr>
          <p:cNvPr id="16" name="Shape 13"/>
          <p:cNvSpPr/>
          <p:nvPr/>
        </p:nvSpPr>
        <p:spPr>
          <a:xfrm>
            <a:off x="5358384" y="2194560"/>
            <a:ext cx="4718304" cy="3566160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0" y="2322576"/>
            <a:ext cx="446227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96128" y="2395728"/>
            <a:ext cx="4242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del Bloque 4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559552" y="2816352"/>
            <a:ext cx="996696" cy="786384"/>
          </a:xfrm>
          <a:prstGeom prst="roundRect">
            <a:avLst>
              <a:gd name="adj" fmla="val 465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59552" y="2816352"/>
            <a:ext cx="73152" cy="786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05856" y="2962656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1040" dirty="0"/>
          </a:p>
        </p:txBody>
      </p:sp>
      <p:sp>
        <p:nvSpPr>
          <p:cNvPr id="22" name="Text 19"/>
          <p:cNvSpPr/>
          <p:nvPr/>
        </p:nvSpPr>
        <p:spPr>
          <a:xfrm>
            <a:off x="5687568" y="3200400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hace click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6565392" y="3099816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65976" y="2816352"/>
            <a:ext cx="996696" cy="786384"/>
          </a:xfrm>
          <a:prstGeom prst="roundRect">
            <a:avLst>
              <a:gd name="adj" fmla="val 465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65976" y="2816352"/>
            <a:ext cx="73152" cy="78638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812280" y="2962656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Evento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6793992" y="3200400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</a:t>
            </a:r>
            <a:endParaRPr lang="en-US" sz="760" dirty="0"/>
          </a:p>
        </p:txBody>
      </p:sp>
      <p:sp>
        <p:nvSpPr>
          <p:cNvPr id="28" name="Shape 25"/>
          <p:cNvSpPr/>
          <p:nvPr/>
        </p:nvSpPr>
        <p:spPr>
          <a:xfrm>
            <a:off x="7671816" y="3099816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0" y="2816352"/>
            <a:ext cx="996696" cy="786384"/>
          </a:xfrm>
          <a:prstGeom prst="roundRect">
            <a:avLst>
              <a:gd name="adj" fmla="val 465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72400" y="2816352"/>
            <a:ext cx="73152" cy="786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18704" y="2962656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Handler</a:t>
            </a:r>
            <a:endParaRPr lang="en-US" sz="1040" dirty="0"/>
          </a:p>
        </p:txBody>
      </p:sp>
      <p:sp>
        <p:nvSpPr>
          <p:cNvPr id="32" name="Text 29"/>
          <p:cNvSpPr/>
          <p:nvPr/>
        </p:nvSpPr>
        <p:spPr>
          <a:xfrm>
            <a:off x="7900416" y="3200400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listener corre</a:t>
            </a:r>
            <a:endParaRPr lang="en-US" sz="760" dirty="0"/>
          </a:p>
        </p:txBody>
      </p:sp>
      <p:sp>
        <p:nvSpPr>
          <p:cNvPr id="33" name="Shape 30"/>
          <p:cNvSpPr/>
          <p:nvPr/>
        </p:nvSpPr>
        <p:spPr>
          <a:xfrm>
            <a:off x="8778240" y="3099816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878824" y="2816352"/>
            <a:ext cx="996696" cy="786384"/>
          </a:xfrm>
          <a:prstGeom prst="roundRect">
            <a:avLst>
              <a:gd name="adj" fmla="val 4651"/>
            </a:avLst>
          </a:prstGeom>
          <a:solidFill>
            <a:srgbClr val="DCEFE2"/>
          </a:solidFill>
          <a:ln w="12700">
            <a:solidFill>
              <a:srgbClr val="DCEFE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878824" y="2816352"/>
            <a:ext cx="73152" cy="786384"/>
          </a:xfrm>
          <a:prstGeom prst="rect">
            <a:avLst/>
          </a:prstGeom>
          <a:solidFill>
            <a:srgbClr val="2F8D5A"/>
          </a:solidFill>
          <a:ln w="12700">
            <a:solidFill>
              <a:srgbClr val="2F8D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025128" y="2962656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040" dirty="0"/>
          </a:p>
        </p:txBody>
      </p:sp>
      <p:sp>
        <p:nvSpPr>
          <p:cNvPr id="37" name="Text 34"/>
          <p:cNvSpPr/>
          <p:nvPr/>
        </p:nvSpPr>
        <p:spPr>
          <a:xfrm>
            <a:off x="9006840" y="3200400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visible</a:t>
            </a:r>
            <a:endParaRPr lang="en-US" sz="760" dirty="0"/>
          </a:p>
        </p:txBody>
      </p:sp>
      <p:sp>
        <p:nvSpPr>
          <p:cNvPr id="38" name="Shape 35"/>
          <p:cNvSpPr/>
          <p:nvPr/>
        </p:nvSpPr>
        <p:spPr>
          <a:xfrm>
            <a:off x="5559552" y="3767328"/>
            <a:ext cx="4315968" cy="1554480"/>
          </a:xfrm>
          <a:prstGeom prst="roundRect">
            <a:avLst>
              <a:gd name="adj" fmla="val 2353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559552" y="3767328"/>
            <a:ext cx="4315968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650992" y="3849624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742432" y="3849624"/>
            <a:ext cx="45720" cy="4572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833872" y="3849624"/>
            <a:ext cx="45720" cy="45720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742432" y="4114800"/>
            <a:ext cx="39502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Interfaz observada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5742432" y="4370832"/>
            <a:ext cx="1467429" cy="310896"/>
          </a:xfrm>
          <a:prstGeom prst="roundRect">
            <a:avLst>
              <a:gd name="adj" fmla="val 882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815584" y="4471416"/>
            <a:ext cx="1321125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en boton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285939" y="4434840"/>
            <a:ext cx="201168" cy="18288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631217" y="4297680"/>
            <a:ext cx="1640068" cy="457200"/>
          </a:xfrm>
          <a:prstGeom prst="roundRect">
            <a:avLst>
              <a:gd name="adj" fmla="val 8000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722657" y="4462272"/>
            <a:ext cx="14571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en UI o consola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5742432" y="5084064"/>
            <a:ext cx="39502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interactividad aparece cuando una accion del usuario dispara codigo en el momento correcto</a:t>
            </a:r>
            <a:endParaRPr lang="en-US" sz="760" dirty="0"/>
          </a:p>
        </p:txBody>
      </p:sp>
      <p:sp>
        <p:nvSpPr>
          <p:cNvPr id="50" name="Text 47"/>
          <p:cNvSpPr/>
          <p:nvPr/>
        </p:nvSpPr>
        <p:spPr>
          <a:xfrm>
            <a:off x="5541264" y="5596128"/>
            <a:ext cx="4352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 -&gt; handler -&gt; respuesta observable.</a:t>
            </a:r>
            <a:endParaRPr lang="en-US" sz="84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funcion tiene partes que se pueden leer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su anatomia ayuda a dejar de verla como bloque misterioso y empezar a verla como logica organizada.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4901184" cy="2596896"/>
          </a:xfrm>
          <a:prstGeom prst="roundRect">
            <a:avLst>
              <a:gd name="adj" fmla="val 140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103120"/>
            <a:ext cx="464515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176272"/>
            <a:ext cx="4425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 simple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596896"/>
            <a:ext cx="4480560" cy="184708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016752" y="2011680"/>
            <a:ext cx="3877056" cy="877824"/>
          </a:xfrm>
          <a:prstGeom prst="roundRect">
            <a:avLst>
              <a:gd name="adj" fmla="val 3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089904" y="2121408"/>
            <a:ext cx="100584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72784" y="213969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Nombre</a:t>
            </a:r>
            <a:endParaRPr lang="en-US" sz="1280" dirty="0"/>
          </a:p>
        </p:txBody>
      </p:sp>
      <p:sp>
        <p:nvSpPr>
          <p:cNvPr id="17" name="Text 13"/>
          <p:cNvSpPr/>
          <p:nvPr/>
        </p:nvSpPr>
        <p:spPr>
          <a:xfrm>
            <a:off x="6272784" y="24140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da identidad a una accion para poder invocarla con claridad.</a:t>
            </a:r>
            <a:endParaRPr lang="en-US" sz="860" dirty="0"/>
          </a:p>
        </p:txBody>
      </p:sp>
      <p:sp>
        <p:nvSpPr>
          <p:cNvPr id="18" name="Shape 14"/>
          <p:cNvSpPr/>
          <p:nvPr/>
        </p:nvSpPr>
        <p:spPr>
          <a:xfrm>
            <a:off x="6016752" y="3054096"/>
            <a:ext cx="3877056" cy="877824"/>
          </a:xfrm>
          <a:prstGeom prst="roundRect">
            <a:avLst>
              <a:gd name="adj" fmla="val 312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089904" y="3163824"/>
            <a:ext cx="100584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72784" y="3182112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Parametro</a:t>
            </a:r>
            <a:endParaRPr lang="en-US" sz="1280" dirty="0"/>
          </a:p>
        </p:txBody>
      </p:sp>
      <p:sp>
        <p:nvSpPr>
          <p:cNvPr id="21" name="Text 17"/>
          <p:cNvSpPr/>
          <p:nvPr/>
        </p:nvSpPr>
        <p:spPr>
          <a:xfrm>
            <a:off x="6272784" y="345643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informacion de entrada para no repetir la misma logica muchas veces.</a:t>
            </a:r>
            <a:endParaRPr lang="en-US" sz="860" dirty="0"/>
          </a:p>
        </p:txBody>
      </p:sp>
      <p:sp>
        <p:nvSpPr>
          <p:cNvPr id="22" name="Shape 18"/>
          <p:cNvSpPr/>
          <p:nvPr/>
        </p:nvSpPr>
        <p:spPr>
          <a:xfrm>
            <a:off x="6016752" y="4096512"/>
            <a:ext cx="3877056" cy="877824"/>
          </a:xfrm>
          <a:prstGeom prst="roundRect">
            <a:avLst>
              <a:gd name="adj" fmla="val 312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089904" y="4206240"/>
            <a:ext cx="100584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272784" y="422452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Cuerpo</a:t>
            </a:r>
            <a:endParaRPr lang="en-US" sz="1280" dirty="0"/>
          </a:p>
        </p:txBody>
      </p:sp>
      <p:sp>
        <p:nvSpPr>
          <p:cNvPr id="25" name="Text 21"/>
          <p:cNvSpPr/>
          <p:nvPr/>
        </p:nvSpPr>
        <p:spPr>
          <a:xfrm>
            <a:off x="6272784" y="449884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secuencia de instrucciones que corre cuando llamas la funcion.</a:t>
            </a:r>
            <a:endParaRPr lang="en-US" sz="86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Pensar entradas y salidas ordena la condicion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escribir un if ayuda listar que entra al programa y que deberia producir cada caso.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1993392"/>
            <a:ext cx="9089136" cy="3127248"/>
          </a:xfrm>
          <a:prstGeom prst="roundRect">
            <a:avLst>
              <a:gd name="adj" fmla="val 117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3584" y="2212848"/>
            <a:ext cx="914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Entrada</a:t>
            </a:r>
            <a:endParaRPr lang="en-US" sz="1260" dirty="0"/>
          </a:p>
        </p:txBody>
      </p:sp>
      <p:sp>
        <p:nvSpPr>
          <p:cNvPr id="12" name="Text 9"/>
          <p:cNvSpPr/>
          <p:nvPr/>
        </p:nvSpPr>
        <p:spPr>
          <a:xfrm>
            <a:off x="4169664" y="2212848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Condicion</a:t>
            </a:r>
            <a:endParaRPr lang="en-US" sz="1260" dirty="0"/>
          </a:p>
        </p:txBody>
      </p:sp>
      <p:sp>
        <p:nvSpPr>
          <p:cNvPr id="13" name="Text 10"/>
          <p:cNvSpPr/>
          <p:nvPr/>
        </p:nvSpPr>
        <p:spPr>
          <a:xfrm>
            <a:off x="6894576" y="2212848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 esperada</a:t>
            </a:r>
            <a:endParaRPr lang="en-US" sz="1260" dirty="0"/>
          </a:p>
        </p:txBody>
      </p:sp>
      <p:sp>
        <p:nvSpPr>
          <p:cNvPr id="14" name="Shape 11"/>
          <p:cNvSpPr/>
          <p:nvPr/>
        </p:nvSpPr>
        <p:spPr>
          <a:xfrm>
            <a:off x="1170432" y="2633472"/>
            <a:ext cx="1993392" cy="420624"/>
          </a:xfrm>
          <a:prstGeom prst="roundRect">
            <a:avLst>
              <a:gd name="adj" fmla="val 869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31920" y="2633472"/>
            <a:ext cx="1993392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11696" y="2633472"/>
            <a:ext cx="2231136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16736" y="277063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stock = 0</a:t>
            </a:r>
            <a:endParaRPr lang="en-US" sz="920" dirty="0"/>
          </a:p>
        </p:txBody>
      </p:sp>
      <p:sp>
        <p:nvSpPr>
          <p:cNvPr id="18" name="Text 15"/>
          <p:cNvSpPr/>
          <p:nvPr/>
        </p:nvSpPr>
        <p:spPr>
          <a:xfrm>
            <a:off x="4078224" y="277063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stock &gt; 0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6858000" y="2770632"/>
            <a:ext cx="1901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"Agotado"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1170432" y="3273552"/>
            <a:ext cx="1993392" cy="420624"/>
          </a:xfrm>
          <a:prstGeom prst="roundRect">
            <a:avLst>
              <a:gd name="adj" fmla="val 869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931920" y="3273552"/>
            <a:ext cx="1993392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11696" y="3273552"/>
            <a:ext cx="2231136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16736" y="341071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stock = 8</a:t>
            </a:r>
            <a:endParaRPr lang="en-US" sz="920" dirty="0"/>
          </a:p>
        </p:txBody>
      </p:sp>
      <p:sp>
        <p:nvSpPr>
          <p:cNvPr id="24" name="Text 21"/>
          <p:cNvSpPr/>
          <p:nvPr/>
        </p:nvSpPr>
        <p:spPr>
          <a:xfrm>
            <a:off x="4078224" y="341071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stock &gt; 0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6858000" y="3410712"/>
            <a:ext cx="1901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"Disponible"</a:t>
            </a:r>
            <a:endParaRPr lang="en-US" sz="920" dirty="0"/>
          </a:p>
        </p:txBody>
      </p:sp>
      <p:sp>
        <p:nvSpPr>
          <p:cNvPr id="26" name="Shape 23"/>
          <p:cNvSpPr/>
          <p:nvPr/>
        </p:nvSpPr>
        <p:spPr>
          <a:xfrm>
            <a:off x="1170432" y="3913632"/>
            <a:ext cx="1993392" cy="420624"/>
          </a:xfrm>
          <a:prstGeom prst="roundRect">
            <a:avLst>
              <a:gd name="adj" fmla="val 8696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931920" y="3913632"/>
            <a:ext cx="1993392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11696" y="3913632"/>
            <a:ext cx="2231136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316736" y="405079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stock = -1</a:t>
            </a:r>
            <a:endParaRPr lang="en-US" sz="920" dirty="0"/>
          </a:p>
        </p:txBody>
      </p:sp>
      <p:sp>
        <p:nvSpPr>
          <p:cNvPr id="30" name="Text 27"/>
          <p:cNvSpPr/>
          <p:nvPr/>
        </p:nvSpPr>
        <p:spPr>
          <a:xfrm>
            <a:off x="4078224" y="4050792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dato invalido</a:t>
            </a:r>
            <a:endParaRPr lang="en-US" sz="920" dirty="0"/>
          </a:p>
        </p:txBody>
      </p:sp>
      <p:sp>
        <p:nvSpPr>
          <p:cNvPr id="31" name="Text 28"/>
          <p:cNvSpPr/>
          <p:nvPr/>
        </p:nvSpPr>
        <p:spPr>
          <a:xfrm>
            <a:off x="6858000" y="4050792"/>
            <a:ext cx="1901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02A4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"Revisar valor"</a:t>
            </a:r>
            <a:endParaRPr lang="en-US" sz="920" dirty="0"/>
          </a:p>
        </p:txBody>
      </p:sp>
      <p:sp>
        <p:nvSpPr>
          <p:cNvPr id="32" name="Shape 29"/>
          <p:cNvSpPr/>
          <p:nvPr/>
        </p:nvSpPr>
        <p:spPr>
          <a:xfrm>
            <a:off x="1170432" y="4608576"/>
            <a:ext cx="7772400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243584" y="4718304"/>
            <a:ext cx="100584" cy="91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426464" y="4736592"/>
            <a:ext cx="7443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rama debe poder explicarse con palabras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un if no es recitar simbolos: es explicar que pasa si la condicion se cumple y que pasa si no.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2907792" y="1993392"/>
            <a:ext cx="4626864" cy="731520"/>
          </a:xfrm>
          <a:prstGeom prst="roundRect">
            <a:avLst>
              <a:gd name="adj" fmla="val 5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08960" y="2157984"/>
            <a:ext cx="4224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Entrada -&gt; regla -&gt; salida</a:t>
            </a:r>
            <a:endParaRPr lang="en-US" sz="1820" dirty="0"/>
          </a:p>
        </p:txBody>
      </p:sp>
      <p:sp>
        <p:nvSpPr>
          <p:cNvPr id="12" name="Shape 9"/>
          <p:cNvSpPr/>
          <p:nvPr/>
        </p:nvSpPr>
        <p:spPr>
          <a:xfrm>
            <a:off x="914400" y="3108960"/>
            <a:ext cx="2798064" cy="1170432"/>
          </a:xfrm>
          <a:prstGeom prst="roundRect">
            <a:avLst>
              <a:gd name="adj" fmla="val 3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236976"/>
            <a:ext cx="109728" cy="91440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70432" y="32186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Entrada</a:t>
            </a:r>
            <a:endParaRPr lang="en-US" sz="1420" dirty="0"/>
          </a:p>
        </p:txBody>
      </p:sp>
      <p:sp>
        <p:nvSpPr>
          <p:cNvPr id="15" name="Text 12"/>
          <p:cNvSpPr/>
          <p:nvPr/>
        </p:nvSpPr>
        <p:spPr>
          <a:xfrm>
            <a:off x="1170432" y="3566160"/>
            <a:ext cx="2450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dato llega a la condicion y en que estado viene.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986784" y="3108960"/>
            <a:ext cx="2798064" cy="1170432"/>
          </a:xfrm>
          <a:prstGeom prst="roundRect">
            <a:avLst>
              <a:gd name="adj" fmla="val 312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78224" y="3236976"/>
            <a:ext cx="109728" cy="9144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42816" y="32186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</a:t>
            </a:r>
            <a:endParaRPr lang="en-US" sz="1420" dirty="0"/>
          </a:p>
        </p:txBody>
      </p:sp>
      <p:sp>
        <p:nvSpPr>
          <p:cNvPr id="19" name="Text 16"/>
          <p:cNvSpPr/>
          <p:nvPr/>
        </p:nvSpPr>
        <p:spPr>
          <a:xfrm>
            <a:off x="4242816" y="3566160"/>
            <a:ext cx="2450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comparacion decide el camino y por que esa comparacion tiene sentido.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7059168" y="3108960"/>
            <a:ext cx="2798064" cy="1170432"/>
          </a:xfrm>
          <a:prstGeom prst="roundRect">
            <a:avLst>
              <a:gd name="adj" fmla="val 312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50608" y="3236976"/>
            <a:ext cx="109728" cy="914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0" y="32186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Salida</a:t>
            </a:r>
            <a:endParaRPr lang="en-US" sz="1420" dirty="0"/>
          </a:p>
        </p:txBody>
      </p:sp>
      <p:sp>
        <p:nvSpPr>
          <p:cNvPr id="23" name="Text 20"/>
          <p:cNvSpPr/>
          <p:nvPr/>
        </p:nvSpPr>
        <p:spPr>
          <a:xfrm>
            <a:off x="7315200" y="3566160"/>
            <a:ext cx="2450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accion o mensaje aparece en cada rama y como se valida.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1316736" y="4608576"/>
            <a:ext cx="8156448" cy="38404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389888" y="4718304"/>
            <a:ext cx="100584" cy="1645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572768" y="4736592"/>
            <a:ext cx="7827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 sana</a:t>
            </a:r>
            <a:endParaRPr lang="en-US" sz="122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Errores comunes con funciones y condiciones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problemas iniciales no son de sintaxis, sino de lectura logica incompleta.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011680"/>
            <a:ext cx="4407408" cy="932688"/>
          </a:xfrm>
          <a:prstGeom prst="roundRect">
            <a:avLst>
              <a:gd name="adj" fmla="val 392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139696"/>
            <a:ext cx="109728" cy="6766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12140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Repetir logica en vez de encapsularla</a:t>
            </a:r>
            <a:endParaRPr lang="en-US" sz="1380" dirty="0"/>
          </a:p>
        </p:txBody>
      </p:sp>
      <p:sp>
        <p:nvSpPr>
          <p:cNvPr id="13" name="Text 10"/>
          <p:cNvSpPr/>
          <p:nvPr/>
        </p:nvSpPr>
        <p:spPr>
          <a:xfrm>
            <a:off x="1170432" y="2468880"/>
            <a:ext cx="4059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Terminas con el mismo bloque copiado varias veces y mas dificil de corregir.</a:t>
            </a:r>
            <a:endParaRPr lang="en-US" sz="870" dirty="0"/>
          </a:p>
        </p:txBody>
      </p:sp>
      <p:sp>
        <p:nvSpPr>
          <p:cNvPr id="14" name="Shape 11"/>
          <p:cNvSpPr/>
          <p:nvPr/>
        </p:nvSpPr>
        <p:spPr>
          <a:xfrm>
            <a:off x="5486400" y="2011680"/>
            <a:ext cx="4407408" cy="932688"/>
          </a:xfrm>
          <a:prstGeom prst="roundRect">
            <a:avLst>
              <a:gd name="adj" fmla="val 392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139696"/>
            <a:ext cx="109728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12140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Crear una funcion sin entrada clara</a:t>
            </a:r>
            <a:endParaRPr lang="en-US" sz="1380" dirty="0"/>
          </a:p>
        </p:txBody>
      </p:sp>
      <p:sp>
        <p:nvSpPr>
          <p:cNvPr id="17" name="Text 14"/>
          <p:cNvSpPr/>
          <p:nvPr/>
        </p:nvSpPr>
        <p:spPr>
          <a:xfrm>
            <a:off x="5742432" y="2468880"/>
            <a:ext cx="4059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no sabes que recibe, tampoco queda claro que debe producir.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914400" y="3182112"/>
            <a:ext cx="4407408" cy="932688"/>
          </a:xfrm>
          <a:prstGeom prst="roundRect">
            <a:avLst>
              <a:gd name="adj" fmla="val 392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310128"/>
            <a:ext cx="109728" cy="6766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29184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Dejar una rama sin salida visible</a:t>
            </a:r>
            <a:endParaRPr lang="en-US" sz="1380" dirty="0"/>
          </a:p>
        </p:txBody>
      </p:sp>
      <p:sp>
        <p:nvSpPr>
          <p:cNvPr id="21" name="Text 18"/>
          <p:cNvSpPr/>
          <p:nvPr/>
        </p:nvSpPr>
        <p:spPr>
          <a:xfrm>
            <a:off x="1170432" y="3639312"/>
            <a:ext cx="4059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programa toma un camino, pero nadie entiende que paso ni por que.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5486400" y="3182112"/>
            <a:ext cx="4407408" cy="93268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310128"/>
            <a:ext cx="109728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42432" y="329184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condiciones sin explicar la regla</a:t>
            </a:r>
            <a:endParaRPr lang="en-US" sz="1380" dirty="0"/>
          </a:p>
        </p:txBody>
      </p:sp>
      <p:sp>
        <p:nvSpPr>
          <p:cNvPr id="25" name="Text 22"/>
          <p:cNvSpPr/>
          <p:nvPr/>
        </p:nvSpPr>
        <p:spPr>
          <a:xfrm>
            <a:off x="5742432" y="3639312"/>
            <a:ext cx="4059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comparacion funciona, pero se siente arbitraria y fragil.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1152144" y="4590288"/>
            <a:ext cx="8723376" cy="566928"/>
          </a:xfrm>
          <a:prstGeom prst="roundRect">
            <a:avLst>
              <a:gd name="adj" fmla="val 645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353312" y="475488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funcion ordena. Una condicion explica una decision. Las dos deben poder leerse.</a:t>
            </a:r>
            <a:endParaRPr lang="en-US" sz="148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interfaz deja de ser estatica cuando puede reaccionar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Despues de datos, funciones y decisiones, el ultimo paso del martes es conectar esa logica con acciones reales del usuario.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31136"/>
            <a:ext cx="3822192" cy="3529584"/>
          </a:xfrm>
          <a:prstGeom prst="roundRect">
            <a:avLst>
              <a:gd name="adj" fmla="val 103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296" y="270662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6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 vuelve interactiva una pagina cuando escucha una accion y responde.</a:t>
            </a:r>
            <a:endParaRPr lang="en-US" sz="2060" dirty="0"/>
          </a:p>
        </p:txBody>
      </p:sp>
      <p:sp>
        <p:nvSpPr>
          <p:cNvPr id="12" name="Text 9"/>
          <p:cNvSpPr/>
          <p:nvPr/>
        </p:nvSpPr>
        <p:spPr>
          <a:xfrm>
            <a:off x="1243584" y="3840480"/>
            <a:ext cx="3163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Click, escritura o envio son ejemplos de cosas que el navegador detecta. El codigo importa porque corre en el momento correcto.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1170432" y="4791456"/>
            <a:ext cx="3255264" cy="713232"/>
          </a:xfrm>
          <a:prstGeom prst="roundRect">
            <a:avLst>
              <a:gd name="adj" fmla="val 384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43584" y="4901184"/>
            <a:ext cx="100584" cy="4937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26464" y="4919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del bloque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426464" y="51937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 -&gt; listener -&gt; respuesta observable.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175504" y="2249424"/>
            <a:ext cx="4791456" cy="3511296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03520" y="2377440"/>
            <a:ext cx="4535424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13248" y="2450592"/>
            <a:ext cx="4315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interactividad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5376672" y="2871216"/>
            <a:ext cx="1014984" cy="786384"/>
          </a:xfrm>
          <a:prstGeom prst="roundRect">
            <a:avLst>
              <a:gd name="adj" fmla="val 465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376672" y="2871216"/>
            <a:ext cx="73152" cy="786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22976" y="3017520"/>
            <a:ext cx="795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1040" dirty="0"/>
          </a:p>
        </p:txBody>
      </p:sp>
      <p:sp>
        <p:nvSpPr>
          <p:cNvPr id="23" name="Text 20"/>
          <p:cNvSpPr/>
          <p:nvPr/>
        </p:nvSpPr>
        <p:spPr>
          <a:xfrm>
            <a:off x="5504688" y="32552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hace click</a:t>
            </a:r>
            <a:endParaRPr lang="en-US" sz="760" dirty="0"/>
          </a:p>
        </p:txBody>
      </p:sp>
      <p:sp>
        <p:nvSpPr>
          <p:cNvPr id="24" name="Shape 21"/>
          <p:cNvSpPr/>
          <p:nvPr/>
        </p:nvSpPr>
        <p:spPr>
          <a:xfrm>
            <a:off x="6400800" y="3154680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01384" y="2871216"/>
            <a:ext cx="1014984" cy="786384"/>
          </a:xfrm>
          <a:prstGeom prst="roundRect">
            <a:avLst>
              <a:gd name="adj" fmla="val 465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01384" y="2871216"/>
            <a:ext cx="73152" cy="78638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647688" y="3017520"/>
            <a:ext cx="795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Evento</a:t>
            </a:r>
            <a:endParaRPr lang="en-US" sz="1040" dirty="0"/>
          </a:p>
        </p:txBody>
      </p:sp>
      <p:sp>
        <p:nvSpPr>
          <p:cNvPr id="28" name="Text 25"/>
          <p:cNvSpPr/>
          <p:nvPr/>
        </p:nvSpPr>
        <p:spPr>
          <a:xfrm>
            <a:off x="6629400" y="32552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</a:t>
            </a:r>
            <a:endParaRPr lang="en-US" sz="760" dirty="0"/>
          </a:p>
        </p:txBody>
      </p:sp>
      <p:sp>
        <p:nvSpPr>
          <p:cNvPr id="29" name="Shape 26"/>
          <p:cNvSpPr/>
          <p:nvPr/>
        </p:nvSpPr>
        <p:spPr>
          <a:xfrm>
            <a:off x="7525512" y="3154680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626096" y="2871216"/>
            <a:ext cx="1014984" cy="786384"/>
          </a:xfrm>
          <a:prstGeom prst="roundRect">
            <a:avLst>
              <a:gd name="adj" fmla="val 465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26096" y="2871216"/>
            <a:ext cx="73152" cy="786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0" y="3017520"/>
            <a:ext cx="795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Handler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7754112" y="32552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listener corre</a:t>
            </a:r>
            <a:endParaRPr lang="en-US" sz="760" dirty="0"/>
          </a:p>
        </p:txBody>
      </p:sp>
      <p:sp>
        <p:nvSpPr>
          <p:cNvPr id="34" name="Shape 31"/>
          <p:cNvSpPr/>
          <p:nvPr/>
        </p:nvSpPr>
        <p:spPr>
          <a:xfrm>
            <a:off x="8650224" y="3154680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50808" y="2871216"/>
            <a:ext cx="1014984" cy="786384"/>
          </a:xfrm>
          <a:prstGeom prst="roundRect">
            <a:avLst>
              <a:gd name="adj" fmla="val 4651"/>
            </a:avLst>
          </a:prstGeom>
          <a:solidFill>
            <a:srgbClr val="DCEFE2"/>
          </a:solidFill>
          <a:ln w="12700">
            <a:solidFill>
              <a:srgbClr val="DCEFE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750808" y="2871216"/>
            <a:ext cx="73152" cy="786384"/>
          </a:xfrm>
          <a:prstGeom prst="rect">
            <a:avLst/>
          </a:prstGeom>
          <a:solidFill>
            <a:srgbClr val="2F8D5A"/>
          </a:solidFill>
          <a:ln w="12700">
            <a:solidFill>
              <a:srgbClr val="2F8D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897112" y="3017520"/>
            <a:ext cx="795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040" dirty="0"/>
          </a:p>
        </p:txBody>
      </p:sp>
      <p:sp>
        <p:nvSpPr>
          <p:cNvPr id="38" name="Text 35"/>
          <p:cNvSpPr/>
          <p:nvPr/>
        </p:nvSpPr>
        <p:spPr>
          <a:xfrm>
            <a:off x="8878824" y="3255264"/>
            <a:ext cx="813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visible</a:t>
            </a:r>
            <a:endParaRPr lang="en-US" sz="760" dirty="0"/>
          </a:p>
        </p:txBody>
      </p:sp>
      <p:sp>
        <p:nvSpPr>
          <p:cNvPr id="39" name="Shape 36"/>
          <p:cNvSpPr/>
          <p:nvPr/>
        </p:nvSpPr>
        <p:spPr>
          <a:xfrm>
            <a:off x="5376672" y="3822192"/>
            <a:ext cx="4389120" cy="1499616"/>
          </a:xfrm>
          <a:prstGeom prst="roundRect">
            <a:avLst>
              <a:gd name="adj" fmla="val 2439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76672" y="3822192"/>
            <a:ext cx="4389120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468112" y="3904488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559552" y="3904488"/>
            <a:ext cx="45720" cy="4572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650992" y="3904488"/>
            <a:ext cx="45720" cy="45720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559552" y="4169664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Interfaz observada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559552" y="4425696"/>
            <a:ext cx="1492301" cy="310896"/>
          </a:xfrm>
          <a:prstGeom prst="roundRect">
            <a:avLst>
              <a:gd name="adj" fmla="val 882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632704" y="4526280"/>
            <a:ext cx="1345997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en boton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132320" y="4489704"/>
            <a:ext cx="201168" cy="18288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483450" y="4352544"/>
            <a:ext cx="1667866" cy="457200"/>
          </a:xfrm>
          <a:prstGeom prst="roundRect">
            <a:avLst>
              <a:gd name="adj" fmla="val 8000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574890" y="4517136"/>
            <a:ext cx="148498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en UI o consola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5559552" y="5084064"/>
            <a:ext cx="4023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accion del usuario activa una respuesta tecnica en el momento correcto</a:t>
            </a:r>
            <a:endParaRPr lang="en-US" sz="760" dirty="0"/>
          </a:p>
        </p:txBody>
      </p:sp>
      <p:sp>
        <p:nvSpPr>
          <p:cNvPr id="51" name="Text 48"/>
          <p:cNvSpPr/>
          <p:nvPr/>
        </p:nvSpPr>
        <p:spPr>
          <a:xfrm>
            <a:off x="5358384" y="5596128"/>
            <a:ext cx="4425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codigo deja de ser teorico cuando reacciona.</a:t>
            </a:r>
            <a:endParaRPr lang="en-US" sz="84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Primeros eventos utiles: click, input y submit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hace falta cubrir todo el navegador de una vez. Basta con entender algunos eventos frecuentes y para que sirven.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249424"/>
            <a:ext cx="2852928" cy="1060704"/>
          </a:xfrm>
          <a:prstGeom prst="roundRect">
            <a:avLst>
              <a:gd name="adj" fmla="val 344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377440"/>
            <a:ext cx="109728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35915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click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52144" y="2706624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usuario presiona un boton o un elemento interactivo.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4114800" y="2249424"/>
            <a:ext cx="2852928" cy="1060704"/>
          </a:xfrm>
          <a:prstGeom prst="roundRect">
            <a:avLst>
              <a:gd name="adj" fmla="val 344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06240" y="2377440"/>
            <a:ext cx="109728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70832" y="235915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370832" y="2706624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cambia el contenido de un campo mientras la persona escribe.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7333488" y="2249424"/>
            <a:ext cx="2852928" cy="1060704"/>
          </a:xfrm>
          <a:prstGeom prst="roundRect">
            <a:avLst>
              <a:gd name="adj" fmla="val 344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24928" y="2377440"/>
            <a:ext cx="109728" cy="8046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89520" y="235915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submit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7589520" y="2706624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un formulario intenta enviarse y el codigo puede reaccionar.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1024128" y="3694176"/>
            <a:ext cx="3858768" cy="1627632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24128" y="3694176"/>
            <a:ext cx="3858768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70432" y="3822192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316736" y="3822192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463040" y="3822192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591056" y="3794760"/>
            <a:ext cx="294436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737360" y="3831336"/>
            <a:ext cx="2651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https://demo.local/form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1225296" y="4187952"/>
            <a:ext cx="1225296" cy="292608"/>
          </a:xfrm>
          <a:prstGeom prst="roundRect">
            <a:avLst>
              <a:gd name="adj" fmla="val 937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426464" y="4270248"/>
            <a:ext cx="8229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Boton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2688336" y="4151376"/>
            <a:ext cx="1664208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926080" y="4261104"/>
            <a:ext cx="11887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 input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577840" y="3749040"/>
            <a:ext cx="4334256" cy="1408176"/>
          </a:xfrm>
          <a:prstGeom prst="roundRect">
            <a:avLst>
              <a:gd name="adj" fmla="val 194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50992" y="3858768"/>
            <a:ext cx="100584" cy="11887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33872" y="3877056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minima</a:t>
            </a:r>
            <a:endParaRPr lang="en-US" sz="1240" dirty="0"/>
          </a:p>
        </p:txBody>
      </p:sp>
      <p:sp>
        <p:nvSpPr>
          <p:cNvPr id="36" name="Text 33"/>
          <p:cNvSpPr/>
          <p:nvPr/>
        </p:nvSpPr>
        <p:spPr>
          <a:xfrm>
            <a:off x="5833872" y="4151376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sirve para reaccionar a una accion puntual; input para observar cambios mientras se escribe; submit para responder cuando un formulario intenta enviarse.</a:t>
            </a:r>
            <a:endParaRPr lang="en-US" sz="8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listener escucha un evento y dispara una respuesta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foco aqui no es memorizar DOM todavia, sino entender la secuencia general: elemento, evento y accion.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176272"/>
            <a:ext cx="4736592" cy="3584448"/>
          </a:xfrm>
          <a:prstGeom prst="roundRect">
            <a:avLst>
              <a:gd name="adj" fmla="val 102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286000"/>
            <a:ext cx="448056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359152"/>
            <a:ext cx="4261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 listener basico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8" y="2816352"/>
            <a:ext cx="4315968" cy="28346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833872" y="2340864"/>
            <a:ext cx="1225296" cy="2029968"/>
          </a:xfrm>
          <a:prstGeom prst="roundRect">
            <a:avLst>
              <a:gd name="adj" fmla="val 29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33872" y="2340864"/>
            <a:ext cx="73152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980176" y="246888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elemento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980176" y="2706624"/>
            <a:ext cx="969264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053328" y="2807208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boton</a:t>
            </a:r>
            <a:endParaRPr lang="en-US" sz="810" dirty="0"/>
          </a:p>
        </p:txBody>
      </p:sp>
      <p:sp>
        <p:nvSpPr>
          <p:cNvPr id="19" name="Text 15"/>
          <p:cNvSpPr/>
          <p:nvPr/>
        </p:nvSpPr>
        <p:spPr>
          <a:xfrm>
            <a:off x="5980176" y="3127248"/>
            <a:ext cx="96926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la referencia que luego recibe el evento.</a:t>
            </a:r>
            <a:endParaRPr lang="en-US" sz="760" dirty="0"/>
          </a:p>
        </p:txBody>
      </p:sp>
      <p:sp>
        <p:nvSpPr>
          <p:cNvPr id="20" name="Shape 16"/>
          <p:cNvSpPr/>
          <p:nvPr/>
        </p:nvSpPr>
        <p:spPr>
          <a:xfrm>
            <a:off x="7260336" y="2340864"/>
            <a:ext cx="1225296" cy="2029968"/>
          </a:xfrm>
          <a:prstGeom prst="roundRect">
            <a:avLst>
              <a:gd name="adj" fmla="val 298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260336" y="2340864"/>
            <a:ext cx="73152" cy="20299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406640" y="246888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evento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406640" y="2706624"/>
            <a:ext cx="969264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2807208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"click"</a:t>
            </a:r>
            <a:endParaRPr lang="en-US" sz="810" dirty="0"/>
          </a:p>
        </p:txBody>
      </p:sp>
      <p:sp>
        <p:nvSpPr>
          <p:cNvPr id="25" name="Text 21"/>
          <p:cNvSpPr/>
          <p:nvPr/>
        </p:nvSpPr>
        <p:spPr>
          <a:xfrm>
            <a:off x="7406640" y="3127248"/>
            <a:ext cx="96926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la accion que el navegador debe escuchar.</a:t>
            </a:r>
            <a:endParaRPr lang="en-US" sz="760" dirty="0"/>
          </a:p>
        </p:txBody>
      </p:sp>
      <p:sp>
        <p:nvSpPr>
          <p:cNvPr id="26" name="Shape 22"/>
          <p:cNvSpPr/>
          <p:nvPr/>
        </p:nvSpPr>
        <p:spPr>
          <a:xfrm>
            <a:off x="8686800" y="2340864"/>
            <a:ext cx="1225296" cy="2029968"/>
          </a:xfrm>
          <a:prstGeom prst="roundRect">
            <a:avLst>
              <a:gd name="adj" fmla="val 298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686800" y="2340864"/>
            <a:ext cx="73152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833104" y="246888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833104" y="2706624"/>
            <a:ext cx="969264" cy="310896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906256" y="2807208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console.log()</a:t>
            </a:r>
            <a:endParaRPr lang="en-US" sz="810" dirty="0"/>
          </a:p>
        </p:txBody>
      </p:sp>
      <p:sp>
        <p:nvSpPr>
          <p:cNvPr id="31" name="Text 27"/>
          <p:cNvSpPr/>
          <p:nvPr/>
        </p:nvSpPr>
        <p:spPr>
          <a:xfrm>
            <a:off x="8833104" y="3127248"/>
            <a:ext cx="96926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 cuando el evento ocurre de verdad.</a:t>
            </a:r>
            <a:endParaRPr lang="en-US" sz="760" dirty="0"/>
          </a:p>
        </p:txBody>
      </p:sp>
      <p:sp>
        <p:nvSpPr>
          <p:cNvPr id="32" name="Shape 28"/>
          <p:cNvSpPr/>
          <p:nvPr/>
        </p:nvSpPr>
        <p:spPr>
          <a:xfrm>
            <a:off x="5724144" y="4736592"/>
            <a:ext cx="4315968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925312" y="4901184"/>
            <a:ext cx="3913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Elemento -&gt; evento -&gt; respuesta</a:t>
            </a:r>
            <a:endParaRPr lang="en-US" sz="174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logica no solo importa por lo que hace, sino por cuando corre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evento conecta una accion del usuario con el momento exacto en que el codigo debe ejecutarse.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4443984" cy="1920240"/>
          </a:xfrm>
          <a:prstGeom prst="roundRect">
            <a:avLst>
              <a:gd name="adj" fmla="val 190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22576"/>
            <a:ext cx="418795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395728"/>
            <a:ext cx="3968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Misma logica, otro momento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889504"/>
            <a:ext cx="4023360" cy="117043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0" y="2212848"/>
            <a:ext cx="4572000" cy="3529584"/>
          </a:xfrm>
          <a:prstGeom prst="roundRect">
            <a:avLst>
              <a:gd name="adj" fmla="val 103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14416" y="2340864"/>
            <a:ext cx="4315968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724144" y="2414016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esa logica se dispara por una accion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687568" y="2834640"/>
            <a:ext cx="960120" cy="786384"/>
          </a:xfrm>
          <a:prstGeom prst="roundRect">
            <a:avLst>
              <a:gd name="adj" fmla="val 465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687568" y="2834640"/>
            <a:ext cx="73152" cy="786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833872" y="2980944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5815584" y="3218688"/>
            <a:ext cx="758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 dato</a:t>
            </a:r>
            <a:endParaRPr lang="en-US" sz="760" dirty="0"/>
          </a:p>
        </p:txBody>
      </p:sp>
      <p:sp>
        <p:nvSpPr>
          <p:cNvPr id="21" name="Shape 17"/>
          <p:cNvSpPr/>
          <p:nvPr/>
        </p:nvSpPr>
        <p:spPr>
          <a:xfrm>
            <a:off x="6656832" y="3118104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57416" y="2834640"/>
            <a:ext cx="960120" cy="786384"/>
          </a:xfrm>
          <a:prstGeom prst="roundRect">
            <a:avLst>
              <a:gd name="adj" fmla="val 465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57416" y="2834640"/>
            <a:ext cx="73152" cy="78638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903720" y="2980944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Evento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6885432" y="3218688"/>
            <a:ext cx="758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o submit</a:t>
            </a:r>
            <a:endParaRPr lang="en-US" sz="760" dirty="0"/>
          </a:p>
        </p:txBody>
      </p:sp>
      <p:sp>
        <p:nvSpPr>
          <p:cNvPr id="26" name="Shape 22"/>
          <p:cNvSpPr/>
          <p:nvPr/>
        </p:nvSpPr>
        <p:spPr>
          <a:xfrm>
            <a:off x="7726680" y="3118104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827264" y="2834640"/>
            <a:ext cx="960120" cy="786384"/>
          </a:xfrm>
          <a:prstGeom prst="roundRect">
            <a:avLst>
              <a:gd name="adj" fmla="val 465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827264" y="2834640"/>
            <a:ext cx="73152" cy="786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973568" y="2980944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Handler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7955280" y="3218688"/>
            <a:ext cx="758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 edad</a:t>
            </a:r>
            <a:endParaRPr lang="en-US" sz="760" dirty="0"/>
          </a:p>
        </p:txBody>
      </p:sp>
      <p:sp>
        <p:nvSpPr>
          <p:cNvPr id="31" name="Shape 27"/>
          <p:cNvSpPr/>
          <p:nvPr/>
        </p:nvSpPr>
        <p:spPr>
          <a:xfrm>
            <a:off x="8796528" y="3118104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897112" y="2834640"/>
            <a:ext cx="960120" cy="786384"/>
          </a:xfrm>
          <a:prstGeom prst="roundRect">
            <a:avLst>
              <a:gd name="adj" fmla="val 4651"/>
            </a:avLst>
          </a:prstGeom>
          <a:solidFill>
            <a:srgbClr val="DCEFE2"/>
          </a:solidFill>
          <a:ln w="12700">
            <a:solidFill>
              <a:srgbClr val="DCEFE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897112" y="2834640"/>
            <a:ext cx="73152" cy="786384"/>
          </a:xfrm>
          <a:prstGeom prst="rect">
            <a:avLst/>
          </a:prstGeom>
          <a:solidFill>
            <a:srgbClr val="2F8D5A"/>
          </a:solidFill>
          <a:ln w="12700">
            <a:solidFill>
              <a:srgbClr val="2F8D5A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9043416" y="2980944"/>
            <a:ext cx="7406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</a:t>
            </a:r>
            <a:endParaRPr lang="en-US" sz="1040" dirty="0"/>
          </a:p>
        </p:txBody>
      </p:sp>
      <p:sp>
        <p:nvSpPr>
          <p:cNvPr id="35" name="Text 31"/>
          <p:cNvSpPr/>
          <p:nvPr/>
        </p:nvSpPr>
        <p:spPr>
          <a:xfrm>
            <a:off x="9025128" y="3218688"/>
            <a:ext cx="758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o niega</a:t>
            </a:r>
            <a:endParaRPr lang="en-US" sz="760" dirty="0"/>
          </a:p>
        </p:txBody>
      </p:sp>
      <p:sp>
        <p:nvSpPr>
          <p:cNvPr id="36" name="Shape 32"/>
          <p:cNvSpPr/>
          <p:nvPr/>
        </p:nvSpPr>
        <p:spPr>
          <a:xfrm>
            <a:off x="5687568" y="3785616"/>
            <a:ext cx="4169664" cy="1517904"/>
          </a:xfrm>
          <a:prstGeom prst="roundRect">
            <a:avLst>
              <a:gd name="adj" fmla="val 2410"/>
            </a:avLst>
          </a:prstGeom>
          <a:solidFill>
            <a:srgbClr val="F8F3EC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687568" y="3785616"/>
            <a:ext cx="4169664" cy="219456"/>
          </a:xfrm>
          <a:prstGeom prst="roundRect">
            <a:avLst>
              <a:gd name="adj" fmla="val 125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779008" y="3867912"/>
            <a:ext cx="45720" cy="45720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870448" y="3867912"/>
            <a:ext cx="45720" cy="45720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961888" y="3867912"/>
            <a:ext cx="45720" cy="45720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870448" y="4133088"/>
            <a:ext cx="38039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interfaz ya no es fija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870448" y="4389120"/>
            <a:ext cx="1417686" cy="310896"/>
          </a:xfrm>
          <a:prstGeom prst="roundRect">
            <a:avLst>
              <a:gd name="adj" fmla="val 882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5943600" y="4489704"/>
            <a:ext cx="127138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Interaccion real</a:t>
            </a:r>
            <a:endParaRPr lang="en-US" sz="800" dirty="0"/>
          </a:p>
        </p:txBody>
      </p:sp>
      <p:sp>
        <p:nvSpPr>
          <p:cNvPr id="44" name="Shape 40"/>
          <p:cNvSpPr/>
          <p:nvPr/>
        </p:nvSpPr>
        <p:spPr>
          <a:xfrm>
            <a:off x="7355434" y="4453128"/>
            <a:ext cx="201168" cy="18288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689007" y="4315968"/>
            <a:ext cx="1584472" cy="457200"/>
          </a:xfrm>
          <a:prstGeom prst="roundRect">
            <a:avLst>
              <a:gd name="adj" fmla="val 8000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780447" y="4480560"/>
            <a:ext cx="1401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visible</a:t>
            </a:r>
            <a:endParaRPr lang="en-US" sz="800" dirty="0"/>
          </a:p>
        </p:txBody>
      </p:sp>
      <p:sp>
        <p:nvSpPr>
          <p:cNvPr id="47" name="Text 43"/>
          <p:cNvSpPr/>
          <p:nvPr/>
        </p:nvSpPr>
        <p:spPr>
          <a:xfrm>
            <a:off x="5870448" y="5065776"/>
            <a:ext cx="38039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misma condicion gana sentido cuando se ejecuta por una accion del usuario</a:t>
            </a:r>
            <a:endParaRPr lang="en-US" sz="760" dirty="0"/>
          </a:p>
        </p:txBody>
      </p:sp>
      <p:sp>
        <p:nvSpPr>
          <p:cNvPr id="48" name="Text 44"/>
          <p:cNvSpPr/>
          <p:nvPr/>
        </p:nvSpPr>
        <p:spPr>
          <a:xfrm>
            <a:off x="5669280" y="5577840"/>
            <a:ext cx="4206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interactividad define el momento de ejecucion.</a:t>
            </a:r>
            <a:endParaRPr lang="en-US" sz="84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interactividad inicial tambien se valida en navegador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eventos ya no basta con leer codigo: hay que interactuar, mirar consola y verificar si la respuesta coincide con la intencion.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249424"/>
            <a:ext cx="4187952" cy="1920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249424"/>
            <a:ext cx="4187952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78992" y="2377440"/>
            <a:ext cx="73152" cy="731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25296" y="2377440"/>
            <a:ext cx="73152" cy="731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71600" y="2377440"/>
            <a:ext cx="73152" cy="73152"/>
          </a:xfrm>
          <a:prstGeom prst="ellipse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99616" y="2350008"/>
            <a:ext cx="3273552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645920" y="2386584"/>
            <a:ext cx="2980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https://demo.local/registro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1133856" y="2743200"/>
            <a:ext cx="1408176" cy="329184"/>
          </a:xfrm>
          <a:prstGeom prst="roundRect">
            <a:avLst>
              <a:gd name="adj" fmla="val 11111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371600" y="2834640"/>
            <a:ext cx="9326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Enviar</a:t>
            </a:r>
            <a:endParaRPr lang="en-US" sz="820" dirty="0"/>
          </a:p>
        </p:txBody>
      </p:sp>
      <p:sp>
        <p:nvSpPr>
          <p:cNvPr id="19" name="Shape 16"/>
          <p:cNvSpPr/>
          <p:nvPr/>
        </p:nvSpPr>
        <p:spPr>
          <a:xfrm>
            <a:off x="2779776" y="2706624"/>
            <a:ext cx="1938528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054096" y="2816352"/>
            <a:ext cx="13898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campo input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5596128" y="2249424"/>
            <a:ext cx="4389120" cy="1920240"/>
          </a:xfrm>
          <a:prstGeom prst="roundRect">
            <a:avLst>
              <a:gd name="adj" fmla="val 190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450592"/>
            <a:ext cx="914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833872" y="281635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6071616" y="281635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A7E3A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"submit escuchado"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5833872" y="309067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26" name="Text 23"/>
          <p:cNvSpPr/>
          <p:nvPr/>
        </p:nvSpPr>
        <p:spPr>
          <a:xfrm>
            <a:off x="6071616" y="309067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F6E29A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"faltan datos"</a:t>
            </a:r>
            <a:endParaRPr lang="en-US" sz="920" dirty="0"/>
          </a:p>
        </p:txBody>
      </p:sp>
      <p:sp>
        <p:nvSpPr>
          <p:cNvPr id="27" name="Text 24"/>
          <p:cNvSpPr/>
          <p:nvPr/>
        </p:nvSpPr>
        <p:spPr>
          <a:xfrm>
            <a:off x="5833872" y="336499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820" dirty="0"/>
          </a:p>
        </p:txBody>
      </p:sp>
      <p:sp>
        <p:nvSpPr>
          <p:cNvPr id="28" name="Text 25"/>
          <p:cNvSpPr/>
          <p:nvPr/>
        </p:nvSpPr>
        <p:spPr>
          <a:xfrm>
            <a:off x="6071616" y="336499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89D1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"flujo validado"</a:t>
            </a:r>
            <a:endParaRPr lang="en-US" sz="920" dirty="0"/>
          </a:p>
        </p:txBody>
      </p:sp>
      <p:sp>
        <p:nvSpPr>
          <p:cNvPr id="29" name="Shape 26"/>
          <p:cNvSpPr/>
          <p:nvPr/>
        </p:nvSpPr>
        <p:spPr>
          <a:xfrm>
            <a:off x="1078992" y="466344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152144" y="4773168"/>
            <a:ext cx="100584" cy="4754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335024" y="479145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Escribir</a:t>
            </a:r>
            <a:endParaRPr lang="en-US" sz="1140" dirty="0"/>
          </a:p>
        </p:txBody>
      </p:sp>
      <p:sp>
        <p:nvSpPr>
          <p:cNvPr id="32" name="Text 29"/>
          <p:cNvSpPr/>
          <p:nvPr/>
        </p:nvSpPr>
        <p:spPr>
          <a:xfrm>
            <a:off x="1335024" y="50657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listener y la respuesta esperada.</a:t>
            </a:r>
            <a:endParaRPr lang="en-US" sz="810" dirty="0"/>
          </a:p>
        </p:txBody>
      </p:sp>
      <p:sp>
        <p:nvSpPr>
          <p:cNvPr id="33" name="Shape 30"/>
          <p:cNvSpPr/>
          <p:nvPr/>
        </p:nvSpPr>
        <p:spPr>
          <a:xfrm>
            <a:off x="3310128" y="490118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47872" y="466344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621024" y="4773168"/>
            <a:ext cx="100584" cy="4754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803904" y="479145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Ejecutar</a:t>
            </a:r>
            <a:endParaRPr lang="en-US" sz="1140" dirty="0"/>
          </a:p>
        </p:txBody>
      </p:sp>
      <p:sp>
        <p:nvSpPr>
          <p:cNvPr id="37" name="Text 34"/>
          <p:cNvSpPr/>
          <p:nvPr/>
        </p:nvSpPr>
        <p:spPr>
          <a:xfrm>
            <a:off x="3803904" y="50657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la pagina y provocar el evento.</a:t>
            </a:r>
            <a:endParaRPr lang="en-US" sz="810" dirty="0"/>
          </a:p>
        </p:txBody>
      </p:sp>
      <p:sp>
        <p:nvSpPr>
          <p:cNvPr id="38" name="Shape 35"/>
          <p:cNvSpPr/>
          <p:nvPr/>
        </p:nvSpPr>
        <p:spPr>
          <a:xfrm>
            <a:off x="5779008" y="490118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16752" y="466344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089904" y="4773168"/>
            <a:ext cx="100584" cy="4754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272784" y="479145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</a:t>
            </a:r>
            <a:endParaRPr lang="en-US" sz="1140" dirty="0"/>
          </a:p>
        </p:txBody>
      </p:sp>
      <p:sp>
        <p:nvSpPr>
          <p:cNvPr id="42" name="Text 39"/>
          <p:cNvSpPr/>
          <p:nvPr/>
        </p:nvSpPr>
        <p:spPr>
          <a:xfrm>
            <a:off x="6272784" y="50657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consola y respuesta visible.</a:t>
            </a:r>
            <a:endParaRPr lang="en-US" sz="810" dirty="0"/>
          </a:p>
        </p:txBody>
      </p:sp>
      <p:sp>
        <p:nvSpPr>
          <p:cNvPr id="43" name="Shape 40"/>
          <p:cNvSpPr/>
          <p:nvPr/>
        </p:nvSpPr>
        <p:spPr>
          <a:xfrm>
            <a:off x="8247888" y="4901184"/>
            <a:ext cx="164592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485632" y="4663440"/>
            <a:ext cx="2121408" cy="694944"/>
          </a:xfrm>
          <a:prstGeom prst="roundRect">
            <a:avLst>
              <a:gd name="adj" fmla="val 39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558784" y="4773168"/>
            <a:ext cx="100584" cy="4754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741664" y="4791456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Ajustar</a:t>
            </a:r>
            <a:endParaRPr lang="en-US" sz="1140" dirty="0"/>
          </a:p>
        </p:txBody>
      </p:sp>
      <p:sp>
        <p:nvSpPr>
          <p:cNvPr id="47" name="Text 44"/>
          <p:cNvSpPr/>
          <p:nvPr/>
        </p:nvSpPr>
        <p:spPr>
          <a:xfrm>
            <a:off x="8741664" y="50657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comportamiento no coincide.</a:t>
            </a:r>
            <a:endParaRPr lang="en-US" sz="81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comun: aceptar una interaccion que no entiendes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eventos aparecen problemas nuevos: elegir mal el evento, ejecutar varias veces o dar por bueno un comportamiento que no era el esperado.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96112" y="2249424"/>
            <a:ext cx="2907792" cy="1060704"/>
          </a:xfrm>
          <a:prstGeom prst="roundRect">
            <a:avLst>
              <a:gd name="adj" fmla="val 344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377440"/>
            <a:ext cx="109728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3591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Evento incorrecto</a:t>
            </a:r>
            <a:endParaRPr lang="en-US" sz="1640" dirty="0"/>
          </a:p>
        </p:txBody>
      </p:sp>
      <p:sp>
        <p:nvSpPr>
          <p:cNvPr id="13" name="Text 10"/>
          <p:cNvSpPr/>
          <p:nvPr/>
        </p:nvSpPr>
        <p:spPr>
          <a:xfrm>
            <a:off x="1152144" y="270662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codigo escucha otra accion y la respuesta no ocurre cuando deberia.</a:t>
            </a:r>
            <a:endParaRPr lang="en-US" sz="910" dirty="0"/>
          </a:p>
        </p:txBody>
      </p:sp>
      <p:sp>
        <p:nvSpPr>
          <p:cNvPr id="14" name="Shape 11"/>
          <p:cNvSpPr/>
          <p:nvPr/>
        </p:nvSpPr>
        <p:spPr>
          <a:xfrm>
            <a:off x="4096512" y="2249424"/>
            <a:ext cx="2907792" cy="1060704"/>
          </a:xfrm>
          <a:prstGeom prst="roundRect">
            <a:avLst>
              <a:gd name="adj" fmla="val 344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87952" y="2377440"/>
            <a:ext cx="109728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2544" y="23591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Varias ejecuciones</a:t>
            </a:r>
            <a:endParaRPr lang="en-US" sz="1640" dirty="0"/>
          </a:p>
        </p:txBody>
      </p:sp>
      <p:sp>
        <p:nvSpPr>
          <p:cNvPr id="17" name="Text 14"/>
          <p:cNvSpPr/>
          <p:nvPr/>
        </p:nvSpPr>
        <p:spPr>
          <a:xfrm>
            <a:off x="4352544" y="270662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accion se dispara mas de una vez y la interfaz ya no coincide con la intencion.</a:t>
            </a:r>
            <a:endParaRPr lang="en-US" sz="910" dirty="0"/>
          </a:p>
        </p:txBody>
      </p:sp>
      <p:sp>
        <p:nvSpPr>
          <p:cNvPr id="18" name="Shape 15"/>
          <p:cNvSpPr/>
          <p:nvPr/>
        </p:nvSpPr>
        <p:spPr>
          <a:xfrm>
            <a:off x="7296912" y="2249424"/>
            <a:ext cx="2907792" cy="1060704"/>
          </a:xfrm>
          <a:prstGeom prst="roundRect">
            <a:avLst>
              <a:gd name="adj" fmla="val 344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88352" y="2377440"/>
            <a:ext cx="109728" cy="8046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52944" y="23591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Explicacion vacia</a:t>
            </a:r>
            <a:endParaRPr lang="en-US" sz="1640" dirty="0"/>
          </a:p>
        </p:txBody>
      </p:sp>
      <p:sp>
        <p:nvSpPr>
          <p:cNvPr id="21" name="Text 18"/>
          <p:cNvSpPr/>
          <p:nvPr/>
        </p:nvSpPr>
        <p:spPr>
          <a:xfrm>
            <a:off x="7552944" y="2706624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codigo parece correcto, pero nadie verifico si la respuesta era realmente la esperada.</a:t>
            </a:r>
            <a:endParaRPr lang="en-US" sz="910" dirty="0"/>
          </a:p>
        </p:txBody>
      </p:sp>
      <p:sp>
        <p:nvSpPr>
          <p:cNvPr id="22" name="Shape 19"/>
          <p:cNvSpPr/>
          <p:nvPr/>
        </p:nvSpPr>
        <p:spPr>
          <a:xfrm>
            <a:off x="1042416" y="3822192"/>
            <a:ext cx="8961120" cy="1060704"/>
          </a:xfrm>
          <a:prstGeom prst="roundRect">
            <a:avLst>
              <a:gd name="adj" fmla="val 258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15568" y="3931920"/>
            <a:ext cx="100584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98448" y="3950208"/>
            <a:ext cx="8631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util</a:t>
            </a:r>
            <a:endParaRPr lang="en-US" sz="1280" dirty="0"/>
          </a:p>
        </p:txBody>
      </p:sp>
      <p:sp>
        <p:nvSpPr>
          <p:cNvPr id="25" name="Text 22"/>
          <p:cNvSpPr/>
          <p:nvPr/>
        </p:nvSpPr>
        <p:spPr>
          <a:xfrm>
            <a:off x="1298448" y="4224528"/>
            <a:ext cx="8631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eventos no basta con que el codigo se vea ordenado. Hay que preguntar: se ejecuto cuando correspondia, una sola vez y con la respuesta correcta?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847088" y="5138928"/>
            <a:ext cx="7223760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048256" y="5303520"/>
            <a:ext cx="6821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evidencia esta en la interaccion real, no solo en el snippet.</a:t>
            </a:r>
            <a:endParaRPr lang="en-US" sz="168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puede proponer listeners; tu debes validar la interaccion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 el apoyo sirve mucho para una primera version, pero no reemplaza navegador, consola ni prueba directa del comportamiento.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2139696"/>
            <a:ext cx="9015984" cy="3401568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267712"/>
            <a:ext cx="875995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40864"/>
            <a:ext cx="8540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puede acelerar un agente y que no conviene delegar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78992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88720" y="2834640"/>
            <a:ext cx="109728" cy="21214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89888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Puede ayudar con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389888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esqueleto inicial y ejemplos pequenos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389888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481328" y="3570732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un listener basico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89888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81328" y="397306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627632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que hace addEventListener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389888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81328" y="43754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627632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sugerir un click o submit inicial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389888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481328" y="4777740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27632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simplificar una primera interaccion corta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706624"/>
            <a:ext cx="3502152" cy="237744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9944" y="2834640"/>
            <a:ext cx="109728" cy="21214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11112" y="283464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conviene delegar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11112" y="31089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 del evento y validacion real</a:t>
            </a:r>
            <a:endParaRPr lang="en-US" sz="940" dirty="0"/>
          </a:p>
        </p:txBody>
      </p:sp>
      <p:sp>
        <p:nvSpPr>
          <p:cNvPr id="33" name="Shape 30"/>
          <p:cNvSpPr/>
          <p:nvPr/>
        </p:nvSpPr>
        <p:spPr>
          <a:xfrm>
            <a:off x="6611112" y="3456432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02552" y="3570732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48856" y="3502152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asumir que el evento elegido era el correcto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11112" y="3858768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02552" y="397306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848856" y="3904488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creer que corre en el momento esperado sin probarlo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611112" y="4261104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02552" y="43754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48856" y="4306824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aceptar la explicacion sin interactuar con la pagina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611112" y="4663440"/>
            <a:ext cx="304495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702552" y="4777740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848856" y="470916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ignorar consola y respuesta visible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837176" y="3081528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46904" y="3227832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20056" y="3648456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001768" y="327355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</a:t>
            </a:r>
            <a:endParaRPr lang="en-US" sz="1060" dirty="0"/>
          </a:p>
        </p:txBody>
      </p:sp>
      <p:sp>
        <p:nvSpPr>
          <p:cNvPr id="49" name="Text 46"/>
          <p:cNvSpPr/>
          <p:nvPr/>
        </p:nvSpPr>
        <p:spPr>
          <a:xfrm>
            <a:off x="4965192" y="4059936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la accion, probarla y ajustar con criterio sigue siendo obligatorio.</a:t>
            </a:r>
            <a:endParaRPr lang="en-US" sz="720" dirty="0"/>
          </a:p>
        </p:txBody>
      </p:sp>
      <p:sp>
        <p:nvSpPr>
          <p:cNvPr id="50" name="Shape 47"/>
          <p:cNvSpPr/>
          <p:nvPr/>
        </p:nvSpPr>
        <p:spPr>
          <a:xfrm>
            <a:off x="1133856" y="5138928"/>
            <a:ext cx="8613648" cy="219456"/>
          </a:xfrm>
          <a:prstGeom prst="roundRect">
            <a:avLst>
              <a:gd name="adj" fmla="val 1250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243584" y="5184648"/>
            <a:ext cx="83941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-&gt; bosquejar -&gt; probar -&gt; validar.</a:t>
            </a:r>
            <a:endParaRPr lang="en-US" sz="88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cerrar el bloque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del cierre general, conviene fijar como se conecta la logica con una accion real del usuario.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231136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359152"/>
            <a:ext cx="109728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34086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¿Que convierte a una pagina en una interfaz mas interactiva y no solo estatica?</a:t>
            </a:r>
            <a:endParaRPr lang="en-US" sz="1360" dirty="0"/>
          </a:p>
        </p:txBody>
      </p:sp>
      <p:sp>
        <p:nvSpPr>
          <p:cNvPr id="13" name="Text 10"/>
          <p:cNvSpPr/>
          <p:nvPr/>
        </p:nvSpPr>
        <p:spPr>
          <a:xfrm>
            <a:off x="1170432" y="2688336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deberia mencionar escucha de eventos y respuesta observable.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0" y="2231136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359152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340864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¿Que diferencia existe entre escribir una funcion y decidir cuando debe ejecutarse?</a:t>
            </a:r>
            <a:endParaRPr lang="en-US" sz="1360" dirty="0"/>
          </a:p>
        </p:txBody>
      </p:sp>
      <p:sp>
        <p:nvSpPr>
          <p:cNvPr id="17" name="Text 14"/>
          <p:cNvSpPr/>
          <p:nvPr/>
        </p:nvSpPr>
        <p:spPr>
          <a:xfrm>
            <a:off x="5742432" y="2688336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cosa define la logica; la otra la conecta con una accion o momento concreto.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14400" y="3675888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803904"/>
            <a:ext cx="109728" cy="82296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78561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¿Por que click, input y submit son buenos primeros eventos para aprender?</a:t>
            </a:r>
            <a:endParaRPr lang="en-US" sz="1360" dirty="0"/>
          </a:p>
        </p:txBody>
      </p:sp>
      <p:sp>
        <p:nvSpPr>
          <p:cNvPr id="21" name="Text 18"/>
          <p:cNvSpPr/>
          <p:nvPr/>
        </p:nvSpPr>
        <p:spPr>
          <a:xfrm>
            <a:off x="1170432" y="4133088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aparecen mucho en interfaces reales y permiten entender interaccion rapidamente.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486400" y="3675888"/>
            <a:ext cx="4407408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803904"/>
            <a:ext cx="10972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42432" y="378561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¿Por que la validacion de eventos requiere navegador y no solo lectura de codigo?</a:t>
            </a:r>
            <a:endParaRPr lang="en-US" sz="1360" dirty="0"/>
          </a:p>
        </p:txBody>
      </p:sp>
      <p:sp>
        <p:nvSpPr>
          <p:cNvPr id="25" name="Text 22"/>
          <p:cNvSpPr/>
          <p:nvPr/>
        </p:nvSpPr>
        <p:spPr>
          <a:xfrm>
            <a:off x="5742432" y="4133088"/>
            <a:ext cx="4059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Porque importa si la accion ocurre en el momento correcto y con la respuesta esperada.</a:t>
            </a:r>
            <a:endParaRPr lang="en-US" sz="88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 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este bloque la clase ya deja instalada la entrada a la interactividad. El miercoles conectaremos eventos con DOM y lectura de datos.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322576"/>
            <a:ext cx="4352544" cy="1389888"/>
          </a:xfrm>
          <a:prstGeom prst="roundRect">
            <a:avLst>
              <a:gd name="adj" fmla="val 263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487168"/>
            <a:ext cx="395020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eventos conectan la logica con acciones reales del usuario.</a:t>
            </a:r>
            <a:endParaRPr lang="en-US" sz="2040" dirty="0"/>
          </a:p>
        </p:txBody>
      </p:sp>
      <p:sp>
        <p:nvSpPr>
          <p:cNvPr id="12" name="Shape 9"/>
          <p:cNvSpPr/>
          <p:nvPr/>
        </p:nvSpPr>
        <p:spPr>
          <a:xfrm>
            <a:off x="1078992" y="4096512"/>
            <a:ext cx="3840480" cy="987552"/>
          </a:xfrm>
          <a:prstGeom prst="roundRect">
            <a:avLst>
              <a:gd name="adj" fmla="val 27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" y="4206240"/>
            <a:ext cx="100584" cy="768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35024" y="4224528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sigue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1335024" y="4498848"/>
            <a:ext cx="35112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miercoles veremos DOM, lectura de elementos y consumo simple de datos con fetch.</a:t>
            </a:r>
            <a:endParaRPr lang="en-US" sz="860" dirty="0"/>
          </a:p>
        </p:txBody>
      </p:sp>
      <p:sp>
        <p:nvSpPr>
          <p:cNvPr id="16" name="Shape 13"/>
          <p:cNvSpPr/>
          <p:nvPr/>
        </p:nvSpPr>
        <p:spPr>
          <a:xfrm>
            <a:off x="5486400" y="2377440"/>
            <a:ext cx="4517136" cy="841248"/>
          </a:xfrm>
          <a:prstGeom prst="roundRect">
            <a:avLst>
              <a:gd name="adj" fmla="val 326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559552" y="2487168"/>
            <a:ext cx="100584" cy="6217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42432" y="2505456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Cadena del martes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742432" y="2779776"/>
            <a:ext cx="4187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-&gt; operaciones -&gt; funciones -&gt; condiciones -&gt; eventos -&gt; interactividad</a:t>
            </a:r>
            <a:endParaRPr lang="en-US" sz="840" dirty="0"/>
          </a:p>
        </p:txBody>
      </p:sp>
      <p:sp>
        <p:nvSpPr>
          <p:cNvPr id="20" name="Shape 17"/>
          <p:cNvSpPr/>
          <p:nvPr/>
        </p:nvSpPr>
        <p:spPr>
          <a:xfrm>
            <a:off x="5486400" y="3401568"/>
            <a:ext cx="4517136" cy="841248"/>
          </a:xfrm>
          <a:prstGeom prst="roundRect">
            <a:avLst>
              <a:gd name="adj" fmla="val 326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59552" y="3511296"/>
            <a:ext cx="100584" cy="6217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42432" y="3529584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metodologica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742432" y="3803904"/>
            <a:ext cx="4187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agente puede acelerar ejemplos iniciales, pero el criterio sigue estando en ejecutar, leer y validar.</a:t>
            </a:r>
            <a:endParaRPr lang="en-US" sz="840" dirty="0"/>
          </a:p>
        </p:txBody>
      </p:sp>
      <p:sp>
        <p:nvSpPr>
          <p:cNvPr id="24" name="Shape 21"/>
          <p:cNvSpPr/>
          <p:nvPr/>
        </p:nvSpPr>
        <p:spPr>
          <a:xfrm>
            <a:off x="5486400" y="4425696"/>
            <a:ext cx="4517136" cy="841248"/>
          </a:xfrm>
          <a:prstGeom prst="roundRect">
            <a:avLst>
              <a:gd name="adj" fmla="val 32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59552" y="4535424"/>
            <a:ext cx="100584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42432" y="4553712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 al miercoles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742432" y="4828032"/>
            <a:ext cx="4187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no miraremos solo codigo. Empezaremos a tocar elementos reales del DOM y a traer datos externos.</a:t>
            </a:r>
            <a:endParaRPr lang="en-US" sz="84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evento activa una cadena completa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nombrar click o submit. Lo importante es entender que paso dispara la logica y donde se ve la respuesta.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20240"/>
            <a:ext cx="9180576" cy="3163824"/>
          </a:xfrm>
          <a:prstGeom prst="roundRect">
            <a:avLst>
              <a:gd name="adj" fmla="val 11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121408"/>
            <a:ext cx="2194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Cadena de reaccion basica</a:t>
            </a:r>
            <a:endParaRPr lang="en-US" sz="1240" dirty="0"/>
          </a:p>
        </p:txBody>
      </p:sp>
      <p:sp>
        <p:nvSpPr>
          <p:cNvPr id="12" name="Shape 9"/>
          <p:cNvSpPr/>
          <p:nvPr/>
        </p:nvSpPr>
        <p:spPr>
          <a:xfrm>
            <a:off x="1133856" y="2615184"/>
            <a:ext cx="1773936" cy="896112"/>
          </a:xfrm>
          <a:prstGeom prst="roundRect">
            <a:avLst>
              <a:gd name="adj" fmla="val 30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07008" y="2724912"/>
            <a:ext cx="100584" cy="6766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89888" y="274320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Accion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89888" y="3017520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 en boton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2999232" y="2926080"/>
            <a:ext cx="164592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01568" y="2615184"/>
            <a:ext cx="1773936" cy="896112"/>
          </a:xfrm>
          <a:prstGeom prst="roundRect">
            <a:avLst>
              <a:gd name="adj" fmla="val 306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474720" y="2724912"/>
            <a:ext cx="100584" cy="6766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57600" y="274320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Evento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657600" y="3017520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66944" y="2926080"/>
            <a:ext cx="164592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0" y="2615184"/>
            <a:ext cx="1773936" cy="896112"/>
          </a:xfrm>
          <a:prstGeom prst="roundRect">
            <a:avLst>
              <a:gd name="adj" fmla="val 306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742432" y="2724912"/>
            <a:ext cx="100584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25312" y="274320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Handler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925312" y="3017520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la funcion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534656" y="2926080"/>
            <a:ext cx="164592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936992" y="2615184"/>
            <a:ext cx="1773936" cy="896112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10144" y="2724912"/>
            <a:ext cx="100584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93024" y="274320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Respuesta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193024" y="3017520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o cambio visible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133856" y="3877056"/>
            <a:ext cx="8668512" cy="749808"/>
          </a:xfrm>
          <a:prstGeom prst="roundRect">
            <a:avLst>
              <a:gd name="adj" fmla="val 487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353312" y="4114800"/>
            <a:ext cx="1463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Interfaz observada</a:t>
            </a:r>
            <a:endParaRPr lang="en-US" sz="1180" dirty="0"/>
          </a:p>
        </p:txBody>
      </p:sp>
      <p:sp>
        <p:nvSpPr>
          <p:cNvPr id="33" name="Shape 30"/>
          <p:cNvSpPr/>
          <p:nvPr/>
        </p:nvSpPr>
        <p:spPr>
          <a:xfrm>
            <a:off x="2962656" y="4041648"/>
            <a:ext cx="2505456" cy="256032"/>
          </a:xfrm>
          <a:prstGeom prst="roundRect">
            <a:avLst>
              <a:gd name="adj" fmla="val 1428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14416" y="4041648"/>
            <a:ext cx="3401568" cy="256032"/>
          </a:xfrm>
          <a:prstGeom prst="roundRect">
            <a:avLst>
              <a:gd name="adj" fmla="val 1428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383280" y="4119372"/>
            <a:ext cx="1554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 en boton</a:t>
            </a:r>
            <a:endParaRPr lang="en-US" sz="810" dirty="0"/>
          </a:p>
        </p:txBody>
      </p:sp>
      <p:sp>
        <p:nvSpPr>
          <p:cNvPr id="36" name="Text 33"/>
          <p:cNvSpPr/>
          <p:nvPr/>
        </p:nvSpPr>
        <p:spPr>
          <a:xfrm>
            <a:off x="6345936" y="4119372"/>
            <a:ext cx="20299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en consola o UI</a:t>
            </a:r>
            <a:endParaRPr lang="en-US" sz="810" dirty="0"/>
          </a:p>
        </p:txBody>
      </p:sp>
      <p:sp>
        <p:nvSpPr>
          <p:cNvPr id="37" name="Shape 34"/>
          <p:cNvSpPr/>
          <p:nvPr/>
        </p:nvSpPr>
        <p:spPr>
          <a:xfrm>
            <a:off x="1133856" y="4736592"/>
            <a:ext cx="8668512" cy="347472"/>
          </a:xfrm>
          <a:prstGeom prst="roundRect">
            <a:avLst>
              <a:gd name="adj" fmla="val 1052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335024" y="4846320"/>
            <a:ext cx="8229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correcta: no pienses solo en la funcion. Piensa en que la activa, cuando corre y que evidencia deja.</a:t>
            </a:r>
            <a:endParaRPr lang="en-US" sz="10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Elegir bien el evento cambia el resultado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Click, input y submit no son intercambiables. Cada uno encaja mejor con cierto tipo de accion del usuario.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029968"/>
            <a:ext cx="2852928" cy="2633472"/>
          </a:xfrm>
          <a:prstGeom prst="roundRect">
            <a:avLst>
              <a:gd name="adj" fmla="val 138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157984"/>
            <a:ext cx="109728" cy="2377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139696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click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70432" y="2487168"/>
            <a:ext cx="250545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cuando una persona activa algo de forma puntual.</a:t>
            </a:r>
            <a:endParaRPr lang="en-US" sz="880" dirty="0"/>
          </a:p>
          <a:p>
            <a:pPr algn="l" indent="0" marL="0">
              <a:buNone/>
            </a:pP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Buen uso: botones, menus, acciones visibles.</a:t>
            </a:r>
            <a:endParaRPr lang="en-US" sz="880" dirty="0"/>
          </a:p>
          <a:p>
            <a:pPr algn="l" indent="0" marL="0">
              <a:buNone/>
            </a:pP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usarlo para todo y terminar con interacciones poco claras.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078224" y="2029968"/>
            <a:ext cx="2852928" cy="2633472"/>
          </a:xfrm>
          <a:prstGeom prst="roundRect">
            <a:avLst>
              <a:gd name="adj" fmla="val 1389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69664" y="2157984"/>
            <a:ext cx="109728" cy="23774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34256" y="2139696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334256" y="2487168"/>
            <a:ext cx="250545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cuando quieres reaccionar mientras el valor cambia.</a:t>
            </a:r>
            <a:endParaRPr lang="en-US" sz="880" dirty="0"/>
          </a:p>
          <a:p>
            <a:pPr algn="l" indent="0" marL="0">
              <a:buNone/>
            </a:pP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Buen uso: campos, filtros, busqueda.</a:t>
            </a:r>
            <a:endParaRPr lang="en-US" sz="880" dirty="0"/>
          </a:p>
          <a:p>
            <a:pPr algn="l" indent="0" marL="0">
              <a:buNone/>
            </a:pP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disparar demasiada logica sin revisar el ritmo.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7242048" y="2029968"/>
            <a:ext cx="2852928" cy="2633472"/>
          </a:xfrm>
          <a:prstGeom prst="roundRect">
            <a:avLst>
              <a:gd name="adj" fmla="val 138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33488" y="2157984"/>
            <a:ext cx="109728" cy="23774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0" y="2139696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submit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98080" y="2487168"/>
            <a:ext cx="250545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cuando una accion cierra el envio de un formulario.</a:t>
            </a:r>
            <a:endParaRPr lang="en-US" sz="880" dirty="0"/>
          </a:p>
          <a:p>
            <a:pPr algn="l" indent="0" marL="0">
              <a:buNone/>
            </a:pP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Buen uso: contacto, login, busqueda formal.</a:t>
            </a:r>
            <a:endParaRPr lang="en-US" sz="880" dirty="0"/>
          </a:p>
          <a:p>
            <a:pPr algn="l" indent="0" marL="0">
              <a:buNone/>
            </a:pP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tratarlo como click y olvidar su contexto de formulario.</a:t>
            </a:r>
            <a:endParaRPr lang="en-US" sz="88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un evento no responde, revisa esto primero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depuracion inicial no parte adivinando. Parte comprobando puntos concretos de la cadena de interaccion.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75104"/>
            <a:ext cx="4590288" cy="3035808"/>
          </a:xfrm>
          <a:prstGeom prst="roundRect">
            <a:avLst>
              <a:gd name="adj" fmla="val 120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139696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 rapido</a:t>
            </a:r>
            <a:endParaRPr lang="en-US" sz="1280" dirty="0"/>
          </a:p>
        </p:txBody>
      </p:sp>
      <p:sp>
        <p:nvSpPr>
          <p:cNvPr id="12" name="Text 9"/>
          <p:cNvSpPr/>
          <p:nvPr/>
        </p:nvSpPr>
        <p:spPr>
          <a:xfrm>
            <a:off x="1133856" y="2596896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</a:t>
            </a:r>
            <a:endParaRPr lang="en-US" sz="820" dirty="0"/>
          </a:p>
        </p:txBody>
      </p:sp>
      <p:sp>
        <p:nvSpPr>
          <p:cNvPr id="13" name="Text 10"/>
          <p:cNvSpPr/>
          <p:nvPr/>
        </p:nvSpPr>
        <p:spPr>
          <a:xfrm>
            <a:off x="1371600" y="2596896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El elemento correcto existe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1133856" y="2852928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</a:t>
            </a:r>
            <a:endParaRPr lang="en-US" sz="820" dirty="0"/>
          </a:p>
        </p:txBody>
      </p:sp>
      <p:sp>
        <p:nvSpPr>
          <p:cNvPr id="15" name="Text 12"/>
          <p:cNvSpPr/>
          <p:nvPr/>
        </p:nvSpPr>
        <p:spPr>
          <a:xfrm>
            <a:off x="1371600" y="285292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El listener quedo conectado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1133856" y="3108960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371600" y="3108960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El evento elegido era el adecuado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1133856" y="336499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1371600" y="336499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DCE6F2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La funcion si se ejecuta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1133856" y="3621024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7B8FA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</a:t>
            </a:r>
            <a:endParaRPr lang="en-US" sz="820" dirty="0"/>
          </a:p>
        </p:txBody>
      </p:sp>
      <p:sp>
        <p:nvSpPr>
          <p:cNvPr id="21" name="Text 18"/>
          <p:cNvSpPr/>
          <p:nvPr/>
        </p:nvSpPr>
        <p:spPr>
          <a:xfrm>
            <a:off x="1371600" y="3621024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2D26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La respuesta visible aparece donde esperas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115568" y="4297680"/>
            <a:ext cx="3913632" cy="347472"/>
          </a:xfrm>
          <a:prstGeom prst="roundRect">
            <a:avLst>
              <a:gd name="adj" fmla="val 789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88720" y="4407408"/>
            <a:ext cx="100584" cy="1280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371600" y="4425696"/>
            <a:ext cx="3584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650992" y="1993392"/>
            <a:ext cx="4315968" cy="950976"/>
          </a:xfrm>
          <a:prstGeom prst="roundRect">
            <a:avLst>
              <a:gd name="adj" fmla="val 384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742432" y="2121408"/>
            <a:ext cx="109728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07024" y="2103120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1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907024" y="2450592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accion del usuario realmente ocurre sobre el elemento correcto?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5650992" y="3145536"/>
            <a:ext cx="4315968" cy="950976"/>
          </a:xfrm>
          <a:prstGeom prst="roundRect">
            <a:avLst>
              <a:gd name="adj" fmla="val 384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742432" y="3273552"/>
            <a:ext cx="109728" cy="6949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07024" y="3255264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2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907024" y="3602736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navegador muestra evidencia de ejecucion en consola o en la interfaz?</a:t>
            </a:r>
            <a:endParaRPr lang="en-US" sz="880" dirty="0"/>
          </a:p>
        </p:txBody>
      </p:sp>
      <p:sp>
        <p:nvSpPr>
          <p:cNvPr id="33" name="Shape 30"/>
          <p:cNvSpPr/>
          <p:nvPr/>
        </p:nvSpPr>
        <p:spPr>
          <a:xfrm>
            <a:off x="5650992" y="4297680"/>
            <a:ext cx="4315968" cy="713232"/>
          </a:xfrm>
          <a:prstGeom prst="roundRect">
            <a:avLst>
              <a:gd name="adj" fmla="val 512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42432" y="4425696"/>
            <a:ext cx="109728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907024" y="4407408"/>
            <a:ext cx="3968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3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5907024" y="4754880"/>
            <a:ext cx="39684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problema es de evento, de logica o de resultado visible?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Interaccion clara versus interaccion fragil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que algo pase. Importa si la respuesta tiene sentido para quien usa la pagina.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4407408" cy="2688336"/>
          </a:xfrm>
          <a:prstGeom prst="roundRect">
            <a:avLst>
              <a:gd name="adj" fmla="val 136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121408"/>
            <a:ext cx="109728" cy="2432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10312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Interaccion clara</a:t>
            </a:r>
            <a:endParaRPr lang="en-US" sz="1520" dirty="0"/>
          </a:p>
        </p:txBody>
      </p:sp>
      <p:sp>
        <p:nvSpPr>
          <p:cNvPr id="13" name="Text 10"/>
          <p:cNvSpPr/>
          <p:nvPr/>
        </p:nvSpPr>
        <p:spPr>
          <a:xfrm>
            <a:off x="1170432" y="2450592"/>
            <a:ext cx="405993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evento corresponde con la accion del usuario.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respuesta aparece donde se espera.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consola ayuda a validar sin reemplazar lo visible.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deja entender que ocurrio.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0" y="1993392"/>
            <a:ext cx="4407408" cy="2688336"/>
          </a:xfrm>
          <a:prstGeom prst="roundRect">
            <a:avLst>
              <a:gd name="adj" fmla="val 136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121408"/>
            <a:ext cx="109728" cy="2432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10312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Interaccion fragil</a:t>
            </a:r>
            <a:endParaRPr lang="en-US" sz="1520" dirty="0"/>
          </a:p>
        </p:txBody>
      </p:sp>
      <p:sp>
        <p:nvSpPr>
          <p:cNvPr id="17" name="Text 14"/>
          <p:cNvSpPr/>
          <p:nvPr/>
        </p:nvSpPr>
        <p:spPr>
          <a:xfrm>
            <a:off x="5742432" y="2450592"/>
            <a:ext cx="405993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evento se eligio por costumbre y no por criterio.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funcion corre, pero nadie entiende la respuesta.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acepta la primera version sin probar.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comportamiento queda dificil de sostener.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335024" y="4882896"/>
            <a:ext cx="8193024" cy="274320"/>
          </a:xfrm>
          <a:prstGeom prst="roundRect">
            <a:avLst>
              <a:gd name="adj" fmla="val 13333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26464" y="4974336"/>
            <a:ext cx="91440" cy="914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627632" y="4960620"/>
            <a:ext cx="7589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calidad de una interaccion se valida en uso real, no en una explicacion bonita.</a:t>
            </a:r>
            <a:endParaRPr lang="en-US" sz="81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 la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Cerramos la entrada inicial a JavaScript como paso desde paginas estaticas hacia interfaces con logica y comportamiento observable.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2048256"/>
            <a:ext cx="9144000" cy="1225296"/>
          </a:xfrm>
          <a:prstGeom prst="roundRect">
            <a:avLst>
              <a:gd name="adj" fmla="val 29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212848"/>
            <a:ext cx="8741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 empieza cuando la interfaz necesita guardar informacion, decidir algo con ella y reaccionar en el momento correcto.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14400" y="3877056"/>
            <a:ext cx="2926080" cy="987552"/>
          </a:xfrm>
          <a:prstGeom prst="roundRect">
            <a:avLst>
              <a:gd name="adj" fmla="val 277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" y="3986784"/>
            <a:ext cx="100584" cy="768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70432" y="400507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martes deberia quedar</a:t>
            </a:r>
            <a:endParaRPr lang="en-US" sz="1260" dirty="0"/>
          </a:p>
        </p:txBody>
      </p:sp>
      <p:sp>
        <p:nvSpPr>
          <p:cNvPr id="15" name="Text 12"/>
          <p:cNvSpPr/>
          <p:nvPr/>
        </p:nvSpPr>
        <p:spPr>
          <a:xfrm>
            <a:off x="1170432" y="4279392"/>
            <a:ext cx="2596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como capa de comportamiento frente a HTML y CSS.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005072" y="3877056"/>
            <a:ext cx="2926080" cy="987552"/>
          </a:xfrm>
          <a:prstGeom prst="roundRect">
            <a:avLst>
              <a:gd name="adj" fmla="val 277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78224" y="3986784"/>
            <a:ext cx="100584" cy="7680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61104" y="400507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es solo sintaxis</a:t>
            </a:r>
            <a:endParaRPr lang="en-US" sz="1260" dirty="0"/>
          </a:p>
        </p:txBody>
      </p:sp>
      <p:sp>
        <p:nvSpPr>
          <p:cNvPr id="19" name="Text 16"/>
          <p:cNvSpPr/>
          <p:nvPr/>
        </p:nvSpPr>
        <p:spPr>
          <a:xfrm>
            <a:off x="4261104" y="4279392"/>
            <a:ext cx="2596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Tambien es lectura de datos, decisiones y reaccion observable.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7095744" y="3877056"/>
            <a:ext cx="2926080" cy="987552"/>
          </a:xfrm>
          <a:prstGeom prst="roundRect">
            <a:avLst>
              <a:gd name="adj" fmla="val 277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986784"/>
            <a:ext cx="100584" cy="7680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400507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habilita</a:t>
            </a:r>
            <a:endParaRPr lang="en-US" sz="1260" dirty="0"/>
          </a:p>
        </p:txBody>
      </p:sp>
      <p:sp>
        <p:nvSpPr>
          <p:cNvPr id="23" name="Text 20"/>
          <p:cNvSpPr/>
          <p:nvPr/>
        </p:nvSpPr>
        <p:spPr>
          <a:xfrm>
            <a:off x="7351776" y="4279392"/>
            <a:ext cx="2596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paso al miercoles: DOM, seleccion de elementos y fetch.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cadena logica del martes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la clase no fue una lista de temas sueltos. Fue una secuencia que prepara comportamiento real.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859536" y="1901952"/>
            <a:ext cx="9253728" cy="3438144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0704" y="2103120"/>
            <a:ext cx="2596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dato a la interactividad</a:t>
            </a:r>
            <a:endParaRPr lang="en-US" sz="1260" dirty="0"/>
          </a:p>
        </p:txBody>
      </p:sp>
      <p:sp>
        <p:nvSpPr>
          <p:cNvPr id="12" name="Shape 9"/>
          <p:cNvSpPr/>
          <p:nvPr/>
        </p:nvSpPr>
        <p:spPr>
          <a:xfrm>
            <a:off x="1060704" y="2670048"/>
            <a:ext cx="2304288" cy="877824"/>
          </a:xfrm>
          <a:prstGeom prst="roundRect">
            <a:avLst>
              <a:gd name="adj" fmla="val 3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33856" y="2779776"/>
            <a:ext cx="100584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16736" y="2798064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Datos</a:t>
            </a:r>
            <a:endParaRPr lang="en-US" sz="1260" dirty="0"/>
          </a:p>
        </p:txBody>
      </p:sp>
      <p:sp>
        <p:nvSpPr>
          <p:cNvPr id="15" name="Text 12"/>
          <p:cNvSpPr/>
          <p:nvPr/>
        </p:nvSpPr>
        <p:spPr>
          <a:xfrm>
            <a:off x="1316736" y="30723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valores con los que trabaja el programa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3712464" y="2670048"/>
            <a:ext cx="2304288" cy="877824"/>
          </a:xfrm>
          <a:prstGeom prst="roundRect">
            <a:avLst>
              <a:gd name="adj" fmla="val 312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785616" y="2779776"/>
            <a:ext cx="100584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968496" y="2798064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Operaciones</a:t>
            </a:r>
            <a:endParaRPr lang="en-US" sz="1260" dirty="0"/>
          </a:p>
        </p:txBody>
      </p:sp>
      <p:sp>
        <p:nvSpPr>
          <p:cNvPr id="19" name="Text 16"/>
          <p:cNvSpPr/>
          <p:nvPr/>
        </p:nvSpPr>
        <p:spPr>
          <a:xfrm>
            <a:off x="3968496" y="30723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transformar, comparar o combinar informacion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364224" y="2670048"/>
            <a:ext cx="2304288" cy="877824"/>
          </a:xfrm>
          <a:prstGeom prst="roundRect">
            <a:avLst>
              <a:gd name="adj" fmla="val 312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37376" y="2779776"/>
            <a:ext cx="100584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620256" y="2798064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Funciones</a:t>
            </a:r>
            <a:endParaRPr lang="en-US" sz="1260" dirty="0"/>
          </a:p>
        </p:txBody>
      </p:sp>
      <p:sp>
        <p:nvSpPr>
          <p:cNvPr id="23" name="Text 20"/>
          <p:cNvSpPr/>
          <p:nvPr/>
        </p:nvSpPr>
        <p:spPr>
          <a:xfrm>
            <a:off x="6620256" y="30723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agrupar acciones reutilizables</a:t>
            </a:r>
            <a:endParaRPr lang="en-US" sz="820" dirty="0"/>
          </a:p>
        </p:txBody>
      </p:sp>
      <p:sp>
        <p:nvSpPr>
          <p:cNvPr id="24" name="Shape 21"/>
          <p:cNvSpPr/>
          <p:nvPr/>
        </p:nvSpPr>
        <p:spPr>
          <a:xfrm>
            <a:off x="1060704" y="3895344"/>
            <a:ext cx="2304288" cy="877824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33856" y="4005072"/>
            <a:ext cx="100584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316736" y="402336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Condiciones</a:t>
            </a:r>
            <a:endParaRPr lang="en-US" sz="1260" dirty="0"/>
          </a:p>
        </p:txBody>
      </p:sp>
      <p:sp>
        <p:nvSpPr>
          <p:cNvPr id="27" name="Text 24"/>
          <p:cNvSpPr/>
          <p:nvPr/>
        </p:nvSpPr>
        <p:spPr>
          <a:xfrm>
            <a:off x="1316736" y="429768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 entre caminos posibles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3712464" y="3895344"/>
            <a:ext cx="2304288" cy="877824"/>
          </a:xfrm>
          <a:prstGeom prst="roundRect">
            <a:avLst>
              <a:gd name="adj" fmla="val 312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5616" y="4005072"/>
            <a:ext cx="100584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968496" y="402336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Eventos</a:t>
            </a:r>
            <a:endParaRPr lang="en-US" sz="1260" dirty="0"/>
          </a:p>
        </p:txBody>
      </p:sp>
      <p:sp>
        <p:nvSpPr>
          <p:cNvPr id="31" name="Text 28"/>
          <p:cNvSpPr/>
          <p:nvPr/>
        </p:nvSpPr>
        <p:spPr>
          <a:xfrm>
            <a:off x="3968496" y="429768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disparar esa logica en el momento correcto</a:t>
            </a:r>
            <a:endParaRPr lang="en-US" sz="820" dirty="0"/>
          </a:p>
        </p:txBody>
      </p:sp>
      <p:sp>
        <p:nvSpPr>
          <p:cNvPr id="32" name="Shape 29"/>
          <p:cNvSpPr/>
          <p:nvPr/>
        </p:nvSpPr>
        <p:spPr>
          <a:xfrm>
            <a:off x="6364224" y="3895344"/>
            <a:ext cx="2304288" cy="877824"/>
          </a:xfrm>
          <a:prstGeom prst="roundRect">
            <a:avLst>
              <a:gd name="adj" fmla="val 312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37376" y="4005072"/>
            <a:ext cx="100584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620256" y="402336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Interactividad</a:t>
            </a:r>
            <a:endParaRPr lang="en-US" sz="1260" dirty="0"/>
          </a:p>
        </p:txBody>
      </p:sp>
      <p:sp>
        <p:nvSpPr>
          <p:cNvPr id="35" name="Text 32"/>
          <p:cNvSpPr/>
          <p:nvPr/>
        </p:nvSpPr>
        <p:spPr>
          <a:xfrm>
            <a:off x="6620256" y="429768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visible para una accion del usuario</a:t>
            </a:r>
            <a:endParaRPr lang="en-US" sz="820" dirty="0"/>
          </a:p>
        </p:txBody>
      </p:sp>
      <p:sp>
        <p:nvSpPr>
          <p:cNvPr id="36" name="Shape 33"/>
          <p:cNvSpPr/>
          <p:nvPr/>
        </p:nvSpPr>
        <p:spPr>
          <a:xfrm>
            <a:off x="3401568" y="2980944"/>
            <a:ext cx="201168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053328" y="2980944"/>
            <a:ext cx="201168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61504" y="3675888"/>
            <a:ext cx="237744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7717536" y="3675888"/>
            <a:ext cx="146304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rot="5400000">
            <a:off x="7717536" y="3877056"/>
            <a:ext cx="146304" cy="201168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401568" y="4206240"/>
            <a:ext cx="201168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053328" y="4206240"/>
            <a:ext cx="201168" cy="25603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24128" y="4882896"/>
            <a:ext cx="8887968" cy="310896"/>
          </a:xfrm>
          <a:prstGeom prst="roundRect">
            <a:avLst>
              <a:gd name="adj" fmla="val 8824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97280" y="4992624"/>
            <a:ext cx="100584" cy="9144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280160" y="5010912"/>
            <a:ext cx="8558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Ideas que deberian quedar instaladas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son las relaciones que importa poder explicar despues de la clase, no solo recordar de memoria.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4407408" cy="1060704"/>
          </a:xfrm>
          <a:prstGeom prst="roundRect">
            <a:avLst>
              <a:gd name="adj" fmla="val 344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2121408"/>
            <a:ext cx="109728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10312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 trabaja una capa distinta</a:t>
            </a:r>
            <a:endParaRPr lang="en-US" sz="1420" dirty="0"/>
          </a:p>
        </p:txBody>
      </p:sp>
      <p:sp>
        <p:nvSpPr>
          <p:cNvPr id="13" name="Text 10"/>
          <p:cNvSpPr/>
          <p:nvPr/>
        </p:nvSpPr>
        <p:spPr>
          <a:xfrm>
            <a:off x="1170432" y="2450592"/>
            <a:ext cx="40599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estructura, CSS presenta y JavaScript gobierna comportamiento.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0" y="1993392"/>
            <a:ext cx="4407408" cy="1060704"/>
          </a:xfrm>
          <a:prstGeom prst="roundRect">
            <a:avLst>
              <a:gd name="adj" fmla="val 344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2121408"/>
            <a:ext cx="109728" cy="8046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42432" y="2103120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datos no hay decisiones</a:t>
            </a:r>
            <a:endParaRPr lang="en-US" sz="1420" dirty="0"/>
          </a:p>
        </p:txBody>
      </p:sp>
      <p:sp>
        <p:nvSpPr>
          <p:cNvPr id="17" name="Text 14"/>
          <p:cNvSpPr/>
          <p:nvPr/>
        </p:nvSpPr>
        <p:spPr>
          <a:xfrm>
            <a:off x="5742432" y="2450592"/>
            <a:ext cx="40599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y tipos permiten representar informacion antes de operar con ella.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914400" y="3310128"/>
            <a:ext cx="4407408" cy="1060704"/>
          </a:xfrm>
          <a:prstGeom prst="roundRect">
            <a:avLst>
              <a:gd name="adj" fmla="val 3448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3438144"/>
            <a:ext cx="109728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70432" y="341985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funciones no viven aisladas</a:t>
            </a:r>
            <a:endParaRPr lang="en-US" sz="1420" dirty="0"/>
          </a:p>
        </p:txBody>
      </p:sp>
      <p:sp>
        <p:nvSpPr>
          <p:cNvPr id="21" name="Text 18"/>
          <p:cNvSpPr/>
          <p:nvPr/>
        </p:nvSpPr>
        <p:spPr>
          <a:xfrm>
            <a:off x="1170432" y="3767328"/>
            <a:ext cx="40599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Ayudan a organizar logica que luego puede dispararse en distintos momentos.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486400" y="3310128"/>
            <a:ext cx="4407408" cy="1060704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577840" y="3438144"/>
            <a:ext cx="109728" cy="8046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42432" y="341985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evento decide cuando corre la logica</a:t>
            </a:r>
            <a:endParaRPr lang="en-US" sz="1420" dirty="0"/>
          </a:p>
        </p:txBody>
      </p:sp>
      <p:sp>
        <p:nvSpPr>
          <p:cNvPr id="25" name="Text 22"/>
          <p:cNvSpPr/>
          <p:nvPr/>
        </p:nvSpPr>
        <p:spPr>
          <a:xfrm>
            <a:off x="5742432" y="3767328"/>
            <a:ext cx="40599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Click, input y submit conectan codigo con acciones reales del usuario.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316736" y="4718304"/>
            <a:ext cx="8229600" cy="585216"/>
          </a:xfrm>
          <a:prstGeom prst="roundRect">
            <a:avLst>
              <a:gd name="adj" fmla="val 62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17904" y="4882896"/>
            <a:ext cx="7827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martes instala la base mental. El miercoles empezamos a tocar la interfaz real.</a:t>
            </a:r>
            <a:endParaRPr lang="en-US" sz="152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Apoyo con agentes, pero con criterio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clase tambien instala una forma de trabajo: entender la logica, apoyarse con inteligencia y validar comportamiento real.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32688" y="1920240"/>
            <a:ext cx="9125712" cy="3090672"/>
          </a:xfrm>
          <a:prstGeom prst="roundRect">
            <a:avLst>
              <a:gd name="adj" fmla="val 11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048256"/>
            <a:ext cx="8869680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212140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puede acelerar un agente y que debes seguir validando tu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1078992" y="2487168"/>
            <a:ext cx="3557016" cy="2322576"/>
          </a:xfrm>
          <a:prstGeom prst="roundRect">
            <a:avLst>
              <a:gd name="adj" fmla="val 157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88720" y="2615184"/>
            <a:ext cx="109728" cy="206654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89888" y="2615184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puede ayudar con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389888" y="2889504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apoyo rapido y trabajo repetitivo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389888" y="3236976"/>
            <a:ext cx="3099816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481328" y="3351276"/>
            <a:ext cx="82296" cy="82296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627632" y="3282696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Explorar opciones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89888" y="3675888"/>
            <a:ext cx="3099816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81328" y="3790188"/>
            <a:ext cx="82296" cy="82296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627632" y="372160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una primera version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389888" y="4114800"/>
            <a:ext cx="3099816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81328" y="4229100"/>
            <a:ext cx="82296" cy="82296"/>
          </a:xfrm>
          <a:prstGeom prst="ellipse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627632" y="4160520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Detectar repeticion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487168"/>
            <a:ext cx="3557016" cy="2322576"/>
          </a:xfrm>
          <a:prstGeom prst="roundRect">
            <a:avLst>
              <a:gd name="adj" fmla="val 157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615184"/>
            <a:ext cx="109728" cy="20665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615184"/>
            <a:ext cx="3118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conviene delegar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889504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criterio, lectura y validacion final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236976"/>
            <a:ext cx="3099816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35127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282696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Leer el resultado real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675888"/>
            <a:ext cx="3099816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79018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72160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en herramientas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114800"/>
            <a:ext cx="3099816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229100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160520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 que se integra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283464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298094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340156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02666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sano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381304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Intentar, leer y decidir con evidencia.</a:t>
            </a:r>
            <a:endParaRPr lang="en-US" sz="72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08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Puente a la siguiente clase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682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miercoles sube la densidad tecnica: ya no veremos solo logica inicial, sino trabajo directo sobre la pagina y datos externos.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14400" y="1993392"/>
            <a:ext cx="9144000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157984"/>
            <a:ext cx="87416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comportamiento basico pasamos a manipulacion directa del DOM y consumo inicial de datos con fetch.</a:t>
            </a:r>
            <a:endParaRPr lang="en-US" sz="2020" dirty="0"/>
          </a:p>
        </p:txBody>
      </p:sp>
      <p:sp>
        <p:nvSpPr>
          <p:cNvPr id="12" name="Shape 9"/>
          <p:cNvSpPr/>
          <p:nvPr/>
        </p:nvSpPr>
        <p:spPr>
          <a:xfrm>
            <a:off x="987552" y="3749040"/>
            <a:ext cx="2139696" cy="1078992"/>
          </a:xfrm>
          <a:prstGeom prst="roundRect">
            <a:avLst>
              <a:gd name="adj" fmla="val 254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60704" y="3858768"/>
            <a:ext cx="100584" cy="8595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43584" y="3877056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DOM</a:t>
            </a:r>
            <a:endParaRPr lang="en-US" sz="1260" dirty="0"/>
          </a:p>
        </p:txBody>
      </p:sp>
      <p:sp>
        <p:nvSpPr>
          <p:cNvPr id="15" name="Text 12"/>
          <p:cNvSpPr/>
          <p:nvPr/>
        </p:nvSpPr>
        <p:spPr>
          <a:xfrm>
            <a:off x="1243584" y="4151376"/>
            <a:ext cx="1810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y leer elementos reales de la pagina</a:t>
            </a:r>
            <a:endParaRPr lang="en-US" sz="840" dirty="0"/>
          </a:p>
        </p:txBody>
      </p:sp>
      <p:sp>
        <p:nvSpPr>
          <p:cNvPr id="16" name="Shape 13"/>
          <p:cNvSpPr/>
          <p:nvPr/>
        </p:nvSpPr>
        <p:spPr>
          <a:xfrm>
            <a:off x="3255264" y="3749040"/>
            <a:ext cx="2139696" cy="1078992"/>
          </a:xfrm>
          <a:prstGeom prst="roundRect">
            <a:avLst>
              <a:gd name="adj" fmla="val 254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28416" y="3858768"/>
            <a:ext cx="100584" cy="85953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11296" y="3877056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Interfaz</a:t>
            </a:r>
            <a:endParaRPr lang="en-US" sz="1260" dirty="0"/>
          </a:p>
        </p:txBody>
      </p:sp>
      <p:sp>
        <p:nvSpPr>
          <p:cNvPr id="19" name="Text 16"/>
          <p:cNvSpPr/>
          <p:nvPr/>
        </p:nvSpPr>
        <p:spPr>
          <a:xfrm>
            <a:off x="3511296" y="4151376"/>
            <a:ext cx="1810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mostrar cambios visibles en respuesta al codigo</a:t>
            </a:r>
            <a:endParaRPr lang="en-US" sz="840" dirty="0"/>
          </a:p>
        </p:txBody>
      </p:sp>
      <p:sp>
        <p:nvSpPr>
          <p:cNvPr id="20" name="Shape 17"/>
          <p:cNvSpPr/>
          <p:nvPr/>
        </p:nvSpPr>
        <p:spPr>
          <a:xfrm>
            <a:off x="5522976" y="3749040"/>
            <a:ext cx="2139696" cy="1078992"/>
          </a:xfrm>
          <a:prstGeom prst="roundRect">
            <a:avLst>
              <a:gd name="adj" fmla="val 2542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96128" y="3858768"/>
            <a:ext cx="100584" cy="85953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79008" y="3877056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fetch</a:t>
            </a:r>
            <a:endParaRPr lang="en-US" sz="1260" dirty="0"/>
          </a:p>
        </p:txBody>
      </p:sp>
      <p:sp>
        <p:nvSpPr>
          <p:cNvPr id="23" name="Text 20"/>
          <p:cNvSpPr/>
          <p:nvPr/>
        </p:nvSpPr>
        <p:spPr>
          <a:xfrm>
            <a:off x="5779008" y="4151376"/>
            <a:ext cx="1810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traer informacion externa y empezar a usarla</a:t>
            </a:r>
            <a:endParaRPr lang="en-US" sz="840" dirty="0"/>
          </a:p>
        </p:txBody>
      </p:sp>
      <p:sp>
        <p:nvSpPr>
          <p:cNvPr id="24" name="Shape 21"/>
          <p:cNvSpPr/>
          <p:nvPr/>
        </p:nvSpPr>
        <p:spPr>
          <a:xfrm>
            <a:off x="7790688" y="3749040"/>
            <a:ext cx="2139696" cy="1078992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63840" y="3858768"/>
            <a:ext cx="100584" cy="85953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046720" y="3877056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Depuracion</a:t>
            </a:r>
            <a:endParaRPr lang="en-US" sz="1260" dirty="0"/>
          </a:p>
        </p:txBody>
      </p:sp>
      <p:sp>
        <p:nvSpPr>
          <p:cNvPr id="27" name="Text 24"/>
          <p:cNvSpPr/>
          <p:nvPr/>
        </p:nvSpPr>
        <p:spPr>
          <a:xfrm>
            <a:off x="8046720" y="4151376"/>
            <a:ext cx="1810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seguir validando con consola y navegador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1152144" y="4956048"/>
            <a:ext cx="8668512" cy="384048"/>
          </a:xfrm>
          <a:prstGeom prst="roundRect">
            <a:avLst>
              <a:gd name="adj" fmla="val 95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225296" y="5056632"/>
            <a:ext cx="91440" cy="914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389888" y="5029200"/>
            <a:ext cx="8229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cambia: el objetivo ya no sera solo entender sintaxis; sera hacer que la pagina responda a elementos y datos concretos.</a:t>
            </a:r>
            <a:endParaRPr lang="en-US" sz="11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Base</dc:title>
  <dc:subject>Clase 08</dc:subject>
  <dc:creator>Codex</dc:creator>
  <cp:lastModifiedBy>Codex</cp:lastModifiedBy>
  <cp:revision>1</cp:revision>
  <dcterms:created xsi:type="dcterms:W3CDTF">2026-03-23T01:05:42Z</dcterms:created>
  <dcterms:modified xsi:type="dcterms:W3CDTF">2026-03-23T01:05:42Z</dcterms:modified>
</cp:coreProperties>
</file>