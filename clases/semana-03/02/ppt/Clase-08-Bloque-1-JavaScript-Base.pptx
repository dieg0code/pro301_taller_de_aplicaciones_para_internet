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</p:sldIdLst>
  <p:notesMasterIdLst>
    <p:notesMasterId r:id="rId6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notesMaster" Target="notesMasters/notesMaster1.xml"/><Relationship Id="rId63" Type="http://schemas.openxmlformats.org/officeDocument/2006/relationships/presProps" Target="presProps.xml"/><Relationship Id="rId64" Type="http://schemas.openxmlformats.org/officeDocument/2006/relationships/viewProps" Target="viewProps.xml"/><Relationship Id="rId65" Type="http://schemas.openxmlformats.org/officeDocument/2006/relationships/theme" Target="theme/theme1.xml"/><Relationship Id="rId6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svg"/><Relationship Id="rId4" Type="http://schemas.openxmlformats.org/officeDocument/2006/relationships/image" Target="../media/image-18-4.png"/><Relationship Id="rId5" Type="http://schemas.openxmlformats.org/officeDocument/2006/relationships/image" Target="../media/image-18-5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svg"/><Relationship Id="rId4" Type="http://schemas.openxmlformats.org/officeDocument/2006/relationships/image" Target="../media/image-21-4.png"/><Relationship Id="rId5" Type="http://schemas.openxmlformats.org/officeDocument/2006/relationships/image" Target="../media/image-21-5.svg"/><Relationship Id="rId6" Type="http://schemas.openxmlformats.org/officeDocument/2006/relationships/image" Target="../media/image-21-6.png"/><Relationship Id="rId7" Type="http://schemas.openxmlformats.org/officeDocument/2006/relationships/image" Target="../media/image-21-7.sv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image" Target="../media/image-39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image" Target="../media/image-45-2.png"/><Relationship Id="rId3" Type="http://schemas.openxmlformats.org/officeDocument/2006/relationships/image" Target="../media/image-45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png"/><Relationship Id="rId3" Type="http://schemas.openxmlformats.org/officeDocument/2006/relationships/image" Target="../media/image-46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iego Obando\dev\pro301-taller-de-aplicaciones-para-internet\.agent\skills\slides-aiep\assets\logo-aie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9136" y="497645"/>
            <a:ext cx="1298448" cy="44946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3232" y="859170"/>
            <a:ext cx="223114" cy="513161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80968" y="658368"/>
            <a:ext cx="267736" cy="71396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293327" y="859170"/>
            <a:ext cx="223114" cy="513161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517904" y="749808"/>
            <a:ext cx="2194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08 · Semana 03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13232" y="1408176"/>
            <a:ext cx="4133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JavaScript base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713232" y="2157984"/>
            <a:ext cx="4261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D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Tipos de datos, funciones, estructuras de control y eventos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13232" y="2962656"/>
            <a:ext cx="39867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DC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HTML ya organiza y CSS ya presenta. Hoy entra la capa que hace reaccionar la interfaz, leer datos y ejecutar decisiones observables.</a:t>
            </a:r>
            <a:endParaRPr lang="en-US" sz="1160" dirty="0"/>
          </a:p>
        </p:txBody>
      </p:sp>
      <p:sp>
        <p:nvSpPr>
          <p:cNvPr id="10" name="Shape 7"/>
          <p:cNvSpPr/>
          <p:nvPr/>
        </p:nvSpPr>
        <p:spPr>
          <a:xfrm>
            <a:off x="713232" y="4736592"/>
            <a:ext cx="2432304" cy="713232"/>
          </a:xfrm>
          <a:prstGeom prst="roundRect">
            <a:avLst>
              <a:gd name="adj" fmla="val 5128"/>
            </a:avLst>
          </a:prstGeom>
          <a:solidFill>
            <a:srgbClr val="355B8E"/>
          </a:solidFill>
          <a:ln w="12700">
            <a:solidFill>
              <a:srgbClr val="355B8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32688" y="491947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Martes 31 de marzo de 2026</a:t>
            </a:r>
            <a:endParaRPr lang="en-US" sz="1020" dirty="0"/>
          </a:p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10:50 - 13:10</a:t>
            </a:r>
            <a:endParaRPr lang="en-US" sz="1020" dirty="0"/>
          </a:p>
        </p:txBody>
      </p:sp>
      <p:sp>
        <p:nvSpPr>
          <p:cNvPr id="12" name="Shape 9"/>
          <p:cNvSpPr/>
          <p:nvPr/>
        </p:nvSpPr>
        <p:spPr>
          <a:xfrm>
            <a:off x="804672" y="4882896"/>
            <a:ext cx="73152" cy="38404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974336" y="1261872"/>
            <a:ext cx="4590288" cy="2231136"/>
          </a:xfrm>
          <a:prstGeom prst="roundRect">
            <a:avLst>
              <a:gd name="adj" fmla="val 163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974336" y="1261872"/>
            <a:ext cx="4590288" cy="384048"/>
          </a:xfrm>
          <a:prstGeom prst="roundRect">
            <a:avLst>
              <a:gd name="adj" fmla="val 95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120640" y="1389888"/>
            <a:ext cx="73152" cy="73152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266944" y="1389888"/>
            <a:ext cx="73152" cy="73152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413248" y="1389888"/>
            <a:ext cx="73152" cy="73152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541264" y="1362456"/>
            <a:ext cx="3675888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687568" y="1399032"/>
            <a:ext cx="3383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https://demo.local/landing</a:t>
            </a:r>
            <a:endParaRPr lang="en-US" sz="880" dirty="0"/>
          </a:p>
        </p:txBody>
      </p:sp>
      <p:sp>
        <p:nvSpPr>
          <p:cNvPr id="20" name="Shape 17"/>
          <p:cNvSpPr/>
          <p:nvPr/>
        </p:nvSpPr>
        <p:spPr>
          <a:xfrm>
            <a:off x="5157216" y="1810512"/>
            <a:ext cx="4224528" cy="384048"/>
          </a:xfrm>
          <a:prstGeom prst="roundRect">
            <a:avLst>
              <a:gd name="adj" fmla="val 714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285232" y="1920240"/>
            <a:ext cx="10972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Botón visible</a:t>
            </a:r>
            <a:endParaRPr lang="en-US" sz="880" dirty="0"/>
          </a:p>
        </p:txBody>
      </p:sp>
      <p:sp>
        <p:nvSpPr>
          <p:cNvPr id="22" name="Shape 19"/>
          <p:cNvSpPr/>
          <p:nvPr/>
        </p:nvSpPr>
        <p:spPr>
          <a:xfrm>
            <a:off x="5157216" y="2340864"/>
            <a:ext cx="1353312" cy="1316736"/>
          </a:xfrm>
          <a:prstGeom prst="roundRect">
            <a:avLst>
              <a:gd name="adj" fmla="val 2778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656832" y="2340864"/>
            <a:ext cx="2633472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656832" y="2907792"/>
            <a:ext cx="2633472" cy="621792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974336" y="3712464"/>
            <a:ext cx="4590288" cy="1572768"/>
          </a:xfrm>
          <a:prstGeom prst="roundRect">
            <a:avLst>
              <a:gd name="adj" fmla="val 2326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102352" y="3822192"/>
            <a:ext cx="4334256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212080" y="389534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Primer comportamiento observable</a:t>
            </a:r>
            <a:endParaRPr lang="en-US" sz="1000" dirty="0"/>
          </a:p>
        </p:txBody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93792" y="4370832"/>
            <a:ext cx="4169664" cy="822960"/>
          </a:xfrm>
          <a:prstGeom prst="rect">
            <a:avLst/>
          </a:prstGeom>
        </p:spPr>
      </p:pic>
      <p:sp>
        <p:nvSpPr>
          <p:cNvPr id="29" name="Shape 25"/>
          <p:cNvSpPr/>
          <p:nvPr/>
        </p:nvSpPr>
        <p:spPr>
          <a:xfrm>
            <a:off x="3218688" y="4736592"/>
            <a:ext cx="1609344" cy="713232"/>
          </a:xfrm>
          <a:prstGeom prst="roundRect">
            <a:avLst>
              <a:gd name="adj" fmla="val 3846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3291840" y="4846320"/>
            <a:ext cx="100584" cy="49377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3474720" y="486460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Idea central</a:t>
            </a:r>
            <a:endParaRPr lang="en-US" sz="1180" dirty="0"/>
          </a:p>
        </p:txBody>
      </p:sp>
      <p:sp>
        <p:nvSpPr>
          <p:cNvPr id="32" name="Text 28"/>
          <p:cNvSpPr/>
          <p:nvPr/>
        </p:nvSpPr>
        <p:spPr>
          <a:xfrm>
            <a:off x="3474720" y="513892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Agrega ejecución y respuesta.</a:t>
            </a:r>
            <a:endParaRPr lang="en-US" sz="86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08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Mapa de la clase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Hoy JavaScript aparece como comportamiento observable: datos, decisiones y reacción frente a eventos.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1024128" y="2249424"/>
            <a:ext cx="1975104" cy="2377440"/>
          </a:xfrm>
          <a:prstGeom prst="roundRect">
            <a:avLst>
              <a:gd name="adj" fmla="val 1852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24128" y="2395728"/>
            <a:ext cx="19751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</a:t>
            </a:r>
            <a:endParaRPr lang="en-US" sz="1080" dirty="0"/>
          </a:p>
        </p:txBody>
      </p:sp>
      <p:sp>
        <p:nvSpPr>
          <p:cNvPr id="12" name="Text 9"/>
          <p:cNvSpPr/>
          <p:nvPr/>
        </p:nvSpPr>
        <p:spPr>
          <a:xfrm>
            <a:off x="1207008" y="2852928"/>
            <a:ext cx="1609344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Rol de</a:t>
            </a:r>
            <a:endParaRPr lang="en-US" sz="1820" dirty="0"/>
          </a:p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JavaScript</a:t>
            </a:r>
            <a:endParaRPr lang="en-US" sz="1820" dirty="0"/>
          </a:p>
        </p:txBody>
      </p:sp>
      <p:sp>
        <p:nvSpPr>
          <p:cNvPr id="13" name="Shape 10"/>
          <p:cNvSpPr/>
          <p:nvPr/>
        </p:nvSpPr>
        <p:spPr>
          <a:xfrm>
            <a:off x="3072384" y="3310128"/>
            <a:ext cx="182880" cy="256032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310128" y="2249424"/>
            <a:ext cx="1975104" cy="2377440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310128" y="2395728"/>
            <a:ext cx="19751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</a:t>
            </a:r>
            <a:endParaRPr lang="en-US" sz="1080" dirty="0"/>
          </a:p>
        </p:txBody>
      </p:sp>
      <p:sp>
        <p:nvSpPr>
          <p:cNvPr id="16" name="Text 13"/>
          <p:cNvSpPr/>
          <p:nvPr/>
        </p:nvSpPr>
        <p:spPr>
          <a:xfrm>
            <a:off x="3493008" y="2852928"/>
            <a:ext cx="1609344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Datos y</a:t>
            </a:r>
            <a:endParaRPr lang="en-US" sz="1660" dirty="0"/>
          </a:p>
          <a:p>
            <a:pPr algn="ctr" indent="0" marL="0">
              <a:buNone/>
            </a:pPr>
            <a:r>
              <a:rPr lang="en-US" sz="16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variables</a:t>
            </a:r>
            <a:endParaRPr lang="en-US" sz="1660" dirty="0"/>
          </a:p>
        </p:txBody>
      </p:sp>
      <p:sp>
        <p:nvSpPr>
          <p:cNvPr id="17" name="Shape 14"/>
          <p:cNvSpPr/>
          <p:nvPr/>
        </p:nvSpPr>
        <p:spPr>
          <a:xfrm>
            <a:off x="5358384" y="3310128"/>
            <a:ext cx="182880" cy="256032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596128" y="2249424"/>
            <a:ext cx="1975104" cy="2377440"/>
          </a:xfrm>
          <a:prstGeom prst="roundRect">
            <a:avLst>
              <a:gd name="adj" fmla="val 1852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596128" y="2395728"/>
            <a:ext cx="19751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</a:t>
            </a:r>
            <a:endParaRPr lang="en-US" sz="1080" dirty="0"/>
          </a:p>
        </p:txBody>
      </p:sp>
      <p:sp>
        <p:nvSpPr>
          <p:cNvPr id="20" name="Text 17"/>
          <p:cNvSpPr/>
          <p:nvPr/>
        </p:nvSpPr>
        <p:spPr>
          <a:xfrm>
            <a:off x="5779008" y="2852928"/>
            <a:ext cx="1609344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Funciones y</a:t>
            </a:r>
            <a:endParaRPr lang="en-US" sz="1660" dirty="0"/>
          </a:p>
          <a:p>
            <a:pPr algn="ctr" indent="0" marL="0">
              <a:buNone/>
            </a:pPr>
            <a:r>
              <a:rPr lang="en-US" sz="16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control</a:t>
            </a:r>
            <a:endParaRPr lang="en-US" sz="1660" dirty="0"/>
          </a:p>
        </p:txBody>
      </p:sp>
      <p:sp>
        <p:nvSpPr>
          <p:cNvPr id="21" name="Shape 18"/>
          <p:cNvSpPr/>
          <p:nvPr/>
        </p:nvSpPr>
        <p:spPr>
          <a:xfrm>
            <a:off x="7644384" y="3310128"/>
            <a:ext cx="182880" cy="256032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882128" y="2249424"/>
            <a:ext cx="1975104" cy="2377440"/>
          </a:xfrm>
          <a:prstGeom prst="roundRect">
            <a:avLst>
              <a:gd name="adj" fmla="val 1852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882128" y="2395728"/>
            <a:ext cx="19751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</a:t>
            </a:r>
            <a:endParaRPr lang="en-US" sz="1080" dirty="0"/>
          </a:p>
        </p:txBody>
      </p:sp>
      <p:sp>
        <p:nvSpPr>
          <p:cNvPr id="24" name="Text 21"/>
          <p:cNvSpPr/>
          <p:nvPr/>
        </p:nvSpPr>
        <p:spPr>
          <a:xfrm>
            <a:off x="8065008" y="2852928"/>
            <a:ext cx="1609344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Eventos e</a:t>
            </a:r>
            <a:endParaRPr lang="en-US" sz="1660" dirty="0"/>
          </a:p>
          <a:p>
            <a:pPr algn="ctr" indent="0" marL="0">
              <a:buNone/>
            </a:pPr>
            <a:r>
              <a:rPr lang="en-US" sz="16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interacción</a:t>
            </a:r>
            <a:endParaRPr lang="en-US" sz="1660" dirty="0"/>
          </a:p>
        </p:txBody>
      </p:sp>
      <p:sp>
        <p:nvSpPr>
          <p:cNvPr id="25" name="Shape 22"/>
          <p:cNvSpPr/>
          <p:nvPr/>
        </p:nvSpPr>
        <p:spPr>
          <a:xfrm>
            <a:off x="1408176" y="4992624"/>
            <a:ext cx="8229600" cy="658368"/>
          </a:xfrm>
          <a:prstGeom prst="roundRect">
            <a:avLst>
              <a:gd name="adj" fmla="val 5556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609344" y="5157216"/>
            <a:ext cx="7827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estructura -&gt; datos -&gt; lógica -&gt; eventos</a:t>
            </a:r>
            <a:endParaRPr lang="en-US" sz="186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08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JavaScript entra como capa de comportamiento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HTML organiza, CSS presenta y JavaScript decide qué pasa cuando algo cambia, se ejecuta o se interactúa.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932688" y="2139696"/>
            <a:ext cx="3511296" cy="3438144"/>
          </a:xfrm>
          <a:prstGeom prst="roundRect">
            <a:avLst>
              <a:gd name="adj" fmla="val 1064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70432" y="2530693"/>
            <a:ext cx="149962" cy="34491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350386" y="2395728"/>
            <a:ext cx="179954" cy="479877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560332" y="2530693"/>
            <a:ext cx="149962" cy="34491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700784" y="2852928"/>
            <a:ext cx="1993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página ya puede verse bien.</a:t>
            </a:r>
            <a:endParaRPr lang="en-US" sz="1560" dirty="0"/>
          </a:p>
        </p:txBody>
      </p:sp>
      <p:sp>
        <p:nvSpPr>
          <p:cNvPr id="15" name="Text 12"/>
          <p:cNvSpPr/>
          <p:nvPr/>
        </p:nvSpPr>
        <p:spPr>
          <a:xfrm>
            <a:off x="1700784" y="3328416"/>
            <a:ext cx="1993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DC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Pero todavía puede seguir completamente estática.</a:t>
            </a:r>
            <a:endParaRPr lang="en-US" sz="1040" dirty="0"/>
          </a:p>
        </p:txBody>
      </p:sp>
      <p:sp>
        <p:nvSpPr>
          <p:cNvPr id="16" name="Shape 13"/>
          <p:cNvSpPr/>
          <p:nvPr/>
        </p:nvSpPr>
        <p:spPr>
          <a:xfrm>
            <a:off x="1170432" y="4005072"/>
            <a:ext cx="2852928" cy="603504"/>
          </a:xfrm>
          <a:prstGeom prst="roundRect">
            <a:avLst>
              <a:gd name="adj" fmla="val 4545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243584" y="4114800"/>
            <a:ext cx="100584" cy="38404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426464" y="4133088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HTML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1426464" y="4407408"/>
            <a:ext cx="25237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declara estructura y jerarquía.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1170432" y="4663440"/>
            <a:ext cx="2852928" cy="603504"/>
          </a:xfrm>
          <a:prstGeom prst="roundRect">
            <a:avLst>
              <a:gd name="adj" fmla="val 4545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243584" y="4773168"/>
            <a:ext cx="100584" cy="38404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426464" y="4791456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CSS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1426464" y="5065776"/>
            <a:ext cx="25237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resuelve apariencia, layout y responsive.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4791456" y="2340864"/>
            <a:ext cx="3712464" cy="1901952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791456" y="2340864"/>
            <a:ext cx="3712464" cy="384048"/>
          </a:xfrm>
          <a:prstGeom prst="roundRect">
            <a:avLst>
              <a:gd name="adj" fmla="val 95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937760" y="2468880"/>
            <a:ext cx="73152" cy="73152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084064" y="2468880"/>
            <a:ext cx="73152" cy="73152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230368" y="2468880"/>
            <a:ext cx="73152" cy="73152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358384" y="2441448"/>
            <a:ext cx="2798064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504688" y="2478024"/>
            <a:ext cx="2505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https://demo.local/portafolio</a:t>
            </a:r>
            <a:endParaRPr lang="en-US" sz="880" dirty="0"/>
          </a:p>
        </p:txBody>
      </p:sp>
      <p:sp>
        <p:nvSpPr>
          <p:cNvPr id="31" name="Shape 28"/>
          <p:cNvSpPr/>
          <p:nvPr/>
        </p:nvSpPr>
        <p:spPr>
          <a:xfrm>
            <a:off x="4974336" y="2798064"/>
            <a:ext cx="3346704" cy="347472"/>
          </a:xfrm>
          <a:prstGeom prst="roundRect">
            <a:avLst>
              <a:gd name="adj" fmla="val 7895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102352" y="2889504"/>
            <a:ext cx="8412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Hero visible</a:t>
            </a:r>
            <a:endParaRPr lang="en-US" sz="860" dirty="0"/>
          </a:p>
        </p:txBody>
      </p:sp>
      <p:sp>
        <p:nvSpPr>
          <p:cNvPr id="33" name="Shape 30"/>
          <p:cNvSpPr/>
          <p:nvPr/>
        </p:nvSpPr>
        <p:spPr>
          <a:xfrm>
            <a:off x="4974336" y="3273552"/>
            <a:ext cx="1115568" cy="603504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236208" y="3273552"/>
            <a:ext cx="2084832" cy="603504"/>
          </a:xfrm>
          <a:prstGeom prst="roundRect">
            <a:avLst>
              <a:gd name="adj" fmla="val 6061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717536" y="4187952"/>
            <a:ext cx="2432304" cy="1481328"/>
          </a:xfrm>
          <a:prstGeom prst="roundRect">
            <a:avLst>
              <a:gd name="adj" fmla="val 2469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845552" y="4297680"/>
            <a:ext cx="2176272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955280" y="4370832"/>
            <a:ext cx="1956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JS</a:t>
            </a:r>
            <a:endParaRPr lang="en-US" sz="1000" dirty="0"/>
          </a:p>
        </p:txBody>
      </p:sp>
      <p:pic>
        <p:nvPicPr>
          <p:cNvPr id="38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36992" y="4754880"/>
            <a:ext cx="2011680" cy="731520"/>
          </a:xfrm>
          <a:prstGeom prst="rect">
            <a:avLst/>
          </a:prstGeom>
        </p:spPr>
      </p:pic>
      <p:sp>
        <p:nvSpPr>
          <p:cNvPr id="39" name="Shape 35"/>
          <p:cNvSpPr/>
          <p:nvPr/>
        </p:nvSpPr>
        <p:spPr>
          <a:xfrm>
            <a:off x="4791456" y="4681728"/>
            <a:ext cx="2724912" cy="658368"/>
          </a:xfrm>
          <a:prstGeom prst="roundRect">
            <a:avLst>
              <a:gd name="adj" fmla="val 416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4864608" y="4791456"/>
            <a:ext cx="100584" cy="43891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5047488" y="4809744"/>
            <a:ext cx="239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JavaScript</a:t>
            </a:r>
            <a:endParaRPr lang="en-US" sz="1250" dirty="0"/>
          </a:p>
        </p:txBody>
      </p:sp>
      <p:sp>
        <p:nvSpPr>
          <p:cNvPr id="42" name="Text 38"/>
          <p:cNvSpPr/>
          <p:nvPr/>
        </p:nvSpPr>
        <p:spPr>
          <a:xfrm>
            <a:off x="5047488" y="5084064"/>
            <a:ext cx="2395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agrega lógica, ejecución y respuesta a acciones del usuario.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08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página puede verse bien y seguir completamente estática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diferencia útil no es solo estética: es si la interfaz responde o no a una acción observable.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877824" y="2139696"/>
            <a:ext cx="9272016" cy="3529584"/>
          </a:xfrm>
          <a:prstGeom prst="roundRect">
            <a:avLst>
              <a:gd name="adj" fmla="val 103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05840" y="2267712"/>
            <a:ext cx="9015984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15568" y="2340864"/>
            <a:ext cx="8796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Página correcta vs interfaz que ya reacciona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1024128" y="2706624"/>
            <a:ext cx="4407408" cy="2523744"/>
          </a:xfrm>
          <a:prstGeom prst="roundRect">
            <a:avLst>
              <a:gd name="adj" fmla="val 144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24128" y="2706624"/>
            <a:ext cx="73152" cy="252374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188720" y="2852928"/>
            <a:ext cx="4096512" cy="310896"/>
          </a:xfrm>
          <a:prstGeom prst="roundRect">
            <a:avLst>
              <a:gd name="adj" fmla="val 8824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280160" y="2926080"/>
            <a:ext cx="39136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Solo HTML + CSS</a:t>
            </a:r>
            <a:endParaRPr lang="en-US" sz="1140" dirty="0"/>
          </a:p>
        </p:txBody>
      </p:sp>
      <p:sp>
        <p:nvSpPr>
          <p:cNvPr id="17" name="Text 14"/>
          <p:cNvSpPr/>
          <p:nvPr/>
        </p:nvSpPr>
        <p:spPr>
          <a:xfrm>
            <a:off x="1225296" y="3236976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maqueta se ve sólida, pero todavía no ocurre nada al interactuar</a:t>
            </a:r>
            <a:endParaRPr lang="en-US" sz="780" dirty="0"/>
          </a:p>
        </p:txBody>
      </p:sp>
      <p:sp>
        <p:nvSpPr>
          <p:cNvPr id="18" name="Shape 15"/>
          <p:cNvSpPr/>
          <p:nvPr/>
        </p:nvSpPr>
        <p:spPr>
          <a:xfrm>
            <a:off x="1207008" y="3566160"/>
            <a:ext cx="4041648" cy="950976"/>
          </a:xfrm>
          <a:prstGeom prst="roundRect">
            <a:avLst>
              <a:gd name="adj" fmla="val 2885"/>
            </a:avLst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207008" y="3566160"/>
            <a:ext cx="4041648" cy="201168"/>
          </a:xfrm>
          <a:prstGeom prst="roundRect">
            <a:avLst>
              <a:gd name="adj" fmla="val 13636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280160" y="3639312"/>
            <a:ext cx="45720" cy="45720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371600" y="3639312"/>
            <a:ext cx="45720" cy="45720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463040" y="3639312"/>
            <a:ext cx="45720" cy="45720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316736" y="3877056"/>
            <a:ext cx="3822192" cy="237744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316736" y="4187952"/>
            <a:ext cx="1697492" cy="402336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227832" y="4187952"/>
            <a:ext cx="1374160" cy="201168"/>
          </a:xfrm>
          <a:prstGeom prst="roundRect">
            <a:avLst>
              <a:gd name="adj" fmla="val 1363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282696" y="4251960"/>
            <a:ext cx="126443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Botón visible</a:t>
            </a:r>
            <a:endParaRPr lang="en-US" sz="740" dirty="0"/>
          </a:p>
        </p:txBody>
      </p:sp>
      <p:sp>
        <p:nvSpPr>
          <p:cNvPr id="27" name="Shape 24"/>
          <p:cNvSpPr/>
          <p:nvPr/>
        </p:nvSpPr>
        <p:spPr>
          <a:xfrm>
            <a:off x="1207008" y="4828032"/>
            <a:ext cx="4041648" cy="219456"/>
          </a:xfrm>
          <a:prstGeom prst="roundRect">
            <a:avLst>
              <a:gd name="adj" fmla="val 1250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280160" y="4892040"/>
            <a:ext cx="389534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 evento ni respuesta</a:t>
            </a:r>
            <a:endParaRPr lang="en-US" sz="730" dirty="0"/>
          </a:p>
        </p:txBody>
      </p:sp>
      <p:sp>
        <p:nvSpPr>
          <p:cNvPr id="29" name="Text 26"/>
          <p:cNvSpPr/>
          <p:nvPr/>
        </p:nvSpPr>
        <p:spPr>
          <a:xfrm>
            <a:off x="1225296" y="4572000"/>
            <a:ext cx="40050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estado fijo</a:t>
            </a:r>
            <a:endParaRPr lang="en-US" sz="740" dirty="0"/>
          </a:p>
        </p:txBody>
      </p:sp>
      <p:sp>
        <p:nvSpPr>
          <p:cNvPr id="30" name="Shape 27"/>
          <p:cNvSpPr/>
          <p:nvPr/>
        </p:nvSpPr>
        <p:spPr>
          <a:xfrm>
            <a:off x="5596128" y="2706624"/>
            <a:ext cx="4407408" cy="2523744"/>
          </a:xfrm>
          <a:prstGeom prst="roundRect">
            <a:avLst>
              <a:gd name="adj" fmla="val 144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596128" y="2706624"/>
            <a:ext cx="73152" cy="252374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760720" y="2852928"/>
            <a:ext cx="4096512" cy="310896"/>
          </a:xfrm>
          <a:prstGeom prst="roundRect">
            <a:avLst>
              <a:gd name="adj" fmla="val 8824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852160" y="2926080"/>
            <a:ext cx="39136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 JavaScript</a:t>
            </a:r>
            <a:endParaRPr lang="en-US" sz="1140" dirty="0"/>
          </a:p>
        </p:txBody>
      </p:sp>
      <p:sp>
        <p:nvSpPr>
          <p:cNvPr id="34" name="Text 31"/>
          <p:cNvSpPr/>
          <p:nvPr/>
        </p:nvSpPr>
        <p:spPr>
          <a:xfrm>
            <a:off x="5797296" y="3236976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acción del usuario dispara una respuesta observable en la interfaz o en la consola</a:t>
            </a:r>
            <a:endParaRPr lang="en-US" sz="780" dirty="0"/>
          </a:p>
        </p:txBody>
      </p:sp>
      <p:sp>
        <p:nvSpPr>
          <p:cNvPr id="35" name="Shape 32"/>
          <p:cNvSpPr/>
          <p:nvPr/>
        </p:nvSpPr>
        <p:spPr>
          <a:xfrm>
            <a:off x="5779008" y="3566160"/>
            <a:ext cx="4041648" cy="950976"/>
          </a:xfrm>
          <a:prstGeom prst="roundRect">
            <a:avLst>
              <a:gd name="adj" fmla="val 2885"/>
            </a:avLst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5779008" y="3566160"/>
            <a:ext cx="4041648" cy="201168"/>
          </a:xfrm>
          <a:prstGeom prst="roundRect">
            <a:avLst>
              <a:gd name="adj" fmla="val 13636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5852160" y="3639312"/>
            <a:ext cx="45720" cy="45720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5943600" y="3639312"/>
            <a:ext cx="45720" cy="45720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6035040" y="3639312"/>
            <a:ext cx="45720" cy="45720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5888736" y="3877056"/>
            <a:ext cx="3822192" cy="237744"/>
          </a:xfrm>
          <a:prstGeom prst="roundRect">
            <a:avLst>
              <a:gd name="adj" fmla="val 7692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5888736" y="4187952"/>
            <a:ext cx="1697492" cy="402336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7799832" y="4187952"/>
            <a:ext cx="1374160" cy="201168"/>
          </a:xfrm>
          <a:prstGeom prst="roundRect">
            <a:avLst>
              <a:gd name="adj" fmla="val 13636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7854696" y="4251960"/>
            <a:ext cx="126443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Botón activo</a:t>
            </a:r>
            <a:endParaRPr lang="en-US" sz="740" dirty="0"/>
          </a:p>
        </p:txBody>
      </p:sp>
      <p:sp>
        <p:nvSpPr>
          <p:cNvPr id="44" name="Shape 41"/>
          <p:cNvSpPr/>
          <p:nvPr/>
        </p:nvSpPr>
        <p:spPr>
          <a:xfrm>
            <a:off x="5779008" y="4828032"/>
            <a:ext cx="4041648" cy="219456"/>
          </a:xfrm>
          <a:prstGeom prst="roundRect">
            <a:avLst>
              <a:gd name="adj" fmla="val 12500"/>
            </a:avLst>
          </a:prstGeom>
          <a:solidFill>
            <a:srgbClr val="E9F6EE"/>
          </a:solidFill>
          <a:ln w="12700">
            <a:solidFill>
              <a:srgbClr val="E9F6EE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5852160" y="4892040"/>
            <a:ext cx="389534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 -&gt; mensaje en consola</a:t>
            </a:r>
            <a:endParaRPr lang="en-US" sz="730" dirty="0"/>
          </a:p>
        </p:txBody>
      </p:sp>
      <p:sp>
        <p:nvSpPr>
          <p:cNvPr id="46" name="Text 43"/>
          <p:cNvSpPr/>
          <p:nvPr/>
        </p:nvSpPr>
        <p:spPr>
          <a:xfrm>
            <a:off x="5797296" y="4572000"/>
            <a:ext cx="40050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comportamiento</a:t>
            </a:r>
            <a:endParaRPr lang="en-US" sz="740" dirty="0"/>
          </a:p>
        </p:txBody>
      </p:sp>
      <p:sp>
        <p:nvSpPr>
          <p:cNvPr id="47" name="Shape 44"/>
          <p:cNvSpPr/>
          <p:nvPr/>
        </p:nvSpPr>
        <p:spPr>
          <a:xfrm>
            <a:off x="5458968" y="3822192"/>
            <a:ext cx="109728" cy="292608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60704" y="5504688"/>
            <a:ext cx="89062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interactividad no se deduce por apariencia: se comprueba ejecutando.</a:t>
            </a:r>
            <a:endParaRPr lang="en-US" sz="8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08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JavaScript no reemplaza HTML ni CSS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Trabaja sobre otra capa del sistema y conviene mantener separadas las responsabilidades desde el principio.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932688" y="2359152"/>
            <a:ext cx="2743200" cy="1847088"/>
          </a:xfrm>
          <a:prstGeom prst="roundRect">
            <a:avLst>
              <a:gd name="adj" fmla="val 1980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24128" y="2487168"/>
            <a:ext cx="109728" cy="159105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88720" y="2468880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HTML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188720" y="2816352"/>
            <a:ext cx="239572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Organiza contenido, semántica y jerarquía del documento. Si la estructura está mal, JavaScript no la vuelve clara por sí solo.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895344" y="3145536"/>
            <a:ext cx="201168" cy="292608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114800" y="2359152"/>
            <a:ext cx="2743200" cy="1847088"/>
          </a:xfrm>
          <a:prstGeom prst="roundRect">
            <a:avLst>
              <a:gd name="adj" fmla="val 198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206240" y="2487168"/>
            <a:ext cx="109728" cy="159105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370832" y="2468880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CSS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4370832" y="2816352"/>
            <a:ext cx="239572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apariencia, layout, responsive y sistema visual. No conviene pedirle a JavaScript lo que ya resuelve mejor la hoja de estilos.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7077456" y="3145536"/>
            <a:ext cx="201168" cy="292608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296912" y="2359152"/>
            <a:ext cx="2743200" cy="1847088"/>
          </a:xfrm>
          <a:prstGeom prst="roundRect">
            <a:avLst>
              <a:gd name="adj" fmla="val 198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388352" y="2487168"/>
            <a:ext cx="109728" cy="159105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552944" y="2468880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JavaScript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7552944" y="2816352"/>
            <a:ext cx="239572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Guarda datos, ejecuta instrucciones, toma decisiones y responde a eventos. Ahí empieza la lógica y el comportamiento.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1207008" y="4773168"/>
            <a:ext cx="8558784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408176" y="4937760"/>
            <a:ext cx="8156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interfaz final aparece cuando estructura, presentación y comportamiento conversan bien.</a:t>
            </a:r>
            <a:endParaRPr lang="en-US" sz="17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08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script es una secuencia de instrucciones que el navegador ejecuta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JavaScript no adivina intenciones: lee el código, lo ejecuta y deja evidencia técnica en consola.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896112" y="2139696"/>
            <a:ext cx="4754880" cy="3511296"/>
          </a:xfrm>
          <a:prstGeom prst="roundRect">
            <a:avLst>
              <a:gd name="adj" fmla="val 1042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24128" y="2249424"/>
            <a:ext cx="4498848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33856" y="2322576"/>
            <a:ext cx="42793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Fragmento mínimo ejecutable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5568" y="2706624"/>
            <a:ext cx="4334256" cy="276148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888736" y="2359152"/>
            <a:ext cx="1225296" cy="877824"/>
          </a:xfrm>
          <a:prstGeom prst="roundRect">
            <a:avLst>
              <a:gd name="adj" fmla="val 3125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961888" y="2468880"/>
            <a:ext cx="100584" cy="65836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144768" y="2487168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Lee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6144768" y="2761488"/>
            <a:ext cx="896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navegador interpreta el script.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7260336" y="2359152"/>
            <a:ext cx="1225296" cy="877824"/>
          </a:xfrm>
          <a:prstGeom prst="roundRect">
            <a:avLst>
              <a:gd name="adj" fmla="val 3125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333488" y="2468880"/>
            <a:ext cx="100584" cy="65836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516368" y="2487168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Ejecuta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7516368" y="2761488"/>
            <a:ext cx="896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instrucciones en orden.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8631936" y="2359152"/>
            <a:ext cx="1225296" cy="877824"/>
          </a:xfrm>
          <a:prstGeom prst="roundRect">
            <a:avLst>
              <a:gd name="adj" fmla="val 3125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8705088" y="2468880"/>
            <a:ext cx="100584" cy="65836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8887968" y="2487168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Evidencia</a:t>
            </a:r>
            <a:endParaRPr lang="en-US" sz="1250" dirty="0"/>
          </a:p>
        </p:txBody>
      </p:sp>
      <p:sp>
        <p:nvSpPr>
          <p:cNvPr id="25" name="Text 21"/>
          <p:cNvSpPr/>
          <p:nvPr/>
        </p:nvSpPr>
        <p:spPr>
          <a:xfrm>
            <a:off x="8887968" y="2761488"/>
            <a:ext cx="896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aparece en consola o en pantalla.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5888736" y="3511296"/>
            <a:ext cx="3986784" cy="1572768"/>
          </a:xfrm>
          <a:prstGeom prst="roundRect">
            <a:avLst>
              <a:gd name="adj" fmla="val 2326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108192" y="3712464"/>
            <a:ext cx="7132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Consola</a:t>
            </a:r>
            <a:endParaRPr lang="en-US" sz="1340" dirty="0"/>
          </a:p>
        </p:txBody>
      </p:sp>
      <p:sp>
        <p:nvSpPr>
          <p:cNvPr id="28" name="Text 24"/>
          <p:cNvSpPr/>
          <p:nvPr/>
        </p:nvSpPr>
        <p:spPr>
          <a:xfrm>
            <a:off x="6108192" y="4041648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7B8FA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</a:t>
            </a:r>
            <a:endParaRPr lang="en-US" sz="820" dirty="0"/>
          </a:p>
        </p:txBody>
      </p:sp>
      <p:sp>
        <p:nvSpPr>
          <p:cNvPr id="29" name="Text 25"/>
          <p:cNvSpPr/>
          <p:nvPr/>
        </p:nvSpPr>
        <p:spPr>
          <a:xfrm>
            <a:off x="6345936" y="4041648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A7E3A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"JavaScript está corriendo"</a:t>
            </a:r>
            <a:endParaRPr lang="en-US" sz="920" dirty="0"/>
          </a:p>
        </p:txBody>
      </p:sp>
      <p:sp>
        <p:nvSpPr>
          <p:cNvPr id="30" name="Text 26"/>
          <p:cNvSpPr/>
          <p:nvPr/>
        </p:nvSpPr>
        <p:spPr>
          <a:xfrm>
            <a:off x="6108192" y="4297680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7B8FA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</a:t>
            </a:r>
            <a:endParaRPr lang="en-US" sz="820" dirty="0"/>
          </a:p>
        </p:txBody>
      </p:sp>
      <p:sp>
        <p:nvSpPr>
          <p:cNvPr id="31" name="Text 27"/>
          <p:cNvSpPr/>
          <p:nvPr/>
        </p:nvSpPr>
        <p:spPr>
          <a:xfrm>
            <a:off x="6345936" y="4297680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F6E29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5</a:t>
            </a:r>
            <a:endParaRPr lang="en-US" sz="920" dirty="0"/>
          </a:p>
        </p:txBody>
      </p:sp>
      <p:sp>
        <p:nvSpPr>
          <p:cNvPr id="32" name="Text 28"/>
          <p:cNvSpPr/>
          <p:nvPr/>
        </p:nvSpPr>
        <p:spPr>
          <a:xfrm>
            <a:off x="6108192" y="4553712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7B8FA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</a:t>
            </a:r>
            <a:endParaRPr lang="en-US" sz="820" dirty="0"/>
          </a:p>
        </p:txBody>
      </p:sp>
      <p:sp>
        <p:nvSpPr>
          <p:cNvPr id="33" name="Text 29"/>
          <p:cNvSpPr/>
          <p:nvPr/>
        </p:nvSpPr>
        <p:spPr>
          <a:xfrm>
            <a:off x="6345936" y="4553712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DCE6F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undefined</a:t>
            </a:r>
            <a:endParaRPr lang="en-US" sz="920" dirty="0"/>
          </a:p>
        </p:txBody>
      </p:sp>
      <p:sp>
        <p:nvSpPr>
          <p:cNvPr id="34" name="Shape 30"/>
          <p:cNvSpPr/>
          <p:nvPr/>
        </p:nvSpPr>
        <p:spPr>
          <a:xfrm>
            <a:off x="5888736" y="5230368"/>
            <a:ext cx="3986784" cy="420624"/>
          </a:xfrm>
          <a:prstGeom prst="roundRect">
            <a:avLst>
              <a:gd name="adj" fmla="val 6522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5961888" y="5340096"/>
            <a:ext cx="100584" cy="20116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6144768" y="535838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Idea útil</a:t>
            </a:r>
            <a:endParaRPr lang="en-US" sz="11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08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consola es parte del trabajo, no un accesorio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 JavaScript empieza a ser obligatorio escribir, ejecutar, observar resultados y corregir con evidencia.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932688" y="2176272"/>
            <a:ext cx="4718304" cy="3145536"/>
          </a:xfrm>
          <a:prstGeom prst="roundRect">
            <a:avLst>
              <a:gd name="adj" fmla="val 116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70432" y="2395728"/>
            <a:ext cx="2651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Salida real de un script simple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188720" y="2816352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7B8FA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</a:t>
            </a:r>
            <a:endParaRPr lang="en-US" sz="820" dirty="0"/>
          </a:p>
        </p:txBody>
      </p:sp>
      <p:sp>
        <p:nvSpPr>
          <p:cNvPr id="13" name="Text 10"/>
          <p:cNvSpPr/>
          <p:nvPr/>
        </p:nvSpPr>
        <p:spPr>
          <a:xfrm>
            <a:off x="1426464" y="2816352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A7E3A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"Hola desde JavaScript"</a:t>
            </a:r>
            <a:endParaRPr lang="en-US" sz="920" dirty="0"/>
          </a:p>
        </p:txBody>
      </p:sp>
      <p:sp>
        <p:nvSpPr>
          <p:cNvPr id="14" name="Text 11"/>
          <p:cNvSpPr/>
          <p:nvPr/>
        </p:nvSpPr>
        <p:spPr>
          <a:xfrm>
            <a:off x="1188720" y="3090672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7B8FA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</a:t>
            </a:r>
            <a:endParaRPr lang="en-US" sz="820" dirty="0"/>
          </a:p>
        </p:txBody>
      </p:sp>
      <p:sp>
        <p:nvSpPr>
          <p:cNvPr id="15" name="Text 12"/>
          <p:cNvSpPr/>
          <p:nvPr/>
        </p:nvSpPr>
        <p:spPr>
          <a:xfrm>
            <a:off x="1426464" y="3090672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F6E29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5</a:t>
            </a:r>
            <a:endParaRPr lang="en-US" sz="920" dirty="0"/>
          </a:p>
        </p:txBody>
      </p:sp>
      <p:sp>
        <p:nvSpPr>
          <p:cNvPr id="16" name="Text 13"/>
          <p:cNvSpPr/>
          <p:nvPr/>
        </p:nvSpPr>
        <p:spPr>
          <a:xfrm>
            <a:off x="1188720" y="3364992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7B8FA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</a:t>
            </a:r>
            <a:endParaRPr lang="en-US" sz="820" dirty="0"/>
          </a:p>
        </p:txBody>
      </p:sp>
      <p:sp>
        <p:nvSpPr>
          <p:cNvPr id="17" name="Text 14"/>
          <p:cNvSpPr/>
          <p:nvPr/>
        </p:nvSpPr>
        <p:spPr>
          <a:xfrm>
            <a:off x="1426464" y="3364992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89D1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true</a:t>
            </a:r>
            <a:endParaRPr lang="en-US" sz="920" dirty="0"/>
          </a:p>
        </p:txBody>
      </p:sp>
      <p:sp>
        <p:nvSpPr>
          <p:cNvPr id="18" name="Text 15"/>
          <p:cNvSpPr/>
          <p:nvPr/>
        </p:nvSpPr>
        <p:spPr>
          <a:xfrm>
            <a:off x="1188720" y="3803904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7B8FA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1426464" y="3803904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FFB3B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Uncaught ReferenceError: saludoo is not defined</a:t>
            </a:r>
            <a:endParaRPr lang="en-US" sz="860" dirty="0"/>
          </a:p>
        </p:txBody>
      </p:sp>
      <p:sp>
        <p:nvSpPr>
          <p:cNvPr id="20" name="Shape 17"/>
          <p:cNvSpPr/>
          <p:nvPr/>
        </p:nvSpPr>
        <p:spPr>
          <a:xfrm>
            <a:off x="1170432" y="4389120"/>
            <a:ext cx="4224528" cy="713232"/>
          </a:xfrm>
          <a:prstGeom prst="roundRect">
            <a:avLst>
              <a:gd name="adj" fmla="val 3846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243584" y="4498848"/>
            <a:ext cx="100584" cy="49377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426464" y="4517136"/>
            <a:ext cx="3895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diferencia importante</a:t>
            </a:r>
            <a:endParaRPr lang="en-US" sz="1160" dirty="0"/>
          </a:p>
        </p:txBody>
      </p:sp>
      <p:sp>
        <p:nvSpPr>
          <p:cNvPr id="23" name="Text 20"/>
          <p:cNvSpPr/>
          <p:nvPr/>
        </p:nvSpPr>
        <p:spPr>
          <a:xfrm>
            <a:off x="1426464" y="4791456"/>
            <a:ext cx="3895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script puede fallar aunque la página siga viéndose casi igual. La consola muestra esa verdad técnica.</a:t>
            </a:r>
            <a:endParaRPr lang="en-US" sz="810" dirty="0"/>
          </a:p>
        </p:txBody>
      </p:sp>
      <p:sp>
        <p:nvSpPr>
          <p:cNvPr id="24" name="Shape 21"/>
          <p:cNvSpPr/>
          <p:nvPr/>
        </p:nvSpPr>
        <p:spPr>
          <a:xfrm>
            <a:off x="5925312" y="2395728"/>
            <a:ext cx="4041648" cy="749808"/>
          </a:xfrm>
          <a:prstGeom prst="roundRect">
            <a:avLst>
              <a:gd name="adj" fmla="val 3659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998464" y="2505456"/>
            <a:ext cx="100584" cy="53035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181344" y="2523744"/>
            <a:ext cx="3712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Mensajes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6181344" y="2798064"/>
            <a:ext cx="3712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sirven para confirmar valores, entender orden de ejecución y observar qué está ocurriendo.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5925312" y="3310128"/>
            <a:ext cx="4041648" cy="749808"/>
          </a:xfrm>
          <a:prstGeom prst="roundRect">
            <a:avLst>
              <a:gd name="adj" fmla="val 3659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998464" y="3419856"/>
            <a:ext cx="100584" cy="53035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181344" y="3438144"/>
            <a:ext cx="3712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Errores</a:t>
            </a:r>
            <a:endParaRPr lang="en-US" sz="1250" dirty="0"/>
          </a:p>
        </p:txBody>
      </p:sp>
      <p:sp>
        <p:nvSpPr>
          <p:cNvPr id="31" name="Text 28"/>
          <p:cNvSpPr/>
          <p:nvPr/>
        </p:nvSpPr>
        <p:spPr>
          <a:xfrm>
            <a:off x="6181344" y="3712464"/>
            <a:ext cx="3712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obligan a leer nombre, línea y causa del problema antes de aceptar cualquier ayuda externa.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5925312" y="4224528"/>
            <a:ext cx="4041648" cy="749808"/>
          </a:xfrm>
          <a:prstGeom prst="roundRect">
            <a:avLst>
              <a:gd name="adj" fmla="val 3659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998464" y="4334256"/>
            <a:ext cx="100584" cy="53035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181344" y="4352544"/>
            <a:ext cx="3712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Pruebas rápidas</a:t>
            </a:r>
            <a:endParaRPr lang="en-US" sz="1250" dirty="0"/>
          </a:p>
        </p:txBody>
      </p:sp>
      <p:sp>
        <p:nvSpPr>
          <p:cNvPr id="35" name="Text 32"/>
          <p:cNvSpPr/>
          <p:nvPr/>
        </p:nvSpPr>
        <p:spPr>
          <a:xfrm>
            <a:off x="6181344" y="4626864"/>
            <a:ext cx="3712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consola permite ejecutar pequeñas expresiones y verificar hipótesis sin reconstruir toda la página.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1133856" y="5486400"/>
            <a:ext cx="2121408" cy="694944"/>
          </a:xfrm>
          <a:prstGeom prst="roundRect">
            <a:avLst>
              <a:gd name="adj" fmla="val 394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1207008" y="5596128"/>
            <a:ext cx="100584" cy="47548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1389888" y="5614416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Escribir</a:t>
            </a:r>
            <a:endParaRPr lang="en-US" sz="1140" dirty="0"/>
          </a:p>
        </p:txBody>
      </p:sp>
      <p:sp>
        <p:nvSpPr>
          <p:cNvPr id="39" name="Text 36"/>
          <p:cNvSpPr/>
          <p:nvPr/>
        </p:nvSpPr>
        <p:spPr>
          <a:xfrm>
            <a:off x="1389888" y="5888736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instrucción pequeña y clara.</a:t>
            </a:r>
            <a:endParaRPr lang="en-US" sz="810" dirty="0"/>
          </a:p>
        </p:txBody>
      </p:sp>
      <p:sp>
        <p:nvSpPr>
          <p:cNvPr id="40" name="Shape 37"/>
          <p:cNvSpPr/>
          <p:nvPr/>
        </p:nvSpPr>
        <p:spPr>
          <a:xfrm>
            <a:off x="3383280" y="5724144"/>
            <a:ext cx="164592" cy="201168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3621024" y="5486400"/>
            <a:ext cx="2121408" cy="694944"/>
          </a:xfrm>
          <a:prstGeom prst="roundRect">
            <a:avLst>
              <a:gd name="adj" fmla="val 394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3694176" y="5596128"/>
            <a:ext cx="100584" cy="47548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3877056" y="5614416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Ejecutar</a:t>
            </a:r>
            <a:endParaRPr lang="en-US" sz="1140" dirty="0"/>
          </a:p>
        </p:txBody>
      </p:sp>
      <p:sp>
        <p:nvSpPr>
          <p:cNvPr id="44" name="Text 41"/>
          <p:cNvSpPr/>
          <p:nvPr/>
        </p:nvSpPr>
        <p:spPr>
          <a:xfrm>
            <a:off x="3877056" y="5888736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cargar la página y disparar el caso.</a:t>
            </a:r>
            <a:endParaRPr lang="en-US" sz="810" dirty="0"/>
          </a:p>
        </p:txBody>
      </p:sp>
      <p:sp>
        <p:nvSpPr>
          <p:cNvPr id="45" name="Shape 42"/>
          <p:cNvSpPr/>
          <p:nvPr/>
        </p:nvSpPr>
        <p:spPr>
          <a:xfrm>
            <a:off x="5870448" y="5724144"/>
            <a:ext cx="164592" cy="201168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6108192" y="5486400"/>
            <a:ext cx="2121408" cy="694944"/>
          </a:xfrm>
          <a:prstGeom prst="roundRect">
            <a:avLst>
              <a:gd name="adj" fmla="val 3947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6181344" y="5596128"/>
            <a:ext cx="100584" cy="47548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6364224" y="5614416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Leer</a:t>
            </a:r>
            <a:endParaRPr lang="en-US" sz="1140" dirty="0"/>
          </a:p>
        </p:txBody>
      </p:sp>
      <p:sp>
        <p:nvSpPr>
          <p:cNvPr id="49" name="Text 46"/>
          <p:cNvSpPr/>
          <p:nvPr/>
        </p:nvSpPr>
        <p:spPr>
          <a:xfrm>
            <a:off x="6364224" y="5888736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consola y resultado observable.</a:t>
            </a:r>
            <a:endParaRPr lang="en-US" sz="810" dirty="0"/>
          </a:p>
        </p:txBody>
      </p:sp>
      <p:sp>
        <p:nvSpPr>
          <p:cNvPr id="50" name="Shape 47"/>
          <p:cNvSpPr/>
          <p:nvPr/>
        </p:nvSpPr>
        <p:spPr>
          <a:xfrm>
            <a:off x="8357616" y="5724144"/>
            <a:ext cx="164592" cy="201168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8595360" y="5486400"/>
            <a:ext cx="2121408" cy="694944"/>
          </a:xfrm>
          <a:prstGeom prst="roundRect">
            <a:avLst>
              <a:gd name="adj" fmla="val 394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8668512" y="5596128"/>
            <a:ext cx="100584" cy="47548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8851392" y="5614416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Corregir</a:t>
            </a:r>
            <a:endParaRPr lang="en-US" sz="1140" dirty="0"/>
          </a:p>
        </p:txBody>
      </p:sp>
      <p:sp>
        <p:nvSpPr>
          <p:cNvPr id="54" name="Text 51"/>
          <p:cNvSpPr/>
          <p:nvPr/>
        </p:nvSpPr>
        <p:spPr>
          <a:xfrm>
            <a:off x="8851392" y="5888736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 volver a probar con criterio.</a:t>
            </a:r>
            <a:endParaRPr lang="en-US" sz="81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08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agente puede explicar; tú validas el comportamiento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JavaScript inicial ayuda mucho una primera explicación, pero el resultado real siempre debe comprobarse en navegador y consola.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932688" y="2139696"/>
            <a:ext cx="9015984" cy="3401568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60704" y="2267712"/>
            <a:ext cx="875995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70432" y="2340864"/>
            <a:ext cx="8540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puede acelerar un agente y qué sigue siendo tuyo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1078992" y="2706624"/>
            <a:ext cx="3502152" cy="2377440"/>
          </a:xfrm>
          <a:prstGeom prst="roundRect">
            <a:avLst>
              <a:gd name="adj" fmla="val 1538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188720" y="2834640"/>
            <a:ext cx="109728" cy="21214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389888" y="283464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Puede ayudar con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389888" y="3108960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explicación inicial y primeras versiones pequeñas</a:t>
            </a:r>
            <a:endParaRPr lang="en-US" sz="940" dirty="0"/>
          </a:p>
        </p:txBody>
      </p:sp>
      <p:sp>
        <p:nvSpPr>
          <p:cNvPr id="17" name="Shape 14"/>
          <p:cNvSpPr/>
          <p:nvPr/>
        </p:nvSpPr>
        <p:spPr>
          <a:xfrm>
            <a:off x="1389888" y="3456432"/>
            <a:ext cx="304495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481328" y="3570732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627632" y="3502152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explicar una línea de código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1389888" y="3858768"/>
            <a:ext cx="304495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481328" y="3973068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627632" y="390448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proponer un console.log mínimo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1389888" y="4261104"/>
            <a:ext cx="304495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481328" y="4375404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627632" y="4306824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comparar dos variantes de una función simple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1389888" y="4663440"/>
            <a:ext cx="304495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481328" y="4777740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627632" y="4709160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resumir qué hace un fragmento corto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706624"/>
            <a:ext cx="3502152" cy="237744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409944" y="2834640"/>
            <a:ext cx="109728" cy="212140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611112" y="283464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conviene delegar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6611112" y="3108960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lectura técnica, prueba real y validación final</a:t>
            </a:r>
            <a:endParaRPr lang="en-US" sz="940" dirty="0"/>
          </a:p>
        </p:txBody>
      </p:sp>
      <p:sp>
        <p:nvSpPr>
          <p:cNvPr id="33" name="Shape 30"/>
          <p:cNvSpPr/>
          <p:nvPr/>
        </p:nvSpPr>
        <p:spPr>
          <a:xfrm>
            <a:off x="6611112" y="3456432"/>
            <a:ext cx="304495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702552" y="3570732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848856" y="3502152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decidir si el código corre sin abrir la consola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6611112" y="3858768"/>
            <a:ext cx="304495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702552" y="3973068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848856" y="390448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dar por correcta una salida no verificada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6611112" y="4261104"/>
            <a:ext cx="304495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702552" y="4375404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848856" y="4306824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ignorar errores reales del navegador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6611112" y="4663440"/>
            <a:ext cx="304495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702552" y="4777740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848856" y="4709160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aceptar comportamiento que no coincide con la intención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4837176" y="3081528"/>
            <a:ext cx="1207008" cy="1627632"/>
          </a:xfrm>
          <a:prstGeom prst="roundRect">
            <a:avLst>
              <a:gd name="adj" fmla="val 4545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946904" y="3227832"/>
            <a:ext cx="987552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5020056" y="3648456"/>
            <a:ext cx="841248" cy="164592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5001768" y="3273552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Verificación</a:t>
            </a:r>
            <a:endParaRPr lang="en-US" sz="1060" dirty="0"/>
          </a:p>
        </p:txBody>
      </p:sp>
      <p:sp>
        <p:nvSpPr>
          <p:cNvPr id="49" name="Text 46"/>
          <p:cNvSpPr/>
          <p:nvPr/>
        </p:nvSpPr>
        <p:spPr>
          <a:xfrm>
            <a:off x="4965192" y="4059936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apoyo sirve para destrabar. La validez del código se confirma ejecutando.</a:t>
            </a:r>
            <a:endParaRPr lang="en-US" sz="720" dirty="0"/>
          </a:p>
        </p:txBody>
      </p:sp>
      <p:sp>
        <p:nvSpPr>
          <p:cNvPr id="50" name="Shape 47"/>
          <p:cNvSpPr/>
          <p:nvPr/>
        </p:nvSpPr>
        <p:spPr>
          <a:xfrm>
            <a:off x="1133856" y="5138928"/>
            <a:ext cx="8613648" cy="219456"/>
          </a:xfrm>
          <a:prstGeom prst="roundRect">
            <a:avLst>
              <a:gd name="adj" fmla="val 1250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1243584" y="5184648"/>
            <a:ext cx="83941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Entender -&gt; ejecutar -&gt; leer -&gt; validar.</a:t>
            </a:r>
            <a:endParaRPr lang="en-US" sz="8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08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Preguntas para cerrar el bloque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 de pasar a datos y variables, conviene fijar por qué JavaScript entra recién ahora al flujo de la interfaz.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969264" y="2249424"/>
            <a:ext cx="9144000" cy="877824"/>
          </a:xfrm>
          <a:prstGeom prst="roundRect">
            <a:avLst>
              <a:gd name="adj" fmla="val 416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60704" y="2377440"/>
            <a:ext cx="109728" cy="62179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25296" y="2359152"/>
            <a:ext cx="8796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¿Por qué una página bien construida con HTML y CSS puede seguir siendo completamente estática?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225296" y="2706624"/>
            <a:ext cx="879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respuesta debería mencionar estructura, apariencia y ausencia de comportamiento observable.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969264" y="3401568"/>
            <a:ext cx="9144000" cy="877824"/>
          </a:xfrm>
          <a:prstGeom prst="roundRect">
            <a:avLst>
              <a:gd name="adj" fmla="val 416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060704" y="3529584"/>
            <a:ext cx="109728" cy="62179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225296" y="3511296"/>
            <a:ext cx="8796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¿Qué tipo de problemas empieza a resolver JavaScript dentro de una interfaz web?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225296" y="3858768"/>
            <a:ext cx="879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Guardar datos, ejecutar instrucciones, tomar decisiones y responder a acciones del usuario.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969264" y="4553712"/>
            <a:ext cx="9144000" cy="877824"/>
          </a:xfrm>
          <a:prstGeom prst="roundRect">
            <a:avLst>
              <a:gd name="adj" fmla="val 4167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060704" y="4681728"/>
            <a:ext cx="109728" cy="62179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225296" y="4663440"/>
            <a:ext cx="8796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¿Por qué la consola del navegador se vuelve una herramienta central al empezar a trabajar con scripts?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225296" y="5010912"/>
            <a:ext cx="8796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Porque deja evidencia de ejecución, errores y resultados que no siempre aparecen directamente en pantalla.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08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Cierre del Bloque 1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JavaScript ya quedó instalado como capa de comportamiento. El siguiente paso es entender con qué datos trabaja esa lógica.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914400" y="2322576"/>
            <a:ext cx="4315968" cy="1463040"/>
          </a:xfrm>
          <a:prstGeom prst="roundRect">
            <a:avLst>
              <a:gd name="adj" fmla="val 250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15568" y="2487168"/>
            <a:ext cx="391363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Antes de reaccionar, un programa necesita representar información con claridad.</a:t>
            </a:r>
            <a:endParaRPr lang="en-US" sz="2120" dirty="0"/>
          </a:p>
        </p:txBody>
      </p:sp>
      <p:sp>
        <p:nvSpPr>
          <p:cNvPr id="12" name="Shape 9"/>
          <p:cNvSpPr/>
          <p:nvPr/>
        </p:nvSpPr>
        <p:spPr>
          <a:xfrm>
            <a:off x="1115568" y="4169664"/>
            <a:ext cx="3931920" cy="914400"/>
          </a:xfrm>
          <a:prstGeom prst="roundRect">
            <a:avLst>
              <a:gd name="adj" fmla="val 3000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188720" y="4279392"/>
            <a:ext cx="100584" cy="69494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371600" y="4297680"/>
            <a:ext cx="3602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 que sigue</a:t>
            </a:r>
            <a:endParaRPr lang="en-US" sz="1240" dirty="0"/>
          </a:p>
        </p:txBody>
      </p:sp>
      <p:sp>
        <p:nvSpPr>
          <p:cNvPr id="15" name="Text 12"/>
          <p:cNvSpPr/>
          <p:nvPr/>
        </p:nvSpPr>
        <p:spPr>
          <a:xfrm>
            <a:off x="1371600" y="4572000"/>
            <a:ext cx="36027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Variables, let, const, string, number y boolean preparan el terreno para toda la lógica posterior.</a:t>
            </a:r>
            <a:endParaRPr lang="en-US" sz="870" dirty="0"/>
          </a:p>
        </p:txBody>
      </p:sp>
      <p:sp>
        <p:nvSpPr>
          <p:cNvPr id="16" name="Shape 13"/>
          <p:cNvSpPr/>
          <p:nvPr/>
        </p:nvSpPr>
        <p:spPr>
          <a:xfrm>
            <a:off x="5449824" y="2212848"/>
            <a:ext cx="4645152" cy="3438144"/>
          </a:xfrm>
          <a:prstGeom prst="roundRect">
            <a:avLst>
              <a:gd name="adj" fmla="val 106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577840" y="2340864"/>
            <a:ext cx="4389120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687568" y="2414016"/>
            <a:ext cx="4169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Avance del Bloque 2</a:t>
            </a:r>
            <a:endParaRPr lang="en-US" sz="980" dirty="0"/>
          </a:p>
        </p:txBody>
      </p:sp>
      <p:sp>
        <p:nvSpPr>
          <p:cNvPr id="19" name="Shape 16"/>
          <p:cNvSpPr/>
          <p:nvPr/>
        </p:nvSpPr>
        <p:spPr>
          <a:xfrm>
            <a:off x="5650992" y="2779776"/>
            <a:ext cx="2057400" cy="1152144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650992" y="2779776"/>
            <a:ext cx="73152" cy="115214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779008" y="2889504"/>
            <a:ext cx="1801368" cy="219456"/>
          </a:xfrm>
          <a:prstGeom prst="roundRect">
            <a:avLst>
              <a:gd name="adj" fmla="val 12500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33872" y="2889504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string</a:t>
            </a:r>
            <a:endParaRPr lang="en-US" sz="1040" dirty="0"/>
          </a:p>
        </p:txBody>
      </p:sp>
      <p:sp>
        <p:nvSpPr>
          <p:cNvPr id="23" name="Shape 20"/>
          <p:cNvSpPr/>
          <p:nvPr/>
        </p:nvSpPr>
        <p:spPr>
          <a:xfrm>
            <a:off x="5779008" y="3182112"/>
            <a:ext cx="1801368" cy="347472"/>
          </a:xfrm>
          <a:prstGeom prst="roundRect">
            <a:avLst>
              <a:gd name="adj" fmla="val 10526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852160" y="3182112"/>
            <a:ext cx="1655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"Nodo Web"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5797296" y="3602736"/>
            <a:ext cx="1764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texto para nombres, mensajes y contenido</a:t>
            </a:r>
            <a:endParaRPr lang="en-US" sz="700" dirty="0"/>
          </a:p>
        </p:txBody>
      </p:sp>
      <p:sp>
        <p:nvSpPr>
          <p:cNvPr id="26" name="Shape 23"/>
          <p:cNvSpPr/>
          <p:nvPr/>
        </p:nvSpPr>
        <p:spPr>
          <a:xfrm>
            <a:off x="7836408" y="2779776"/>
            <a:ext cx="2057400" cy="1152144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836408" y="2779776"/>
            <a:ext cx="73152" cy="115214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964424" y="2889504"/>
            <a:ext cx="1801368" cy="219456"/>
          </a:xfrm>
          <a:prstGeom prst="roundRect">
            <a:avLst>
              <a:gd name="adj" fmla="val 1250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019288" y="2889504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number</a:t>
            </a:r>
            <a:endParaRPr lang="en-US" sz="1040" dirty="0"/>
          </a:p>
        </p:txBody>
      </p:sp>
      <p:sp>
        <p:nvSpPr>
          <p:cNvPr id="30" name="Shape 27"/>
          <p:cNvSpPr/>
          <p:nvPr/>
        </p:nvSpPr>
        <p:spPr>
          <a:xfrm>
            <a:off x="7964424" y="3182112"/>
            <a:ext cx="1801368" cy="347472"/>
          </a:xfrm>
          <a:prstGeom prst="roundRect">
            <a:avLst>
              <a:gd name="adj" fmla="val 10526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037576" y="3182112"/>
            <a:ext cx="1655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14990</a:t>
            </a:r>
            <a:endParaRPr lang="en-US" sz="740" dirty="0"/>
          </a:p>
        </p:txBody>
      </p:sp>
      <p:sp>
        <p:nvSpPr>
          <p:cNvPr id="32" name="Text 29"/>
          <p:cNvSpPr/>
          <p:nvPr/>
        </p:nvSpPr>
        <p:spPr>
          <a:xfrm>
            <a:off x="7982712" y="3602736"/>
            <a:ext cx="1764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sirve para calcular, contar o comparar</a:t>
            </a:r>
            <a:endParaRPr lang="en-US" sz="700" dirty="0"/>
          </a:p>
        </p:txBody>
      </p:sp>
      <p:sp>
        <p:nvSpPr>
          <p:cNvPr id="33" name="Shape 30"/>
          <p:cNvSpPr/>
          <p:nvPr/>
        </p:nvSpPr>
        <p:spPr>
          <a:xfrm>
            <a:off x="5650992" y="4078224"/>
            <a:ext cx="2057400" cy="1152144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650992" y="4078224"/>
            <a:ext cx="73152" cy="115214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779008" y="4187952"/>
            <a:ext cx="1801368" cy="219456"/>
          </a:xfrm>
          <a:prstGeom prst="roundRect">
            <a:avLst>
              <a:gd name="adj" fmla="val 1250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833872" y="4187952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boolean</a:t>
            </a:r>
            <a:endParaRPr lang="en-US" sz="1040" dirty="0"/>
          </a:p>
        </p:txBody>
      </p:sp>
      <p:sp>
        <p:nvSpPr>
          <p:cNvPr id="37" name="Shape 34"/>
          <p:cNvSpPr/>
          <p:nvPr/>
        </p:nvSpPr>
        <p:spPr>
          <a:xfrm>
            <a:off x="5779008" y="4480560"/>
            <a:ext cx="1801368" cy="347472"/>
          </a:xfrm>
          <a:prstGeom prst="roundRect">
            <a:avLst>
              <a:gd name="adj" fmla="val 10526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852160" y="4480560"/>
            <a:ext cx="1655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740" dirty="0"/>
          </a:p>
        </p:txBody>
      </p:sp>
      <p:sp>
        <p:nvSpPr>
          <p:cNvPr id="39" name="Text 36"/>
          <p:cNvSpPr/>
          <p:nvPr/>
        </p:nvSpPr>
        <p:spPr>
          <a:xfrm>
            <a:off x="5797296" y="4901184"/>
            <a:ext cx="1764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marca si una condicion se cumple o no</a:t>
            </a:r>
            <a:endParaRPr lang="en-US" sz="700" dirty="0"/>
          </a:p>
        </p:txBody>
      </p:sp>
      <p:sp>
        <p:nvSpPr>
          <p:cNvPr id="40" name="Shape 37"/>
          <p:cNvSpPr/>
          <p:nvPr/>
        </p:nvSpPr>
        <p:spPr>
          <a:xfrm>
            <a:off x="7836408" y="4078224"/>
            <a:ext cx="2057400" cy="1152144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7836408" y="4078224"/>
            <a:ext cx="73152" cy="115214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7964424" y="4187952"/>
            <a:ext cx="1801368" cy="219456"/>
          </a:xfrm>
          <a:prstGeom prst="roundRect">
            <a:avLst>
              <a:gd name="adj" fmla="val 1250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8019288" y="4187952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variable</a:t>
            </a:r>
            <a:endParaRPr lang="en-US" sz="1040" dirty="0"/>
          </a:p>
        </p:txBody>
      </p:sp>
      <p:sp>
        <p:nvSpPr>
          <p:cNvPr id="44" name="Shape 41"/>
          <p:cNvSpPr/>
          <p:nvPr/>
        </p:nvSpPr>
        <p:spPr>
          <a:xfrm>
            <a:off x="7964424" y="4480560"/>
            <a:ext cx="1801368" cy="347472"/>
          </a:xfrm>
          <a:prstGeom prst="roundRect">
            <a:avLst>
              <a:gd name="adj" fmla="val 10526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8037576" y="4480560"/>
            <a:ext cx="1655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precio = 14990</a:t>
            </a:r>
            <a:endParaRPr lang="en-US" sz="740" dirty="0"/>
          </a:p>
        </p:txBody>
      </p:sp>
      <p:sp>
        <p:nvSpPr>
          <p:cNvPr id="46" name="Text 43"/>
          <p:cNvSpPr/>
          <p:nvPr/>
        </p:nvSpPr>
        <p:spPr>
          <a:xfrm>
            <a:off x="7982712" y="4901184"/>
            <a:ext cx="1764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nombre que guarda un valor util</a:t>
            </a:r>
            <a:endParaRPr lang="en-US" sz="700" dirty="0"/>
          </a:p>
        </p:txBody>
      </p:sp>
      <p:sp>
        <p:nvSpPr>
          <p:cNvPr id="47" name="Text 44"/>
          <p:cNvSpPr/>
          <p:nvPr/>
        </p:nvSpPr>
        <p:spPr>
          <a:xfrm>
            <a:off x="5632704" y="5486400"/>
            <a:ext cx="42793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 datos claros no hay decisiones claras.</a:t>
            </a:r>
            <a:endParaRPr lang="en-US" sz="8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08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pagina ordenada puede seguir completamente muda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primer contraste importante no es bonito versus feo. Es estructura visible versus comportamiento observable.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914400" y="1993392"/>
            <a:ext cx="4443984" cy="2980944"/>
          </a:xfrm>
          <a:prstGeom prst="roundRect">
            <a:avLst>
              <a:gd name="adj" fmla="val 122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14400" y="1993392"/>
            <a:ext cx="4443984" cy="38404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33856" y="2121408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 ve resuelta</a:t>
            </a:r>
            <a:endParaRPr lang="en-US" sz="1260" dirty="0"/>
          </a:p>
        </p:txBody>
      </p:sp>
      <p:sp>
        <p:nvSpPr>
          <p:cNvPr id="13" name="Shape 10"/>
          <p:cNvSpPr/>
          <p:nvPr/>
        </p:nvSpPr>
        <p:spPr>
          <a:xfrm>
            <a:off x="1152144" y="2578608"/>
            <a:ext cx="3931920" cy="384048"/>
          </a:xfrm>
          <a:prstGeom prst="roundRect">
            <a:avLst>
              <a:gd name="adj" fmla="val 9524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152144" y="3145536"/>
            <a:ext cx="1847088" cy="1188720"/>
          </a:xfrm>
          <a:prstGeom prst="roundRect">
            <a:avLst>
              <a:gd name="adj" fmla="val 307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182112" y="3145536"/>
            <a:ext cx="1901952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182112" y="3803904"/>
            <a:ext cx="1901952" cy="530352"/>
          </a:xfrm>
          <a:prstGeom prst="roundRect">
            <a:avLst>
              <a:gd name="adj" fmla="val 6897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261872" y="4480560"/>
            <a:ext cx="3675888" cy="274320"/>
          </a:xfrm>
          <a:prstGeom prst="roundRect">
            <a:avLst>
              <a:gd name="adj" fmla="val 13333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353312" y="4572000"/>
            <a:ext cx="91440" cy="9144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536192" y="4558284"/>
            <a:ext cx="325526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Hay HTML y CSS. Todavia no hay respuesta al usuario.</a:t>
            </a:r>
            <a:endParaRPr lang="en-US" sz="810" dirty="0"/>
          </a:p>
        </p:txBody>
      </p:sp>
      <p:sp>
        <p:nvSpPr>
          <p:cNvPr id="20" name="Shape 17"/>
          <p:cNvSpPr/>
          <p:nvPr/>
        </p:nvSpPr>
        <p:spPr>
          <a:xfrm>
            <a:off x="5522976" y="1993392"/>
            <a:ext cx="4425696" cy="896112"/>
          </a:xfrm>
          <a:prstGeom prst="roundRect">
            <a:avLst>
              <a:gd name="adj" fmla="val 4082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614416" y="2121408"/>
            <a:ext cx="109728" cy="64008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779008" y="2103120"/>
            <a:ext cx="4078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Hay estructura</a:t>
            </a:r>
            <a:endParaRPr lang="en-US" sz="1420" dirty="0"/>
          </a:p>
        </p:txBody>
      </p:sp>
      <p:sp>
        <p:nvSpPr>
          <p:cNvPr id="23" name="Text 20"/>
          <p:cNvSpPr/>
          <p:nvPr/>
        </p:nvSpPr>
        <p:spPr>
          <a:xfrm>
            <a:off x="5779008" y="2450592"/>
            <a:ext cx="4078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contenido se puede leer, pero aun no ejecuta decisiones ni reacciones.</a:t>
            </a:r>
            <a:endParaRPr lang="en-US" sz="880" dirty="0"/>
          </a:p>
        </p:txBody>
      </p:sp>
      <p:sp>
        <p:nvSpPr>
          <p:cNvPr id="24" name="Shape 21"/>
          <p:cNvSpPr/>
          <p:nvPr/>
        </p:nvSpPr>
        <p:spPr>
          <a:xfrm>
            <a:off x="5522976" y="3090672"/>
            <a:ext cx="4425696" cy="896112"/>
          </a:xfrm>
          <a:prstGeom prst="roundRect">
            <a:avLst>
              <a:gd name="adj" fmla="val 4082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614416" y="3218688"/>
            <a:ext cx="109728" cy="64008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779008" y="3200400"/>
            <a:ext cx="4078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Hay presentacion</a:t>
            </a:r>
            <a:endParaRPr lang="en-US" sz="1420" dirty="0"/>
          </a:p>
        </p:txBody>
      </p:sp>
      <p:sp>
        <p:nvSpPr>
          <p:cNvPr id="27" name="Text 24"/>
          <p:cNvSpPr/>
          <p:nvPr/>
        </p:nvSpPr>
        <p:spPr>
          <a:xfrm>
            <a:off x="5779008" y="3547872"/>
            <a:ext cx="4078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interfaz puede verse ordenada sin que eso implique comportamiento real.</a:t>
            </a:r>
            <a:endParaRPr lang="en-US" sz="880" dirty="0"/>
          </a:p>
        </p:txBody>
      </p:sp>
      <p:sp>
        <p:nvSpPr>
          <p:cNvPr id="28" name="Shape 25"/>
          <p:cNvSpPr/>
          <p:nvPr/>
        </p:nvSpPr>
        <p:spPr>
          <a:xfrm>
            <a:off x="5522976" y="4187952"/>
            <a:ext cx="4425696" cy="896112"/>
          </a:xfrm>
          <a:prstGeom prst="roundRect">
            <a:avLst>
              <a:gd name="adj" fmla="val 4082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614416" y="4315968"/>
            <a:ext cx="109728" cy="64008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779008" y="4297680"/>
            <a:ext cx="4078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Falta reaccion</a:t>
            </a:r>
            <a:endParaRPr lang="en-US" sz="1420" dirty="0"/>
          </a:p>
        </p:txBody>
      </p:sp>
      <p:sp>
        <p:nvSpPr>
          <p:cNvPr id="31" name="Text 28"/>
          <p:cNvSpPr/>
          <p:nvPr/>
        </p:nvSpPr>
        <p:spPr>
          <a:xfrm>
            <a:off x="5779008" y="4645152"/>
            <a:ext cx="4078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JavaScript aparece cuando la pagina necesita ejecutar algo en el momento correcto.</a:t>
            </a:r>
            <a:endParaRPr lang="en-US" sz="8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08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 hace el navegador con un script corto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Pensarlo como secuencia ayuda a entender por que consola, carga y ejecucion estan conectadas.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896112" y="2011680"/>
            <a:ext cx="2121408" cy="694944"/>
          </a:xfrm>
          <a:prstGeom prst="roundRect">
            <a:avLst>
              <a:gd name="adj" fmla="val 394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69264" y="2121408"/>
            <a:ext cx="100584" cy="47548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52144" y="2139696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Leer HTML</a:t>
            </a:r>
            <a:endParaRPr lang="en-US" sz="1140" dirty="0"/>
          </a:p>
        </p:txBody>
      </p:sp>
      <p:sp>
        <p:nvSpPr>
          <p:cNvPr id="13" name="Text 10"/>
          <p:cNvSpPr/>
          <p:nvPr/>
        </p:nvSpPr>
        <p:spPr>
          <a:xfrm>
            <a:off x="1152144" y="2414016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encuentra el script dentro de la pagina</a:t>
            </a:r>
            <a:endParaRPr lang="en-US" sz="810" dirty="0"/>
          </a:p>
        </p:txBody>
      </p:sp>
      <p:sp>
        <p:nvSpPr>
          <p:cNvPr id="14" name="Shape 11"/>
          <p:cNvSpPr/>
          <p:nvPr/>
        </p:nvSpPr>
        <p:spPr>
          <a:xfrm>
            <a:off x="3127248" y="2249424"/>
            <a:ext cx="164592" cy="201168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401568" y="2011680"/>
            <a:ext cx="2121408" cy="694944"/>
          </a:xfrm>
          <a:prstGeom prst="roundRect">
            <a:avLst>
              <a:gd name="adj" fmla="val 3947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474720" y="2121408"/>
            <a:ext cx="100584" cy="47548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57600" y="2139696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Cargar JS</a:t>
            </a:r>
            <a:endParaRPr lang="en-US" sz="1140" dirty="0"/>
          </a:p>
        </p:txBody>
      </p:sp>
      <p:sp>
        <p:nvSpPr>
          <p:cNvPr id="18" name="Text 15"/>
          <p:cNvSpPr/>
          <p:nvPr/>
        </p:nvSpPr>
        <p:spPr>
          <a:xfrm>
            <a:off x="3657600" y="2414016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prepara instrucciones para ejecutar</a:t>
            </a:r>
            <a:endParaRPr lang="en-US" sz="810" dirty="0"/>
          </a:p>
        </p:txBody>
      </p:sp>
      <p:sp>
        <p:nvSpPr>
          <p:cNvPr id="19" name="Shape 16"/>
          <p:cNvSpPr/>
          <p:nvPr/>
        </p:nvSpPr>
        <p:spPr>
          <a:xfrm>
            <a:off x="5632704" y="2249424"/>
            <a:ext cx="164592" cy="201168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907024" y="2011680"/>
            <a:ext cx="2121408" cy="694944"/>
          </a:xfrm>
          <a:prstGeom prst="roundRect">
            <a:avLst>
              <a:gd name="adj" fmla="val 394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980176" y="2121408"/>
            <a:ext cx="100584" cy="47548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163056" y="2139696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Ejecutar</a:t>
            </a:r>
            <a:endParaRPr lang="en-US" sz="1140" dirty="0"/>
          </a:p>
        </p:txBody>
      </p:sp>
      <p:sp>
        <p:nvSpPr>
          <p:cNvPr id="23" name="Text 20"/>
          <p:cNvSpPr/>
          <p:nvPr/>
        </p:nvSpPr>
        <p:spPr>
          <a:xfrm>
            <a:off x="6163056" y="2414016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 linea por linea en el contexto del navegador</a:t>
            </a:r>
            <a:endParaRPr lang="en-US" sz="810" dirty="0"/>
          </a:p>
        </p:txBody>
      </p:sp>
      <p:sp>
        <p:nvSpPr>
          <p:cNvPr id="24" name="Shape 21"/>
          <p:cNvSpPr/>
          <p:nvPr/>
        </p:nvSpPr>
        <p:spPr>
          <a:xfrm>
            <a:off x="8138160" y="2249424"/>
            <a:ext cx="164592" cy="201168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412480" y="2011680"/>
            <a:ext cx="2121408" cy="694944"/>
          </a:xfrm>
          <a:prstGeom prst="roundRect">
            <a:avLst>
              <a:gd name="adj" fmla="val 394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485632" y="2121408"/>
            <a:ext cx="100584" cy="47548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668512" y="2139696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Observar</a:t>
            </a:r>
            <a:endParaRPr lang="en-US" sz="1140" dirty="0"/>
          </a:p>
        </p:txBody>
      </p:sp>
      <p:sp>
        <p:nvSpPr>
          <p:cNvPr id="28" name="Text 25"/>
          <p:cNvSpPr/>
          <p:nvPr/>
        </p:nvSpPr>
        <p:spPr>
          <a:xfrm>
            <a:off x="8668512" y="2414016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mirar consola y resultado visible</a:t>
            </a:r>
            <a:endParaRPr lang="en-US" sz="810" dirty="0"/>
          </a:p>
        </p:txBody>
      </p:sp>
      <p:sp>
        <p:nvSpPr>
          <p:cNvPr id="29" name="Shape 26"/>
          <p:cNvSpPr/>
          <p:nvPr/>
        </p:nvSpPr>
        <p:spPr>
          <a:xfrm>
            <a:off x="932688" y="3127248"/>
            <a:ext cx="4517136" cy="1828800"/>
          </a:xfrm>
          <a:prstGeom prst="roundRect">
            <a:avLst>
              <a:gd name="adj" fmla="val 200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060704" y="3236976"/>
            <a:ext cx="4261104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170432" y="3310128"/>
            <a:ext cx="4041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Script minimo</a:t>
            </a:r>
            <a:endParaRPr lang="en-US" sz="1000" dirty="0"/>
          </a:p>
        </p:txBody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2144" y="3730752"/>
            <a:ext cx="4096512" cy="1078992"/>
          </a:xfrm>
          <a:prstGeom prst="rect">
            <a:avLst/>
          </a:prstGeom>
        </p:spPr>
      </p:pic>
      <p:sp>
        <p:nvSpPr>
          <p:cNvPr id="33" name="Shape 29"/>
          <p:cNvSpPr/>
          <p:nvPr/>
        </p:nvSpPr>
        <p:spPr>
          <a:xfrm>
            <a:off x="5650992" y="3127248"/>
            <a:ext cx="4315968" cy="1828800"/>
          </a:xfrm>
          <a:prstGeom prst="roundRect">
            <a:avLst>
              <a:gd name="adj" fmla="val 200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5870448" y="3273552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Consola</a:t>
            </a:r>
            <a:endParaRPr lang="en-US" sz="1240" dirty="0"/>
          </a:p>
        </p:txBody>
      </p:sp>
      <p:sp>
        <p:nvSpPr>
          <p:cNvPr id="35" name="Text 31"/>
          <p:cNvSpPr/>
          <p:nvPr/>
        </p:nvSpPr>
        <p:spPr>
          <a:xfrm>
            <a:off x="5870448" y="3730752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7B8FA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</a:t>
            </a:r>
            <a:endParaRPr lang="en-US" sz="820" dirty="0"/>
          </a:p>
        </p:txBody>
      </p:sp>
      <p:sp>
        <p:nvSpPr>
          <p:cNvPr id="36" name="Text 32"/>
          <p:cNvSpPr/>
          <p:nvPr/>
        </p:nvSpPr>
        <p:spPr>
          <a:xfrm>
            <a:off x="6108192" y="3730752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DCE6F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&gt; Script encontrado</a:t>
            </a:r>
            <a:endParaRPr lang="en-US" sz="890" dirty="0"/>
          </a:p>
        </p:txBody>
      </p:sp>
      <p:sp>
        <p:nvSpPr>
          <p:cNvPr id="37" name="Text 33"/>
          <p:cNvSpPr/>
          <p:nvPr/>
        </p:nvSpPr>
        <p:spPr>
          <a:xfrm>
            <a:off x="5870448" y="3968496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7B8FA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</a:t>
            </a:r>
            <a:endParaRPr lang="en-US" sz="820" dirty="0"/>
          </a:p>
        </p:txBody>
      </p:sp>
      <p:sp>
        <p:nvSpPr>
          <p:cNvPr id="38" name="Text 34"/>
          <p:cNvSpPr/>
          <p:nvPr/>
        </p:nvSpPr>
        <p:spPr>
          <a:xfrm>
            <a:off x="6108192" y="3968496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DCE6F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&gt; Ejecutando...</a:t>
            </a:r>
            <a:endParaRPr lang="en-US" sz="890" dirty="0"/>
          </a:p>
        </p:txBody>
      </p:sp>
      <p:sp>
        <p:nvSpPr>
          <p:cNvPr id="39" name="Text 35"/>
          <p:cNvSpPr/>
          <p:nvPr/>
        </p:nvSpPr>
        <p:spPr>
          <a:xfrm>
            <a:off x="5870448" y="4206240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7B8FA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</a:t>
            </a:r>
            <a:endParaRPr lang="en-US" sz="820" dirty="0"/>
          </a:p>
        </p:txBody>
      </p:sp>
      <p:sp>
        <p:nvSpPr>
          <p:cNvPr id="40" name="Text 36"/>
          <p:cNvSpPr/>
          <p:nvPr/>
        </p:nvSpPr>
        <p:spPr>
          <a:xfrm>
            <a:off x="6108192" y="4206240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F2D26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JS activo</a:t>
            </a:r>
            <a:endParaRPr lang="en-US" sz="910" dirty="0"/>
          </a:p>
        </p:txBody>
      </p:sp>
      <p:sp>
        <p:nvSpPr>
          <p:cNvPr id="41" name="Shape 37"/>
          <p:cNvSpPr/>
          <p:nvPr/>
        </p:nvSpPr>
        <p:spPr>
          <a:xfrm>
            <a:off x="5833872" y="4572000"/>
            <a:ext cx="3785616" cy="274320"/>
          </a:xfrm>
          <a:prstGeom prst="roundRect">
            <a:avLst>
              <a:gd name="adj" fmla="val 13333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5925312" y="4663440"/>
            <a:ext cx="91440" cy="9144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6108192" y="4649724"/>
            <a:ext cx="327355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output confirma que el codigo si paso por el navegador.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08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consola no esta de adorno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Sirve para confirmar si el script corre, si un valor existe y si una accion produjo salida real.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914400" y="1993392"/>
            <a:ext cx="4535424" cy="3127248"/>
          </a:xfrm>
          <a:prstGeom prst="roundRect">
            <a:avLst>
              <a:gd name="adj" fmla="val 117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33856" y="2157984"/>
            <a:ext cx="2011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 te permite comprobar</a:t>
            </a:r>
            <a:endParaRPr lang="en-US" sz="1280" dirty="0"/>
          </a:p>
        </p:txBody>
      </p:sp>
      <p:sp>
        <p:nvSpPr>
          <p:cNvPr id="12" name="Text 9"/>
          <p:cNvSpPr/>
          <p:nvPr/>
        </p:nvSpPr>
        <p:spPr>
          <a:xfrm>
            <a:off x="1133856" y="2615184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7B8FA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</a:t>
            </a:r>
            <a:endParaRPr lang="en-US" sz="820" dirty="0"/>
          </a:p>
        </p:txBody>
      </p:sp>
      <p:sp>
        <p:nvSpPr>
          <p:cNvPr id="13" name="Text 10"/>
          <p:cNvSpPr/>
          <p:nvPr/>
        </p:nvSpPr>
        <p:spPr>
          <a:xfrm>
            <a:off x="1371600" y="2615184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DCE6F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&gt; El archivo si se ejecuto</a:t>
            </a:r>
            <a:endParaRPr lang="en-US" sz="880" dirty="0"/>
          </a:p>
        </p:txBody>
      </p:sp>
      <p:sp>
        <p:nvSpPr>
          <p:cNvPr id="14" name="Text 11"/>
          <p:cNvSpPr/>
          <p:nvPr/>
        </p:nvSpPr>
        <p:spPr>
          <a:xfrm>
            <a:off x="1133856" y="2871216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7B8FA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</a:t>
            </a:r>
            <a:endParaRPr lang="en-US" sz="820" dirty="0"/>
          </a:p>
        </p:txBody>
      </p:sp>
      <p:sp>
        <p:nvSpPr>
          <p:cNvPr id="15" name="Text 12"/>
          <p:cNvSpPr/>
          <p:nvPr/>
        </p:nvSpPr>
        <p:spPr>
          <a:xfrm>
            <a:off x="1371600" y="2871216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DCE6F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&gt; El valor existe</a:t>
            </a:r>
            <a:endParaRPr lang="en-US" sz="880" dirty="0"/>
          </a:p>
        </p:txBody>
      </p:sp>
      <p:sp>
        <p:nvSpPr>
          <p:cNvPr id="16" name="Text 13"/>
          <p:cNvSpPr/>
          <p:nvPr/>
        </p:nvSpPr>
        <p:spPr>
          <a:xfrm>
            <a:off x="1133856" y="3127248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7B8FA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</a:t>
            </a:r>
            <a:endParaRPr lang="en-US" sz="820" dirty="0"/>
          </a:p>
        </p:txBody>
      </p:sp>
      <p:sp>
        <p:nvSpPr>
          <p:cNvPr id="17" name="Text 14"/>
          <p:cNvSpPr/>
          <p:nvPr/>
        </p:nvSpPr>
        <p:spPr>
          <a:xfrm>
            <a:off x="1371600" y="3127248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DCE6F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&gt; La condicion entro por una rama</a:t>
            </a:r>
            <a:endParaRPr lang="en-US" sz="880" dirty="0"/>
          </a:p>
        </p:txBody>
      </p:sp>
      <p:sp>
        <p:nvSpPr>
          <p:cNvPr id="18" name="Text 15"/>
          <p:cNvSpPr/>
          <p:nvPr/>
        </p:nvSpPr>
        <p:spPr>
          <a:xfrm>
            <a:off x="1133856" y="3383280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7B8FA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1371600" y="3383280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DCE6F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&gt; El evento si disparo la accion</a:t>
            </a:r>
            <a:endParaRPr lang="en-US" sz="880" dirty="0"/>
          </a:p>
        </p:txBody>
      </p:sp>
      <p:sp>
        <p:nvSpPr>
          <p:cNvPr id="20" name="Text 17"/>
          <p:cNvSpPr/>
          <p:nvPr/>
        </p:nvSpPr>
        <p:spPr>
          <a:xfrm>
            <a:off x="1133856" y="3639312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7B8FA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5</a:t>
            </a:r>
            <a:endParaRPr lang="en-US" sz="820" dirty="0"/>
          </a:p>
        </p:txBody>
      </p:sp>
      <p:sp>
        <p:nvSpPr>
          <p:cNvPr id="21" name="Text 18"/>
          <p:cNvSpPr/>
          <p:nvPr/>
        </p:nvSpPr>
        <p:spPr>
          <a:xfrm>
            <a:off x="1371600" y="3639312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F2D26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&gt; El error apunta a una linea concreta</a:t>
            </a:r>
            <a:endParaRPr lang="en-US" sz="880" dirty="0"/>
          </a:p>
        </p:txBody>
      </p:sp>
      <p:sp>
        <p:nvSpPr>
          <p:cNvPr id="22" name="Shape 19"/>
          <p:cNvSpPr/>
          <p:nvPr/>
        </p:nvSpPr>
        <p:spPr>
          <a:xfrm>
            <a:off x="1115568" y="4261104"/>
            <a:ext cx="3840480" cy="658368"/>
          </a:xfrm>
          <a:prstGeom prst="roundRect">
            <a:avLst>
              <a:gd name="adj" fmla="val 5556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207008" y="4389120"/>
            <a:ext cx="91440" cy="27432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389888" y="4407408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Idea clave</a:t>
            </a:r>
            <a:endParaRPr lang="en-US" sz="1220" dirty="0"/>
          </a:p>
        </p:txBody>
      </p:sp>
      <p:sp>
        <p:nvSpPr>
          <p:cNvPr id="25" name="Text 22"/>
          <p:cNvSpPr/>
          <p:nvPr/>
        </p:nvSpPr>
        <p:spPr>
          <a:xfrm>
            <a:off x="1389888" y="4599432"/>
            <a:ext cx="3273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Leer consola es parte de programar, no un paso opcional al final.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5596128" y="1993392"/>
            <a:ext cx="4352544" cy="896112"/>
          </a:xfrm>
          <a:prstGeom prst="roundRect">
            <a:avLst>
              <a:gd name="adj" fmla="val 4082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687568" y="2121408"/>
            <a:ext cx="109728" cy="64008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852160" y="2103120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Ejecuta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5852160" y="2450592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Abre la pagina y aseguralo en el navegador, no solo en el editor.</a:t>
            </a:r>
            <a:endParaRPr lang="en-US" sz="880" dirty="0"/>
          </a:p>
        </p:txBody>
      </p:sp>
      <p:sp>
        <p:nvSpPr>
          <p:cNvPr id="30" name="Shape 27"/>
          <p:cNvSpPr/>
          <p:nvPr/>
        </p:nvSpPr>
        <p:spPr>
          <a:xfrm>
            <a:off x="5596128" y="3090672"/>
            <a:ext cx="4352544" cy="896112"/>
          </a:xfrm>
          <a:prstGeom prst="roundRect">
            <a:avLst>
              <a:gd name="adj" fmla="val 4082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687568" y="3218688"/>
            <a:ext cx="109728" cy="64008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852160" y="3200400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Mira salida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5852160" y="3547872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Busca una evidencia concreta: texto, valor, error o confirmacion visible.</a:t>
            </a:r>
            <a:endParaRPr lang="en-US" sz="880" dirty="0"/>
          </a:p>
        </p:txBody>
      </p:sp>
      <p:sp>
        <p:nvSpPr>
          <p:cNvPr id="34" name="Shape 31"/>
          <p:cNvSpPr/>
          <p:nvPr/>
        </p:nvSpPr>
        <p:spPr>
          <a:xfrm>
            <a:off x="5596128" y="4187952"/>
            <a:ext cx="4352544" cy="896112"/>
          </a:xfrm>
          <a:prstGeom prst="roundRect">
            <a:avLst>
              <a:gd name="adj" fmla="val 4082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687568" y="4315968"/>
            <a:ext cx="109728" cy="64008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852160" y="4297680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Ajusta con criterio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5852160" y="4645152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no aparece evidencia, el problema no esta resuelto aunque el codigo se vea correcto.</a:t>
            </a:r>
            <a:endParaRPr lang="en-US" sz="8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08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Errores comunes al entrar a JavaScript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Estos tropiezos aparecen cuando se piensa que escribir codigo ya equivale a haber agregado comportamiento.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914400" y="1993392"/>
            <a:ext cx="4407408" cy="987552"/>
          </a:xfrm>
          <a:prstGeom prst="roundRect">
            <a:avLst>
              <a:gd name="adj" fmla="val 3704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05840" y="2121408"/>
            <a:ext cx="109728" cy="73152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70432" y="2103120"/>
            <a:ext cx="4059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Confundir diseno con comportamiento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170432" y="2450592"/>
            <a:ext cx="4059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pagina puede verse completa y seguir sin responder a nada.</a:t>
            </a:r>
            <a:endParaRPr lang="en-US" sz="880" dirty="0"/>
          </a:p>
        </p:txBody>
      </p:sp>
      <p:sp>
        <p:nvSpPr>
          <p:cNvPr id="14" name="Shape 11"/>
          <p:cNvSpPr/>
          <p:nvPr/>
        </p:nvSpPr>
        <p:spPr>
          <a:xfrm>
            <a:off x="5486400" y="1993392"/>
            <a:ext cx="4407408" cy="987552"/>
          </a:xfrm>
          <a:prstGeom prst="roundRect">
            <a:avLst>
              <a:gd name="adj" fmla="val 3704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577840" y="2121408"/>
            <a:ext cx="109728" cy="7315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742432" y="2103120"/>
            <a:ext cx="4059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abrir la consola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742432" y="2450592"/>
            <a:ext cx="4059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 evidencia de ejecucion, el diagnostico queda a ciegas.</a:t>
            </a:r>
            <a:endParaRPr lang="en-US" sz="880" dirty="0"/>
          </a:p>
        </p:txBody>
      </p:sp>
      <p:sp>
        <p:nvSpPr>
          <p:cNvPr id="18" name="Shape 15"/>
          <p:cNvSpPr/>
          <p:nvPr/>
        </p:nvSpPr>
        <p:spPr>
          <a:xfrm>
            <a:off x="914400" y="3255264"/>
            <a:ext cx="4407408" cy="987552"/>
          </a:xfrm>
          <a:prstGeom prst="roundRect">
            <a:avLst>
              <a:gd name="adj" fmla="val 3704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005840" y="3383280"/>
            <a:ext cx="109728" cy="73152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70432" y="3364992"/>
            <a:ext cx="4059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Leer el codigo como si ya estuviera probado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170432" y="3712464"/>
            <a:ext cx="4059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 algo suene logico no significa que el navegador lo este ejecutando.</a:t>
            </a:r>
            <a:endParaRPr lang="en-US" sz="880" dirty="0"/>
          </a:p>
        </p:txBody>
      </p:sp>
      <p:sp>
        <p:nvSpPr>
          <p:cNvPr id="22" name="Shape 19"/>
          <p:cNvSpPr/>
          <p:nvPr/>
        </p:nvSpPr>
        <p:spPr>
          <a:xfrm>
            <a:off x="5486400" y="3255264"/>
            <a:ext cx="4407408" cy="987552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577840" y="3383280"/>
            <a:ext cx="109728" cy="7315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742432" y="3364992"/>
            <a:ext cx="4059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Aceptar una explicacion sin verificar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5742432" y="3712464"/>
            <a:ext cx="4059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agente puede explicar bien algo que igual necesitas comprobar con resultado real.</a:t>
            </a:r>
            <a:endParaRPr lang="en-US" sz="880" dirty="0"/>
          </a:p>
        </p:txBody>
      </p:sp>
      <p:sp>
        <p:nvSpPr>
          <p:cNvPr id="26" name="Shape 23"/>
          <p:cNvSpPr/>
          <p:nvPr/>
        </p:nvSpPr>
        <p:spPr>
          <a:xfrm>
            <a:off x="1133856" y="4645152"/>
            <a:ext cx="8759952" cy="530352"/>
          </a:xfrm>
          <a:prstGeom prst="roundRect">
            <a:avLst>
              <a:gd name="adj" fmla="val 689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335024" y="4809744"/>
            <a:ext cx="8357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evidencia de comportamiento aparece en navegador, consola y resultado visible.</a:t>
            </a:r>
            <a:endParaRPr lang="en-US" sz="148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08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Antes de decidir o reaccionar, un programa necesita datos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JavaScript empieza a construir comportamiento cuando puede guardar informacion, leerla y transformarla con claridad.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914400" y="2212848"/>
            <a:ext cx="3822192" cy="3547872"/>
          </a:xfrm>
          <a:prstGeom prst="roundRect">
            <a:avLst>
              <a:gd name="adj" fmla="val 1031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43584" y="2670048"/>
            <a:ext cx="31638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8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Sin datos, la logica no tiene sobre que operar.</a:t>
            </a:r>
            <a:endParaRPr lang="en-US" sz="2180" dirty="0"/>
          </a:p>
        </p:txBody>
      </p:sp>
      <p:sp>
        <p:nvSpPr>
          <p:cNvPr id="12" name="Text 9"/>
          <p:cNvSpPr/>
          <p:nvPr/>
        </p:nvSpPr>
        <p:spPr>
          <a:xfrm>
            <a:off x="1225296" y="3657600"/>
            <a:ext cx="3200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dirty="0">
                <a:solidFill>
                  <a:srgbClr val="DC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Nombre, precio, estado, texto de un input o cantidad en carrito son ejemplos de informacion que un programa necesita representar antes de hacer algo util.</a:t>
            </a:r>
            <a:endParaRPr lang="en-US" sz="1040" dirty="0"/>
          </a:p>
        </p:txBody>
      </p:sp>
      <p:sp>
        <p:nvSpPr>
          <p:cNvPr id="13" name="Shape 10"/>
          <p:cNvSpPr/>
          <p:nvPr/>
        </p:nvSpPr>
        <p:spPr>
          <a:xfrm>
            <a:off x="1170432" y="4791456"/>
            <a:ext cx="3291840" cy="694944"/>
          </a:xfrm>
          <a:prstGeom prst="roundRect">
            <a:avLst>
              <a:gd name="adj" fmla="val 394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243584" y="4901184"/>
            <a:ext cx="100584" cy="47548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426464" y="4919472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Idea del bloque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1426464" y="5193792"/>
            <a:ext cx="2962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Variables y tipos de datos preparan el terreno para toda la logica posterior.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138928" y="2267712"/>
            <a:ext cx="4535424" cy="1664208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138928" y="2267712"/>
            <a:ext cx="4535424" cy="384048"/>
          </a:xfrm>
          <a:prstGeom prst="roundRect">
            <a:avLst>
              <a:gd name="adj" fmla="val 95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285232" y="2395728"/>
            <a:ext cx="73152" cy="73152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431536" y="2395728"/>
            <a:ext cx="73152" cy="73152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577840" y="2395728"/>
            <a:ext cx="73152" cy="73152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705856" y="2368296"/>
            <a:ext cx="3621024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852160" y="2404872"/>
            <a:ext cx="33284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https://demo.local/checkout</a:t>
            </a:r>
            <a:endParaRPr lang="en-US" sz="880" dirty="0"/>
          </a:p>
        </p:txBody>
      </p:sp>
      <p:sp>
        <p:nvSpPr>
          <p:cNvPr id="24" name="Shape 21"/>
          <p:cNvSpPr/>
          <p:nvPr/>
        </p:nvSpPr>
        <p:spPr>
          <a:xfrm>
            <a:off x="5340096" y="2743200"/>
            <a:ext cx="1920240" cy="310896"/>
          </a:xfrm>
          <a:prstGeom prst="roundRect">
            <a:avLst>
              <a:gd name="adj" fmla="val 8824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504688" y="2834640"/>
            <a:ext cx="157276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Finalizar compra</a:t>
            </a:r>
            <a:endParaRPr lang="en-US" sz="820" dirty="0"/>
          </a:p>
        </p:txBody>
      </p:sp>
      <p:sp>
        <p:nvSpPr>
          <p:cNvPr id="26" name="Shape 23"/>
          <p:cNvSpPr/>
          <p:nvPr/>
        </p:nvSpPr>
        <p:spPr>
          <a:xfrm>
            <a:off x="5138928" y="4114800"/>
            <a:ext cx="2139696" cy="1243584"/>
          </a:xfrm>
          <a:prstGeom prst="roundRect">
            <a:avLst>
              <a:gd name="adj" fmla="val 2941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138928" y="4114800"/>
            <a:ext cx="73152" cy="124358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285232" y="4242816"/>
            <a:ext cx="18836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nombre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5285232" y="4480560"/>
            <a:ext cx="1883664" cy="310896"/>
          </a:xfrm>
          <a:prstGeom prst="roundRect">
            <a:avLst>
              <a:gd name="adj" fmla="val 1176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358384" y="4581144"/>
            <a:ext cx="17373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"Camila"</a:t>
            </a:r>
            <a:endParaRPr lang="en-US" sz="810" dirty="0"/>
          </a:p>
        </p:txBody>
      </p:sp>
      <p:sp>
        <p:nvSpPr>
          <p:cNvPr id="31" name="Text 28"/>
          <p:cNvSpPr/>
          <p:nvPr/>
        </p:nvSpPr>
        <p:spPr>
          <a:xfrm>
            <a:off x="5285232" y="4901184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texto para identificar a la persona que interactua con la pagina.</a:t>
            </a:r>
            <a:endParaRPr lang="en-US" sz="760" dirty="0"/>
          </a:p>
        </p:txBody>
      </p:sp>
      <p:sp>
        <p:nvSpPr>
          <p:cNvPr id="32" name="Shape 29"/>
          <p:cNvSpPr/>
          <p:nvPr/>
        </p:nvSpPr>
        <p:spPr>
          <a:xfrm>
            <a:off x="7424928" y="4114800"/>
            <a:ext cx="2249424" cy="1243584"/>
          </a:xfrm>
          <a:prstGeom prst="roundRect">
            <a:avLst>
              <a:gd name="adj" fmla="val 2941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424928" y="4114800"/>
            <a:ext cx="73152" cy="124358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571232" y="4242816"/>
            <a:ext cx="19933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precio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7571232" y="4480560"/>
            <a:ext cx="1993392" cy="310896"/>
          </a:xfrm>
          <a:prstGeom prst="roundRect">
            <a:avLst>
              <a:gd name="adj" fmla="val 1176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644384" y="4581144"/>
            <a:ext cx="18470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14990</a:t>
            </a:r>
            <a:endParaRPr lang="en-US" sz="810" dirty="0"/>
          </a:p>
        </p:txBody>
      </p:sp>
      <p:sp>
        <p:nvSpPr>
          <p:cNvPr id="37" name="Text 34"/>
          <p:cNvSpPr/>
          <p:nvPr/>
        </p:nvSpPr>
        <p:spPr>
          <a:xfrm>
            <a:off x="7571232" y="4901184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numero que luego puede sumarse, restarse o compararse.</a:t>
            </a:r>
            <a:endParaRPr lang="en-US" sz="76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08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interfaz usa datos aunque la accion parezca simple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Hasta el click mas basico depende de informacion representada de alguna forma dentro del programa.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877824" y="2267712"/>
            <a:ext cx="2852928" cy="932688"/>
          </a:xfrm>
          <a:prstGeom prst="roundRect">
            <a:avLst>
              <a:gd name="adj" fmla="val 3922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69264" y="2395728"/>
            <a:ext cx="109728" cy="67665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33856" y="2377440"/>
            <a:ext cx="2505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Nombre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133856" y="2724912"/>
            <a:ext cx="2505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sirve para construir mensajes, validar formularios o personalizar una respuesta.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877824" y="3456432"/>
            <a:ext cx="2852928" cy="932688"/>
          </a:xfrm>
          <a:prstGeom prst="roundRect">
            <a:avLst>
              <a:gd name="adj" fmla="val 3922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69264" y="3584448"/>
            <a:ext cx="109728" cy="67665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33856" y="3566160"/>
            <a:ext cx="2505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Cantidad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133856" y="3913632"/>
            <a:ext cx="2505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permite contar productos, intentos, resultados o pasos dentro de una tarea.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877824" y="4645152"/>
            <a:ext cx="2852928" cy="932688"/>
          </a:xfrm>
          <a:prstGeom prst="roundRect">
            <a:avLst>
              <a:gd name="adj" fmla="val 3922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69264" y="4773168"/>
            <a:ext cx="109728" cy="67665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33856" y="4754880"/>
            <a:ext cx="2505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Estado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133856" y="5102352"/>
            <a:ext cx="2505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ayuda a saber si algo esta activo, disponible, abierto o permitido.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041648" y="2267712"/>
            <a:ext cx="2926080" cy="3310128"/>
          </a:xfrm>
          <a:prstGeom prst="roundRect">
            <a:avLst>
              <a:gd name="adj" fmla="val 125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169664" y="2377440"/>
            <a:ext cx="2670048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279392" y="2450592"/>
            <a:ext cx="2450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Valores que una pagina puede necesitar</a:t>
            </a:r>
            <a:endParaRPr lang="en-US" sz="1000" dirty="0"/>
          </a:p>
        </p:txBody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61104" y="2907792"/>
            <a:ext cx="2505456" cy="2560320"/>
          </a:xfrm>
          <a:prstGeom prst="rect">
            <a:avLst/>
          </a:prstGeom>
        </p:spPr>
      </p:pic>
      <p:sp>
        <p:nvSpPr>
          <p:cNvPr id="26" name="Shape 22"/>
          <p:cNvSpPr/>
          <p:nvPr/>
        </p:nvSpPr>
        <p:spPr>
          <a:xfrm>
            <a:off x="7260336" y="2395728"/>
            <a:ext cx="2761488" cy="822960"/>
          </a:xfrm>
          <a:prstGeom prst="roundRect">
            <a:avLst>
              <a:gd name="adj" fmla="val 3333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7333488" y="2505456"/>
            <a:ext cx="100584" cy="6035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7516368" y="2523744"/>
            <a:ext cx="2432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Lectura util</a:t>
            </a:r>
            <a:endParaRPr lang="en-US" sz="1250" dirty="0"/>
          </a:p>
        </p:txBody>
      </p:sp>
      <p:sp>
        <p:nvSpPr>
          <p:cNvPr id="29" name="Text 25"/>
          <p:cNvSpPr/>
          <p:nvPr/>
        </p:nvSpPr>
        <p:spPr>
          <a:xfrm>
            <a:off x="7516368" y="2798064"/>
            <a:ext cx="2432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se programa solo con botones y pantallas: tambien con datos que representan pequenas partes del mundo.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7260336" y="3438144"/>
            <a:ext cx="2761488" cy="822960"/>
          </a:xfrm>
          <a:prstGeom prst="roundRect">
            <a:avLst>
              <a:gd name="adj" fmla="val 3333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7333488" y="3547872"/>
            <a:ext cx="100584" cy="6035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7516368" y="3566160"/>
            <a:ext cx="2432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Consecuencia</a:t>
            </a:r>
            <a:endParaRPr lang="en-US" sz="1250" dirty="0"/>
          </a:p>
        </p:txBody>
      </p:sp>
      <p:sp>
        <p:nvSpPr>
          <p:cNvPr id="33" name="Text 29"/>
          <p:cNvSpPr/>
          <p:nvPr/>
        </p:nvSpPr>
        <p:spPr>
          <a:xfrm>
            <a:off x="7516368" y="3840480"/>
            <a:ext cx="2432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no entiendes que valor tienes, despues sera mas dificil leer operaciones, condiciones y resultados.</a:t>
            </a:r>
            <a:endParaRPr lang="en-US" sz="1050" dirty="0"/>
          </a:p>
        </p:txBody>
      </p:sp>
      <p:sp>
        <p:nvSpPr>
          <p:cNvPr id="34" name="Shape 30"/>
          <p:cNvSpPr/>
          <p:nvPr/>
        </p:nvSpPr>
        <p:spPr>
          <a:xfrm>
            <a:off x="7260336" y="4480560"/>
            <a:ext cx="2761488" cy="822960"/>
          </a:xfrm>
          <a:prstGeom prst="roundRect">
            <a:avLst>
              <a:gd name="adj" fmla="val 3333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7333488" y="4590288"/>
            <a:ext cx="100584" cy="60350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7516368" y="4608576"/>
            <a:ext cx="2432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Puente</a:t>
            </a:r>
            <a:endParaRPr lang="en-US" sz="1250" dirty="0"/>
          </a:p>
        </p:txBody>
      </p:sp>
      <p:sp>
        <p:nvSpPr>
          <p:cNvPr id="37" name="Text 33"/>
          <p:cNvSpPr/>
          <p:nvPr/>
        </p:nvSpPr>
        <p:spPr>
          <a:xfrm>
            <a:off x="7516368" y="4882896"/>
            <a:ext cx="2432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 eso aparecen primero variables y tipos, antes de funciones complejas o eventos mas ricos.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08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Variables: nombres para guardar valores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variable no es decoracion sintactica: es una forma de modelar informacion util con un identificador claro.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896112" y="2176272"/>
            <a:ext cx="4517136" cy="3584448"/>
          </a:xfrm>
          <a:prstGeom prst="roundRect">
            <a:avLst>
              <a:gd name="adj" fmla="val 102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24128" y="2286000"/>
            <a:ext cx="4261104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33856" y="2359152"/>
            <a:ext cx="4041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Primeras variables utiles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5568" y="2889504"/>
            <a:ext cx="4096512" cy="283464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650992" y="2340864"/>
            <a:ext cx="1389888" cy="2048256"/>
          </a:xfrm>
          <a:prstGeom prst="roundRect">
            <a:avLst>
              <a:gd name="adj" fmla="val 2632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650992" y="2340864"/>
            <a:ext cx="73152" cy="204825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797296" y="2468880"/>
            <a:ext cx="11338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nombre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797296" y="2706624"/>
            <a:ext cx="1133856" cy="310896"/>
          </a:xfrm>
          <a:prstGeom prst="roundRect">
            <a:avLst>
              <a:gd name="adj" fmla="val 1176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870448" y="2807208"/>
            <a:ext cx="9875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"Camila"</a:t>
            </a:r>
            <a:endParaRPr lang="en-US" sz="810" dirty="0"/>
          </a:p>
        </p:txBody>
      </p:sp>
      <p:sp>
        <p:nvSpPr>
          <p:cNvPr id="19" name="Text 15"/>
          <p:cNvSpPr/>
          <p:nvPr/>
        </p:nvSpPr>
        <p:spPr>
          <a:xfrm>
            <a:off x="5797296" y="3127248"/>
            <a:ext cx="113385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guarda texto para identificar a una persona o construir mensajes.</a:t>
            </a:r>
            <a:endParaRPr lang="en-US" sz="760" dirty="0"/>
          </a:p>
        </p:txBody>
      </p:sp>
      <p:sp>
        <p:nvSpPr>
          <p:cNvPr id="20" name="Shape 16"/>
          <p:cNvSpPr/>
          <p:nvPr/>
        </p:nvSpPr>
        <p:spPr>
          <a:xfrm>
            <a:off x="7205472" y="2340864"/>
            <a:ext cx="1389888" cy="2048256"/>
          </a:xfrm>
          <a:prstGeom prst="roundRect">
            <a:avLst>
              <a:gd name="adj" fmla="val 2632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7205472" y="2340864"/>
            <a:ext cx="73152" cy="204825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7351776" y="2468880"/>
            <a:ext cx="11338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edad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7351776" y="2706624"/>
            <a:ext cx="1133856" cy="310896"/>
          </a:xfrm>
          <a:prstGeom prst="roundRect">
            <a:avLst>
              <a:gd name="adj" fmla="val 1176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424928" y="2807208"/>
            <a:ext cx="9875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22</a:t>
            </a:r>
            <a:endParaRPr lang="en-US" sz="810" dirty="0"/>
          </a:p>
        </p:txBody>
      </p:sp>
      <p:sp>
        <p:nvSpPr>
          <p:cNvPr id="25" name="Text 21"/>
          <p:cNvSpPr/>
          <p:nvPr/>
        </p:nvSpPr>
        <p:spPr>
          <a:xfrm>
            <a:off x="7351776" y="3127248"/>
            <a:ext cx="113385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guarda un numero que luego puede compararse o calcularse.</a:t>
            </a:r>
            <a:endParaRPr lang="en-US" sz="760" dirty="0"/>
          </a:p>
        </p:txBody>
      </p:sp>
      <p:sp>
        <p:nvSpPr>
          <p:cNvPr id="26" name="Shape 22"/>
          <p:cNvSpPr/>
          <p:nvPr/>
        </p:nvSpPr>
        <p:spPr>
          <a:xfrm>
            <a:off x="8759952" y="2340864"/>
            <a:ext cx="1389888" cy="2048256"/>
          </a:xfrm>
          <a:prstGeom prst="roundRect">
            <a:avLst>
              <a:gd name="adj" fmla="val 2632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8759952" y="2340864"/>
            <a:ext cx="73152" cy="204825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8906256" y="2468880"/>
            <a:ext cx="11338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acceso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8906256" y="2706624"/>
            <a:ext cx="1133856" cy="310896"/>
          </a:xfrm>
          <a:prstGeom prst="roundRect">
            <a:avLst>
              <a:gd name="adj" fmla="val 1176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8979408" y="2807208"/>
            <a:ext cx="9875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true</a:t>
            </a:r>
            <a:endParaRPr lang="en-US" sz="810" dirty="0"/>
          </a:p>
        </p:txBody>
      </p:sp>
      <p:sp>
        <p:nvSpPr>
          <p:cNvPr id="31" name="Text 27"/>
          <p:cNvSpPr/>
          <p:nvPr/>
        </p:nvSpPr>
        <p:spPr>
          <a:xfrm>
            <a:off x="8906256" y="3127248"/>
            <a:ext cx="113385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guarda un valor logico para decidir si algo se cumple o no.</a:t>
            </a:r>
            <a:endParaRPr lang="en-US" sz="760" dirty="0"/>
          </a:p>
        </p:txBody>
      </p:sp>
      <p:sp>
        <p:nvSpPr>
          <p:cNvPr id="32" name="Shape 28"/>
          <p:cNvSpPr/>
          <p:nvPr/>
        </p:nvSpPr>
        <p:spPr>
          <a:xfrm>
            <a:off x="5650992" y="4681728"/>
            <a:ext cx="4498848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5852160" y="4846320"/>
            <a:ext cx="40965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Nombrar bien una variable ayuda a leer mejor la logica despues.</a:t>
            </a:r>
            <a:endParaRPr lang="en-US" sz="174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08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const y let no dicen lo mismo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Desde el inicio conviene distinguir entre un valor que deberia mantenerse fijo y otro que podria cambiar durante la ejecucion.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914400" y="2286000"/>
            <a:ext cx="3730752" cy="1883664"/>
          </a:xfrm>
          <a:prstGeom prst="roundRect">
            <a:avLst>
              <a:gd name="adj" fmla="val 1942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42416" y="2395728"/>
            <a:ext cx="3474720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52144" y="2468880"/>
            <a:ext cx="3255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856" y="3035808"/>
            <a:ext cx="3310128" cy="1133856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914400" y="4370832"/>
            <a:ext cx="3730752" cy="914400"/>
          </a:xfrm>
          <a:prstGeom prst="roundRect">
            <a:avLst>
              <a:gd name="adj" fmla="val 3000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87552" y="4480560"/>
            <a:ext cx="100584" cy="69494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170432" y="4498848"/>
            <a:ext cx="3401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Lectura correcta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1170432" y="4773168"/>
            <a:ext cx="3401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usa para un valor que no deberia reescribirse en el flujo normal del programa.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5486400" y="2286000"/>
            <a:ext cx="3730752" cy="1883664"/>
          </a:xfrm>
          <a:prstGeom prst="roundRect">
            <a:avLst>
              <a:gd name="adj" fmla="val 1942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614416" y="2395728"/>
            <a:ext cx="3474720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724144" y="2468880"/>
            <a:ext cx="3255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let</a:t>
            </a:r>
            <a:endParaRPr lang="en-US" sz="10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05856" y="2962656"/>
            <a:ext cx="3310128" cy="1133856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5486400" y="4370832"/>
            <a:ext cx="3730752" cy="914400"/>
          </a:xfrm>
          <a:prstGeom prst="roundRect">
            <a:avLst>
              <a:gd name="adj" fmla="val 300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5559552" y="4480560"/>
            <a:ext cx="100584" cy="69494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5742432" y="4498848"/>
            <a:ext cx="3401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Lectura correcta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5742432" y="4773168"/>
            <a:ext cx="3401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usa cuando el valor puede cambiar al contar, actualizar estado o recibir nueva informacion.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4828032" y="3310128"/>
            <a:ext cx="201168" cy="274320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08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Tipos de datos basicos: texto, numeros y booleanos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valor se comporta distinto. Entender eso evita muchos errores tempranos al mezclar informacion.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877824" y="2157984"/>
            <a:ext cx="9253728" cy="3621024"/>
          </a:xfrm>
          <a:prstGeom prst="roundRect">
            <a:avLst>
              <a:gd name="adj" fmla="val 101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05840" y="2286000"/>
            <a:ext cx="8997696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15568" y="2359152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string, number, boolean y variable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1078992" y="2724912"/>
            <a:ext cx="2116836" cy="2633472"/>
          </a:xfrm>
          <a:prstGeom prst="roundRect">
            <a:avLst>
              <a:gd name="adj" fmla="val 172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78992" y="2724912"/>
            <a:ext cx="73152" cy="263347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225296" y="2871216"/>
            <a:ext cx="1824228" cy="274320"/>
          </a:xfrm>
          <a:prstGeom prst="roundRect">
            <a:avLst>
              <a:gd name="adj" fmla="val 10000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280160" y="2871216"/>
            <a:ext cx="17145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string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1225296" y="3255264"/>
            <a:ext cx="1824228" cy="475488"/>
          </a:xfrm>
          <a:prstGeom prst="roundRect">
            <a:avLst>
              <a:gd name="adj" fmla="val 7692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298448" y="3255264"/>
            <a:ext cx="16779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"Nodo Web"</a:t>
            </a:r>
            <a:endParaRPr lang="en-US" sz="840" dirty="0"/>
          </a:p>
        </p:txBody>
      </p:sp>
      <p:sp>
        <p:nvSpPr>
          <p:cNvPr id="19" name="Text 16"/>
          <p:cNvSpPr/>
          <p:nvPr/>
        </p:nvSpPr>
        <p:spPr>
          <a:xfrm>
            <a:off x="1225296" y="3858768"/>
            <a:ext cx="182422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texto para nombres, mensajes y contenido</a:t>
            </a:r>
            <a:endParaRPr lang="en-US" sz="760" dirty="0"/>
          </a:p>
        </p:txBody>
      </p:sp>
      <p:sp>
        <p:nvSpPr>
          <p:cNvPr id="20" name="Shape 17"/>
          <p:cNvSpPr/>
          <p:nvPr/>
        </p:nvSpPr>
        <p:spPr>
          <a:xfrm>
            <a:off x="3323844" y="2724912"/>
            <a:ext cx="2116836" cy="2633472"/>
          </a:xfrm>
          <a:prstGeom prst="roundRect">
            <a:avLst>
              <a:gd name="adj" fmla="val 172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323844" y="2724912"/>
            <a:ext cx="73152" cy="263347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470148" y="2871216"/>
            <a:ext cx="1824228" cy="274320"/>
          </a:xfrm>
          <a:prstGeom prst="roundRect">
            <a:avLst>
              <a:gd name="adj" fmla="val 1000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525012" y="2871216"/>
            <a:ext cx="17145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number</a:t>
            </a:r>
            <a:endParaRPr lang="en-US" sz="1120" dirty="0"/>
          </a:p>
        </p:txBody>
      </p:sp>
      <p:sp>
        <p:nvSpPr>
          <p:cNvPr id="24" name="Shape 21"/>
          <p:cNvSpPr/>
          <p:nvPr/>
        </p:nvSpPr>
        <p:spPr>
          <a:xfrm>
            <a:off x="3470148" y="3255264"/>
            <a:ext cx="1824228" cy="475488"/>
          </a:xfrm>
          <a:prstGeom prst="roundRect">
            <a:avLst>
              <a:gd name="adj" fmla="val 7692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543300" y="3255264"/>
            <a:ext cx="16779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14990</a:t>
            </a:r>
            <a:endParaRPr lang="en-US" sz="840" dirty="0"/>
          </a:p>
        </p:txBody>
      </p:sp>
      <p:sp>
        <p:nvSpPr>
          <p:cNvPr id="26" name="Text 23"/>
          <p:cNvSpPr/>
          <p:nvPr/>
        </p:nvSpPr>
        <p:spPr>
          <a:xfrm>
            <a:off x="3470148" y="3858768"/>
            <a:ext cx="182422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sirve para calcular, contar o comparar</a:t>
            </a:r>
            <a:endParaRPr lang="en-US" sz="760" dirty="0"/>
          </a:p>
        </p:txBody>
      </p:sp>
      <p:sp>
        <p:nvSpPr>
          <p:cNvPr id="27" name="Shape 24"/>
          <p:cNvSpPr/>
          <p:nvPr/>
        </p:nvSpPr>
        <p:spPr>
          <a:xfrm>
            <a:off x="5568696" y="2724912"/>
            <a:ext cx="2116836" cy="2633472"/>
          </a:xfrm>
          <a:prstGeom prst="roundRect">
            <a:avLst>
              <a:gd name="adj" fmla="val 172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568696" y="2724912"/>
            <a:ext cx="73152" cy="263347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715000" y="2871216"/>
            <a:ext cx="1824228" cy="274320"/>
          </a:xfrm>
          <a:prstGeom prst="roundRect">
            <a:avLst>
              <a:gd name="adj" fmla="val 1000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769864" y="2871216"/>
            <a:ext cx="17145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boolean</a:t>
            </a:r>
            <a:endParaRPr lang="en-US" sz="1120" dirty="0"/>
          </a:p>
        </p:txBody>
      </p:sp>
      <p:sp>
        <p:nvSpPr>
          <p:cNvPr id="31" name="Shape 28"/>
          <p:cNvSpPr/>
          <p:nvPr/>
        </p:nvSpPr>
        <p:spPr>
          <a:xfrm>
            <a:off x="5715000" y="3255264"/>
            <a:ext cx="1824228" cy="475488"/>
          </a:xfrm>
          <a:prstGeom prst="roundRect">
            <a:avLst>
              <a:gd name="adj" fmla="val 7692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788152" y="3255264"/>
            <a:ext cx="16779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840" dirty="0"/>
          </a:p>
        </p:txBody>
      </p:sp>
      <p:sp>
        <p:nvSpPr>
          <p:cNvPr id="33" name="Text 30"/>
          <p:cNvSpPr/>
          <p:nvPr/>
        </p:nvSpPr>
        <p:spPr>
          <a:xfrm>
            <a:off x="5715000" y="3858768"/>
            <a:ext cx="182422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marca si una condicion se cumple o no</a:t>
            </a:r>
            <a:endParaRPr lang="en-US" sz="760" dirty="0"/>
          </a:p>
        </p:txBody>
      </p:sp>
      <p:sp>
        <p:nvSpPr>
          <p:cNvPr id="34" name="Shape 31"/>
          <p:cNvSpPr/>
          <p:nvPr/>
        </p:nvSpPr>
        <p:spPr>
          <a:xfrm>
            <a:off x="7813548" y="2724912"/>
            <a:ext cx="2116836" cy="2633472"/>
          </a:xfrm>
          <a:prstGeom prst="roundRect">
            <a:avLst>
              <a:gd name="adj" fmla="val 172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813548" y="2724912"/>
            <a:ext cx="73152" cy="263347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959852" y="2871216"/>
            <a:ext cx="1824228" cy="274320"/>
          </a:xfrm>
          <a:prstGeom prst="roundRect">
            <a:avLst>
              <a:gd name="adj" fmla="val 1000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8014716" y="2871216"/>
            <a:ext cx="17145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variable</a:t>
            </a:r>
            <a:endParaRPr lang="en-US" sz="1120" dirty="0"/>
          </a:p>
        </p:txBody>
      </p:sp>
      <p:sp>
        <p:nvSpPr>
          <p:cNvPr id="38" name="Shape 35"/>
          <p:cNvSpPr/>
          <p:nvPr/>
        </p:nvSpPr>
        <p:spPr>
          <a:xfrm>
            <a:off x="7959852" y="3255264"/>
            <a:ext cx="1824228" cy="475488"/>
          </a:xfrm>
          <a:prstGeom prst="roundRect">
            <a:avLst>
              <a:gd name="adj" fmla="val 7692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8033004" y="3255264"/>
            <a:ext cx="16779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precio = 14990</a:t>
            </a:r>
            <a:endParaRPr lang="en-US" sz="840" dirty="0"/>
          </a:p>
        </p:txBody>
      </p:sp>
      <p:sp>
        <p:nvSpPr>
          <p:cNvPr id="40" name="Text 37"/>
          <p:cNvSpPr/>
          <p:nvPr/>
        </p:nvSpPr>
        <p:spPr>
          <a:xfrm>
            <a:off x="7959852" y="3858768"/>
            <a:ext cx="182422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nombre que guarda un valor util</a:t>
            </a:r>
            <a:endParaRPr lang="en-US" sz="760" dirty="0"/>
          </a:p>
        </p:txBody>
      </p:sp>
      <p:sp>
        <p:nvSpPr>
          <p:cNvPr id="41" name="Text 38"/>
          <p:cNvSpPr/>
          <p:nvPr/>
        </p:nvSpPr>
        <p:spPr>
          <a:xfrm>
            <a:off x="1060704" y="5614416"/>
            <a:ext cx="88879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importante no es memorizar nombres: es reconocer que tipo de valor tienes delante.</a:t>
            </a:r>
            <a:endParaRPr lang="en-US" sz="84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08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typeof ayuda a inspeccionar que clase de valor tienes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JavaScript tambien permite leer el tipo de un valor antes de seguir operando con el.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914400" y="2212848"/>
            <a:ext cx="4443984" cy="3401568"/>
          </a:xfrm>
          <a:prstGeom prst="roundRect">
            <a:avLst>
              <a:gd name="adj" fmla="val 107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42416" y="2322576"/>
            <a:ext cx="4187952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52144" y="2395728"/>
            <a:ext cx="3968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 minima en consola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856" y="2871216"/>
            <a:ext cx="4023360" cy="265176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650992" y="2212848"/>
            <a:ext cx="4370832" cy="3401568"/>
          </a:xfrm>
          <a:prstGeom prst="roundRect">
            <a:avLst>
              <a:gd name="adj" fmla="val 107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870448" y="2395728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Consola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5870448" y="2871216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7B8FA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</a:t>
            </a:r>
            <a:endParaRPr lang="en-US" sz="820" dirty="0"/>
          </a:p>
        </p:txBody>
      </p:sp>
      <p:sp>
        <p:nvSpPr>
          <p:cNvPr id="17" name="Text 13"/>
          <p:cNvSpPr/>
          <p:nvPr/>
        </p:nvSpPr>
        <p:spPr>
          <a:xfrm>
            <a:off x="6108192" y="2871216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A7E3A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"string"</a:t>
            </a:r>
            <a:endParaRPr lang="en-US" sz="920" dirty="0"/>
          </a:p>
        </p:txBody>
      </p:sp>
      <p:sp>
        <p:nvSpPr>
          <p:cNvPr id="18" name="Text 14"/>
          <p:cNvSpPr/>
          <p:nvPr/>
        </p:nvSpPr>
        <p:spPr>
          <a:xfrm>
            <a:off x="5870448" y="3163824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7B8FA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</a:t>
            </a:r>
            <a:endParaRPr lang="en-US" sz="820" dirty="0"/>
          </a:p>
        </p:txBody>
      </p:sp>
      <p:sp>
        <p:nvSpPr>
          <p:cNvPr id="19" name="Text 15"/>
          <p:cNvSpPr/>
          <p:nvPr/>
        </p:nvSpPr>
        <p:spPr>
          <a:xfrm>
            <a:off x="6108192" y="3163824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F6E29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"number"</a:t>
            </a:r>
            <a:endParaRPr lang="en-US" sz="920" dirty="0"/>
          </a:p>
        </p:txBody>
      </p:sp>
      <p:sp>
        <p:nvSpPr>
          <p:cNvPr id="20" name="Text 16"/>
          <p:cNvSpPr/>
          <p:nvPr/>
        </p:nvSpPr>
        <p:spPr>
          <a:xfrm>
            <a:off x="5870448" y="3456432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7B8FA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</a:t>
            </a:r>
            <a:endParaRPr lang="en-US" sz="820" dirty="0"/>
          </a:p>
        </p:txBody>
      </p:sp>
      <p:sp>
        <p:nvSpPr>
          <p:cNvPr id="21" name="Text 17"/>
          <p:cNvSpPr/>
          <p:nvPr/>
        </p:nvSpPr>
        <p:spPr>
          <a:xfrm>
            <a:off x="6108192" y="3456432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89D1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"boolean"</a:t>
            </a:r>
            <a:endParaRPr lang="en-US" sz="920" dirty="0"/>
          </a:p>
        </p:txBody>
      </p:sp>
      <p:sp>
        <p:nvSpPr>
          <p:cNvPr id="22" name="Shape 18"/>
          <p:cNvSpPr/>
          <p:nvPr/>
        </p:nvSpPr>
        <p:spPr>
          <a:xfrm>
            <a:off x="5870448" y="4059936"/>
            <a:ext cx="3822192" cy="987552"/>
          </a:xfrm>
          <a:prstGeom prst="roundRect">
            <a:avLst>
              <a:gd name="adj" fmla="val 2778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5943600" y="4169664"/>
            <a:ext cx="100584" cy="76809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126480" y="4187952"/>
            <a:ext cx="3493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Lectura util</a:t>
            </a:r>
            <a:endParaRPr lang="en-US" sz="1250" dirty="0"/>
          </a:p>
        </p:txBody>
      </p:sp>
      <p:sp>
        <p:nvSpPr>
          <p:cNvPr id="25" name="Text 21"/>
          <p:cNvSpPr/>
          <p:nvPr/>
        </p:nvSpPr>
        <p:spPr>
          <a:xfrm>
            <a:off x="6126480" y="4462272"/>
            <a:ext cx="34930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 de mezclar datos, conviene comprobar si estas trabajando con texto, numero o un valor logico.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08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Operaciones basicas: combinar, calcular y comparar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 datos ya representados, el siguiente paso es producir resultados pequenos pero utiles.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877824" y="2212848"/>
            <a:ext cx="2852928" cy="1499616"/>
          </a:xfrm>
          <a:prstGeom prst="roundRect">
            <a:avLst>
              <a:gd name="adj" fmla="val 2439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05840" y="2322576"/>
            <a:ext cx="2596896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15568" y="239572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Concatenar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7280" y="2834640"/>
            <a:ext cx="2432304" cy="74980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877824" y="3895344"/>
            <a:ext cx="2852928" cy="731520"/>
          </a:xfrm>
          <a:prstGeom prst="roundRect">
            <a:avLst>
              <a:gd name="adj" fmla="val 3750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50976" y="4005072"/>
            <a:ext cx="100584" cy="51206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133856" y="4023360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Texto</a:t>
            </a:r>
            <a:endParaRPr lang="en-US" sz="1120" dirty="0"/>
          </a:p>
        </p:txBody>
      </p:sp>
      <p:sp>
        <p:nvSpPr>
          <p:cNvPr id="17" name="Text 13"/>
          <p:cNvSpPr/>
          <p:nvPr/>
        </p:nvSpPr>
        <p:spPr>
          <a:xfrm>
            <a:off x="1133856" y="4297680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 valores string para construir un mensaje o etiqueta visible.</a:t>
            </a:r>
            <a:endParaRPr lang="en-US" sz="800" dirty="0"/>
          </a:p>
        </p:txBody>
      </p:sp>
      <p:sp>
        <p:nvSpPr>
          <p:cNvPr id="18" name="Shape 14"/>
          <p:cNvSpPr/>
          <p:nvPr/>
        </p:nvSpPr>
        <p:spPr>
          <a:xfrm>
            <a:off x="4078224" y="2212848"/>
            <a:ext cx="2852928" cy="1499616"/>
          </a:xfrm>
          <a:prstGeom prst="roundRect">
            <a:avLst>
              <a:gd name="adj" fmla="val 2439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206240" y="2322576"/>
            <a:ext cx="2596896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315968" y="239572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Calcular</a:t>
            </a:r>
            <a:endParaRPr lang="en-US" sz="10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97680" y="2834640"/>
            <a:ext cx="2432304" cy="749808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4078224" y="3895344"/>
            <a:ext cx="2852928" cy="731520"/>
          </a:xfrm>
          <a:prstGeom prst="roundRect">
            <a:avLst>
              <a:gd name="adj" fmla="val 375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4151376" y="4005072"/>
            <a:ext cx="100584" cy="51206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4334256" y="4023360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Numero</a:t>
            </a:r>
            <a:endParaRPr lang="en-US" sz="1120" dirty="0"/>
          </a:p>
        </p:txBody>
      </p:sp>
      <p:sp>
        <p:nvSpPr>
          <p:cNvPr id="25" name="Text 20"/>
          <p:cNvSpPr/>
          <p:nvPr/>
        </p:nvSpPr>
        <p:spPr>
          <a:xfrm>
            <a:off x="4334256" y="4297680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Trabaja con cantidades para obtener un resultado numerico util.</a:t>
            </a:r>
            <a:endParaRPr lang="en-US" sz="800" dirty="0"/>
          </a:p>
        </p:txBody>
      </p:sp>
      <p:sp>
        <p:nvSpPr>
          <p:cNvPr id="26" name="Shape 21"/>
          <p:cNvSpPr/>
          <p:nvPr/>
        </p:nvSpPr>
        <p:spPr>
          <a:xfrm>
            <a:off x="7278624" y="2212848"/>
            <a:ext cx="2852928" cy="1499616"/>
          </a:xfrm>
          <a:prstGeom prst="roundRect">
            <a:avLst>
              <a:gd name="adj" fmla="val 2439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06640" y="2322576"/>
            <a:ext cx="2596896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7516368" y="239572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Comparar</a:t>
            </a:r>
            <a:endParaRPr lang="en-US" sz="1000" dirty="0"/>
          </a:p>
        </p:txBody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498080" y="2834640"/>
            <a:ext cx="2432304" cy="749808"/>
          </a:xfrm>
          <a:prstGeom prst="rect">
            <a:avLst/>
          </a:prstGeom>
        </p:spPr>
      </p:pic>
      <p:sp>
        <p:nvSpPr>
          <p:cNvPr id="30" name="Shape 24"/>
          <p:cNvSpPr/>
          <p:nvPr/>
        </p:nvSpPr>
        <p:spPr>
          <a:xfrm>
            <a:off x="7278624" y="3895344"/>
            <a:ext cx="2852928" cy="731520"/>
          </a:xfrm>
          <a:prstGeom prst="roundRect">
            <a:avLst>
              <a:gd name="adj" fmla="val 375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7351776" y="4005072"/>
            <a:ext cx="100584" cy="51206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7534656" y="4023360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Boolean</a:t>
            </a:r>
            <a:endParaRPr lang="en-US" sz="1120" dirty="0"/>
          </a:p>
        </p:txBody>
      </p:sp>
      <p:sp>
        <p:nvSpPr>
          <p:cNvPr id="33" name="Text 27"/>
          <p:cNvSpPr/>
          <p:nvPr/>
        </p:nvSpPr>
        <p:spPr>
          <a:xfrm>
            <a:off x="7534656" y="4297680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Entrega true o false y prepara el terreno para decisiones posteriores.</a:t>
            </a:r>
            <a:endParaRPr lang="en-US" sz="800" dirty="0"/>
          </a:p>
        </p:txBody>
      </p:sp>
      <p:sp>
        <p:nvSpPr>
          <p:cNvPr id="34" name="Shape 28"/>
          <p:cNvSpPr/>
          <p:nvPr/>
        </p:nvSpPr>
        <p:spPr>
          <a:xfrm>
            <a:off x="1938528" y="5138928"/>
            <a:ext cx="7132320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2139696" y="5303520"/>
            <a:ext cx="6729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Dato -&gt; operacion -&gt; resultado</a:t>
            </a:r>
            <a:endParaRPr lang="en-US" sz="172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08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agente puede explicar los datos; tu debes probarlos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esta etapa ayuda mucho una explicacion rapida, pero sigue siendo necesario cambiar valores, ejecutar y leer resultados.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932688" y="2139696"/>
            <a:ext cx="9015984" cy="3401568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60704" y="2267712"/>
            <a:ext cx="875995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70432" y="2340864"/>
            <a:ext cx="8540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 puede acelerar un agente y que no conviene delegar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1078992" y="2706624"/>
            <a:ext cx="3502152" cy="2377440"/>
          </a:xfrm>
          <a:prstGeom prst="roundRect">
            <a:avLst>
              <a:gd name="adj" fmla="val 1538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188720" y="2834640"/>
            <a:ext cx="109728" cy="21214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389888" y="283464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Puede ayudar con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389888" y="3108960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explicacion inicial y ejemplos cortos</a:t>
            </a:r>
            <a:endParaRPr lang="en-US" sz="940" dirty="0"/>
          </a:p>
        </p:txBody>
      </p:sp>
      <p:sp>
        <p:nvSpPr>
          <p:cNvPr id="17" name="Shape 14"/>
          <p:cNvSpPr/>
          <p:nvPr/>
        </p:nvSpPr>
        <p:spPr>
          <a:xfrm>
            <a:off x="1389888" y="3456432"/>
            <a:ext cx="304495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481328" y="3570732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627632" y="3502152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explicar que representa una variable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1389888" y="3858768"/>
            <a:ext cx="304495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481328" y="3973068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627632" y="390448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comparar let y const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1389888" y="4261104"/>
            <a:ext cx="304495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481328" y="4375404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627632" y="4306824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proponer ejemplos con string, number y boolean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1389888" y="4663440"/>
            <a:ext cx="304495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481328" y="4777740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627632" y="4709160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mostrar por que una comparacion da true o false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706624"/>
            <a:ext cx="3502152" cy="237744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409944" y="2834640"/>
            <a:ext cx="109728" cy="212140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611112" y="283464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conviene delegar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6611112" y="3108960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comprension del valor y validacion real</a:t>
            </a:r>
            <a:endParaRPr lang="en-US" sz="940" dirty="0"/>
          </a:p>
        </p:txBody>
      </p:sp>
      <p:sp>
        <p:nvSpPr>
          <p:cNvPr id="33" name="Shape 30"/>
          <p:cNvSpPr/>
          <p:nvPr/>
        </p:nvSpPr>
        <p:spPr>
          <a:xfrm>
            <a:off x="6611112" y="3456432"/>
            <a:ext cx="304495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702552" y="3570732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848856" y="3502152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copiar variables sin saber que representan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6611112" y="3858768"/>
            <a:ext cx="304495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702552" y="3973068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848856" y="390448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aceptar operaciones sin ejecutarlas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6611112" y="4261104"/>
            <a:ext cx="304495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702552" y="4375404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848856" y="4306824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confundir texto con numero por no probar en consola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6611112" y="4663440"/>
            <a:ext cx="304495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702552" y="4777740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848856" y="4709160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reutilizar codigo sin cambiar valores ni observar resultados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4837176" y="3081528"/>
            <a:ext cx="1207008" cy="1627632"/>
          </a:xfrm>
          <a:prstGeom prst="roundRect">
            <a:avLst>
              <a:gd name="adj" fmla="val 4545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946904" y="3227832"/>
            <a:ext cx="987552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5020056" y="3648456"/>
            <a:ext cx="841248" cy="164592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5001768" y="3273552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Practica</a:t>
            </a:r>
            <a:endParaRPr lang="en-US" sz="1060" dirty="0"/>
          </a:p>
        </p:txBody>
      </p:sp>
      <p:sp>
        <p:nvSpPr>
          <p:cNvPr id="49" name="Text 46"/>
          <p:cNvSpPr/>
          <p:nvPr/>
        </p:nvSpPr>
        <p:spPr>
          <a:xfrm>
            <a:off x="4965192" y="4059936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Leer, ejecutar, cambiar un valor y volver a mirar el resultado sigue siendo obligatorio.</a:t>
            </a:r>
            <a:endParaRPr lang="en-US" sz="720" dirty="0"/>
          </a:p>
        </p:txBody>
      </p:sp>
      <p:sp>
        <p:nvSpPr>
          <p:cNvPr id="50" name="Shape 47"/>
          <p:cNvSpPr/>
          <p:nvPr/>
        </p:nvSpPr>
        <p:spPr>
          <a:xfrm>
            <a:off x="1133856" y="5138928"/>
            <a:ext cx="8613648" cy="219456"/>
          </a:xfrm>
          <a:prstGeom prst="roundRect">
            <a:avLst>
              <a:gd name="adj" fmla="val 1250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1243584" y="5184648"/>
            <a:ext cx="83941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Leer -&gt; ejecutar -&gt; cambiar -&gt; observar.</a:t>
            </a:r>
            <a:endParaRPr lang="en-US" sz="88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08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Preguntas para cerrar el bloque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 de pasar a funciones y estructuras de control, conviene fijar por que los datos importan tanto.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914400" y="2231136"/>
            <a:ext cx="4407408" cy="1078992"/>
          </a:xfrm>
          <a:prstGeom prst="roundRect">
            <a:avLst>
              <a:gd name="adj" fmla="val 3390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05840" y="2359152"/>
            <a:ext cx="109728" cy="82296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70432" y="2340864"/>
            <a:ext cx="4059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¿Por que un programa necesita representar informacion antes de tomar decisiones?</a:t>
            </a:r>
            <a:endParaRPr lang="en-US" sz="1360" dirty="0"/>
          </a:p>
        </p:txBody>
      </p:sp>
      <p:sp>
        <p:nvSpPr>
          <p:cNvPr id="13" name="Text 10"/>
          <p:cNvSpPr/>
          <p:nvPr/>
        </p:nvSpPr>
        <p:spPr>
          <a:xfrm>
            <a:off x="1170432" y="2688336"/>
            <a:ext cx="4059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respuesta deberia conectar datos, operaciones y comportamiento posterior.</a:t>
            </a:r>
            <a:endParaRPr lang="en-US" sz="880" dirty="0"/>
          </a:p>
        </p:txBody>
      </p:sp>
      <p:sp>
        <p:nvSpPr>
          <p:cNvPr id="14" name="Shape 11"/>
          <p:cNvSpPr/>
          <p:nvPr/>
        </p:nvSpPr>
        <p:spPr>
          <a:xfrm>
            <a:off x="5486400" y="2231136"/>
            <a:ext cx="4407408" cy="1078992"/>
          </a:xfrm>
          <a:prstGeom prst="roundRect">
            <a:avLst>
              <a:gd name="adj" fmla="val 339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577840" y="2359152"/>
            <a:ext cx="109728" cy="82296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742432" y="2340864"/>
            <a:ext cx="4059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¿Que diferencia practica existe entre let y const?</a:t>
            </a:r>
            <a:endParaRPr lang="en-US" sz="1360" dirty="0"/>
          </a:p>
        </p:txBody>
      </p:sp>
      <p:sp>
        <p:nvSpPr>
          <p:cNvPr id="17" name="Text 14"/>
          <p:cNvSpPr/>
          <p:nvPr/>
        </p:nvSpPr>
        <p:spPr>
          <a:xfrm>
            <a:off x="5742432" y="2688336"/>
            <a:ext cx="4059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basta con decir que son palabras reservadas: importa si el valor deberia cambiar o no.</a:t>
            </a:r>
            <a:endParaRPr lang="en-US" sz="880" dirty="0"/>
          </a:p>
        </p:txBody>
      </p:sp>
      <p:sp>
        <p:nvSpPr>
          <p:cNvPr id="18" name="Shape 15"/>
          <p:cNvSpPr/>
          <p:nvPr/>
        </p:nvSpPr>
        <p:spPr>
          <a:xfrm>
            <a:off x="914400" y="3675888"/>
            <a:ext cx="4407408" cy="1078992"/>
          </a:xfrm>
          <a:prstGeom prst="roundRect">
            <a:avLst>
              <a:gd name="adj" fmla="val 339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005840" y="3803904"/>
            <a:ext cx="109728" cy="82296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70432" y="3785616"/>
            <a:ext cx="4059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¿Que cambia cuando un valor es texto, numero o booleano?</a:t>
            </a:r>
            <a:endParaRPr lang="en-US" sz="1360" dirty="0"/>
          </a:p>
        </p:txBody>
      </p:sp>
      <p:sp>
        <p:nvSpPr>
          <p:cNvPr id="21" name="Text 18"/>
          <p:cNvSpPr/>
          <p:nvPr/>
        </p:nvSpPr>
        <p:spPr>
          <a:xfrm>
            <a:off x="1170432" y="4133088"/>
            <a:ext cx="4059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tipo permite operaciones distintas y eso afecta como se lee el codigo.</a:t>
            </a:r>
            <a:endParaRPr lang="en-US" sz="880" dirty="0"/>
          </a:p>
        </p:txBody>
      </p:sp>
      <p:sp>
        <p:nvSpPr>
          <p:cNvPr id="22" name="Shape 19"/>
          <p:cNvSpPr/>
          <p:nvPr/>
        </p:nvSpPr>
        <p:spPr>
          <a:xfrm>
            <a:off x="5486400" y="3675888"/>
            <a:ext cx="4407408" cy="1078992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577840" y="3803904"/>
            <a:ext cx="109728" cy="82296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742432" y="3785616"/>
            <a:ext cx="4059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¿Por que conviene ejecutar y modificar ejemplos cortos en vez de solo leerlos?</a:t>
            </a:r>
            <a:endParaRPr lang="en-US" sz="1360" dirty="0"/>
          </a:p>
        </p:txBody>
      </p:sp>
      <p:sp>
        <p:nvSpPr>
          <p:cNvPr id="25" name="Text 22"/>
          <p:cNvSpPr/>
          <p:nvPr/>
        </p:nvSpPr>
        <p:spPr>
          <a:xfrm>
            <a:off x="5742432" y="4133088"/>
            <a:ext cx="4059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Porque el resultado real y la consola muestran si entendiste de verdad lo que hace cada valor.</a:t>
            </a:r>
            <a:endParaRPr lang="en-US" sz="88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08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Cierre del Bloque 2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 tenemos datos, variables y operaciones. El siguiente paso es organizar esa logica con funciones y decisiones.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914400" y="2322576"/>
            <a:ext cx="4169664" cy="1298448"/>
          </a:xfrm>
          <a:prstGeom prst="roundRect">
            <a:avLst>
              <a:gd name="adj" fmla="val 281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15568" y="2487168"/>
            <a:ext cx="376732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Datos claros permiten decisiones claras.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1078992" y="4078224"/>
            <a:ext cx="3803904" cy="969264"/>
          </a:xfrm>
          <a:prstGeom prst="roundRect">
            <a:avLst>
              <a:gd name="adj" fmla="val 2830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152144" y="4187952"/>
            <a:ext cx="100584" cy="74980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335024" y="420624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 que sigue</a:t>
            </a:r>
            <a:endParaRPr lang="en-US" sz="1220" dirty="0"/>
          </a:p>
        </p:txBody>
      </p:sp>
      <p:sp>
        <p:nvSpPr>
          <p:cNvPr id="15" name="Text 12"/>
          <p:cNvSpPr/>
          <p:nvPr/>
        </p:nvSpPr>
        <p:spPr>
          <a:xfrm>
            <a:off x="1335024" y="448056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Funciones agrupan acciones con nombre y if / else decide que camino sigue el programa segun una condicion.</a:t>
            </a:r>
            <a:endParaRPr lang="en-US" sz="860" dirty="0"/>
          </a:p>
        </p:txBody>
      </p:sp>
      <p:sp>
        <p:nvSpPr>
          <p:cNvPr id="16" name="Shape 13"/>
          <p:cNvSpPr/>
          <p:nvPr/>
        </p:nvSpPr>
        <p:spPr>
          <a:xfrm>
            <a:off x="5358384" y="2176272"/>
            <a:ext cx="4754880" cy="3566160"/>
          </a:xfrm>
          <a:prstGeom prst="roundRect">
            <a:avLst>
              <a:gd name="adj" fmla="val 102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486400" y="2304288"/>
            <a:ext cx="4498848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596128" y="2377440"/>
            <a:ext cx="4279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Avance del Bloque 3</a:t>
            </a:r>
            <a:endParaRPr lang="en-US" sz="980" dirty="0"/>
          </a:p>
        </p:txBody>
      </p:sp>
      <p:sp>
        <p:nvSpPr>
          <p:cNvPr id="19" name="Shape 16"/>
          <p:cNvSpPr/>
          <p:nvPr/>
        </p:nvSpPr>
        <p:spPr>
          <a:xfrm>
            <a:off x="5522976" y="2743200"/>
            <a:ext cx="1371600" cy="2560320"/>
          </a:xfrm>
          <a:prstGeom prst="roundRect">
            <a:avLst>
              <a:gd name="adj" fmla="val 266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687568" y="2907792"/>
            <a:ext cx="10424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Funcion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687568" y="3218688"/>
            <a:ext cx="1042416" cy="493776"/>
          </a:xfrm>
          <a:prstGeom prst="roundRect">
            <a:avLst>
              <a:gd name="adj" fmla="val 740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760720" y="3392424"/>
            <a:ext cx="8961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verificarAcceso(edad)</a:t>
            </a:r>
            <a:endParaRPr lang="en-US" sz="840" dirty="0"/>
          </a:p>
        </p:txBody>
      </p:sp>
      <p:sp>
        <p:nvSpPr>
          <p:cNvPr id="23" name="Text 20"/>
          <p:cNvSpPr/>
          <p:nvPr/>
        </p:nvSpPr>
        <p:spPr>
          <a:xfrm>
            <a:off x="5687568" y="3895344"/>
            <a:ext cx="104241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misma logica puede reutilizarse cuando recibe datos distintos</a:t>
            </a:r>
            <a:endParaRPr lang="en-US" sz="780" dirty="0"/>
          </a:p>
        </p:txBody>
      </p:sp>
      <p:sp>
        <p:nvSpPr>
          <p:cNvPr id="24" name="Shape 21"/>
          <p:cNvSpPr/>
          <p:nvPr/>
        </p:nvSpPr>
        <p:spPr>
          <a:xfrm>
            <a:off x="6922008" y="3877056"/>
            <a:ext cx="109728" cy="292608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059168" y="2743200"/>
            <a:ext cx="1280160" cy="2560320"/>
          </a:xfrm>
          <a:prstGeom prst="roundRect">
            <a:avLst>
              <a:gd name="adj" fmla="val 2857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168896" y="2907792"/>
            <a:ext cx="10607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Condicion</a:t>
            </a:r>
            <a:endParaRPr lang="en-US" sz="1080" dirty="0"/>
          </a:p>
        </p:txBody>
      </p:sp>
      <p:sp>
        <p:nvSpPr>
          <p:cNvPr id="27" name="Shape 24"/>
          <p:cNvSpPr/>
          <p:nvPr/>
        </p:nvSpPr>
        <p:spPr>
          <a:xfrm>
            <a:off x="7388352" y="3310128"/>
            <a:ext cx="621792" cy="310896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187184" y="3730752"/>
            <a:ext cx="10241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edad &gt;= 18</a:t>
            </a:r>
            <a:endParaRPr lang="en-US" sz="820" dirty="0"/>
          </a:p>
        </p:txBody>
      </p:sp>
      <p:sp>
        <p:nvSpPr>
          <p:cNvPr id="29" name="Text 26"/>
          <p:cNvSpPr/>
          <p:nvPr/>
        </p:nvSpPr>
        <p:spPr>
          <a:xfrm>
            <a:off x="7168896" y="4041648"/>
            <a:ext cx="10607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estructura de control decide si se cumple o no</a:t>
            </a:r>
            <a:endParaRPr lang="en-US" sz="730" dirty="0"/>
          </a:p>
        </p:txBody>
      </p:sp>
      <p:sp>
        <p:nvSpPr>
          <p:cNvPr id="30" name="Shape 27"/>
          <p:cNvSpPr/>
          <p:nvPr/>
        </p:nvSpPr>
        <p:spPr>
          <a:xfrm>
            <a:off x="8366760" y="3877056"/>
            <a:ext cx="109728" cy="292608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503920" y="2743200"/>
            <a:ext cx="1444752" cy="256032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650224" y="2907792"/>
            <a:ext cx="11521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Salidas posibles</a:t>
            </a:r>
            <a:endParaRPr lang="en-US" sz="1160" dirty="0"/>
          </a:p>
        </p:txBody>
      </p:sp>
      <p:sp>
        <p:nvSpPr>
          <p:cNvPr id="33" name="Shape 30"/>
          <p:cNvSpPr/>
          <p:nvPr/>
        </p:nvSpPr>
        <p:spPr>
          <a:xfrm>
            <a:off x="8631936" y="3236976"/>
            <a:ext cx="1188720" cy="896112"/>
          </a:xfrm>
          <a:prstGeom prst="roundRect">
            <a:avLst>
              <a:gd name="adj" fmla="val 4082"/>
            </a:avLst>
          </a:prstGeom>
          <a:solidFill>
            <a:srgbClr val="E9F6EE"/>
          </a:solidFill>
          <a:ln w="12700">
            <a:solidFill>
              <a:srgbClr val="E9F6EE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8631936" y="3236976"/>
            <a:ext cx="73152" cy="896112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759952" y="3346704"/>
            <a:ext cx="10058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se cumple</a:t>
            </a:r>
            <a:endParaRPr lang="en-US" sz="880" dirty="0"/>
          </a:p>
        </p:txBody>
      </p:sp>
      <p:sp>
        <p:nvSpPr>
          <p:cNvPr id="36" name="Text 33"/>
          <p:cNvSpPr/>
          <p:nvPr/>
        </p:nvSpPr>
        <p:spPr>
          <a:xfrm>
            <a:off x="8759952" y="3511296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Acceso permitido</a:t>
            </a:r>
            <a:endParaRPr lang="en-US" sz="780" dirty="0"/>
          </a:p>
        </p:txBody>
      </p:sp>
      <p:sp>
        <p:nvSpPr>
          <p:cNvPr id="37" name="Shape 34"/>
          <p:cNvSpPr/>
          <p:nvPr/>
        </p:nvSpPr>
        <p:spPr>
          <a:xfrm>
            <a:off x="8631936" y="4297680"/>
            <a:ext cx="1188720" cy="896112"/>
          </a:xfrm>
          <a:prstGeom prst="roundRect">
            <a:avLst>
              <a:gd name="adj" fmla="val 4082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8631936" y="4297680"/>
            <a:ext cx="73152" cy="89611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8759952" y="4407408"/>
            <a:ext cx="10058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no se cumple</a:t>
            </a:r>
            <a:endParaRPr lang="en-US" sz="880" dirty="0"/>
          </a:p>
        </p:txBody>
      </p:sp>
      <p:sp>
        <p:nvSpPr>
          <p:cNvPr id="40" name="Text 37"/>
          <p:cNvSpPr/>
          <p:nvPr/>
        </p:nvSpPr>
        <p:spPr>
          <a:xfrm>
            <a:off x="8759952" y="457200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Acceso denegado</a:t>
            </a:r>
            <a:endParaRPr lang="en-US" sz="780" dirty="0"/>
          </a:p>
        </p:txBody>
      </p:sp>
      <p:sp>
        <p:nvSpPr>
          <p:cNvPr id="41" name="Text 38"/>
          <p:cNvSpPr/>
          <p:nvPr/>
        </p:nvSpPr>
        <p:spPr>
          <a:xfrm>
            <a:off x="5541264" y="5577840"/>
            <a:ext cx="4389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+ funciones + condiciones = primeras decisiones reales.</a:t>
            </a:r>
            <a:endParaRPr lang="en-US" sz="84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08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Los datos aparecen antes de cualquier decision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interfaces reales no trabajas con palabras sueltas: trabajas con nombres, precios, cantidades, estados y mensajes.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950976" y="2066544"/>
            <a:ext cx="2157984" cy="1572768"/>
          </a:xfrm>
          <a:prstGeom prst="roundRect">
            <a:avLst>
              <a:gd name="adj" fmla="val 2326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50976" y="2066544"/>
            <a:ext cx="73152" cy="157276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97280" y="2194560"/>
            <a:ext cx="19019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producto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1097280" y="2432304"/>
            <a:ext cx="1901952" cy="310896"/>
          </a:xfrm>
          <a:prstGeom prst="roundRect">
            <a:avLst>
              <a:gd name="adj" fmla="val 1176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70432" y="2532888"/>
            <a:ext cx="17556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"Notebook Pro"</a:t>
            </a:r>
            <a:endParaRPr lang="en-US" sz="810" dirty="0"/>
          </a:p>
        </p:txBody>
      </p:sp>
      <p:sp>
        <p:nvSpPr>
          <p:cNvPr id="15" name="Text 12"/>
          <p:cNvSpPr/>
          <p:nvPr/>
        </p:nvSpPr>
        <p:spPr>
          <a:xfrm>
            <a:off x="1097280" y="2852928"/>
            <a:ext cx="19019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texto para mostrar un nombre visible.</a:t>
            </a:r>
            <a:endParaRPr lang="en-US" sz="760" dirty="0"/>
          </a:p>
        </p:txBody>
      </p:sp>
      <p:sp>
        <p:nvSpPr>
          <p:cNvPr id="16" name="Shape 13"/>
          <p:cNvSpPr/>
          <p:nvPr/>
        </p:nvSpPr>
        <p:spPr>
          <a:xfrm>
            <a:off x="3236976" y="2066544"/>
            <a:ext cx="2157984" cy="1572768"/>
          </a:xfrm>
          <a:prstGeom prst="roundRect">
            <a:avLst>
              <a:gd name="adj" fmla="val 2326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236976" y="2066544"/>
            <a:ext cx="73152" cy="157276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383280" y="2194560"/>
            <a:ext cx="19019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precio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3383280" y="2432304"/>
            <a:ext cx="1901952" cy="310896"/>
          </a:xfrm>
          <a:prstGeom prst="roundRect">
            <a:avLst>
              <a:gd name="adj" fmla="val 1176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456432" y="2532888"/>
            <a:ext cx="17556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149990</a:t>
            </a:r>
            <a:endParaRPr lang="en-US" sz="810" dirty="0"/>
          </a:p>
        </p:txBody>
      </p:sp>
      <p:sp>
        <p:nvSpPr>
          <p:cNvPr id="21" name="Text 18"/>
          <p:cNvSpPr/>
          <p:nvPr/>
        </p:nvSpPr>
        <p:spPr>
          <a:xfrm>
            <a:off x="3383280" y="2852928"/>
            <a:ext cx="19019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numero para operar y comparar.</a:t>
            </a:r>
            <a:endParaRPr lang="en-US" sz="760" dirty="0"/>
          </a:p>
        </p:txBody>
      </p:sp>
      <p:sp>
        <p:nvSpPr>
          <p:cNvPr id="22" name="Shape 19"/>
          <p:cNvSpPr/>
          <p:nvPr/>
        </p:nvSpPr>
        <p:spPr>
          <a:xfrm>
            <a:off x="5522976" y="2066544"/>
            <a:ext cx="2157984" cy="1572768"/>
          </a:xfrm>
          <a:prstGeom prst="roundRect">
            <a:avLst>
              <a:gd name="adj" fmla="val 2326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522976" y="2066544"/>
            <a:ext cx="73152" cy="157276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669280" y="2194560"/>
            <a:ext cx="19019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stock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669280" y="2432304"/>
            <a:ext cx="1901952" cy="310896"/>
          </a:xfrm>
          <a:prstGeom prst="roundRect">
            <a:avLst>
              <a:gd name="adj" fmla="val 1176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742432" y="2532888"/>
            <a:ext cx="17556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12</a:t>
            </a:r>
            <a:endParaRPr lang="en-US" sz="810" dirty="0"/>
          </a:p>
        </p:txBody>
      </p:sp>
      <p:sp>
        <p:nvSpPr>
          <p:cNvPr id="27" name="Text 24"/>
          <p:cNvSpPr/>
          <p:nvPr/>
        </p:nvSpPr>
        <p:spPr>
          <a:xfrm>
            <a:off x="5669280" y="2852928"/>
            <a:ext cx="19019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cantidad disponible para tomar decisiones.</a:t>
            </a:r>
            <a:endParaRPr lang="en-US" sz="760" dirty="0"/>
          </a:p>
        </p:txBody>
      </p:sp>
      <p:sp>
        <p:nvSpPr>
          <p:cNvPr id="28" name="Shape 25"/>
          <p:cNvSpPr/>
          <p:nvPr/>
        </p:nvSpPr>
        <p:spPr>
          <a:xfrm>
            <a:off x="7808976" y="2066544"/>
            <a:ext cx="2157984" cy="1572768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808976" y="2066544"/>
            <a:ext cx="73152" cy="157276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955280" y="2194560"/>
            <a:ext cx="19019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activo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7955280" y="2432304"/>
            <a:ext cx="1901952" cy="310896"/>
          </a:xfrm>
          <a:prstGeom prst="roundRect">
            <a:avLst>
              <a:gd name="adj" fmla="val 1176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028432" y="2532888"/>
            <a:ext cx="17556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true</a:t>
            </a:r>
            <a:endParaRPr lang="en-US" sz="810" dirty="0"/>
          </a:p>
        </p:txBody>
      </p:sp>
      <p:sp>
        <p:nvSpPr>
          <p:cNvPr id="33" name="Text 30"/>
          <p:cNvSpPr/>
          <p:nvPr/>
        </p:nvSpPr>
        <p:spPr>
          <a:xfrm>
            <a:off x="7955280" y="2852928"/>
            <a:ext cx="19019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estado simple para habilitar o bloquear algo.</a:t>
            </a:r>
            <a:endParaRPr lang="en-US" sz="760" dirty="0"/>
          </a:p>
        </p:txBody>
      </p:sp>
      <p:sp>
        <p:nvSpPr>
          <p:cNvPr id="34" name="Shape 31"/>
          <p:cNvSpPr/>
          <p:nvPr/>
        </p:nvSpPr>
        <p:spPr>
          <a:xfrm>
            <a:off x="914400" y="4041648"/>
            <a:ext cx="4425696" cy="1024128"/>
          </a:xfrm>
          <a:prstGeom prst="roundRect">
            <a:avLst>
              <a:gd name="adj" fmla="val 3571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1005840" y="4169664"/>
            <a:ext cx="109728" cy="76809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1170432" y="4151376"/>
            <a:ext cx="4078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Primero representas</a:t>
            </a:r>
            <a:endParaRPr lang="en-US" sz="1420" dirty="0"/>
          </a:p>
        </p:txBody>
      </p:sp>
      <p:sp>
        <p:nvSpPr>
          <p:cNvPr id="37" name="Text 34"/>
          <p:cNvSpPr/>
          <p:nvPr/>
        </p:nvSpPr>
        <p:spPr>
          <a:xfrm>
            <a:off x="1170432" y="4498848"/>
            <a:ext cx="40782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9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 de programar una accion, necesitas decidir que informacion existira y en que forma.</a:t>
            </a:r>
            <a:endParaRPr lang="en-US" sz="890" dirty="0"/>
          </a:p>
        </p:txBody>
      </p:sp>
      <p:sp>
        <p:nvSpPr>
          <p:cNvPr id="38" name="Shape 35"/>
          <p:cNvSpPr/>
          <p:nvPr/>
        </p:nvSpPr>
        <p:spPr>
          <a:xfrm>
            <a:off x="5504688" y="4041648"/>
            <a:ext cx="4425696" cy="1024128"/>
          </a:xfrm>
          <a:prstGeom prst="roundRect">
            <a:avLst>
              <a:gd name="adj" fmla="val 3571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5596128" y="4169664"/>
            <a:ext cx="109728" cy="76809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760720" y="4151376"/>
            <a:ext cx="4078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Despues operas</a:t>
            </a:r>
            <a:endParaRPr lang="en-US" sz="1420" dirty="0"/>
          </a:p>
        </p:txBody>
      </p:sp>
      <p:sp>
        <p:nvSpPr>
          <p:cNvPr id="41" name="Text 38"/>
          <p:cNvSpPr/>
          <p:nvPr/>
        </p:nvSpPr>
        <p:spPr>
          <a:xfrm>
            <a:off x="5760720" y="4498848"/>
            <a:ext cx="40782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9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 esos valores el programa ya puede mostrar, calcular, comparar o decidir algo.</a:t>
            </a:r>
            <a:endParaRPr lang="en-US" sz="89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08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valor puede cambiar durante la ejecucion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 eso importa distinguir entre declarar, leer y actualizar un dato dentro del programa.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914400" y="1993392"/>
            <a:ext cx="4828032" cy="2468880"/>
          </a:xfrm>
          <a:prstGeom prst="roundRect">
            <a:avLst>
              <a:gd name="adj" fmla="val 1481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42416" y="2103120"/>
            <a:ext cx="4572000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52144" y="2176272"/>
            <a:ext cx="43525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Cambio de estado simple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856" y="2596896"/>
            <a:ext cx="4407408" cy="171907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961888" y="2029968"/>
            <a:ext cx="3950208" cy="877824"/>
          </a:xfrm>
          <a:prstGeom prst="roundRect">
            <a:avLst>
              <a:gd name="adj" fmla="val 3125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035040" y="2139696"/>
            <a:ext cx="100584" cy="65836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217920" y="2157984"/>
            <a:ext cx="3621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Valor inicial</a:t>
            </a:r>
            <a:endParaRPr lang="en-US" sz="1280" dirty="0"/>
          </a:p>
        </p:txBody>
      </p:sp>
      <p:sp>
        <p:nvSpPr>
          <p:cNvPr id="17" name="Text 13"/>
          <p:cNvSpPr/>
          <p:nvPr/>
        </p:nvSpPr>
        <p:spPr>
          <a:xfrm>
            <a:off x="6217920" y="2432304"/>
            <a:ext cx="3621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programa parte en 0 porque todavia no ha ocurrido ninguna visita.</a:t>
            </a:r>
            <a:endParaRPr lang="en-US" sz="860" dirty="0"/>
          </a:p>
        </p:txBody>
      </p:sp>
      <p:sp>
        <p:nvSpPr>
          <p:cNvPr id="18" name="Shape 14"/>
          <p:cNvSpPr/>
          <p:nvPr/>
        </p:nvSpPr>
        <p:spPr>
          <a:xfrm>
            <a:off x="5961888" y="3054096"/>
            <a:ext cx="3950208" cy="877824"/>
          </a:xfrm>
          <a:prstGeom prst="roundRect">
            <a:avLst>
              <a:gd name="adj" fmla="val 3125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035040" y="3163824"/>
            <a:ext cx="100584" cy="65836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217920" y="3182112"/>
            <a:ext cx="3621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Operacion</a:t>
            </a:r>
            <a:endParaRPr lang="en-US" sz="1280" dirty="0"/>
          </a:p>
        </p:txBody>
      </p:sp>
      <p:sp>
        <p:nvSpPr>
          <p:cNvPr id="21" name="Text 17"/>
          <p:cNvSpPr/>
          <p:nvPr/>
        </p:nvSpPr>
        <p:spPr>
          <a:xfrm>
            <a:off x="6217920" y="3456432"/>
            <a:ext cx="3621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linea del medio toma el valor actual y lo reemplaza por uno nuevo.</a:t>
            </a:r>
            <a:endParaRPr lang="en-US" sz="860" dirty="0"/>
          </a:p>
        </p:txBody>
      </p:sp>
      <p:sp>
        <p:nvSpPr>
          <p:cNvPr id="22" name="Shape 18"/>
          <p:cNvSpPr/>
          <p:nvPr/>
        </p:nvSpPr>
        <p:spPr>
          <a:xfrm>
            <a:off x="5961888" y="4078224"/>
            <a:ext cx="3950208" cy="877824"/>
          </a:xfrm>
          <a:prstGeom prst="roundRect">
            <a:avLst>
              <a:gd name="adj" fmla="val 3125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035040" y="4187952"/>
            <a:ext cx="100584" cy="65836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217920" y="4206240"/>
            <a:ext cx="3621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Resultado observable</a:t>
            </a:r>
            <a:endParaRPr lang="en-US" sz="1280" dirty="0"/>
          </a:p>
        </p:txBody>
      </p:sp>
      <p:sp>
        <p:nvSpPr>
          <p:cNvPr id="25" name="Text 21"/>
          <p:cNvSpPr/>
          <p:nvPr/>
        </p:nvSpPr>
        <p:spPr>
          <a:xfrm>
            <a:off x="6217920" y="4480560"/>
            <a:ext cx="3621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consola confirma si el cambio realmente se produjo durante la ejecucion.</a:t>
            </a:r>
            <a:endParaRPr lang="en-US" sz="86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08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es lo mismo un numero que un texto que se le parece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Parte del criterio inicial en JavaScript es no confundir forma visual con tipo real del dato.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914400" y="2029968"/>
            <a:ext cx="4407408" cy="1225296"/>
          </a:xfrm>
          <a:prstGeom prst="roundRect">
            <a:avLst>
              <a:gd name="adj" fmla="val 2985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14400" y="2029968"/>
            <a:ext cx="73152" cy="122529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0704" y="2157984"/>
            <a:ext cx="41513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texto "14990"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1060704" y="2395728"/>
            <a:ext cx="4151376" cy="310896"/>
          </a:xfrm>
          <a:prstGeom prst="roundRect">
            <a:avLst>
              <a:gd name="adj" fmla="val 1176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33856" y="2496312"/>
            <a:ext cx="40050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"14990"</a:t>
            </a:r>
            <a:endParaRPr lang="en-US" sz="810" dirty="0"/>
          </a:p>
        </p:txBody>
      </p:sp>
      <p:sp>
        <p:nvSpPr>
          <p:cNvPr id="15" name="Text 12"/>
          <p:cNvSpPr/>
          <p:nvPr/>
        </p:nvSpPr>
        <p:spPr>
          <a:xfrm>
            <a:off x="1060704" y="2816352"/>
            <a:ext cx="4151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lee como precio, pero sigue siendo texto si no cambias su tipo.</a:t>
            </a:r>
            <a:endParaRPr lang="en-US" sz="760" dirty="0"/>
          </a:p>
        </p:txBody>
      </p:sp>
      <p:sp>
        <p:nvSpPr>
          <p:cNvPr id="16" name="Shape 13"/>
          <p:cNvSpPr/>
          <p:nvPr/>
        </p:nvSpPr>
        <p:spPr>
          <a:xfrm>
            <a:off x="5486400" y="2029968"/>
            <a:ext cx="4407408" cy="1225296"/>
          </a:xfrm>
          <a:prstGeom prst="roundRect">
            <a:avLst>
              <a:gd name="adj" fmla="val 2985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486400" y="2029968"/>
            <a:ext cx="73152" cy="122529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632704" y="2157984"/>
            <a:ext cx="41513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numero 14990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632704" y="2395728"/>
            <a:ext cx="4151376" cy="310896"/>
          </a:xfrm>
          <a:prstGeom prst="roundRect">
            <a:avLst>
              <a:gd name="adj" fmla="val 1176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705856" y="2496312"/>
            <a:ext cx="40050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14990</a:t>
            </a:r>
            <a:endParaRPr lang="en-US" sz="810" dirty="0"/>
          </a:p>
        </p:txBody>
      </p:sp>
      <p:sp>
        <p:nvSpPr>
          <p:cNvPr id="21" name="Text 18"/>
          <p:cNvSpPr/>
          <p:nvPr/>
        </p:nvSpPr>
        <p:spPr>
          <a:xfrm>
            <a:off x="5632704" y="2816352"/>
            <a:ext cx="4151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sirve para sumar, comparar y operar como cantidad.</a:t>
            </a:r>
            <a:endParaRPr lang="en-US" sz="760" dirty="0"/>
          </a:p>
        </p:txBody>
      </p:sp>
      <p:sp>
        <p:nvSpPr>
          <p:cNvPr id="22" name="Shape 19"/>
          <p:cNvSpPr/>
          <p:nvPr/>
        </p:nvSpPr>
        <p:spPr>
          <a:xfrm>
            <a:off x="914400" y="3547872"/>
            <a:ext cx="4407408" cy="1225296"/>
          </a:xfrm>
          <a:prstGeom prst="roundRect">
            <a:avLst>
              <a:gd name="adj" fmla="val 2985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14400" y="3547872"/>
            <a:ext cx="73152" cy="122529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60704" y="3675888"/>
            <a:ext cx="41513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texto "true"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060704" y="3913632"/>
            <a:ext cx="4151376" cy="310896"/>
          </a:xfrm>
          <a:prstGeom prst="roundRect">
            <a:avLst>
              <a:gd name="adj" fmla="val 1176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133856" y="4014216"/>
            <a:ext cx="40050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"true"</a:t>
            </a:r>
            <a:endParaRPr lang="en-US" sz="810" dirty="0"/>
          </a:p>
        </p:txBody>
      </p:sp>
      <p:sp>
        <p:nvSpPr>
          <p:cNvPr id="27" name="Text 24"/>
          <p:cNvSpPr/>
          <p:nvPr/>
        </p:nvSpPr>
        <p:spPr>
          <a:xfrm>
            <a:off x="1060704" y="4334256"/>
            <a:ext cx="4151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parece estado logico, pero sigue siendo una cadena de texto.</a:t>
            </a:r>
            <a:endParaRPr lang="en-US" sz="760" dirty="0"/>
          </a:p>
        </p:txBody>
      </p:sp>
      <p:sp>
        <p:nvSpPr>
          <p:cNvPr id="28" name="Shape 25"/>
          <p:cNvSpPr/>
          <p:nvPr/>
        </p:nvSpPr>
        <p:spPr>
          <a:xfrm>
            <a:off x="5486400" y="3547872"/>
            <a:ext cx="4407408" cy="1225296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486400" y="3547872"/>
            <a:ext cx="73152" cy="122529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632704" y="3675888"/>
            <a:ext cx="41513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boolean true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5632704" y="3913632"/>
            <a:ext cx="4151376" cy="310896"/>
          </a:xfrm>
          <a:prstGeom prst="roundRect">
            <a:avLst>
              <a:gd name="adj" fmla="val 1176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705856" y="4014216"/>
            <a:ext cx="40050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true</a:t>
            </a:r>
            <a:endParaRPr lang="en-US" sz="810" dirty="0"/>
          </a:p>
        </p:txBody>
      </p:sp>
      <p:sp>
        <p:nvSpPr>
          <p:cNvPr id="33" name="Text 30"/>
          <p:cNvSpPr/>
          <p:nvPr/>
        </p:nvSpPr>
        <p:spPr>
          <a:xfrm>
            <a:off x="5632704" y="4334256"/>
            <a:ext cx="4151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permite decidir entre ramas y activar comportamiento segun condicion.</a:t>
            </a:r>
            <a:endParaRPr lang="en-US" sz="76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08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Antes de usar un valor conviene revisar cuatro cosas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Esa mini rutina evita muchos errores tempranos de lectura y de operaciones equivocadas.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914400" y="2011680"/>
            <a:ext cx="4407408" cy="914400"/>
          </a:xfrm>
          <a:prstGeom prst="roundRect">
            <a:avLst>
              <a:gd name="adj" fmla="val 4000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05840" y="2139696"/>
            <a:ext cx="109728" cy="65836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70432" y="2121408"/>
            <a:ext cx="4059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Como se llama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170432" y="2468880"/>
            <a:ext cx="4059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nombre debe dejar clara la idea del dato, no obligarte a adivinarlo.</a:t>
            </a:r>
            <a:endParaRPr lang="en-US" sz="880" dirty="0"/>
          </a:p>
        </p:txBody>
      </p:sp>
      <p:sp>
        <p:nvSpPr>
          <p:cNvPr id="14" name="Shape 11"/>
          <p:cNvSpPr/>
          <p:nvPr/>
        </p:nvSpPr>
        <p:spPr>
          <a:xfrm>
            <a:off x="5486400" y="2011680"/>
            <a:ext cx="4407408" cy="914400"/>
          </a:xfrm>
          <a:prstGeom prst="roundRect">
            <a:avLst>
              <a:gd name="adj" fmla="val 400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577840" y="2139696"/>
            <a:ext cx="109728" cy="65836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742432" y="2121408"/>
            <a:ext cx="4059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Que tipo tiene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742432" y="2468880"/>
            <a:ext cx="4059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Texto, numero o boolean no se usan igual aunque se parezcan visualmente.</a:t>
            </a:r>
            <a:endParaRPr lang="en-US" sz="880" dirty="0"/>
          </a:p>
        </p:txBody>
      </p:sp>
      <p:sp>
        <p:nvSpPr>
          <p:cNvPr id="18" name="Shape 15"/>
          <p:cNvSpPr/>
          <p:nvPr/>
        </p:nvSpPr>
        <p:spPr>
          <a:xfrm>
            <a:off x="914400" y="3200400"/>
            <a:ext cx="4407408" cy="914400"/>
          </a:xfrm>
          <a:prstGeom prst="roundRect">
            <a:avLst>
              <a:gd name="adj" fmla="val 400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005840" y="3328416"/>
            <a:ext cx="109728" cy="65836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70432" y="3310128"/>
            <a:ext cx="4059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De donde sale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170432" y="3657600"/>
            <a:ext cx="4059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es lo mismo un valor escrito a mano que uno que llega desde input o desde datos externos.</a:t>
            </a:r>
            <a:endParaRPr lang="en-US" sz="880" dirty="0"/>
          </a:p>
        </p:txBody>
      </p:sp>
      <p:sp>
        <p:nvSpPr>
          <p:cNvPr id="22" name="Shape 19"/>
          <p:cNvSpPr/>
          <p:nvPr/>
        </p:nvSpPr>
        <p:spPr>
          <a:xfrm>
            <a:off x="5486400" y="3200400"/>
            <a:ext cx="4407408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577840" y="3328416"/>
            <a:ext cx="109728" cy="65836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742432" y="3310128"/>
            <a:ext cx="4059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Si puede cambiar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5742432" y="3657600"/>
            <a:ext cx="4059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Esa respuesta te orienta entre const, let y la manera de leer su estado.</a:t>
            </a:r>
            <a:endParaRPr lang="en-US" sz="880" dirty="0"/>
          </a:p>
        </p:txBody>
      </p:sp>
      <p:sp>
        <p:nvSpPr>
          <p:cNvPr id="26" name="Shape 23"/>
          <p:cNvSpPr/>
          <p:nvPr/>
        </p:nvSpPr>
        <p:spPr>
          <a:xfrm>
            <a:off x="1078992" y="4590288"/>
            <a:ext cx="8796528" cy="548640"/>
          </a:xfrm>
          <a:prstGeom prst="roundRect">
            <a:avLst>
              <a:gd name="adj" fmla="val 666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280160" y="4754880"/>
            <a:ext cx="8394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Nombrar, tipar, ubicar el origen y leer el cambio son parte del criterio basico.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08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Funciones y control: la logica deja de ser una secuencia fija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Ahora JavaScript ya no solo guarda datos: tambien puede agrupar acciones y decidir que camino seguir segun una condicion.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914400" y="2212848"/>
            <a:ext cx="3895344" cy="3547872"/>
          </a:xfrm>
          <a:prstGeom prst="roundRect">
            <a:avLst>
              <a:gd name="adj" fmla="val 1031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25296" y="2688336"/>
            <a:ext cx="32735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funcion agrupa una accion con nombre.</a:t>
            </a:r>
            <a:endParaRPr lang="en-US" sz="2120" dirty="0"/>
          </a:p>
        </p:txBody>
      </p:sp>
      <p:sp>
        <p:nvSpPr>
          <p:cNvPr id="12" name="Text 9"/>
          <p:cNvSpPr/>
          <p:nvPr/>
        </p:nvSpPr>
        <p:spPr>
          <a:xfrm>
            <a:off x="1261872" y="3657600"/>
            <a:ext cx="3200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dirty="0">
                <a:solidFill>
                  <a:srgbClr val="DC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 una condicion permite que esa logica no responda siempre igual, sino segun el dato que recibe.</a:t>
            </a:r>
            <a:endParaRPr lang="en-US" sz="1040" dirty="0"/>
          </a:p>
        </p:txBody>
      </p:sp>
      <p:sp>
        <p:nvSpPr>
          <p:cNvPr id="13" name="Shape 10"/>
          <p:cNvSpPr/>
          <p:nvPr/>
        </p:nvSpPr>
        <p:spPr>
          <a:xfrm>
            <a:off x="1170432" y="4791456"/>
            <a:ext cx="3310128" cy="694944"/>
          </a:xfrm>
          <a:prstGeom prst="roundRect">
            <a:avLst>
              <a:gd name="adj" fmla="val 394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243584" y="4901184"/>
            <a:ext cx="100584" cy="47548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426464" y="4919472"/>
            <a:ext cx="2980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Idea del bloque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1426464" y="5193792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Funcion + dato + condicion = primeras decisiones reutilizables.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266944" y="2231136"/>
            <a:ext cx="4645152" cy="1408176"/>
          </a:xfrm>
          <a:prstGeom prst="roundRect">
            <a:avLst>
              <a:gd name="adj" fmla="val 259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394960" y="2340864"/>
            <a:ext cx="4389120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504688" y="2414016"/>
            <a:ext cx="41696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Funcion simple</a:t>
            </a:r>
            <a:endParaRPr lang="en-US" sz="10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86400" y="2889504"/>
            <a:ext cx="4224528" cy="658368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5266944" y="3767328"/>
            <a:ext cx="4645152" cy="1993392"/>
          </a:xfrm>
          <a:prstGeom prst="roundRect">
            <a:avLst>
              <a:gd name="adj" fmla="val 183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394960" y="3895344"/>
            <a:ext cx="4389120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504688" y="3968496"/>
            <a:ext cx="4169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Funcion + decision</a:t>
            </a:r>
            <a:endParaRPr lang="en-US" sz="980" dirty="0"/>
          </a:p>
        </p:txBody>
      </p:sp>
      <p:sp>
        <p:nvSpPr>
          <p:cNvPr id="24" name="Shape 20"/>
          <p:cNvSpPr/>
          <p:nvPr/>
        </p:nvSpPr>
        <p:spPr>
          <a:xfrm>
            <a:off x="5431536" y="4334256"/>
            <a:ext cx="1371600" cy="1243584"/>
          </a:xfrm>
          <a:prstGeom prst="roundRect">
            <a:avLst>
              <a:gd name="adj" fmla="val 2941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5596128" y="4443984"/>
            <a:ext cx="10424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Entrada</a:t>
            </a:r>
            <a:endParaRPr lang="en-US" sz="1060" dirty="0"/>
          </a:p>
        </p:txBody>
      </p:sp>
      <p:sp>
        <p:nvSpPr>
          <p:cNvPr id="26" name="Shape 22"/>
          <p:cNvSpPr/>
          <p:nvPr/>
        </p:nvSpPr>
        <p:spPr>
          <a:xfrm>
            <a:off x="5596128" y="4663440"/>
            <a:ext cx="1042416" cy="310896"/>
          </a:xfrm>
          <a:prstGeom prst="roundRect">
            <a:avLst>
              <a:gd name="adj" fmla="val 1176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5669280" y="4764024"/>
            <a:ext cx="89611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edad = 19</a:t>
            </a:r>
            <a:endParaRPr lang="en-US" sz="720" dirty="0"/>
          </a:p>
        </p:txBody>
      </p:sp>
      <p:sp>
        <p:nvSpPr>
          <p:cNvPr id="28" name="Text 24"/>
          <p:cNvSpPr/>
          <p:nvPr/>
        </p:nvSpPr>
        <p:spPr>
          <a:xfrm>
            <a:off x="5596128" y="5047488"/>
            <a:ext cx="1042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entra un dato que la funcion debe leer</a:t>
            </a:r>
            <a:endParaRPr lang="en-US" sz="650" dirty="0"/>
          </a:p>
        </p:txBody>
      </p:sp>
      <p:sp>
        <p:nvSpPr>
          <p:cNvPr id="29" name="Shape 25"/>
          <p:cNvSpPr/>
          <p:nvPr/>
        </p:nvSpPr>
        <p:spPr>
          <a:xfrm>
            <a:off x="6830568" y="4809744"/>
            <a:ext cx="109728" cy="292608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6967728" y="4334256"/>
            <a:ext cx="1280160" cy="1243584"/>
          </a:xfrm>
          <a:prstGeom prst="roundRect">
            <a:avLst>
              <a:gd name="adj" fmla="val 2941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7077456" y="4443984"/>
            <a:ext cx="10607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if / else</a:t>
            </a:r>
            <a:endParaRPr lang="en-US" sz="980" dirty="0"/>
          </a:p>
        </p:txBody>
      </p:sp>
      <p:sp>
        <p:nvSpPr>
          <p:cNvPr id="32" name="Shape 28"/>
          <p:cNvSpPr/>
          <p:nvPr/>
        </p:nvSpPr>
        <p:spPr>
          <a:xfrm>
            <a:off x="7379208" y="4809744"/>
            <a:ext cx="457200" cy="219456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7095744" y="5120640"/>
            <a:ext cx="10241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edad &gt;= 18</a:t>
            </a:r>
            <a:endParaRPr lang="en-US" sz="740" dirty="0"/>
          </a:p>
        </p:txBody>
      </p:sp>
      <p:sp>
        <p:nvSpPr>
          <p:cNvPr id="34" name="Text 30"/>
          <p:cNvSpPr/>
          <p:nvPr/>
        </p:nvSpPr>
        <p:spPr>
          <a:xfrm>
            <a:off x="7077456" y="5266944"/>
            <a:ext cx="1060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condicion decide que camino sigue</a:t>
            </a:r>
            <a:endParaRPr lang="en-US" sz="650" dirty="0"/>
          </a:p>
        </p:txBody>
      </p:sp>
      <p:sp>
        <p:nvSpPr>
          <p:cNvPr id="35" name="Shape 31"/>
          <p:cNvSpPr/>
          <p:nvPr/>
        </p:nvSpPr>
        <p:spPr>
          <a:xfrm>
            <a:off x="8275320" y="4809744"/>
            <a:ext cx="109728" cy="292608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8412480" y="4334256"/>
            <a:ext cx="1335024" cy="1243584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8558784" y="4425696"/>
            <a:ext cx="10424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Salidas</a:t>
            </a:r>
            <a:endParaRPr lang="en-US" sz="1060" dirty="0"/>
          </a:p>
        </p:txBody>
      </p:sp>
      <p:sp>
        <p:nvSpPr>
          <p:cNvPr id="38" name="Shape 34"/>
          <p:cNvSpPr/>
          <p:nvPr/>
        </p:nvSpPr>
        <p:spPr>
          <a:xfrm>
            <a:off x="8540496" y="4645152"/>
            <a:ext cx="1078992" cy="374904"/>
          </a:xfrm>
          <a:prstGeom prst="roundRect">
            <a:avLst>
              <a:gd name="adj" fmla="val 9756"/>
            </a:avLst>
          </a:prstGeom>
          <a:solidFill>
            <a:srgbClr val="E9F6EE"/>
          </a:solidFill>
          <a:ln w="12700">
            <a:solidFill>
              <a:srgbClr val="E9F6EE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8540496" y="4645152"/>
            <a:ext cx="73152" cy="374904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8668512" y="4718304"/>
            <a:ext cx="8961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Permite</a:t>
            </a:r>
            <a:endParaRPr lang="en-US" sz="740" dirty="0"/>
          </a:p>
        </p:txBody>
      </p:sp>
      <p:sp>
        <p:nvSpPr>
          <p:cNvPr id="41" name="Text 37"/>
          <p:cNvSpPr/>
          <p:nvPr/>
        </p:nvSpPr>
        <p:spPr>
          <a:xfrm>
            <a:off x="8668512" y="4846320"/>
            <a:ext cx="89611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Acceso</a:t>
            </a:r>
            <a:endParaRPr lang="en-US" sz="670" dirty="0"/>
          </a:p>
        </p:txBody>
      </p:sp>
      <p:sp>
        <p:nvSpPr>
          <p:cNvPr id="42" name="Shape 38"/>
          <p:cNvSpPr/>
          <p:nvPr/>
        </p:nvSpPr>
        <p:spPr>
          <a:xfrm>
            <a:off x="8540496" y="5093208"/>
            <a:ext cx="1078992" cy="374904"/>
          </a:xfrm>
          <a:prstGeom prst="roundRect">
            <a:avLst>
              <a:gd name="adj" fmla="val 9756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8540496" y="5093208"/>
            <a:ext cx="73152" cy="3749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8668512" y="5166360"/>
            <a:ext cx="8961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Niega</a:t>
            </a:r>
            <a:endParaRPr lang="en-US" sz="740" dirty="0"/>
          </a:p>
        </p:txBody>
      </p:sp>
      <p:sp>
        <p:nvSpPr>
          <p:cNvPr id="45" name="Text 41"/>
          <p:cNvSpPr/>
          <p:nvPr/>
        </p:nvSpPr>
        <p:spPr>
          <a:xfrm>
            <a:off x="8668512" y="5294376"/>
            <a:ext cx="89611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Acceso</a:t>
            </a:r>
            <a:endParaRPr lang="en-US" sz="67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08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funcion permite agrupar una accion con nombre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Eso evita repetir instrucciones dispersas y convierte la logica en una pieza reutilizable.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914400" y="2231136"/>
            <a:ext cx="4462272" cy="3493008"/>
          </a:xfrm>
          <a:prstGeom prst="roundRect">
            <a:avLst>
              <a:gd name="adj" fmla="val 104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42416" y="2340864"/>
            <a:ext cx="4206240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52144" y="2414016"/>
            <a:ext cx="3986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Funcion minima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856" y="2944368"/>
            <a:ext cx="4041648" cy="27432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650992" y="2340864"/>
            <a:ext cx="1298448" cy="2029968"/>
          </a:xfrm>
          <a:prstGeom prst="roundRect">
            <a:avLst>
              <a:gd name="adj" fmla="val 281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650992" y="2340864"/>
            <a:ext cx="73152" cy="202996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797296" y="2468880"/>
            <a:ext cx="10424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nombre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797296" y="2706624"/>
            <a:ext cx="1042416" cy="310896"/>
          </a:xfrm>
          <a:prstGeom prst="roundRect">
            <a:avLst>
              <a:gd name="adj" fmla="val 1176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870448" y="2807208"/>
            <a:ext cx="8961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saludar</a:t>
            </a:r>
            <a:endParaRPr lang="en-US" sz="810" dirty="0"/>
          </a:p>
        </p:txBody>
      </p:sp>
      <p:sp>
        <p:nvSpPr>
          <p:cNvPr id="19" name="Text 15"/>
          <p:cNvSpPr/>
          <p:nvPr/>
        </p:nvSpPr>
        <p:spPr>
          <a:xfrm>
            <a:off x="5797296" y="3127248"/>
            <a:ext cx="104241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identifica que accion cumple la funcion dentro del programa.</a:t>
            </a:r>
            <a:endParaRPr lang="en-US" sz="760" dirty="0"/>
          </a:p>
        </p:txBody>
      </p:sp>
      <p:sp>
        <p:nvSpPr>
          <p:cNvPr id="20" name="Shape 16"/>
          <p:cNvSpPr/>
          <p:nvPr/>
        </p:nvSpPr>
        <p:spPr>
          <a:xfrm>
            <a:off x="7114032" y="2340864"/>
            <a:ext cx="1298448" cy="2029968"/>
          </a:xfrm>
          <a:prstGeom prst="roundRect">
            <a:avLst>
              <a:gd name="adj" fmla="val 2817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7114032" y="2340864"/>
            <a:ext cx="73152" cy="202996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7260336" y="2468880"/>
            <a:ext cx="10424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dato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7260336" y="2706624"/>
            <a:ext cx="1042416" cy="310896"/>
          </a:xfrm>
          <a:prstGeom prst="roundRect">
            <a:avLst>
              <a:gd name="adj" fmla="val 1176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333488" y="2807208"/>
            <a:ext cx="8961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nombre</a:t>
            </a:r>
            <a:endParaRPr lang="en-US" sz="810" dirty="0"/>
          </a:p>
        </p:txBody>
      </p:sp>
      <p:sp>
        <p:nvSpPr>
          <p:cNvPr id="25" name="Text 21"/>
          <p:cNvSpPr/>
          <p:nvPr/>
        </p:nvSpPr>
        <p:spPr>
          <a:xfrm>
            <a:off x="7260336" y="3127248"/>
            <a:ext cx="104241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entra como parametro para que la misma logica sirva varias veces.</a:t>
            </a:r>
            <a:endParaRPr lang="en-US" sz="760" dirty="0"/>
          </a:p>
        </p:txBody>
      </p:sp>
      <p:sp>
        <p:nvSpPr>
          <p:cNvPr id="26" name="Shape 22"/>
          <p:cNvSpPr/>
          <p:nvPr/>
        </p:nvSpPr>
        <p:spPr>
          <a:xfrm>
            <a:off x="8577072" y="2340864"/>
            <a:ext cx="1298448" cy="2029968"/>
          </a:xfrm>
          <a:prstGeom prst="roundRect">
            <a:avLst>
              <a:gd name="adj" fmla="val 281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8577072" y="2340864"/>
            <a:ext cx="73152" cy="202996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8723376" y="2468880"/>
            <a:ext cx="10424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salida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8723376" y="2706624"/>
            <a:ext cx="1042416" cy="310896"/>
          </a:xfrm>
          <a:prstGeom prst="roundRect">
            <a:avLst>
              <a:gd name="adj" fmla="val 1176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8796528" y="2807208"/>
            <a:ext cx="8961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"Hola..."</a:t>
            </a:r>
            <a:endParaRPr lang="en-US" sz="810" dirty="0"/>
          </a:p>
        </p:txBody>
      </p:sp>
      <p:sp>
        <p:nvSpPr>
          <p:cNvPr id="31" name="Text 27"/>
          <p:cNvSpPr/>
          <p:nvPr/>
        </p:nvSpPr>
        <p:spPr>
          <a:xfrm>
            <a:off x="8723376" y="3127248"/>
            <a:ext cx="104241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devuelve un resultado que puede mostrarse o seguir usandose despues.</a:t>
            </a:r>
            <a:endParaRPr lang="en-US" sz="760" dirty="0"/>
          </a:p>
        </p:txBody>
      </p:sp>
      <p:sp>
        <p:nvSpPr>
          <p:cNvPr id="32" name="Shape 28"/>
          <p:cNvSpPr/>
          <p:nvPr/>
        </p:nvSpPr>
        <p:spPr>
          <a:xfrm>
            <a:off x="5650992" y="4718304"/>
            <a:ext cx="4224528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5852160" y="4882896"/>
            <a:ext cx="3822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Nombre + entrada + resultado</a:t>
            </a:r>
            <a:endParaRPr lang="en-US" sz="1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08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misma logica puede correrse varias veces sin reescribirla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Ese es el valor practico de una funcion: mantiene la accion y cambia solo el dato que entra.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914400" y="2231136"/>
            <a:ext cx="4498848" cy="3438144"/>
          </a:xfrm>
          <a:prstGeom prst="roundRect">
            <a:avLst>
              <a:gd name="adj" fmla="val 1064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42416" y="2340864"/>
            <a:ext cx="4242816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52144" y="2414016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funcion, varios usos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856" y="2889504"/>
            <a:ext cx="4078224" cy="2688336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632704" y="2340864"/>
            <a:ext cx="4279392" cy="1152144"/>
          </a:xfrm>
          <a:prstGeom prst="roundRect">
            <a:avLst>
              <a:gd name="adj" fmla="val 317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870448" y="2542032"/>
            <a:ext cx="8961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Consola</a:t>
            </a:r>
            <a:endParaRPr lang="en-US" sz="1360" dirty="0"/>
          </a:p>
        </p:txBody>
      </p:sp>
      <p:sp>
        <p:nvSpPr>
          <p:cNvPr id="16" name="Text 12"/>
          <p:cNvSpPr/>
          <p:nvPr/>
        </p:nvSpPr>
        <p:spPr>
          <a:xfrm>
            <a:off x="5870448" y="2907792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7B8FA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</a:t>
            </a:r>
            <a:endParaRPr lang="en-US" sz="820" dirty="0"/>
          </a:p>
        </p:txBody>
      </p:sp>
      <p:sp>
        <p:nvSpPr>
          <p:cNvPr id="17" name="Text 13"/>
          <p:cNvSpPr/>
          <p:nvPr/>
        </p:nvSpPr>
        <p:spPr>
          <a:xfrm>
            <a:off x="6108192" y="2907792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A7E3A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"Hola, Ana"</a:t>
            </a:r>
            <a:endParaRPr lang="en-US" sz="920" dirty="0"/>
          </a:p>
        </p:txBody>
      </p:sp>
      <p:sp>
        <p:nvSpPr>
          <p:cNvPr id="18" name="Text 14"/>
          <p:cNvSpPr/>
          <p:nvPr/>
        </p:nvSpPr>
        <p:spPr>
          <a:xfrm>
            <a:off x="5870448" y="3163824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7B8FA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</a:t>
            </a:r>
            <a:endParaRPr lang="en-US" sz="820" dirty="0"/>
          </a:p>
        </p:txBody>
      </p:sp>
      <p:sp>
        <p:nvSpPr>
          <p:cNvPr id="19" name="Text 15"/>
          <p:cNvSpPr/>
          <p:nvPr/>
        </p:nvSpPr>
        <p:spPr>
          <a:xfrm>
            <a:off x="6108192" y="3163824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89D1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"Hola, Diego"</a:t>
            </a:r>
            <a:endParaRPr lang="en-US" sz="920" dirty="0"/>
          </a:p>
        </p:txBody>
      </p:sp>
      <p:sp>
        <p:nvSpPr>
          <p:cNvPr id="20" name="Shape 16"/>
          <p:cNvSpPr/>
          <p:nvPr/>
        </p:nvSpPr>
        <p:spPr>
          <a:xfrm>
            <a:off x="5632704" y="3822192"/>
            <a:ext cx="4279392" cy="841248"/>
          </a:xfrm>
          <a:prstGeom prst="roundRect">
            <a:avLst>
              <a:gd name="adj" fmla="val 3261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5705856" y="3931920"/>
            <a:ext cx="100584" cy="62179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888736" y="3950208"/>
            <a:ext cx="3950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Lectura util</a:t>
            </a:r>
            <a:endParaRPr lang="en-US" sz="1250" dirty="0"/>
          </a:p>
        </p:txBody>
      </p:sp>
      <p:sp>
        <p:nvSpPr>
          <p:cNvPr id="23" name="Text 19"/>
          <p:cNvSpPr/>
          <p:nvPr/>
        </p:nvSpPr>
        <p:spPr>
          <a:xfrm>
            <a:off x="5888736" y="4224528"/>
            <a:ext cx="3950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funcion no cambia. Lo que cambia es el valor que entra y, por eso, tambien el resultado.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5632704" y="4809744"/>
            <a:ext cx="4279392" cy="841248"/>
          </a:xfrm>
          <a:prstGeom prst="roundRect">
            <a:avLst>
              <a:gd name="adj" fmla="val 3261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5705856" y="4919472"/>
            <a:ext cx="100584" cy="62179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5888736" y="4937760"/>
            <a:ext cx="3950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Idea base</a:t>
            </a:r>
            <a:endParaRPr lang="en-US" sz="1250" dirty="0"/>
          </a:p>
        </p:txBody>
      </p:sp>
      <p:sp>
        <p:nvSpPr>
          <p:cNvPr id="27" name="Text 23"/>
          <p:cNvSpPr/>
          <p:nvPr/>
        </p:nvSpPr>
        <p:spPr>
          <a:xfrm>
            <a:off x="5888736" y="5212080"/>
            <a:ext cx="3950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Eso prepara una forma de pensar mas cercana al trabajo real: una logica estable para varios casos.</a:t>
            </a:r>
            <a:endParaRPr lang="en-US" sz="10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08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Los parametros vuelven reutilizable una misma logica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vez de escribir una accion distinta para cada situacion, se define una estructura general y cambian solo los datos.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896112" y="2212848"/>
            <a:ext cx="4590288" cy="3511296"/>
          </a:xfrm>
          <a:prstGeom prst="roundRect">
            <a:avLst>
              <a:gd name="adj" fmla="val 1042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24128" y="2322576"/>
            <a:ext cx="4334256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33856" y="2395728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Calcular total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5568" y="2852928"/>
            <a:ext cx="4169664" cy="276148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724144" y="2340864"/>
            <a:ext cx="1847088" cy="1463040"/>
          </a:xfrm>
          <a:prstGeom prst="roundRect">
            <a:avLst>
              <a:gd name="adj" fmla="val 250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724144" y="2340864"/>
            <a:ext cx="73152" cy="146304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870448" y="2468880"/>
            <a:ext cx="15910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logica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870448" y="2706624"/>
            <a:ext cx="1591056" cy="310896"/>
          </a:xfrm>
          <a:prstGeom prst="roundRect">
            <a:avLst>
              <a:gd name="adj" fmla="val 1176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943600" y="2807208"/>
            <a:ext cx="14447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precio - descuento</a:t>
            </a:r>
            <a:endParaRPr lang="en-US" sz="810" dirty="0"/>
          </a:p>
        </p:txBody>
      </p:sp>
      <p:sp>
        <p:nvSpPr>
          <p:cNvPr id="19" name="Text 15"/>
          <p:cNvSpPr/>
          <p:nvPr/>
        </p:nvSpPr>
        <p:spPr>
          <a:xfrm>
            <a:off x="5870448" y="3127248"/>
            <a:ext cx="1591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mantiene igual en ambos casos.</a:t>
            </a:r>
            <a:endParaRPr lang="en-US" sz="760" dirty="0"/>
          </a:p>
        </p:txBody>
      </p:sp>
      <p:sp>
        <p:nvSpPr>
          <p:cNvPr id="20" name="Shape 16"/>
          <p:cNvSpPr/>
          <p:nvPr/>
        </p:nvSpPr>
        <p:spPr>
          <a:xfrm>
            <a:off x="7754112" y="2340864"/>
            <a:ext cx="2121408" cy="1463040"/>
          </a:xfrm>
          <a:prstGeom prst="roundRect">
            <a:avLst>
              <a:gd name="adj" fmla="val 250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7754112" y="2340864"/>
            <a:ext cx="73152" cy="146304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7900416" y="2468880"/>
            <a:ext cx="18653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parametros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7900416" y="2706624"/>
            <a:ext cx="1865376" cy="310896"/>
          </a:xfrm>
          <a:prstGeom prst="roundRect">
            <a:avLst>
              <a:gd name="adj" fmla="val 1176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973568" y="2807208"/>
            <a:ext cx="17190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10000, 1500 / 25000, 3000</a:t>
            </a:r>
            <a:endParaRPr lang="en-US" sz="810" dirty="0"/>
          </a:p>
        </p:txBody>
      </p:sp>
      <p:sp>
        <p:nvSpPr>
          <p:cNvPr id="25" name="Text 21"/>
          <p:cNvSpPr/>
          <p:nvPr/>
        </p:nvSpPr>
        <p:spPr>
          <a:xfrm>
            <a:off x="7900416" y="3127248"/>
            <a:ext cx="1865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cambian segun el caso que entra a la funcion.</a:t>
            </a:r>
            <a:endParaRPr lang="en-US" sz="760" dirty="0"/>
          </a:p>
        </p:txBody>
      </p:sp>
      <p:sp>
        <p:nvSpPr>
          <p:cNvPr id="26" name="Shape 22"/>
          <p:cNvSpPr/>
          <p:nvPr/>
        </p:nvSpPr>
        <p:spPr>
          <a:xfrm>
            <a:off x="5724144" y="4078224"/>
            <a:ext cx="4151376" cy="1024128"/>
          </a:xfrm>
          <a:prstGeom prst="roundRect">
            <a:avLst>
              <a:gd name="adj" fmla="val 2679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797296" y="4187952"/>
            <a:ext cx="100584" cy="80467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5980176" y="4206240"/>
            <a:ext cx="3822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Resultado</a:t>
            </a:r>
            <a:endParaRPr lang="en-US" sz="1250" dirty="0"/>
          </a:p>
        </p:txBody>
      </p:sp>
      <p:sp>
        <p:nvSpPr>
          <p:cNvPr id="29" name="Text 25"/>
          <p:cNvSpPr/>
          <p:nvPr/>
        </p:nvSpPr>
        <p:spPr>
          <a:xfrm>
            <a:off x="5980176" y="4480560"/>
            <a:ext cx="3822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misma funcion sirve para distintos totales porque la accion es estable y la entrada varia.</a:t>
            </a:r>
            <a:endParaRPr lang="en-US" sz="10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08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if / else permite decidir que camino sigue el programa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Guardar datos y definir funciones todavia no basta si el codigo no puede elegir entre dos respuestas posibles.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932688" y="2212848"/>
            <a:ext cx="4370832" cy="3529584"/>
          </a:xfrm>
          <a:prstGeom prst="roundRect">
            <a:avLst>
              <a:gd name="adj" fmla="val 1036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60704" y="2322576"/>
            <a:ext cx="4114800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70432" y="2395728"/>
            <a:ext cx="38953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Plantilla minima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2144" y="2962656"/>
            <a:ext cx="3950208" cy="2779776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504688" y="2212848"/>
            <a:ext cx="4572000" cy="3529584"/>
          </a:xfrm>
          <a:prstGeom prst="roundRect">
            <a:avLst>
              <a:gd name="adj" fmla="val 103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632704" y="2340864"/>
            <a:ext cx="4315968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742432" y="2414016"/>
            <a:ext cx="4096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Lectura de la estructura</a:t>
            </a:r>
            <a:endParaRPr lang="en-US" sz="980" dirty="0"/>
          </a:p>
        </p:txBody>
      </p:sp>
      <p:sp>
        <p:nvSpPr>
          <p:cNvPr id="17" name="Shape 13"/>
          <p:cNvSpPr/>
          <p:nvPr/>
        </p:nvSpPr>
        <p:spPr>
          <a:xfrm>
            <a:off x="5669280" y="2779776"/>
            <a:ext cx="1371600" cy="2523744"/>
          </a:xfrm>
          <a:prstGeom prst="roundRect">
            <a:avLst>
              <a:gd name="adj" fmla="val 266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833872" y="2944368"/>
            <a:ext cx="10424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Dato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833872" y="3255264"/>
            <a:ext cx="1042416" cy="493776"/>
          </a:xfrm>
          <a:prstGeom prst="roundRect">
            <a:avLst>
              <a:gd name="adj" fmla="val 740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907024" y="3429000"/>
            <a:ext cx="8961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condicion</a:t>
            </a:r>
            <a:endParaRPr lang="en-US" sz="840" dirty="0"/>
          </a:p>
        </p:txBody>
      </p:sp>
      <p:sp>
        <p:nvSpPr>
          <p:cNvPr id="21" name="Text 17"/>
          <p:cNvSpPr/>
          <p:nvPr/>
        </p:nvSpPr>
        <p:spPr>
          <a:xfrm>
            <a:off x="5833872" y="3931920"/>
            <a:ext cx="104241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entra una expresion que puede ser verdadera o falsa</a:t>
            </a:r>
            <a:endParaRPr lang="en-US" sz="780" dirty="0"/>
          </a:p>
        </p:txBody>
      </p:sp>
      <p:sp>
        <p:nvSpPr>
          <p:cNvPr id="22" name="Shape 18"/>
          <p:cNvSpPr/>
          <p:nvPr/>
        </p:nvSpPr>
        <p:spPr>
          <a:xfrm>
            <a:off x="7068312" y="3895344"/>
            <a:ext cx="109728" cy="292608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205472" y="2779776"/>
            <a:ext cx="1280160" cy="2523744"/>
          </a:xfrm>
          <a:prstGeom prst="roundRect">
            <a:avLst>
              <a:gd name="adj" fmla="val 2857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315200" y="2944368"/>
            <a:ext cx="10607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Decision</a:t>
            </a:r>
            <a:endParaRPr lang="en-US" sz="1080" dirty="0"/>
          </a:p>
        </p:txBody>
      </p:sp>
      <p:sp>
        <p:nvSpPr>
          <p:cNvPr id="25" name="Shape 21"/>
          <p:cNvSpPr/>
          <p:nvPr/>
        </p:nvSpPr>
        <p:spPr>
          <a:xfrm>
            <a:off x="7534656" y="3346704"/>
            <a:ext cx="621792" cy="310896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7333488" y="3767328"/>
            <a:ext cx="10241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 / false</a:t>
            </a:r>
            <a:endParaRPr lang="en-US" sz="820" dirty="0"/>
          </a:p>
        </p:txBody>
      </p:sp>
      <p:sp>
        <p:nvSpPr>
          <p:cNvPr id="27" name="Text 23"/>
          <p:cNvSpPr/>
          <p:nvPr/>
        </p:nvSpPr>
        <p:spPr>
          <a:xfrm>
            <a:off x="7315200" y="4078224"/>
            <a:ext cx="106070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segun el resultado, el programa toma un camino distinto</a:t>
            </a:r>
            <a:endParaRPr lang="en-US" sz="730" dirty="0"/>
          </a:p>
        </p:txBody>
      </p:sp>
      <p:sp>
        <p:nvSpPr>
          <p:cNvPr id="28" name="Shape 24"/>
          <p:cNvSpPr/>
          <p:nvPr/>
        </p:nvSpPr>
        <p:spPr>
          <a:xfrm>
            <a:off x="8513064" y="3895344"/>
            <a:ext cx="109728" cy="292608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8650224" y="2779776"/>
            <a:ext cx="1261872" cy="2523744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8796528" y="2944368"/>
            <a:ext cx="9692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Salidas posibles</a:t>
            </a:r>
            <a:endParaRPr lang="en-US" sz="1160" dirty="0"/>
          </a:p>
        </p:txBody>
      </p:sp>
      <p:sp>
        <p:nvSpPr>
          <p:cNvPr id="31" name="Shape 27"/>
          <p:cNvSpPr/>
          <p:nvPr/>
        </p:nvSpPr>
        <p:spPr>
          <a:xfrm>
            <a:off x="8778240" y="3273552"/>
            <a:ext cx="1005840" cy="877824"/>
          </a:xfrm>
          <a:prstGeom prst="roundRect">
            <a:avLst>
              <a:gd name="adj" fmla="val 4167"/>
            </a:avLst>
          </a:prstGeom>
          <a:solidFill>
            <a:srgbClr val="E9F6EE"/>
          </a:solidFill>
          <a:ln w="12700">
            <a:solidFill>
              <a:srgbClr val="E9F6EE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8778240" y="3273552"/>
            <a:ext cx="73152" cy="877824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8906256" y="3383280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se cumple</a:t>
            </a:r>
            <a:endParaRPr lang="en-US" sz="880" dirty="0"/>
          </a:p>
        </p:txBody>
      </p:sp>
      <p:sp>
        <p:nvSpPr>
          <p:cNvPr id="34" name="Text 30"/>
          <p:cNvSpPr/>
          <p:nvPr/>
        </p:nvSpPr>
        <p:spPr>
          <a:xfrm>
            <a:off x="8906256" y="3547872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 una accion</a:t>
            </a:r>
            <a:endParaRPr lang="en-US" sz="780" dirty="0"/>
          </a:p>
        </p:txBody>
      </p:sp>
      <p:sp>
        <p:nvSpPr>
          <p:cNvPr id="35" name="Shape 31"/>
          <p:cNvSpPr/>
          <p:nvPr/>
        </p:nvSpPr>
        <p:spPr>
          <a:xfrm>
            <a:off x="8778240" y="4315968"/>
            <a:ext cx="1005840" cy="877824"/>
          </a:xfrm>
          <a:prstGeom prst="roundRect">
            <a:avLst>
              <a:gd name="adj" fmla="val 416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8778240" y="4315968"/>
            <a:ext cx="73152" cy="8778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8906256" y="4425696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no se cumple</a:t>
            </a:r>
            <a:endParaRPr lang="en-US" sz="880" dirty="0"/>
          </a:p>
        </p:txBody>
      </p:sp>
      <p:sp>
        <p:nvSpPr>
          <p:cNvPr id="38" name="Text 34"/>
          <p:cNvSpPr/>
          <p:nvPr/>
        </p:nvSpPr>
        <p:spPr>
          <a:xfrm>
            <a:off x="8906256" y="4590288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 otra accion</a:t>
            </a:r>
            <a:endParaRPr lang="en-US" sz="780" dirty="0"/>
          </a:p>
        </p:txBody>
      </p:sp>
      <p:sp>
        <p:nvSpPr>
          <p:cNvPr id="39" name="Text 35"/>
          <p:cNvSpPr/>
          <p:nvPr/>
        </p:nvSpPr>
        <p:spPr>
          <a:xfrm>
            <a:off x="5687568" y="5577840"/>
            <a:ext cx="4206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estructura de control convierte un dato en una decision.</a:t>
            </a:r>
            <a:endParaRPr lang="en-US" sz="84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08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condicion cambia la respuesta segun el dato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Aqui el programa ya no solo guarda una edad: la interpreta para decidir que mensaje corresponde.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896112" y="2212848"/>
            <a:ext cx="4626864" cy="3529584"/>
          </a:xfrm>
          <a:prstGeom prst="roundRect">
            <a:avLst>
              <a:gd name="adj" fmla="val 1036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24128" y="2322576"/>
            <a:ext cx="4370832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33856" y="2395728"/>
            <a:ext cx="4151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Edad y acceso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5568" y="2852928"/>
            <a:ext cx="4206240" cy="2779776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760720" y="2340864"/>
            <a:ext cx="4169664" cy="1152144"/>
          </a:xfrm>
          <a:prstGeom prst="roundRect">
            <a:avLst>
              <a:gd name="adj" fmla="val 317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998464" y="2542032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Caso actual</a:t>
            </a:r>
            <a:endParaRPr lang="en-US" sz="1360" dirty="0"/>
          </a:p>
        </p:txBody>
      </p:sp>
      <p:sp>
        <p:nvSpPr>
          <p:cNvPr id="16" name="Text 12"/>
          <p:cNvSpPr/>
          <p:nvPr/>
        </p:nvSpPr>
        <p:spPr>
          <a:xfrm>
            <a:off x="5998464" y="2907792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7B8FA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</a:t>
            </a:r>
            <a:endParaRPr lang="en-US" sz="820" dirty="0"/>
          </a:p>
        </p:txBody>
      </p:sp>
      <p:sp>
        <p:nvSpPr>
          <p:cNvPr id="17" name="Text 13"/>
          <p:cNvSpPr/>
          <p:nvPr/>
        </p:nvSpPr>
        <p:spPr>
          <a:xfrm>
            <a:off x="6236208" y="2907792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A7E3A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"Puede ingresar"</a:t>
            </a:r>
            <a:endParaRPr lang="en-US" sz="920" dirty="0"/>
          </a:p>
        </p:txBody>
      </p:sp>
      <p:sp>
        <p:nvSpPr>
          <p:cNvPr id="18" name="Shape 14"/>
          <p:cNvSpPr/>
          <p:nvPr/>
        </p:nvSpPr>
        <p:spPr>
          <a:xfrm>
            <a:off x="5760720" y="3785616"/>
            <a:ext cx="4169664" cy="841248"/>
          </a:xfrm>
          <a:prstGeom prst="roundRect">
            <a:avLst>
              <a:gd name="adj" fmla="val 3261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833872" y="3895344"/>
            <a:ext cx="100584" cy="62179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016752" y="391363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 cambia el dato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6016752" y="418795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misma estructura se mantiene, pero el resultado puede pasar al otro camino.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5760720" y="4773168"/>
            <a:ext cx="4169664" cy="841248"/>
          </a:xfrm>
          <a:prstGeom prst="roundRect">
            <a:avLst>
              <a:gd name="adj" fmla="val 3261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5833872" y="4882896"/>
            <a:ext cx="100584" cy="62179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016752" y="490118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Lectura correcta</a:t>
            </a:r>
            <a:endParaRPr lang="en-US" sz="1250" dirty="0"/>
          </a:p>
        </p:txBody>
      </p:sp>
      <p:sp>
        <p:nvSpPr>
          <p:cNvPr id="25" name="Text 21"/>
          <p:cNvSpPr/>
          <p:nvPr/>
        </p:nvSpPr>
        <p:spPr>
          <a:xfrm>
            <a:off x="6016752" y="517550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valor no importa solo por existir: importa porque activa una decision concreta.</a:t>
            </a:r>
            <a:endParaRPr lang="en-US" sz="10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08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Funciones y condiciones suelen aparecer juntas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Ese cruce ya se parece mucho mas al tipo de logica que luego veremos en validaciones, formularios y eventos.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896112" y="2176272"/>
            <a:ext cx="4736592" cy="3584448"/>
          </a:xfrm>
          <a:prstGeom prst="roundRect">
            <a:avLst>
              <a:gd name="adj" fmla="val 102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24128" y="2286000"/>
            <a:ext cx="4480560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33856" y="2359152"/>
            <a:ext cx="42611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Funcion con decision interna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5568" y="2798064"/>
            <a:ext cx="4315968" cy="283464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833872" y="2249424"/>
            <a:ext cx="4224528" cy="3511296"/>
          </a:xfrm>
          <a:prstGeom prst="roundRect">
            <a:avLst>
              <a:gd name="adj" fmla="val 104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961888" y="2377440"/>
            <a:ext cx="3968496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071616" y="245059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Como se lee</a:t>
            </a:r>
            <a:endParaRPr lang="en-US" sz="980" dirty="0"/>
          </a:p>
        </p:txBody>
      </p:sp>
      <p:sp>
        <p:nvSpPr>
          <p:cNvPr id="17" name="Shape 13"/>
          <p:cNvSpPr/>
          <p:nvPr/>
        </p:nvSpPr>
        <p:spPr>
          <a:xfrm>
            <a:off x="5998464" y="2816352"/>
            <a:ext cx="1371600" cy="2505456"/>
          </a:xfrm>
          <a:prstGeom prst="roundRect">
            <a:avLst>
              <a:gd name="adj" fmla="val 266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163056" y="2980944"/>
            <a:ext cx="10424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Dato que entra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163056" y="3291840"/>
            <a:ext cx="1042416" cy="493776"/>
          </a:xfrm>
          <a:prstGeom prst="roundRect">
            <a:avLst>
              <a:gd name="adj" fmla="val 740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236208" y="3465576"/>
            <a:ext cx="8961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edad</a:t>
            </a:r>
            <a:endParaRPr lang="en-US" sz="840" dirty="0"/>
          </a:p>
        </p:txBody>
      </p:sp>
      <p:sp>
        <p:nvSpPr>
          <p:cNvPr id="21" name="Text 17"/>
          <p:cNvSpPr/>
          <p:nvPr/>
        </p:nvSpPr>
        <p:spPr>
          <a:xfrm>
            <a:off x="6163056" y="3968496"/>
            <a:ext cx="1042416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funcion recibe un valor concreto</a:t>
            </a:r>
            <a:endParaRPr lang="en-US" sz="780" dirty="0"/>
          </a:p>
        </p:txBody>
      </p:sp>
      <p:sp>
        <p:nvSpPr>
          <p:cNvPr id="22" name="Shape 18"/>
          <p:cNvSpPr/>
          <p:nvPr/>
        </p:nvSpPr>
        <p:spPr>
          <a:xfrm>
            <a:off x="7397496" y="3922776"/>
            <a:ext cx="109728" cy="292608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534656" y="2816352"/>
            <a:ext cx="1280160" cy="2505456"/>
          </a:xfrm>
          <a:prstGeom prst="roundRect">
            <a:avLst>
              <a:gd name="adj" fmla="val 2857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644384" y="2980944"/>
            <a:ext cx="10607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Condicion</a:t>
            </a:r>
            <a:endParaRPr lang="en-US" sz="1080" dirty="0"/>
          </a:p>
        </p:txBody>
      </p:sp>
      <p:sp>
        <p:nvSpPr>
          <p:cNvPr id="25" name="Shape 21"/>
          <p:cNvSpPr/>
          <p:nvPr/>
        </p:nvSpPr>
        <p:spPr>
          <a:xfrm>
            <a:off x="7863840" y="3383280"/>
            <a:ext cx="621792" cy="310896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7662672" y="3803904"/>
            <a:ext cx="10241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edad &gt;= 18</a:t>
            </a:r>
            <a:endParaRPr lang="en-US" sz="820" dirty="0"/>
          </a:p>
        </p:txBody>
      </p:sp>
      <p:sp>
        <p:nvSpPr>
          <p:cNvPr id="27" name="Text 23"/>
          <p:cNvSpPr/>
          <p:nvPr/>
        </p:nvSpPr>
        <p:spPr>
          <a:xfrm>
            <a:off x="7644384" y="4114800"/>
            <a:ext cx="10607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 si el dato cumple el criterio</a:t>
            </a:r>
            <a:endParaRPr lang="en-US" sz="730" dirty="0"/>
          </a:p>
        </p:txBody>
      </p:sp>
      <p:sp>
        <p:nvSpPr>
          <p:cNvPr id="28" name="Shape 24"/>
          <p:cNvSpPr/>
          <p:nvPr/>
        </p:nvSpPr>
        <p:spPr>
          <a:xfrm>
            <a:off x="8842248" y="3922776"/>
            <a:ext cx="109728" cy="292608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8979408" y="2816352"/>
            <a:ext cx="914400" cy="250545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9125712" y="2980944"/>
            <a:ext cx="621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Salidas</a:t>
            </a:r>
            <a:endParaRPr lang="en-US" sz="1160" dirty="0"/>
          </a:p>
        </p:txBody>
      </p:sp>
      <p:sp>
        <p:nvSpPr>
          <p:cNvPr id="31" name="Shape 27"/>
          <p:cNvSpPr/>
          <p:nvPr/>
        </p:nvSpPr>
        <p:spPr>
          <a:xfrm>
            <a:off x="9107424" y="3310128"/>
            <a:ext cx="658368" cy="868680"/>
          </a:xfrm>
          <a:prstGeom prst="roundRect">
            <a:avLst>
              <a:gd name="adj" fmla="val 5556"/>
            </a:avLst>
          </a:prstGeom>
          <a:solidFill>
            <a:srgbClr val="E9F6EE"/>
          </a:solidFill>
          <a:ln w="12700">
            <a:solidFill>
              <a:srgbClr val="E9F6EE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9107424" y="3310128"/>
            <a:ext cx="73152" cy="868680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9235440" y="3419856"/>
            <a:ext cx="4754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Permite</a:t>
            </a:r>
            <a:endParaRPr lang="en-US" sz="880" dirty="0"/>
          </a:p>
        </p:txBody>
      </p:sp>
      <p:sp>
        <p:nvSpPr>
          <p:cNvPr id="34" name="Text 30"/>
          <p:cNvSpPr/>
          <p:nvPr/>
        </p:nvSpPr>
        <p:spPr>
          <a:xfrm>
            <a:off x="9235440" y="3584448"/>
            <a:ext cx="47548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Acceso</a:t>
            </a:r>
            <a:endParaRPr lang="en-US" sz="780" dirty="0"/>
          </a:p>
        </p:txBody>
      </p:sp>
      <p:sp>
        <p:nvSpPr>
          <p:cNvPr id="35" name="Shape 31"/>
          <p:cNvSpPr/>
          <p:nvPr/>
        </p:nvSpPr>
        <p:spPr>
          <a:xfrm>
            <a:off x="9107424" y="4343400"/>
            <a:ext cx="658368" cy="868680"/>
          </a:xfrm>
          <a:prstGeom prst="roundRect">
            <a:avLst>
              <a:gd name="adj" fmla="val 5556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9107424" y="4343400"/>
            <a:ext cx="73152" cy="86868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9235440" y="4453128"/>
            <a:ext cx="4754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Niega</a:t>
            </a:r>
            <a:endParaRPr lang="en-US" sz="880" dirty="0"/>
          </a:p>
        </p:txBody>
      </p:sp>
      <p:sp>
        <p:nvSpPr>
          <p:cNvPr id="38" name="Text 34"/>
          <p:cNvSpPr/>
          <p:nvPr/>
        </p:nvSpPr>
        <p:spPr>
          <a:xfrm>
            <a:off x="9235440" y="4617720"/>
            <a:ext cx="47548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Acceso</a:t>
            </a:r>
            <a:endParaRPr lang="en-US" sz="780" dirty="0"/>
          </a:p>
        </p:txBody>
      </p:sp>
      <p:sp>
        <p:nvSpPr>
          <p:cNvPr id="39" name="Text 35"/>
          <p:cNvSpPr/>
          <p:nvPr/>
        </p:nvSpPr>
        <p:spPr>
          <a:xfrm>
            <a:off x="6016752" y="5596128"/>
            <a:ext cx="38587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Entrada -&gt; evaluacion -&gt; resultado.</a:t>
            </a:r>
            <a:endParaRPr lang="en-US" sz="84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08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agente puede bosquejar funciones; tu debes leer cada rama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este punto ya no basta con que el codigo se vea bien: importa que entiendas que entra, que condicion corre y que devuelve cada camino.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932688" y="2139696"/>
            <a:ext cx="9015984" cy="3401568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60704" y="2267712"/>
            <a:ext cx="875995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70432" y="2340864"/>
            <a:ext cx="8540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 puede acelerar un agente y que sigue siendo tuyo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1078992" y="2706624"/>
            <a:ext cx="3502152" cy="2377440"/>
          </a:xfrm>
          <a:prstGeom prst="roundRect">
            <a:avLst>
              <a:gd name="adj" fmla="val 1538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188720" y="2834640"/>
            <a:ext cx="109728" cy="21214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389888" y="283464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Puede ayudar con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389888" y="3108960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primer bosquejo y explicacion de pseudologica</a:t>
            </a:r>
            <a:endParaRPr lang="en-US" sz="940" dirty="0"/>
          </a:p>
        </p:txBody>
      </p:sp>
      <p:sp>
        <p:nvSpPr>
          <p:cNvPr id="17" name="Shape 14"/>
          <p:cNvSpPr/>
          <p:nvPr/>
        </p:nvSpPr>
        <p:spPr>
          <a:xfrm>
            <a:off x="1389888" y="3456432"/>
            <a:ext cx="304495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481328" y="3570732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627632" y="3502152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traducir una idea verbal a una funcion simple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1389888" y="3858768"/>
            <a:ext cx="304495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481328" y="3973068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627632" y="390448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proponer un if / else inicial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1389888" y="4261104"/>
            <a:ext cx="304495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481328" y="4375404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627632" y="4306824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explicar que hace cada rama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1389888" y="4663440"/>
            <a:ext cx="304495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481328" y="4777740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627632" y="4709160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simplificar codigo repetido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706624"/>
            <a:ext cx="3502152" cy="237744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409944" y="2834640"/>
            <a:ext cx="109728" cy="212140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611112" y="283464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conviene delegar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6611112" y="3108960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lectura, prueba y validacion de resultados</a:t>
            </a:r>
            <a:endParaRPr lang="en-US" sz="940" dirty="0"/>
          </a:p>
        </p:txBody>
      </p:sp>
      <p:sp>
        <p:nvSpPr>
          <p:cNvPr id="33" name="Shape 30"/>
          <p:cNvSpPr/>
          <p:nvPr/>
        </p:nvSpPr>
        <p:spPr>
          <a:xfrm>
            <a:off x="6611112" y="3456432"/>
            <a:ext cx="304495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702552" y="3570732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848856" y="3502152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aceptar una funcion porque se ve ordenada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6611112" y="3858768"/>
            <a:ext cx="304495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702552" y="3973068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848856" y="390448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revisar que devuelve en cada caso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6611112" y="4261104"/>
            <a:ext cx="304495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702552" y="4375404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848856" y="4306824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probar solo con un dato de entrada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6611112" y="4663440"/>
            <a:ext cx="304495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702552" y="4777740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848856" y="4709160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ignorar una rama que no se ejecuto todavia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4837176" y="3081528"/>
            <a:ext cx="1207008" cy="1627632"/>
          </a:xfrm>
          <a:prstGeom prst="roundRect">
            <a:avLst>
              <a:gd name="adj" fmla="val 4545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946904" y="3227832"/>
            <a:ext cx="987552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5020056" y="3648456"/>
            <a:ext cx="841248" cy="164592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5001768" y="3273552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Habito</a:t>
            </a:r>
            <a:endParaRPr lang="en-US" sz="1060" dirty="0"/>
          </a:p>
        </p:txBody>
      </p:sp>
      <p:sp>
        <p:nvSpPr>
          <p:cNvPr id="49" name="Text 46"/>
          <p:cNvSpPr/>
          <p:nvPr/>
        </p:nvSpPr>
        <p:spPr>
          <a:xfrm>
            <a:off x="4965192" y="4059936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Nombre de la funcion, dato de entrada, condicion y salida deben leerse paso a paso.</a:t>
            </a:r>
            <a:endParaRPr lang="en-US" sz="720" dirty="0"/>
          </a:p>
        </p:txBody>
      </p:sp>
      <p:sp>
        <p:nvSpPr>
          <p:cNvPr id="50" name="Shape 47"/>
          <p:cNvSpPr/>
          <p:nvPr/>
        </p:nvSpPr>
        <p:spPr>
          <a:xfrm>
            <a:off x="1133856" y="5138928"/>
            <a:ext cx="8613648" cy="219456"/>
          </a:xfrm>
          <a:prstGeom prst="roundRect">
            <a:avLst>
              <a:gd name="adj" fmla="val 1250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1243584" y="5184648"/>
            <a:ext cx="83941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Leer -&gt; seguir la condicion -&gt; probar varios casos.</a:t>
            </a:r>
            <a:endParaRPr lang="en-US" sz="88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08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Preguntas para cerrar el bloque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 de pasar a eventos, conviene fijar por que funciones y condiciones ya cambian la forma de leer el programa.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914400" y="2249424"/>
            <a:ext cx="4407408" cy="1078992"/>
          </a:xfrm>
          <a:prstGeom prst="roundRect">
            <a:avLst>
              <a:gd name="adj" fmla="val 3390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05840" y="2377440"/>
            <a:ext cx="109728" cy="82296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70432" y="2359152"/>
            <a:ext cx="4059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¿Que problema resuelve una funcion dentro de un programa?</a:t>
            </a:r>
            <a:endParaRPr lang="en-US" sz="1360" dirty="0"/>
          </a:p>
        </p:txBody>
      </p:sp>
      <p:sp>
        <p:nvSpPr>
          <p:cNvPr id="13" name="Text 10"/>
          <p:cNvSpPr/>
          <p:nvPr/>
        </p:nvSpPr>
        <p:spPr>
          <a:xfrm>
            <a:off x="1170432" y="2706624"/>
            <a:ext cx="4059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respuesta deberia mencionar organizacion, nombre y reutilizacion de la logica.</a:t>
            </a:r>
            <a:endParaRPr lang="en-US" sz="880" dirty="0"/>
          </a:p>
        </p:txBody>
      </p:sp>
      <p:sp>
        <p:nvSpPr>
          <p:cNvPr id="14" name="Shape 11"/>
          <p:cNvSpPr/>
          <p:nvPr/>
        </p:nvSpPr>
        <p:spPr>
          <a:xfrm>
            <a:off x="5486400" y="2249424"/>
            <a:ext cx="4407408" cy="1078992"/>
          </a:xfrm>
          <a:prstGeom prst="roundRect">
            <a:avLst>
              <a:gd name="adj" fmla="val 339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577840" y="2377440"/>
            <a:ext cx="109728" cy="82296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742432" y="2359152"/>
            <a:ext cx="4059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¿Por que los parametros vuelven reutilizable una misma logica?</a:t>
            </a:r>
            <a:endParaRPr lang="en-US" sz="1360" dirty="0"/>
          </a:p>
        </p:txBody>
      </p:sp>
      <p:sp>
        <p:nvSpPr>
          <p:cNvPr id="17" name="Text 14"/>
          <p:cNvSpPr/>
          <p:nvPr/>
        </p:nvSpPr>
        <p:spPr>
          <a:xfrm>
            <a:off x="5742432" y="2706624"/>
            <a:ext cx="4059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Porque la accion se mantiene y cambian los datos que entran a la funcion.</a:t>
            </a:r>
            <a:endParaRPr lang="en-US" sz="880" dirty="0"/>
          </a:p>
        </p:txBody>
      </p:sp>
      <p:sp>
        <p:nvSpPr>
          <p:cNvPr id="18" name="Shape 15"/>
          <p:cNvSpPr/>
          <p:nvPr/>
        </p:nvSpPr>
        <p:spPr>
          <a:xfrm>
            <a:off x="914400" y="3694176"/>
            <a:ext cx="4407408" cy="1078992"/>
          </a:xfrm>
          <a:prstGeom prst="roundRect">
            <a:avLst>
              <a:gd name="adj" fmla="val 339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005840" y="3822192"/>
            <a:ext cx="109728" cy="82296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70432" y="3803904"/>
            <a:ext cx="4059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¿Que cambia cuando el programa puede decidir entre dos caminos?</a:t>
            </a:r>
            <a:endParaRPr lang="en-US" sz="1360" dirty="0"/>
          </a:p>
        </p:txBody>
      </p:sp>
      <p:sp>
        <p:nvSpPr>
          <p:cNvPr id="21" name="Text 18"/>
          <p:cNvSpPr/>
          <p:nvPr/>
        </p:nvSpPr>
        <p:spPr>
          <a:xfrm>
            <a:off x="1170432" y="4151376"/>
            <a:ext cx="4059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Pasa de ejecutar una secuencia fija a responder segun datos y condiciones.</a:t>
            </a:r>
            <a:endParaRPr lang="en-US" sz="880" dirty="0"/>
          </a:p>
        </p:txBody>
      </p:sp>
      <p:sp>
        <p:nvSpPr>
          <p:cNvPr id="22" name="Shape 19"/>
          <p:cNvSpPr/>
          <p:nvPr/>
        </p:nvSpPr>
        <p:spPr>
          <a:xfrm>
            <a:off x="5486400" y="3694176"/>
            <a:ext cx="4407408" cy="1078992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577840" y="3822192"/>
            <a:ext cx="109728" cy="82296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742432" y="3803904"/>
            <a:ext cx="4059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¿Por que conviene probar una funcion con varios valores y no solo con uno?</a:t>
            </a:r>
            <a:endParaRPr lang="en-US" sz="1360" dirty="0"/>
          </a:p>
        </p:txBody>
      </p:sp>
      <p:sp>
        <p:nvSpPr>
          <p:cNvPr id="25" name="Text 22"/>
          <p:cNvSpPr/>
          <p:nvPr/>
        </p:nvSpPr>
        <p:spPr>
          <a:xfrm>
            <a:off x="5742432" y="4151376"/>
            <a:ext cx="4059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Porque cada dato puede activar una rama distinta y cambiar completamente el resultado.</a:t>
            </a:r>
            <a:endParaRPr lang="en-US" sz="88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08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Cierre del Bloque 3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 tenemos logica reutilizable y decisiones. El ultimo paso del martes es conectar eso con acciones reales del usuario.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914400" y="2322576"/>
            <a:ext cx="4297680" cy="1408176"/>
          </a:xfrm>
          <a:prstGeom prst="roundRect">
            <a:avLst>
              <a:gd name="adj" fmla="val 259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15568" y="2487168"/>
            <a:ext cx="389534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6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logica gana sentido cuando puede reaccionar a una accion real.</a:t>
            </a:r>
            <a:endParaRPr lang="en-US" sz="2060" dirty="0"/>
          </a:p>
        </p:txBody>
      </p:sp>
      <p:sp>
        <p:nvSpPr>
          <p:cNvPr id="12" name="Shape 9"/>
          <p:cNvSpPr/>
          <p:nvPr/>
        </p:nvSpPr>
        <p:spPr>
          <a:xfrm>
            <a:off x="1078992" y="4114800"/>
            <a:ext cx="3822192" cy="950976"/>
          </a:xfrm>
          <a:prstGeom prst="roundRect">
            <a:avLst>
              <a:gd name="adj" fmla="val 2885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152144" y="4224528"/>
            <a:ext cx="100584" cy="73152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335024" y="4242816"/>
            <a:ext cx="3493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 que sigue</a:t>
            </a:r>
            <a:endParaRPr lang="en-US" sz="1220" dirty="0"/>
          </a:p>
        </p:txBody>
      </p:sp>
      <p:sp>
        <p:nvSpPr>
          <p:cNvPr id="15" name="Text 12"/>
          <p:cNvSpPr/>
          <p:nvPr/>
        </p:nvSpPr>
        <p:spPr>
          <a:xfrm>
            <a:off x="1335024" y="4517136"/>
            <a:ext cx="3493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Eventos como click, input o submit conectan el codigo con acciones reales dentro de la interfaz.</a:t>
            </a:r>
            <a:endParaRPr lang="en-US" sz="860" dirty="0"/>
          </a:p>
        </p:txBody>
      </p:sp>
      <p:sp>
        <p:nvSpPr>
          <p:cNvPr id="16" name="Shape 13"/>
          <p:cNvSpPr/>
          <p:nvPr/>
        </p:nvSpPr>
        <p:spPr>
          <a:xfrm>
            <a:off x="5358384" y="2194560"/>
            <a:ext cx="4718304" cy="3566160"/>
          </a:xfrm>
          <a:prstGeom prst="roundRect">
            <a:avLst>
              <a:gd name="adj" fmla="val 102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486400" y="2322576"/>
            <a:ext cx="446227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596128" y="2395728"/>
            <a:ext cx="4242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Avance del Bloque 4</a:t>
            </a:r>
            <a:endParaRPr lang="en-US" sz="980" dirty="0"/>
          </a:p>
        </p:txBody>
      </p:sp>
      <p:sp>
        <p:nvSpPr>
          <p:cNvPr id="19" name="Shape 16"/>
          <p:cNvSpPr/>
          <p:nvPr/>
        </p:nvSpPr>
        <p:spPr>
          <a:xfrm>
            <a:off x="5559552" y="2816352"/>
            <a:ext cx="996696" cy="786384"/>
          </a:xfrm>
          <a:prstGeom prst="roundRect">
            <a:avLst>
              <a:gd name="adj" fmla="val 4651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559552" y="2816352"/>
            <a:ext cx="73152" cy="78638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705856" y="2962656"/>
            <a:ext cx="777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Usuario</a:t>
            </a:r>
            <a:endParaRPr lang="en-US" sz="1040" dirty="0"/>
          </a:p>
        </p:txBody>
      </p:sp>
      <p:sp>
        <p:nvSpPr>
          <p:cNvPr id="22" name="Text 19"/>
          <p:cNvSpPr/>
          <p:nvPr/>
        </p:nvSpPr>
        <p:spPr>
          <a:xfrm>
            <a:off x="5687568" y="3200400"/>
            <a:ext cx="795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hace click</a:t>
            </a:r>
            <a:endParaRPr lang="en-US" sz="760" dirty="0"/>
          </a:p>
        </p:txBody>
      </p:sp>
      <p:sp>
        <p:nvSpPr>
          <p:cNvPr id="23" name="Shape 20"/>
          <p:cNvSpPr/>
          <p:nvPr/>
        </p:nvSpPr>
        <p:spPr>
          <a:xfrm>
            <a:off x="6565392" y="3099816"/>
            <a:ext cx="91440" cy="219456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665976" y="2816352"/>
            <a:ext cx="996696" cy="786384"/>
          </a:xfrm>
          <a:prstGeom prst="roundRect">
            <a:avLst>
              <a:gd name="adj" fmla="val 4651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665976" y="2816352"/>
            <a:ext cx="73152" cy="78638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812280" y="2962656"/>
            <a:ext cx="777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Evento</a:t>
            </a:r>
            <a:endParaRPr lang="en-US" sz="1040" dirty="0"/>
          </a:p>
        </p:txBody>
      </p:sp>
      <p:sp>
        <p:nvSpPr>
          <p:cNvPr id="27" name="Text 24"/>
          <p:cNvSpPr/>
          <p:nvPr/>
        </p:nvSpPr>
        <p:spPr>
          <a:xfrm>
            <a:off x="6793992" y="3200400"/>
            <a:ext cx="795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</a:t>
            </a:r>
            <a:endParaRPr lang="en-US" sz="760" dirty="0"/>
          </a:p>
        </p:txBody>
      </p:sp>
      <p:sp>
        <p:nvSpPr>
          <p:cNvPr id="28" name="Shape 25"/>
          <p:cNvSpPr/>
          <p:nvPr/>
        </p:nvSpPr>
        <p:spPr>
          <a:xfrm>
            <a:off x="7671816" y="3099816"/>
            <a:ext cx="91440" cy="219456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772400" y="2816352"/>
            <a:ext cx="996696" cy="786384"/>
          </a:xfrm>
          <a:prstGeom prst="roundRect">
            <a:avLst>
              <a:gd name="adj" fmla="val 4651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772400" y="2816352"/>
            <a:ext cx="73152" cy="78638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918704" y="2962656"/>
            <a:ext cx="777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Handler</a:t>
            </a:r>
            <a:endParaRPr lang="en-US" sz="1040" dirty="0"/>
          </a:p>
        </p:txBody>
      </p:sp>
      <p:sp>
        <p:nvSpPr>
          <p:cNvPr id="32" name="Text 29"/>
          <p:cNvSpPr/>
          <p:nvPr/>
        </p:nvSpPr>
        <p:spPr>
          <a:xfrm>
            <a:off x="7900416" y="3200400"/>
            <a:ext cx="795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listener corre</a:t>
            </a:r>
            <a:endParaRPr lang="en-US" sz="760" dirty="0"/>
          </a:p>
        </p:txBody>
      </p:sp>
      <p:sp>
        <p:nvSpPr>
          <p:cNvPr id="33" name="Shape 30"/>
          <p:cNvSpPr/>
          <p:nvPr/>
        </p:nvSpPr>
        <p:spPr>
          <a:xfrm>
            <a:off x="8778240" y="3099816"/>
            <a:ext cx="91440" cy="219456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8878824" y="2816352"/>
            <a:ext cx="996696" cy="786384"/>
          </a:xfrm>
          <a:prstGeom prst="roundRect">
            <a:avLst>
              <a:gd name="adj" fmla="val 4651"/>
            </a:avLst>
          </a:prstGeom>
          <a:solidFill>
            <a:srgbClr val="DCEFE2"/>
          </a:solidFill>
          <a:ln w="12700">
            <a:solidFill>
              <a:srgbClr val="DCEFE2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8878824" y="2816352"/>
            <a:ext cx="73152" cy="786384"/>
          </a:xfrm>
          <a:prstGeom prst="rect">
            <a:avLst/>
          </a:prstGeom>
          <a:solidFill>
            <a:srgbClr val="2F8D5A"/>
          </a:solidFill>
          <a:ln w="12700">
            <a:solidFill>
              <a:srgbClr val="2F8D5A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9025128" y="2962656"/>
            <a:ext cx="777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Respuesta</a:t>
            </a:r>
            <a:endParaRPr lang="en-US" sz="1040" dirty="0"/>
          </a:p>
        </p:txBody>
      </p:sp>
      <p:sp>
        <p:nvSpPr>
          <p:cNvPr id="37" name="Text 34"/>
          <p:cNvSpPr/>
          <p:nvPr/>
        </p:nvSpPr>
        <p:spPr>
          <a:xfrm>
            <a:off x="9006840" y="3200400"/>
            <a:ext cx="795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mensaje visible</a:t>
            </a:r>
            <a:endParaRPr lang="en-US" sz="760" dirty="0"/>
          </a:p>
        </p:txBody>
      </p:sp>
      <p:sp>
        <p:nvSpPr>
          <p:cNvPr id="38" name="Shape 35"/>
          <p:cNvSpPr/>
          <p:nvPr/>
        </p:nvSpPr>
        <p:spPr>
          <a:xfrm>
            <a:off x="5559552" y="3767328"/>
            <a:ext cx="4315968" cy="1554480"/>
          </a:xfrm>
          <a:prstGeom prst="roundRect">
            <a:avLst>
              <a:gd name="adj" fmla="val 2353"/>
            </a:avLst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5559552" y="3767328"/>
            <a:ext cx="4315968" cy="219456"/>
          </a:xfrm>
          <a:prstGeom prst="roundRect">
            <a:avLst>
              <a:gd name="adj" fmla="val 12500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5650992" y="3849624"/>
            <a:ext cx="45720" cy="45720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5742432" y="3849624"/>
            <a:ext cx="45720" cy="45720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5833872" y="3849624"/>
            <a:ext cx="45720" cy="45720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5742432" y="4114800"/>
            <a:ext cx="39502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Interfaz observada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5742432" y="4370832"/>
            <a:ext cx="1467429" cy="310896"/>
          </a:xfrm>
          <a:prstGeom prst="roundRect">
            <a:avLst>
              <a:gd name="adj" fmla="val 8824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5815584" y="4471416"/>
            <a:ext cx="1321125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 en boton</a:t>
            </a:r>
            <a:endParaRPr lang="en-US" sz="800" dirty="0"/>
          </a:p>
        </p:txBody>
      </p:sp>
      <p:sp>
        <p:nvSpPr>
          <p:cNvPr id="46" name="Shape 43"/>
          <p:cNvSpPr/>
          <p:nvPr/>
        </p:nvSpPr>
        <p:spPr>
          <a:xfrm>
            <a:off x="7285939" y="4434840"/>
            <a:ext cx="201168" cy="182880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7631217" y="4297680"/>
            <a:ext cx="1640068" cy="457200"/>
          </a:xfrm>
          <a:prstGeom prst="roundRect">
            <a:avLst>
              <a:gd name="adj" fmla="val 8000"/>
            </a:avLst>
          </a:prstGeom>
          <a:solidFill>
            <a:srgbClr val="E9F6EE"/>
          </a:solidFill>
          <a:ln w="12700">
            <a:solidFill>
              <a:srgbClr val="E9F6EE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7722657" y="4462272"/>
            <a:ext cx="14571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Respuesta en UI o consola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5742432" y="5084064"/>
            <a:ext cx="39502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interactividad aparece cuando una accion del usuario dispara codigo en el momento correcto</a:t>
            </a:r>
            <a:endParaRPr lang="en-US" sz="760" dirty="0"/>
          </a:p>
        </p:txBody>
      </p:sp>
      <p:sp>
        <p:nvSpPr>
          <p:cNvPr id="50" name="Text 47"/>
          <p:cNvSpPr/>
          <p:nvPr/>
        </p:nvSpPr>
        <p:spPr>
          <a:xfrm>
            <a:off x="5541264" y="5596128"/>
            <a:ext cx="43525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Evento -&gt; handler -&gt; respuesta observable.</a:t>
            </a:r>
            <a:endParaRPr lang="en-US" sz="84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08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funcion tiene partes que se pueden leer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Entender su anatomia ayuda a dejar de verla como bloque misterioso y empezar a verla como logica organizada.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914400" y="1993392"/>
            <a:ext cx="4901184" cy="2596896"/>
          </a:xfrm>
          <a:prstGeom prst="roundRect">
            <a:avLst>
              <a:gd name="adj" fmla="val 1408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42416" y="2103120"/>
            <a:ext cx="4645152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52144" y="2176272"/>
            <a:ext cx="4425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Funcion simple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856" y="2596896"/>
            <a:ext cx="4480560" cy="184708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016752" y="2011680"/>
            <a:ext cx="3877056" cy="877824"/>
          </a:xfrm>
          <a:prstGeom prst="roundRect">
            <a:avLst>
              <a:gd name="adj" fmla="val 3125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089904" y="2121408"/>
            <a:ext cx="100584" cy="65836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272784" y="213969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Nombre</a:t>
            </a:r>
            <a:endParaRPr lang="en-US" sz="1280" dirty="0"/>
          </a:p>
        </p:txBody>
      </p:sp>
      <p:sp>
        <p:nvSpPr>
          <p:cNvPr id="17" name="Text 13"/>
          <p:cNvSpPr/>
          <p:nvPr/>
        </p:nvSpPr>
        <p:spPr>
          <a:xfrm>
            <a:off x="6272784" y="2414016"/>
            <a:ext cx="3547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da identidad a una accion para poder invocarla con claridad.</a:t>
            </a:r>
            <a:endParaRPr lang="en-US" sz="860" dirty="0"/>
          </a:p>
        </p:txBody>
      </p:sp>
      <p:sp>
        <p:nvSpPr>
          <p:cNvPr id="18" name="Shape 14"/>
          <p:cNvSpPr/>
          <p:nvPr/>
        </p:nvSpPr>
        <p:spPr>
          <a:xfrm>
            <a:off x="6016752" y="3054096"/>
            <a:ext cx="3877056" cy="877824"/>
          </a:xfrm>
          <a:prstGeom prst="roundRect">
            <a:avLst>
              <a:gd name="adj" fmla="val 3125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089904" y="3163824"/>
            <a:ext cx="100584" cy="65836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272784" y="3182112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Parametro</a:t>
            </a:r>
            <a:endParaRPr lang="en-US" sz="1280" dirty="0"/>
          </a:p>
        </p:txBody>
      </p:sp>
      <p:sp>
        <p:nvSpPr>
          <p:cNvPr id="21" name="Text 17"/>
          <p:cNvSpPr/>
          <p:nvPr/>
        </p:nvSpPr>
        <p:spPr>
          <a:xfrm>
            <a:off x="6272784" y="3456432"/>
            <a:ext cx="3547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Recibe informacion de entrada para no repetir la misma logica muchas veces.</a:t>
            </a:r>
            <a:endParaRPr lang="en-US" sz="860" dirty="0"/>
          </a:p>
        </p:txBody>
      </p:sp>
      <p:sp>
        <p:nvSpPr>
          <p:cNvPr id="22" name="Shape 18"/>
          <p:cNvSpPr/>
          <p:nvPr/>
        </p:nvSpPr>
        <p:spPr>
          <a:xfrm>
            <a:off x="6016752" y="4096512"/>
            <a:ext cx="3877056" cy="877824"/>
          </a:xfrm>
          <a:prstGeom prst="roundRect">
            <a:avLst>
              <a:gd name="adj" fmla="val 3125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089904" y="4206240"/>
            <a:ext cx="100584" cy="65836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272784" y="4224528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Cuerpo</a:t>
            </a:r>
            <a:endParaRPr lang="en-US" sz="1280" dirty="0"/>
          </a:p>
        </p:txBody>
      </p:sp>
      <p:sp>
        <p:nvSpPr>
          <p:cNvPr id="25" name="Text 21"/>
          <p:cNvSpPr/>
          <p:nvPr/>
        </p:nvSpPr>
        <p:spPr>
          <a:xfrm>
            <a:off x="6272784" y="4498848"/>
            <a:ext cx="3547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 la secuencia de instrucciones que corre cuando llamas la funcion.</a:t>
            </a:r>
            <a:endParaRPr lang="en-US" sz="86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08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Pensar entradas y salidas ordena la condicion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 de escribir un if ayuda listar que entra al programa y que deberia producir cada caso.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932688" y="1993392"/>
            <a:ext cx="9089136" cy="3127248"/>
          </a:xfrm>
          <a:prstGeom prst="roundRect">
            <a:avLst>
              <a:gd name="adj" fmla="val 117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43584" y="2212848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Entrada</a:t>
            </a:r>
            <a:endParaRPr lang="en-US" sz="1260" dirty="0"/>
          </a:p>
        </p:txBody>
      </p:sp>
      <p:sp>
        <p:nvSpPr>
          <p:cNvPr id="12" name="Text 9"/>
          <p:cNvSpPr/>
          <p:nvPr/>
        </p:nvSpPr>
        <p:spPr>
          <a:xfrm>
            <a:off x="4169664" y="2212848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Condicion</a:t>
            </a:r>
            <a:endParaRPr lang="en-US" sz="1260" dirty="0"/>
          </a:p>
        </p:txBody>
      </p:sp>
      <p:sp>
        <p:nvSpPr>
          <p:cNvPr id="13" name="Text 10"/>
          <p:cNvSpPr/>
          <p:nvPr/>
        </p:nvSpPr>
        <p:spPr>
          <a:xfrm>
            <a:off x="6894576" y="2212848"/>
            <a:ext cx="1645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Salida esperada</a:t>
            </a:r>
            <a:endParaRPr lang="en-US" sz="1260" dirty="0"/>
          </a:p>
        </p:txBody>
      </p:sp>
      <p:sp>
        <p:nvSpPr>
          <p:cNvPr id="14" name="Shape 11"/>
          <p:cNvSpPr/>
          <p:nvPr/>
        </p:nvSpPr>
        <p:spPr>
          <a:xfrm>
            <a:off x="1170432" y="2633472"/>
            <a:ext cx="1993392" cy="420624"/>
          </a:xfrm>
          <a:prstGeom prst="roundRect">
            <a:avLst>
              <a:gd name="adj" fmla="val 8696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931920" y="2633472"/>
            <a:ext cx="1993392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711696" y="2633472"/>
            <a:ext cx="2231136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316736" y="2770632"/>
            <a:ext cx="1645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102A4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stock = 0</a:t>
            </a:r>
            <a:endParaRPr lang="en-US" sz="920" dirty="0"/>
          </a:p>
        </p:txBody>
      </p:sp>
      <p:sp>
        <p:nvSpPr>
          <p:cNvPr id="18" name="Text 15"/>
          <p:cNvSpPr/>
          <p:nvPr/>
        </p:nvSpPr>
        <p:spPr>
          <a:xfrm>
            <a:off x="4078224" y="2770632"/>
            <a:ext cx="1645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102A4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stock &gt; 0</a:t>
            </a:r>
            <a:endParaRPr lang="en-US" sz="920" dirty="0"/>
          </a:p>
        </p:txBody>
      </p:sp>
      <p:sp>
        <p:nvSpPr>
          <p:cNvPr id="19" name="Text 16"/>
          <p:cNvSpPr/>
          <p:nvPr/>
        </p:nvSpPr>
        <p:spPr>
          <a:xfrm>
            <a:off x="6858000" y="2770632"/>
            <a:ext cx="19019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102A4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"Agotado"</a:t>
            </a:r>
            <a:endParaRPr lang="en-US" sz="920" dirty="0"/>
          </a:p>
        </p:txBody>
      </p:sp>
      <p:sp>
        <p:nvSpPr>
          <p:cNvPr id="20" name="Shape 17"/>
          <p:cNvSpPr/>
          <p:nvPr/>
        </p:nvSpPr>
        <p:spPr>
          <a:xfrm>
            <a:off x="1170432" y="3273552"/>
            <a:ext cx="1993392" cy="420624"/>
          </a:xfrm>
          <a:prstGeom prst="roundRect">
            <a:avLst>
              <a:gd name="adj" fmla="val 8696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931920" y="3273552"/>
            <a:ext cx="1993392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711696" y="3273552"/>
            <a:ext cx="2231136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316736" y="3410712"/>
            <a:ext cx="1645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102A4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stock = 8</a:t>
            </a:r>
            <a:endParaRPr lang="en-US" sz="920" dirty="0"/>
          </a:p>
        </p:txBody>
      </p:sp>
      <p:sp>
        <p:nvSpPr>
          <p:cNvPr id="24" name="Text 21"/>
          <p:cNvSpPr/>
          <p:nvPr/>
        </p:nvSpPr>
        <p:spPr>
          <a:xfrm>
            <a:off x="4078224" y="3410712"/>
            <a:ext cx="1645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102A4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stock &gt; 0</a:t>
            </a:r>
            <a:endParaRPr lang="en-US" sz="920" dirty="0"/>
          </a:p>
        </p:txBody>
      </p:sp>
      <p:sp>
        <p:nvSpPr>
          <p:cNvPr id="25" name="Text 22"/>
          <p:cNvSpPr/>
          <p:nvPr/>
        </p:nvSpPr>
        <p:spPr>
          <a:xfrm>
            <a:off x="6858000" y="3410712"/>
            <a:ext cx="19019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102A4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"Disponible"</a:t>
            </a:r>
            <a:endParaRPr lang="en-US" sz="920" dirty="0"/>
          </a:p>
        </p:txBody>
      </p:sp>
      <p:sp>
        <p:nvSpPr>
          <p:cNvPr id="26" name="Shape 23"/>
          <p:cNvSpPr/>
          <p:nvPr/>
        </p:nvSpPr>
        <p:spPr>
          <a:xfrm>
            <a:off x="1170432" y="3913632"/>
            <a:ext cx="1993392" cy="420624"/>
          </a:xfrm>
          <a:prstGeom prst="roundRect">
            <a:avLst>
              <a:gd name="adj" fmla="val 8696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931920" y="3913632"/>
            <a:ext cx="1993392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711696" y="3913632"/>
            <a:ext cx="2231136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316736" y="4050792"/>
            <a:ext cx="1645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102A4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stock = -1</a:t>
            </a:r>
            <a:endParaRPr lang="en-US" sz="920" dirty="0"/>
          </a:p>
        </p:txBody>
      </p:sp>
      <p:sp>
        <p:nvSpPr>
          <p:cNvPr id="30" name="Text 27"/>
          <p:cNvSpPr/>
          <p:nvPr/>
        </p:nvSpPr>
        <p:spPr>
          <a:xfrm>
            <a:off x="4078224" y="4050792"/>
            <a:ext cx="1645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102A4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dato invalido</a:t>
            </a:r>
            <a:endParaRPr lang="en-US" sz="920" dirty="0"/>
          </a:p>
        </p:txBody>
      </p:sp>
      <p:sp>
        <p:nvSpPr>
          <p:cNvPr id="31" name="Text 28"/>
          <p:cNvSpPr/>
          <p:nvPr/>
        </p:nvSpPr>
        <p:spPr>
          <a:xfrm>
            <a:off x="6858000" y="4050792"/>
            <a:ext cx="19019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102A4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"Revisar valor"</a:t>
            </a:r>
            <a:endParaRPr lang="en-US" sz="920" dirty="0"/>
          </a:p>
        </p:txBody>
      </p:sp>
      <p:sp>
        <p:nvSpPr>
          <p:cNvPr id="32" name="Shape 29"/>
          <p:cNvSpPr/>
          <p:nvPr/>
        </p:nvSpPr>
        <p:spPr>
          <a:xfrm>
            <a:off x="1170432" y="4608576"/>
            <a:ext cx="7772400" cy="310896"/>
          </a:xfrm>
          <a:prstGeom prst="roundRect">
            <a:avLst>
              <a:gd name="adj" fmla="val 8824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1243584" y="4718304"/>
            <a:ext cx="100584" cy="9144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426464" y="4736592"/>
            <a:ext cx="7443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08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Cada rama debe poder explicarse con palabras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Leer un if no es recitar simbolos: es explicar que pasa si la condicion se cumple y que pasa si no.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2907792" y="1993392"/>
            <a:ext cx="4626864" cy="731520"/>
          </a:xfrm>
          <a:prstGeom prst="roundRect">
            <a:avLst>
              <a:gd name="adj" fmla="val 500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108960" y="2157984"/>
            <a:ext cx="4224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Entrada -&gt; regla -&gt; salida</a:t>
            </a:r>
            <a:endParaRPr lang="en-US" sz="1820" dirty="0"/>
          </a:p>
        </p:txBody>
      </p:sp>
      <p:sp>
        <p:nvSpPr>
          <p:cNvPr id="12" name="Shape 9"/>
          <p:cNvSpPr/>
          <p:nvPr/>
        </p:nvSpPr>
        <p:spPr>
          <a:xfrm>
            <a:off x="914400" y="3108960"/>
            <a:ext cx="2798064" cy="1170432"/>
          </a:xfrm>
          <a:prstGeom prst="roundRect">
            <a:avLst>
              <a:gd name="adj" fmla="val 3125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05840" y="3236976"/>
            <a:ext cx="109728" cy="91440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70432" y="3218688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Entrada</a:t>
            </a:r>
            <a:endParaRPr lang="en-US" sz="1420" dirty="0"/>
          </a:p>
        </p:txBody>
      </p:sp>
      <p:sp>
        <p:nvSpPr>
          <p:cNvPr id="15" name="Text 12"/>
          <p:cNvSpPr/>
          <p:nvPr/>
        </p:nvSpPr>
        <p:spPr>
          <a:xfrm>
            <a:off x="1170432" y="3566160"/>
            <a:ext cx="24505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 dato llega a la condicion y en que estado viene.</a:t>
            </a:r>
            <a:endParaRPr lang="en-US" sz="880" dirty="0"/>
          </a:p>
        </p:txBody>
      </p:sp>
      <p:sp>
        <p:nvSpPr>
          <p:cNvPr id="16" name="Shape 13"/>
          <p:cNvSpPr/>
          <p:nvPr/>
        </p:nvSpPr>
        <p:spPr>
          <a:xfrm>
            <a:off x="3986784" y="3108960"/>
            <a:ext cx="2798064" cy="1170432"/>
          </a:xfrm>
          <a:prstGeom prst="roundRect">
            <a:avLst>
              <a:gd name="adj" fmla="val 3125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078224" y="3236976"/>
            <a:ext cx="109728" cy="91440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242816" y="3218688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Regla</a:t>
            </a:r>
            <a:endParaRPr lang="en-US" sz="1420" dirty="0"/>
          </a:p>
        </p:txBody>
      </p:sp>
      <p:sp>
        <p:nvSpPr>
          <p:cNvPr id="19" name="Text 16"/>
          <p:cNvSpPr/>
          <p:nvPr/>
        </p:nvSpPr>
        <p:spPr>
          <a:xfrm>
            <a:off x="4242816" y="3566160"/>
            <a:ext cx="24505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 comparacion decide el camino y por que esa comparacion tiene sentido.</a:t>
            </a:r>
            <a:endParaRPr lang="en-US" sz="880" dirty="0"/>
          </a:p>
        </p:txBody>
      </p:sp>
      <p:sp>
        <p:nvSpPr>
          <p:cNvPr id="20" name="Shape 17"/>
          <p:cNvSpPr/>
          <p:nvPr/>
        </p:nvSpPr>
        <p:spPr>
          <a:xfrm>
            <a:off x="7059168" y="3108960"/>
            <a:ext cx="2798064" cy="1170432"/>
          </a:xfrm>
          <a:prstGeom prst="roundRect">
            <a:avLst>
              <a:gd name="adj" fmla="val 3125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150608" y="3236976"/>
            <a:ext cx="109728" cy="9144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15200" y="3218688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Salida</a:t>
            </a:r>
            <a:endParaRPr lang="en-US" sz="1420" dirty="0"/>
          </a:p>
        </p:txBody>
      </p:sp>
      <p:sp>
        <p:nvSpPr>
          <p:cNvPr id="23" name="Text 20"/>
          <p:cNvSpPr/>
          <p:nvPr/>
        </p:nvSpPr>
        <p:spPr>
          <a:xfrm>
            <a:off x="7315200" y="3566160"/>
            <a:ext cx="24505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 accion o mensaje aparece en cada rama y como se valida.</a:t>
            </a:r>
            <a:endParaRPr lang="en-US" sz="880" dirty="0"/>
          </a:p>
        </p:txBody>
      </p:sp>
      <p:sp>
        <p:nvSpPr>
          <p:cNvPr id="24" name="Shape 21"/>
          <p:cNvSpPr/>
          <p:nvPr/>
        </p:nvSpPr>
        <p:spPr>
          <a:xfrm>
            <a:off x="1316736" y="4608576"/>
            <a:ext cx="8156448" cy="384048"/>
          </a:xfrm>
          <a:prstGeom prst="roundRect">
            <a:avLst>
              <a:gd name="adj" fmla="val 7143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389888" y="4718304"/>
            <a:ext cx="100584" cy="16459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572768" y="4736592"/>
            <a:ext cx="7827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Practica sana</a:t>
            </a:r>
            <a:endParaRPr lang="en-US" sz="122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08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Errores comunes con funciones y condiciones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Muchos problemas iniciales no son de sintaxis, sino de lectura logica incompleta.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914400" y="2011680"/>
            <a:ext cx="4407408" cy="932688"/>
          </a:xfrm>
          <a:prstGeom prst="roundRect">
            <a:avLst>
              <a:gd name="adj" fmla="val 3922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05840" y="2139696"/>
            <a:ext cx="109728" cy="67665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70432" y="2121408"/>
            <a:ext cx="4059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Repetir logica en vez de encapsularla</a:t>
            </a:r>
            <a:endParaRPr lang="en-US" sz="1380" dirty="0"/>
          </a:p>
        </p:txBody>
      </p:sp>
      <p:sp>
        <p:nvSpPr>
          <p:cNvPr id="13" name="Text 10"/>
          <p:cNvSpPr/>
          <p:nvPr/>
        </p:nvSpPr>
        <p:spPr>
          <a:xfrm>
            <a:off x="1170432" y="2468880"/>
            <a:ext cx="4059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7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Terminas con el mismo bloque copiado varias veces y mas dificil de corregir.</a:t>
            </a:r>
            <a:endParaRPr lang="en-US" sz="870" dirty="0"/>
          </a:p>
        </p:txBody>
      </p:sp>
      <p:sp>
        <p:nvSpPr>
          <p:cNvPr id="14" name="Shape 11"/>
          <p:cNvSpPr/>
          <p:nvPr/>
        </p:nvSpPr>
        <p:spPr>
          <a:xfrm>
            <a:off x="5486400" y="2011680"/>
            <a:ext cx="4407408" cy="932688"/>
          </a:xfrm>
          <a:prstGeom prst="roundRect">
            <a:avLst>
              <a:gd name="adj" fmla="val 3922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577840" y="2139696"/>
            <a:ext cx="109728" cy="67665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742432" y="2121408"/>
            <a:ext cx="4059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Crear una funcion sin entrada clara</a:t>
            </a:r>
            <a:endParaRPr lang="en-US" sz="1380" dirty="0"/>
          </a:p>
        </p:txBody>
      </p:sp>
      <p:sp>
        <p:nvSpPr>
          <p:cNvPr id="17" name="Text 14"/>
          <p:cNvSpPr/>
          <p:nvPr/>
        </p:nvSpPr>
        <p:spPr>
          <a:xfrm>
            <a:off x="5742432" y="2468880"/>
            <a:ext cx="4059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7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no sabes que recibe, tampoco queda claro que debe producir.</a:t>
            </a:r>
            <a:endParaRPr lang="en-US" sz="870" dirty="0"/>
          </a:p>
        </p:txBody>
      </p:sp>
      <p:sp>
        <p:nvSpPr>
          <p:cNvPr id="18" name="Shape 15"/>
          <p:cNvSpPr/>
          <p:nvPr/>
        </p:nvSpPr>
        <p:spPr>
          <a:xfrm>
            <a:off x="914400" y="3182112"/>
            <a:ext cx="4407408" cy="932688"/>
          </a:xfrm>
          <a:prstGeom prst="roundRect">
            <a:avLst>
              <a:gd name="adj" fmla="val 3922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005840" y="3310128"/>
            <a:ext cx="109728" cy="67665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70432" y="3291840"/>
            <a:ext cx="4059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Dejar una rama sin salida visible</a:t>
            </a:r>
            <a:endParaRPr lang="en-US" sz="1380" dirty="0"/>
          </a:p>
        </p:txBody>
      </p:sp>
      <p:sp>
        <p:nvSpPr>
          <p:cNvPr id="21" name="Text 18"/>
          <p:cNvSpPr/>
          <p:nvPr/>
        </p:nvSpPr>
        <p:spPr>
          <a:xfrm>
            <a:off x="1170432" y="3639312"/>
            <a:ext cx="4059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7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programa toma un camino, pero nadie entiende que paso ni por que.</a:t>
            </a:r>
            <a:endParaRPr lang="en-US" sz="870" dirty="0"/>
          </a:p>
        </p:txBody>
      </p:sp>
      <p:sp>
        <p:nvSpPr>
          <p:cNvPr id="22" name="Shape 19"/>
          <p:cNvSpPr/>
          <p:nvPr/>
        </p:nvSpPr>
        <p:spPr>
          <a:xfrm>
            <a:off x="5486400" y="3182112"/>
            <a:ext cx="4407408" cy="932688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577840" y="3310128"/>
            <a:ext cx="109728" cy="67665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742432" y="3291840"/>
            <a:ext cx="4059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Usar condiciones sin explicar la regla</a:t>
            </a:r>
            <a:endParaRPr lang="en-US" sz="1380" dirty="0"/>
          </a:p>
        </p:txBody>
      </p:sp>
      <p:sp>
        <p:nvSpPr>
          <p:cNvPr id="25" name="Text 22"/>
          <p:cNvSpPr/>
          <p:nvPr/>
        </p:nvSpPr>
        <p:spPr>
          <a:xfrm>
            <a:off x="5742432" y="3639312"/>
            <a:ext cx="4059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7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comparacion funciona, pero se siente arbitraria y fragil.</a:t>
            </a:r>
            <a:endParaRPr lang="en-US" sz="870" dirty="0"/>
          </a:p>
        </p:txBody>
      </p:sp>
      <p:sp>
        <p:nvSpPr>
          <p:cNvPr id="26" name="Shape 23"/>
          <p:cNvSpPr/>
          <p:nvPr/>
        </p:nvSpPr>
        <p:spPr>
          <a:xfrm>
            <a:off x="1152144" y="4590288"/>
            <a:ext cx="8723376" cy="566928"/>
          </a:xfrm>
          <a:prstGeom prst="roundRect">
            <a:avLst>
              <a:gd name="adj" fmla="val 6452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353312" y="4754880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funcion ordena. Una condicion explica una decision. Las dos deben poder leerse.</a:t>
            </a:r>
            <a:endParaRPr lang="en-US" sz="148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08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interfaz deja de ser estatica cuando puede reaccionar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Despues de datos, funciones y decisiones, el ultimo paso del martes es conectar esa logica con acciones reales del usuario.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914400" y="2231136"/>
            <a:ext cx="3822192" cy="3529584"/>
          </a:xfrm>
          <a:prstGeom prst="roundRect">
            <a:avLst>
              <a:gd name="adj" fmla="val 1036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25296" y="2706624"/>
            <a:ext cx="3200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6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JavaScript vuelve interactiva una pagina cuando escucha una accion y responde.</a:t>
            </a:r>
            <a:endParaRPr lang="en-US" sz="2060" dirty="0"/>
          </a:p>
        </p:txBody>
      </p:sp>
      <p:sp>
        <p:nvSpPr>
          <p:cNvPr id="12" name="Text 9"/>
          <p:cNvSpPr/>
          <p:nvPr/>
        </p:nvSpPr>
        <p:spPr>
          <a:xfrm>
            <a:off x="1243584" y="3840480"/>
            <a:ext cx="31638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DC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Click, escritura o envio son ejemplos de cosas que el navegador detecta. El codigo importa porque corre en el momento correcto.</a:t>
            </a:r>
            <a:endParaRPr lang="en-US" sz="1020" dirty="0"/>
          </a:p>
        </p:txBody>
      </p:sp>
      <p:sp>
        <p:nvSpPr>
          <p:cNvPr id="13" name="Shape 10"/>
          <p:cNvSpPr/>
          <p:nvPr/>
        </p:nvSpPr>
        <p:spPr>
          <a:xfrm>
            <a:off x="1170432" y="4791456"/>
            <a:ext cx="3255264" cy="713232"/>
          </a:xfrm>
          <a:prstGeom prst="roundRect">
            <a:avLst>
              <a:gd name="adj" fmla="val 3846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243584" y="4901184"/>
            <a:ext cx="100584" cy="49377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426464" y="4919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Idea del bloque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1426464" y="519379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Evento -&gt; listener -&gt; respuesta observable.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175504" y="2249424"/>
            <a:ext cx="4791456" cy="3511296"/>
          </a:xfrm>
          <a:prstGeom prst="roundRect">
            <a:avLst>
              <a:gd name="adj" fmla="val 104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303520" y="2377440"/>
            <a:ext cx="4535424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413248" y="2450592"/>
            <a:ext cx="4315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Primera interactividad</a:t>
            </a:r>
            <a:endParaRPr lang="en-US" sz="980" dirty="0"/>
          </a:p>
        </p:txBody>
      </p:sp>
      <p:sp>
        <p:nvSpPr>
          <p:cNvPr id="20" name="Shape 17"/>
          <p:cNvSpPr/>
          <p:nvPr/>
        </p:nvSpPr>
        <p:spPr>
          <a:xfrm>
            <a:off x="5376672" y="2871216"/>
            <a:ext cx="1014984" cy="786384"/>
          </a:xfrm>
          <a:prstGeom prst="roundRect">
            <a:avLst>
              <a:gd name="adj" fmla="val 4651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376672" y="2871216"/>
            <a:ext cx="73152" cy="78638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522976" y="3017520"/>
            <a:ext cx="7955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Usuario</a:t>
            </a:r>
            <a:endParaRPr lang="en-US" sz="1040" dirty="0"/>
          </a:p>
        </p:txBody>
      </p:sp>
      <p:sp>
        <p:nvSpPr>
          <p:cNvPr id="23" name="Text 20"/>
          <p:cNvSpPr/>
          <p:nvPr/>
        </p:nvSpPr>
        <p:spPr>
          <a:xfrm>
            <a:off x="5504688" y="3255264"/>
            <a:ext cx="813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hace click</a:t>
            </a:r>
            <a:endParaRPr lang="en-US" sz="760" dirty="0"/>
          </a:p>
        </p:txBody>
      </p:sp>
      <p:sp>
        <p:nvSpPr>
          <p:cNvPr id="24" name="Shape 21"/>
          <p:cNvSpPr/>
          <p:nvPr/>
        </p:nvSpPr>
        <p:spPr>
          <a:xfrm>
            <a:off x="6400800" y="3154680"/>
            <a:ext cx="91440" cy="219456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501384" y="2871216"/>
            <a:ext cx="1014984" cy="786384"/>
          </a:xfrm>
          <a:prstGeom prst="roundRect">
            <a:avLst>
              <a:gd name="adj" fmla="val 4651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501384" y="2871216"/>
            <a:ext cx="73152" cy="78638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647688" y="3017520"/>
            <a:ext cx="7955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Evento</a:t>
            </a:r>
            <a:endParaRPr lang="en-US" sz="1040" dirty="0"/>
          </a:p>
        </p:txBody>
      </p:sp>
      <p:sp>
        <p:nvSpPr>
          <p:cNvPr id="28" name="Text 25"/>
          <p:cNvSpPr/>
          <p:nvPr/>
        </p:nvSpPr>
        <p:spPr>
          <a:xfrm>
            <a:off x="6629400" y="3255264"/>
            <a:ext cx="813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</a:t>
            </a:r>
            <a:endParaRPr lang="en-US" sz="760" dirty="0"/>
          </a:p>
        </p:txBody>
      </p:sp>
      <p:sp>
        <p:nvSpPr>
          <p:cNvPr id="29" name="Shape 26"/>
          <p:cNvSpPr/>
          <p:nvPr/>
        </p:nvSpPr>
        <p:spPr>
          <a:xfrm>
            <a:off x="7525512" y="3154680"/>
            <a:ext cx="91440" cy="219456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626096" y="2871216"/>
            <a:ext cx="1014984" cy="786384"/>
          </a:xfrm>
          <a:prstGeom prst="roundRect">
            <a:avLst>
              <a:gd name="adj" fmla="val 4651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626096" y="2871216"/>
            <a:ext cx="73152" cy="78638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772400" y="3017520"/>
            <a:ext cx="7955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Handler</a:t>
            </a:r>
            <a:endParaRPr lang="en-US" sz="1040" dirty="0"/>
          </a:p>
        </p:txBody>
      </p:sp>
      <p:sp>
        <p:nvSpPr>
          <p:cNvPr id="33" name="Text 30"/>
          <p:cNvSpPr/>
          <p:nvPr/>
        </p:nvSpPr>
        <p:spPr>
          <a:xfrm>
            <a:off x="7754112" y="3255264"/>
            <a:ext cx="813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listener corre</a:t>
            </a:r>
            <a:endParaRPr lang="en-US" sz="760" dirty="0"/>
          </a:p>
        </p:txBody>
      </p:sp>
      <p:sp>
        <p:nvSpPr>
          <p:cNvPr id="34" name="Shape 31"/>
          <p:cNvSpPr/>
          <p:nvPr/>
        </p:nvSpPr>
        <p:spPr>
          <a:xfrm>
            <a:off x="8650224" y="3154680"/>
            <a:ext cx="91440" cy="219456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8750808" y="2871216"/>
            <a:ext cx="1014984" cy="786384"/>
          </a:xfrm>
          <a:prstGeom prst="roundRect">
            <a:avLst>
              <a:gd name="adj" fmla="val 4651"/>
            </a:avLst>
          </a:prstGeom>
          <a:solidFill>
            <a:srgbClr val="DCEFE2"/>
          </a:solidFill>
          <a:ln w="12700">
            <a:solidFill>
              <a:srgbClr val="DCEFE2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8750808" y="2871216"/>
            <a:ext cx="73152" cy="786384"/>
          </a:xfrm>
          <a:prstGeom prst="rect">
            <a:avLst/>
          </a:prstGeom>
          <a:solidFill>
            <a:srgbClr val="2F8D5A"/>
          </a:solidFill>
          <a:ln w="12700">
            <a:solidFill>
              <a:srgbClr val="2F8D5A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8897112" y="3017520"/>
            <a:ext cx="7955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Respuesta</a:t>
            </a:r>
            <a:endParaRPr lang="en-US" sz="1040" dirty="0"/>
          </a:p>
        </p:txBody>
      </p:sp>
      <p:sp>
        <p:nvSpPr>
          <p:cNvPr id="38" name="Text 35"/>
          <p:cNvSpPr/>
          <p:nvPr/>
        </p:nvSpPr>
        <p:spPr>
          <a:xfrm>
            <a:off x="8878824" y="3255264"/>
            <a:ext cx="813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mensaje visible</a:t>
            </a:r>
            <a:endParaRPr lang="en-US" sz="760" dirty="0"/>
          </a:p>
        </p:txBody>
      </p:sp>
      <p:sp>
        <p:nvSpPr>
          <p:cNvPr id="39" name="Shape 36"/>
          <p:cNvSpPr/>
          <p:nvPr/>
        </p:nvSpPr>
        <p:spPr>
          <a:xfrm>
            <a:off x="5376672" y="3822192"/>
            <a:ext cx="4389120" cy="1499616"/>
          </a:xfrm>
          <a:prstGeom prst="roundRect">
            <a:avLst>
              <a:gd name="adj" fmla="val 2439"/>
            </a:avLst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5376672" y="3822192"/>
            <a:ext cx="4389120" cy="219456"/>
          </a:xfrm>
          <a:prstGeom prst="roundRect">
            <a:avLst>
              <a:gd name="adj" fmla="val 12500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5468112" y="3904488"/>
            <a:ext cx="45720" cy="45720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5559552" y="3904488"/>
            <a:ext cx="45720" cy="45720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5650992" y="3904488"/>
            <a:ext cx="45720" cy="45720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559552" y="4169664"/>
            <a:ext cx="4023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Interfaz observada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5559552" y="4425696"/>
            <a:ext cx="1492301" cy="310896"/>
          </a:xfrm>
          <a:prstGeom prst="roundRect">
            <a:avLst>
              <a:gd name="adj" fmla="val 8824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5632704" y="4526280"/>
            <a:ext cx="1345997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 en boton</a:t>
            </a:r>
            <a:endParaRPr lang="en-US" sz="800" dirty="0"/>
          </a:p>
        </p:txBody>
      </p:sp>
      <p:sp>
        <p:nvSpPr>
          <p:cNvPr id="47" name="Shape 44"/>
          <p:cNvSpPr/>
          <p:nvPr/>
        </p:nvSpPr>
        <p:spPr>
          <a:xfrm>
            <a:off x="7132320" y="4489704"/>
            <a:ext cx="201168" cy="182880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7483450" y="4352544"/>
            <a:ext cx="1667866" cy="457200"/>
          </a:xfrm>
          <a:prstGeom prst="roundRect">
            <a:avLst>
              <a:gd name="adj" fmla="val 8000"/>
            </a:avLst>
          </a:prstGeom>
          <a:solidFill>
            <a:srgbClr val="E9F6EE"/>
          </a:solidFill>
          <a:ln w="12700">
            <a:solidFill>
              <a:srgbClr val="E9F6EE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7574890" y="4517136"/>
            <a:ext cx="148498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Respuesta en UI o consola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5559552" y="5084064"/>
            <a:ext cx="40233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accion del usuario activa una respuesta tecnica en el momento correcto</a:t>
            </a:r>
            <a:endParaRPr lang="en-US" sz="760" dirty="0"/>
          </a:p>
        </p:txBody>
      </p:sp>
      <p:sp>
        <p:nvSpPr>
          <p:cNvPr id="51" name="Text 48"/>
          <p:cNvSpPr/>
          <p:nvPr/>
        </p:nvSpPr>
        <p:spPr>
          <a:xfrm>
            <a:off x="5358384" y="5596128"/>
            <a:ext cx="44256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codigo deja de ser teorico cuando reacciona.</a:t>
            </a:r>
            <a:endParaRPr lang="en-US" sz="84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08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Primeros eventos utiles: click, input y submit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hace falta cubrir todo el navegador de una vez. Basta con entender algunos eventos frecuentes y para que sirven.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896112" y="2249424"/>
            <a:ext cx="2852928" cy="1060704"/>
          </a:xfrm>
          <a:prstGeom prst="roundRect">
            <a:avLst>
              <a:gd name="adj" fmla="val 3448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87552" y="2377440"/>
            <a:ext cx="109728" cy="80467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52144" y="2359152"/>
            <a:ext cx="2505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click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152144" y="2706624"/>
            <a:ext cx="2505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cuando el usuario presiona un boton o un elemento interactivo.</a:t>
            </a:r>
            <a:endParaRPr lang="en-US" sz="920" dirty="0"/>
          </a:p>
        </p:txBody>
      </p:sp>
      <p:sp>
        <p:nvSpPr>
          <p:cNvPr id="14" name="Shape 11"/>
          <p:cNvSpPr/>
          <p:nvPr/>
        </p:nvSpPr>
        <p:spPr>
          <a:xfrm>
            <a:off x="4114800" y="2249424"/>
            <a:ext cx="2852928" cy="1060704"/>
          </a:xfrm>
          <a:prstGeom prst="roundRect">
            <a:avLst>
              <a:gd name="adj" fmla="val 3448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206240" y="2377440"/>
            <a:ext cx="109728" cy="80467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370832" y="2359152"/>
            <a:ext cx="2505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input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4370832" y="2706624"/>
            <a:ext cx="2505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cuando cambia el contenido de un campo mientras la persona escribe.</a:t>
            </a:r>
            <a:endParaRPr lang="en-US" sz="920" dirty="0"/>
          </a:p>
        </p:txBody>
      </p:sp>
      <p:sp>
        <p:nvSpPr>
          <p:cNvPr id="18" name="Shape 15"/>
          <p:cNvSpPr/>
          <p:nvPr/>
        </p:nvSpPr>
        <p:spPr>
          <a:xfrm>
            <a:off x="7333488" y="2249424"/>
            <a:ext cx="2852928" cy="1060704"/>
          </a:xfrm>
          <a:prstGeom prst="roundRect">
            <a:avLst>
              <a:gd name="adj" fmla="val 3448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424928" y="2377440"/>
            <a:ext cx="109728" cy="80467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589520" y="2359152"/>
            <a:ext cx="2505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submit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7589520" y="2706624"/>
            <a:ext cx="2505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cuando un formulario intenta enviarse y el codigo puede reaccionar.</a:t>
            </a:r>
            <a:endParaRPr lang="en-US" sz="920" dirty="0"/>
          </a:p>
        </p:txBody>
      </p:sp>
      <p:sp>
        <p:nvSpPr>
          <p:cNvPr id="22" name="Shape 19"/>
          <p:cNvSpPr/>
          <p:nvPr/>
        </p:nvSpPr>
        <p:spPr>
          <a:xfrm>
            <a:off x="1024128" y="3694176"/>
            <a:ext cx="3858768" cy="1627632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024128" y="3694176"/>
            <a:ext cx="3858768" cy="384048"/>
          </a:xfrm>
          <a:prstGeom prst="roundRect">
            <a:avLst>
              <a:gd name="adj" fmla="val 95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170432" y="3822192"/>
            <a:ext cx="73152" cy="73152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316736" y="3822192"/>
            <a:ext cx="73152" cy="73152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463040" y="3822192"/>
            <a:ext cx="73152" cy="73152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591056" y="3794760"/>
            <a:ext cx="2944368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737360" y="3831336"/>
            <a:ext cx="2651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https://demo.local/form</a:t>
            </a:r>
            <a:endParaRPr lang="en-US" sz="880" dirty="0"/>
          </a:p>
        </p:txBody>
      </p:sp>
      <p:sp>
        <p:nvSpPr>
          <p:cNvPr id="29" name="Shape 26"/>
          <p:cNvSpPr/>
          <p:nvPr/>
        </p:nvSpPr>
        <p:spPr>
          <a:xfrm>
            <a:off x="1225296" y="4187952"/>
            <a:ext cx="1225296" cy="292608"/>
          </a:xfrm>
          <a:prstGeom prst="roundRect">
            <a:avLst>
              <a:gd name="adj" fmla="val 9375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426464" y="4270248"/>
            <a:ext cx="8229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Boton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2688336" y="4151376"/>
            <a:ext cx="1664208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926080" y="4261104"/>
            <a:ext cx="11887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campo input</a:t>
            </a:r>
            <a:endParaRPr lang="en-US" sz="780" dirty="0"/>
          </a:p>
        </p:txBody>
      </p:sp>
      <p:sp>
        <p:nvSpPr>
          <p:cNvPr id="33" name="Shape 30"/>
          <p:cNvSpPr/>
          <p:nvPr/>
        </p:nvSpPr>
        <p:spPr>
          <a:xfrm>
            <a:off x="5577840" y="3749040"/>
            <a:ext cx="4334256" cy="1408176"/>
          </a:xfrm>
          <a:prstGeom prst="roundRect">
            <a:avLst>
              <a:gd name="adj" fmla="val 1948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650992" y="3858768"/>
            <a:ext cx="100584" cy="11887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833872" y="3877056"/>
            <a:ext cx="4005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Lectura minima</a:t>
            </a:r>
            <a:endParaRPr lang="en-US" sz="1240" dirty="0"/>
          </a:p>
        </p:txBody>
      </p:sp>
      <p:sp>
        <p:nvSpPr>
          <p:cNvPr id="36" name="Text 33"/>
          <p:cNvSpPr/>
          <p:nvPr/>
        </p:nvSpPr>
        <p:spPr>
          <a:xfrm>
            <a:off x="5833872" y="4151376"/>
            <a:ext cx="4005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 sirve para reaccionar a una accion puntual; input para observar cambios mientras se escribe; submit para responder cuando un formulario intenta enviarse.</a:t>
            </a:r>
            <a:endParaRPr lang="en-US" sz="87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08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listener escucha un evento y dispara una respuesta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foco aqui no es memorizar DOM todavia, sino entender la secuencia general: elemento, evento y accion.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896112" y="2176272"/>
            <a:ext cx="4736592" cy="3584448"/>
          </a:xfrm>
          <a:prstGeom prst="roundRect">
            <a:avLst>
              <a:gd name="adj" fmla="val 102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24128" y="2286000"/>
            <a:ext cx="4480560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33856" y="2359152"/>
            <a:ext cx="42611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Primer listener basico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5568" y="2816352"/>
            <a:ext cx="4315968" cy="283464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833872" y="2340864"/>
            <a:ext cx="1225296" cy="2029968"/>
          </a:xfrm>
          <a:prstGeom prst="roundRect">
            <a:avLst>
              <a:gd name="adj" fmla="val 2985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833872" y="2340864"/>
            <a:ext cx="73152" cy="202996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980176" y="2468880"/>
            <a:ext cx="9692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elemento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980176" y="2706624"/>
            <a:ext cx="969264" cy="310896"/>
          </a:xfrm>
          <a:prstGeom prst="roundRect">
            <a:avLst>
              <a:gd name="adj" fmla="val 1176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053328" y="2807208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boton</a:t>
            </a:r>
            <a:endParaRPr lang="en-US" sz="810" dirty="0"/>
          </a:p>
        </p:txBody>
      </p:sp>
      <p:sp>
        <p:nvSpPr>
          <p:cNvPr id="19" name="Text 15"/>
          <p:cNvSpPr/>
          <p:nvPr/>
        </p:nvSpPr>
        <p:spPr>
          <a:xfrm>
            <a:off x="5980176" y="3127248"/>
            <a:ext cx="96926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 la referencia que luego recibe el evento.</a:t>
            </a:r>
            <a:endParaRPr lang="en-US" sz="760" dirty="0"/>
          </a:p>
        </p:txBody>
      </p:sp>
      <p:sp>
        <p:nvSpPr>
          <p:cNvPr id="20" name="Shape 16"/>
          <p:cNvSpPr/>
          <p:nvPr/>
        </p:nvSpPr>
        <p:spPr>
          <a:xfrm>
            <a:off x="7260336" y="2340864"/>
            <a:ext cx="1225296" cy="2029968"/>
          </a:xfrm>
          <a:prstGeom prst="roundRect">
            <a:avLst>
              <a:gd name="adj" fmla="val 2985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7260336" y="2340864"/>
            <a:ext cx="73152" cy="202996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7406640" y="2468880"/>
            <a:ext cx="9692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evento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7406640" y="2706624"/>
            <a:ext cx="969264" cy="310896"/>
          </a:xfrm>
          <a:prstGeom prst="roundRect">
            <a:avLst>
              <a:gd name="adj" fmla="val 1176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479792" y="2807208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"click"</a:t>
            </a:r>
            <a:endParaRPr lang="en-US" sz="810" dirty="0"/>
          </a:p>
        </p:txBody>
      </p:sp>
      <p:sp>
        <p:nvSpPr>
          <p:cNvPr id="25" name="Text 21"/>
          <p:cNvSpPr/>
          <p:nvPr/>
        </p:nvSpPr>
        <p:spPr>
          <a:xfrm>
            <a:off x="7406640" y="3127248"/>
            <a:ext cx="96926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marca la accion que el navegador debe escuchar.</a:t>
            </a:r>
            <a:endParaRPr lang="en-US" sz="760" dirty="0"/>
          </a:p>
        </p:txBody>
      </p:sp>
      <p:sp>
        <p:nvSpPr>
          <p:cNvPr id="26" name="Shape 22"/>
          <p:cNvSpPr/>
          <p:nvPr/>
        </p:nvSpPr>
        <p:spPr>
          <a:xfrm>
            <a:off x="8686800" y="2340864"/>
            <a:ext cx="1225296" cy="2029968"/>
          </a:xfrm>
          <a:prstGeom prst="roundRect">
            <a:avLst>
              <a:gd name="adj" fmla="val 2985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8686800" y="2340864"/>
            <a:ext cx="73152" cy="202996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8833104" y="2468880"/>
            <a:ext cx="9692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respuesta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8833104" y="2706624"/>
            <a:ext cx="969264" cy="310896"/>
          </a:xfrm>
          <a:prstGeom prst="roundRect">
            <a:avLst>
              <a:gd name="adj" fmla="val 1176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8906256" y="2807208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console.log()</a:t>
            </a:r>
            <a:endParaRPr lang="en-US" sz="810" dirty="0"/>
          </a:p>
        </p:txBody>
      </p:sp>
      <p:sp>
        <p:nvSpPr>
          <p:cNvPr id="31" name="Text 27"/>
          <p:cNvSpPr/>
          <p:nvPr/>
        </p:nvSpPr>
        <p:spPr>
          <a:xfrm>
            <a:off x="8833104" y="3127248"/>
            <a:ext cx="96926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 cuando el evento ocurre de verdad.</a:t>
            </a:r>
            <a:endParaRPr lang="en-US" sz="760" dirty="0"/>
          </a:p>
        </p:txBody>
      </p:sp>
      <p:sp>
        <p:nvSpPr>
          <p:cNvPr id="32" name="Shape 28"/>
          <p:cNvSpPr/>
          <p:nvPr/>
        </p:nvSpPr>
        <p:spPr>
          <a:xfrm>
            <a:off x="5724144" y="4736592"/>
            <a:ext cx="4315968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5925312" y="4901184"/>
            <a:ext cx="3913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Elemento -&gt; evento -&gt; respuesta</a:t>
            </a:r>
            <a:endParaRPr lang="en-US" sz="174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08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logica no solo importa por lo que hace, sino por cuando corre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evento conecta una accion del usuario con el momento exacto en que el codigo debe ejecutarse.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914400" y="2212848"/>
            <a:ext cx="4443984" cy="1920240"/>
          </a:xfrm>
          <a:prstGeom prst="roundRect">
            <a:avLst>
              <a:gd name="adj" fmla="val 190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42416" y="2322576"/>
            <a:ext cx="4187952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52144" y="2395728"/>
            <a:ext cx="3968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Misma logica, otro momento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856" y="2889504"/>
            <a:ext cx="4023360" cy="117043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486400" y="2212848"/>
            <a:ext cx="4572000" cy="3529584"/>
          </a:xfrm>
          <a:prstGeom prst="roundRect">
            <a:avLst>
              <a:gd name="adj" fmla="val 103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614416" y="2340864"/>
            <a:ext cx="4315968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724144" y="2414016"/>
            <a:ext cx="4096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Cuando esa logica se dispara por una accion</a:t>
            </a:r>
            <a:endParaRPr lang="en-US" sz="980" dirty="0"/>
          </a:p>
        </p:txBody>
      </p:sp>
      <p:sp>
        <p:nvSpPr>
          <p:cNvPr id="17" name="Shape 13"/>
          <p:cNvSpPr/>
          <p:nvPr/>
        </p:nvSpPr>
        <p:spPr>
          <a:xfrm>
            <a:off x="5687568" y="2834640"/>
            <a:ext cx="960120" cy="786384"/>
          </a:xfrm>
          <a:prstGeom prst="roundRect">
            <a:avLst>
              <a:gd name="adj" fmla="val 4651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687568" y="2834640"/>
            <a:ext cx="73152" cy="78638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833872" y="2980944"/>
            <a:ext cx="7406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Usuario</a:t>
            </a:r>
            <a:endParaRPr lang="en-US" sz="1040" dirty="0"/>
          </a:p>
        </p:txBody>
      </p:sp>
      <p:sp>
        <p:nvSpPr>
          <p:cNvPr id="20" name="Text 16"/>
          <p:cNvSpPr/>
          <p:nvPr/>
        </p:nvSpPr>
        <p:spPr>
          <a:xfrm>
            <a:off x="5815584" y="3218688"/>
            <a:ext cx="758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envia dato</a:t>
            </a:r>
            <a:endParaRPr lang="en-US" sz="760" dirty="0"/>
          </a:p>
        </p:txBody>
      </p:sp>
      <p:sp>
        <p:nvSpPr>
          <p:cNvPr id="21" name="Shape 17"/>
          <p:cNvSpPr/>
          <p:nvPr/>
        </p:nvSpPr>
        <p:spPr>
          <a:xfrm>
            <a:off x="6656832" y="3118104"/>
            <a:ext cx="91440" cy="219456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757416" y="2834640"/>
            <a:ext cx="960120" cy="786384"/>
          </a:xfrm>
          <a:prstGeom prst="roundRect">
            <a:avLst>
              <a:gd name="adj" fmla="val 4651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757416" y="2834640"/>
            <a:ext cx="73152" cy="78638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903720" y="2980944"/>
            <a:ext cx="7406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Evento</a:t>
            </a:r>
            <a:endParaRPr lang="en-US" sz="1040" dirty="0"/>
          </a:p>
        </p:txBody>
      </p:sp>
      <p:sp>
        <p:nvSpPr>
          <p:cNvPr id="25" name="Text 21"/>
          <p:cNvSpPr/>
          <p:nvPr/>
        </p:nvSpPr>
        <p:spPr>
          <a:xfrm>
            <a:off x="6885432" y="3218688"/>
            <a:ext cx="758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 o submit</a:t>
            </a:r>
            <a:endParaRPr lang="en-US" sz="760" dirty="0"/>
          </a:p>
        </p:txBody>
      </p:sp>
      <p:sp>
        <p:nvSpPr>
          <p:cNvPr id="26" name="Shape 22"/>
          <p:cNvSpPr/>
          <p:nvPr/>
        </p:nvSpPr>
        <p:spPr>
          <a:xfrm>
            <a:off x="7726680" y="3118104"/>
            <a:ext cx="91440" cy="219456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7827264" y="2834640"/>
            <a:ext cx="960120" cy="786384"/>
          </a:xfrm>
          <a:prstGeom prst="roundRect">
            <a:avLst>
              <a:gd name="adj" fmla="val 4651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7827264" y="2834640"/>
            <a:ext cx="73152" cy="78638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7973568" y="2980944"/>
            <a:ext cx="7406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Handler</a:t>
            </a:r>
            <a:endParaRPr lang="en-US" sz="1040" dirty="0"/>
          </a:p>
        </p:txBody>
      </p:sp>
      <p:sp>
        <p:nvSpPr>
          <p:cNvPr id="30" name="Text 26"/>
          <p:cNvSpPr/>
          <p:nvPr/>
        </p:nvSpPr>
        <p:spPr>
          <a:xfrm>
            <a:off x="7955280" y="3218688"/>
            <a:ext cx="758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 edad</a:t>
            </a:r>
            <a:endParaRPr lang="en-US" sz="760" dirty="0"/>
          </a:p>
        </p:txBody>
      </p:sp>
      <p:sp>
        <p:nvSpPr>
          <p:cNvPr id="31" name="Shape 27"/>
          <p:cNvSpPr/>
          <p:nvPr/>
        </p:nvSpPr>
        <p:spPr>
          <a:xfrm>
            <a:off x="8796528" y="3118104"/>
            <a:ext cx="91440" cy="219456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8897112" y="2834640"/>
            <a:ext cx="960120" cy="786384"/>
          </a:xfrm>
          <a:prstGeom prst="roundRect">
            <a:avLst>
              <a:gd name="adj" fmla="val 4651"/>
            </a:avLst>
          </a:prstGeom>
          <a:solidFill>
            <a:srgbClr val="DCEFE2"/>
          </a:solidFill>
          <a:ln w="12700">
            <a:solidFill>
              <a:srgbClr val="DCEFE2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8897112" y="2834640"/>
            <a:ext cx="73152" cy="786384"/>
          </a:xfrm>
          <a:prstGeom prst="rect">
            <a:avLst/>
          </a:prstGeom>
          <a:solidFill>
            <a:srgbClr val="2F8D5A"/>
          </a:solidFill>
          <a:ln w="12700">
            <a:solidFill>
              <a:srgbClr val="2F8D5A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9043416" y="2980944"/>
            <a:ext cx="7406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Respuesta</a:t>
            </a:r>
            <a:endParaRPr lang="en-US" sz="1040" dirty="0"/>
          </a:p>
        </p:txBody>
      </p:sp>
      <p:sp>
        <p:nvSpPr>
          <p:cNvPr id="35" name="Text 31"/>
          <p:cNvSpPr/>
          <p:nvPr/>
        </p:nvSpPr>
        <p:spPr>
          <a:xfrm>
            <a:off x="9025128" y="3218688"/>
            <a:ext cx="758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permite o niega</a:t>
            </a:r>
            <a:endParaRPr lang="en-US" sz="760" dirty="0"/>
          </a:p>
        </p:txBody>
      </p:sp>
      <p:sp>
        <p:nvSpPr>
          <p:cNvPr id="36" name="Shape 32"/>
          <p:cNvSpPr/>
          <p:nvPr/>
        </p:nvSpPr>
        <p:spPr>
          <a:xfrm>
            <a:off x="5687568" y="3785616"/>
            <a:ext cx="4169664" cy="1517904"/>
          </a:xfrm>
          <a:prstGeom prst="roundRect">
            <a:avLst>
              <a:gd name="adj" fmla="val 2410"/>
            </a:avLst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5687568" y="3785616"/>
            <a:ext cx="4169664" cy="219456"/>
          </a:xfrm>
          <a:prstGeom prst="roundRect">
            <a:avLst>
              <a:gd name="adj" fmla="val 12500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5779008" y="3867912"/>
            <a:ext cx="45720" cy="45720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5870448" y="3867912"/>
            <a:ext cx="45720" cy="45720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5961888" y="3867912"/>
            <a:ext cx="45720" cy="45720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5870448" y="4133088"/>
            <a:ext cx="38039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interfaz ya no es fija</a:t>
            </a:r>
            <a:endParaRPr lang="en-US" sz="1100" dirty="0"/>
          </a:p>
        </p:txBody>
      </p:sp>
      <p:sp>
        <p:nvSpPr>
          <p:cNvPr id="42" name="Shape 38"/>
          <p:cNvSpPr/>
          <p:nvPr/>
        </p:nvSpPr>
        <p:spPr>
          <a:xfrm>
            <a:off x="5870448" y="4389120"/>
            <a:ext cx="1417686" cy="310896"/>
          </a:xfrm>
          <a:prstGeom prst="roundRect">
            <a:avLst>
              <a:gd name="adj" fmla="val 8824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5943600" y="4489704"/>
            <a:ext cx="127138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Interaccion real</a:t>
            </a:r>
            <a:endParaRPr lang="en-US" sz="800" dirty="0"/>
          </a:p>
        </p:txBody>
      </p:sp>
      <p:sp>
        <p:nvSpPr>
          <p:cNvPr id="44" name="Shape 40"/>
          <p:cNvSpPr/>
          <p:nvPr/>
        </p:nvSpPr>
        <p:spPr>
          <a:xfrm>
            <a:off x="7355434" y="4453128"/>
            <a:ext cx="201168" cy="182880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7689007" y="4315968"/>
            <a:ext cx="1584472" cy="457200"/>
          </a:xfrm>
          <a:prstGeom prst="roundRect">
            <a:avLst>
              <a:gd name="adj" fmla="val 8000"/>
            </a:avLst>
          </a:prstGeom>
          <a:solidFill>
            <a:srgbClr val="E9F6EE"/>
          </a:solidFill>
          <a:ln w="12700">
            <a:solidFill>
              <a:srgbClr val="E9F6EE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7780447" y="4480560"/>
            <a:ext cx="1401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visible</a:t>
            </a:r>
            <a:endParaRPr lang="en-US" sz="800" dirty="0"/>
          </a:p>
        </p:txBody>
      </p:sp>
      <p:sp>
        <p:nvSpPr>
          <p:cNvPr id="47" name="Text 43"/>
          <p:cNvSpPr/>
          <p:nvPr/>
        </p:nvSpPr>
        <p:spPr>
          <a:xfrm>
            <a:off x="5870448" y="5065776"/>
            <a:ext cx="38039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misma condicion gana sentido cuando se ejecuta por una accion del usuario</a:t>
            </a:r>
            <a:endParaRPr lang="en-US" sz="760" dirty="0"/>
          </a:p>
        </p:txBody>
      </p:sp>
      <p:sp>
        <p:nvSpPr>
          <p:cNvPr id="48" name="Text 44"/>
          <p:cNvSpPr/>
          <p:nvPr/>
        </p:nvSpPr>
        <p:spPr>
          <a:xfrm>
            <a:off x="5669280" y="5577840"/>
            <a:ext cx="4206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interactividad define el momento de ejecucion.</a:t>
            </a:r>
            <a:endParaRPr lang="en-US" sz="84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08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interactividad inicial tambien se valida en navegador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 eventos ya no basta con leer codigo: hay que interactuar, mirar consola y verificar si la respuesta coincide con la intencion.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932688" y="2249424"/>
            <a:ext cx="4187952" cy="192024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249424"/>
            <a:ext cx="4187952" cy="384048"/>
          </a:xfrm>
          <a:prstGeom prst="roundRect">
            <a:avLst>
              <a:gd name="adj" fmla="val 95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78992" y="2377440"/>
            <a:ext cx="73152" cy="73152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225296" y="2377440"/>
            <a:ext cx="73152" cy="73152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371600" y="2377440"/>
            <a:ext cx="73152" cy="73152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499616" y="2350008"/>
            <a:ext cx="3273552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645920" y="2386584"/>
            <a:ext cx="29809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https://demo.local/registro</a:t>
            </a:r>
            <a:endParaRPr lang="en-US" sz="880" dirty="0"/>
          </a:p>
        </p:txBody>
      </p:sp>
      <p:sp>
        <p:nvSpPr>
          <p:cNvPr id="17" name="Shape 14"/>
          <p:cNvSpPr/>
          <p:nvPr/>
        </p:nvSpPr>
        <p:spPr>
          <a:xfrm>
            <a:off x="1133856" y="2743200"/>
            <a:ext cx="1408176" cy="329184"/>
          </a:xfrm>
          <a:prstGeom prst="roundRect">
            <a:avLst>
              <a:gd name="adj" fmla="val 11111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371600" y="2834640"/>
            <a:ext cx="93268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Enviar</a:t>
            </a:r>
            <a:endParaRPr lang="en-US" sz="820" dirty="0"/>
          </a:p>
        </p:txBody>
      </p:sp>
      <p:sp>
        <p:nvSpPr>
          <p:cNvPr id="19" name="Shape 16"/>
          <p:cNvSpPr/>
          <p:nvPr/>
        </p:nvSpPr>
        <p:spPr>
          <a:xfrm>
            <a:off x="2779776" y="2706624"/>
            <a:ext cx="1938528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054096" y="2816352"/>
            <a:ext cx="138988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campo input</a:t>
            </a:r>
            <a:endParaRPr lang="en-US" sz="780" dirty="0"/>
          </a:p>
        </p:txBody>
      </p:sp>
      <p:sp>
        <p:nvSpPr>
          <p:cNvPr id="21" name="Shape 18"/>
          <p:cNvSpPr/>
          <p:nvPr/>
        </p:nvSpPr>
        <p:spPr>
          <a:xfrm>
            <a:off x="5596128" y="2249424"/>
            <a:ext cx="4389120" cy="1920240"/>
          </a:xfrm>
          <a:prstGeom prst="roundRect">
            <a:avLst>
              <a:gd name="adj" fmla="val 190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33872" y="2450592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Consola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5833872" y="2816352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7B8FA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</a:t>
            </a:r>
            <a:endParaRPr lang="en-US" sz="820" dirty="0"/>
          </a:p>
        </p:txBody>
      </p:sp>
      <p:sp>
        <p:nvSpPr>
          <p:cNvPr id="24" name="Text 21"/>
          <p:cNvSpPr/>
          <p:nvPr/>
        </p:nvSpPr>
        <p:spPr>
          <a:xfrm>
            <a:off x="6071616" y="2816352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A7E3A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"submit escuchado"</a:t>
            </a:r>
            <a:endParaRPr lang="en-US" sz="920" dirty="0"/>
          </a:p>
        </p:txBody>
      </p:sp>
      <p:sp>
        <p:nvSpPr>
          <p:cNvPr id="25" name="Text 22"/>
          <p:cNvSpPr/>
          <p:nvPr/>
        </p:nvSpPr>
        <p:spPr>
          <a:xfrm>
            <a:off x="5833872" y="3090672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7B8FA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</a:t>
            </a:r>
            <a:endParaRPr lang="en-US" sz="820" dirty="0"/>
          </a:p>
        </p:txBody>
      </p:sp>
      <p:sp>
        <p:nvSpPr>
          <p:cNvPr id="26" name="Text 23"/>
          <p:cNvSpPr/>
          <p:nvPr/>
        </p:nvSpPr>
        <p:spPr>
          <a:xfrm>
            <a:off x="6071616" y="3090672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F6E29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"faltan datos"</a:t>
            </a:r>
            <a:endParaRPr lang="en-US" sz="920" dirty="0"/>
          </a:p>
        </p:txBody>
      </p:sp>
      <p:sp>
        <p:nvSpPr>
          <p:cNvPr id="27" name="Text 24"/>
          <p:cNvSpPr/>
          <p:nvPr/>
        </p:nvSpPr>
        <p:spPr>
          <a:xfrm>
            <a:off x="5833872" y="3364992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7B8FA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</a:t>
            </a:r>
            <a:endParaRPr lang="en-US" sz="820" dirty="0"/>
          </a:p>
        </p:txBody>
      </p:sp>
      <p:sp>
        <p:nvSpPr>
          <p:cNvPr id="28" name="Text 25"/>
          <p:cNvSpPr/>
          <p:nvPr/>
        </p:nvSpPr>
        <p:spPr>
          <a:xfrm>
            <a:off x="6071616" y="3364992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89D1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"flujo validado"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1078992" y="4663440"/>
            <a:ext cx="2121408" cy="694944"/>
          </a:xfrm>
          <a:prstGeom prst="roundRect">
            <a:avLst>
              <a:gd name="adj" fmla="val 394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152144" y="4773168"/>
            <a:ext cx="100584" cy="47548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335024" y="4791456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Escribir</a:t>
            </a:r>
            <a:endParaRPr lang="en-US" sz="1140" dirty="0"/>
          </a:p>
        </p:txBody>
      </p:sp>
      <p:sp>
        <p:nvSpPr>
          <p:cNvPr id="32" name="Text 29"/>
          <p:cNvSpPr/>
          <p:nvPr/>
        </p:nvSpPr>
        <p:spPr>
          <a:xfrm>
            <a:off x="1335024" y="5065776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listener y la respuesta esperada.</a:t>
            </a:r>
            <a:endParaRPr lang="en-US" sz="810" dirty="0"/>
          </a:p>
        </p:txBody>
      </p:sp>
      <p:sp>
        <p:nvSpPr>
          <p:cNvPr id="33" name="Shape 30"/>
          <p:cNvSpPr/>
          <p:nvPr/>
        </p:nvSpPr>
        <p:spPr>
          <a:xfrm>
            <a:off x="3310128" y="4901184"/>
            <a:ext cx="164592" cy="201168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3547872" y="4663440"/>
            <a:ext cx="2121408" cy="694944"/>
          </a:xfrm>
          <a:prstGeom prst="roundRect">
            <a:avLst>
              <a:gd name="adj" fmla="val 394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3621024" y="4773168"/>
            <a:ext cx="100584" cy="47548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803904" y="4791456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Ejecutar</a:t>
            </a:r>
            <a:endParaRPr lang="en-US" sz="1140" dirty="0"/>
          </a:p>
        </p:txBody>
      </p:sp>
      <p:sp>
        <p:nvSpPr>
          <p:cNvPr id="37" name="Text 34"/>
          <p:cNvSpPr/>
          <p:nvPr/>
        </p:nvSpPr>
        <p:spPr>
          <a:xfrm>
            <a:off x="3803904" y="5065776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abrir la pagina y provocar el evento.</a:t>
            </a:r>
            <a:endParaRPr lang="en-US" sz="810" dirty="0"/>
          </a:p>
        </p:txBody>
      </p:sp>
      <p:sp>
        <p:nvSpPr>
          <p:cNvPr id="38" name="Shape 35"/>
          <p:cNvSpPr/>
          <p:nvPr/>
        </p:nvSpPr>
        <p:spPr>
          <a:xfrm>
            <a:off x="5779008" y="4901184"/>
            <a:ext cx="164592" cy="201168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6016752" y="4663440"/>
            <a:ext cx="2121408" cy="694944"/>
          </a:xfrm>
          <a:prstGeom prst="roundRect">
            <a:avLst>
              <a:gd name="adj" fmla="val 3947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089904" y="4773168"/>
            <a:ext cx="100584" cy="47548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272784" y="4791456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Mirar</a:t>
            </a:r>
            <a:endParaRPr lang="en-US" sz="1140" dirty="0"/>
          </a:p>
        </p:txBody>
      </p:sp>
      <p:sp>
        <p:nvSpPr>
          <p:cNvPr id="42" name="Text 39"/>
          <p:cNvSpPr/>
          <p:nvPr/>
        </p:nvSpPr>
        <p:spPr>
          <a:xfrm>
            <a:off x="6272784" y="5065776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consola y respuesta visible.</a:t>
            </a:r>
            <a:endParaRPr lang="en-US" sz="810" dirty="0"/>
          </a:p>
        </p:txBody>
      </p:sp>
      <p:sp>
        <p:nvSpPr>
          <p:cNvPr id="43" name="Shape 40"/>
          <p:cNvSpPr/>
          <p:nvPr/>
        </p:nvSpPr>
        <p:spPr>
          <a:xfrm>
            <a:off x="8247888" y="4901184"/>
            <a:ext cx="164592" cy="201168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8485632" y="4663440"/>
            <a:ext cx="2121408" cy="694944"/>
          </a:xfrm>
          <a:prstGeom prst="roundRect">
            <a:avLst>
              <a:gd name="adj" fmla="val 394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8558784" y="4773168"/>
            <a:ext cx="100584" cy="47548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8741664" y="4791456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Ajustar</a:t>
            </a:r>
            <a:endParaRPr lang="en-US" sz="1140" dirty="0"/>
          </a:p>
        </p:txBody>
      </p:sp>
      <p:sp>
        <p:nvSpPr>
          <p:cNvPr id="47" name="Text 44"/>
          <p:cNvSpPr/>
          <p:nvPr/>
        </p:nvSpPr>
        <p:spPr>
          <a:xfrm>
            <a:off x="8741664" y="5065776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el comportamiento no coincide.</a:t>
            </a:r>
            <a:endParaRPr lang="en-US" sz="81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08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Error comun: aceptar una interaccion que no entiendes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 eventos aparecen problemas nuevos: elegir mal el evento, ejecutar varias veces o dar por bueno un comportamiento que no era el esperado.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896112" y="2249424"/>
            <a:ext cx="2907792" cy="1060704"/>
          </a:xfrm>
          <a:prstGeom prst="roundRect">
            <a:avLst>
              <a:gd name="adj" fmla="val 3448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87552" y="2377440"/>
            <a:ext cx="109728" cy="80467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52144" y="235915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Evento incorrecto</a:t>
            </a:r>
            <a:endParaRPr lang="en-US" sz="1640" dirty="0"/>
          </a:p>
        </p:txBody>
      </p:sp>
      <p:sp>
        <p:nvSpPr>
          <p:cNvPr id="13" name="Text 10"/>
          <p:cNvSpPr/>
          <p:nvPr/>
        </p:nvSpPr>
        <p:spPr>
          <a:xfrm>
            <a:off x="1152144" y="2706624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codigo escucha otra accion y la respuesta no ocurre cuando deberia.</a:t>
            </a:r>
            <a:endParaRPr lang="en-US" sz="910" dirty="0"/>
          </a:p>
        </p:txBody>
      </p:sp>
      <p:sp>
        <p:nvSpPr>
          <p:cNvPr id="14" name="Shape 11"/>
          <p:cNvSpPr/>
          <p:nvPr/>
        </p:nvSpPr>
        <p:spPr>
          <a:xfrm>
            <a:off x="4096512" y="2249424"/>
            <a:ext cx="2907792" cy="1060704"/>
          </a:xfrm>
          <a:prstGeom prst="roundRect">
            <a:avLst>
              <a:gd name="adj" fmla="val 3448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187952" y="2377440"/>
            <a:ext cx="109728" cy="80467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352544" y="235915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Varias ejecuciones</a:t>
            </a:r>
            <a:endParaRPr lang="en-US" sz="1640" dirty="0"/>
          </a:p>
        </p:txBody>
      </p:sp>
      <p:sp>
        <p:nvSpPr>
          <p:cNvPr id="17" name="Text 14"/>
          <p:cNvSpPr/>
          <p:nvPr/>
        </p:nvSpPr>
        <p:spPr>
          <a:xfrm>
            <a:off x="4352544" y="2706624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accion se dispara mas de una vez y la interfaz ya no coincide con la intencion.</a:t>
            </a:r>
            <a:endParaRPr lang="en-US" sz="910" dirty="0"/>
          </a:p>
        </p:txBody>
      </p:sp>
      <p:sp>
        <p:nvSpPr>
          <p:cNvPr id="18" name="Shape 15"/>
          <p:cNvSpPr/>
          <p:nvPr/>
        </p:nvSpPr>
        <p:spPr>
          <a:xfrm>
            <a:off x="7296912" y="2249424"/>
            <a:ext cx="2907792" cy="1060704"/>
          </a:xfrm>
          <a:prstGeom prst="roundRect">
            <a:avLst>
              <a:gd name="adj" fmla="val 3448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388352" y="2377440"/>
            <a:ext cx="109728" cy="80467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552944" y="235915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Explicacion vacia</a:t>
            </a:r>
            <a:endParaRPr lang="en-US" sz="1640" dirty="0"/>
          </a:p>
        </p:txBody>
      </p:sp>
      <p:sp>
        <p:nvSpPr>
          <p:cNvPr id="21" name="Text 18"/>
          <p:cNvSpPr/>
          <p:nvPr/>
        </p:nvSpPr>
        <p:spPr>
          <a:xfrm>
            <a:off x="7552944" y="2706624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codigo parece correcto, pero nadie verifico si la respuesta era realmente la esperada.</a:t>
            </a:r>
            <a:endParaRPr lang="en-US" sz="910" dirty="0"/>
          </a:p>
        </p:txBody>
      </p:sp>
      <p:sp>
        <p:nvSpPr>
          <p:cNvPr id="22" name="Shape 19"/>
          <p:cNvSpPr/>
          <p:nvPr/>
        </p:nvSpPr>
        <p:spPr>
          <a:xfrm>
            <a:off x="1042416" y="3822192"/>
            <a:ext cx="8961120" cy="1060704"/>
          </a:xfrm>
          <a:prstGeom prst="roundRect">
            <a:avLst>
              <a:gd name="adj" fmla="val 2586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115568" y="3931920"/>
            <a:ext cx="100584" cy="84124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298448" y="3950208"/>
            <a:ext cx="8631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Lectura util</a:t>
            </a:r>
            <a:endParaRPr lang="en-US" sz="1280" dirty="0"/>
          </a:p>
        </p:txBody>
      </p:sp>
      <p:sp>
        <p:nvSpPr>
          <p:cNvPr id="25" name="Text 22"/>
          <p:cNvSpPr/>
          <p:nvPr/>
        </p:nvSpPr>
        <p:spPr>
          <a:xfrm>
            <a:off x="1298448" y="4224528"/>
            <a:ext cx="8631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eventos no basta con que el codigo se vea ordenado. Hay que preguntar: se ejecuto cuando correspondia, una sola vez y con la respuesta correcta?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1847088" y="5138928"/>
            <a:ext cx="722376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048256" y="5303520"/>
            <a:ext cx="6821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evidencia esta en la interaccion real, no solo en el snippet.</a:t>
            </a:r>
            <a:endParaRPr lang="en-US" sz="168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08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agente puede proponer listeners; tu debes validar la interaccion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Aqui el apoyo sirve mucho para una primera version, pero no reemplaza navegador, consola ni prueba directa del comportamiento.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932688" y="2139696"/>
            <a:ext cx="9015984" cy="3401568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60704" y="2267712"/>
            <a:ext cx="875995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70432" y="2340864"/>
            <a:ext cx="8540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 puede acelerar un agente y que no conviene delegar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1078992" y="2706624"/>
            <a:ext cx="3502152" cy="2377440"/>
          </a:xfrm>
          <a:prstGeom prst="roundRect">
            <a:avLst>
              <a:gd name="adj" fmla="val 1538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188720" y="2834640"/>
            <a:ext cx="109728" cy="21214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389888" y="283464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Puede ayudar con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389888" y="3108960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esqueleto inicial y ejemplos pequenos</a:t>
            </a:r>
            <a:endParaRPr lang="en-US" sz="940" dirty="0"/>
          </a:p>
        </p:txBody>
      </p:sp>
      <p:sp>
        <p:nvSpPr>
          <p:cNvPr id="17" name="Shape 14"/>
          <p:cNvSpPr/>
          <p:nvPr/>
        </p:nvSpPr>
        <p:spPr>
          <a:xfrm>
            <a:off x="1389888" y="3456432"/>
            <a:ext cx="304495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481328" y="3570732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627632" y="3502152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proponer un listener basico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1389888" y="3858768"/>
            <a:ext cx="304495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481328" y="3973068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627632" y="390448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explicar que hace addEventListener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1389888" y="4261104"/>
            <a:ext cx="304495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481328" y="4375404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627632" y="4306824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sugerir un click o submit inicial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1389888" y="4663440"/>
            <a:ext cx="304495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481328" y="4777740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627632" y="4709160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simplificar una primera interaccion corta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706624"/>
            <a:ext cx="3502152" cy="237744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409944" y="2834640"/>
            <a:ext cx="109728" cy="212140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611112" y="283464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conviene delegar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6611112" y="3108960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seleccion del evento y validacion real</a:t>
            </a:r>
            <a:endParaRPr lang="en-US" sz="940" dirty="0"/>
          </a:p>
        </p:txBody>
      </p:sp>
      <p:sp>
        <p:nvSpPr>
          <p:cNvPr id="33" name="Shape 30"/>
          <p:cNvSpPr/>
          <p:nvPr/>
        </p:nvSpPr>
        <p:spPr>
          <a:xfrm>
            <a:off x="6611112" y="3456432"/>
            <a:ext cx="304495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702552" y="3570732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848856" y="3502152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asumir que el evento elegido era el correcto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6611112" y="3858768"/>
            <a:ext cx="304495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702552" y="3973068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848856" y="390448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creer que corre en el momento esperado sin probarlo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6611112" y="4261104"/>
            <a:ext cx="304495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702552" y="4375404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848856" y="4306824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aceptar la explicacion sin interactuar con la pagina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6611112" y="4663440"/>
            <a:ext cx="304495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702552" y="4777740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848856" y="4709160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ignorar consola y respuesta visible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4837176" y="3081528"/>
            <a:ext cx="1207008" cy="1627632"/>
          </a:xfrm>
          <a:prstGeom prst="roundRect">
            <a:avLst>
              <a:gd name="adj" fmla="val 4545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946904" y="3227832"/>
            <a:ext cx="987552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5020056" y="3648456"/>
            <a:ext cx="841248" cy="164592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5001768" y="3273552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Practica</a:t>
            </a:r>
            <a:endParaRPr lang="en-US" sz="1060" dirty="0"/>
          </a:p>
        </p:txBody>
      </p:sp>
      <p:sp>
        <p:nvSpPr>
          <p:cNvPr id="49" name="Text 46"/>
          <p:cNvSpPr/>
          <p:nvPr/>
        </p:nvSpPr>
        <p:spPr>
          <a:xfrm>
            <a:off x="4965192" y="4059936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Entender la accion, probarla y ajustar con criterio sigue siendo obligatorio.</a:t>
            </a:r>
            <a:endParaRPr lang="en-US" sz="720" dirty="0"/>
          </a:p>
        </p:txBody>
      </p:sp>
      <p:sp>
        <p:nvSpPr>
          <p:cNvPr id="50" name="Shape 47"/>
          <p:cNvSpPr/>
          <p:nvPr/>
        </p:nvSpPr>
        <p:spPr>
          <a:xfrm>
            <a:off x="1133856" y="5138928"/>
            <a:ext cx="8613648" cy="219456"/>
          </a:xfrm>
          <a:prstGeom prst="roundRect">
            <a:avLst>
              <a:gd name="adj" fmla="val 1250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1243584" y="5184648"/>
            <a:ext cx="83941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Entender -&gt; bosquejar -&gt; probar -&gt; validar.</a:t>
            </a:r>
            <a:endParaRPr lang="en-US" sz="88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08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Preguntas para cerrar el bloque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 del cierre general, conviene fijar como se conecta la logica con una accion real del usuario.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914400" y="2231136"/>
            <a:ext cx="4407408" cy="1078992"/>
          </a:xfrm>
          <a:prstGeom prst="roundRect">
            <a:avLst>
              <a:gd name="adj" fmla="val 3390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05840" y="2359152"/>
            <a:ext cx="109728" cy="82296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70432" y="2340864"/>
            <a:ext cx="4059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¿Que convierte a una pagina en una interfaz mas interactiva y no solo estatica?</a:t>
            </a:r>
            <a:endParaRPr lang="en-US" sz="1360" dirty="0"/>
          </a:p>
        </p:txBody>
      </p:sp>
      <p:sp>
        <p:nvSpPr>
          <p:cNvPr id="13" name="Text 10"/>
          <p:cNvSpPr/>
          <p:nvPr/>
        </p:nvSpPr>
        <p:spPr>
          <a:xfrm>
            <a:off x="1170432" y="2688336"/>
            <a:ext cx="4059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respuesta deberia mencionar escucha de eventos y respuesta observable.</a:t>
            </a:r>
            <a:endParaRPr lang="en-US" sz="880" dirty="0"/>
          </a:p>
        </p:txBody>
      </p:sp>
      <p:sp>
        <p:nvSpPr>
          <p:cNvPr id="14" name="Shape 11"/>
          <p:cNvSpPr/>
          <p:nvPr/>
        </p:nvSpPr>
        <p:spPr>
          <a:xfrm>
            <a:off x="5486400" y="2231136"/>
            <a:ext cx="4407408" cy="1078992"/>
          </a:xfrm>
          <a:prstGeom prst="roundRect">
            <a:avLst>
              <a:gd name="adj" fmla="val 339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577840" y="2359152"/>
            <a:ext cx="109728" cy="82296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742432" y="2340864"/>
            <a:ext cx="4059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¿Que diferencia existe entre escribir una funcion y decidir cuando debe ejecutarse?</a:t>
            </a:r>
            <a:endParaRPr lang="en-US" sz="1360" dirty="0"/>
          </a:p>
        </p:txBody>
      </p:sp>
      <p:sp>
        <p:nvSpPr>
          <p:cNvPr id="17" name="Text 14"/>
          <p:cNvSpPr/>
          <p:nvPr/>
        </p:nvSpPr>
        <p:spPr>
          <a:xfrm>
            <a:off x="5742432" y="2688336"/>
            <a:ext cx="4059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cosa define la logica; la otra la conecta con una accion o momento concreto.</a:t>
            </a:r>
            <a:endParaRPr lang="en-US" sz="880" dirty="0"/>
          </a:p>
        </p:txBody>
      </p:sp>
      <p:sp>
        <p:nvSpPr>
          <p:cNvPr id="18" name="Shape 15"/>
          <p:cNvSpPr/>
          <p:nvPr/>
        </p:nvSpPr>
        <p:spPr>
          <a:xfrm>
            <a:off x="914400" y="3675888"/>
            <a:ext cx="4407408" cy="1078992"/>
          </a:xfrm>
          <a:prstGeom prst="roundRect">
            <a:avLst>
              <a:gd name="adj" fmla="val 339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005840" y="3803904"/>
            <a:ext cx="109728" cy="82296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70432" y="3785616"/>
            <a:ext cx="4059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¿Por que click, input y submit son buenos primeros eventos para aprender?</a:t>
            </a:r>
            <a:endParaRPr lang="en-US" sz="1360" dirty="0"/>
          </a:p>
        </p:txBody>
      </p:sp>
      <p:sp>
        <p:nvSpPr>
          <p:cNvPr id="21" name="Text 18"/>
          <p:cNvSpPr/>
          <p:nvPr/>
        </p:nvSpPr>
        <p:spPr>
          <a:xfrm>
            <a:off x="1170432" y="4133088"/>
            <a:ext cx="4059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Porque aparecen mucho en interfaces reales y permiten entender interaccion rapidamente.</a:t>
            </a:r>
            <a:endParaRPr lang="en-US" sz="880" dirty="0"/>
          </a:p>
        </p:txBody>
      </p:sp>
      <p:sp>
        <p:nvSpPr>
          <p:cNvPr id="22" name="Shape 19"/>
          <p:cNvSpPr/>
          <p:nvPr/>
        </p:nvSpPr>
        <p:spPr>
          <a:xfrm>
            <a:off x="5486400" y="3675888"/>
            <a:ext cx="4407408" cy="1078992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577840" y="3803904"/>
            <a:ext cx="109728" cy="82296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742432" y="3785616"/>
            <a:ext cx="4059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¿Por que la validacion de eventos requiere navegador y no solo lectura de codigo?</a:t>
            </a:r>
            <a:endParaRPr lang="en-US" sz="1360" dirty="0"/>
          </a:p>
        </p:txBody>
      </p:sp>
      <p:sp>
        <p:nvSpPr>
          <p:cNvPr id="25" name="Text 22"/>
          <p:cNvSpPr/>
          <p:nvPr/>
        </p:nvSpPr>
        <p:spPr>
          <a:xfrm>
            <a:off x="5742432" y="4133088"/>
            <a:ext cx="4059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Porque importa si la accion ocurre en el momento correcto y con la respuesta esperada.</a:t>
            </a:r>
            <a:endParaRPr lang="en-US" sz="88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08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Cierre del Bloque 4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 este bloque la clase ya deja instalada la entrada a la interactividad. El miercoles conectaremos eventos con DOM y lectura de datos.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914400" y="2322576"/>
            <a:ext cx="4352544" cy="1389888"/>
          </a:xfrm>
          <a:prstGeom prst="roundRect">
            <a:avLst>
              <a:gd name="adj" fmla="val 2632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15568" y="2487168"/>
            <a:ext cx="395020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Los eventos conectan la logica con acciones reales del usuario.</a:t>
            </a:r>
            <a:endParaRPr lang="en-US" sz="2040" dirty="0"/>
          </a:p>
        </p:txBody>
      </p:sp>
      <p:sp>
        <p:nvSpPr>
          <p:cNvPr id="12" name="Shape 9"/>
          <p:cNvSpPr/>
          <p:nvPr/>
        </p:nvSpPr>
        <p:spPr>
          <a:xfrm>
            <a:off x="1078992" y="4096512"/>
            <a:ext cx="3840480" cy="987552"/>
          </a:xfrm>
          <a:prstGeom prst="roundRect">
            <a:avLst>
              <a:gd name="adj" fmla="val 2778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152144" y="4206240"/>
            <a:ext cx="100584" cy="76809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335024" y="4224528"/>
            <a:ext cx="3511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 que sigue</a:t>
            </a:r>
            <a:endParaRPr lang="en-US" sz="1220" dirty="0"/>
          </a:p>
        </p:txBody>
      </p:sp>
      <p:sp>
        <p:nvSpPr>
          <p:cNvPr id="15" name="Text 12"/>
          <p:cNvSpPr/>
          <p:nvPr/>
        </p:nvSpPr>
        <p:spPr>
          <a:xfrm>
            <a:off x="1335024" y="4498848"/>
            <a:ext cx="35112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miercoles veremos DOM, lectura de elementos y consumo simple de datos con fetch.</a:t>
            </a:r>
            <a:endParaRPr lang="en-US" sz="860" dirty="0"/>
          </a:p>
        </p:txBody>
      </p:sp>
      <p:sp>
        <p:nvSpPr>
          <p:cNvPr id="16" name="Shape 13"/>
          <p:cNvSpPr/>
          <p:nvPr/>
        </p:nvSpPr>
        <p:spPr>
          <a:xfrm>
            <a:off x="5486400" y="2377440"/>
            <a:ext cx="4517136" cy="841248"/>
          </a:xfrm>
          <a:prstGeom prst="roundRect">
            <a:avLst>
              <a:gd name="adj" fmla="val 3261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559552" y="2487168"/>
            <a:ext cx="100584" cy="62179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742432" y="2505456"/>
            <a:ext cx="4187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Cadena del martes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742432" y="2779776"/>
            <a:ext cx="4187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-&gt; operaciones -&gt; funciones -&gt; condiciones -&gt; eventos -&gt; interactividad</a:t>
            </a:r>
            <a:endParaRPr lang="en-US" sz="840" dirty="0"/>
          </a:p>
        </p:txBody>
      </p:sp>
      <p:sp>
        <p:nvSpPr>
          <p:cNvPr id="20" name="Shape 17"/>
          <p:cNvSpPr/>
          <p:nvPr/>
        </p:nvSpPr>
        <p:spPr>
          <a:xfrm>
            <a:off x="5486400" y="3401568"/>
            <a:ext cx="4517136" cy="841248"/>
          </a:xfrm>
          <a:prstGeom prst="roundRect">
            <a:avLst>
              <a:gd name="adj" fmla="val 3261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559552" y="3511296"/>
            <a:ext cx="100584" cy="62179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742432" y="3529584"/>
            <a:ext cx="4187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Idea metodologica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742432" y="3803904"/>
            <a:ext cx="4187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agente puede acelerar ejemplos iniciales, pero el criterio sigue estando en ejecutar, leer y validar.</a:t>
            </a:r>
            <a:endParaRPr lang="en-US" sz="840" dirty="0"/>
          </a:p>
        </p:txBody>
      </p:sp>
      <p:sp>
        <p:nvSpPr>
          <p:cNvPr id="24" name="Shape 21"/>
          <p:cNvSpPr/>
          <p:nvPr/>
        </p:nvSpPr>
        <p:spPr>
          <a:xfrm>
            <a:off x="5486400" y="4425696"/>
            <a:ext cx="4517136" cy="841248"/>
          </a:xfrm>
          <a:prstGeom prst="roundRect">
            <a:avLst>
              <a:gd name="adj" fmla="val 3261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559552" y="4535424"/>
            <a:ext cx="100584" cy="62179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742432" y="4553712"/>
            <a:ext cx="4187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Puente al miercoles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742432" y="4828032"/>
            <a:ext cx="4187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 no miraremos solo codigo. Empezaremos a tocar elementos reales del DOM y a traer datos externos.</a:t>
            </a:r>
            <a:endParaRPr lang="en-US" sz="84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08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evento activa una cadena completa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basta con nombrar click o submit. Lo importante es entender que paso dispara la logica y donde se ve la respuesta.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914400" y="1920240"/>
            <a:ext cx="9180576" cy="3163824"/>
          </a:xfrm>
          <a:prstGeom prst="roundRect">
            <a:avLst>
              <a:gd name="adj" fmla="val 115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33856" y="2121408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Cadena de reaccion basica</a:t>
            </a:r>
            <a:endParaRPr lang="en-US" sz="1240" dirty="0"/>
          </a:p>
        </p:txBody>
      </p:sp>
      <p:sp>
        <p:nvSpPr>
          <p:cNvPr id="12" name="Shape 9"/>
          <p:cNvSpPr/>
          <p:nvPr/>
        </p:nvSpPr>
        <p:spPr>
          <a:xfrm>
            <a:off x="1133856" y="2615184"/>
            <a:ext cx="1773936" cy="896112"/>
          </a:xfrm>
          <a:prstGeom prst="roundRect">
            <a:avLst>
              <a:gd name="adj" fmla="val 3061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207008" y="2724912"/>
            <a:ext cx="100584" cy="67665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389888" y="2743200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Accion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389888" y="3017520"/>
            <a:ext cx="1444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 en boton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2999232" y="2926080"/>
            <a:ext cx="164592" cy="219456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401568" y="2615184"/>
            <a:ext cx="1773936" cy="896112"/>
          </a:xfrm>
          <a:prstGeom prst="roundRect">
            <a:avLst>
              <a:gd name="adj" fmla="val 3061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474720" y="2724912"/>
            <a:ext cx="100584" cy="67665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657600" y="2743200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Evento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657600" y="3017520"/>
            <a:ext cx="1444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5266944" y="2926080"/>
            <a:ext cx="164592" cy="219456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669280" y="2615184"/>
            <a:ext cx="1773936" cy="896112"/>
          </a:xfrm>
          <a:prstGeom prst="roundRect">
            <a:avLst>
              <a:gd name="adj" fmla="val 3061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742432" y="2724912"/>
            <a:ext cx="100584" cy="67665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25312" y="2743200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Handler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925312" y="3017520"/>
            <a:ext cx="1444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ejecuta la funcion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7534656" y="2926080"/>
            <a:ext cx="164592" cy="219456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936992" y="2615184"/>
            <a:ext cx="1773936" cy="896112"/>
          </a:xfrm>
          <a:prstGeom prst="roundRect">
            <a:avLst>
              <a:gd name="adj" fmla="val 306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010144" y="2724912"/>
            <a:ext cx="100584" cy="67665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193024" y="2743200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Respuesta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8193024" y="3017520"/>
            <a:ext cx="1444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mensaje o cambio visible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1133856" y="3877056"/>
            <a:ext cx="8668512" cy="749808"/>
          </a:xfrm>
          <a:prstGeom prst="roundRect">
            <a:avLst>
              <a:gd name="adj" fmla="val 4878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353312" y="4114800"/>
            <a:ext cx="1463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Interfaz observada</a:t>
            </a:r>
            <a:endParaRPr lang="en-US" sz="1180" dirty="0"/>
          </a:p>
        </p:txBody>
      </p:sp>
      <p:sp>
        <p:nvSpPr>
          <p:cNvPr id="33" name="Shape 30"/>
          <p:cNvSpPr/>
          <p:nvPr/>
        </p:nvSpPr>
        <p:spPr>
          <a:xfrm>
            <a:off x="2962656" y="4041648"/>
            <a:ext cx="2505456" cy="256032"/>
          </a:xfrm>
          <a:prstGeom prst="roundRect">
            <a:avLst>
              <a:gd name="adj" fmla="val 1428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614416" y="4041648"/>
            <a:ext cx="3401568" cy="256032"/>
          </a:xfrm>
          <a:prstGeom prst="roundRect">
            <a:avLst>
              <a:gd name="adj" fmla="val 14286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383280" y="4119372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 en boton</a:t>
            </a:r>
            <a:endParaRPr lang="en-US" sz="810" dirty="0"/>
          </a:p>
        </p:txBody>
      </p:sp>
      <p:sp>
        <p:nvSpPr>
          <p:cNvPr id="36" name="Text 33"/>
          <p:cNvSpPr/>
          <p:nvPr/>
        </p:nvSpPr>
        <p:spPr>
          <a:xfrm>
            <a:off x="6345936" y="4119372"/>
            <a:ext cx="20299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respuesta en consola o UI</a:t>
            </a:r>
            <a:endParaRPr lang="en-US" sz="810" dirty="0"/>
          </a:p>
        </p:txBody>
      </p:sp>
      <p:sp>
        <p:nvSpPr>
          <p:cNvPr id="37" name="Shape 34"/>
          <p:cNvSpPr/>
          <p:nvPr/>
        </p:nvSpPr>
        <p:spPr>
          <a:xfrm>
            <a:off x="1133856" y="4736592"/>
            <a:ext cx="8668512" cy="347472"/>
          </a:xfrm>
          <a:prstGeom prst="roundRect">
            <a:avLst>
              <a:gd name="adj" fmla="val 10526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1335024" y="4846320"/>
            <a:ext cx="8229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Lectura correcta: no pienses solo en la funcion. Piensa en que la activa, cuando corre y que evidencia deja.</a:t>
            </a:r>
            <a:endParaRPr lang="en-US" sz="108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08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Elegir bien el evento cambia el resultado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Click, input y submit no son intercambiables. Cada uno encaja mejor con cierto tipo de accion del usuario.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914400" y="2029968"/>
            <a:ext cx="2852928" cy="2633472"/>
          </a:xfrm>
          <a:prstGeom prst="roundRect">
            <a:avLst>
              <a:gd name="adj" fmla="val 1389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05840" y="2157984"/>
            <a:ext cx="109728" cy="237744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70432" y="2139696"/>
            <a:ext cx="2505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click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170432" y="2487168"/>
            <a:ext cx="2505456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Sirve cuando una persona activa algo de forma puntual.</a:t>
            </a:r>
            <a:endParaRPr lang="en-US" sz="880" dirty="0"/>
          </a:p>
          <a:p>
            <a:pPr algn="l" indent="0" marL="0">
              <a:buNone/>
            </a:pP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Buen uso: botones, menus, acciones visibles.</a:t>
            </a:r>
            <a:endParaRPr lang="en-US" sz="880" dirty="0"/>
          </a:p>
          <a:p>
            <a:pPr algn="l" indent="0" marL="0">
              <a:buNone/>
            </a:pP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Riesgo: usarlo para todo y terminar con interacciones poco claras.</a:t>
            </a:r>
            <a:endParaRPr lang="en-US" sz="880" dirty="0"/>
          </a:p>
        </p:txBody>
      </p:sp>
      <p:sp>
        <p:nvSpPr>
          <p:cNvPr id="14" name="Shape 11"/>
          <p:cNvSpPr/>
          <p:nvPr/>
        </p:nvSpPr>
        <p:spPr>
          <a:xfrm>
            <a:off x="4078224" y="2029968"/>
            <a:ext cx="2852928" cy="2633472"/>
          </a:xfrm>
          <a:prstGeom prst="roundRect">
            <a:avLst>
              <a:gd name="adj" fmla="val 1389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169664" y="2157984"/>
            <a:ext cx="109728" cy="237744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334256" y="2139696"/>
            <a:ext cx="2505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input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4334256" y="2487168"/>
            <a:ext cx="2505456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Sirve cuando quieres reaccionar mientras el valor cambia.</a:t>
            </a:r>
            <a:endParaRPr lang="en-US" sz="880" dirty="0"/>
          </a:p>
          <a:p>
            <a:pPr algn="l" indent="0" marL="0">
              <a:buNone/>
            </a:pP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Buen uso: campos, filtros, busqueda.</a:t>
            </a:r>
            <a:endParaRPr lang="en-US" sz="880" dirty="0"/>
          </a:p>
          <a:p>
            <a:pPr algn="l" indent="0" marL="0">
              <a:buNone/>
            </a:pP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Riesgo: disparar demasiada logica sin revisar el ritmo.</a:t>
            </a:r>
            <a:endParaRPr lang="en-US" sz="880" dirty="0"/>
          </a:p>
        </p:txBody>
      </p:sp>
      <p:sp>
        <p:nvSpPr>
          <p:cNvPr id="18" name="Shape 15"/>
          <p:cNvSpPr/>
          <p:nvPr/>
        </p:nvSpPr>
        <p:spPr>
          <a:xfrm>
            <a:off x="7242048" y="2029968"/>
            <a:ext cx="2852928" cy="2633472"/>
          </a:xfrm>
          <a:prstGeom prst="roundRect">
            <a:avLst>
              <a:gd name="adj" fmla="val 1389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333488" y="2157984"/>
            <a:ext cx="109728" cy="237744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498080" y="2139696"/>
            <a:ext cx="2505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submit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7498080" y="2487168"/>
            <a:ext cx="2505456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Sirve cuando una accion cierra el envio de un formulario.</a:t>
            </a:r>
            <a:endParaRPr lang="en-US" sz="880" dirty="0"/>
          </a:p>
          <a:p>
            <a:pPr algn="l" indent="0" marL="0">
              <a:buNone/>
            </a:pP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Buen uso: contacto, login, busqueda formal.</a:t>
            </a:r>
            <a:endParaRPr lang="en-US" sz="880" dirty="0"/>
          </a:p>
          <a:p>
            <a:pPr algn="l" indent="0" marL="0">
              <a:buNone/>
            </a:pP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Riesgo: tratarlo como click y olvidar su contexto de formulario.</a:t>
            </a:r>
            <a:endParaRPr lang="en-US" sz="88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08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 un evento no responde, revisa esto primero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depuracion inicial no parte adivinando. Parte comprobando puntos concretos de la cadena de interaccion.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914400" y="1975104"/>
            <a:ext cx="4590288" cy="3035808"/>
          </a:xfrm>
          <a:prstGeom prst="roundRect">
            <a:avLst>
              <a:gd name="adj" fmla="val 120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33856" y="2139696"/>
            <a:ext cx="1645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Checklist rapido</a:t>
            </a:r>
            <a:endParaRPr lang="en-US" sz="1280" dirty="0"/>
          </a:p>
        </p:txBody>
      </p:sp>
      <p:sp>
        <p:nvSpPr>
          <p:cNvPr id="12" name="Text 9"/>
          <p:cNvSpPr/>
          <p:nvPr/>
        </p:nvSpPr>
        <p:spPr>
          <a:xfrm>
            <a:off x="1133856" y="2596896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7B8FA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</a:t>
            </a:r>
            <a:endParaRPr lang="en-US" sz="820" dirty="0"/>
          </a:p>
        </p:txBody>
      </p:sp>
      <p:sp>
        <p:nvSpPr>
          <p:cNvPr id="13" name="Text 10"/>
          <p:cNvSpPr/>
          <p:nvPr/>
        </p:nvSpPr>
        <p:spPr>
          <a:xfrm>
            <a:off x="1371600" y="2596896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DCE6F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El elemento correcto existe</a:t>
            </a:r>
            <a:endParaRPr lang="en-US" sz="880" dirty="0"/>
          </a:p>
        </p:txBody>
      </p:sp>
      <p:sp>
        <p:nvSpPr>
          <p:cNvPr id="14" name="Text 11"/>
          <p:cNvSpPr/>
          <p:nvPr/>
        </p:nvSpPr>
        <p:spPr>
          <a:xfrm>
            <a:off x="1133856" y="2852928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7B8FA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</a:t>
            </a:r>
            <a:endParaRPr lang="en-US" sz="820" dirty="0"/>
          </a:p>
        </p:txBody>
      </p:sp>
      <p:sp>
        <p:nvSpPr>
          <p:cNvPr id="15" name="Text 12"/>
          <p:cNvSpPr/>
          <p:nvPr/>
        </p:nvSpPr>
        <p:spPr>
          <a:xfrm>
            <a:off x="1371600" y="2852928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DCE6F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El listener quedo conectado</a:t>
            </a:r>
            <a:endParaRPr lang="en-US" sz="880" dirty="0"/>
          </a:p>
        </p:txBody>
      </p:sp>
      <p:sp>
        <p:nvSpPr>
          <p:cNvPr id="16" name="Text 13"/>
          <p:cNvSpPr/>
          <p:nvPr/>
        </p:nvSpPr>
        <p:spPr>
          <a:xfrm>
            <a:off x="1133856" y="3108960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7B8FA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</a:t>
            </a:r>
            <a:endParaRPr lang="en-US" sz="820" dirty="0"/>
          </a:p>
        </p:txBody>
      </p:sp>
      <p:sp>
        <p:nvSpPr>
          <p:cNvPr id="17" name="Text 14"/>
          <p:cNvSpPr/>
          <p:nvPr/>
        </p:nvSpPr>
        <p:spPr>
          <a:xfrm>
            <a:off x="1371600" y="3108960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DCE6F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El evento elegido era el adecuado</a:t>
            </a:r>
            <a:endParaRPr lang="en-US" sz="880" dirty="0"/>
          </a:p>
        </p:txBody>
      </p:sp>
      <p:sp>
        <p:nvSpPr>
          <p:cNvPr id="18" name="Text 15"/>
          <p:cNvSpPr/>
          <p:nvPr/>
        </p:nvSpPr>
        <p:spPr>
          <a:xfrm>
            <a:off x="1133856" y="3364992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7B8FA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1371600" y="3364992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DCE6F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La funcion si se ejecuta</a:t>
            </a:r>
            <a:endParaRPr lang="en-US" sz="880" dirty="0"/>
          </a:p>
        </p:txBody>
      </p:sp>
      <p:sp>
        <p:nvSpPr>
          <p:cNvPr id="20" name="Text 17"/>
          <p:cNvSpPr/>
          <p:nvPr/>
        </p:nvSpPr>
        <p:spPr>
          <a:xfrm>
            <a:off x="1133856" y="3621024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7B8FA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5</a:t>
            </a:r>
            <a:endParaRPr lang="en-US" sz="820" dirty="0"/>
          </a:p>
        </p:txBody>
      </p:sp>
      <p:sp>
        <p:nvSpPr>
          <p:cNvPr id="21" name="Text 18"/>
          <p:cNvSpPr/>
          <p:nvPr/>
        </p:nvSpPr>
        <p:spPr>
          <a:xfrm>
            <a:off x="1371600" y="3621024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F2D26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La respuesta visible aparece donde esperas</a:t>
            </a:r>
            <a:endParaRPr lang="en-US" sz="880" dirty="0"/>
          </a:p>
        </p:txBody>
      </p:sp>
      <p:sp>
        <p:nvSpPr>
          <p:cNvPr id="22" name="Shape 19"/>
          <p:cNvSpPr/>
          <p:nvPr/>
        </p:nvSpPr>
        <p:spPr>
          <a:xfrm>
            <a:off x="1115568" y="4297680"/>
            <a:ext cx="3913632" cy="347472"/>
          </a:xfrm>
          <a:prstGeom prst="roundRect">
            <a:avLst>
              <a:gd name="adj" fmla="val 7895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188720" y="4407408"/>
            <a:ext cx="100584" cy="12801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371600" y="4425696"/>
            <a:ext cx="3584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5650992" y="1993392"/>
            <a:ext cx="4315968" cy="950976"/>
          </a:xfrm>
          <a:prstGeom prst="roundRect">
            <a:avLst>
              <a:gd name="adj" fmla="val 3846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742432" y="2121408"/>
            <a:ext cx="109728" cy="69494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907024" y="2103120"/>
            <a:ext cx="3968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 1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5907024" y="2450592"/>
            <a:ext cx="3968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¿La accion del usuario realmente ocurre sobre el elemento correcto?</a:t>
            </a:r>
            <a:endParaRPr lang="en-US" sz="880" dirty="0"/>
          </a:p>
        </p:txBody>
      </p:sp>
      <p:sp>
        <p:nvSpPr>
          <p:cNvPr id="29" name="Shape 26"/>
          <p:cNvSpPr/>
          <p:nvPr/>
        </p:nvSpPr>
        <p:spPr>
          <a:xfrm>
            <a:off x="5650992" y="3145536"/>
            <a:ext cx="4315968" cy="950976"/>
          </a:xfrm>
          <a:prstGeom prst="roundRect">
            <a:avLst>
              <a:gd name="adj" fmla="val 3846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742432" y="3273552"/>
            <a:ext cx="109728" cy="69494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907024" y="3255264"/>
            <a:ext cx="3968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 2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5907024" y="3602736"/>
            <a:ext cx="3968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¿El navegador muestra evidencia de ejecucion en consola o en la interfaz?</a:t>
            </a:r>
            <a:endParaRPr lang="en-US" sz="880" dirty="0"/>
          </a:p>
        </p:txBody>
      </p:sp>
      <p:sp>
        <p:nvSpPr>
          <p:cNvPr id="33" name="Shape 30"/>
          <p:cNvSpPr/>
          <p:nvPr/>
        </p:nvSpPr>
        <p:spPr>
          <a:xfrm>
            <a:off x="5650992" y="4297680"/>
            <a:ext cx="4315968" cy="713232"/>
          </a:xfrm>
          <a:prstGeom prst="roundRect">
            <a:avLst>
              <a:gd name="adj" fmla="val 5128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742432" y="4425696"/>
            <a:ext cx="109728" cy="45720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907024" y="4407408"/>
            <a:ext cx="3968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 3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5907024" y="4754880"/>
            <a:ext cx="39684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¿El problema es de evento, de logica o de resultado visible?</a:t>
            </a:r>
            <a:endParaRPr lang="en-US" sz="88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08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Interaccion clara versus interaccion fragil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basta con que algo pase. Importa si la respuesta tiene sentido para quien usa la pagina.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914400" y="1993392"/>
            <a:ext cx="4407408" cy="2688336"/>
          </a:xfrm>
          <a:prstGeom prst="roundRect">
            <a:avLst>
              <a:gd name="adj" fmla="val 1361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05840" y="2121408"/>
            <a:ext cx="109728" cy="2432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70432" y="2103120"/>
            <a:ext cx="4059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Interaccion clara</a:t>
            </a:r>
            <a:endParaRPr lang="en-US" sz="1520" dirty="0"/>
          </a:p>
        </p:txBody>
      </p:sp>
      <p:sp>
        <p:nvSpPr>
          <p:cNvPr id="13" name="Text 10"/>
          <p:cNvSpPr/>
          <p:nvPr/>
        </p:nvSpPr>
        <p:spPr>
          <a:xfrm>
            <a:off x="1170432" y="2450592"/>
            <a:ext cx="405993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evento corresponde con la accion del usuario.</a:t>
            </a:r>
            <a:endParaRPr lang="en-US" sz="900" dirty="0"/>
          </a:p>
          <a:p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respuesta aparece donde se espera.</a:t>
            </a:r>
            <a:endParaRPr lang="en-US" sz="900" dirty="0"/>
          </a:p>
          <a:p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consola ayuda a validar sin reemplazar lo visible.</a:t>
            </a:r>
            <a:endParaRPr lang="en-US" sz="900" dirty="0"/>
          </a:p>
          <a:p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interfaz deja entender que ocurrio.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486400" y="1993392"/>
            <a:ext cx="4407408" cy="2688336"/>
          </a:xfrm>
          <a:prstGeom prst="roundRect">
            <a:avLst>
              <a:gd name="adj" fmla="val 1361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577840" y="2121408"/>
            <a:ext cx="109728" cy="24323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742432" y="2103120"/>
            <a:ext cx="4059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Interaccion fragil</a:t>
            </a:r>
            <a:endParaRPr lang="en-US" sz="1520" dirty="0"/>
          </a:p>
        </p:txBody>
      </p:sp>
      <p:sp>
        <p:nvSpPr>
          <p:cNvPr id="17" name="Text 14"/>
          <p:cNvSpPr/>
          <p:nvPr/>
        </p:nvSpPr>
        <p:spPr>
          <a:xfrm>
            <a:off x="5742432" y="2450592"/>
            <a:ext cx="405993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evento se eligio por costumbre y no por criterio.</a:t>
            </a:r>
            <a:endParaRPr lang="en-US" sz="900" dirty="0"/>
          </a:p>
          <a:p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funcion corre, pero nadie entiende la respuesta.</a:t>
            </a:r>
            <a:endParaRPr lang="en-US" sz="900" dirty="0"/>
          </a:p>
          <a:p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acepta la primera version sin probar.</a:t>
            </a:r>
            <a:endParaRPr lang="en-US" sz="900" dirty="0"/>
          </a:p>
          <a:p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comportamiento queda dificil de sostener.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1335024" y="4882896"/>
            <a:ext cx="8193024" cy="274320"/>
          </a:xfrm>
          <a:prstGeom prst="roundRect">
            <a:avLst>
              <a:gd name="adj" fmla="val 13333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426464" y="4974336"/>
            <a:ext cx="91440" cy="9144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627632" y="4960620"/>
            <a:ext cx="75895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calidad de una interaccion se valida en uso real, no en una explicacion bonita.</a:t>
            </a:r>
            <a:endParaRPr lang="en-US" sz="81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08 · Cierre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Cierre de la Clase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Cerramos la entrada inicial a JavaScript como paso desde paginas estaticas hacia interfaces con logica y comportamiento observable.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914400" y="2048256"/>
            <a:ext cx="9144000" cy="1225296"/>
          </a:xfrm>
          <a:prstGeom prst="roundRect">
            <a:avLst>
              <a:gd name="adj" fmla="val 298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15568" y="2212848"/>
            <a:ext cx="874166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JavaScript empieza cuando la interfaz necesita guardar informacion, decidir algo con ella y reaccionar en el momento correcto.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914400" y="3877056"/>
            <a:ext cx="2926080" cy="987552"/>
          </a:xfrm>
          <a:prstGeom prst="roundRect">
            <a:avLst>
              <a:gd name="adj" fmla="val 2778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87552" y="3986784"/>
            <a:ext cx="100584" cy="76809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70432" y="4005072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Del martes deberia quedar</a:t>
            </a:r>
            <a:endParaRPr lang="en-US" sz="1260" dirty="0"/>
          </a:p>
        </p:txBody>
      </p:sp>
      <p:sp>
        <p:nvSpPr>
          <p:cNvPr id="15" name="Text 12"/>
          <p:cNvSpPr/>
          <p:nvPr/>
        </p:nvSpPr>
        <p:spPr>
          <a:xfrm>
            <a:off x="1170432" y="4279392"/>
            <a:ext cx="25968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JavaScript como capa de comportamiento frente a HTML y CSS.</a:t>
            </a:r>
            <a:endParaRPr lang="en-US" sz="880" dirty="0"/>
          </a:p>
        </p:txBody>
      </p:sp>
      <p:sp>
        <p:nvSpPr>
          <p:cNvPr id="16" name="Shape 13"/>
          <p:cNvSpPr/>
          <p:nvPr/>
        </p:nvSpPr>
        <p:spPr>
          <a:xfrm>
            <a:off x="4005072" y="3877056"/>
            <a:ext cx="2926080" cy="987552"/>
          </a:xfrm>
          <a:prstGeom prst="roundRect">
            <a:avLst>
              <a:gd name="adj" fmla="val 2778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078224" y="3986784"/>
            <a:ext cx="100584" cy="76809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261104" y="4005072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es solo sintaxis</a:t>
            </a:r>
            <a:endParaRPr lang="en-US" sz="1260" dirty="0"/>
          </a:p>
        </p:txBody>
      </p:sp>
      <p:sp>
        <p:nvSpPr>
          <p:cNvPr id="19" name="Text 16"/>
          <p:cNvSpPr/>
          <p:nvPr/>
        </p:nvSpPr>
        <p:spPr>
          <a:xfrm>
            <a:off x="4261104" y="4279392"/>
            <a:ext cx="25968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Tambien es lectura de datos, decisiones y reaccion observable.</a:t>
            </a:r>
            <a:endParaRPr lang="en-US" sz="880" dirty="0"/>
          </a:p>
        </p:txBody>
      </p:sp>
      <p:sp>
        <p:nvSpPr>
          <p:cNvPr id="20" name="Shape 17"/>
          <p:cNvSpPr/>
          <p:nvPr/>
        </p:nvSpPr>
        <p:spPr>
          <a:xfrm>
            <a:off x="7095744" y="3877056"/>
            <a:ext cx="2926080" cy="987552"/>
          </a:xfrm>
          <a:prstGeom prst="roundRect">
            <a:avLst>
              <a:gd name="adj" fmla="val 2778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168896" y="3986784"/>
            <a:ext cx="100584" cy="76809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51776" y="4005072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 que habilita</a:t>
            </a:r>
            <a:endParaRPr lang="en-US" sz="1260" dirty="0"/>
          </a:p>
        </p:txBody>
      </p:sp>
      <p:sp>
        <p:nvSpPr>
          <p:cNvPr id="23" name="Text 20"/>
          <p:cNvSpPr/>
          <p:nvPr/>
        </p:nvSpPr>
        <p:spPr>
          <a:xfrm>
            <a:off x="7351776" y="4279392"/>
            <a:ext cx="25968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paso al miercoles: DOM, seleccion de elementos y fetch.</a:t>
            </a:r>
            <a:endParaRPr lang="en-US" sz="88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08 · Cierre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cadena logica del martes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recorrido de la clase no fue una lista de temas sueltos. Fue una secuencia que prepara comportamiento real.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859536" y="1901952"/>
            <a:ext cx="9253728" cy="3438144"/>
          </a:xfrm>
          <a:prstGeom prst="roundRect">
            <a:avLst>
              <a:gd name="adj" fmla="val 106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60704" y="2103120"/>
            <a:ext cx="2596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Del dato a la interactividad</a:t>
            </a:r>
            <a:endParaRPr lang="en-US" sz="1260" dirty="0"/>
          </a:p>
        </p:txBody>
      </p:sp>
      <p:sp>
        <p:nvSpPr>
          <p:cNvPr id="12" name="Shape 9"/>
          <p:cNvSpPr/>
          <p:nvPr/>
        </p:nvSpPr>
        <p:spPr>
          <a:xfrm>
            <a:off x="1060704" y="2670048"/>
            <a:ext cx="2304288" cy="877824"/>
          </a:xfrm>
          <a:prstGeom prst="roundRect">
            <a:avLst>
              <a:gd name="adj" fmla="val 3125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133856" y="2779776"/>
            <a:ext cx="100584" cy="65836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316736" y="2798064"/>
            <a:ext cx="1975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Datos</a:t>
            </a:r>
            <a:endParaRPr lang="en-US" sz="1260" dirty="0"/>
          </a:p>
        </p:txBody>
      </p:sp>
      <p:sp>
        <p:nvSpPr>
          <p:cNvPr id="15" name="Text 12"/>
          <p:cNvSpPr/>
          <p:nvPr/>
        </p:nvSpPr>
        <p:spPr>
          <a:xfrm>
            <a:off x="1316736" y="3072384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valores con los que trabaja el programa</a:t>
            </a:r>
            <a:endParaRPr lang="en-US" sz="820" dirty="0"/>
          </a:p>
        </p:txBody>
      </p:sp>
      <p:sp>
        <p:nvSpPr>
          <p:cNvPr id="16" name="Shape 13"/>
          <p:cNvSpPr/>
          <p:nvPr/>
        </p:nvSpPr>
        <p:spPr>
          <a:xfrm>
            <a:off x="3712464" y="2670048"/>
            <a:ext cx="2304288" cy="877824"/>
          </a:xfrm>
          <a:prstGeom prst="roundRect">
            <a:avLst>
              <a:gd name="adj" fmla="val 3125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785616" y="2779776"/>
            <a:ext cx="100584" cy="65836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968496" y="2798064"/>
            <a:ext cx="1975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Operaciones</a:t>
            </a:r>
            <a:endParaRPr lang="en-US" sz="1260" dirty="0"/>
          </a:p>
        </p:txBody>
      </p:sp>
      <p:sp>
        <p:nvSpPr>
          <p:cNvPr id="19" name="Text 16"/>
          <p:cNvSpPr/>
          <p:nvPr/>
        </p:nvSpPr>
        <p:spPr>
          <a:xfrm>
            <a:off x="3968496" y="3072384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transformar, comparar o combinar informacion</a:t>
            </a:r>
            <a:endParaRPr lang="en-US" sz="820" dirty="0"/>
          </a:p>
        </p:txBody>
      </p:sp>
      <p:sp>
        <p:nvSpPr>
          <p:cNvPr id="20" name="Shape 17"/>
          <p:cNvSpPr/>
          <p:nvPr/>
        </p:nvSpPr>
        <p:spPr>
          <a:xfrm>
            <a:off x="6364224" y="2670048"/>
            <a:ext cx="2304288" cy="877824"/>
          </a:xfrm>
          <a:prstGeom prst="roundRect">
            <a:avLst>
              <a:gd name="adj" fmla="val 3125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437376" y="2779776"/>
            <a:ext cx="100584" cy="65836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620256" y="2798064"/>
            <a:ext cx="1975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Funciones</a:t>
            </a:r>
            <a:endParaRPr lang="en-US" sz="1260" dirty="0"/>
          </a:p>
        </p:txBody>
      </p:sp>
      <p:sp>
        <p:nvSpPr>
          <p:cNvPr id="23" name="Text 20"/>
          <p:cNvSpPr/>
          <p:nvPr/>
        </p:nvSpPr>
        <p:spPr>
          <a:xfrm>
            <a:off x="6620256" y="3072384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agrupar acciones reutilizables</a:t>
            </a:r>
            <a:endParaRPr lang="en-US" sz="820" dirty="0"/>
          </a:p>
        </p:txBody>
      </p:sp>
      <p:sp>
        <p:nvSpPr>
          <p:cNvPr id="24" name="Shape 21"/>
          <p:cNvSpPr/>
          <p:nvPr/>
        </p:nvSpPr>
        <p:spPr>
          <a:xfrm>
            <a:off x="1060704" y="3895344"/>
            <a:ext cx="2304288" cy="877824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133856" y="4005072"/>
            <a:ext cx="100584" cy="65836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316736" y="4023360"/>
            <a:ext cx="1975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Condiciones</a:t>
            </a:r>
            <a:endParaRPr lang="en-US" sz="1260" dirty="0"/>
          </a:p>
        </p:txBody>
      </p:sp>
      <p:sp>
        <p:nvSpPr>
          <p:cNvPr id="27" name="Text 24"/>
          <p:cNvSpPr/>
          <p:nvPr/>
        </p:nvSpPr>
        <p:spPr>
          <a:xfrm>
            <a:off x="1316736" y="4297680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decidir entre caminos posibles</a:t>
            </a:r>
            <a:endParaRPr lang="en-US" sz="820" dirty="0"/>
          </a:p>
        </p:txBody>
      </p:sp>
      <p:sp>
        <p:nvSpPr>
          <p:cNvPr id="28" name="Shape 25"/>
          <p:cNvSpPr/>
          <p:nvPr/>
        </p:nvSpPr>
        <p:spPr>
          <a:xfrm>
            <a:off x="3712464" y="3895344"/>
            <a:ext cx="2304288" cy="877824"/>
          </a:xfrm>
          <a:prstGeom prst="roundRect">
            <a:avLst>
              <a:gd name="adj" fmla="val 3125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785616" y="4005072"/>
            <a:ext cx="100584" cy="65836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968496" y="4023360"/>
            <a:ext cx="1975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Eventos</a:t>
            </a:r>
            <a:endParaRPr lang="en-US" sz="1260" dirty="0"/>
          </a:p>
        </p:txBody>
      </p:sp>
      <p:sp>
        <p:nvSpPr>
          <p:cNvPr id="31" name="Text 28"/>
          <p:cNvSpPr/>
          <p:nvPr/>
        </p:nvSpPr>
        <p:spPr>
          <a:xfrm>
            <a:off x="3968496" y="4297680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disparar esa logica en el momento correcto</a:t>
            </a:r>
            <a:endParaRPr lang="en-US" sz="820" dirty="0"/>
          </a:p>
        </p:txBody>
      </p:sp>
      <p:sp>
        <p:nvSpPr>
          <p:cNvPr id="32" name="Shape 29"/>
          <p:cNvSpPr/>
          <p:nvPr/>
        </p:nvSpPr>
        <p:spPr>
          <a:xfrm>
            <a:off x="6364224" y="3895344"/>
            <a:ext cx="2304288" cy="877824"/>
          </a:xfrm>
          <a:prstGeom prst="roundRect">
            <a:avLst>
              <a:gd name="adj" fmla="val 3125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437376" y="4005072"/>
            <a:ext cx="100584" cy="65836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620256" y="4023360"/>
            <a:ext cx="1975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Interactividad</a:t>
            </a:r>
            <a:endParaRPr lang="en-US" sz="1260" dirty="0"/>
          </a:p>
        </p:txBody>
      </p:sp>
      <p:sp>
        <p:nvSpPr>
          <p:cNvPr id="35" name="Text 32"/>
          <p:cNvSpPr/>
          <p:nvPr/>
        </p:nvSpPr>
        <p:spPr>
          <a:xfrm>
            <a:off x="6620256" y="4297680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respuesta visible para una accion del usuario</a:t>
            </a:r>
            <a:endParaRPr lang="en-US" sz="820" dirty="0"/>
          </a:p>
        </p:txBody>
      </p:sp>
      <p:sp>
        <p:nvSpPr>
          <p:cNvPr id="36" name="Shape 33"/>
          <p:cNvSpPr/>
          <p:nvPr/>
        </p:nvSpPr>
        <p:spPr>
          <a:xfrm>
            <a:off x="3401568" y="2980944"/>
            <a:ext cx="201168" cy="256032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053328" y="2980944"/>
            <a:ext cx="201168" cy="256032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7461504" y="3675888"/>
            <a:ext cx="237744" cy="201168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 rot="5400000">
            <a:off x="7717536" y="3675888"/>
            <a:ext cx="146304" cy="201168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 rot="5400000">
            <a:off x="7717536" y="3877056"/>
            <a:ext cx="146304" cy="201168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3401568" y="4206240"/>
            <a:ext cx="201168" cy="256032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6053328" y="4206240"/>
            <a:ext cx="201168" cy="256032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1024128" y="4882896"/>
            <a:ext cx="8887968" cy="310896"/>
          </a:xfrm>
          <a:prstGeom prst="roundRect">
            <a:avLst>
              <a:gd name="adj" fmla="val 8824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1097280" y="4992624"/>
            <a:ext cx="100584" cy="9144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1280160" y="5010912"/>
            <a:ext cx="8558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08 · Cierre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Ideas que deberian quedar instaladas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Estas son las relaciones que importa poder explicar despues de la clase, no solo recordar de memoria.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914400" y="1993392"/>
            <a:ext cx="4407408" cy="1060704"/>
          </a:xfrm>
          <a:prstGeom prst="roundRect">
            <a:avLst>
              <a:gd name="adj" fmla="val 3448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05840" y="2121408"/>
            <a:ext cx="109728" cy="80467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70432" y="2103120"/>
            <a:ext cx="4059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JavaScript trabaja una capa distinta</a:t>
            </a:r>
            <a:endParaRPr lang="en-US" sz="1420" dirty="0"/>
          </a:p>
        </p:txBody>
      </p:sp>
      <p:sp>
        <p:nvSpPr>
          <p:cNvPr id="13" name="Text 10"/>
          <p:cNvSpPr/>
          <p:nvPr/>
        </p:nvSpPr>
        <p:spPr>
          <a:xfrm>
            <a:off x="1170432" y="2450592"/>
            <a:ext cx="4059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HTML estructura, CSS presenta y JavaScript gobierna comportamiento.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486400" y="1993392"/>
            <a:ext cx="4407408" cy="1060704"/>
          </a:xfrm>
          <a:prstGeom prst="roundRect">
            <a:avLst>
              <a:gd name="adj" fmla="val 3448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577840" y="2121408"/>
            <a:ext cx="109728" cy="80467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742432" y="2103120"/>
            <a:ext cx="4059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Sin datos no hay decisiones</a:t>
            </a:r>
            <a:endParaRPr lang="en-US" sz="1420" dirty="0"/>
          </a:p>
        </p:txBody>
      </p:sp>
      <p:sp>
        <p:nvSpPr>
          <p:cNvPr id="17" name="Text 14"/>
          <p:cNvSpPr/>
          <p:nvPr/>
        </p:nvSpPr>
        <p:spPr>
          <a:xfrm>
            <a:off x="5742432" y="2450592"/>
            <a:ext cx="4059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Variables y tipos permiten representar informacion antes de operar con ella.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914400" y="3310128"/>
            <a:ext cx="4407408" cy="1060704"/>
          </a:xfrm>
          <a:prstGeom prst="roundRect">
            <a:avLst>
              <a:gd name="adj" fmla="val 3448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005840" y="3438144"/>
            <a:ext cx="109728" cy="80467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70432" y="3419856"/>
            <a:ext cx="4059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Las funciones no viven aisladas</a:t>
            </a:r>
            <a:endParaRPr lang="en-US" sz="1420" dirty="0"/>
          </a:p>
        </p:txBody>
      </p:sp>
      <p:sp>
        <p:nvSpPr>
          <p:cNvPr id="21" name="Text 18"/>
          <p:cNvSpPr/>
          <p:nvPr/>
        </p:nvSpPr>
        <p:spPr>
          <a:xfrm>
            <a:off x="1170432" y="3767328"/>
            <a:ext cx="4059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Ayudan a organizar logica que luego puede dispararse en distintos momentos.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5486400" y="3310128"/>
            <a:ext cx="4407408" cy="1060704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577840" y="3438144"/>
            <a:ext cx="109728" cy="80467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742432" y="3419856"/>
            <a:ext cx="4059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evento decide cuando corre la logica</a:t>
            </a:r>
            <a:endParaRPr lang="en-US" sz="1420" dirty="0"/>
          </a:p>
        </p:txBody>
      </p:sp>
      <p:sp>
        <p:nvSpPr>
          <p:cNvPr id="25" name="Text 22"/>
          <p:cNvSpPr/>
          <p:nvPr/>
        </p:nvSpPr>
        <p:spPr>
          <a:xfrm>
            <a:off x="5742432" y="3767328"/>
            <a:ext cx="4059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Click, input y submit conectan codigo con acciones reales del usuario.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1316736" y="4718304"/>
            <a:ext cx="8229600" cy="585216"/>
          </a:xfrm>
          <a:prstGeom prst="roundRect">
            <a:avLst>
              <a:gd name="adj" fmla="val 625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517904" y="4882896"/>
            <a:ext cx="7827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martes instala la base mental. El miercoles empezamos a tocar la interfaz real.</a:t>
            </a:r>
            <a:endParaRPr lang="en-US" sz="152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08 · Cierre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Apoyo con agentes, pero con criterio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clase tambien instala una forma de trabajo: entender la logica, apoyarse con inteligencia y validar comportamiento real.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932688" y="1920240"/>
            <a:ext cx="9125712" cy="3090672"/>
          </a:xfrm>
          <a:prstGeom prst="roundRect">
            <a:avLst>
              <a:gd name="adj" fmla="val 118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60704" y="2048256"/>
            <a:ext cx="8869680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70432" y="2121408"/>
            <a:ext cx="8650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 puede acelerar un agente y que debes seguir validando tu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1078992" y="2487168"/>
            <a:ext cx="3557016" cy="2322576"/>
          </a:xfrm>
          <a:prstGeom prst="roundRect">
            <a:avLst>
              <a:gd name="adj" fmla="val 1575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188720" y="2615184"/>
            <a:ext cx="109728" cy="2066544"/>
          </a:xfrm>
          <a:prstGeom prst="rect">
            <a:avLst/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389888" y="2615184"/>
            <a:ext cx="3118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agente puede ayudar con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389888" y="2889504"/>
            <a:ext cx="3118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apoyo rapido y trabajo repetitivo</a:t>
            </a:r>
            <a:endParaRPr lang="en-US" sz="940" dirty="0"/>
          </a:p>
        </p:txBody>
      </p:sp>
      <p:sp>
        <p:nvSpPr>
          <p:cNvPr id="17" name="Shape 14"/>
          <p:cNvSpPr/>
          <p:nvPr/>
        </p:nvSpPr>
        <p:spPr>
          <a:xfrm>
            <a:off x="1389888" y="3236976"/>
            <a:ext cx="3099816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481328" y="3351276"/>
            <a:ext cx="82296" cy="82296"/>
          </a:xfrm>
          <a:prstGeom prst="ellipse">
            <a:avLst/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627632" y="3282696"/>
            <a:ext cx="2807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Explorar opciones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1389888" y="3675888"/>
            <a:ext cx="3099816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481328" y="3790188"/>
            <a:ext cx="82296" cy="82296"/>
          </a:xfrm>
          <a:prstGeom prst="ellipse">
            <a:avLst/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627632" y="3721608"/>
            <a:ext cx="2807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Pedir una primera version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1389888" y="4114800"/>
            <a:ext cx="3099816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481328" y="4229100"/>
            <a:ext cx="82296" cy="82296"/>
          </a:xfrm>
          <a:prstGeom prst="ellipse">
            <a:avLst/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627632" y="4160520"/>
            <a:ext cx="2807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Detectar repeticion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6355080" y="2487168"/>
            <a:ext cx="3557016" cy="2322576"/>
          </a:xfrm>
          <a:prstGeom prst="roundRect">
            <a:avLst>
              <a:gd name="adj" fmla="val 157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464808" y="2615184"/>
            <a:ext cx="109728" cy="206654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665976" y="2615184"/>
            <a:ext cx="3118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conviene delegar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6665976" y="2889504"/>
            <a:ext cx="3118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criterio, lectura y validacion final</a:t>
            </a:r>
            <a:endParaRPr lang="en-US" sz="940" dirty="0"/>
          </a:p>
        </p:txBody>
      </p:sp>
      <p:sp>
        <p:nvSpPr>
          <p:cNvPr id="30" name="Shape 27"/>
          <p:cNvSpPr/>
          <p:nvPr/>
        </p:nvSpPr>
        <p:spPr>
          <a:xfrm>
            <a:off x="6665976" y="3236976"/>
            <a:ext cx="3099816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757416" y="3351276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903720" y="3282696"/>
            <a:ext cx="2807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Leer el resultado real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6665976" y="3675888"/>
            <a:ext cx="3099816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757416" y="3790188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903720" y="3721608"/>
            <a:ext cx="2807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Validar en herramientas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6665976" y="4114800"/>
            <a:ext cx="3099816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757416" y="4229100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903720" y="4160520"/>
            <a:ext cx="2807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Decidir que se integra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4892040" y="2834640"/>
            <a:ext cx="1207008" cy="1627632"/>
          </a:xfrm>
          <a:prstGeom prst="roundRect">
            <a:avLst>
              <a:gd name="adj" fmla="val 4545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5001768" y="2980944"/>
            <a:ext cx="987552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5074920" y="3401568"/>
            <a:ext cx="841248" cy="164592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056632" y="3026664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Flujo sano</a:t>
            </a:r>
            <a:endParaRPr lang="en-US" sz="1060" dirty="0"/>
          </a:p>
        </p:txBody>
      </p:sp>
      <p:sp>
        <p:nvSpPr>
          <p:cNvPr id="43" name="Text 40"/>
          <p:cNvSpPr/>
          <p:nvPr/>
        </p:nvSpPr>
        <p:spPr>
          <a:xfrm>
            <a:off x="5020056" y="3813048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Intentar, leer y decidir con evidencia.</a:t>
            </a:r>
            <a:endParaRPr lang="en-US" sz="72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08 · Cierre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Puente a la siguiente clase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miercoles sube la densidad tecnica: ya no veremos solo logica inicial, sino trabajo directo sobre la pagina y datos externos.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914400" y="1993392"/>
            <a:ext cx="9144000" cy="1024128"/>
          </a:xfrm>
          <a:prstGeom prst="roundRect">
            <a:avLst>
              <a:gd name="adj" fmla="val 3571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15568" y="2157984"/>
            <a:ext cx="87416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Del comportamiento basico pasamos a manipulacion directa del DOM y consumo inicial de datos con fetch.</a:t>
            </a:r>
            <a:endParaRPr lang="en-US" sz="2020" dirty="0"/>
          </a:p>
        </p:txBody>
      </p:sp>
      <p:sp>
        <p:nvSpPr>
          <p:cNvPr id="12" name="Shape 9"/>
          <p:cNvSpPr/>
          <p:nvPr/>
        </p:nvSpPr>
        <p:spPr>
          <a:xfrm>
            <a:off x="987552" y="3749040"/>
            <a:ext cx="2139696" cy="1078992"/>
          </a:xfrm>
          <a:prstGeom prst="roundRect">
            <a:avLst>
              <a:gd name="adj" fmla="val 2542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60704" y="3858768"/>
            <a:ext cx="100584" cy="85953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243584" y="3877056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DOM</a:t>
            </a:r>
            <a:endParaRPr lang="en-US" sz="1260" dirty="0"/>
          </a:p>
        </p:txBody>
      </p:sp>
      <p:sp>
        <p:nvSpPr>
          <p:cNvPr id="15" name="Text 12"/>
          <p:cNvSpPr/>
          <p:nvPr/>
        </p:nvSpPr>
        <p:spPr>
          <a:xfrm>
            <a:off x="1243584" y="4151376"/>
            <a:ext cx="181051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seleccionar y leer elementos reales de la pagina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3255264" y="3749040"/>
            <a:ext cx="2139696" cy="1078992"/>
          </a:xfrm>
          <a:prstGeom prst="roundRect">
            <a:avLst>
              <a:gd name="adj" fmla="val 2542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328416" y="3858768"/>
            <a:ext cx="100584" cy="85953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511296" y="3877056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Interfaz</a:t>
            </a:r>
            <a:endParaRPr lang="en-US" sz="1260" dirty="0"/>
          </a:p>
        </p:txBody>
      </p:sp>
      <p:sp>
        <p:nvSpPr>
          <p:cNvPr id="19" name="Text 16"/>
          <p:cNvSpPr/>
          <p:nvPr/>
        </p:nvSpPr>
        <p:spPr>
          <a:xfrm>
            <a:off x="3511296" y="4151376"/>
            <a:ext cx="181051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mostrar cambios visibles en respuesta al codigo</a:t>
            </a:r>
            <a:endParaRPr lang="en-US" sz="840" dirty="0"/>
          </a:p>
        </p:txBody>
      </p:sp>
      <p:sp>
        <p:nvSpPr>
          <p:cNvPr id="20" name="Shape 17"/>
          <p:cNvSpPr/>
          <p:nvPr/>
        </p:nvSpPr>
        <p:spPr>
          <a:xfrm>
            <a:off x="5522976" y="3749040"/>
            <a:ext cx="2139696" cy="1078992"/>
          </a:xfrm>
          <a:prstGeom prst="roundRect">
            <a:avLst>
              <a:gd name="adj" fmla="val 2542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596128" y="3858768"/>
            <a:ext cx="100584" cy="85953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779008" y="3877056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fetch</a:t>
            </a:r>
            <a:endParaRPr lang="en-US" sz="1260" dirty="0"/>
          </a:p>
        </p:txBody>
      </p:sp>
      <p:sp>
        <p:nvSpPr>
          <p:cNvPr id="23" name="Text 20"/>
          <p:cNvSpPr/>
          <p:nvPr/>
        </p:nvSpPr>
        <p:spPr>
          <a:xfrm>
            <a:off x="5779008" y="4151376"/>
            <a:ext cx="181051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traer informacion externa y empezar a usarla</a:t>
            </a:r>
            <a:endParaRPr lang="en-US" sz="840" dirty="0"/>
          </a:p>
        </p:txBody>
      </p:sp>
      <p:sp>
        <p:nvSpPr>
          <p:cNvPr id="24" name="Shape 21"/>
          <p:cNvSpPr/>
          <p:nvPr/>
        </p:nvSpPr>
        <p:spPr>
          <a:xfrm>
            <a:off x="7790688" y="3749040"/>
            <a:ext cx="2139696" cy="1078992"/>
          </a:xfrm>
          <a:prstGeom prst="roundRect">
            <a:avLst>
              <a:gd name="adj" fmla="val 254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863840" y="3858768"/>
            <a:ext cx="100584" cy="85953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046720" y="3877056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Depuracion</a:t>
            </a:r>
            <a:endParaRPr lang="en-US" sz="1260" dirty="0"/>
          </a:p>
        </p:txBody>
      </p:sp>
      <p:sp>
        <p:nvSpPr>
          <p:cNvPr id="27" name="Text 24"/>
          <p:cNvSpPr/>
          <p:nvPr/>
        </p:nvSpPr>
        <p:spPr>
          <a:xfrm>
            <a:off x="8046720" y="4151376"/>
            <a:ext cx="181051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seguir validando con consola y navegador</a:t>
            </a:r>
            <a:endParaRPr lang="en-US" sz="840" dirty="0"/>
          </a:p>
        </p:txBody>
      </p:sp>
      <p:sp>
        <p:nvSpPr>
          <p:cNvPr id="28" name="Shape 25"/>
          <p:cNvSpPr/>
          <p:nvPr/>
        </p:nvSpPr>
        <p:spPr>
          <a:xfrm>
            <a:off x="1152144" y="4956048"/>
            <a:ext cx="8668512" cy="384048"/>
          </a:xfrm>
          <a:prstGeom prst="roundRect">
            <a:avLst>
              <a:gd name="adj" fmla="val 9524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225296" y="5056632"/>
            <a:ext cx="91440" cy="9144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389888" y="5029200"/>
            <a:ext cx="8229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 que cambia: el objetivo ya no sera solo entender sintaxis; sera hacer que la pagina responda a elementos y datos concretos.</a:t>
            </a:r>
            <a:endParaRPr lang="en-US" sz="11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60</Slides>
  <Notes>60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</vt:vector>
  </TitlesOfParts>
  <Company>AIEP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JavaScript Base</dc:title>
  <dc:subject>Clase 08</dc:subject>
  <dc:creator>Codex</dc:creator>
  <cp:lastModifiedBy>Codex</cp:lastModifiedBy>
  <cp:revision>1</cp:revision>
  <dcterms:created xsi:type="dcterms:W3CDTF">2026-03-31T02:36:20Z</dcterms:created>
  <dcterms:modified xsi:type="dcterms:W3CDTF">2026-03-31T02:36:20Z</dcterms:modified>
</cp:coreProperties>
</file>