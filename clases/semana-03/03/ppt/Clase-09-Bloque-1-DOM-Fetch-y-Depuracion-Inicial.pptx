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image" Target="../media/image-14-4.png"/><Relationship Id="rId5" Type="http://schemas.openxmlformats.org/officeDocument/2006/relationships/image" Target="../media/image-14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svg"/><Relationship Id="rId4" Type="http://schemas.openxmlformats.org/officeDocument/2006/relationships/image" Target="../media/image-15-4.png"/><Relationship Id="rId5" Type="http://schemas.openxmlformats.org/officeDocument/2006/relationships/image" Target="../media/image-15-5.svg"/><Relationship Id="rId6" Type="http://schemas.openxmlformats.org/officeDocument/2006/relationships/image" Target="../media/image-15-6.png"/><Relationship Id="rId7" Type="http://schemas.openxmlformats.org/officeDocument/2006/relationships/image" Target="../media/image-15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image" Target="../media/image-16-4.png"/><Relationship Id="rId5" Type="http://schemas.openxmlformats.org/officeDocument/2006/relationships/image" Target="../media/image-16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svg"/><Relationship Id="rId4" Type="http://schemas.openxmlformats.org/officeDocument/2006/relationships/image" Target="../media/image-17-4.png"/><Relationship Id="rId5" Type="http://schemas.openxmlformats.org/officeDocument/2006/relationships/image" Target="../media/image-17-5.svg"/><Relationship Id="rId6" Type="http://schemas.openxmlformats.org/officeDocument/2006/relationships/image" Target="../media/image-17-6.png"/><Relationship Id="rId7" Type="http://schemas.openxmlformats.org/officeDocument/2006/relationships/image" Target="../media/image-17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svg"/><Relationship Id="rId4" Type="http://schemas.openxmlformats.org/officeDocument/2006/relationships/image" Target="../media/image-18-4.png"/><Relationship Id="rId5" Type="http://schemas.openxmlformats.org/officeDocument/2006/relationships/image" Target="../media/image-18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svg"/><Relationship Id="rId4" Type="http://schemas.openxmlformats.org/officeDocument/2006/relationships/image" Target="../media/image-19-4.png"/><Relationship Id="rId5" Type="http://schemas.openxmlformats.org/officeDocument/2006/relationships/image" Target="../media/image-19-5.svg"/><Relationship Id="rId6" Type="http://schemas.openxmlformats.org/officeDocument/2006/relationships/image" Target="../media/image-19-6.png"/><Relationship Id="rId7" Type="http://schemas.openxmlformats.org/officeDocument/2006/relationships/image" Target="../media/image-19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svg"/><Relationship Id="rId4" Type="http://schemas.openxmlformats.org/officeDocument/2006/relationships/image" Target="../media/image-29-4.png"/><Relationship Id="rId5" Type="http://schemas.openxmlformats.org/officeDocument/2006/relationships/image" Target="../media/image-29-5.svg"/><Relationship Id="rId6" Type="http://schemas.openxmlformats.org/officeDocument/2006/relationships/image" Target="../media/image-29-6.png"/><Relationship Id="rId7" Type="http://schemas.openxmlformats.org/officeDocument/2006/relationships/image" Target="../media/image-29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797723"/>
            <a:ext cx="194219" cy="4531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610" y="603504"/>
            <a:ext cx="237378" cy="64739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1148" y="797723"/>
            <a:ext cx="194219" cy="4531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5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4" y="530352"/>
            <a:ext cx="694944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6192" y="694944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1</a:t>
            </a:r>
            <a:endParaRPr lang="en-US" sz="1120" dirty="0"/>
          </a:p>
        </p:txBody>
      </p:sp>
      <p:sp>
        <p:nvSpPr>
          <p:cNvPr id="7" name="Text 4"/>
          <p:cNvSpPr/>
          <p:nvPr/>
        </p:nvSpPr>
        <p:spPr>
          <a:xfrm>
            <a:off x="713232" y="1335024"/>
            <a:ext cx="5358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DOM como documento vivo</a:t>
            </a:r>
            <a:endParaRPr lang="en-US" sz="2480" dirty="0"/>
          </a:p>
        </p:txBody>
      </p:sp>
      <p:sp>
        <p:nvSpPr>
          <p:cNvPr id="8" name="Text 5"/>
          <p:cNvSpPr/>
          <p:nvPr/>
        </p:nvSpPr>
        <p:spPr>
          <a:xfrm>
            <a:off x="713232" y="2212848"/>
            <a:ext cx="4828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deja de ser solo un archivo estático: ahora el navegador muestra una estructura viva que puede inspeccionarse, seleccionarse y modificarse con evidencia.</a:t>
            </a:r>
            <a:endParaRPr lang="en-US" sz="1160" dirty="0"/>
          </a:p>
        </p:txBody>
      </p:sp>
      <p:sp>
        <p:nvSpPr>
          <p:cNvPr id="9" name="Shape 6"/>
          <p:cNvSpPr/>
          <p:nvPr/>
        </p:nvSpPr>
        <p:spPr>
          <a:xfrm>
            <a:off x="713232" y="3127248"/>
            <a:ext cx="4919472" cy="1097280"/>
          </a:xfrm>
          <a:prstGeom prst="roundRect">
            <a:avLst>
              <a:gd name="adj" fmla="val 3333"/>
            </a:avLst>
          </a:prstGeom>
          <a:solidFill>
            <a:srgbClr val="29486F"/>
          </a:solidFill>
          <a:ln w="12700">
            <a:solidFill>
              <a:srgbClr val="2948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3456432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DOM es la versión viva del documento con la que JavaScript realmente trabaja.</a:t>
            </a:r>
            <a:endParaRPr lang="en-US" sz="1820" dirty="0"/>
          </a:p>
        </p:txBody>
      </p:sp>
      <p:sp>
        <p:nvSpPr>
          <p:cNvPr id="11" name="Shape 8"/>
          <p:cNvSpPr/>
          <p:nvPr/>
        </p:nvSpPr>
        <p:spPr>
          <a:xfrm>
            <a:off x="713232" y="4828032"/>
            <a:ext cx="2596896" cy="749808"/>
          </a:xfrm>
          <a:prstGeom prst="roundRect">
            <a:avLst>
              <a:gd name="adj" fmla="val 4878"/>
            </a:avLst>
          </a:prstGeom>
          <a:solidFill>
            <a:srgbClr val="355B8E"/>
          </a:solidFill>
          <a:ln w="12700">
            <a:solidFill>
              <a:srgbClr val="355B8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9536" y="5010912"/>
            <a:ext cx="73152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0704" y="499262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Miércoles 1 de abril de 2026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10:50 - 13:10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91072" y="1298448"/>
            <a:ext cx="4882896" cy="4279392"/>
          </a:xfrm>
          <a:prstGeom prst="roundRect">
            <a:avLst>
              <a:gd name="adj" fmla="val 855"/>
            </a:avLst>
          </a:prstGeom>
          <a:solidFill>
            <a:srgbClr val="F8F3EC"/>
          </a:solidFill>
          <a:ln w="12700">
            <a:solidFill>
              <a:srgbClr val="F8F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65392" y="162763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del bloque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6565392" y="2066544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fuente</a:t>
            </a:r>
            <a:endParaRPr lang="en-US" sz="1620" dirty="0"/>
          </a:p>
        </p:txBody>
      </p:sp>
      <p:sp>
        <p:nvSpPr>
          <p:cNvPr id="17" name="Text 14"/>
          <p:cNvSpPr/>
          <p:nvPr/>
        </p:nvSpPr>
        <p:spPr>
          <a:xfrm>
            <a:off x="6565392" y="2359152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escrito en el archivo antes de que el navegador lo interprete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8503920" y="2304288"/>
            <a:ext cx="256032" cy="31089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06256" y="206654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 vivo</a:t>
            </a:r>
            <a:endParaRPr lang="en-US" sz="1620" dirty="0"/>
          </a:p>
        </p:txBody>
      </p:sp>
      <p:sp>
        <p:nvSpPr>
          <p:cNvPr id="20" name="Text 17"/>
          <p:cNvSpPr/>
          <p:nvPr/>
        </p:nvSpPr>
        <p:spPr>
          <a:xfrm>
            <a:off x="8906256" y="235915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jerarquía real que DevTools deja inspeccionar y que JavaScript puede recorrer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8503920" y="3419856"/>
            <a:ext cx="256032" cy="31089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06256" y="318211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Selectores</a:t>
            </a:r>
            <a:endParaRPr lang="en-US" sz="1620" dirty="0"/>
          </a:p>
        </p:txBody>
      </p:sp>
      <p:sp>
        <p:nvSpPr>
          <p:cNvPr id="23" name="Text 20"/>
          <p:cNvSpPr/>
          <p:nvPr/>
        </p:nvSpPr>
        <p:spPr>
          <a:xfrm>
            <a:off x="8906256" y="347472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apuntan a nodos concretos para leer contenido y preparar cambios visibles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6565392" y="4425696"/>
            <a:ext cx="4078224" cy="822960"/>
          </a:xfrm>
          <a:prstGeom prst="roundRect">
            <a:avLst>
              <a:gd name="adj" fmla="val 444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84848" y="4681728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document.querySelector("h1")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sesión avanza desde el modelo mental del DOM hacia operaciones visibles, datos externos y debugging inicial.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94560"/>
            <a:ext cx="2066544" cy="1463040"/>
          </a:xfrm>
          <a:prstGeom prst="roundRect">
            <a:avLst>
              <a:gd name="adj" fmla="val 25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2322576"/>
            <a:ext cx="20665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40" dirty="0"/>
          </a:p>
        </p:txBody>
      </p:sp>
      <p:sp>
        <p:nvSpPr>
          <p:cNvPr id="12" name="Text 9"/>
          <p:cNvSpPr/>
          <p:nvPr/>
        </p:nvSpPr>
        <p:spPr>
          <a:xfrm>
            <a:off x="1078992" y="2651760"/>
            <a:ext cx="17739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 como documento vivo</a:t>
            </a:r>
            <a:endParaRPr lang="en-US" sz="1480" dirty="0"/>
          </a:p>
        </p:txBody>
      </p:sp>
      <p:sp>
        <p:nvSpPr>
          <p:cNvPr id="13" name="Shape 10"/>
          <p:cNvSpPr/>
          <p:nvPr/>
        </p:nvSpPr>
        <p:spPr>
          <a:xfrm>
            <a:off x="3182112" y="2761488"/>
            <a:ext cx="164592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56432" y="2194560"/>
            <a:ext cx="2066544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2322576"/>
            <a:ext cx="20665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3602736" y="2651760"/>
            <a:ext cx="17739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Seleccionar, leer y modificar</a:t>
            </a:r>
            <a:endParaRPr lang="en-US" sz="1480" dirty="0"/>
          </a:p>
        </p:txBody>
      </p:sp>
      <p:sp>
        <p:nvSpPr>
          <p:cNvPr id="17" name="Shape 14"/>
          <p:cNvSpPr/>
          <p:nvPr/>
        </p:nvSpPr>
        <p:spPr>
          <a:xfrm>
            <a:off x="5705856" y="2761488"/>
            <a:ext cx="164592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80176" y="2194560"/>
            <a:ext cx="2066544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0176" y="2322576"/>
            <a:ext cx="20665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40" dirty="0"/>
          </a:p>
        </p:txBody>
      </p:sp>
      <p:sp>
        <p:nvSpPr>
          <p:cNvPr id="20" name="Text 17"/>
          <p:cNvSpPr/>
          <p:nvPr/>
        </p:nvSpPr>
        <p:spPr>
          <a:xfrm>
            <a:off x="6126480" y="2651760"/>
            <a:ext cx="17739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fetch y consumo simple de datos</a:t>
            </a:r>
            <a:endParaRPr lang="en-US" sz="1480" dirty="0"/>
          </a:p>
        </p:txBody>
      </p:sp>
      <p:sp>
        <p:nvSpPr>
          <p:cNvPr id="21" name="Shape 18"/>
          <p:cNvSpPr/>
          <p:nvPr/>
        </p:nvSpPr>
        <p:spPr>
          <a:xfrm>
            <a:off x="8229600" y="2761488"/>
            <a:ext cx="164592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03920" y="2194560"/>
            <a:ext cx="2066544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03920" y="2322576"/>
            <a:ext cx="20665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8650224" y="2651760"/>
            <a:ext cx="17739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Depuración y evidencia</a:t>
            </a:r>
            <a:endParaRPr lang="en-US" sz="1360" dirty="0"/>
          </a:p>
        </p:txBody>
      </p:sp>
      <p:sp>
        <p:nvSpPr>
          <p:cNvPr id="25" name="Shape 22"/>
          <p:cNvSpPr/>
          <p:nvPr/>
        </p:nvSpPr>
        <p:spPr>
          <a:xfrm>
            <a:off x="1152144" y="4169664"/>
            <a:ext cx="9125712" cy="1170432"/>
          </a:xfrm>
          <a:prstGeom prst="roundRect">
            <a:avLst>
              <a:gd name="adj" fmla="val 312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243584" y="4297680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408176" y="427939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idea rectora del miércoles</a:t>
            </a:r>
            <a:endParaRPr lang="en-US" sz="1640" dirty="0"/>
          </a:p>
        </p:txBody>
      </p:sp>
      <p:sp>
        <p:nvSpPr>
          <p:cNvPr id="28" name="Text 25"/>
          <p:cNvSpPr/>
          <p:nvPr/>
        </p:nvSpPr>
        <p:spPr>
          <a:xfrm>
            <a:off x="1408176" y="462686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página ya no se observa solo como estructura y estilo. Se empieza a leer como un sistema donde DOM, código, datos y herramientas del navegador se conectan y se comprueban con evidencia.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y DOM no son exactamente lo mismo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archivo es la fuente. El DOM es la estructura viva que el navegador arma en memoria y que JavaScript puede recorrer.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87552" y="2139696"/>
            <a:ext cx="4169664" cy="2176272"/>
          </a:xfrm>
          <a:prstGeom prst="roundRect">
            <a:avLst>
              <a:gd name="adj" fmla="val 16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267712"/>
            <a:ext cx="109728" cy="19202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24942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en el archivo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43584" y="2596896"/>
            <a:ext cx="382219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el documento escrito por la persona que desarrolla. Contiene etiquetas, atributos y contenido, pero todavía no es la interfaz viva sobre la que el navegador y JavaScript operan.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358384" y="2962656"/>
            <a:ext cx="256032" cy="32918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97296" y="2139696"/>
            <a:ext cx="4169664" cy="2176272"/>
          </a:xfrm>
          <a:prstGeom prst="roundRect">
            <a:avLst>
              <a:gd name="adj" fmla="val 16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88736" y="2267712"/>
            <a:ext cx="109728" cy="19202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24942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 en el navegador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053328" y="2596896"/>
            <a:ext cx="382219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representación viva del documento. Aquí ya existe una jerarquía que DevTools deja inspeccionar y que JavaScript puede seleccionar, leer y modificar.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1097280" y="4718304"/>
            <a:ext cx="8833104" cy="713232"/>
          </a:xfrm>
          <a:prstGeom prst="roundRect">
            <a:avLst>
              <a:gd name="adj" fmla="val 512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98448" y="4882896"/>
            <a:ext cx="8430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Pensar en DOM cambia la pregunta: ya no es “qué etiquetas escribí”, sino “qué estructura real está viendo y manipulando el navegador”.</a:t>
            </a:r>
            <a:endParaRPr lang="en-US" sz="15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DOM se entiende mejor como un árbol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no es una superficie plana. Es una jerarquía de nodos donde cada elemento vive dentro de otro y ocupa un lugar concreto.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048256"/>
            <a:ext cx="4791456" cy="3255264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176272"/>
            <a:ext cx="453542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240280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Jerarquía del documento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97280" y="256032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nodo vive dentro de otro y puede inspeccionarse.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152144" y="2926080"/>
            <a:ext cx="4279392" cy="2194560"/>
          </a:xfrm>
          <a:prstGeom prst="roundRect">
            <a:avLst>
              <a:gd name="adj" fmla="val 1250"/>
            </a:avLst>
          </a:prstGeom>
          <a:solidFill>
            <a:srgbClr val="F8F3EC"/>
          </a:solidFill>
          <a:ln w="12700">
            <a:solidFill>
              <a:srgbClr val="F8F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27632" y="3017520"/>
            <a:ext cx="0" cy="201168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38528" y="3017520"/>
            <a:ext cx="0" cy="201168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49424" y="3017520"/>
            <a:ext cx="0" cy="201168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52144" y="3145536"/>
            <a:ext cx="73152" cy="731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316736" y="3017520"/>
            <a:ext cx="1207008" cy="329184"/>
          </a:xfrm>
          <a:prstGeom prst="roundRect">
            <a:avLst>
              <a:gd name="adj" fmla="val 8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89888" y="307238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2651760" y="3063240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</a:t>
            </a:r>
            <a:endParaRPr lang="en-US" sz="910" dirty="0"/>
          </a:p>
        </p:txBody>
      </p:sp>
      <p:sp>
        <p:nvSpPr>
          <p:cNvPr id="22" name="Shape 19"/>
          <p:cNvSpPr/>
          <p:nvPr/>
        </p:nvSpPr>
        <p:spPr>
          <a:xfrm>
            <a:off x="1499616" y="3584448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463040" y="3547872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27632" y="3419856"/>
            <a:ext cx="804672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700784" y="34747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2560320" y="3465576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 visible</a:t>
            </a:r>
            <a:endParaRPr lang="en-US" sz="910" dirty="0"/>
          </a:p>
        </p:txBody>
      </p:sp>
      <p:sp>
        <p:nvSpPr>
          <p:cNvPr id="27" name="Shape 24"/>
          <p:cNvSpPr/>
          <p:nvPr/>
        </p:nvSpPr>
        <p:spPr>
          <a:xfrm>
            <a:off x="1810512" y="3986784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773936" y="3950208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938528" y="3822192"/>
            <a:ext cx="804672" cy="329184"/>
          </a:xfrm>
          <a:prstGeom prst="roundRect">
            <a:avLst>
              <a:gd name="adj" fmla="val 83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11680" y="38770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</a:t>
            </a:r>
            <a:endParaRPr lang="en-US" sz="960" dirty="0"/>
          </a:p>
        </p:txBody>
      </p:sp>
      <p:sp>
        <p:nvSpPr>
          <p:cNvPr id="31" name="Text 28"/>
          <p:cNvSpPr/>
          <p:nvPr/>
        </p:nvSpPr>
        <p:spPr>
          <a:xfrm>
            <a:off x="2871216" y="38679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 principal</a:t>
            </a:r>
            <a:endParaRPr lang="en-US" sz="910" dirty="0"/>
          </a:p>
        </p:txBody>
      </p:sp>
      <p:sp>
        <p:nvSpPr>
          <p:cNvPr id="32" name="Shape 29"/>
          <p:cNvSpPr/>
          <p:nvPr/>
        </p:nvSpPr>
        <p:spPr>
          <a:xfrm>
            <a:off x="2121408" y="4389120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084832" y="4352544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249424" y="4224528"/>
            <a:ext cx="603504" cy="329184"/>
          </a:xfrm>
          <a:prstGeom prst="roundRect">
            <a:avLst>
              <a:gd name="adj" fmla="val 8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322576" y="4279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</a:t>
            </a:r>
            <a:endParaRPr lang="en-US" sz="960" dirty="0"/>
          </a:p>
        </p:txBody>
      </p:sp>
      <p:sp>
        <p:nvSpPr>
          <p:cNvPr id="36" name="Text 33"/>
          <p:cNvSpPr/>
          <p:nvPr/>
        </p:nvSpPr>
        <p:spPr>
          <a:xfrm>
            <a:off x="2980944" y="42702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nodo seleccionable</a:t>
            </a:r>
            <a:endParaRPr lang="en-US" sz="910" dirty="0"/>
          </a:p>
        </p:txBody>
      </p:sp>
      <p:sp>
        <p:nvSpPr>
          <p:cNvPr id="37" name="Shape 34"/>
          <p:cNvSpPr/>
          <p:nvPr/>
        </p:nvSpPr>
        <p:spPr>
          <a:xfrm>
            <a:off x="2121408" y="4791456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084832" y="475488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249424" y="4626864"/>
            <a:ext cx="1005840" cy="329184"/>
          </a:xfrm>
          <a:prstGeom prst="roundRect">
            <a:avLst>
              <a:gd name="adj" fmla="val 83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322576" y="4681728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</a:t>
            </a:r>
            <a:endParaRPr lang="en-US" sz="960" dirty="0"/>
          </a:p>
        </p:txBody>
      </p:sp>
      <p:sp>
        <p:nvSpPr>
          <p:cNvPr id="41" name="Text 38"/>
          <p:cNvSpPr/>
          <p:nvPr/>
        </p:nvSpPr>
        <p:spPr>
          <a:xfrm>
            <a:off x="3383280" y="467258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nodo interactivo</a:t>
            </a:r>
            <a:endParaRPr lang="en-US" sz="910" dirty="0"/>
          </a:p>
        </p:txBody>
      </p:sp>
      <p:sp>
        <p:nvSpPr>
          <p:cNvPr id="42" name="Shape 39"/>
          <p:cNvSpPr/>
          <p:nvPr/>
        </p:nvSpPr>
        <p:spPr>
          <a:xfrm>
            <a:off x="5980176" y="2084832"/>
            <a:ext cx="3767328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71616" y="2212848"/>
            <a:ext cx="109728" cy="10058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36208" y="2194560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instala este modelo</a:t>
            </a:r>
            <a:endParaRPr lang="en-US" sz="1560" dirty="0"/>
          </a:p>
        </p:txBody>
      </p:sp>
      <p:sp>
        <p:nvSpPr>
          <p:cNvPr id="45" name="Text 42"/>
          <p:cNvSpPr/>
          <p:nvPr/>
        </p:nvSpPr>
        <p:spPr>
          <a:xfrm>
            <a:off x="6236208" y="2542032"/>
            <a:ext cx="3419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página deja de sentirse mágica cuando se reconoce que cada cambio ocurre sobre un nodo específico de una jerarquía real.</a:t>
            </a:r>
            <a:endParaRPr lang="en-US" sz="920" dirty="0"/>
          </a:p>
        </p:txBody>
      </p:sp>
      <p:sp>
        <p:nvSpPr>
          <p:cNvPr id="46" name="Shape 43"/>
          <p:cNvSpPr/>
          <p:nvPr/>
        </p:nvSpPr>
        <p:spPr>
          <a:xfrm>
            <a:off x="5980176" y="3584448"/>
            <a:ext cx="1737360" cy="1078992"/>
          </a:xfrm>
          <a:prstGeom prst="roundRect">
            <a:avLst>
              <a:gd name="adj" fmla="val 254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053328" y="3694176"/>
            <a:ext cx="100584" cy="859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236208" y="37124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Inspección</a:t>
            </a:r>
            <a:endParaRPr lang="en-US" sz="1160" dirty="0"/>
          </a:p>
        </p:txBody>
      </p:sp>
      <p:sp>
        <p:nvSpPr>
          <p:cNvPr id="49" name="Text 46"/>
          <p:cNvSpPr/>
          <p:nvPr/>
        </p:nvSpPr>
        <p:spPr>
          <a:xfrm>
            <a:off x="6236208" y="3986784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dónde está el nodo antes de tocar código.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8010144" y="3584448"/>
            <a:ext cx="1737360" cy="1078992"/>
          </a:xfrm>
          <a:prstGeom prst="roundRect">
            <a:avLst>
              <a:gd name="adj" fmla="val 254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083296" y="3694176"/>
            <a:ext cx="100584" cy="859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266176" y="37124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Selección</a:t>
            </a:r>
            <a:endParaRPr lang="en-US" sz="1160" dirty="0"/>
          </a:p>
        </p:txBody>
      </p:sp>
      <p:sp>
        <p:nvSpPr>
          <p:cNvPr id="53" name="Text 50"/>
          <p:cNvSpPr/>
          <p:nvPr/>
        </p:nvSpPr>
        <p:spPr>
          <a:xfrm>
            <a:off x="8266176" y="3986784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apuntar con criterio al elemento correcto.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980176" y="4736592"/>
            <a:ext cx="3767328" cy="713232"/>
          </a:xfrm>
          <a:prstGeom prst="roundRect">
            <a:avLst>
              <a:gd name="adj" fmla="val 384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053328" y="4846320"/>
            <a:ext cx="100584" cy="4937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236208" y="486460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</a:t>
            </a:r>
            <a:endParaRPr lang="en-US" sz="1180" dirty="0"/>
          </a:p>
        </p:txBody>
      </p:sp>
      <p:sp>
        <p:nvSpPr>
          <p:cNvPr id="57" name="Text 54"/>
          <p:cNvSpPr/>
          <p:nvPr/>
        </p:nvSpPr>
        <p:spPr>
          <a:xfrm>
            <a:off x="6236208" y="513892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DOM no es teoría aparte: es la estructura que conecta HTML, DevTools y JavaScript.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 deja ver el DOM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seleccionar o modificar algo, conviene abrir el panel de elementos y comprobar qué estructura existe de verdad.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048256"/>
            <a:ext cx="5870448" cy="3529584"/>
          </a:xfrm>
          <a:prstGeom prst="roundRect">
            <a:avLst>
              <a:gd name="adj" fmla="val 1036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048256"/>
            <a:ext cx="5870448" cy="256032"/>
          </a:xfrm>
          <a:prstGeom prst="roundRect">
            <a:avLst>
              <a:gd name="adj" fmla="val 1071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2139696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8992" y="2139696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70432" y="2139696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25296" y="2130552"/>
            <a:ext cx="5413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 · Elements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1024128" y="2432304"/>
            <a:ext cx="2230770" cy="2999232"/>
          </a:xfrm>
          <a:prstGeom prst="roundRect">
            <a:avLst>
              <a:gd name="adj" fmla="val 16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2560320"/>
            <a:ext cx="204789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&lt;body&gt;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1115568" y="2816352"/>
            <a:ext cx="204789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&lt;main&gt;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115568" y="3072384"/>
            <a:ext cx="204789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620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&lt;h1 id="titulo"&gt;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1115568" y="3328416"/>
            <a:ext cx="204789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0BC5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&lt;button&gt;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3382914" y="2432304"/>
            <a:ext cx="3255630" cy="2999232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10930" y="2560320"/>
            <a:ext cx="299959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Nodo inspeccionado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510930" y="2834640"/>
            <a:ext cx="2999598" cy="402336"/>
          </a:xfrm>
          <a:prstGeom prst="roundRect">
            <a:avLst>
              <a:gd name="adj" fmla="val 909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84082" y="2971800"/>
            <a:ext cx="2853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h1#titulo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3529218" y="3438144"/>
            <a:ext cx="29630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ves jerarquía, id, clase y posición real dentro del documento.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7040880" y="2121408"/>
            <a:ext cx="2907792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32320" y="2249424"/>
            <a:ext cx="109728" cy="9692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96912" y="22311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mirar primero</a:t>
            </a:r>
            <a:endParaRPr lang="en-US" sz="1520" dirty="0"/>
          </a:p>
        </p:txBody>
      </p:sp>
      <p:sp>
        <p:nvSpPr>
          <p:cNvPr id="29" name="Text 26"/>
          <p:cNvSpPr/>
          <p:nvPr/>
        </p:nvSpPr>
        <p:spPr>
          <a:xfrm>
            <a:off x="7296912" y="25786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jerarquía, ids, clases, contenedores y el lugar exacto donde vive el nodo que quieres leer.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7040880" y="3584448"/>
            <a:ext cx="2907792" cy="841248"/>
          </a:xfrm>
          <a:prstGeom prst="roundRect">
            <a:avLst>
              <a:gd name="adj" fmla="val 32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14032" y="3694176"/>
            <a:ext cx="100584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96912" y="371246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 sana</a:t>
            </a:r>
            <a:endParaRPr lang="en-US" sz="1180" dirty="0"/>
          </a:p>
        </p:txBody>
      </p:sp>
      <p:sp>
        <p:nvSpPr>
          <p:cNvPr id="33" name="Text 30"/>
          <p:cNvSpPr/>
          <p:nvPr/>
        </p:nvSpPr>
        <p:spPr>
          <a:xfrm>
            <a:off x="7296912" y="398678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mirar primero el DOM real reduce mucho los selectores mal planteados.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7040880" y="4590288"/>
            <a:ext cx="2907792" cy="841248"/>
          </a:xfrm>
          <a:prstGeom prst="roundRect">
            <a:avLst>
              <a:gd name="adj" fmla="val 32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14032" y="4700016"/>
            <a:ext cx="100584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296912" y="471830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común</a:t>
            </a:r>
            <a:endParaRPr lang="en-US" sz="1180" dirty="0"/>
          </a:p>
        </p:txBody>
      </p:sp>
      <p:sp>
        <p:nvSpPr>
          <p:cNvPr id="37" name="Text 34"/>
          <p:cNvSpPr/>
          <p:nvPr/>
        </p:nvSpPr>
        <p:spPr>
          <a:xfrm>
            <a:off x="7296912" y="499262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intentar modificar la interfaz sin comprobar antes qué nodo existe realmente.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Seleccionar un nodo es el primer gesto técnico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punto no es memorizar un selector: es entender que JavaScript obtiene una referencia a un elemento concreto del DOM.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084832"/>
            <a:ext cx="4425696" cy="2980944"/>
          </a:xfrm>
          <a:prstGeom prst="roundRect">
            <a:avLst>
              <a:gd name="adj" fmla="val 122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194560"/>
            <a:ext cx="416966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267712"/>
            <a:ext cx="3950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Selector inicial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856" y="2651760"/>
            <a:ext cx="4005072" cy="22311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32704" y="2121408"/>
            <a:ext cx="4187952" cy="2340864"/>
          </a:xfrm>
          <a:prstGeom prst="roundRect">
            <a:avLst>
              <a:gd name="adj" fmla="val 1563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97296" y="226771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Interfaz observada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797296" y="2633472"/>
            <a:ext cx="3858768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43600" y="2788920"/>
            <a:ext cx="3547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Título principal del proyecto</a:t>
            </a:r>
            <a:endParaRPr lang="en-US" sz="1520" dirty="0"/>
          </a:p>
        </p:txBody>
      </p:sp>
      <p:sp>
        <p:nvSpPr>
          <p:cNvPr id="18" name="Shape 14"/>
          <p:cNvSpPr/>
          <p:nvPr/>
        </p:nvSpPr>
        <p:spPr>
          <a:xfrm>
            <a:off x="5632704" y="4626864"/>
            <a:ext cx="4187952" cy="804672"/>
          </a:xfrm>
          <a:prstGeom prst="roundRect">
            <a:avLst>
              <a:gd name="adj" fmla="val 340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05856" y="4736592"/>
            <a:ext cx="100584" cy="585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88736" y="475488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deja claro el ejemplo</a:t>
            </a:r>
            <a:endParaRPr lang="en-US" sz="1180" dirty="0"/>
          </a:p>
        </p:txBody>
      </p:sp>
      <p:sp>
        <p:nvSpPr>
          <p:cNvPr id="21" name="Text 17"/>
          <p:cNvSpPr/>
          <p:nvPr/>
        </p:nvSpPr>
        <p:spPr>
          <a:xfrm>
            <a:off x="5888736" y="50292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estamos cambiando la página “entera”; estamos obteniendo una referencia al nodo correcto para observarlo o prepararlo para un cambio.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y modificar el DOM sigue una cadena clara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cambio visible aparece cuando se selecciona el nodo correcto, se toca la propiedad adecuada y luego se valida el resultado.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03120"/>
            <a:ext cx="9070848" cy="3346704"/>
          </a:xfrm>
          <a:prstGeom prst="roundRect">
            <a:avLst>
              <a:gd name="adj" fmla="val 109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31136"/>
            <a:ext cx="881481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042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Selector -&gt; mutacion -&gt; resultado visible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133856" y="2798064"/>
            <a:ext cx="2791968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33856" y="2798064"/>
            <a:ext cx="73152" cy="18288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80160" y="29443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9164" y="3023372"/>
            <a:ext cx="280904" cy="280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10512" y="2999232"/>
            <a:ext cx="1950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Selector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1280160" y="3511296"/>
            <a:ext cx="2499360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353312" y="3630168"/>
            <a:ext cx="2353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document.querySelector(...)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280160" y="4059936"/>
            <a:ext cx="249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Ubica el nodo correcto dentro del DOM real.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953256" y="3593592"/>
            <a:ext cx="91440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072128" y="2798064"/>
            <a:ext cx="2791968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072128" y="2798064"/>
            <a:ext cx="73152" cy="18288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218432" y="29443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97436" y="3023372"/>
            <a:ext cx="280904" cy="2809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48784" y="2999232"/>
            <a:ext cx="1950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Mutación</a:t>
            </a:r>
            <a:endParaRPr lang="en-US" sz="1120" dirty="0"/>
          </a:p>
        </p:txBody>
      </p:sp>
      <p:sp>
        <p:nvSpPr>
          <p:cNvPr id="27" name="Shape 22"/>
          <p:cNvSpPr/>
          <p:nvPr/>
        </p:nvSpPr>
        <p:spPr>
          <a:xfrm>
            <a:off x="4218432" y="3511296"/>
            <a:ext cx="2499360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291584" y="3630168"/>
            <a:ext cx="2353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nodo.textContent = ...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218432" y="4059936"/>
            <a:ext cx="249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 una propiedad observable del elemento.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6891528" y="3593592"/>
            <a:ext cx="91440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010400" y="2798064"/>
            <a:ext cx="2791968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010400" y="2798064"/>
            <a:ext cx="73152" cy="18288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156704" y="29443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5708" y="3023372"/>
            <a:ext cx="280904" cy="28090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687056" y="2999232"/>
            <a:ext cx="1950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120" dirty="0"/>
          </a:p>
        </p:txBody>
      </p:sp>
      <p:sp>
        <p:nvSpPr>
          <p:cNvPr id="36" name="Shape 30"/>
          <p:cNvSpPr/>
          <p:nvPr/>
        </p:nvSpPr>
        <p:spPr>
          <a:xfrm>
            <a:off x="7156704" y="3511296"/>
            <a:ext cx="2499360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229856" y="3630168"/>
            <a:ext cx="2353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interfaz se actualiza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7156704" y="4059936"/>
            <a:ext cx="249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cambio debe verse y también poder comprobarse.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1115568" y="5285232"/>
            <a:ext cx="8705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se ubica el nodo. Después se cambia algo concreto. Recién ahí la interfaz responde.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DOM también se valida con evidencia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lectura o un selector suena correcto pero no coincide con lo que ves en el navegador, todavía no está validado.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103120"/>
            <a:ext cx="9107424" cy="329184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231136"/>
            <a:ext cx="885139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0428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Dónde comprobar que el DOM está bien leído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97280" y="2670048"/>
            <a:ext cx="280416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" y="2670048"/>
            <a:ext cx="73152" cy="17373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43584" y="281635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2588" y="2895356"/>
            <a:ext cx="280904" cy="280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73936" y="2871216"/>
            <a:ext cx="1962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Elements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243584" y="3401568"/>
            <a:ext cx="2511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 si el nodo existe y si la jerarquía coincide con lo que supones.</a:t>
            </a:r>
            <a:endParaRPr lang="en-US" sz="780" dirty="0"/>
          </a:p>
        </p:txBody>
      </p:sp>
      <p:sp>
        <p:nvSpPr>
          <p:cNvPr id="19" name="Shape 15"/>
          <p:cNvSpPr/>
          <p:nvPr/>
        </p:nvSpPr>
        <p:spPr>
          <a:xfrm>
            <a:off x="1243584" y="3913632"/>
            <a:ext cx="2511552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316736" y="3995928"/>
            <a:ext cx="2365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¿Ese elemento vive donde creías?</a:t>
            </a:r>
            <a:endParaRPr lang="en-US" sz="720" dirty="0"/>
          </a:p>
        </p:txBody>
      </p:sp>
      <p:sp>
        <p:nvSpPr>
          <p:cNvPr id="21" name="Shape 17"/>
          <p:cNvSpPr/>
          <p:nvPr/>
        </p:nvSpPr>
        <p:spPr>
          <a:xfrm>
            <a:off x="4047744" y="2670048"/>
            <a:ext cx="280416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047744" y="2670048"/>
            <a:ext cx="73152" cy="17373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194048" y="281635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3052" y="2895356"/>
            <a:ext cx="280904" cy="28090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24400" y="2871216"/>
            <a:ext cx="1962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Console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194048" y="3401568"/>
            <a:ext cx="2511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 qué devuelve el selector y qué valor está leyendo el script.</a:t>
            </a:r>
            <a:endParaRPr lang="en-US" sz="780" dirty="0"/>
          </a:p>
        </p:txBody>
      </p:sp>
      <p:sp>
        <p:nvSpPr>
          <p:cNvPr id="27" name="Shape 22"/>
          <p:cNvSpPr/>
          <p:nvPr/>
        </p:nvSpPr>
        <p:spPr>
          <a:xfrm>
            <a:off x="4194048" y="3913632"/>
            <a:ext cx="2511552" cy="310896"/>
          </a:xfrm>
          <a:prstGeom prst="roundRect">
            <a:avLst>
              <a:gd name="adj" fmla="val 882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267200" y="3995928"/>
            <a:ext cx="2365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selector trajo un nodo real?</a:t>
            </a:r>
            <a:endParaRPr lang="en-US" sz="720" dirty="0"/>
          </a:p>
        </p:txBody>
      </p:sp>
      <p:sp>
        <p:nvSpPr>
          <p:cNvPr id="29" name="Shape 24"/>
          <p:cNvSpPr/>
          <p:nvPr/>
        </p:nvSpPr>
        <p:spPr>
          <a:xfrm>
            <a:off x="6998208" y="2670048"/>
            <a:ext cx="280416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998208" y="2670048"/>
            <a:ext cx="73152" cy="17373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144512" y="281635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3516" y="2895356"/>
            <a:ext cx="280904" cy="28090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674864" y="2871216"/>
            <a:ext cx="1962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visible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144512" y="3401568"/>
            <a:ext cx="2511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Comprueba si el nodo correcto cambia y si el efecto coincide con la intención.</a:t>
            </a:r>
            <a:endParaRPr lang="en-US" sz="780" dirty="0"/>
          </a:p>
        </p:txBody>
      </p:sp>
      <p:sp>
        <p:nvSpPr>
          <p:cNvPr id="35" name="Shape 29"/>
          <p:cNvSpPr/>
          <p:nvPr/>
        </p:nvSpPr>
        <p:spPr>
          <a:xfrm>
            <a:off x="7144512" y="3913632"/>
            <a:ext cx="2511552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217664" y="3995928"/>
            <a:ext cx="2365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interfaz mostró el cambio esperado?</a:t>
            </a:r>
            <a:endParaRPr lang="en-US" sz="720" dirty="0"/>
          </a:p>
        </p:txBody>
      </p:sp>
      <p:sp>
        <p:nvSpPr>
          <p:cNvPr id="37" name="Text 31"/>
          <p:cNvSpPr/>
          <p:nvPr/>
        </p:nvSpPr>
        <p:spPr>
          <a:xfrm>
            <a:off x="1078992" y="5230368"/>
            <a:ext cx="8741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selector no queda validado por sonar lógico: queda validado cuando coincide con DOM, consola e interfaz.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explicar; tú validas el DOM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este bloque ayuda mucho una buena explicación o un selector inicial, pero la estructura real debe comprobarse en navegador y consola.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9015984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75995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40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acelerar un agente y qué sigue siendo tuyo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06624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834640"/>
            <a:ext cx="109728" cy="21214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8346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89888" y="31089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explicación inicial y primeras versiones pequeñas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89888" y="3456432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81328" y="357073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7632" y="3502152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la diferencia entre HTML y DOM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89888" y="3858768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81328" y="397306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390448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un selector corto con querySelector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89888" y="4261104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81328" y="43754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306824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traducir un árbol HTML a una lectura más clara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89888" y="4663440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81328" y="477774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27632" y="47091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resumir qué hace una línea de código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706624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9944" y="2834640"/>
            <a:ext cx="109728" cy="21214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11112" y="28346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11112" y="31089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técnica, prueba real y validación final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11112" y="3456432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02552" y="357073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48856" y="3502152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si el nodo existe sin abrir DevTools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11112" y="3858768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02552" y="397306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48856" y="390448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por bueno un selector no ejecutado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11112" y="4261104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02552" y="43754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48856" y="4306824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 una explicación bonita con evidencia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11112" y="4663440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02552" y="47777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48856" y="47091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asumir que el DOM real coincide con el ejemplo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37176" y="3081528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46904" y="3227832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20056" y="3648456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01768" y="327355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Verificación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4965192" y="405993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apoyo sirve para destrabar. La validez del selector se confirma en el navegador real.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133856" y="5138928"/>
            <a:ext cx="861364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243584" y="5184648"/>
            <a:ext cx="8394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-&gt; inspeccionar -&gt; ejecutar -&gt; validar.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fijar 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no es repetir definiciones, sino responder con claridad qué estructura existe, cómo se inspecciona y qué parte del DOM estamos tocando.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1024128" y="1975104"/>
            <a:ext cx="8924544" cy="841248"/>
          </a:xfrm>
          <a:prstGeom prst="roundRect">
            <a:avLst>
              <a:gd name="adj" fmla="val 43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296" y="2139696"/>
            <a:ext cx="8522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el DOM es una estructura viva, entonces cada cambio visible depende de leer bien esa estructura antes de tocarla.</a:t>
            </a:r>
            <a:endParaRPr lang="en-US" sz="1820" dirty="0"/>
          </a:p>
        </p:txBody>
      </p:sp>
      <p:sp>
        <p:nvSpPr>
          <p:cNvPr id="12" name="Shape 9"/>
          <p:cNvSpPr/>
          <p:nvPr/>
        </p:nvSpPr>
        <p:spPr>
          <a:xfrm>
            <a:off x="987552" y="3255264"/>
            <a:ext cx="2834640" cy="1664208"/>
          </a:xfrm>
          <a:prstGeom prst="roundRect">
            <a:avLst>
              <a:gd name="adj" fmla="val 219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8992" y="3383280"/>
            <a:ext cx="109728" cy="14081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43584" y="336499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560" dirty="0"/>
          </a:p>
        </p:txBody>
      </p:sp>
      <p:sp>
        <p:nvSpPr>
          <p:cNvPr id="15" name="Text 12"/>
          <p:cNvSpPr/>
          <p:nvPr/>
        </p:nvSpPr>
        <p:spPr>
          <a:xfrm>
            <a:off x="1243584" y="3712464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práctica hay entre el archivo HTML y el DOM que interpreta el navegador?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4114800" y="3255264"/>
            <a:ext cx="2834640" cy="1664208"/>
          </a:xfrm>
          <a:prstGeom prst="roundRect">
            <a:avLst>
              <a:gd name="adj" fmla="val 219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06240" y="3383280"/>
            <a:ext cx="109728" cy="14081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70832" y="336499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560" dirty="0"/>
          </a:p>
        </p:txBody>
      </p:sp>
      <p:sp>
        <p:nvSpPr>
          <p:cNvPr id="19" name="Text 16"/>
          <p:cNvSpPr/>
          <p:nvPr/>
        </p:nvSpPr>
        <p:spPr>
          <a:xfrm>
            <a:off x="4370832" y="3712464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conviene mirar el DOM primero en DevTools antes de intentar modificar algo con JavaScript?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7242048" y="3255264"/>
            <a:ext cx="2834640" cy="1664208"/>
          </a:xfrm>
          <a:prstGeom prst="roundRect">
            <a:avLst>
              <a:gd name="adj" fmla="val 219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33488" y="3383280"/>
            <a:ext cx="109728" cy="14081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0" y="336499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560" dirty="0"/>
          </a:p>
        </p:txBody>
      </p:sp>
      <p:sp>
        <p:nvSpPr>
          <p:cNvPr id="23" name="Text 20"/>
          <p:cNvSpPr/>
          <p:nvPr/>
        </p:nvSpPr>
        <p:spPr>
          <a:xfrm>
            <a:off x="7498080" y="3712464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gana un desarrollador cuando deja de pensar la página como superficie y la lee como jerarquía?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DOM deja instalada la primera relación fuerte entre documento, navegador, selector y verificación técnica.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1115568" y="2231136"/>
            <a:ext cx="2706624" cy="1042416"/>
          </a:xfrm>
          <a:prstGeom prst="roundRect">
            <a:avLst>
              <a:gd name="adj" fmla="val 26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8720" y="2340864"/>
            <a:ext cx="100584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3591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1371600" y="26334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estructura viva sobre la que JavaScript opera.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114800" y="2231136"/>
            <a:ext cx="2706624" cy="1042416"/>
          </a:xfrm>
          <a:prstGeom prst="roundRect">
            <a:avLst>
              <a:gd name="adj" fmla="val 26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87952" y="2340864"/>
            <a:ext cx="100584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0832" y="23591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4370832" y="26334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inspeccionar el árbol real antes de modificarlo.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7114032" y="2231136"/>
            <a:ext cx="2706624" cy="1042416"/>
          </a:xfrm>
          <a:prstGeom prst="roundRect">
            <a:avLst>
              <a:gd name="adj" fmla="val 263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87184" y="2340864"/>
            <a:ext cx="100584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70064" y="23591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Selectores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7370064" y="26334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conectan código con un nodo específico del documento.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1005840" y="3877056"/>
            <a:ext cx="8979408" cy="987552"/>
          </a:xfrm>
          <a:prstGeom prst="roundRect">
            <a:avLst>
              <a:gd name="adj" fmla="val 370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07008" y="4041648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 bloque 2: ahora que la estructura viva ya se entiende, pasamos a seleccionar elementos concretos, leer propiedades y modificar la interfaz con resultados visibles.</a:t>
            </a:r>
            <a:endParaRPr lang="en-US" sz="1740" dirty="0"/>
          </a:p>
        </p:txBody>
      </p:sp>
      <p:sp>
        <p:nvSpPr>
          <p:cNvPr id="24" name="Shape 21"/>
          <p:cNvSpPr/>
          <p:nvPr/>
        </p:nvSpPr>
        <p:spPr>
          <a:xfrm>
            <a:off x="1389888" y="5120640"/>
            <a:ext cx="8211312" cy="365760"/>
          </a:xfrm>
          <a:prstGeom prst="roundRect">
            <a:avLst>
              <a:gd name="adj" fmla="val 10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64208" y="5221224"/>
            <a:ext cx="7680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práctica sana del miércoles parte así: mirar la estructura, elegir bien el nodo y recién después intervenir la interfaz.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 · Seleccionar, leer y modificar elementos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el DOM deja de ser solo un modelo mental: empezamos a apuntar a nodos concretos, leer su estado y producir cambios visibles.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029968"/>
            <a:ext cx="9125712" cy="914400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194560"/>
            <a:ext cx="87233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Manipular el DOM empieza por seleccionar bien, leer con criterio y recién después intervenir la interfaz.</a:t>
            </a:r>
            <a:endParaRPr lang="en-US" sz="1920" dirty="0"/>
          </a:p>
        </p:txBody>
      </p:sp>
      <p:sp>
        <p:nvSpPr>
          <p:cNvPr id="12" name="Shape 9"/>
          <p:cNvSpPr/>
          <p:nvPr/>
        </p:nvSpPr>
        <p:spPr>
          <a:xfrm>
            <a:off x="1078992" y="3401568"/>
            <a:ext cx="2761488" cy="1024128"/>
          </a:xfrm>
          <a:prstGeom prst="roundRect">
            <a:avLst>
              <a:gd name="adj" fmla="val 26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2144" y="3511296"/>
            <a:ext cx="100584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35024" y="3529584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Seleccionar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335024" y="3803904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ubicar el nodo exacto dentro del DOM usando un id o un selector claro.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4096512" y="3401568"/>
            <a:ext cx="2761488" cy="1024128"/>
          </a:xfrm>
          <a:prstGeom prst="roundRect">
            <a:avLst>
              <a:gd name="adj" fmla="val 267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9664" y="3511296"/>
            <a:ext cx="100584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52544" y="3529584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4352544" y="3803904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mirar texto, valor o atributos antes de asumir qué estado tiene la interfaz.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7114032" y="3401568"/>
            <a:ext cx="2761488" cy="1024128"/>
          </a:xfrm>
          <a:prstGeom prst="roundRect">
            <a:avLst>
              <a:gd name="adj" fmla="val 267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511296"/>
            <a:ext cx="100584" cy="8046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70064" y="3529584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Modificar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7370064" y="3803904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un cambio pequeño y visible que pueda comprobarse en navegador.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1901952" y="4718304"/>
            <a:ext cx="7168896" cy="1024128"/>
          </a:xfrm>
          <a:prstGeom prst="roundRect">
            <a:avLst>
              <a:gd name="adj" fmla="val 357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029968" y="4828032"/>
            <a:ext cx="691286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39696" y="4901184"/>
            <a:ext cx="6693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movimiento del bloque</a:t>
            </a:r>
            <a:endParaRPr lang="en-US" sz="10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1408" y="5285232"/>
            <a:ext cx="6748272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no cambia la página completa de una vez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 sobre nodos concretos del DOM. Por eso la primera decisión técnica del bloque es elegir bien qué elemento estás apuntando.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87552" y="2157984"/>
            <a:ext cx="4352544" cy="2304288"/>
          </a:xfrm>
          <a:prstGeom prst="roundRect">
            <a:avLst>
              <a:gd name="adj" fmla="val 158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286000"/>
            <a:ext cx="109728" cy="20482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26771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unidad real de trabajo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1243584" y="2615184"/>
            <a:ext cx="400507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 script modifica una interfaz, no actúa sobre una abstracción difusa llamada "página". Actúa sobre un nodo específico: un título, un botón, un mensaje, un input o un enlace determinado dentro del DOM.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5650992" y="2176272"/>
            <a:ext cx="1353312" cy="117043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24144" y="2286000"/>
            <a:ext cx="100584" cy="9509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07024" y="2304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Nodo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5907024" y="2578608"/>
            <a:ext cx="1024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parte exacta del DOM se quiere tocar.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7242048" y="2176272"/>
            <a:ext cx="1353312" cy="117043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0" y="2286000"/>
            <a:ext cx="100584" cy="9509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0" y="2304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Referencia</a:t>
            </a:r>
            <a:endParaRPr lang="en-US" sz="1140" dirty="0"/>
          </a:p>
        </p:txBody>
      </p:sp>
      <p:sp>
        <p:nvSpPr>
          <p:cNvPr id="21" name="Text 18"/>
          <p:cNvSpPr/>
          <p:nvPr/>
        </p:nvSpPr>
        <p:spPr>
          <a:xfrm>
            <a:off x="7498080" y="2578608"/>
            <a:ext cx="1024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que guarda ese elemento para poder usarlo.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8833104" y="2176272"/>
            <a:ext cx="1353312" cy="117043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06256" y="2286000"/>
            <a:ext cx="100584" cy="9509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89136" y="2304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Acción</a:t>
            </a:r>
            <a:endParaRPr lang="en-US" sz="1140" dirty="0"/>
          </a:p>
        </p:txBody>
      </p:sp>
      <p:sp>
        <p:nvSpPr>
          <p:cNvPr id="25" name="Text 22"/>
          <p:cNvSpPr/>
          <p:nvPr/>
        </p:nvSpPr>
        <p:spPr>
          <a:xfrm>
            <a:off x="9089136" y="2578608"/>
            <a:ext cx="1024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o cambiar una propiedad concreta y visible.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5541264" y="3822192"/>
            <a:ext cx="4645152" cy="768096"/>
          </a:xfrm>
          <a:prstGeom prst="roundRect">
            <a:avLst>
              <a:gd name="adj" fmla="val 476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42432" y="3986784"/>
            <a:ext cx="4242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no está claro cuál es el elemento correcto, todavía no es momento de modificar nada.</a:t>
            </a:r>
            <a:endParaRPr lang="en-US" sz="1540" dirty="0"/>
          </a:p>
        </p:txBody>
      </p:sp>
      <p:sp>
        <p:nvSpPr>
          <p:cNvPr id="28" name="Shape 25"/>
          <p:cNvSpPr/>
          <p:nvPr/>
        </p:nvSpPr>
        <p:spPr>
          <a:xfrm>
            <a:off x="5632704" y="4882896"/>
            <a:ext cx="4498848" cy="512064"/>
          </a:xfrm>
          <a:prstGeom prst="roundRect">
            <a:avLst>
              <a:gd name="adj" fmla="val 714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07024" y="5029200"/>
            <a:ext cx="3950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primero no es cambiar rápido: es apuntar con precisión.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accesos iniciales al DOM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trata de memorizar una lista de selectores, sino de entender dos puertas de entrada muy útiles para empezar a trabajar sobre elementos concretos.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50976" y="2066544"/>
            <a:ext cx="4352544" cy="1737360"/>
          </a:xfrm>
          <a:prstGeom prst="roundRect">
            <a:avLst>
              <a:gd name="adj" fmla="val 21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176272"/>
            <a:ext cx="40965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249424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getElementById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432" y="2633472"/>
            <a:ext cx="3931920" cy="9875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596128" y="2066544"/>
            <a:ext cx="4352544" cy="1737360"/>
          </a:xfrm>
          <a:prstGeom prst="roundRect">
            <a:avLst>
              <a:gd name="adj" fmla="val 21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24144" y="2176272"/>
            <a:ext cx="40965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33872" y="2249424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querySelector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5584" y="2633472"/>
            <a:ext cx="3931920" cy="98755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115568" y="4187952"/>
            <a:ext cx="4041648" cy="1060704"/>
          </a:xfrm>
          <a:prstGeom prst="roundRect">
            <a:avLst>
              <a:gd name="adj" fmla="val 258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188720" y="4297680"/>
            <a:ext cx="100584" cy="841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371600" y="4315968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Cuándo ayuda getElementById</a:t>
            </a:r>
            <a:endParaRPr lang="en-US" sz="1320" dirty="0"/>
          </a:p>
        </p:txBody>
      </p:sp>
      <p:sp>
        <p:nvSpPr>
          <p:cNvPr id="21" name="Text 16"/>
          <p:cNvSpPr/>
          <p:nvPr/>
        </p:nvSpPr>
        <p:spPr>
          <a:xfrm>
            <a:off x="1371600" y="4590288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HTML ya tiene un id claro y el objetivo es apuntar a un nodo único y explícito.</a:t>
            </a:r>
            <a:endParaRPr lang="en-US" sz="880" dirty="0"/>
          </a:p>
        </p:txBody>
      </p:sp>
      <p:sp>
        <p:nvSpPr>
          <p:cNvPr id="22" name="Shape 17"/>
          <p:cNvSpPr/>
          <p:nvPr/>
        </p:nvSpPr>
        <p:spPr>
          <a:xfrm>
            <a:off x="5760720" y="4187952"/>
            <a:ext cx="4041648" cy="1060704"/>
          </a:xfrm>
          <a:prstGeom prst="roundRect">
            <a:avLst>
              <a:gd name="adj" fmla="val 258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833872" y="4297680"/>
            <a:ext cx="100584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016752" y="4315968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Cuándo ayuda querySelector</a:t>
            </a:r>
            <a:endParaRPr lang="en-US" sz="1320" dirty="0"/>
          </a:p>
        </p:txBody>
      </p:sp>
      <p:sp>
        <p:nvSpPr>
          <p:cNvPr id="25" name="Text 20"/>
          <p:cNvSpPr/>
          <p:nvPr/>
        </p:nvSpPr>
        <p:spPr>
          <a:xfrm>
            <a:off x="6016752" y="4590288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conviene usar la lógica de selectores CSS para ubicar el primer nodo que cumpla una condición.</a:t>
            </a:r>
            <a:endParaRPr lang="en-US" sz="8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se ubica el nodo; luego se guarda la referencia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variable no es un detalle de sintaxis: es la forma práctica de conservar el elemento seleccionado para poder leerlo o modificarlo después.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9070848" cy="3328416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81481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Selector -&gt; referencia -&gt; siguiente acción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133856" y="2834640"/>
            <a:ext cx="2791968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33856" y="2834640"/>
            <a:ext cx="73152" cy="18105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80160" y="29809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9164" y="3059948"/>
            <a:ext cx="280904" cy="280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10512" y="3035808"/>
            <a:ext cx="1950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Selector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1280160" y="3547872"/>
            <a:ext cx="2499360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353312" y="3666744"/>
            <a:ext cx="2353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document.querySelector(...)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280160" y="4096512"/>
            <a:ext cx="249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documento se consulta para ubicar el nodo correcto dentro del DOM real.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953256" y="3621024"/>
            <a:ext cx="91440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072128" y="2834640"/>
            <a:ext cx="2791968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072128" y="2834640"/>
            <a:ext cx="73152" cy="18105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218432" y="29809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97436" y="3059948"/>
            <a:ext cx="280904" cy="2809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48784" y="3035808"/>
            <a:ext cx="1950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Referencia</a:t>
            </a:r>
            <a:endParaRPr lang="en-US" sz="1120" dirty="0"/>
          </a:p>
        </p:txBody>
      </p:sp>
      <p:sp>
        <p:nvSpPr>
          <p:cNvPr id="27" name="Shape 22"/>
          <p:cNvSpPr/>
          <p:nvPr/>
        </p:nvSpPr>
        <p:spPr>
          <a:xfrm>
            <a:off x="4218432" y="3547872"/>
            <a:ext cx="2499360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291584" y="3666744"/>
            <a:ext cx="2353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nodo.textContent = ...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218432" y="4096512"/>
            <a:ext cx="249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variable guarda ese elemento y permite inspeccionarlo o reutilizarlo.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6891528" y="3621024"/>
            <a:ext cx="91440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010400" y="2834640"/>
            <a:ext cx="2791968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010400" y="2834640"/>
            <a:ext cx="73152" cy="18105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156704" y="29809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5708" y="3059948"/>
            <a:ext cx="280904" cy="28090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687056" y="3035808"/>
            <a:ext cx="1950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o cambio</a:t>
            </a:r>
            <a:endParaRPr lang="en-US" sz="1120" dirty="0"/>
          </a:p>
        </p:txBody>
      </p:sp>
      <p:sp>
        <p:nvSpPr>
          <p:cNvPr id="36" name="Shape 30"/>
          <p:cNvSpPr/>
          <p:nvPr/>
        </p:nvSpPr>
        <p:spPr>
          <a:xfrm>
            <a:off x="7156704" y="3547872"/>
            <a:ext cx="2499360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229856" y="3666744"/>
            <a:ext cx="2353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console.log(...) o nodo.textContent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7156704" y="4096512"/>
            <a:ext cx="249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la referencia disponible ya se puede leer estado o aplicar un cambio visible.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1115568" y="5303520"/>
            <a:ext cx="8705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bien evita tocar el nodo equivocado y prepara el resto del flujo.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también es parte del trabajo técnico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Muchas veces el flujo no empieza cambiando algo, sino comprobando qué contenido, valor o atributo existe en este momento en la interfaz.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50976" y="2066544"/>
            <a:ext cx="4352544" cy="1554480"/>
          </a:xfrm>
          <a:prstGeom prst="roundRect">
            <a:avLst>
              <a:gd name="adj" fmla="val 23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176272"/>
            <a:ext cx="40965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249424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texto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432" y="2633472"/>
            <a:ext cx="3931920" cy="8046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50976" y="3895344"/>
            <a:ext cx="4352544" cy="1554480"/>
          </a:xfrm>
          <a:prstGeom prst="roundRect">
            <a:avLst>
              <a:gd name="adj" fmla="val 23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78992" y="4005072"/>
            <a:ext cx="40965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88720" y="4078224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valor de input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432" y="4462272"/>
            <a:ext cx="3931920" cy="80467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596128" y="2084832"/>
            <a:ext cx="4352544" cy="138988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687568" y="2212848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852160" y="219456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aquí se instala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852160" y="2542032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no solo ordena cambios. También observa el estado actual de la interfaz para saber qué información hay disponible antes de intervenirla.</a:t>
            </a:r>
            <a:endParaRPr lang="en-US" sz="940" dirty="0"/>
          </a:p>
        </p:txBody>
      </p:sp>
      <p:sp>
        <p:nvSpPr>
          <p:cNvPr id="22" name="Shape 17"/>
          <p:cNvSpPr/>
          <p:nvPr/>
        </p:nvSpPr>
        <p:spPr>
          <a:xfrm>
            <a:off x="5596128" y="3730752"/>
            <a:ext cx="1225296" cy="1188720"/>
          </a:xfrm>
          <a:prstGeom prst="roundRect">
            <a:avLst>
              <a:gd name="adj" fmla="val 230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669280" y="3840480"/>
            <a:ext cx="100584" cy="9692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852160" y="385876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852160" y="4133088"/>
            <a:ext cx="896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`textContent` ayuda a leer qué comunica un nodo.</a:t>
            </a:r>
            <a:endParaRPr lang="en-US" sz="760" dirty="0"/>
          </a:p>
        </p:txBody>
      </p:sp>
      <p:sp>
        <p:nvSpPr>
          <p:cNvPr id="26" name="Shape 21"/>
          <p:cNvSpPr/>
          <p:nvPr/>
        </p:nvSpPr>
        <p:spPr>
          <a:xfrm>
            <a:off x="7150608" y="3730752"/>
            <a:ext cx="1225296" cy="1188720"/>
          </a:xfrm>
          <a:prstGeom prst="roundRect">
            <a:avLst>
              <a:gd name="adj" fmla="val 230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223760" y="3840480"/>
            <a:ext cx="100584" cy="9692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406640" y="385876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7406640" y="4133088"/>
            <a:ext cx="896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`value` permite saber qué escribió una persona.</a:t>
            </a:r>
            <a:endParaRPr lang="en-US" sz="760" dirty="0"/>
          </a:p>
        </p:txBody>
      </p:sp>
      <p:sp>
        <p:nvSpPr>
          <p:cNvPr id="30" name="Shape 25"/>
          <p:cNvSpPr/>
          <p:nvPr/>
        </p:nvSpPr>
        <p:spPr>
          <a:xfrm>
            <a:off x="8705088" y="3730752"/>
            <a:ext cx="1225296" cy="1188720"/>
          </a:xfrm>
          <a:prstGeom prst="roundRect">
            <a:avLst>
              <a:gd name="adj" fmla="val 230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778240" y="3840480"/>
            <a:ext cx="100584" cy="9692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961120" y="385876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Atributo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8961120" y="4133088"/>
            <a:ext cx="896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`href`, `src` o `type` también describen estado.</a:t>
            </a:r>
            <a:endParaRPr lang="en-US" sz="7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Cambiar texto produce una relación visible entre código y pantalla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 nodo fue seleccionado bien, una propiedad como `textContent` deja ver de inmediato la cadena completa entre script e interfaz.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50976" y="2084832"/>
            <a:ext cx="9015984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212848"/>
            <a:ext cx="875995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286000"/>
            <a:ext cx="8540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Selector -&gt; propiedad -&gt; resultado nuevo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152144" y="2779776"/>
            <a:ext cx="2773680" cy="1883664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2144" y="2779776"/>
            <a:ext cx="73152" cy="18836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98448" y="292608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7452" y="3005084"/>
            <a:ext cx="280904" cy="280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28800" y="2980944"/>
            <a:ext cx="1932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Selector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1298448" y="3493008"/>
            <a:ext cx="2481072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371600" y="3611880"/>
            <a:ext cx="2334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document.querySelector(...)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298448" y="4041648"/>
            <a:ext cx="2481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obtiene la referencia al nodo que representa el estado o mensaje.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953256" y="3602736"/>
            <a:ext cx="91440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072128" y="2779776"/>
            <a:ext cx="2773680" cy="1883664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072128" y="2779776"/>
            <a:ext cx="73152" cy="18836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218432" y="292608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97436" y="3005084"/>
            <a:ext cx="280904" cy="2809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48784" y="2980944"/>
            <a:ext cx="1932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Mutación</a:t>
            </a:r>
            <a:endParaRPr lang="en-US" sz="1120" dirty="0"/>
          </a:p>
        </p:txBody>
      </p:sp>
      <p:sp>
        <p:nvSpPr>
          <p:cNvPr id="27" name="Shape 22"/>
          <p:cNvSpPr/>
          <p:nvPr/>
        </p:nvSpPr>
        <p:spPr>
          <a:xfrm>
            <a:off x="4218432" y="3493008"/>
            <a:ext cx="2481072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291584" y="3611880"/>
            <a:ext cx="2334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nodo.textContent = ...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218432" y="4041648"/>
            <a:ext cx="2481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actualiza `textContent` con un valor nuevo y concreto.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6873240" y="3602736"/>
            <a:ext cx="91440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992112" y="2779776"/>
            <a:ext cx="2773680" cy="1883664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992112" y="2779776"/>
            <a:ext cx="73152" cy="18836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138416" y="292608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7420" y="3005084"/>
            <a:ext cx="280904" cy="28090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668768" y="2980944"/>
            <a:ext cx="1932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120" dirty="0"/>
          </a:p>
        </p:txBody>
      </p:sp>
      <p:sp>
        <p:nvSpPr>
          <p:cNvPr id="36" name="Shape 30"/>
          <p:cNvSpPr/>
          <p:nvPr/>
        </p:nvSpPr>
        <p:spPr>
          <a:xfrm>
            <a:off x="7138416" y="3493008"/>
            <a:ext cx="2481072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211568" y="3611880"/>
            <a:ext cx="2334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interfaz se actualiza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7138416" y="4041648"/>
            <a:ext cx="2481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deja evidencia inmediata de que el cambio sí ocurrió.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1133856" y="5321808"/>
            <a:ext cx="8650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esta cadena se ve clara, el DOM deja de sentirse abstracto.</a:t>
            </a:r>
            <a:endParaRPr lang="en-US" sz="8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todo cambio en la interfaz es texto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veces conviene tocar una clase o un atributo en vez de reemplazar contenido. El criterio está en decidir qué propiedad expresa mejor el cambio que necesitas.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69264" y="2139696"/>
            <a:ext cx="4315968" cy="1627632"/>
          </a:xfrm>
          <a:prstGeom prst="roundRect">
            <a:avLst>
              <a:gd name="adj" fmla="val 22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2249424"/>
            <a:ext cx="40599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3225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una clase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0" y="2706624"/>
            <a:ext cx="3895344" cy="87782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14416" y="2139696"/>
            <a:ext cx="4315968" cy="1627632"/>
          </a:xfrm>
          <a:prstGeom prst="roundRect">
            <a:avLst>
              <a:gd name="adj" fmla="val 22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42432" y="2249424"/>
            <a:ext cx="40599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52160" y="23225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un atributo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33872" y="2706624"/>
            <a:ext cx="3895344" cy="87782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115568" y="4169664"/>
            <a:ext cx="4041648" cy="1097280"/>
          </a:xfrm>
          <a:prstGeom prst="roundRect">
            <a:avLst>
              <a:gd name="adj" fmla="val 25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188720" y="4279392"/>
            <a:ext cx="100584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371600" y="4297680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Clase CSS</a:t>
            </a:r>
            <a:endParaRPr lang="en-US" sz="1320" dirty="0"/>
          </a:p>
        </p:txBody>
      </p:sp>
      <p:sp>
        <p:nvSpPr>
          <p:cNvPr id="21" name="Text 16"/>
          <p:cNvSpPr/>
          <p:nvPr/>
        </p:nvSpPr>
        <p:spPr>
          <a:xfrm>
            <a:off x="1371600" y="4572000"/>
            <a:ext cx="3712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cuando el cambio pertenece a presentación, estado visual o comportamiento definido por estilos.</a:t>
            </a:r>
            <a:endParaRPr lang="en-US" sz="880" dirty="0"/>
          </a:p>
        </p:txBody>
      </p:sp>
      <p:sp>
        <p:nvSpPr>
          <p:cNvPr id="22" name="Shape 17"/>
          <p:cNvSpPr/>
          <p:nvPr/>
        </p:nvSpPr>
        <p:spPr>
          <a:xfrm>
            <a:off x="5760720" y="4169664"/>
            <a:ext cx="4041648" cy="1097280"/>
          </a:xfrm>
          <a:prstGeom prst="roundRect">
            <a:avLst>
              <a:gd name="adj" fmla="val 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833872" y="4279392"/>
            <a:ext cx="100584" cy="877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016752" y="4297680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Atributo HTML</a:t>
            </a:r>
            <a:endParaRPr lang="en-US" sz="1320" dirty="0"/>
          </a:p>
        </p:txBody>
      </p:sp>
      <p:sp>
        <p:nvSpPr>
          <p:cNvPr id="25" name="Text 20"/>
          <p:cNvSpPr/>
          <p:nvPr/>
        </p:nvSpPr>
        <p:spPr>
          <a:xfrm>
            <a:off x="6016752" y="4572000"/>
            <a:ext cx="3712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cuando el cambio pertenece al recurso, enlace, tipo o dato que el nodo necesita cargar o exponer.</a:t>
            </a:r>
            <a:endParaRPr lang="en-US" sz="8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basta con que el código haga algo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bloque también instala criterio: el cambio debe ocurrir sobre el nodo correcto, con la propiedad correcta y con un resultado visible que ayude en vez de confundir.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50976" y="2139696"/>
            <a:ext cx="9052560" cy="338328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267712"/>
            <a:ext cx="879652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340864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preguntas antes de dar un cambio por bueno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152144" y="2706624"/>
            <a:ext cx="278587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2144" y="2706624"/>
            <a:ext cx="73152" cy="18288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98448" y="28529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7452" y="2931932"/>
            <a:ext cx="280904" cy="280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28800" y="2907792"/>
            <a:ext cx="1944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 real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298448" y="3438144"/>
            <a:ext cx="2493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 en Elements si el id o selector sí apunta al nodo exacto que querías tocar.</a:t>
            </a:r>
            <a:endParaRPr lang="en-US" sz="780" dirty="0"/>
          </a:p>
        </p:txBody>
      </p:sp>
      <p:sp>
        <p:nvSpPr>
          <p:cNvPr id="19" name="Shape 15"/>
          <p:cNvSpPr/>
          <p:nvPr/>
        </p:nvSpPr>
        <p:spPr>
          <a:xfrm>
            <a:off x="1298448" y="4041648"/>
            <a:ext cx="2493264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371600" y="4123944"/>
            <a:ext cx="234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¿Ese selector coincide con el HTML real?</a:t>
            </a:r>
            <a:endParaRPr lang="en-US" sz="720" dirty="0"/>
          </a:p>
        </p:txBody>
      </p:sp>
      <p:sp>
        <p:nvSpPr>
          <p:cNvPr id="21" name="Shape 17"/>
          <p:cNvSpPr/>
          <p:nvPr/>
        </p:nvSpPr>
        <p:spPr>
          <a:xfrm>
            <a:off x="4084320" y="2706624"/>
            <a:ext cx="278587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084320" y="2706624"/>
            <a:ext cx="73152" cy="18288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230624" y="28529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9628" y="2931932"/>
            <a:ext cx="280904" cy="28090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60976" y="2907792"/>
            <a:ext cx="1944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y consola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230624" y="3438144"/>
            <a:ext cx="2493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 la referencia y el valor antes o después del cambio para saber qué ocurrió realmente.</a:t>
            </a:r>
            <a:endParaRPr lang="en-US" sz="780" dirty="0"/>
          </a:p>
        </p:txBody>
      </p:sp>
      <p:sp>
        <p:nvSpPr>
          <p:cNvPr id="27" name="Shape 22"/>
          <p:cNvSpPr/>
          <p:nvPr/>
        </p:nvSpPr>
        <p:spPr>
          <a:xfrm>
            <a:off x="4230624" y="4041648"/>
            <a:ext cx="2493264" cy="310896"/>
          </a:xfrm>
          <a:prstGeom prst="roundRect">
            <a:avLst>
              <a:gd name="adj" fmla="val 882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303776" y="4123944"/>
            <a:ext cx="234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evidencia entrega la ejecución?</a:t>
            </a:r>
            <a:endParaRPr lang="en-US" sz="720" dirty="0"/>
          </a:p>
        </p:txBody>
      </p:sp>
      <p:sp>
        <p:nvSpPr>
          <p:cNvPr id="29" name="Shape 24"/>
          <p:cNvSpPr/>
          <p:nvPr/>
        </p:nvSpPr>
        <p:spPr>
          <a:xfrm>
            <a:off x="7016496" y="2706624"/>
            <a:ext cx="278587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016496" y="2706624"/>
            <a:ext cx="73152" cy="18288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162800" y="28529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41804" y="2931932"/>
            <a:ext cx="280904" cy="28090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693152" y="2907792"/>
            <a:ext cx="1944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Interfaz visible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162800" y="3438144"/>
            <a:ext cx="2493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Comprueba si el cambio ayuda, si ocurre en la zona correcta y si no genera ruido visual.</a:t>
            </a:r>
            <a:endParaRPr lang="en-US" sz="780" dirty="0"/>
          </a:p>
        </p:txBody>
      </p:sp>
      <p:sp>
        <p:nvSpPr>
          <p:cNvPr id="35" name="Shape 29"/>
          <p:cNvSpPr/>
          <p:nvPr/>
        </p:nvSpPr>
        <p:spPr>
          <a:xfrm>
            <a:off x="7162800" y="4041648"/>
            <a:ext cx="2493264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235952" y="4123944"/>
            <a:ext cx="234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resultado corresponde a la intención?</a:t>
            </a:r>
            <a:endParaRPr lang="en-US" sz="720" dirty="0"/>
          </a:p>
        </p:txBody>
      </p:sp>
      <p:sp>
        <p:nvSpPr>
          <p:cNvPr id="37" name="Text 31"/>
          <p:cNvSpPr/>
          <p:nvPr/>
        </p:nvSpPr>
        <p:spPr>
          <a:xfrm>
            <a:off x="1133856" y="5358384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práctica profesional básica parte aquí: precisión en el nodo, evidencia en consola y verificación en pantalla.</a:t>
            </a:r>
            <a:endParaRPr lang="en-US" sz="8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puede sugerir selectores; tú validas la estructura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este punto ayuda mucho para comparar opciones o recordar propiedades útiles, pero no conviene dar por bueno un cambio hasta verlo en DOM, consola e interfaz.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9052560" cy="338328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79652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aportar un agente y qué sigue siendo validación humana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06624"/>
            <a:ext cx="3520440" cy="2359152"/>
          </a:xfrm>
          <a:prstGeom prst="roundRect">
            <a:avLst>
              <a:gd name="adj" fmla="val 155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834640"/>
            <a:ext cx="109728" cy="21031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834640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89888" y="3108960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propuestas iniciales y aclaración de sintaxis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89888" y="3456432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81328" y="356844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7632" y="3502152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un selector inicial con id o querySelector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89888" y="3854196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81328" y="396621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3899916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la diferencia entre getElementById y querySelector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89888" y="4251960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81328" y="436397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297680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un cambio básico de textContent o classList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89888" y="4649724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81328" y="476173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27632" y="4695444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resumir qué propiedad conviene probar primero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18504" y="2706624"/>
            <a:ext cx="3520440" cy="2359152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28232" y="2834640"/>
            <a:ext cx="109728" cy="21031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29400" y="2834640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29400" y="3108960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sobre el HTML y el efecto real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29400" y="3456432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20840" y="356844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67144" y="3502152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asumir que el elemento existe sin inspeccionar el DOM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29400" y="3854196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20840" y="396621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67144" y="3899916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por bueno un selector que no se ejecutó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29400" y="4251960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20840" y="436397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67144" y="4297680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 una respuesta plausible con un cambio correcto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29400" y="4649724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20840" y="476173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67144" y="4695444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cerrar el caso sin mirar el resultado visible en navegador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55464" y="307238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65192" y="321868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38344" y="363931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20056" y="32644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Verificación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4983480" y="405079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apoyo acelera ideas. La validez depende del nodo real, la consola y la interfaz visible.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133856" y="5120640"/>
            <a:ext cx="8650224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243584" y="5166360"/>
            <a:ext cx="8430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Inspeccionar -&gt; ejecutar -&gt; leer -&gt; comprobar.</a:t>
            </a:r>
            <a:endParaRPr lang="en-US" sz="8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fijar 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no es recitar métodos, sino poder explicar por qué un selector, una lectura o un cambio sí calza con la interfaz real.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1005840" y="2084832"/>
            <a:ext cx="8997696" cy="804672"/>
          </a:xfrm>
          <a:prstGeom prst="roundRect">
            <a:avLst>
              <a:gd name="adj" fmla="val 454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2212848"/>
            <a:ext cx="109728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872" y="2194560"/>
            <a:ext cx="8650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orientadora</a:t>
            </a:r>
            <a:endParaRPr lang="en-US" sz="1620" dirty="0"/>
          </a:p>
        </p:txBody>
      </p:sp>
      <p:sp>
        <p:nvSpPr>
          <p:cNvPr id="13" name="Text 10"/>
          <p:cNvSpPr/>
          <p:nvPr/>
        </p:nvSpPr>
        <p:spPr>
          <a:xfrm>
            <a:off x="1261872" y="2542032"/>
            <a:ext cx="8650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Manipular el DOM con criterio significa apuntar al nodo correcto, observar su estado y cambiar exactamente la propiedad que la interfaz necesita.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1078992" y="3328416"/>
            <a:ext cx="2779776" cy="1481328"/>
          </a:xfrm>
          <a:prstGeom prst="roundRect">
            <a:avLst>
              <a:gd name="adj" fmla="val 246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70432" y="3456432"/>
            <a:ext cx="109728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35024" y="34381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540" dirty="0"/>
          </a:p>
        </p:txBody>
      </p:sp>
      <p:sp>
        <p:nvSpPr>
          <p:cNvPr id="17" name="Text 14"/>
          <p:cNvSpPr/>
          <p:nvPr/>
        </p:nvSpPr>
        <p:spPr>
          <a:xfrm>
            <a:off x="1335024" y="3785616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seleccionar bien un elemento es una condición previa para cualquier cambio visible en la interfaz?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4096512" y="3328416"/>
            <a:ext cx="2779776" cy="1481328"/>
          </a:xfrm>
          <a:prstGeom prst="roundRect">
            <a:avLst>
              <a:gd name="adj" fmla="val 246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87952" y="3456432"/>
            <a:ext cx="109728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52544" y="34381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540" dirty="0"/>
          </a:p>
        </p:txBody>
      </p:sp>
      <p:sp>
        <p:nvSpPr>
          <p:cNvPr id="21" name="Text 18"/>
          <p:cNvSpPr/>
          <p:nvPr/>
        </p:nvSpPr>
        <p:spPr>
          <a:xfrm>
            <a:off x="4352544" y="3785616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hay entre leer una propiedad del DOM y modificarla dentro de un flujo real de trabajo?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7114032" y="3328416"/>
            <a:ext cx="2779776" cy="1481328"/>
          </a:xfrm>
          <a:prstGeom prst="roundRect">
            <a:avLst>
              <a:gd name="adj" fmla="val 246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05472" y="3456432"/>
            <a:ext cx="109728" cy="1225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70064" y="34381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540" dirty="0"/>
          </a:p>
        </p:txBody>
      </p:sp>
      <p:sp>
        <p:nvSpPr>
          <p:cNvPr id="25" name="Text 22"/>
          <p:cNvSpPr/>
          <p:nvPr/>
        </p:nvSpPr>
        <p:spPr>
          <a:xfrm>
            <a:off x="7370064" y="3785616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caso conviene cambiar texto y en cuál podría tener más sentido tocar una clase o un atributo?</a:t>
            </a:r>
            <a:endParaRPr lang="en-US" sz="10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manipulación del DOM ya quedó instalada como una cadena concreta entre selector, lectura, cambio y comprobación visible.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1097280" y="2212848"/>
            <a:ext cx="2706624" cy="1042416"/>
          </a:xfrm>
          <a:prstGeom prst="roundRect">
            <a:avLst>
              <a:gd name="adj" fmla="val 26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70432" y="2322576"/>
            <a:ext cx="100584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53312" y="23408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Seleccionar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1353312" y="26151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ubicar el nodo correcto antes de hacer cualquier otra cosa.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096512" y="2212848"/>
            <a:ext cx="2706624" cy="1042416"/>
          </a:xfrm>
          <a:prstGeom prst="roundRect">
            <a:avLst>
              <a:gd name="adj" fmla="val 26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9664" y="2322576"/>
            <a:ext cx="100584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52544" y="23408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4352544" y="26151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comprobar texto, valor o atributo antes de intervenir la interfaz.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7095744" y="2212848"/>
            <a:ext cx="2706624" cy="1042416"/>
          </a:xfrm>
          <a:prstGeom prst="roundRect">
            <a:avLst>
              <a:gd name="adj" fmla="val 263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68896" y="2322576"/>
            <a:ext cx="100584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51776" y="23408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Modificar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7351776" y="26151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un cambio pequeño, preciso y comprobable en pantalla.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1005840" y="3822192"/>
            <a:ext cx="8997696" cy="987552"/>
          </a:xfrm>
          <a:prstGeom prst="roundRect">
            <a:avLst>
              <a:gd name="adj" fmla="val 370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07008" y="3986784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 bloque 3: ahora la interfaz ya puede cambiar por acciones locales; el siguiente paso es hacerla responder también a datos que llegan desde fuera mediante `fetch`.</a:t>
            </a:r>
            <a:endParaRPr lang="en-US" sz="1720" dirty="0"/>
          </a:p>
        </p:txBody>
      </p:sp>
      <p:sp>
        <p:nvSpPr>
          <p:cNvPr id="24" name="Shape 21"/>
          <p:cNvSpPr/>
          <p:nvPr/>
        </p:nvSpPr>
        <p:spPr>
          <a:xfrm>
            <a:off x="1389888" y="5102352"/>
            <a:ext cx="8247888" cy="384048"/>
          </a:xfrm>
          <a:prstGeom prst="roundRect">
            <a:avLst>
              <a:gd name="adj" fmla="val 95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82496" y="5212080"/>
            <a:ext cx="7662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aquí la interfaz deja de depender solo de datos escritos a mano y empieza a conectarse con respuestas externas.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 · `fetch`, respuestas y consumo simple de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ya no cambia solo con datos locales: ahora empieza a responder también a información que llega desde fuera.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048256"/>
            <a:ext cx="9125712" cy="914400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212848"/>
            <a:ext cx="87233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`fetch`, JavaScript ya no solo modifica el DOM: también solicita datos externos y los conecta con la interfaz.</a:t>
            </a:r>
            <a:endParaRPr lang="en-US" sz="1880" dirty="0"/>
          </a:p>
        </p:txBody>
      </p:sp>
      <p:sp>
        <p:nvSpPr>
          <p:cNvPr id="12" name="Shape 9"/>
          <p:cNvSpPr/>
          <p:nvPr/>
        </p:nvSpPr>
        <p:spPr>
          <a:xfrm>
            <a:off x="1078992" y="3419856"/>
            <a:ext cx="2761488" cy="1024128"/>
          </a:xfrm>
          <a:prstGeom prst="roundRect">
            <a:avLst>
              <a:gd name="adj" fmla="val 26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2144" y="3529584"/>
            <a:ext cx="100584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35024" y="354787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Solicitud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335024" y="3822192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script pide información a una fuente externa.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4096512" y="3419856"/>
            <a:ext cx="2761488" cy="1024128"/>
          </a:xfrm>
          <a:prstGeom prst="roundRect">
            <a:avLst>
              <a:gd name="adj" fmla="val 267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9664" y="3529584"/>
            <a:ext cx="100584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52544" y="354787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4352544" y="3822192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llegan datos o aparece un error que hay que interpretar.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7114032" y="3419856"/>
            <a:ext cx="2761488" cy="1024128"/>
          </a:xfrm>
          <a:prstGeom prst="roundRect">
            <a:avLst>
              <a:gd name="adj" fmla="val 267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529584"/>
            <a:ext cx="100584" cy="8046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70064" y="354787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Render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7370064" y="3822192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propiedad útil termina actualizando algo visible en pantalla.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1755648" y="4809744"/>
            <a:ext cx="7498080" cy="658368"/>
          </a:xfrm>
          <a:prstGeom prst="roundRect">
            <a:avLst>
              <a:gd name="adj" fmla="val 555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011680" y="5010912"/>
            <a:ext cx="6986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aquí en adelante ya trabajamos con red, datos, consola, DOM e interfaz al mismo tiempo.</a:t>
            </a:r>
            <a:endParaRPr lang="en-US" sz="10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Hasta ahora la interfaz reaccionaba con datos locales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nuevo del bloque 3 aparece cuando la página necesita obtener información que no está escrita directamente en el HTML ni en el script inicial.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87552" y="2139696"/>
            <a:ext cx="4334256" cy="2176272"/>
          </a:xfrm>
          <a:prstGeom prst="roundRect">
            <a:avLst>
              <a:gd name="adj" fmla="val 16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267712"/>
            <a:ext cx="109728" cy="19202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249424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Bloques anteriores</a:t>
            </a:r>
            <a:endParaRPr lang="en-US" sz="1720" dirty="0"/>
          </a:p>
        </p:txBody>
      </p:sp>
      <p:sp>
        <p:nvSpPr>
          <p:cNvPr id="13" name="Text 10"/>
          <p:cNvSpPr/>
          <p:nvPr/>
        </p:nvSpPr>
        <p:spPr>
          <a:xfrm>
            <a:off x="1243584" y="2596896"/>
            <a:ext cx="398678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DOM ya podía cambiar con datos escritos a mano, mensajes locales o respuestas simples a un evento. Eso instala la lógica base, pero todavía no conecta la interfaz con información externa.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5504688" y="2999232"/>
            <a:ext cx="256032" cy="31089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25312" y="2139696"/>
            <a:ext cx="4023360" cy="2176272"/>
          </a:xfrm>
          <a:prstGeom prst="roundRect">
            <a:avLst>
              <a:gd name="adj" fmla="val 16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16752" y="2267712"/>
            <a:ext cx="109728" cy="19202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81344" y="2249424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</a:t>
            </a:r>
            <a:endParaRPr lang="en-US" sz="1720" dirty="0"/>
          </a:p>
        </p:txBody>
      </p:sp>
      <p:sp>
        <p:nvSpPr>
          <p:cNvPr id="18" name="Text 15"/>
          <p:cNvSpPr/>
          <p:nvPr/>
        </p:nvSpPr>
        <p:spPr>
          <a:xfrm>
            <a:off x="6181344" y="2596896"/>
            <a:ext cx="367588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`fetch` abre la puerta a datos que llegan desde fuera. La interfaz deja de depender solo de lo que ya estaba disponible y empieza a reaccionar también a respuestas de red.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1078992" y="4681728"/>
            <a:ext cx="8814816" cy="749808"/>
          </a:xfrm>
          <a:prstGeom prst="roundRect">
            <a:avLst>
              <a:gd name="adj" fmla="val 487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80160" y="484632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nuevo que resuelve `fetch` es simple: obtener información que la página no tiene cargada todavía.</a:t>
            </a:r>
            <a:endParaRPr lang="en-US" sz="15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primera lectura útil de `fetch` es como flujo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memorizar sintaxis, conviene entender que aquí hay una solicitud, una respuesta y un punto donde los datos se vuelven utilizables.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9070848" cy="3328416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81481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95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-&gt; solicitud -&gt; respuesta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152144" y="3639312"/>
            <a:ext cx="1170432" cy="676656"/>
          </a:xfrm>
          <a:prstGeom prst="roundRect">
            <a:avLst>
              <a:gd name="adj" fmla="val 540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378561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13648" y="3639312"/>
            <a:ext cx="1170432" cy="676656"/>
          </a:xfrm>
          <a:prstGeom prst="roundRect">
            <a:avLst>
              <a:gd name="adj" fmla="val 540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13648" y="378561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596896" y="3712464"/>
            <a:ext cx="438912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72384" y="3621024"/>
            <a:ext cx="4791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/users/1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3072384" y="3822192"/>
            <a:ext cx="4791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pide información externa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 rot="10800000">
            <a:off x="7900416" y="4023360"/>
            <a:ext cx="438912" cy="219456"/>
          </a:xfrm>
          <a:prstGeom prst="chevron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72384" y="4078224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3072384" y="4279392"/>
            <a:ext cx="4791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con datos o error a revisar</a:t>
            </a:r>
            <a:endParaRPr lang="en-US" sz="8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`fetch` debe leerse por etapas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error más común al empezar es tratar toda la cadena como una línea mágica. Aquí importa saber qué parte del flujo estás mirando.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084832"/>
            <a:ext cx="4901184" cy="2212848"/>
          </a:xfrm>
          <a:prstGeom prst="roundRect">
            <a:avLst>
              <a:gd name="adj" fmla="val 16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194560"/>
            <a:ext cx="46451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267712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básica del flujo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144" y="2651760"/>
            <a:ext cx="4480560" cy="1463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26480" y="2103120"/>
            <a:ext cx="1207008" cy="1115568"/>
          </a:xfrm>
          <a:prstGeom prst="roundRect">
            <a:avLst>
              <a:gd name="adj" fmla="val 245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99632" y="2212848"/>
            <a:ext cx="100584" cy="896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82512" y="223113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fetch</a:t>
            </a:r>
            <a:endParaRPr lang="en-US" sz="1060" dirty="0"/>
          </a:p>
        </p:txBody>
      </p:sp>
      <p:sp>
        <p:nvSpPr>
          <p:cNvPr id="17" name="Text 13"/>
          <p:cNvSpPr/>
          <p:nvPr/>
        </p:nvSpPr>
        <p:spPr>
          <a:xfrm>
            <a:off x="6382512" y="2505456"/>
            <a:ext cx="877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intenta obtener algo desde una URL.</a:t>
            </a:r>
            <a:endParaRPr lang="en-US" sz="720" dirty="0"/>
          </a:p>
        </p:txBody>
      </p:sp>
      <p:sp>
        <p:nvSpPr>
          <p:cNvPr id="18" name="Shape 14"/>
          <p:cNvSpPr/>
          <p:nvPr/>
        </p:nvSpPr>
        <p:spPr>
          <a:xfrm>
            <a:off x="7406640" y="2103120"/>
            <a:ext cx="1207008" cy="1115568"/>
          </a:xfrm>
          <a:prstGeom prst="roundRect">
            <a:avLst>
              <a:gd name="adj" fmla="val 245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79792" y="2212848"/>
            <a:ext cx="100584" cy="896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62672" y="223113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respuesta</a:t>
            </a:r>
            <a:endParaRPr lang="en-US" sz="1060" dirty="0"/>
          </a:p>
        </p:txBody>
      </p:sp>
      <p:sp>
        <p:nvSpPr>
          <p:cNvPr id="21" name="Text 17"/>
          <p:cNvSpPr/>
          <p:nvPr/>
        </p:nvSpPr>
        <p:spPr>
          <a:xfrm>
            <a:off x="7662672" y="2505456"/>
            <a:ext cx="877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 lo que volvió desde esa solicitud.</a:t>
            </a:r>
            <a:endParaRPr lang="en-US" sz="720" dirty="0"/>
          </a:p>
        </p:txBody>
      </p:sp>
      <p:sp>
        <p:nvSpPr>
          <p:cNvPr id="22" name="Shape 18"/>
          <p:cNvSpPr/>
          <p:nvPr/>
        </p:nvSpPr>
        <p:spPr>
          <a:xfrm>
            <a:off x="8686800" y="2103120"/>
            <a:ext cx="1207008" cy="1115568"/>
          </a:xfrm>
          <a:prstGeom prst="roundRect">
            <a:avLst>
              <a:gd name="adj" fmla="val 245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759952" y="2212848"/>
            <a:ext cx="100584" cy="8961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942832" y="223113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datos</a:t>
            </a:r>
            <a:endParaRPr lang="en-US" sz="1060" dirty="0"/>
          </a:p>
        </p:txBody>
      </p:sp>
      <p:sp>
        <p:nvSpPr>
          <p:cNvPr id="25" name="Text 21"/>
          <p:cNvSpPr/>
          <p:nvPr/>
        </p:nvSpPr>
        <p:spPr>
          <a:xfrm>
            <a:off x="8942832" y="2505456"/>
            <a:ext cx="877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están listos para usarse dentro del script.</a:t>
            </a:r>
            <a:endParaRPr lang="en-US" sz="720" dirty="0"/>
          </a:p>
        </p:txBody>
      </p:sp>
      <p:sp>
        <p:nvSpPr>
          <p:cNvPr id="26" name="Shape 22"/>
          <p:cNvSpPr/>
          <p:nvPr/>
        </p:nvSpPr>
        <p:spPr>
          <a:xfrm>
            <a:off x="6108192" y="3675888"/>
            <a:ext cx="3785616" cy="138988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345936" y="391363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importante aquí no es la forma exacta, sino identificar en qué tramo puede estar fallando el flujo.</a:t>
            </a:r>
            <a:endParaRPr lang="en-US" sz="1380" dirty="0"/>
          </a:p>
        </p:txBody>
      </p:sp>
      <p:sp>
        <p:nvSpPr>
          <p:cNvPr id="28" name="Text 24"/>
          <p:cNvSpPr/>
          <p:nvPr/>
        </p:nvSpPr>
        <p:spPr>
          <a:xfrm>
            <a:off x="6345936" y="4572000"/>
            <a:ext cx="3310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solicitud · respuesta · JSON · uso posterior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 aparece como formato de intercambio inicial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hace falta convertirlo en una clase aparte: basta con poder leerlo como datos estructurados que luego terminarán en consola o en un nodo del DOM.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066544"/>
            <a:ext cx="4389120" cy="3108960"/>
          </a:xfrm>
          <a:prstGeom prst="roundRect">
            <a:avLst>
              <a:gd name="adj" fmla="val 117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176272"/>
            <a:ext cx="413308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249424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JSON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" y="2633472"/>
            <a:ext cx="9152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20" dirty="0"/>
          </a:p>
          <a:p>
            <a:pPr algn="r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20" dirty="0"/>
          </a:p>
          <a:p>
            <a:pPr algn="r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20" dirty="0"/>
          </a:p>
          <a:p>
            <a:pPr algn="r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20" dirty="0"/>
          </a:p>
          <a:p>
            <a:pPr algn="r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1316824" y="2633472"/>
            <a:ext cx="378552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"Leanne Graham",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"leanne@example.com"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5596128" y="2103120"/>
            <a:ext cx="4352544" cy="138988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87568" y="2231136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0" y="221284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conviene leerlo al principio</a:t>
            </a:r>
            <a:endParaRPr lang="en-US" sz="1560" dirty="0"/>
          </a:p>
        </p:txBody>
      </p:sp>
      <p:sp>
        <p:nvSpPr>
          <p:cNvPr id="18" name="Text 15"/>
          <p:cNvSpPr/>
          <p:nvPr/>
        </p:nvSpPr>
        <p:spPr>
          <a:xfrm>
            <a:off x="5852160" y="2560320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como decoración, sino como estructura útil: una propiedad puede terminar llenando una tarjeta, un título, un bloque de texto o una validación en consola.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596128" y="3822192"/>
            <a:ext cx="1261872" cy="1078992"/>
          </a:xfrm>
          <a:prstGeom prst="roundRect">
            <a:avLst>
              <a:gd name="adj" fmla="val 254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0" y="3931920"/>
            <a:ext cx="100584" cy="859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0" y="395020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5852160" y="4224528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terminar en un texto visible.</a:t>
            </a:r>
            <a:endParaRPr lang="en-US" sz="740" dirty="0"/>
          </a:p>
        </p:txBody>
      </p:sp>
      <p:sp>
        <p:nvSpPr>
          <p:cNvPr id="23" name="Shape 20"/>
          <p:cNvSpPr/>
          <p:nvPr/>
        </p:nvSpPr>
        <p:spPr>
          <a:xfrm>
            <a:off x="7132320" y="3822192"/>
            <a:ext cx="1261872" cy="1078992"/>
          </a:xfrm>
          <a:prstGeom prst="roundRect">
            <a:avLst>
              <a:gd name="adj" fmla="val 254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05472" y="3931920"/>
            <a:ext cx="100584" cy="859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88352" y="395020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email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7388352" y="4224528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completar un detalle o etiqueta.</a:t>
            </a:r>
            <a:endParaRPr lang="en-US" sz="740" dirty="0"/>
          </a:p>
        </p:txBody>
      </p:sp>
      <p:sp>
        <p:nvSpPr>
          <p:cNvPr id="27" name="Shape 24"/>
          <p:cNvSpPr/>
          <p:nvPr/>
        </p:nvSpPr>
        <p:spPr>
          <a:xfrm>
            <a:off x="8668512" y="3822192"/>
            <a:ext cx="1261872" cy="1078992"/>
          </a:xfrm>
          <a:prstGeom prst="roundRect">
            <a:avLst>
              <a:gd name="adj" fmla="val 254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741664" y="3931920"/>
            <a:ext cx="100584" cy="8595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24544" y="395020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8924544" y="4224528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confirmar estructura y consistencia.</a:t>
            </a:r>
            <a:endParaRPr lang="en-US" sz="7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Consumir datos simples tiene sentido cuando terminan en la interfaz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bloque no debería quedarse en `console.log(datos)`: el valor aparece de verdad cuando una propiedad útil modifica un elemento real del DOM.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066544"/>
            <a:ext cx="4956048" cy="2560320"/>
          </a:xfrm>
          <a:prstGeom prst="roundRect">
            <a:avLst>
              <a:gd name="adj" fmla="val 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176272"/>
            <a:ext cx="470001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249424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fetch al DOM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144" y="2633472"/>
            <a:ext cx="4535424" cy="18105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44768" y="2103120"/>
            <a:ext cx="3858768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72784" y="2231136"/>
            <a:ext cx="3602736" cy="310896"/>
          </a:xfrm>
          <a:prstGeom prst="roundRect">
            <a:avLst>
              <a:gd name="adj" fmla="val 11765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19088" y="2322576"/>
            <a:ext cx="331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externo -&gt; nodo visible</a:t>
            </a:r>
            <a:endParaRPr lang="en-US" sz="920" dirty="0"/>
          </a:p>
        </p:txBody>
      </p:sp>
      <p:sp>
        <p:nvSpPr>
          <p:cNvPr id="17" name="Shape 13"/>
          <p:cNvSpPr/>
          <p:nvPr/>
        </p:nvSpPr>
        <p:spPr>
          <a:xfrm>
            <a:off x="6345936" y="2798064"/>
            <a:ext cx="3474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45936" y="2798064"/>
            <a:ext cx="73152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47104" y="2926080"/>
            <a:ext cx="420624" cy="274320"/>
          </a:xfrm>
          <a:prstGeom prst="roundRect">
            <a:avLst>
              <a:gd name="adj" fmla="val 1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059168" y="296265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Nodo</a:t>
            </a:r>
            <a:endParaRPr lang="en-US" sz="1120" dirty="0"/>
          </a:p>
        </p:txBody>
      </p:sp>
      <p:sp>
        <p:nvSpPr>
          <p:cNvPr id="21" name="Shape 17"/>
          <p:cNvSpPr/>
          <p:nvPr/>
        </p:nvSpPr>
        <p:spPr>
          <a:xfrm>
            <a:off x="8193024" y="2926080"/>
            <a:ext cx="1408176" cy="237744"/>
          </a:xfrm>
          <a:prstGeom prst="roundRect">
            <a:avLst>
              <a:gd name="adj" fmla="val 153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21040" y="2990088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document.querySelector(...)</a:t>
            </a:r>
            <a:endParaRPr lang="en-US" sz="620" dirty="0"/>
          </a:p>
        </p:txBody>
      </p:sp>
      <p:sp>
        <p:nvSpPr>
          <p:cNvPr id="23" name="Text 19"/>
          <p:cNvSpPr/>
          <p:nvPr/>
        </p:nvSpPr>
        <p:spPr>
          <a:xfrm>
            <a:off x="6547104" y="3236976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selecciona el contenedor donde se quiere mostrar la información.</a:t>
            </a:r>
            <a:endParaRPr lang="en-US" sz="720" dirty="0"/>
          </a:p>
        </p:txBody>
      </p:sp>
      <p:sp>
        <p:nvSpPr>
          <p:cNvPr id="24" name="Shape 20"/>
          <p:cNvSpPr/>
          <p:nvPr/>
        </p:nvSpPr>
        <p:spPr>
          <a:xfrm>
            <a:off x="6345936" y="3675888"/>
            <a:ext cx="3474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45936" y="3675888"/>
            <a:ext cx="73152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547104" y="3803904"/>
            <a:ext cx="420624" cy="274320"/>
          </a:xfrm>
          <a:prstGeom prst="roundRect">
            <a:avLst>
              <a:gd name="adj" fmla="val 13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059168" y="384048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Dato</a:t>
            </a:r>
            <a:endParaRPr lang="en-US" sz="1120" dirty="0"/>
          </a:p>
        </p:txBody>
      </p:sp>
      <p:sp>
        <p:nvSpPr>
          <p:cNvPr id="28" name="Shape 24"/>
          <p:cNvSpPr/>
          <p:nvPr/>
        </p:nvSpPr>
        <p:spPr>
          <a:xfrm>
            <a:off x="8193024" y="3803904"/>
            <a:ext cx="1408176" cy="237744"/>
          </a:xfrm>
          <a:prstGeom prst="roundRect">
            <a:avLst>
              <a:gd name="adj" fmla="val 153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321040" y="386791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datos.name</a:t>
            </a:r>
            <a:endParaRPr lang="en-US" sz="620" dirty="0"/>
          </a:p>
        </p:txBody>
      </p:sp>
      <p:sp>
        <p:nvSpPr>
          <p:cNvPr id="30" name="Text 26"/>
          <p:cNvSpPr/>
          <p:nvPr/>
        </p:nvSpPr>
        <p:spPr>
          <a:xfrm>
            <a:off x="6547104" y="4114800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toma una propiedad útil del JSON ya interpretado.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6345936" y="4553712"/>
            <a:ext cx="3474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345936" y="4553712"/>
            <a:ext cx="73152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547104" y="4681728"/>
            <a:ext cx="420624" cy="274320"/>
          </a:xfrm>
          <a:prstGeom prst="roundRect">
            <a:avLst>
              <a:gd name="adj" fmla="val 1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059168" y="471830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Render</a:t>
            </a:r>
            <a:endParaRPr lang="en-US" sz="1120" dirty="0"/>
          </a:p>
        </p:txBody>
      </p:sp>
      <p:sp>
        <p:nvSpPr>
          <p:cNvPr id="35" name="Shape 31"/>
          <p:cNvSpPr/>
          <p:nvPr/>
        </p:nvSpPr>
        <p:spPr>
          <a:xfrm>
            <a:off x="8193024" y="4681728"/>
            <a:ext cx="1408176" cy="237744"/>
          </a:xfrm>
          <a:prstGeom prst="roundRect">
            <a:avLst>
              <a:gd name="adj" fmla="val 153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321040" y="4745736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nombre.textContent = datos.name</a:t>
            </a:r>
            <a:endParaRPr lang="en-US" sz="620" dirty="0"/>
          </a:p>
        </p:txBody>
      </p:sp>
      <p:sp>
        <p:nvSpPr>
          <p:cNvPr id="37" name="Text 33"/>
          <p:cNvSpPr/>
          <p:nvPr/>
        </p:nvSpPr>
        <p:spPr>
          <a:xfrm>
            <a:off x="6547104" y="4992624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cambia con información que no estaba escrita a mano en la página.</a:t>
            </a:r>
            <a:endParaRPr lang="en-US" sz="720" dirty="0"/>
          </a:p>
        </p:txBody>
      </p:sp>
      <p:sp>
        <p:nvSpPr>
          <p:cNvPr id="38" name="Text 34"/>
          <p:cNvSpPr/>
          <p:nvPr/>
        </p:nvSpPr>
        <p:spPr>
          <a:xfrm>
            <a:off x="6400800" y="5285232"/>
            <a:ext cx="3346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ya se conectan red, datos, DOM e interfaz.</a:t>
            </a:r>
            <a:endParaRPr lang="en-US" sz="7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`fetch`, la depuración ya incluye red, datos y renderizado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puede estar en la solicitud, en la respuesta, en la conversión a JSON o en el momento en que intentas usar el dato dentro del DOM.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50976" y="2139696"/>
            <a:ext cx="9052560" cy="338328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267712"/>
            <a:ext cx="879652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340864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lugares donde mirar cuando `fetch` no sale como esperabas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152144" y="2706624"/>
            <a:ext cx="278587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2144" y="2706624"/>
            <a:ext cx="73152" cy="18288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98448" y="28529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7452" y="2931932"/>
            <a:ext cx="280904" cy="280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28800" y="2907792"/>
            <a:ext cx="1944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298448" y="3438144"/>
            <a:ext cx="2493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 si la solicitud sí salió, si la URL era correcta y si hubo respuesta.</a:t>
            </a:r>
            <a:endParaRPr lang="en-US" sz="780" dirty="0"/>
          </a:p>
        </p:txBody>
      </p:sp>
      <p:sp>
        <p:nvSpPr>
          <p:cNvPr id="19" name="Shape 15"/>
          <p:cNvSpPr/>
          <p:nvPr/>
        </p:nvSpPr>
        <p:spPr>
          <a:xfrm>
            <a:off x="1298448" y="4041648"/>
            <a:ext cx="2493264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371600" y="4123944"/>
            <a:ext cx="234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petición ocurrió realmente?</a:t>
            </a:r>
            <a:endParaRPr lang="en-US" sz="720" dirty="0"/>
          </a:p>
        </p:txBody>
      </p:sp>
      <p:sp>
        <p:nvSpPr>
          <p:cNvPr id="21" name="Shape 17"/>
          <p:cNvSpPr/>
          <p:nvPr/>
        </p:nvSpPr>
        <p:spPr>
          <a:xfrm>
            <a:off x="4084320" y="2706624"/>
            <a:ext cx="278587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084320" y="2706624"/>
            <a:ext cx="73152" cy="18288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230624" y="28529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9628" y="2931932"/>
            <a:ext cx="280904" cy="28090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60976" y="2907792"/>
            <a:ext cx="1944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Console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230624" y="3438144"/>
            <a:ext cx="2493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 errores, estructura de `datos` y evidencias del punto donde se corta el flujo.</a:t>
            </a:r>
            <a:endParaRPr lang="en-US" sz="780" dirty="0"/>
          </a:p>
        </p:txBody>
      </p:sp>
      <p:sp>
        <p:nvSpPr>
          <p:cNvPr id="27" name="Shape 22"/>
          <p:cNvSpPr/>
          <p:nvPr/>
        </p:nvSpPr>
        <p:spPr>
          <a:xfrm>
            <a:off x="4230624" y="4041648"/>
            <a:ext cx="2493264" cy="310896"/>
          </a:xfrm>
          <a:prstGeom prst="roundRect">
            <a:avLst>
              <a:gd name="adj" fmla="val 882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303776" y="4123944"/>
            <a:ext cx="234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está diciendo la ejecución?</a:t>
            </a:r>
            <a:endParaRPr lang="en-US" sz="720" dirty="0"/>
          </a:p>
        </p:txBody>
      </p:sp>
      <p:sp>
        <p:nvSpPr>
          <p:cNvPr id="29" name="Shape 24"/>
          <p:cNvSpPr/>
          <p:nvPr/>
        </p:nvSpPr>
        <p:spPr>
          <a:xfrm>
            <a:off x="7016496" y="2706624"/>
            <a:ext cx="278587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016496" y="2706624"/>
            <a:ext cx="73152" cy="18288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162800" y="28529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41804" y="2931932"/>
            <a:ext cx="280904" cy="28090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693152" y="2907792"/>
            <a:ext cx="1944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162800" y="3438144"/>
            <a:ext cx="2493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Comprueba si el nodo existe y si el valor sí llegó a la propiedad correcta del elemento.</a:t>
            </a:r>
            <a:endParaRPr lang="en-US" sz="780" dirty="0"/>
          </a:p>
        </p:txBody>
      </p:sp>
      <p:sp>
        <p:nvSpPr>
          <p:cNvPr id="35" name="Shape 29"/>
          <p:cNvSpPr/>
          <p:nvPr/>
        </p:nvSpPr>
        <p:spPr>
          <a:xfrm>
            <a:off x="7162800" y="4041648"/>
            <a:ext cx="2493264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235952" y="4123944"/>
            <a:ext cx="234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render estaba apuntando bien?</a:t>
            </a:r>
            <a:endParaRPr lang="en-US" sz="720" dirty="0"/>
          </a:p>
        </p:txBody>
      </p:sp>
      <p:sp>
        <p:nvSpPr>
          <p:cNvPr id="37" name="Text 31"/>
          <p:cNvSpPr/>
          <p:nvPr/>
        </p:nvSpPr>
        <p:spPr>
          <a:xfrm>
            <a:off x="1133856" y="5358384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entra `fetch`, el diagnóstico ya no es solo de selectores: también es de red y estructura de datos.</a:t>
            </a:r>
            <a:endParaRPr lang="en-US" sz="8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explicar la cadena; tú validas la respuesta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ayuda mucho a ordenar etapas o sugerir un ejemplo simple, pero no conviene dar por bueno un `fetch` sin revisar URL, respuesta y renderizado.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9052560" cy="338328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79652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posible vs validación técnica obligatoria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06624"/>
            <a:ext cx="3520440" cy="2359152"/>
          </a:xfrm>
          <a:prstGeom prst="roundRect">
            <a:avLst>
              <a:gd name="adj" fmla="val 155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834640"/>
            <a:ext cx="109728" cy="21031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834640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89888" y="3108960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explicación del flujo y ejemplo inicial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89888" y="3456432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81328" y="356844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7632" y="3502152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desarmar la cadena de fetch por etapas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89888" y="3854196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81328" y="396621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3899916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una API simple para practicar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89888" y="4251960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81328" y="436397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297680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traducir un JSON a un lenguaje más claro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89888" y="4649724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81328" y="476173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27632" y="4695444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cómo llevar una propiedad al DOM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18504" y="2706624"/>
            <a:ext cx="3520440" cy="2359152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28232" y="2834640"/>
            <a:ext cx="109728" cy="21031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29400" y="2834640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29400" y="3108960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de la red, de los datos y del resultado visible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29400" y="3456432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20840" y="356844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67144" y="3502152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asumir que la URL responde sin probarla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29400" y="3854196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20840" y="396621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67144" y="3899916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por bueno un campo que no existe en la respuesta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29400" y="4251960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20840" y="436397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67144" y="4297680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 respuesta plausible con respuesta real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29400" y="4649724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20840" y="476173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67144" y="4695444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cerrar el caso sin revisar DOM, consola y Network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55464" y="307238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65192" y="321868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38344" y="363931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20056" y="32644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Verificación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4983480" y="405079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apoyo acelera hipótesis. La validez se comprueba en la solicitud real, en el JSON real y en el efecto visible.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133856" y="5120640"/>
            <a:ext cx="8650224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243584" y="5166360"/>
            <a:ext cx="8430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-&gt; solicitar -&gt; inspeccionar -&gt; renderizar -&gt; validar.</a:t>
            </a:r>
            <a:endParaRPr lang="en-US" sz="8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fijar 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meta es poder explicar qué problema nuevo resuelve `fetch`, cómo se lee su cadena y dónde buscar evidencia cuando algo falla.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1005840" y="2084832"/>
            <a:ext cx="8997696" cy="804672"/>
          </a:xfrm>
          <a:prstGeom prst="roundRect">
            <a:avLst>
              <a:gd name="adj" fmla="val 454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2212848"/>
            <a:ext cx="109728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872" y="2194560"/>
            <a:ext cx="8650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orientadora</a:t>
            </a:r>
            <a:endParaRPr lang="en-US" sz="1620" dirty="0"/>
          </a:p>
        </p:txBody>
      </p:sp>
      <p:sp>
        <p:nvSpPr>
          <p:cNvPr id="13" name="Text 10"/>
          <p:cNvSpPr/>
          <p:nvPr/>
        </p:nvSpPr>
        <p:spPr>
          <a:xfrm>
            <a:off x="1261872" y="2542032"/>
            <a:ext cx="8650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real de `fetch` aparece cuando la interfaz logra pedir datos externos, entender su estructura y convertirlos en un cambio visible y verificable.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1078992" y="3328416"/>
            <a:ext cx="2779776" cy="1481328"/>
          </a:xfrm>
          <a:prstGeom prst="roundRect">
            <a:avLst>
              <a:gd name="adj" fmla="val 246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70432" y="3456432"/>
            <a:ext cx="109728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35024" y="34381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520" dirty="0"/>
          </a:p>
        </p:txBody>
      </p:sp>
      <p:sp>
        <p:nvSpPr>
          <p:cNvPr id="17" name="Text 14"/>
          <p:cNvSpPr/>
          <p:nvPr/>
        </p:nvSpPr>
        <p:spPr>
          <a:xfrm>
            <a:off x="1335024" y="3785616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problema nuevo resuelve `fetch` respecto de los ejemplos que solo trabajan con datos locales?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4096512" y="3328416"/>
            <a:ext cx="2779776" cy="1481328"/>
          </a:xfrm>
          <a:prstGeom prst="roundRect">
            <a:avLst>
              <a:gd name="adj" fmla="val 246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87952" y="3456432"/>
            <a:ext cx="109728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52544" y="34381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520" dirty="0"/>
          </a:p>
        </p:txBody>
      </p:sp>
      <p:sp>
        <p:nvSpPr>
          <p:cNvPr id="21" name="Text 18"/>
          <p:cNvSpPr/>
          <p:nvPr/>
        </p:nvSpPr>
        <p:spPr>
          <a:xfrm>
            <a:off x="4352544" y="3785616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conviene leer una cadena de `fetch` por etapas y no como una sola línea mágica?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7114032" y="3328416"/>
            <a:ext cx="2779776" cy="1481328"/>
          </a:xfrm>
          <a:prstGeom prst="roundRect">
            <a:avLst>
              <a:gd name="adj" fmla="val 246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05472" y="3456432"/>
            <a:ext cx="109728" cy="1225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70064" y="34381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520" dirty="0"/>
          </a:p>
        </p:txBody>
      </p:sp>
      <p:sp>
        <p:nvSpPr>
          <p:cNvPr id="25" name="Text 22"/>
          <p:cNvSpPr/>
          <p:nvPr/>
        </p:nvSpPr>
        <p:spPr>
          <a:xfrm>
            <a:off x="7370064" y="3785616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cambia en la depuración cuando ya no solo hay DOM, sino también red y respuestas JSON?</a:t>
            </a:r>
            <a:endParaRPr lang="en-US" sz="101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quedó instalada la cadena completa entre solicitud, respuesta, JSON y actualización visible del DOM.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1097280" y="2212848"/>
            <a:ext cx="2706624" cy="1042416"/>
          </a:xfrm>
          <a:prstGeom prst="roundRect">
            <a:avLst>
              <a:gd name="adj" fmla="val 26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70432" y="2322576"/>
            <a:ext cx="100584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53312" y="23408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Solicitar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1353312" y="26151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`fetch` para pedir información que no estaba en la página.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096512" y="2212848"/>
            <a:ext cx="2706624" cy="1042416"/>
          </a:xfrm>
          <a:prstGeom prst="roundRect">
            <a:avLst>
              <a:gd name="adj" fmla="val 26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9664" y="2322576"/>
            <a:ext cx="100584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52544" y="23408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Interpretar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4352544" y="26151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respuesta y JSON para saber qué dato sí se puede usar.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7095744" y="2212848"/>
            <a:ext cx="2706624" cy="1042416"/>
          </a:xfrm>
          <a:prstGeom prst="roundRect">
            <a:avLst>
              <a:gd name="adj" fmla="val 263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68896" y="2322576"/>
            <a:ext cx="100584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51776" y="23408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Renderizar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7351776" y="26151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llevar una propiedad útil al DOM y verificar el cambio visible.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1005840" y="3822192"/>
            <a:ext cx="8997696" cy="987552"/>
          </a:xfrm>
          <a:prstGeom prst="roundRect">
            <a:avLst>
              <a:gd name="adj" fmla="val 370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07008" y="3986784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 bloque 4: ahora que ya hay DOM, red y datos externos en juego, el siguiente paso es ordenar una rutina de depuración más completa y más profesional.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426464" y="5102352"/>
            <a:ext cx="8193024" cy="384048"/>
          </a:xfrm>
          <a:prstGeom prst="roundRect">
            <a:avLst>
              <a:gd name="adj" fmla="val 95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719072" y="5212080"/>
            <a:ext cx="7607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aquí el debugging ya no es opcional: pasa a ser parte central del trabajo técnico.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 · Depuración inicial, documentación y apoyo de agentes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clase cierra uniendo DOM, `fetch` y evidencia técnica dentro de una rutina de revisión más ordenada y más profesional.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50976" y="2066544"/>
            <a:ext cx="9070848" cy="896112"/>
          </a:xfrm>
          <a:prstGeom prst="roundRect">
            <a:avLst>
              <a:gd name="adj" fmla="val 408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144" y="2231136"/>
            <a:ext cx="866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Depurar no es adivinar. Es aislar etapas, leer evidencia y comprobar dónde se corta el flujo.</a:t>
            </a:r>
            <a:endParaRPr lang="en-US" sz="1840" dirty="0"/>
          </a:p>
        </p:txBody>
      </p:sp>
      <p:sp>
        <p:nvSpPr>
          <p:cNvPr id="12" name="Shape 9"/>
          <p:cNvSpPr/>
          <p:nvPr/>
        </p:nvSpPr>
        <p:spPr>
          <a:xfrm>
            <a:off x="1078992" y="3419856"/>
            <a:ext cx="2779776" cy="1042416"/>
          </a:xfrm>
          <a:prstGeom prst="roundRect">
            <a:avLst>
              <a:gd name="adj" fmla="val 26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2144" y="3529584"/>
            <a:ext cx="100584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35024" y="354787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335024" y="3822192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puede estar en el nodo, el selector o el evento que nunca ocurrió.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4096512" y="3419856"/>
            <a:ext cx="2779776" cy="1042416"/>
          </a:xfrm>
          <a:prstGeom prst="roundRect">
            <a:avLst>
              <a:gd name="adj" fmla="val 26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9664" y="3529584"/>
            <a:ext cx="100584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52544" y="354787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 y datos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4352544" y="3822192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solicitud puede fallar, devolver otra estructura o no traer la propiedad esperada.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7114032" y="3419856"/>
            <a:ext cx="2779776" cy="1042416"/>
          </a:xfrm>
          <a:prstGeom prst="roundRect">
            <a:avLst>
              <a:gd name="adj" fmla="val 263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529584"/>
            <a:ext cx="100584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70064" y="354787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Render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7370064" y="3822192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dato puede llegar bien y aun así terminar aplicado en el nodo equivocado.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1700784" y="4828032"/>
            <a:ext cx="7571232" cy="603504"/>
          </a:xfrm>
          <a:prstGeom prst="roundRect">
            <a:avLst>
              <a:gd name="adj" fmla="val 60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938528" y="5020056"/>
            <a:ext cx="7095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error deja de leerse como fracaso y empieza a leerse como pista dentro de una cadena verificable.</a:t>
            </a:r>
            <a:endParaRPr lang="en-US" sz="10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una interfaz falla, el problema no siempre está donde creemos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de DOM y `fetch`, ya existen varias etapas posibles donde un flujo puede romperse. La intuición sola deja de alcanzar.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69264" y="2139696"/>
            <a:ext cx="4443984" cy="2267712"/>
          </a:xfrm>
          <a:prstGeom prst="roundRect">
            <a:avLst>
              <a:gd name="adj" fmla="val 161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109728" cy="20116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24942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Síntoma visible</a:t>
            </a:r>
            <a:endParaRPr lang="en-US" sz="1720" dirty="0"/>
          </a:p>
        </p:txBody>
      </p:sp>
      <p:sp>
        <p:nvSpPr>
          <p:cNvPr id="13" name="Text 10"/>
          <p:cNvSpPr/>
          <p:nvPr/>
        </p:nvSpPr>
        <p:spPr>
          <a:xfrm>
            <a:off x="1225296" y="2596896"/>
            <a:ext cx="409651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no cambió, el dato no apareció o el comportamiento no fue el esperado. Ese síntoma es real, pero todavía no dice en qué parte del flujo se originó el problema.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5559552" y="2999232"/>
            <a:ext cx="256032" cy="31089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0176" y="2139696"/>
            <a:ext cx="3968496" cy="2267712"/>
          </a:xfrm>
          <a:prstGeom prst="roundRect">
            <a:avLst>
              <a:gd name="adj" fmla="val 161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71616" y="2267712"/>
            <a:ext cx="109728" cy="20116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2249424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Posibles causas</a:t>
            </a:r>
            <a:endParaRPr lang="en-US" sz="1720" dirty="0"/>
          </a:p>
        </p:txBody>
      </p:sp>
      <p:sp>
        <p:nvSpPr>
          <p:cNvPr id="18" name="Text 15"/>
          <p:cNvSpPr/>
          <p:nvPr/>
        </p:nvSpPr>
        <p:spPr>
          <a:xfrm>
            <a:off x="6236208" y="2596896"/>
            <a:ext cx="362102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selector incorrecto, evento no disparado, solicitud fallida, propiedad inexistente o render aplicado en el nodo equivocado. El problema técnico consiste en aislar cuál de esas etapas sí falló.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1133856" y="4736592"/>
            <a:ext cx="8759952" cy="713232"/>
          </a:xfrm>
          <a:prstGeom prst="roundRect">
            <a:avLst>
              <a:gd name="adj" fmla="val 512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35024" y="4901184"/>
            <a:ext cx="8357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Debugging sano: menos ensayo al azar y más evidencia por etapas.</a:t>
            </a:r>
            <a:endParaRPr lang="en-US" sz="15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ruta inicial de depuración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utilidad pedagógica del bloque está en instalar una rutina corta y repetible que ayude a revisar el flujo sin ansiedad y sin prueba y error caótico.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487168"/>
            <a:ext cx="1517904" cy="1078992"/>
          </a:xfrm>
          <a:prstGeom prst="roundRect">
            <a:avLst>
              <a:gd name="adj" fmla="val 254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596896"/>
            <a:ext cx="100584" cy="859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6151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DOM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52144" y="2889504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si el elemento existe.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560320" y="2816352"/>
            <a:ext cx="164592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34640" y="2487168"/>
            <a:ext cx="1517904" cy="1078992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07792" y="2596896"/>
            <a:ext cx="100584" cy="859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90672" y="26151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Acción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090672" y="2889504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si el evento o script sí corrió.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4498848" y="2816352"/>
            <a:ext cx="164592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73168" y="2487168"/>
            <a:ext cx="1517904" cy="1078992"/>
          </a:xfrm>
          <a:prstGeom prst="roundRect">
            <a:avLst>
              <a:gd name="adj" fmla="val 254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46320" y="2596896"/>
            <a:ext cx="100584" cy="859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0" y="26151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Consola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29200" y="2889504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valores, `null` o errores.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437376" y="2816352"/>
            <a:ext cx="164592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11696" y="2487168"/>
            <a:ext cx="1517904" cy="1078992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84848" y="2596896"/>
            <a:ext cx="100584" cy="8595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67728" y="26151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Red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67728" y="2889504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mirar si `fetch` salió y respondió.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8375904" y="2816352"/>
            <a:ext cx="164592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50224" y="2487168"/>
            <a:ext cx="1517904" cy="1078992"/>
          </a:xfrm>
          <a:prstGeom prst="roundRect">
            <a:avLst>
              <a:gd name="adj" fmla="val 254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23376" y="2596896"/>
            <a:ext cx="100584" cy="8595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906256" y="26151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Render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906256" y="2889504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comprobar el cambio visible final.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078992" y="4133088"/>
            <a:ext cx="8741664" cy="1097280"/>
          </a:xfrm>
          <a:prstGeom prst="roundRect">
            <a:avLst>
              <a:gd name="adj" fmla="val 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70432" y="4261104"/>
            <a:ext cx="109728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335024" y="4242816"/>
            <a:ext cx="8394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instala esta secuencia</a:t>
            </a:r>
            <a:endParaRPr lang="en-US" sz="1560" dirty="0"/>
          </a:p>
        </p:txBody>
      </p:sp>
      <p:sp>
        <p:nvSpPr>
          <p:cNvPr id="37" name="Text 34"/>
          <p:cNvSpPr/>
          <p:nvPr/>
        </p:nvSpPr>
        <p:spPr>
          <a:xfrm>
            <a:off x="1335024" y="4590288"/>
            <a:ext cx="8394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mismo síntoma puede tener causas distintas. La ruta de revisión obliga a aislar etapas y evita cambiar varias cosas a la vez sin saber cuál resolvió realmente el problema.</a:t>
            </a:r>
            <a:endParaRPr lang="en-US" sz="9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consola se vuelve fuente de evidencia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no solo confirma que el script corrió: también permite distinguir entre un selector `null`, un dato inexistente, un error de referencia o una respuesta inesperada.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50976" y="2103120"/>
            <a:ext cx="4462272" cy="2048256"/>
          </a:xfrm>
          <a:prstGeom prst="roundRect">
            <a:avLst>
              <a:gd name="adj" fmla="val 178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212848"/>
            <a:ext cx="420624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286000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Lecturas mínimas útiles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432" y="2670048"/>
            <a:ext cx="4041648" cy="12984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14416" y="2139696"/>
            <a:ext cx="4389120" cy="3054096"/>
          </a:xfrm>
          <a:prstGeom prst="roundRect">
            <a:avLst>
              <a:gd name="adj" fmla="val 11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97296" y="2286000"/>
            <a:ext cx="4023360" cy="310896"/>
          </a:xfrm>
          <a:prstGeom prst="roundRect">
            <a:avLst>
              <a:gd name="adj" fmla="val 1176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80176" y="2386584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evidencia conviene buscar</a:t>
            </a:r>
            <a:endParaRPr lang="en-US" sz="920" dirty="0"/>
          </a:p>
        </p:txBody>
      </p:sp>
      <p:sp>
        <p:nvSpPr>
          <p:cNvPr id="17" name="Shape 13"/>
          <p:cNvSpPr/>
          <p:nvPr/>
        </p:nvSpPr>
        <p:spPr>
          <a:xfrm>
            <a:off x="5797296" y="2761488"/>
            <a:ext cx="40233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97296" y="2761488"/>
            <a:ext cx="73152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98464" y="2871216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73952" y="2889504"/>
            <a:ext cx="3108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Selector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998464" y="3108960"/>
            <a:ext cx="3675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si el nodo existe o si el selector devolvio `null`.</a:t>
            </a:r>
            <a:endParaRPr lang="en-US" sz="740" dirty="0"/>
          </a:p>
        </p:txBody>
      </p:sp>
      <p:sp>
        <p:nvSpPr>
          <p:cNvPr id="22" name="Text 18"/>
          <p:cNvSpPr/>
          <p:nvPr/>
        </p:nvSpPr>
        <p:spPr>
          <a:xfrm>
            <a:off x="5998464" y="3255264"/>
            <a:ext cx="3675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util: ?la referencia es real?</a:t>
            </a:r>
            <a:endParaRPr lang="en-US" sz="680" dirty="0"/>
          </a:p>
        </p:txBody>
      </p:sp>
      <p:sp>
        <p:nvSpPr>
          <p:cNvPr id="23" name="Shape 19"/>
          <p:cNvSpPr/>
          <p:nvPr/>
        </p:nvSpPr>
        <p:spPr>
          <a:xfrm>
            <a:off x="5797296" y="3511296"/>
            <a:ext cx="40233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797296" y="3511296"/>
            <a:ext cx="73152" cy="6217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998464" y="362102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73952" y="3639312"/>
            <a:ext cx="3108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Dato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998464" y="3858768"/>
            <a:ext cx="3675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si la propiedad que quieres usar si viene en la respuesta.</a:t>
            </a:r>
            <a:endParaRPr lang="en-US" sz="740" dirty="0"/>
          </a:p>
        </p:txBody>
      </p:sp>
      <p:sp>
        <p:nvSpPr>
          <p:cNvPr id="28" name="Text 24"/>
          <p:cNvSpPr/>
          <p:nvPr/>
        </p:nvSpPr>
        <p:spPr>
          <a:xfrm>
            <a:off x="5998464" y="4005072"/>
            <a:ext cx="3675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util: ?el JSON trae ese campo?</a:t>
            </a:r>
            <a:endParaRPr lang="en-US" sz="680" dirty="0"/>
          </a:p>
        </p:txBody>
      </p:sp>
      <p:sp>
        <p:nvSpPr>
          <p:cNvPr id="29" name="Shape 25"/>
          <p:cNvSpPr/>
          <p:nvPr/>
        </p:nvSpPr>
        <p:spPr>
          <a:xfrm>
            <a:off x="5797296" y="4261104"/>
            <a:ext cx="40233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797296" y="4261104"/>
            <a:ext cx="73152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998464" y="4370832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473952" y="4389120"/>
            <a:ext cx="3108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Error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98464" y="4608576"/>
            <a:ext cx="3675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la pista concreta para distinguir sintaxis, red o referencia.</a:t>
            </a:r>
            <a:endParaRPr lang="en-US" sz="740" dirty="0"/>
          </a:p>
        </p:txBody>
      </p:sp>
      <p:sp>
        <p:nvSpPr>
          <p:cNvPr id="34" name="Text 30"/>
          <p:cNvSpPr/>
          <p:nvPr/>
        </p:nvSpPr>
        <p:spPr>
          <a:xfrm>
            <a:off x="5998464" y="4754880"/>
            <a:ext cx="3675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util: ?en que etapa se corto el flujo?</a:t>
            </a:r>
            <a:endParaRPr lang="en-US" sz="680" dirty="0"/>
          </a:p>
        </p:txBody>
      </p:sp>
      <p:sp>
        <p:nvSpPr>
          <p:cNvPr id="35" name="Text 31"/>
          <p:cNvSpPr/>
          <p:nvPr/>
        </p:nvSpPr>
        <p:spPr>
          <a:xfrm>
            <a:off x="5870448" y="5010912"/>
            <a:ext cx="3877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consola deja de ser accesorio: se vuelve evidencia tecnica.</a:t>
            </a:r>
            <a:endParaRPr lang="en-US" sz="7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Documentar un flujo simple también ayuda a entenderlo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 estudiante puede describir un caso breve por etapas, deja de sentir que el código solo ocurre y empieza a reconocer una secuencia técnica concreta.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87552" y="2139696"/>
            <a:ext cx="4315968" cy="2231136"/>
          </a:xfrm>
          <a:prstGeom prst="roundRect">
            <a:avLst>
              <a:gd name="adj" fmla="val 163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568" y="2249424"/>
            <a:ext cx="40599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3225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de microdocumentación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008" y="2706624"/>
            <a:ext cx="3895344" cy="14813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32704" y="2212848"/>
            <a:ext cx="1298448" cy="1152144"/>
          </a:xfrm>
          <a:prstGeom prst="roundRect">
            <a:avLst>
              <a:gd name="adj" fmla="val 23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05856" y="2322576"/>
            <a:ext cx="100584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88736" y="23408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Secuencia</a:t>
            </a:r>
            <a:endParaRPr lang="en-US" sz="1120" dirty="0"/>
          </a:p>
        </p:txBody>
      </p:sp>
      <p:sp>
        <p:nvSpPr>
          <p:cNvPr id="17" name="Text 13"/>
          <p:cNvSpPr/>
          <p:nvPr/>
        </p:nvSpPr>
        <p:spPr>
          <a:xfrm>
            <a:off x="5888736" y="2615184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obliga a ordenar el flujo paso a paso.</a:t>
            </a:r>
            <a:endParaRPr lang="en-US" sz="760" dirty="0"/>
          </a:p>
        </p:txBody>
      </p:sp>
      <p:sp>
        <p:nvSpPr>
          <p:cNvPr id="18" name="Shape 14"/>
          <p:cNvSpPr/>
          <p:nvPr/>
        </p:nvSpPr>
        <p:spPr>
          <a:xfrm>
            <a:off x="7168896" y="2212848"/>
            <a:ext cx="1298448" cy="1152144"/>
          </a:xfrm>
          <a:prstGeom prst="roundRect">
            <a:avLst>
              <a:gd name="adj" fmla="val 23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42048" y="2322576"/>
            <a:ext cx="100584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24928" y="23408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Comprensión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7424928" y="2615184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si realmente se entendió qué hace cada tramo.</a:t>
            </a:r>
            <a:endParaRPr lang="en-US" sz="760" dirty="0"/>
          </a:p>
        </p:txBody>
      </p:sp>
      <p:sp>
        <p:nvSpPr>
          <p:cNvPr id="22" name="Shape 18"/>
          <p:cNvSpPr/>
          <p:nvPr/>
        </p:nvSpPr>
        <p:spPr>
          <a:xfrm>
            <a:off x="8705088" y="2212848"/>
            <a:ext cx="1298448" cy="1152144"/>
          </a:xfrm>
          <a:prstGeom prst="roundRect">
            <a:avLst>
              <a:gd name="adj" fmla="val 238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778240" y="2322576"/>
            <a:ext cx="100584" cy="9326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961120" y="23408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Comunicación</a:t>
            </a:r>
            <a:endParaRPr lang="en-US" sz="1120" dirty="0"/>
          </a:p>
        </p:txBody>
      </p:sp>
      <p:sp>
        <p:nvSpPr>
          <p:cNvPr id="25" name="Text 21"/>
          <p:cNvSpPr/>
          <p:nvPr/>
        </p:nvSpPr>
        <p:spPr>
          <a:xfrm>
            <a:off x="8961120" y="2615184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 cómo se explica un problema o una solución.</a:t>
            </a:r>
            <a:endParaRPr lang="en-US" sz="760" dirty="0"/>
          </a:p>
        </p:txBody>
      </p:sp>
      <p:sp>
        <p:nvSpPr>
          <p:cNvPr id="26" name="Shape 22"/>
          <p:cNvSpPr/>
          <p:nvPr/>
        </p:nvSpPr>
        <p:spPr>
          <a:xfrm>
            <a:off x="5504688" y="4023360"/>
            <a:ext cx="4553712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705856" y="4187952"/>
            <a:ext cx="4151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Poder explicarlo en cinco pasos simples suele ser una buena señal de que el flujo ya dejó de sentirse mágico.</a:t>
            </a:r>
            <a:endParaRPr lang="en-US" sz="15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Aquí el agente ayuda mucho, pero no reemplaza el diagnóstico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debugging puede explicar, resumir y proponer hipótesis, pero si parte de una suposición equivocada puede sonar convincente y aun así fallar.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9052560" cy="338328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79652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útil vs riesgo de delegación excesiva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06624"/>
            <a:ext cx="3520440" cy="2359152"/>
          </a:xfrm>
          <a:prstGeom prst="roundRect">
            <a:avLst>
              <a:gd name="adj" fmla="val 155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834640"/>
            <a:ext cx="109728" cy="21031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834640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89888" y="3108960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 iniciales y explicaciones de flujo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89888" y="3456432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81328" y="356844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7632" y="3502152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un error de consola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89888" y="3854196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81328" y="396621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3899916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resumir qué hace una cadena de `fetch`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89888" y="4251960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81328" y="436397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297680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ordenar pasos de revisión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89888" y="4649724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81328" y="476173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27632" y="4695444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ayudar a redactar una documentación breve del caso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18504" y="2706624"/>
            <a:ext cx="3520440" cy="2359152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28232" y="2834640"/>
            <a:ext cx="109728" cy="21031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29400" y="2834640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debe reemplazar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29400" y="3108960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real en herramientas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29400" y="3456432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20840" y="356844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67144" y="3502152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si el error coincide con el caso real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29400" y="3854196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20840" y="396621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67144" y="3899916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que el DOM inspeccionado es el mismo del código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29400" y="4251960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20840" y="436397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67144" y="4297680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comprobar la forma real de la respuesta de red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29400" y="4649724"/>
            <a:ext cx="3063240" cy="3063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20840" y="476173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67144" y="4695444"/>
            <a:ext cx="2770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que el problema quedó resuelto sin reejecutar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55464" y="307238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65192" y="321868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38344" y="363931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20056" y="32644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4983480" y="405079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explicación puede destrabar. El diagnóstico final sigue dependiendo de consola, Network, DOM e interfaz.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133856" y="5120640"/>
            <a:ext cx="8650224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243584" y="5166360"/>
            <a:ext cx="8430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Recoger evidencia -&gt; contrastar hipótesis -&gt; ejecutar de nuevo.</a:t>
            </a:r>
            <a:endParaRPr lang="en-US" sz="8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basta con hacer que funcione: importa entender por qué funcionó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cierre del bloque instala una primera idea de madurez técnica: una solución vale más cuando también puedes explicar qué parte fallaba y qué evidencia mostró que quedó bien.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87552" y="2066544"/>
            <a:ext cx="9015984" cy="914400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194560"/>
            <a:ext cx="109728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176272"/>
            <a:ext cx="8668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cambio valioso del miércoles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43584" y="2523744"/>
            <a:ext cx="8668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solución madura no solo arregla el resultado visible: también deja claro qué fallaba, qué evidencia apareció y por qué el ajuste fue el correcto.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1078992" y="3273552"/>
            <a:ext cx="4151376" cy="1810512"/>
          </a:xfrm>
          <a:prstGeom prst="roundRect">
            <a:avLst>
              <a:gd name="adj" fmla="val 202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3273552"/>
            <a:ext cx="73152" cy="18105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53312" y="347472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 frágil</a:t>
            </a:r>
            <a:endParaRPr lang="en-US" sz="1840" dirty="0"/>
          </a:p>
        </p:txBody>
      </p:sp>
      <p:sp>
        <p:nvSpPr>
          <p:cNvPr id="17" name="Text 14"/>
          <p:cNvSpPr/>
          <p:nvPr/>
        </p:nvSpPr>
        <p:spPr>
          <a:xfrm>
            <a:off x="1353312" y="3803904"/>
            <a:ext cx="3584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Cambia varias cosas a la vez.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Se guía por intuición sin evidencia.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Da por resuelto el caso sin explicar la causa.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5687568" y="3273552"/>
            <a:ext cx="4279392" cy="1810512"/>
          </a:xfrm>
          <a:prstGeom prst="roundRect">
            <a:avLst>
              <a:gd name="adj" fmla="val 202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87568" y="3273552"/>
            <a:ext cx="73152" cy="18105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474720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 con criterio</a:t>
            </a:r>
            <a:endParaRPr lang="en-US" sz="1840" dirty="0"/>
          </a:p>
        </p:txBody>
      </p:sp>
      <p:sp>
        <p:nvSpPr>
          <p:cNvPr id="21" name="Text 18"/>
          <p:cNvSpPr/>
          <p:nvPr/>
        </p:nvSpPr>
        <p:spPr>
          <a:xfrm>
            <a:off x="5961888" y="3803904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Aísla la etapa donde falló el flujo.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Contrasta DOM, datos y consola.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Reejecuta y explica por qué ahora sí funciona.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1408176" y="5230368"/>
            <a:ext cx="8211312" cy="310896"/>
          </a:xfrm>
          <a:prstGeom prst="roundRect">
            <a:avLst>
              <a:gd name="adj" fmla="val 1176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664208" y="5321808"/>
            <a:ext cx="7699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madurez técnica empieza cuando puedes justificar la corrección y no solo celebrar que la interfaz volvió a verse bien.</a:t>
            </a:r>
            <a:endParaRPr lang="en-US" sz="9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fijar el bloque 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meta es que el estudiante salga con una primera rutina de debugging, una relación clara con la consola y una mejor comprensión del valor de documentar un flujo.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1005840" y="2084832"/>
            <a:ext cx="8997696" cy="804672"/>
          </a:xfrm>
          <a:prstGeom prst="roundRect">
            <a:avLst>
              <a:gd name="adj" fmla="val 454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2212848"/>
            <a:ext cx="109728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872" y="2194560"/>
            <a:ext cx="8650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orientadora</a:t>
            </a:r>
            <a:endParaRPr lang="en-US" sz="1620" dirty="0"/>
          </a:p>
        </p:txBody>
      </p:sp>
      <p:sp>
        <p:nvSpPr>
          <p:cNvPr id="13" name="Text 10"/>
          <p:cNvSpPr/>
          <p:nvPr/>
        </p:nvSpPr>
        <p:spPr>
          <a:xfrm>
            <a:off x="1261872" y="2542032"/>
            <a:ext cx="8650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Depurar una interfaz con DOM y `fetch` significa revisar etapas con evidencia, no probar cambios al azar hasta que algo parezca funcionar.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1078992" y="3328416"/>
            <a:ext cx="2779776" cy="1481328"/>
          </a:xfrm>
          <a:prstGeom prst="roundRect">
            <a:avLst>
              <a:gd name="adj" fmla="val 246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70432" y="3456432"/>
            <a:ext cx="109728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35024" y="34381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520" dirty="0"/>
          </a:p>
        </p:txBody>
      </p:sp>
      <p:sp>
        <p:nvSpPr>
          <p:cNvPr id="17" name="Text 14"/>
          <p:cNvSpPr/>
          <p:nvPr/>
        </p:nvSpPr>
        <p:spPr>
          <a:xfrm>
            <a:off x="1335024" y="3785616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una interfaz puede fallar aunque el error no esté en la línea que primero sospechamos?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096512" y="3328416"/>
            <a:ext cx="2779776" cy="1481328"/>
          </a:xfrm>
          <a:prstGeom prst="roundRect">
            <a:avLst>
              <a:gd name="adj" fmla="val 246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87952" y="3456432"/>
            <a:ext cx="109728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52544" y="34381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520" dirty="0"/>
          </a:p>
        </p:txBody>
      </p:sp>
      <p:sp>
        <p:nvSpPr>
          <p:cNvPr id="21" name="Text 18"/>
          <p:cNvSpPr/>
          <p:nvPr/>
        </p:nvSpPr>
        <p:spPr>
          <a:xfrm>
            <a:off x="4352544" y="3785616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aporta una rutina por etapas frente a una estrategia de prueba y error desordenada?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14032" y="3328416"/>
            <a:ext cx="2779776" cy="1481328"/>
          </a:xfrm>
          <a:prstGeom prst="roundRect">
            <a:avLst>
              <a:gd name="adj" fmla="val 246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05472" y="3456432"/>
            <a:ext cx="109728" cy="1225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70064" y="34381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520" dirty="0"/>
          </a:p>
        </p:txBody>
      </p:sp>
      <p:sp>
        <p:nvSpPr>
          <p:cNvPr id="25" name="Text 22"/>
          <p:cNvSpPr/>
          <p:nvPr/>
        </p:nvSpPr>
        <p:spPr>
          <a:xfrm>
            <a:off x="7370064" y="3785616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sentido documentar un flujo simple también mejora la comprensión técnica?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depuración inicial ya quedó instalada como lectura técnica de evidencia en herramientas reales y no como intuición suelta.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1097280" y="2212848"/>
            <a:ext cx="2706624" cy="1042416"/>
          </a:xfrm>
          <a:prstGeom prst="roundRect">
            <a:avLst>
              <a:gd name="adj" fmla="val 26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70432" y="2322576"/>
            <a:ext cx="100584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53312" y="23408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Aislar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1353312" y="26151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en qué etapa del flujo aparece realmente la falla.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096512" y="2212848"/>
            <a:ext cx="2706624" cy="1042416"/>
          </a:xfrm>
          <a:prstGeom prst="roundRect">
            <a:avLst>
              <a:gd name="adj" fmla="val 26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9664" y="2322576"/>
            <a:ext cx="100584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52544" y="23408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evidencia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4352544" y="26151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consola, red, DOM e interfaz para comprobar hipótesis.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7095744" y="2212848"/>
            <a:ext cx="2706624" cy="1042416"/>
          </a:xfrm>
          <a:prstGeom prst="roundRect">
            <a:avLst>
              <a:gd name="adj" fmla="val 263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68896" y="2322576"/>
            <a:ext cx="100584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51776" y="23408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7351776" y="26151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que el flujo ya quedó bien y no solo aparentemente mejor.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987552" y="3822192"/>
            <a:ext cx="9015984" cy="950976"/>
          </a:xfrm>
          <a:prstGeom prst="roundRect">
            <a:avLst>
              <a:gd name="adj" fmla="val 384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88720" y="3986784"/>
            <a:ext cx="8613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este bloque la clase ya cierra una relación completa entre estructura, datos, comportamiento y depuración inicial.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408176" y="5102352"/>
            <a:ext cx="8211312" cy="384048"/>
          </a:xfrm>
          <a:prstGeom prst="roundRect">
            <a:avLst>
              <a:gd name="adj" fmla="val 95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700784" y="5212080"/>
            <a:ext cx="7626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Puente al cierre general: ya existe una base suficiente para entrar a JavaScript moderno con más seguridad técnica.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general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miercoles ya unio estructura viva, seleccion de nodos, datos externos y una primera rutina de debugging tecnico.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87552" y="1993392"/>
            <a:ext cx="9015984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2157984"/>
            <a:ext cx="8613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interfaz ya no se lee como algo estatico: se entiende como DOM, codigo, datos y evidencia trabajando juntos.</a:t>
            </a:r>
            <a:endParaRPr lang="en-US" sz="1740" dirty="0"/>
          </a:p>
        </p:txBody>
      </p:sp>
      <p:sp>
        <p:nvSpPr>
          <p:cNvPr id="12" name="Shape 9"/>
          <p:cNvSpPr/>
          <p:nvPr/>
        </p:nvSpPr>
        <p:spPr>
          <a:xfrm>
            <a:off x="1005840" y="3456432"/>
            <a:ext cx="1993392" cy="1408176"/>
          </a:xfrm>
          <a:prstGeom prst="roundRect">
            <a:avLst>
              <a:gd name="adj" fmla="val 25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584448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040" dirty="0"/>
          </a:p>
        </p:txBody>
      </p:sp>
      <p:sp>
        <p:nvSpPr>
          <p:cNvPr id="14" name="Text 11"/>
          <p:cNvSpPr/>
          <p:nvPr/>
        </p:nvSpPr>
        <p:spPr>
          <a:xfrm>
            <a:off x="1152144" y="3913632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 vivo</a:t>
            </a:r>
            <a:endParaRPr lang="en-US" sz="1480" dirty="0"/>
          </a:p>
        </p:txBody>
      </p:sp>
      <p:sp>
        <p:nvSpPr>
          <p:cNvPr id="15" name="Shape 12"/>
          <p:cNvSpPr/>
          <p:nvPr/>
        </p:nvSpPr>
        <p:spPr>
          <a:xfrm>
            <a:off x="3182112" y="4023360"/>
            <a:ext cx="164592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11296" y="3456432"/>
            <a:ext cx="1993392" cy="1408176"/>
          </a:xfrm>
          <a:prstGeom prst="roundRect">
            <a:avLst>
              <a:gd name="adj" fmla="val 259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11296" y="3584448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Accion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3657600" y="3913632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Seleccion y cambio</a:t>
            </a:r>
            <a:endParaRPr lang="en-US" sz="1480" dirty="0"/>
          </a:p>
        </p:txBody>
      </p:sp>
      <p:sp>
        <p:nvSpPr>
          <p:cNvPr id="19" name="Shape 16"/>
          <p:cNvSpPr/>
          <p:nvPr/>
        </p:nvSpPr>
        <p:spPr>
          <a:xfrm>
            <a:off x="5687568" y="4023360"/>
            <a:ext cx="164592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16752" y="3456432"/>
            <a:ext cx="1993392" cy="1408176"/>
          </a:xfrm>
          <a:prstGeom prst="roundRect">
            <a:avLst>
              <a:gd name="adj" fmla="val 25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16752" y="3584448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1040" dirty="0"/>
          </a:p>
        </p:txBody>
      </p:sp>
      <p:sp>
        <p:nvSpPr>
          <p:cNvPr id="22" name="Text 19"/>
          <p:cNvSpPr/>
          <p:nvPr/>
        </p:nvSpPr>
        <p:spPr>
          <a:xfrm>
            <a:off x="6163056" y="3913632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Fetch y JSON</a:t>
            </a:r>
            <a:endParaRPr lang="en-US" sz="1480" dirty="0"/>
          </a:p>
        </p:txBody>
      </p:sp>
      <p:sp>
        <p:nvSpPr>
          <p:cNvPr id="23" name="Shape 20"/>
          <p:cNvSpPr/>
          <p:nvPr/>
        </p:nvSpPr>
        <p:spPr>
          <a:xfrm>
            <a:off x="8193024" y="4023360"/>
            <a:ext cx="164592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22208" y="3456432"/>
            <a:ext cx="1481328" cy="1408176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22208" y="3584448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1040" dirty="0"/>
          </a:p>
        </p:txBody>
      </p:sp>
      <p:sp>
        <p:nvSpPr>
          <p:cNvPr id="26" name="Text 23"/>
          <p:cNvSpPr/>
          <p:nvPr/>
        </p:nvSpPr>
        <p:spPr>
          <a:xfrm>
            <a:off x="8668512" y="3913632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</a:t>
            </a:r>
            <a:endParaRPr lang="en-US" sz="1380" dirty="0"/>
          </a:p>
        </p:txBody>
      </p:sp>
      <p:sp>
        <p:nvSpPr>
          <p:cNvPr id="27" name="Shape 24"/>
          <p:cNvSpPr/>
          <p:nvPr/>
        </p:nvSpPr>
        <p:spPr>
          <a:xfrm>
            <a:off x="1408176" y="5138928"/>
            <a:ext cx="8193024" cy="347472"/>
          </a:xfrm>
          <a:prstGeom prst="roundRect">
            <a:avLst>
              <a:gd name="adj" fmla="val 1052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82496" y="5239512"/>
            <a:ext cx="7644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 encadenamiento es el verdadero aprendizaje del dia: no piezas sueltas, sino sistema conectado.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cadena tecnica que deberia quedar instalada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sesion tiene valor cuando el estudiante puede leerla como una secuencia que se ejecuta y se comprueba paso a paso.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468880"/>
            <a:ext cx="1847088" cy="1152144"/>
          </a:xfrm>
          <a:prstGeom prst="roundRect">
            <a:avLst>
              <a:gd name="adj" fmla="val 23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578608"/>
            <a:ext cx="100584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59689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HTML y DOM</a:t>
            </a:r>
            <a:endParaRPr lang="en-US" sz="1260" dirty="0"/>
          </a:p>
        </p:txBody>
      </p:sp>
      <p:sp>
        <p:nvSpPr>
          <p:cNvPr id="13" name="Text 10"/>
          <p:cNvSpPr/>
          <p:nvPr/>
        </p:nvSpPr>
        <p:spPr>
          <a:xfrm>
            <a:off x="1152144" y="2871216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navegador construye una estructura viva sobre la que JavaScript puede operar.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2889504" y="2907792"/>
            <a:ext cx="20116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2468880"/>
            <a:ext cx="1847088" cy="1152144"/>
          </a:xfrm>
          <a:prstGeom prst="roundRect">
            <a:avLst>
              <a:gd name="adj" fmla="val 23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73552" y="2578608"/>
            <a:ext cx="100584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56432" y="259689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Selector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3456432" y="2871216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ubica el nodo correcto y se guarda la referencia que despues se va a leer o modificar.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5193792" y="2907792"/>
            <a:ext cx="20116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04688" y="2468880"/>
            <a:ext cx="1847088" cy="1152144"/>
          </a:xfrm>
          <a:prstGeom prst="roundRect">
            <a:avLst>
              <a:gd name="adj" fmla="val 238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77840" y="2578608"/>
            <a:ext cx="100584" cy="9326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0" y="259689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Dato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5760720" y="2871216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permite traer informacion externa y convertirla en un objeto que la interfaz puede usar.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7498080" y="2907792"/>
            <a:ext cx="20116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08976" y="2468880"/>
            <a:ext cx="2157984" cy="115214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882128" y="2578608"/>
            <a:ext cx="100584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65008" y="25968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Render y evidencia</a:t>
            </a:r>
            <a:endParaRPr lang="en-US" sz="1240" dirty="0"/>
          </a:p>
        </p:txBody>
      </p:sp>
      <p:sp>
        <p:nvSpPr>
          <p:cNvPr id="28" name="Text 25"/>
          <p:cNvSpPr/>
          <p:nvPr/>
        </p:nvSpPr>
        <p:spPr>
          <a:xfrm>
            <a:off x="8065008" y="287121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propiedad se actualiza y luego se valida con DOM, consola, red e interfaz.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1078992" y="4023360"/>
            <a:ext cx="8906256" cy="1005840"/>
          </a:xfrm>
          <a:prstGeom prst="roundRect">
            <a:avLst>
              <a:gd name="adj" fmla="val 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70432" y="4151376"/>
            <a:ext cx="109728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35024" y="4133088"/>
            <a:ext cx="8558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madura de la secuencia</a:t>
            </a:r>
            <a:endParaRPr lang="en-US" sz="1580" dirty="0"/>
          </a:p>
        </p:txBody>
      </p:sp>
      <p:sp>
        <p:nvSpPr>
          <p:cNvPr id="32" name="Text 29"/>
          <p:cNvSpPr/>
          <p:nvPr/>
        </p:nvSpPr>
        <p:spPr>
          <a:xfrm>
            <a:off x="1335024" y="4480560"/>
            <a:ext cx="8558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resultado visible falla, el problema puede estar en cualquiera de esas etapas. Por eso conviene revisar el flujo completo antes de cambiar cosas al azar.</a:t>
            </a:r>
            <a:endParaRPr lang="en-US" sz="96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 de trabajo que conviene conservar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clase tambien instala una forma de trabajar: comprender el sistema, apoyarse cuando sirve y validar con criterio.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87552" y="2157984"/>
            <a:ext cx="4315968" cy="1170432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286000"/>
            <a:ext cx="10972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26771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Entender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43584" y="2615184"/>
            <a:ext cx="3968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la estructura, el flujo y el rol de cada herramienta antes de tocar codigo al azar.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5559552" y="2157984"/>
            <a:ext cx="4407408" cy="1170432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50992" y="2286000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15584" y="226771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Apoyarse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815584" y="2615184"/>
            <a:ext cx="4059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agentes para explicar, comparar o proponer una primera hipotesis sin delegar el juicio tecnico.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987552" y="3639312"/>
            <a:ext cx="4315968" cy="1170432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8992" y="3767328"/>
            <a:ext cx="109728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43584" y="3749040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Verificar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43584" y="4096512"/>
            <a:ext cx="3968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Comprobar en DevTools, consola, Network y resultado visible que el flujo realmente coincide con la hipotesis.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5559552" y="3639312"/>
            <a:ext cx="4407408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50992" y="3767328"/>
            <a:ext cx="10972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15584" y="374904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Explicar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815584" y="4096512"/>
            <a:ext cx="4059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Poder justificar que parte estaba fallando y por que la correccion funciono vale mas que solo ver un resultado bonito.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1005840" y="4736592"/>
            <a:ext cx="8961120" cy="566928"/>
          </a:xfrm>
          <a:prstGeom prst="roundRect">
            <a:avLst>
              <a:gd name="adj" fmla="val 64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07008" y="4901184"/>
            <a:ext cx="8558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acelera partes del trabajo. La validez final sigue dependiendo de evidencia y criterio humano.</a:t>
            </a:r>
            <a:endParaRPr lang="en-US" sz="142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09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 siguiente tramo del modulo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esta base ya se puede entrar a JavaScript moderno con una lectura menos magica y mas tecnica de lo que pasa en la interfaz.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87552" y="2066544"/>
            <a:ext cx="4352544" cy="2487168"/>
          </a:xfrm>
          <a:prstGeom prst="roundRect">
            <a:avLst>
              <a:gd name="adj" fmla="val 14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194560"/>
            <a:ext cx="109728" cy="22311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17627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ya deberia quedar firme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43584" y="2523744"/>
            <a:ext cx="400507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 como estructura viva.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Selectores como referencias concretas.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como entrada de datos externos.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Debugging como lectura de evidencia por etapas.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96128" y="2066544"/>
            <a:ext cx="4389120" cy="2487168"/>
          </a:xfrm>
          <a:prstGeom prst="roundRect">
            <a:avLst>
              <a:gd name="adj" fmla="val 14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87568" y="2194560"/>
            <a:ext cx="109728" cy="22311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176272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viene despues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852160" y="2523744"/>
            <a:ext cx="404164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ES6+ con mas soltura.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Modulos y mejor organizacion.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Asincronia mas clara.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Promesas, manejo de errores y trabajo mas real sobre aplicaciones web.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87552" y="4828032"/>
            <a:ext cx="9015984" cy="694944"/>
          </a:xfrm>
          <a:prstGeom prst="roundRect">
            <a:avLst>
              <a:gd name="adj" fmla="val 526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4992624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clase no termina en fetch ni en el DOM: deja lista la base para entender JavaScript moderno con mas seguridad tecnica.</a:t>
            </a:r>
            <a:endParaRPr lang="en-US" sz="1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Manipulación del DOM, fetch y depuración inicial</dc:title>
  <dc:subject>Clase 09</dc:subject>
  <dc:creator>Codex</dc:creator>
  <cp:lastModifiedBy>Codex</cp:lastModifiedBy>
  <cp:revision>1</cp:revision>
  <dcterms:created xsi:type="dcterms:W3CDTF">2026-03-29T23:44:15Z</dcterms:created>
  <dcterms:modified xsi:type="dcterms:W3CDTF">2026-03-29T23:44:15Z</dcterms:modified>
</cp:coreProperties>
</file>