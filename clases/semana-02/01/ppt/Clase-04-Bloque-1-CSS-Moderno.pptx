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663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1099475"/>
            <a:ext cx="307238" cy="706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5342" y="822960"/>
            <a:ext cx="368686" cy="98316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5476" y="1099475"/>
            <a:ext cx="307238" cy="7066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731520"/>
            <a:ext cx="3246120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2256" y="859536"/>
            <a:ext cx="2483104" cy="8595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Semana 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32688" y="1847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moderno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Cascada, variables,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 y Grid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50976" y="36758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CSS como sistema de reglas, no como maquillaje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50976" y="4608576"/>
            <a:ext cx="2670048" cy="749808"/>
          </a:xfrm>
          <a:prstGeom prst="roundRect">
            <a:avLst>
              <a:gd name="adj" fmla="val 4878"/>
            </a:avLst>
          </a:prstGeom>
          <a:solidFill>
            <a:srgbClr val="295596"/>
          </a:solidFill>
          <a:ln w="12700">
            <a:solidFill>
              <a:srgbClr val="2955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2192" y="4608576"/>
            <a:ext cx="3493008" cy="749808"/>
          </a:xfrm>
          <a:prstGeom prst="roundRect">
            <a:avLst>
              <a:gd name="adj" fmla="val 48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15568" y="47823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23 de marzo de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10:00 - 13:00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041648" y="4828032"/>
            <a:ext cx="3054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capa visual también se diseña con criterio técnico.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 CSS aparece como lenguaje de reglas, conflicto, sistema y distribución.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31520" y="2048256"/>
            <a:ext cx="1847088" cy="1938528"/>
          </a:xfrm>
          <a:prstGeom prst="roundRect">
            <a:avLst>
              <a:gd name="adj" fmla="val 198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223113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7824" y="27614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como sistema de reglas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816352" y="2048256"/>
            <a:ext cx="1847088" cy="1938528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62656" y="223113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962656" y="27614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Cascada, herencia y especificidad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901184" y="2048256"/>
            <a:ext cx="1847088" cy="1938528"/>
          </a:xfrm>
          <a:prstGeom prst="roundRect">
            <a:avLst>
              <a:gd name="adj" fmla="val 198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47488" y="223113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47488" y="27614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y consistencia visual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986016" y="2048256"/>
            <a:ext cx="1847088" cy="1938528"/>
          </a:xfrm>
          <a:prstGeom prst="roundRect">
            <a:avLst>
              <a:gd name="adj" fmla="val 198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0" y="223113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132320" y="276148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 y Grid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2633472" y="2907792"/>
            <a:ext cx="201168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18304" y="2907792"/>
            <a:ext cx="201168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03136" y="2907792"/>
            <a:ext cx="201168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280160" y="4535424"/>
            <a:ext cx="9601200" cy="676656"/>
          </a:xfrm>
          <a:prstGeom prst="roundRect">
            <a:avLst>
              <a:gd name="adj" fmla="val 540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481328" y="4700016"/>
            <a:ext cx="9198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→ conflicto → consistencia → layout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 · CSS como sistema de reglas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central es simple: la apariencia también se construye con lógica técnica.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22960" y="2139696"/>
            <a:ext cx="3712464" cy="3035808"/>
          </a:xfrm>
          <a:prstGeom prst="roundRect">
            <a:avLst>
              <a:gd name="adj" fmla="val 120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545690"/>
            <a:ext cx="146304" cy="3364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54557" y="2414016"/>
            <a:ext cx="175565" cy="46817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59382" y="2545690"/>
            <a:ext cx="146304" cy="3364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8992" y="3108960"/>
            <a:ext cx="2377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organiza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presentación,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jerarquía y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espacio.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1078992" y="4645152"/>
            <a:ext cx="987552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52144" y="4681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&lt;selector&gt;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194560" y="4645152"/>
            <a:ext cx="1115568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67712" y="468172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&lt;propiedad&gt;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419856" y="4645152"/>
            <a:ext cx="896112" cy="256032"/>
          </a:xfrm>
          <a:prstGeom prst="roundRect">
            <a:avLst>
              <a:gd name="adj" fmla="val 1785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93008" y="4681728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&lt;valor&gt;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901184" y="2231136"/>
            <a:ext cx="3730752" cy="2267712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01184" y="2231136"/>
            <a:ext cx="373075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47488" y="2359152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93792" y="2359152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40096" y="2359152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68112" y="2331720"/>
            <a:ext cx="2816352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14416" y="2368296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https://demo.local/cards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5084064" y="2798064"/>
            <a:ext cx="3364992" cy="402336"/>
          </a:xfrm>
          <a:prstGeom prst="roundRect">
            <a:avLst>
              <a:gd name="adj" fmla="val 681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93792" y="2907792"/>
            <a:ext cx="3145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102352" y="3364992"/>
            <a:ext cx="163677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84848" y="3364992"/>
            <a:ext cx="163677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102352" y="4005072"/>
            <a:ext cx="163677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84848" y="4005072"/>
            <a:ext cx="163677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05472" y="4663440"/>
            <a:ext cx="1060704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887968" y="2249424"/>
            <a:ext cx="1938528" cy="749808"/>
          </a:xfrm>
          <a:prstGeom prst="roundRect">
            <a:avLst>
              <a:gd name="adj" fmla="val 48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979408" y="2377440"/>
            <a:ext cx="109728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44000" y="235915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9144000" y="27066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visible nace desde declaraciones concretas.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887968" y="3163824"/>
            <a:ext cx="1938528" cy="749808"/>
          </a:xfrm>
          <a:prstGeom prst="roundRect">
            <a:avLst>
              <a:gd name="adj" fmla="val 48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979408" y="3291840"/>
            <a:ext cx="109728" cy="4937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144000" y="327355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Jerarquía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9144000" y="36210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todo pesa igual ni todo debería escribirse al azar.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8887968" y="4078224"/>
            <a:ext cx="1938528" cy="749808"/>
          </a:xfrm>
          <a:prstGeom prst="roundRect">
            <a:avLst>
              <a:gd name="adj" fmla="val 487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979408" y="4206240"/>
            <a:ext cx="109728" cy="4937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144000" y="418795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9144000" y="453542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también decide cómo se ordena lo que aparece en pantalla.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 estructura, CSS presenta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misma página necesita una capa para significado y otra para presentación.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22960" y="2139696"/>
            <a:ext cx="3694176" cy="2962656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267712"/>
            <a:ext cx="109728" cy="2706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249424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078992" y="2596896"/>
            <a:ext cx="33467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qué es cada parte del documento: títulos, secciones, formularios, navegación y contenido principal.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81728" y="2139696"/>
            <a:ext cx="3694176" cy="2962656"/>
          </a:xfrm>
          <a:prstGeom prst="roundRect">
            <a:avLst>
              <a:gd name="adj" fmla="val 123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73168" y="2267712"/>
            <a:ext cx="109728" cy="2706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7760" y="2249424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937760" y="2596896"/>
            <a:ext cx="33467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cómo se ve esa estructura: color, tamaño, espaciado, alineación, distribución y estados visuales.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53712" y="3291840"/>
            <a:ext cx="146304" cy="23774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68512" y="2212848"/>
            <a:ext cx="261518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887968" y="2432304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0" y="2505456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</a:t>
            </a:r>
            <a:endParaRPr lang="en-US" sz="890" dirty="0"/>
          </a:p>
        </p:txBody>
      </p:sp>
      <p:sp>
        <p:nvSpPr>
          <p:cNvPr id="22" name="Shape 19"/>
          <p:cNvSpPr/>
          <p:nvPr/>
        </p:nvSpPr>
        <p:spPr>
          <a:xfrm>
            <a:off x="10040112" y="2432304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13264" y="2505456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</a:t>
            </a:r>
            <a:endParaRPr lang="en-US" sz="890" dirty="0"/>
          </a:p>
        </p:txBody>
      </p:sp>
      <p:sp>
        <p:nvSpPr>
          <p:cNvPr id="24" name="Text 21"/>
          <p:cNvSpPr/>
          <p:nvPr/>
        </p:nvSpPr>
        <p:spPr>
          <a:xfrm>
            <a:off x="8924544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organiza contenido.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otra organiza apariencia.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1078992" y="5230368"/>
            <a:ext cx="10003536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80160" y="5394960"/>
            <a:ext cx="9601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estructura y presentación mejora lectura, corrección y mantenimiento.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contenido a la interfaz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apariencia final no aparece por magia: nace de una estructura y de reglas escritas sobre ella.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31136"/>
            <a:ext cx="219456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35915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40864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Contenido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2688336"/>
            <a:ext cx="18470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Texto, acciones, bloques y jerarquía del documento.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145536" y="2706624"/>
            <a:ext cx="274320" cy="2560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9584" y="2157984"/>
            <a:ext cx="2651760" cy="1481328"/>
          </a:xfrm>
          <a:prstGeom prst="roundRect">
            <a:avLst>
              <a:gd name="adj" fmla="val 185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02736" y="2267712"/>
            <a:ext cx="100584" cy="12618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85616" y="2286000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CSS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3785616" y="2560320"/>
            <a:ext cx="23225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Selectores, propiedades y valores convierten intención visual en instrucciones.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345936" y="2706624"/>
            <a:ext cx="27432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66560" y="2084832"/>
            <a:ext cx="3712464" cy="2615184"/>
          </a:xfrm>
          <a:prstGeom prst="roundRect">
            <a:avLst>
              <a:gd name="adj" fmla="val 13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2084832"/>
            <a:ext cx="3712464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912864" y="2212848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59168" y="2212848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05472" y="2212848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333488" y="2185416"/>
            <a:ext cx="2798064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79792" y="2221992"/>
            <a:ext cx="2542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949440" y="2651760"/>
            <a:ext cx="3346704" cy="402336"/>
          </a:xfrm>
          <a:prstGeom prst="roundRect">
            <a:avLst>
              <a:gd name="adj" fmla="val 681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59168" y="2761488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967728" y="3218688"/>
            <a:ext cx="1060704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83296" y="3218688"/>
            <a:ext cx="1060704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198864" y="3218688"/>
            <a:ext cx="1060704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949440" y="4078224"/>
            <a:ext cx="3346704" cy="457200"/>
          </a:xfrm>
          <a:prstGeom prst="roundRect">
            <a:avLst>
              <a:gd name="adj" fmla="val 6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52144" y="5175504"/>
            <a:ext cx="9893808" cy="530352"/>
          </a:xfrm>
          <a:prstGeom prst="roundRect">
            <a:avLst>
              <a:gd name="adj" fmla="val 689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53312" y="5340096"/>
            <a:ext cx="9491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interfaz bien resuelta no es solo bonita: es una consecuencia de decisiones legibles.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una regla CSS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cambio visible responde a una declaración concreta que el navegador puede leer y aplicar.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22960" y="2139696"/>
            <a:ext cx="4663440" cy="3401568"/>
          </a:xfrm>
          <a:prstGeom prst="roundRect">
            <a:avLst>
              <a:gd name="adj" fmla="val 10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249424"/>
            <a:ext cx="440740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322576"/>
            <a:ext cx="4187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básica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42416" y="2706624"/>
            <a:ext cx="42245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12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1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2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#102a43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1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2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font-size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32px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1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1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6547104" y="2267712"/>
            <a:ext cx="1993392" cy="841248"/>
          </a:xfrm>
          <a:prstGeom prst="roundRect">
            <a:avLst>
              <a:gd name="adj" fmla="val 32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620256" y="2377440"/>
            <a:ext cx="100584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03136" y="2395728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selector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803136" y="2670048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 a qué elemento apunta la regla.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47104" y="3236976"/>
            <a:ext cx="1993392" cy="841248"/>
          </a:xfrm>
          <a:prstGeom prst="roundRect">
            <a:avLst>
              <a:gd name="adj" fmla="val 32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620256" y="3346704"/>
            <a:ext cx="100584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03136" y="3364992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propiedad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03136" y="3639312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qué aspecto se quiere controlar.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796528" y="2761488"/>
            <a:ext cx="1865376" cy="1097280"/>
          </a:xfrm>
          <a:prstGeom prst="roundRect">
            <a:avLst>
              <a:gd name="adj" fmla="val 333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87968" y="2889504"/>
            <a:ext cx="109728" cy="841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52560" y="28712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9052560" y="321868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Expresa con qué criterio se aplica esa propiedad visual.</a:t>
            </a:r>
            <a:endParaRPr lang="en-US" sz="1160" dirty="0"/>
          </a:p>
        </p:txBody>
      </p:sp>
      <p:sp>
        <p:nvSpPr>
          <p:cNvPr id="26" name="Shape 23"/>
          <p:cNvSpPr/>
          <p:nvPr/>
        </p:nvSpPr>
        <p:spPr>
          <a:xfrm>
            <a:off x="1163409" y="2731715"/>
            <a:ext cx="310896" cy="164592"/>
          </a:xfrm>
          <a:prstGeom prst="roundRect">
            <a:avLst>
              <a:gd name="adj" fmla="val 22222"/>
            </a:avLst>
          </a:prstGeom>
          <a:solidFill>
            <a:srgbClr val="F8E4E5">
              <a:alpha val="32000"/>
            </a:srgbClr>
          </a:solidFill>
          <a:ln w="12700">
            <a:solidFill>
              <a:srgbClr val="F8E4E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04688" y="2717524"/>
            <a:ext cx="73152" cy="164592"/>
          </a:xfrm>
          <a:prstGeom prst="roundRect">
            <a:avLst>
              <a:gd name="adj" fmla="val 6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0" y="2791590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2791590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42762" y="2706624"/>
            <a:ext cx="16459" cy="93196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650992" y="2698394"/>
            <a:ext cx="89611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38874" y="2688336"/>
            <a:ext cx="16459" cy="18288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266115" y="2910938"/>
            <a:ext cx="512796" cy="164592"/>
          </a:xfrm>
          <a:prstGeom prst="roundRect">
            <a:avLst>
              <a:gd name="adj" fmla="val 22222"/>
            </a:avLst>
          </a:prstGeom>
          <a:solidFill>
            <a:srgbClr val="E6EEF7">
              <a:alpha val="32000"/>
            </a:srgbClr>
          </a:solidFill>
          <a:ln w="12700">
            <a:solidFill>
              <a:srgbClr val="E6EEF7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04688" y="2896746"/>
            <a:ext cx="73152" cy="164592"/>
          </a:xfrm>
          <a:prstGeom prst="roundRect">
            <a:avLst>
              <a:gd name="adj" fmla="val 6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0" y="2970812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77840" y="2970812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642762" y="2979042"/>
            <a:ext cx="16459" cy="733422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50992" y="3704234"/>
            <a:ext cx="89611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538874" y="3657600"/>
            <a:ext cx="16459" cy="54864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753600" y="2910938"/>
            <a:ext cx="652077" cy="164592"/>
          </a:xfrm>
          <a:prstGeom prst="roundRect">
            <a:avLst>
              <a:gd name="adj" fmla="val 22222"/>
            </a:avLst>
          </a:prstGeom>
          <a:solidFill>
            <a:srgbClr val="F2E7D9">
              <a:alpha val="32000"/>
            </a:srgbClr>
          </a:solidFill>
          <a:ln w="12700">
            <a:solidFill>
              <a:srgbClr val="F2E7D9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04688" y="2896746"/>
            <a:ext cx="73152" cy="164592"/>
          </a:xfrm>
          <a:prstGeom prst="roundRect">
            <a:avLst>
              <a:gd name="adj" fmla="val 625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486400" y="2970812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577840" y="2970812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642762" y="2979042"/>
            <a:ext cx="16459" cy="1135758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650992" y="4106570"/>
            <a:ext cx="3145536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788298" y="3310128"/>
            <a:ext cx="16459" cy="804672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misma estructura puede verse distinto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presentación no cambia el significado estructural del documento.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4754880" cy="2999232"/>
          </a:xfrm>
          <a:prstGeom prst="roundRect">
            <a:avLst>
              <a:gd name="adj" fmla="val 12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103120"/>
            <a:ext cx="4754880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231136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33856" y="2231136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2231136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08176" y="2203704"/>
            <a:ext cx="3840480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54480" y="2240280"/>
            <a:ext cx="3584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1024128" y="2670048"/>
            <a:ext cx="4389120" cy="402336"/>
          </a:xfrm>
          <a:prstGeom prst="roundRect">
            <a:avLst>
              <a:gd name="adj" fmla="val 681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33856" y="2779776"/>
            <a:ext cx="4169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42416" y="3236976"/>
            <a:ext cx="1408176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05456" y="3236976"/>
            <a:ext cx="1408176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968496" y="3236976"/>
            <a:ext cx="1408176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" y="4096512"/>
            <a:ext cx="4389120" cy="457200"/>
          </a:xfrm>
          <a:prstGeom prst="roundRect">
            <a:avLst>
              <a:gd name="adj" fmla="val 6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65392" y="2103120"/>
            <a:ext cx="4754880" cy="2999232"/>
          </a:xfrm>
          <a:prstGeom prst="roundRect">
            <a:avLst>
              <a:gd name="adj" fmla="val 12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392" y="2103120"/>
            <a:ext cx="4754880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11696" y="2231136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0" y="2231136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04304" y="2231136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132320" y="2203704"/>
            <a:ext cx="3840480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78624" y="2240280"/>
            <a:ext cx="3584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https://demo.local/cards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6748272" y="2670048"/>
            <a:ext cx="4389120" cy="402336"/>
          </a:xfrm>
          <a:prstGeom prst="roundRect">
            <a:avLst>
              <a:gd name="adj" fmla="val 681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58000" y="2779776"/>
            <a:ext cx="4169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66560" y="3236976"/>
            <a:ext cx="2148840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961120" y="3236976"/>
            <a:ext cx="2148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66560" y="3877056"/>
            <a:ext cx="2148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961120" y="3877056"/>
            <a:ext cx="2148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893808" y="4535424"/>
            <a:ext cx="1060704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395728" y="5248656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468880" y="5321808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Versión A</a:t>
            </a:r>
            <a:endParaRPr lang="en-US" sz="890" dirty="0"/>
          </a:p>
        </p:txBody>
      </p:sp>
      <p:sp>
        <p:nvSpPr>
          <p:cNvPr id="39" name="Shape 36"/>
          <p:cNvSpPr/>
          <p:nvPr/>
        </p:nvSpPr>
        <p:spPr>
          <a:xfrm>
            <a:off x="8119872" y="5248656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93024" y="5321808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Versión B</a:t>
            </a:r>
            <a:endParaRPr lang="en-US" sz="890" dirty="0"/>
          </a:p>
        </p:txBody>
      </p:sp>
      <p:sp>
        <p:nvSpPr>
          <p:cNvPr id="41" name="Shape 38"/>
          <p:cNvSpPr/>
          <p:nvPr/>
        </p:nvSpPr>
        <p:spPr>
          <a:xfrm>
            <a:off x="1225296" y="5650992"/>
            <a:ext cx="9729216" cy="402336"/>
          </a:xfrm>
          <a:prstGeom prst="roundRect">
            <a:avLst>
              <a:gd name="adj" fmla="val 909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426464" y="5815584"/>
            <a:ext cx="9326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HTML sigue diciendo lo mismo, la presentación puede cambiar sin romper el significado.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no es decoración: es sistema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Pensar solo en lo 'bonito' es quedarse corto frente al papel real de la capa visual.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8046720" cy="1078992"/>
          </a:xfrm>
          <a:prstGeom prst="roundRect">
            <a:avLst>
              <a:gd name="adj" fmla="val 33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340864"/>
            <a:ext cx="7644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define instrucciones visuales, no adornos sueltos.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1060704" y="3621024"/>
            <a:ext cx="2779776" cy="98755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33856" y="3730752"/>
            <a:ext cx="100584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16736" y="374904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316736" y="4023360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cambio visual debería poder leerse y rastrearse.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69664" y="3621024"/>
            <a:ext cx="2779776" cy="987552"/>
          </a:xfrm>
          <a:prstGeom prst="roundRect">
            <a:avLst>
              <a:gd name="adj" fmla="val 27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42816" y="3730752"/>
            <a:ext cx="100584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25696" y="374904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jerarquía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5696" y="4023360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decisiones visuales conviven y se resuelven con lógica.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278624" y="3621024"/>
            <a:ext cx="2779776" cy="987552"/>
          </a:xfrm>
          <a:prstGeom prst="roundRect">
            <a:avLst>
              <a:gd name="adj" fmla="val 277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51776" y="3730752"/>
            <a:ext cx="100584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34656" y="374904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distribución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7534656" y="4023360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apariencia también ordena espacio, lectura y recorrido.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interfaz consistente no sale por accidente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Color, espaciado y jerarquía visual también forman parte del trabajo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1719072" cy="1371600"/>
          </a:xfrm>
          <a:prstGeom prst="roundRect">
            <a:avLst>
              <a:gd name="adj" fmla="val 2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194560"/>
            <a:ext cx="100584" cy="11521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212848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</a:t>
            </a:r>
            <a:endParaRPr lang="en-US" sz="1320" dirty="0"/>
          </a:p>
        </p:txBody>
      </p:sp>
      <p:sp>
        <p:nvSpPr>
          <p:cNvPr id="13" name="Text 10"/>
          <p:cNvSpPr/>
          <p:nvPr/>
        </p:nvSpPr>
        <p:spPr>
          <a:xfrm>
            <a:off x="1097280" y="2487168"/>
            <a:ext cx="13898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señales visuales contradictorias.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2834640" y="2084832"/>
            <a:ext cx="1719072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07792" y="2194560"/>
            <a:ext cx="100584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2212848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Espaciado</a:t>
            </a:r>
            <a:endParaRPr lang="en-US" sz="1320" dirty="0"/>
          </a:p>
        </p:txBody>
      </p:sp>
      <p:sp>
        <p:nvSpPr>
          <p:cNvPr id="17" name="Text 14"/>
          <p:cNvSpPr/>
          <p:nvPr/>
        </p:nvSpPr>
        <p:spPr>
          <a:xfrm>
            <a:off x="3090672" y="2487168"/>
            <a:ext cx="13898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ritmo y ordena la lectura.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4828032" y="2084832"/>
            <a:ext cx="1719072" cy="1371600"/>
          </a:xfrm>
          <a:prstGeom prst="roundRect">
            <a:avLst>
              <a:gd name="adj" fmla="val 2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01184" y="2194560"/>
            <a:ext cx="100584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84064" y="2212848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Jerarquía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5084064" y="2487168"/>
            <a:ext cx="13898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distinguir lo importante.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6821424" y="2084832"/>
            <a:ext cx="1719072" cy="1371600"/>
          </a:xfrm>
          <a:prstGeom prst="roundRect">
            <a:avLst>
              <a:gd name="adj" fmla="val 2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94576" y="2194560"/>
            <a:ext cx="100584" cy="11521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77456" y="2212848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Estados</a:t>
            </a:r>
            <a:endParaRPr lang="en-US" sz="1320" dirty="0"/>
          </a:p>
        </p:txBody>
      </p:sp>
      <p:sp>
        <p:nvSpPr>
          <p:cNvPr id="25" name="Text 22"/>
          <p:cNvSpPr/>
          <p:nvPr/>
        </p:nvSpPr>
        <p:spPr>
          <a:xfrm>
            <a:off x="7077456" y="2487168"/>
            <a:ext cx="13898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visible cuándo algo actúa, cambia o espera.</a:t>
            </a:r>
            <a:endParaRPr lang="en-US" sz="1010" dirty="0"/>
          </a:p>
        </p:txBody>
      </p:sp>
      <p:sp>
        <p:nvSpPr>
          <p:cNvPr id="26" name="Shape 23"/>
          <p:cNvSpPr/>
          <p:nvPr/>
        </p:nvSpPr>
        <p:spPr>
          <a:xfrm>
            <a:off x="8814816" y="2084832"/>
            <a:ext cx="1719072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887968" y="2194560"/>
            <a:ext cx="100584" cy="11521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70848" y="2212848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Distribución</a:t>
            </a:r>
            <a:endParaRPr lang="en-US" sz="1320" dirty="0"/>
          </a:p>
        </p:txBody>
      </p:sp>
      <p:sp>
        <p:nvSpPr>
          <p:cNvPr id="29" name="Text 26"/>
          <p:cNvSpPr/>
          <p:nvPr/>
        </p:nvSpPr>
        <p:spPr>
          <a:xfrm>
            <a:off x="9070848" y="2487168"/>
            <a:ext cx="13898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Alinea componentes con más control.</a:t>
            </a:r>
            <a:endParaRPr lang="en-US" sz="1010" dirty="0"/>
          </a:p>
        </p:txBody>
      </p:sp>
      <p:sp>
        <p:nvSpPr>
          <p:cNvPr id="30" name="Shape 27"/>
          <p:cNvSpPr/>
          <p:nvPr/>
        </p:nvSpPr>
        <p:spPr>
          <a:xfrm>
            <a:off x="1060704" y="4023360"/>
            <a:ext cx="9784080" cy="621792"/>
          </a:xfrm>
          <a:prstGeom prst="roundRect">
            <a:avLst>
              <a:gd name="adj" fmla="val 588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61872" y="4187952"/>
            <a:ext cx="9381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coherencia visual también se diseña: no aparece sola porque sí.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975104" y="4809744"/>
            <a:ext cx="8193024" cy="1042416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103120" y="4937760"/>
            <a:ext cx="7936992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212848" y="5010912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legibles, decisiones consistentes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2212848" y="540410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</a:t>
            </a:r>
            <a:endParaRPr lang="en-US" sz="960" dirty="0"/>
          </a:p>
        </p:txBody>
      </p:sp>
      <p:sp>
        <p:nvSpPr>
          <p:cNvPr id="36" name="Shape 33"/>
          <p:cNvSpPr/>
          <p:nvPr/>
        </p:nvSpPr>
        <p:spPr>
          <a:xfrm>
            <a:off x="3328416" y="5340096"/>
            <a:ext cx="3041660" cy="225552"/>
          </a:xfrm>
          <a:prstGeom prst="roundRect">
            <a:avLst>
              <a:gd name="adj" fmla="val 12162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328416" y="5340096"/>
            <a:ext cx="91440" cy="225552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511296" y="5404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misma paleta</a:t>
            </a:r>
            <a:endParaRPr lang="en-US" sz="820" dirty="0"/>
          </a:p>
        </p:txBody>
      </p:sp>
      <p:sp>
        <p:nvSpPr>
          <p:cNvPr id="39" name="Text 36"/>
          <p:cNvSpPr/>
          <p:nvPr/>
        </p:nvSpPr>
        <p:spPr>
          <a:xfrm>
            <a:off x="4242816" y="5404104"/>
            <a:ext cx="21089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 estable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2212848" y="570280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3328416" y="5638800"/>
            <a:ext cx="4285976" cy="225552"/>
          </a:xfrm>
          <a:prstGeom prst="roundRect">
            <a:avLst>
              <a:gd name="adj" fmla="val 12162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328416" y="5638800"/>
            <a:ext cx="91440" cy="225552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511296" y="570280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mismo ritmo</a:t>
            </a:r>
            <a:endParaRPr lang="en-US" sz="820" dirty="0"/>
          </a:p>
        </p:txBody>
      </p:sp>
      <p:sp>
        <p:nvSpPr>
          <p:cNvPr id="44" name="Text 41"/>
          <p:cNvSpPr/>
          <p:nvPr/>
        </p:nvSpPr>
        <p:spPr>
          <a:xfrm>
            <a:off x="4242816" y="5702808"/>
            <a:ext cx="33532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bloques respirables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2212848" y="6001512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Layout</a:t>
            </a:r>
            <a:endParaRPr lang="en-US" sz="960" dirty="0"/>
          </a:p>
        </p:txBody>
      </p:sp>
      <p:sp>
        <p:nvSpPr>
          <p:cNvPr id="46" name="Shape 43"/>
          <p:cNvSpPr/>
          <p:nvPr/>
        </p:nvSpPr>
        <p:spPr>
          <a:xfrm>
            <a:off x="3328416" y="5937504"/>
            <a:ext cx="5945063" cy="225552"/>
          </a:xfrm>
          <a:prstGeom prst="roundRect">
            <a:avLst>
              <a:gd name="adj" fmla="val 12162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328416" y="5937504"/>
            <a:ext cx="91440" cy="225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511296" y="600151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reglas claras</a:t>
            </a:r>
            <a:endParaRPr lang="en-US" sz="820" dirty="0"/>
          </a:p>
        </p:txBody>
      </p:sp>
      <p:sp>
        <p:nvSpPr>
          <p:cNvPr id="49" name="Text 46"/>
          <p:cNvSpPr/>
          <p:nvPr/>
        </p:nvSpPr>
        <p:spPr>
          <a:xfrm>
            <a:off x="4242816" y="6001512"/>
            <a:ext cx="5012375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control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Improvisación visual vs sistema visual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no es solo estética: también cambia cuánto cuesta mantener una interfaz.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4809744" cy="3273552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28816" y="2084832"/>
            <a:ext cx="4809744" cy="3273552"/>
          </a:xfrm>
          <a:prstGeom prst="roundRect">
            <a:avLst>
              <a:gd name="adj" fmla="val 11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78992" y="2322576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2395728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Improvisación</a:t>
            </a:r>
            <a:endParaRPr lang="en-US" sz="890" dirty="0"/>
          </a:p>
        </p:txBody>
      </p:sp>
      <p:sp>
        <p:nvSpPr>
          <p:cNvPr id="14" name="Shape 11"/>
          <p:cNvSpPr/>
          <p:nvPr/>
        </p:nvSpPr>
        <p:spPr>
          <a:xfrm>
            <a:off x="6766560" y="2322576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9712" y="2395728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1097280" y="2724912"/>
            <a:ext cx="4279392" cy="1956816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97280" y="2724912"/>
            <a:ext cx="427939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43584" y="2852928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89888" y="2852928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36192" y="2852928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664208" y="2825496"/>
            <a:ext cx="3364992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10512" y="2862072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https://demo.local/cards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280160" y="3291840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89888" y="3401568"/>
            <a:ext cx="36941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298448" y="3858768"/>
            <a:ext cx="19110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55264" y="3858768"/>
            <a:ext cx="19110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298448" y="4498848"/>
            <a:ext cx="19110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55264" y="4498848"/>
            <a:ext cx="19110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950208" y="5157216"/>
            <a:ext cx="1060704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389888" y="4791456"/>
            <a:ext cx="932688" cy="219456"/>
          </a:xfrm>
          <a:prstGeom prst="roundRect">
            <a:avLst>
              <a:gd name="adj" fmla="val 1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05456" y="4754880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529584" y="4809744"/>
            <a:ext cx="1078992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84848" y="2724912"/>
            <a:ext cx="4279392" cy="1956816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84848" y="2724912"/>
            <a:ext cx="427939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931152" y="2852928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077456" y="2852928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223760" y="2852928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51776" y="2825496"/>
            <a:ext cx="3364992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498080" y="2862072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</a:t>
            </a:r>
            <a:endParaRPr lang="en-US" sz="880" dirty="0"/>
          </a:p>
        </p:txBody>
      </p:sp>
      <p:sp>
        <p:nvSpPr>
          <p:cNvPr id="40" name="Shape 37"/>
          <p:cNvSpPr/>
          <p:nvPr/>
        </p:nvSpPr>
        <p:spPr>
          <a:xfrm>
            <a:off x="6967728" y="3291840"/>
            <a:ext cx="3913632" cy="402336"/>
          </a:xfrm>
          <a:prstGeom prst="roundRect">
            <a:avLst>
              <a:gd name="adj" fmla="val 681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077456" y="3401568"/>
            <a:ext cx="36941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986016" y="3858768"/>
            <a:ext cx="1249680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90560" y="3858768"/>
            <a:ext cx="1249680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595104" y="3858768"/>
            <a:ext cx="1249680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67728" y="4718304"/>
            <a:ext cx="3913632" cy="457200"/>
          </a:xfrm>
          <a:prstGeom prst="roundRect">
            <a:avLst>
              <a:gd name="adj" fmla="val 6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949440" y="4773168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022592" y="4809744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1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065008" y="4773168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138160" y="4809744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2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9180576" y="4773168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253728" y="4809744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también expresa criterio técnico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hoja de estilos ordenada comunica intención, alcance y control sobre la interfaz.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3017520" cy="3364992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23591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con criterio implica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1060704" y="2852928"/>
            <a:ext cx="2523744" cy="420624"/>
          </a:xfrm>
          <a:prstGeom prst="roundRect">
            <a:avLst>
              <a:gd name="adj" fmla="val 65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33856" y="2962656"/>
            <a:ext cx="100584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16736" y="2980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alcance de reglas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1060704" y="3419856"/>
            <a:ext cx="2523744" cy="420624"/>
          </a:xfrm>
          <a:prstGeom prst="roundRect">
            <a:avLst>
              <a:gd name="adj" fmla="val 65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33856" y="3529584"/>
            <a:ext cx="100584" cy="2011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16736" y="35478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reutilización razonable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1060704" y="3986784"/>
            <a:ext cx="2523744" cy="420624"/>
          </a:xfrm>
          <a:prstGeom prst="roundRect">
            <a:avLst>
              <a:gd name="adj" fmla="val 65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33856" y="4096512"/>
            <a:ext cx="100584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6736" y="41148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coherencia entre componentes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1060704" y="4553712"/>
            <a:ext cx="2523744" cy="420624"/>
          </a:xfrm>
          <a:prstGeom prst="roundRect">
            <a:avLst>
              <a:gd name="adj" fmla="val 65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3856" y="4663440"/>
            <a:ext cx="100584" cy="2011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16736" y="468172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de complejidad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4187952" y="2084832"/>
            <a:ext cx="3127248" cy="3364992"/>
          </a:xfrm>
          <a:prstGeom prst="roundRect">
            <a:avLst>
              <a:gd name="adj" fmla="val 117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79392" y="2212848"/>
            <a:ext cx="109728" cy="3108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43984" y="2194560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CSS mejor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43984" y="2542032"/>
            <a:ext cx="277977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trata de mover propiedades al azar hasta que algo parezca funcionar. Se trata de entender qué regla actúa, qué decisión se repite y qué conviene centralizar.</a:t>
            </a:r>
            <a:endParaRPr lang="en-US" sz="1240" dirty="0"/>
          </a:p>
        </p:txBody>
      </p:sp>
      <p:sp>
        <p:nvSpPr>
          <p:cNvPr id="28" name="Shape 25"/>
          <p:cNvSpPr/>
          <p:nvPr/>
        </p:nvSpPr>
        <p:spPr>
          <a:xfrm>
            <a:off x="7626096" y="2084832"/>
            <a:ext cx="3438144" cy="3364992"/>
          </a:xfrm>
          <a:prstGeom prst="roundRect">
            <a:avLst>
              <a:gd name="adj" fmla="val 108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36992" y="2580437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34502" y="2432304"/>
            <a:ext cx="197510" cy="52669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64931" y="2580437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73568" y="3054096"/>
            <a:ext cx="2414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interfaz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ordenada se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mantiene mejor.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mental útil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presentación visual empieza a verse mejor cuando se la piensa como sistema.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231136"/>
            <a:ext cx="2066544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40864"/>
            <a:ext cx="100584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3591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188720" y="263347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define qué es cada parte.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27248" y="2596896"/>
            <a:ext cx="274320" cy="23774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1296" y="2231136"/>
            <a:ext cx="2066544" cy="969264"/>
          </a:xfrm>
          <a:prstGeom prst="roundRect">
            <a:avLst>
              <a:gd name="adj" fmla="val 28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84448" y="2340864"/>
            <a:ext cx="100584" cy="7498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67328" y="23591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767328" y="263347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declara cómo debería verse.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705856" y="2596896"/>
            <a:ext cx="274320" cy="23774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2231136"/>
            <a:ext cx="2066544" cy="969264"/>
          </a:xfrm>
          <a:prstGeom prst="roundRect">
            <a:avLst>
              <a:gd name="adj" fmla="val 283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63056" y="2340864"/>
            <a:ext cx="100584" cy="7498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45936" y="23591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coherencia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345936" y="263347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decisiones repetidas se vuelven sistema.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84464" y="2596896"/>
            <a:ext cx="274320" cy="23774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68512" y="2231136"/>
            <a:ext cx="2066544" cy="969264"/>
          </a:xfrm>
          <a:prstGeom prst="roundRect">
            <a:avLst>
              <a:gd name="adj" fmla="val 283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41664" y="2340864"/>
            <a:ext cx="100584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24544" y="23591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924544" y="263347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resultado visible se vuelve más legible.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87552" y="3858768"/>
            <a:ext cx="9912096" cy="731520"/>
          </a:xfrm>
          <a:prstGeom prst="roundRect">
            <a:avLst>
              <a:gd name="adj" fmla="val 5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188720" y="4023360"/>
            <a:ext cx="9509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apariencia final es consecuencia de reglas que pueden leerse, compararse y mantenerse.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guía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fijar la idea de CSS como sistema, no solo como capa decorativa.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121408"/>
            <a:ext cx="4572000" cy="120700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249424"/>
            <a:ext cx="109728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231136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70432" y="2578608"/>
            <a:ext cx="4224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HTML y CSS no deberían entenderse como si cumplieran la misma función?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35040" y="2121408"/>
            <a:ext cx="4572000" cy="1207008"/>
          </a:xfrm>
          <a:prstGeom prst="roundRect">
            <a:avLst>
              <a:gd name="adj" fmla="val 30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26480" y="2249424"/>
            <a:ext cx="109728" cy="9509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91072" y="2231136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91072" y="2578608"/>
            <a:ext cx="4224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CSS se lee como lenguaje de reglas y no solo como decoración?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14400" y="3657600"/>
            <a:ext cx="4572000" cy="120700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785616"/>
            <a:ext cx="109728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76732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70432" y="4114800"/>
            <a:ext cx="4224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una interfaz coherente también refleja criterio técnico?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035040" y="3657600"/>
            <a:ext cx="4572000" cy="1207008"/>
          </a:xfrm>
          <a:prstGeom prst="roundRect">
            <a:avLst>
              <a:gd name="adj" fmla="val 30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0" y="3785616"/>
            <a:ext cx="109728" cy="9509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91072" y="376732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291072" y="4114800"/>
            <a:ext cx="42245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señales muestran que una capa visual está improvisada y no pensada como sistema?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capa visual deja de verse superficial cuando empezamos a leerla como sistema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5669280" cy="2871216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3042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980944"/>
            <a:ext cx="5175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no maquilla una página terminada: define reglas de presentación sobre una estructura HTML previa y convierte la apariencia en una capa legible, repetible y mantenible.</a:t>
            </a:r>
            <a:endParaRPr lang="en-US" sz="1840" dirty="0"/>
          </a:p>
        </p:txBody>
      </p:sp>
      <p:sp>
        <p:nvSpPr>
          <p:cNvPr id="13" name="Shape 10"/>
          <p:cNvSpPr/>
          <p:nvPr/>
        </p:nvSpPr>
        <p:spPr>
          <a:xfrm>
            <a:off x="1115568" y="4370832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44074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0" y="4370832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59152" y="44074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456432" y="4370832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9584" y="44074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coherencia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26864" y="4370832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00016" y="440740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839712" y="2084832"/>
            <a:ext cx="3840480" cy="2871216"/>
          </a:xfrm>
          <a:prstGeom prst="roundRect">
            <a:avLst>
              <a:gd name="adj" fmla="val 127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931152" y="2212848"/>
            <a:ext cx="109728" cy="26151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95744" y="2194560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al bloque 2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7095744" y="2542032"/>
            <a:ext cx="349300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tramo veremos por qué algunas reglas se aplican, otras compiten y otras terminan desplazadas: entramos a cascada, herencia y especificidad.</a:t>
            </a:r>
            <a:endParaRPr lang="en-US" sz="12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 · Cascada, herencia y especificidad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importa entender por qué una regla gana, otra se hereda y otra termina desplazada.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21408"/>
            <a:ext cx="3474720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33856" y="2548981"/>
            <a:ext cx="149962" cy="344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13810" y="2414016"/>
            <a:ext cx="179954" cy="47987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23756" y="2548981"/>
            <a:ext cx="149962" cy="344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62656"/>
            <a:ext cx="257860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resuelve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conflictos,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propaga reglas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 pesa selectores.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4553712" y="2157984"/>
            <a:ext cx="6163056" cy="2542032"/>
          </a:xfrm>
          <a:prstGeom prst="roundRect">
            <a:avLst>
              <a:gd name="adj" fmla="val 14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81728" y="2286000"/>
            <a:ext cx="5907024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91456" y="2359152"/>
            <a:ext cx="5687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Conflicto resuelto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4736592" y="2999232"/>
            <a:ext cx="1232611" cy="1280160"/>
          </a:xfrm>
          <a:prstGeom prst="roundRect">
            <a:avLst>
              <a:gd name="adj" fmla="val 2967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64608" y="3182112"/>
            <a:ext cx="9765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p.destacado</a:t>
            </a:r>
            <a:endParaRPr lang="en-US" sz="940" dirty="0"/>
          </a:p>
        </p:txBody>
      </p:sp>
      <p:sp>
        <p:nvSpPr>
          <p:cNvPr id="20" name="Text 17"/>
          <p:cNvSpPr/>
          <p:nvPr/>
        </p:nvSpPr>
        <p:spPr>
          <a:xfrm>
            <a:off x="4864608" y="3584448"/>
            <a:ext cx="97657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Propiedad observada</a:t>
            </a:r>
            <a:endParaRPr lang="en-US" sz="890" dirty="0"/>
          </a:p>
        </p:txBody>
      </p:sp>
      <p:sp>
        <p:nvSpPr>
          <p:cNvPr id="21" name="Shape 18"/>
          <p:cNvSpPr/>
          <p:nvPr/>
        </p:nvSpPr>
        <p:spPr>
          <a:xfrm>
            <a:off x="4864608" y="3822192"/>
            <a:ext cx="976579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56048" y="3931920"/>
            <a:ext cx="79369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5987491" y="3300984"/>
            <a:ext cx="182880" cy="2560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88659" y="2816352"/>
            <a:ext cx="2769900" cy="1627632"/>
          </a:xfrm>
          <a:prstGeom prst="roundRect">
            <a:avLst>
              <a:gd name="adj" fmla="val 2247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98387" y="2944368"/>
            <a:ext cx="2550444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98387" y="2944368"/>
            <a:ext cx="73152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4691" y="3017520"/>
            <a:ext cx="886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6444691" y="3200400"/>
            <a:ext cx="9971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#52606d;</a:t>
            </a:r>
            <a:endParaRPr lang="en-US" sz="790" dirty="0"/>
          </a:p>
        </p:txBody>
      </p:sp>
      <p:sp>
        <p:nvSpPr>
          <p:cNvPr id="29" name="Shape 26"/>
          <p:cNvSpPr/>
          <p:nvPr/>
        </p:nvSpPr>
        <p:spPr>
          <a:xfrm>
            <a:off x="8062448" y="3017520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117312" y="3067812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0,0,1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8044160" y="3410712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pierde por peso</a:t>
            </a:r>
            <a:endParaRPr lang="en-US" sz="710" dirty="0"/>
          </a:p>
        </p:txBody>
      </p:sp>
      <p:sp>
        <p:nvSpPr>
          <p:cNvPr id="32" name="Shape 29"/>
          <p:cNvSpPr/>
          <p:nvPr/>
        </p:nvSpPr>
        <p:spPr>
          <a:xfrm>
            <a:off x="6298387" y="3675888"/>
            <a:ext cx="2550444" cy="621792"/>
          </a:xfrm>
          <a:prstGeom prst="roundRect">
            <a:avLst>
              <a:gd name="adj" fmla="val 4412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98387" y="3675888"/>
            <a:ext cx="73152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44691" y="3749040"/>
            <a:ext cx="886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.destacado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6444691" y="3931920"/>
            <a:ext cx="9971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#d62027;</a:t>
            </a:r>
            <a:endParaRPr lang="en-US" sz="790" dirty="0"/>
          </a:p>
        </p:txBody>
      </p:sp>
      <p:sp>
        <p:nvSpPr>
          <p:cNvPr id="36" name="Shape 33"/>
          <p:cNvSpPr/>
          <p:nvPr/>
        </p:nvSpPr>
        <p:spPr>
          <a:xfrm>
            <a:off x="8062448" y="3749040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17312" y="3799332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0,1,0</a:t>
            </a:r>
            <a:endParaRPr lang="en-US" sz="760" dirty="0"/>
          </a:p>
        </p:txBody>
      </p:sp>
      <p:sp>
        <p:nvSpPr>
          <p:cNvPr id="38" name="Text 35"/>
          <p:cNvSpPr/>
          <p:nvPr/>
        </p:nvSpPr>
        <p:spPr>
          <a:xfrm>
            <a:off x="8044160" y="4142232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específica</a:t>
            </a:r>
            <a:endParaRPr lang="en-US" sz="710" dirty="0"/>
          </a:p>
        </p:txBody>
      </p:sp>
      <p:sp>
        <p:nvSpPr>
          <p:cNvPr id="39" name="Shape 36"/>
          <p:cNvSpPr/>
          <p:nvPr/>
        </p:nvSpPr>
        <p:spPr>
          <a:xfrm>
            <a:off x="8976848" y="3300984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78016" y="2999232"/>
            <a:ext cx="1355872" cy="1280160"/>
          </a:xfrm>
          <a:prstGeom prst="roundRect">
            <a:avLst>
              <a:gd name="adj" fmla="val 2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4320" y="3182112"/>
            <a:ext cx="1063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9306032" y="3584448"/>
            <a:ext cx="109984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342608" y="3712464"/>
            <a:ext cx="10266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#d62027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590288" y="4901184"/>
            <a:ext cx="1755648" cy="749808"/>
          </a:xfrm>
          <a:prstGeom prst="roundRect">
            <a:avLst>
              <a:gd name="adj" fmla="val 365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663440" y="5010912"/>
            <a:ext cx="10058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846320" y="50292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cascada</a:t>
            </a:r>
            <a:endParaRPr lang="en-US" sz="1250" dirty="0"/>
          </a:p>
        </p:txBody>
      </p:sp>
      <p:sp>
        <p:nvSpPr>
          <p:cNvPr id="47" name="Text 44"/>
          <p:cNvSpPr/>
          <p:nvPr/>
        </p:nvSpPr>
        <p:spPr>
          <a:xfrm>
            <a:off x="4846320" y="5303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ordena conflictos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6547104" y="4901184"/>
            <a:ext cx="1755648" cy="749808"/>
          </a:xfrm>
          <a:prstGeom prst="roundRect">
            <a:avLst>
              <a:gd name="adj" fmla="val 365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620256" y="5010912"/>
            <a:ext cx="100584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803136" y="502920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herencia</a:t>
            </a:r>
            <a:endParaRPr lang="en-US" sz="1250" dirty="0"/>
          </a:p>
        </p:txBody>
      </p:sp>
      <p:sp>
        <p:nvSpPr>
          <p:cNvPr id="51" name="Text 48"/>
          <p:cNvSpPr/>
          <p:nvPr/>
        </p:nvSpPr>
        <p:spPr>
          <a:xfrm>
            <a:off x="6803136" y="5303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propaga decisiones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503920" y="4901184"/>
            <a:ext cx="2011680" cy="749808"/>
          </a:xfrm>
          <a:prstGeom prst="roundRect">
            <a:avLst>
              <a:gd name="adj" fmla="val 365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77072" y="5010912"/>
            <a:ext cx="100584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759952" y="502920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especificidad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8759952" y="5303520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peso relativo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cascada: CSS no decide al azar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varias reglas apuntan a lo mismo, el navegador necesita una lógica para resolver el resultado.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69264" y="2139696"/>
            <a:ext cx="9930384" cy="822960"/>
          </a:xfrm>
          <a:prstGeom prst="roundRect">
            <a:avLst>
              <a:gd name="adj" fmla="val 444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304288"/>
            <a:ext cx="9528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Cuando dos reglas afectan la misma propiedad, CSS no falla: compara contexto y decide.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3346704"/>
            <a:ext cx="2176272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474720"/>
            <a:ext cx="109728" cy="13350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345643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Origen</a:t>
            </a:r>
            <a:endParaRPr lang="en-US" sz="1720" dirty="0"/>
          </a:p>
        </p:txBody>
      </p:sp>
      <p:sp>
        <p:nvSpPr>
          <p:cNvPr id="15" name="Text 12"/>
          <p:cNvSpPr/>
          <p:nvPr/>
        </p:nvSpPr>
        <p:spPr>
          <a:xfrm>
            <a:off x="1170432" y="3803904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 de dónde viene la regla.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3493008" y="3346704"/>
            <a:ext cx="2176272" cy="1591056"/>
          </a:xfrm>
          <a:prstGeom prst="roundRect">
            <a:avLst>
              <a:gd name="adj" fmla="val 22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84448" y="3474720"/>
            <a:ext cx="109728" cy="13350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345643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</a:t>
            </a:r>
            <a:endParaRPr lang="en-US" sz="1720" dirty="0"/>
          </a:p>
        </p:txBody>
      </p:sp>
      <p:sp>
        <p:nvSpPr>
          <p:cNvPr id="19" name="Text 16"/>
          <p:cNvSpPr/>
          <p:nvPr/>
        </p:nvSpPr>
        <p:spPr>
          <a:xfrm>
            <a:off x="3749040" y="3803904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peso empata, la última suele ganar.</a:t>
            </a:r>
            <a:endParaRPr lang="en-US" sz="1120" dirty="0"/>
          </a:p>
        </p:txBody>
      </p:sp>
      <p:sp>
        <p:nvSpPr>
          <p:cNvPr id="20" name="Shape 17"/>
          <p:cNvSpPr/>
          <p:nvPr/>
        </p:nvSpPr>
        <p:spPr>
          <a:xfrm>
            <a:off x="6071616" y="3346704"/>
            <a:ext cx="2176272" cy="1591056"/>
          </a:xfrm>
          <a:prstGeom prst="roundRect">
            <a:avLst>
              <a:gd name="adj" fmla="val 229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63056" y="3474720"/>
            <a:ext cx="109728" cy="13350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345643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Peso</a:t>
            </a:r>
            <a:endParaRPr lang="en-US" sz="1720" dirty="0"/>
          </a:p>
        </p:txBody>
      </p:sp>
      <p:sp>
        <p:nvSpPr>
          <p:cNvPr id="23" name="Text 20"/>
          <p:cNvSpPr/>
          <p:nvPr/>
        </p:nvSpPr>
        <p:spPr>
          <a:xfrm>
            <a:off x="6327648" y="3803904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especificidad cambia la jerarquía.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8650224" y="3346704"/>
            <a:ext cx="2176272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41664" y="3474720"/>
            <a:ext cx="109728" cy="13350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906256" y="345643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Herencia</a:t>
            </a:r>
            <a:endParaRPr lang="en-US" sz="1720" dirty="0"/>
          </a:p>
        </p:txBody>
      </p:sp>
      <p:sp>
        <p:nvSpPr>
          <p:cNvPr id="27" name="Text 24"/>
          <p:cNvSpPr/>
          <p:nvPr/>
        </p:nvSpPr>
        <p:spPr>
          <a:xfrm>
            <a:off x="8906256" y="3803904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algunas propiedades llegan desde arriba.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1133856" y="5266944"/>
            <a:ext cx="961948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35024" y="5431536"/>
            <a:ext cx="9217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mejor con CSS significa leer cómo conviven las reglas, no acumular propiedades al azar.</a:t>
            </a:r>
            <a:endParaRPr lang="en-US" sz="1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reglas pueden competir sobre el mismo elemento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cascada aparece justo cuando una misma propiedad recibe más de una declaración posible.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187952" cy="3456432"/>
          </a:xfrm>
          <a:prstGeom prst="roundRect">
            <a:avLst>
              <a:gd name="adj" fmla="val 105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49424"/>
            <a:ext cx="39319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22576"/>
            <a:ext cx="3712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Conflicto básico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706624"/>
            <a:ext cx="374904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0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#52606d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0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.destacado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266944" y="2103120"/>
            <a:ext cx="5486400" cy="3529584"/>
          </a:xfrm>
          <a:prstGeom prst="roundRect">
            <a:avLst>
              <a:gd name="adj" fmla="val 10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94960" y="2231136"/>
            <a:ext cx="5230368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04688" y="230428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Inspector de cascada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449824" y="2944368"/>
            <a:ext cx="1133856" cy="2267712"/>
          </a:xfrm>
          <a:prstGeom prst="roundRect">
            <a:avLst>
              <a:gd name="adj" fmla="val 3226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1272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p.destacado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5577840" y="352958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Propiedad observada</a:t>
            </a:r>
            <a:endParaRPr lang="en-US" sz="890" dirty="0"/>
          </a:p>
        </p:txBody>
      </p:sp>
      <p:sp>
        <p:nvSpPr>
          <p:cNvPr id="20" name="Shape 17"/>
          <p:cNvSpPr/>
          <p:nvPr/>
        </p:nvSpPr>
        <p:spPr>
          <a:xfrm>
            <a:off x="5577840" y="3767328"/>
            <a:ext cx="877824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3877056"/>
            <a:ext cx="6949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6601968" y="3739896"/>
            <a:ext cx="182880" cy="2560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03136" y="2761488"/>
            <a:ext cx="2340864" cy="2615184"/>
          </a:xfrm>
          <a:prstGeom prst="roundRect">
            <a:avLst>
              <a:gd name="adj" fmla="val 1563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12864" y="2889504"/>
            <a:ext cx="2121408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12864" y="2889504"/>
            <a:ext cx="73152" cy="7132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2962656"/>
            <a:ext cx="7490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7059168" y="3145536"/>
            <a:ext cx="84271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#52606d;</a:t>
            </a:r>
            <a:endParaRPr lang="en-US" sz="790" dirty="0"/>
          </a:p>
        </p:txBody>
      </p:sp>
      <p:sp>
        <p:nvSpPr>
          <p:cNvPr id="28" name="Shape 25"/>
          <p:cNvSpPr/>
          <p:nvPr/>
        </p:nvSpPr>
        <p:spPr>
          <a:xfrm>
            <a:off x="8247888" y="2962656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02752" y="3012948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0,0,1</a:t>
            </a:r>
            <a:endParaRPr lang="en-US" sz="760" dirty="0"/>
          </a:p>
        </p:txBody>
      </p:sp>
      <p:sp>
        <p:nvSpPr>
          <p:cNvPr id="30" name="Text 27"/>
          <p:cNvSpPr/>
          <p:nvPr/>
        </p:nvSpPr>
        <p:spPr>
          <a:xfrm>
            <a:off x="8229600" y="3447288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precisa</a:t>
            </a:r>
            <a:endParaRPr lang="en-US" sz="710" dirty="0"/>
          </a:p>
        </p:txBody>
      </p:sp>
      <p:sp>
        <p:nvSpPr>
          <p:cNvPr id="31" name="Shape 28"/>
          <p:cNvSpPr/>
          <p:nvPr/>
        </p:nvSpPr>
        <p:spPr>
          <a:xfrm>
            <a:off x="6912864" y="3712464"/>
            <a:ext cx="2121408" cy="713232"/>
          </a:xfrm>
          <a:prstGeom prst="roundRect">
            <a:avLst>
              <a:gd name="adj" fmla="val 3846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912864" y="3712464"/>
            <a:ext cx="73152" cy="7132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059168" y="3785616"/>
            <a:ext cx="7490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.destacado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7059168" y="3968496"/>
            <a:ext cx="84271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#d62027;</a:t>
            </a:r>
            <a:endParaRPr lang="en-US" sz="790" dirty="0"/>
          </a:p>
        </p:txBody>
      </p:sp>
      <p:sp>
        <p:nvSpPr>
          <p:cNvPr id="35" name="Shape 32"/>
          <p:cNvSpPr/>
          <p:nvPr/>
        </p:nvSpPr>
        <p:spPr>
          <a:xfrm>
            <a:off x="8247888" y="3785616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02752" y="3835908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0,1,0</a:t>
            </a:r>
            <a:endParaRPr lang="en-US" sz="760" dirty="0"/>
          </a:p>
        </p:txBody>
      </p:sp>
      <p:sp>
        <p:nvSpPr>
          <p:cNvPr id="37" name="Text 34"/>
          <p:cNvSpPr/>
          <p:nvPr/>
        </p:nvSpPr>
        <p:spPr>
          <a:xfrm>
            <a:off x="8229600" y="4270248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clase</a:t>
            </a:r>
            <a:endParaRPr lang="en-US" sz="710" dirty="0"/>
          </a:p>
        </p:txBody>
      </p:sp>
      <p:sp>
        <p:nvSpPr>
          <p:cNvPr id="38" name="Shape 35"/>
          <p:cNvSpPr/>
          <p:nvPr/>
        </p:nvSpPr>
        <p:spPr>
          <a:xfrm>
            <a:off x="9162288" y="3739896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363456" y="2944368"/>
            <a:ext cx="1207008" cy="2267712"/>
          </a:xfrm>
          <a:prstGeom prst="roundRect">
            <a:avLst>
              <a:gd name="adj" fmla="val 30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509760" y="312724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491472" y="3529584"/>
            <a:ext cx="950976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528048" y="3657600"/>
            <a:ext cx="8778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#d62027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491472" y="407822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párrafo sigue siendo p, pero la clase domina el color</a:t>
            </a:r>
            <a:endParaRPr lang="en-US" sz="89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peso empata, el orden también decide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siempre gana la regla más compleja: a veces el resultado depende simplemente de cuál aparece después.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2834640" cy="17373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67712"/>
            <a:ext cx="109728" cy="14813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24942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Primera regla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33856" y="2596896"/>
            <a:ext cx="248716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.card p { color: #102a43; }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3877056" y="2798064"/>
            <a:ext cx="310896" cy="2560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34256" y="2139696"/>
            <a:ext cx="2834640" cy="1737360"/>
          </a:xfrm>
          <a:prstGeom prst="roundRect">
            <a:avLst>
              <a:gd name="adj" fmla="val 210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25696" y="2267712"/>
            <a:ext cx="109728" cy="14813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224942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Segunda regla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90288" y="2596896"/>
            <a:ext cx="248716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.card p { color: #d62027; }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7351776" y="2139696"/>
            <a:ext cx="3401568" cy="1737360"/>
          </a:xfrm>
          <a:prstGeom prst="roundRect">
            <a:avLst>
              <a:gd name="adj" fmla="val 21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43216" y="2267712"/>
            <a:ext cx="109728" cy="14813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07808" y="22494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útil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607808" y="2596896"/>
            <a:ext cx="305409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selector y propiedad son iguales, la regla posterior suele imponerse sobre la anterior.</a:t>
            </a:r>
            <a:endParaRPr lang="en-US" sz="1180" dirty="0"/>
          </a:p>
        </p:txBody>
      </p:sp>
      <p:sp>
        <p:nvSpPr>
          <p:cNvPr id="23" name="Shape 20"/>
          <p:cNvSpPr/>
          <p:nvPr/>
        </p:nvSpPr>
        <p:spPr>
          <a:xfrm>
            <a:off x="1115568" y="4480560"/>
            <a:ext cx="9656064" cy="658368"/>
          </a:xfrm>
          <a:prstGeom prst="roundRect">
            <a:avLst>
              <a:gd name="adj" fmla="val 555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16736" y="4645152"/>
            <a:ext cx="9253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subir la complejidad del selector, conviene revisar si el conflicto viene solo del orden.</a:t>
            </a:r>
            <a:endParaRPr lang="en-US" sz="1820" dirty="0"/>
          </a:p>
        </p:txBody>
      </p:sp>
      <p:sp>
        <p:nvSpPr>
          <p:cNvPr id="25" name="Shape 22"/>
          <p:cNvSpPr/>
          <p:nvPr/>
        </p:nvSpPr>
        <p:spPr>
          <a:xfrm>
            <a:off x="2212848" y="5285232"/>
            <a:ext cx="7424928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340864" y="5413248"/>
            <a:ext cx="716889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54864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Empate de peso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2450592" y="5879592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1</a:t>
            </a:r>
            <a:endParaRPr lang="en-US" sz="960" dirty="0"/>
          </a:p>
        </p:txBody>
      </p:sp>
      <p:sp>
        <p:nvSpPr>
          <p:cNvPr id="29" name="Shape 26"/>
          <p:cNvSpPr/>
          <p:nvPr/>
        </p:nvSpPr>
        <p:spPr>
          <a:xfrm>
            <a:off x="3566160" y="5815584"/>
            <a:ext cx="1720535" cy="374904"/>
          </a:xfrm>
          <a:prstGeom prst="roundRect">
            <a:avLst>
              <a:gd name="adj" fmla="val 7317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566160" y="5815584"/>
            <a:ext cx="91440" cy="374904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749040" y="587959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0,1,1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4480560" y="5879592"/>
            <a:ext cx="7878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mismo peso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2450592" y="632764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2</a:t>
            </a:r>
            <a:endParaRPr lang="en-US" sz="960" dirty="0"/>
          </a:p>
        </p:txBody>
      </p:sp>
      <p:sp>
        <p:nvSpPr>
          <p:cNvPr id="34" name="Shape 31"/>
          <p:cNvSpPr/>
          <p:nvPr/>
        </p:nvSpPr>
        <p:spPr>
          <a:xfrm>
            <a:off x="3566160" y="6263640"/>
            <a:ext cx="2949489" cy="374904"/>
          </a:xfrm>
          <a:prstGeom prst="roundRect">
            <a:avLst>
              <a:gd name="adj" fmla="val 731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566160" y="6263640"/>
            <a:ext cx="91440" cy="3749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749040" y="632764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0,1,1</a:t>
            </a:r>
            <a:endParaRPr lang="en-US" sz="820" dirty="0"/>
          </a:p>
        </p:txBody>
      </p:sp>
      <p:sp>
        <p:nvSpPr>
          <p:cNvPr id="37" name="Text 34"/>
          <p:cNvSpPr/>
          <p:nvPr/>
        </p:nvSpPr>
        <p:spPr>
          <a:xfrm>
            <a:off x="4480560" y="6327648"/>
            <a:ext cx="201680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orden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herencia reduce repetición y propaga criterio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todas las propiedades deben declararse una y otra vez: algunas viajan por la jerarquía del documento.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86460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67712"/>
            <a:ext cx="460857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3172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Herencia en el árbol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60704" y="2651760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 transmite tipografía y color hacia sus hijos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115568" y="3017520"/>
            <a:ext cx="4352544" cy="2359152"/>
          </a:xfrm>
          <a:prstGeom prst="roundRect">
            <a:avLst>
              <a:gd name="adj" fmla="val 1163"/>
            </a:avLst>
          </a:prstGeom>
          <a:solidFill>
            <a:srgbClr val="F8F3EC"/>
          </a:solidFill>
          <a:ln w="12700">
            <a:solidFill>
              <a:srgbClr val="F8F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91056" y="3108960"/>
            <a:ext cx="0" cy="1426464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01952" y="3108960"/>
            <a:ext cx="0" cy="1426464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15568" y="3200400"/>
            <a:ext cx="73152" cy="731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80160" y="3108960"/>
            <a:ext cx="804672" cy="256032"/>
          </a:xfrm>
          <a:prstGeom prst="roundRect">
            <a:avLst>
              <a:gd name="adj" fmla="val 10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53312" y="316382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</a:t>
            </a:r>
            <a:endParaRPr lang="en-US" sz="960" dirty="0"/>
          </a:p>
        </p:txBody>
      </p:sp>
      <p:sp>
        <p:nvSpPr>
          <p:cNvPr id="20" name="Text 17"/>
          <p:cNvSpPr/>
          <p:nvPr/>
        </p:nvSpPr>
        <p:spPr>
          <a:xfrm>
            <a:off x="2212848" y="31546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+ font-family</a:t>
            </a:r>
            <a:endParaRPr lang="en-US" sz="910" dirty="0"/>
          </a:p>
        </p:txBody>
      </p:sp>
      <p:sp>
        <p:nvSpPr>
          <p:cNvPr id="21" name="Shape 18"/>
          <p:cNvSpPr/>
          <p:nvPr/>
        </p:nvSpPr>
        <p:spPr>
          <a:xfrm>
            <a:off x="1463040" y="360273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426464" y="3566160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591056" y="3474720"/>
            <a:ext cx="1106424" cy="25603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664208" y="352958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960" dirty="0"/>
          </a:p>
        </p:txBody>
      </p:sp>
      <p:sp>
        <p:nvSpPr>
          <p:cNvPr id="25" name="Text 22"/>
          <p:cNvSpPr/>
          <p:nvPr/>
        </p:nvSpPr>
        <p:spPr>
          <a:xfrm>
            <a:off x="2825496" y="3520440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y sigue propagando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1773936" y="396849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737360" y="3931920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01952" y="3840480"/>
            <a:ext cx="603504" cy="256032"/>
          </a:xfrm>
          <a:prstGeom prst="roundRect">
            <a:avLst>
              <a:gd name="adj" fmla="val 10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75104" y="38953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960" dirty="0"/>
          </a:p>
        </p:txBody>
      </p:sp>
      <p:sp>
        <p:nvSpPr>
          <p:cNvPr id="30" name="Text 27"/>
          <p:cNvSpPr/>
          <p:nvPr/>
        </p:nvSpPr>
        <p:spPr>
          <a:xfrm>
            <a:off x="2633472" y="3886200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hereda texto</a:t>
            </a:r>
            <a:endParaRPr lang="en-US" sz="910" dirty="0"/>
          </a:p>
        </p:txBody>
      </p:sp>
      <p:sp>
        <p:nvSpPr>
          <p:cNvPr id="31" name="Shape 28"/>
          <p:cNvSpPr/>
          <p:nvPr/>
        </p:nvSpPr>
        <p:spPr>
          <a:xfrm>
            <a:off x="1773936" y="433425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737360" y="4297680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901952" y="4206240"/>
            <a:ext cx="603504" cy="256032"/>
          </a:xfrm>
          <a:prstGeom prst="roundRect">
            <a:avLst>
              <a:gd name="adj" fmla="val 1071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975104" y="42611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960" dirty="0"/>
          </a:p>
        </p:txBody>
      </p:sp>
      <p:sp>
        <p:nvSpPr>
          <p:cNvPr id="35" name="Text 32"/>
          <p:cNvSpPr/>
          <p:nvPr/>
        </p:nvSpPr>
        <p:spPr>
          <a:xfrm>
            <a:off x="2633472" y="4251960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hereda si no redefine</a:t>
            </a:r>
            <a:endParaRPr lang="en-US" sz="910" dirty="0"/>
          </a:p>
        </p:txBody>
      </p:sp>
      <p:sp>
        <p:nvSpPr>
          <p:cNvPr id="36" name="Shape 33"/>
          <p:cNvSpPr/>
          <p:nvPr/>
        </p:nvSpPr>
        <p:spPr>
          <a:xfrm>
            <a:off x="6016752" y="2176272"/>
            <a:ext cx="2231136" cy="1426464"/>
          </a:xfrm>
          <a:prstGeom prst="roundRect">
            <a:avLst>
              <a:gd name="adj" fmla="val 256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08192" y="2304288"/>
            <a:ext cx="109728" cy="11704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72784" y="2286000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 suele heredarse</a:t>
            </a:r>
            <a:endParaRPr lang="en-US" sz="1640" dirty="0"/>
          </a:p>
        </p:txBody>
      </p:sp>
      <p:sp>
        <p:nvSpPr>
          <p:cNvPr id="39" name="Text 36"/>
          <p:cNvSpPr/>
          <p:nvPr/>
        </p:nvSpPr>
        <p:spPr>
          <a:xfrm>
            <a:off x="6272784" y="2633472"/>
            <a:ext cx="18836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color, font-family, line-height y otras propiedades ligadas a texto.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8485632" y="2176272"/>
            <a:ext cx="2231136" cy="1426464"/>
          </a:xfrm>
          <a:prstGeom prst="roundRect">
            <a:avLst>
              <a:gd name="adj" fmla="val 256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77072" y="2304288"/>
            <a:ext cx="109728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741664" y="2286000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suele heredarse</a:t>
            </a:r>
            <a:endParaRPr lang="en-US" sz="1640" dirty="0"/>
          </a:p>
        </p:txBody>
      </p:sp>
      <p:sp>
        <p:nvSpPr>
          <p:cNvPr id="43" name="Text 40"/>
          <p:cNvSpPr/>
          <p:nvPr/>
        </p:nvSpPr>
        <p:spPr>
          <a:xfrm>
            <a:off x="8741664" y="2633472"/>
            <a:ext cx="18836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margin, padding, border, width, display y reglas de caja.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5925312" y="4059936"/>
            <a:ext cx="493776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126480" y="4224528"/>
            <a:ext cx="45354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herencia evita dos errores: repetir de más o esperar que una propiedad se propague cuando no corresponde.</a:t>
            </a:r>
            <a:endParaRPr lang="en-US" sz="16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contenedor puede transmitir decisiones visuales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herencia hace visible la relación entre jerarquía HTML y resultado visual.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4334256" cy="3474720"/>
          </a:xfrm>
          <a:prstGeom prst="roundRect">
            <a:avLst>
              <a:gd name="adj" fmla="val 10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249424"/>
            <a:ext cx="4078224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322576"/>
            <a:ext cx="3858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heredada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97280" y="2706624"/>
            <a:ext cx="389534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0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#243b53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font-family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Arial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sans-serif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0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468112" y="2139696"/>
            <a:ext cx="5340096" cy="347472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96128" y="2267712"/>
            <a:ext cx="5084064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05856" y="2331720"/>
            <a:ext cx="4864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en el documento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0" y="2651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se redefine, el texto recibe esas decisiones desde body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724144" y="3017520"/>
            <a:ext cx="4828032" cy="2414016"/>
          </a:xfrm>
          <a:prstGeom prst="roundRect">
            <a:avLst>
              <a:gd name="adj" fmla="val 1136"/>
            </a:avLst>
          </a:prstGeom>
          <a:solidFill>
            <a:srgbClr val="F8F3EC"/>
          </a:solidFill>
          <a:ln w="12700">
            <a:solidFill>
              <a:srgbClr val="F8F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9632" y="3108960"/>
            <a:ext cx="0" cy="1426464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10528" y="3108960"/>
            <a:ext cx="0" cy="1426464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24144" y="3200400"/>
            <a:ext cx="73152" cy="731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88736" y="3108960"/>
            <a:ext cx="804672" cy="256032"/>
          </a:xfrm>
          <a:prstGeom prst="roundRect">
            <a:avLst>
              <a:gd name="adj" fmla="val 10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61888" y="316382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body</a:t>
            </a:r>
            <a:endParaRPr lang="en-US" sz="960" dirty="0"/>
          </a:p>
        </p:txBody>
      </p:sp>
      <p:sp>
        <p:nvSpPr>
          <p:cNvPr id="24" name="Text 21"/>
          <p:cNvSpPr/>
          <p:nvPr/>
        </p:nvSpPr>
        <p:spPr>
          <a:xfrm>
            <a:off x="6821424" y="3154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+ font-family</a:t>
            </a:r>
            <a:endParaRPr lang="en-US" sz="910" dirty="0"/>
          </a:p>
        </p:txBody>
      </p:sp>
      <p:sp>
        <p:nvSpPr>
          <p:cNvPr id="25" name="Shape 22"/>
          <p:cNvSpPr/>
          <p:nvPr/>
        </p:nvSpPr>
        <p:spPr>
          <a:xfrm>
            <a:off x="6071616" y="360273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3566160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99632" y="3474720"/>
            <a:ext cx="804672" cy="25603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72784" y="352958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960" dirty="0"/>
          </a:p>
        </p:txBody>
      </p:sp>
      <p:sp>
        <p:nvSpPr>
          <p:cNvPr id="29" name="Text 26"/>
          <p:cNvSpPr/>
          <p:nvPr/>
        </p:nvSpPr>
        <p:spPr>
          <a:xfrm>
            <a:off x="7132320" y="3520440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el contexto</a:t>
            </a:r>
            <a:endParaRPr lang="en-US" sz="910" dirty="0"/>
          </a:p>
        </p:txBody>
      </p:sp>
      <p:sp>
        <p:nvSpPr>
          <p:cNvPr id="30" name="Shape 27"/>
          <p:cNvSpPr/>
          <p:nvPr/>
        </p:nvSpPr>
        <p:spPr>
          <a:xfrm>
            <a:off x="6382512" y="396849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45936" y="3931920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10528" y="3840480"/>
            <a:ext cx="603504" cy="256032"/>
          </a:xfrm>
          <a:prstGeom prst="roundRect">
            <a:avLst>
              <a:gd name="adj" fmla="val 10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583680" y="38953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</a:t>
            </a:r>
            <a:endParaRPr lang="en-US" sz="960" dirty="0"/>
          </a:p>
        </p:txBody>
      </p:sp>
      <p:sp>
        <p:nvSpPr>
          <p:cNvPr id="34" name="Text 31"/>
          <p:cNvSpPr/>
          <p:nvPr/>
        </p:nvSpPr>
        <p:spPr>
          <a:xfrm>
            <a:off x="7242048" y="3886200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#243b53 + Arial</a:t>
            </a:r>
            <a:endParaRPr lang="en-US" sz="910" dirty="0"/>
          </a:p>
        </p:txBody>
      </p:sp>
      <p:sp>
        <p:nvSpPr>
          <p:cNvPr id="35" name="Shape 32"/>
          <p:cNvSpPr/>
          <p:nvPr/>
        </p:nvSpPr>
        <p:spPr>
          <a:xfrm>
            <a:off x="6382512" y="4334256"/>
            <a:ext cx="12801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45936" y="4297680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510528" y="4206240"/>
            <a:ext cx="603504" cy="256032"/>
          </a:xfrm>
          <a:prstGeom prst="roundRect">
            <a:avLst>
              <a:gd name="adj" fmla="val 1071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83680" y="42611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960" dirty="0"/>
          </a:p>
        </p:txBody>
      </p:sp>
      <p:sp>
        <p:nvSpPr>
          <p:cNvPr id="39" name="Text 36"/>
          <p:cNvSpPr/>
          <p:nvPr/>
        </p:nvSpPr>
        <p:spPr>
          <a:xfrm>
            <a:off x="7242048" y="4251960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también puede heredar</a:t>
            </a:r>
            <a:endParaRPr lang="en-US" sz="9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 y caja no se comportan igual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parte importante del debugging en CSS consiste en distinguir qué tipo de propiedad estás mirando.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139696"/>
            <a:ext cx="4736592" cy="2816352"/>
          </a:xfrm>
          <a:prstGeom prst="roundRect">
            <a:avLst>
              <a:gd name="adj" fmla="val 12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67712"/>
            <a:ext cx="109728" cy="25603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24942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Propiedades ligadas a texto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52144" y="2596896"/>
            <a:ext cx="43891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font-family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font-size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line-height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text-align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70448" y="2139696"/>
            <a:ext cx="4736592" cy="2816352"/>
          </a:xfrm>
          <a:prstGeom prst="roundRect">
            <a:avLst>
              <a:gd name="adj" fmla="val 129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61888" y="2267712"/>
            <a:ext cx="109728" cy="25603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26480" y="224942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Propiedades ligadas a caja y layout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126480" y="2596896"/>
            <a:ext cx="43891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border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width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display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170432" y="5212080"/>
            <a:ext cx="9546336" cy="566928"/>
          </a:xfrm>
          <a:prstGeom prst="roundRect">
            <a:avLst>
              <a:gd name="adj" fmla="val 645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537667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no distingues entre texto y caja, vas a repetir reglas inútiles o esperar herencias que nunca ocurren.</a:t>
            </a:r>
            <a:endParaRPr lang="en-US" sz="16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Especificidad: no todas las reglas pesan lo mismo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dos selectores compiten, el navegador compara su nivel de precisión antes de decidir.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5614416" cy="3511296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267712"/>
            <a:ext cx="5358384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340864"/>
            <a:ext cx="513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 de peso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1060704" y="2651760"/>
            <a:ext cx="5248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selector más específico suele imponerse sobre uno más general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1243584" y="4992624"/>
            <a:ext cx="4882896" cy="54864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5568" y="3145536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Etiqueta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2231136" y="3035808"/>
            <a:ext cx="1188720" cy="361188"/>
          </a:xfrm>
          <a:prstGeom prst="roundRect">
            <a:avLst>
              <a:gd name="adj" fmla="val 7595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231136" y="3035808"/>
            <a:ext cx="91440" cy="361188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14016" y="313639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0,0,1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3145536" y="3136392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bajo</a:t>
            </a:r>
            <a:endParaRPr lang="en-US" sz="890" dirty="0"/>
          </a:p>
        </p:txBody>
      </p:sp>
      <p:sp>
        <p:nvSpPr>
          <p:cNvPr id="20" name="Text 17"/>
          <p:cNvSpPr/>
          <p:nvPr/>
        </p:nvSpPr>
        <p:spPr>
          <a:xfrm>
            <a:off x="1115568" y="365302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Clase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2231136" y="3543300"/>
            <a:ext cx="1993758" cy="361188"/>
          </a:xfrm>
          <a:prstGeom prst="roundRect">
            <a:avLst>
              <a:gd name="adj" fmla="val 7595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1136" y="3543300"/>
            <a:ext cx="91440" cy="361188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14016" y="364388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0,1,0</a:t>
            </a:r>
            <a:endParaRPr lang="en-US" sz="920" dirty="0"/>
          </a:p>
        </p:txBody>
      </p:sp>
      <p:sp>
        <p:nvSpPr>
          <p:cNvPr id="24" name="Text 21"/>
          <p:cNvSpPr/>
          <p:nvPr/>
        </p:nvSpPr>
        <p:spPr>
          <a:xfrm>
            <a:off x="3145536" y="3643884"/>
            <a:ext cx="106107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medio</a:t>
            </a:r>
            <a:endParaRPr lang="en-US" sz="890" dirty="0"/>
          </a:p>
        </p:txBody>
      </p:sp>
      <p:sp>
        <p:nvSpPr>
          <p:cNvPr id="25" name="Text 22"/>
          <p:cNvSpPr/>
          <p:nvPr/>
        </p:nvSpPr>
        <p:spPr>
          <a:xfrm>
            <a:off x="1115568" y="4160520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</a:t>
            </a:r>
            <a:endParaRPr lang="en-US" sz="1120" dirty="0"/>
          </a:p>
        </p:txBody>
      </p:sp>
      <p:sp>
        <p:nvSpPr>
          <p:cNvPr id="26" name="Shape 23"/>
          <p:cNvSpPr/>
          <p:nvPr/>
        </p:nvSpPr>
        <p:spPr>
          <a:xfrm>
            <a:off x="2231136" y="4050792"/>
            <a:ext cx="3207349" cy="361188"/>
          </a:xfrm>
          <a:prstGeom prst="roundRect">
            <a:avLst>
              <a:gd name="adj" fmla="val 7595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231136" y="4050792"/>
            <a:ext cx="91440" cy="3611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414016" y="415137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1,0,0</a:t>
            </a:r>
            <a:endParaRPr lang="en-US" sz="920" dirty="0"/>
          </a:p>
        </p:txBody>
      </p:sp>
      <p:sp>
        <p:nvSpPr>
          <p:cNvPr id="29" name="Text 26"/>
          <p:cNvSpPr/>
          <p:nvPr/>
        </p:nvSpPr>
        <p:spPr>
          <a:xfrm>
            <a:off x="3145536" y="4151376"/>
            <a:ext cx="227466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alto</a:t>
            </a:r>
            <a:endParaRPr lang="en-US" sz="890" dirty="0"/>
          </a:p>
        </p:txBody>
      </p:sp>
      <p:sp>
        <p:nvSpPr>
          <p:cNvPr id="30" name="Text 27"/>
          <p:cNvSpPr/>
          <p:nvPr/>
        </p:nvSpPr>
        <p:spPr>
          <a:xfrm>
            <a:off x="1115568" y="4668012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Inline</a:t>
            </a:r>
            <a:endParaRPr lang="en-US" sz="1120" dirty="0"/>
          </a:p>
        </p:txBody>
      </p:sp>
      <p:sp>
        <p:nvSpPr>
          <p:cNvPr id="31" name="Shape 28"/>
          <p:cNvSpPr/>
          <p:nvPr/>
        </p:nvSpPr>
        <p:spPr>
          <a:xfrm>
            <a:off x="2231136" y="4558284"/>
            <a:ext cx="4074201" cy="361188"/>
          </a:xfrm>
          <a:prstGeom prst="roundRect">
            <a:avLst>
              <a:gd name="adj" fmla="val 7595"/>
            </a:avLst>
          </a:prstGeom>
          <a:solidFill>
            <a:srgbClr val="E6EEF7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231136" y="4558284"/>
            <a:ext cx="91440" cy="3611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414016" y="465886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inline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3145536" y="4658868"/>
            <a:ext cx="314151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máximo</a:t>
            </a:r>
            <a:endParaRPr lang="en-US" sz="890" dirty="0"/>
          </a:p>
        </p:txBody>
      </p:sp>
      <p:sp>
        <p:nvSpPr>
          <p:cNvPr id="35" name="Text 32"/>
          <p:cNvSpPr/>
          <p:nvPr/>
        </p:nvSpPr>
        <p:spPr>
          <a:xfrm>
            <a:off x="1078992" y="534009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peso no siempre significa mejor CSS: también puede significar más fricción para mantenerlo.</a:t>
            </a:r>
            <a:endParaRPr lang="en-US" sz="880" dirty="0"/>
          </a:p>
        </p:txBody>
      </p:sp>
      <p:sp>
        <p:nvSpPr>
          <p:cNvPr id="36" name="Shape 33"/>
          <p:cNvSpPr/>
          <p:nvPr/>
        </p:nvSpPr>
        <p:spPr>
          <a:xfrm>
            <a:off x="6839712" y="2249424"/>
            <a:ext cx="3730752" cy="1261872"/>
          </a:xfrm>
          <a:prstGeom prst="roundRect">
            <a:avLst>
              <a:gd name="adj" fmla="val 289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40880" y="2414016"/>
            <a:ext cx="33284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especificidad responde una pregunta técnica muy concreta: ¿por qué esta regla no cambió el resultado si sí existe?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986016" y="3822192"/>
            <a:ext cx="343814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059168" y="3931920"/>
            <a:ext cx="100584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42048" y="39502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útil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7242048" y="4224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Etiqueta &lt; clase &lt; id, pero sin convertir el archivo en una guerra de selectores.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986016" y="4846320"/>
            <a:ext cx="3438144" cy="749808"/>
          </a:xfrm>
          <a:prstGeom prst="roundRect">
            <a:avLst>
              <a:gd name="adj" fmla="val 365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059168" y="4956048"/>
            <a:ext cx="10058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242048" y="4974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riesgo común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7242048" y="52486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resolver todo con más peso vuelve el CSS más duro de corregir.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selector más preciso puede desplazar a uno más general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pregunta correcta no es solo qué regla existe, sino qué regla termina pesando más sobre ese elemento.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736592" cy="3529584"/>
          </a:xfrm>
          <a:prstGeom prst="roundRect">
            <a:avLst>
              <a:gd name="adj" fmla="val 10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49424"/>
            <a:ext cx="44805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22576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selectores posibles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706624"/>
            <a:ext cx="4297680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02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2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#52606d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02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p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2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#102a43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02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#principal .card p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2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2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2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5852160" y="2176272"/>
            <a:ext cx="4882896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0176" y="2304288"/>
            <a:ext cx="4626864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9904" y="23774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relativo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6035040" y="2688336"/>
            <a:ext cx="4517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medida que el selector gana precisión, también gana peso</a:t>
            </a:r>
            <a:endParaRPr lang="en-US" sz="910" dirty="0"/>
          </a:p>
        </p:txBody>
      </p:sp>
      <p:sp>
        <p:nvSpPr>
          <p:cNvPr id="18" name="Shape 15"/>
          <p:cNvSpPr/>
          <p:nvPr/>
        </p:nvSpPr>
        <p:spPr>
          <a:xfrm>
            <a:off x="6217920" y="3511296"/>
            <a:ext cx="4151376" cy="54864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89904" y="3182112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</a:t>
            </a:r>
            <a:endParaRPr lang="en-US" sz="1120" dirty="0"/>
          </a:p>
        </p:txBody>
      </p:sp>
      <p:sp>
        <p:nvSpPr>
          <p:cNvPr id="20" name="Shape 17"/>
          <p:cNvSpPr/>
          <p:nvPr/>
        </p:nvSpPr>
        <p:spPr>
          <a:xfrm>
            <a:off x="7205472" y="3072384"/>
            <a:ext cx="1188720" cy="268224"/>
          </a:xfrm>
          <a:prstGeom prst="roundRect">
            <a:avLst>
              <a:gd name="adj" fmla="val 10227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205472" y="3072384"/>
            <a:ext cx="91440" cy="268224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88352" y="317296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0,0,1</a:t>
            </a:r>
            <a:endParaRPr lang="en-US" sz="920" dirty="0"/>
          </a:p>
        </p:txBody>
      </p:sp>
      <p:sp>
        <p:nvSpPr>
          <p:cNvPr id="23" name="Text 20"/>
          <p:cNvSpPr/>
          <p:nvPr/>
        </p:nvSpPr>
        <p:spPr>
          <a:xfrm>
            <a:off x="8119872" y="317296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</a:t>
            </a:r>
            <a:endParaRPr lang="en-US" sz="890" dirty="0"/>
          </a:p>
        </p:txBody>
      </p:sp>
      <p:sp>
        <p:nvSpPr>
          <p:cNvPr id="24" name="Text 21"/>
          <p:cNvSpPr/>
          <p:nvPr/>
        </p:nvSpPr>
        <p:spPr>
          <a:xfrm>
            <a:off x="6089904" y="3596640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.card p</a:t>
            </a:r>
            <a:endParaRPr lang="en-US" sz="1120" dirty="0"/>
          </a:p>
        </p:txBody>
      </p:sp>
      <p:sp>
        <p:nvSpPr>
          <p:cNvPr id="25" name="Shape 22"/>
          <p:cNvSpPr/>
          <p:nvPr/>
        </p:nvSpPr>
        <p:spPr>
          <a:xfrm>
            <a:off x="7205472" y="3486912"/>
            <a:ext cx="1945477" cy="268224"/>
          </a:xfrm>
          <a:prstGeom prst="roundRect">
            <a:avLst>
              <a:gd name="adj" fmla="val 10227"/>
            </a:avLst>
          </a:prstGeom>
          <a:solidFill>
            <a:srgbClr val="F2E7D9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05472" y="3486912"/>
            <a:ext cx="91440" cy="268224"/>
          </a:xfrm>
          <a:prstGeom prst="rect">
            <a:avLst/>
          </a:prstGeom>
          <a:solidFill>
            <a:srgbClr val="EADFD0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88352" y="358749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0,1,1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8119872" y="3587496"/>
            <a:ext cx="101278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preciso</a:t>
            </a:r>
            <a:endParaRPr lang="en-US" sz="890" dirty="0"/>
          </a:p>
        </p:txBody>
      </p:sp>
      <p:sp>
        <p:nvSpPr>
          <p:cNvPr id="29" name="Text 26"/>
          <p:cNvSpPr/>
          <p:nvPr/>
        </p:nvSpPr>
        <p:spPr>
          <a:xfrm>
            <a:off x="6089904" y="401116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#principal .card p</a:t>
            </a:r>
            <a:endParaRPr lang="en-US" sz="1120" dirty="0"/>
          </a:p>
        </p:txBody>
      </p:sp>
      <p:sp>
        <p:nvSpPr>
          <p:cNvPr id="30" name="Shape 27"/>
          <p:cNvSpPr/>
          <p:nvPr/>
        </p:nvSpPr>
        <p:spPr>
          <a:xfrm>
            <a:off x="7205472" y="3901440"/>
            <a:ext cx="3098353" cy="268224"/>
          </a:xfrm>
          <a:prstGeom prst="roundRect">
            <a:avLst>
              <a:gd name="adj" fmla="val 1022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205472" y="3901440"/>
            <a:ext cx="91440" cy="268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88352" y="400202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1,1,1</a:t>
            </a:r>
            <a:endParaRPr lang="en-US" sz="920" dirty="0"/>
          </a:p>
        </p:txBody>
      </p:sp>
      <p:sp>
        <p:nvSpPr>
          <p:cNvPr id="33" name="Text 30"/>
          <p:cNvSpPr/>
          <p:nvPr/>
        </p:nvSpPr>
        <p:spPr>
          <a:xfrm>
            <a:off x="8119872" y="4002024"/>
            <a:ext cx="2165665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domina</a:t>
            </a:r>
            <a:endParaRPr lang="en-US" sz="890" dirty="0"/>
          </a:p>
        </p:txBody>
      </p:sp>
      <p:sp>
        <p:nvSpPr>
          <p:cNvPr id="34" name="Shape 31"/>
          <p:cNvSpPr/>
          <p:nvPr/>
        </p:nvSpPr>
        <p:spPr>
          <a:xfrm>
            <a:off x="5907024" y="4462272"/>
            <a:ext cx="4791456" cy="1225296"/>
          </a:xfrm>
          <a:prstGeom prst="roundRect">
            <a:avLst>
              <a:gd name="adj" fmla="val 298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98464" y="4590288"/>
            <a:ext cx="109728" cy="9692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63056" y="457200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final</a:t>
            </a:r>
            <a:endParaRPr lang="en-US" sz="1720" dirty="0"/>
          </a:p>
        </p:txBody>
      </p:sp>
      <p:sp>
        <p:nvSpPr>
          <p:cNvPr id="37" name="Text 34"/>
          <p:cNvSpPr/>
          <p:nvPr/>
        </p:nvSpPr>
        <p:spPr>
          <a:xfrm>
            <a:off x="6163056" y="4919472"/>
            <a:ext cx="4443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las tres reglas alcanzan al mismo párrafo, la del id gana porque su selector tiene mayor peso.</a:t>
            </a:r>
            <a:endParaRPr lang="en-US" sz="11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el conflicto como inspector y no como intuición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estilo no cambia, conviene mirar selector, peso, orden y resultado final como una misma escena técnica.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21408"/>
            <a:ext cx="10076688" cy="3529584"/>
          </a:xfrm>
          <a:prstGeom prst="roundRect">
            <a:avLst>
              <a:gd name="adj" fmla="val 10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49424"/>
            <a:ext cx="982065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22576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Conflicto completo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24128" y="2962656"/>
            <a:ext cx="1572768" cy="2267712"/>
          </a:xfrm>
          <a:prstGeom prst="roundRect">
            <a:avLst>
              <a:gd name="adj" fmla="val 2326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52144" y="3145536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p#principal.card.destacado</a:t>
            </a:r>
            <a:endParaRPr lang="en-US" sz="1020" dirty="0"/>
          </a:p>
        </p:txBody>
      </p:sp>
      <p:sp>
        <p:nvSpPr>
          <p:cNvPr id="15" name="Text 12"/>
          <p:cNvSpPr/>
          <p:nvPr/>
        </p:nvSpPr>
        <p:spPr>
          <a:xfrm>
            <a:off x="1152144" y="3547872"/>
            <a:ext cx="13167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Propiedad observada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1152144" y="3785616"/>
            <a:ext cx="1316736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43584" y="3895344"/>
            <a:ext cx="1133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2596896" y="3749040"/>
            <a:ext cx="201168" cy="274320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98064" y="2779776"/>
            <a:ext cx="6291072" cy="2615184"/>
          </a:xfrm>
          <a:prstGeom prst="roundRect">
            <a:avLst>
              <a:gd name="adj" fmla="val 1399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907792" y="2907792"/>
            <a:ext cx="6071616" cy="707136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07792" y="2907792"/>
            <a:ext cx="73152" cy="7071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054096" y="2980944"/>
            <a:ext cx="21389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920" dirty="0"/>
          </a:p>
        </p:txBody>
      </p:sp>
      <p:sp>
        <p:nvSpPr>
          <p:cNvPr id="23" name="Text 20"/>
          <p:cNvSpPr/>
          <p:nvPr/>
        </p:nvSpPr>
        <p:spPr>
          <a:xfrm>
            <a:off x="3054096" y="3145536"/>
            <a:ext cx="23906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#52606d;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101584" y="2980944"/>
            <a:ext cx="713232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156448" y="3031236"/>
            <a:ext cx="603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0,0,1</a:t>
            </a:r>
            <a:endParaRPr lang="en-US" sz="810" dirty="0"/>
          </a:p>
        </p:txBody>
      </p:sp>
      <p:sp>
        <p:nvSpPr>
          <p:cNvPr id="26" name="Text 23"/>
          <p:cNvSpPr/>
          <p:nvPr/>
        </p:nvSpPr>
        <p:spPr>
          <a:xfrm>
            <a:off x="8028432" y="3459480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muy general</a:t>
            </a:r>
            <a:endParaRPr lang="en-US" sz="760" dirty="0"/>
          </a:p>
        </p:txBody>
      </p:sp>
      <p:sp>
        <p:nvSpPr>
          <p:cNvPr id="27" name="Shape 24"/>
          <p:cNvSpPr/>
          <p:nvPr/>
        </p:nvSpPr>
        <p:spPr>
          <a:xfrm>
            <a:off x="2907792" y="3724656"/>
            <a:ext cx="6071616" cy="707136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907792" y="3724656"/>
            <a:ext cx="73152" cy="7071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54096" y="3797808"/>
            <a:ext cx="21389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p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3054096" y="3962400"/>
            <a:ext cx="23906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#102a43;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101584" y="3797808"/>
            <a:ext cx="713232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56448" y="3848100"/>
            <a:ext cx="603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0,1,1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8028432" y="4276344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preciso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2907792" y="4541520"/>
            <a:ext cx="6071616" cy="707136"/>
          </a:xfrm>
          <a:prstGeom prst="roundRect">
            <a:avLst>
              <a:gd name="adj" fmla="val 3879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07792" y="4541520"/>
            <a:ext cx="73152" cy="7071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054096" y="4614672"/>
            <a:ext cx="21389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#principal .card p</a:t>
            </a:r>
            <a:endParaRPr lang="en-US" sz="920" dirty="0"/>
          </a:p>
        </p:txBody>
      </p:sp>
      <p:sp>
        <p:nvSpPr>
          <p:cNvPr id="37" name="Text 34"/>
          <p:cNvSpPr/>
          <p:nvPr/>
        </p:nvSpPr>
        <p:spPr>
          <a:xfrm>
            <a:off x="3054096" y="4779264"/>
            <a:ext cx="23906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#d62027;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8101584" y="4614672"/>
            <a:ext cx="713232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56448" y="4664964"/>
            <a:ext cx="603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1,1,1</a:t>
            </a:r>
            <a:endParaRPr lang="en-US" sz="810" dirty="0"/>
          </a:p>
        </p:txBody>
      </p:sp>
      <p:sp>
        <p:nvSpPr>
          <p:cNvPr id="40" name="Text 37"/>
          <p:cNvSpPr/>
          <p:nvPr/>
        </p:nvSpPr>
        <p:spPr>
          <a:xfrm>
            <a:off x="8028432" y="5093208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id</a:t>
            </a:r>
            <a:endParaRPr lang="en-US" sz="760" dirty="0"/>
          </a:p>
        </p:txBody>
      </p:sp>
      <p:sp>
        <p:nvSpPr>
          <p:cNvPr id="41" name="Shape 38"/>
          <p:cNvSpPr/>
          <p:nvPr/>
        </p:nvSpPr>
        <p:spPr>
          <a:xfrm>
            <a:off x="9089136" y="3749040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290304" y="2962656"/>
            <a:ext cx="1444752" cy="2267712"/>
          </a:xfrm>
          <a:prstGeom prst="roundRect">
            <a:avLst>
              <a:gd name="adj" fmla="val 253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36608" y="3145536"/>
            <a:ext cx="1152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418320" y="3547872"/>
            <a:ext cx="11887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454896" y="3675888"/>
            <a:ext cx="11155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#d62027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9418320" y="40965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resultado final se explica sin tocar nada al azar</a:t>
            </a:r>
            <a:endParaRPr lang="en-US" sz="89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Diagnosticar CSS es seguir una secuencia, no improvisar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depuración mejora cuando se revisa el conflicto con un orden mental estable.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286000"/>
            <a:ext cx="2011680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414016"/>
            <a:ext cx="109728" cy="16093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9572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Selector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52144" y="274320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regla apunta al elemento correcto?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3035808" y="2999232"/>
            <a:ext cx="25603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1296" y="2286000"/>
            <a:ext cx="2011680" cy="1865376"/>
          </a:xfrm>
          <a:prstGeom prst="roundRect">
            <a:avLst>
              <a:gd name="adj" fmla="val 19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02736" y="2414016"/>
            <a:ext cx="109728" cy="16093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67328" y="239572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Herencia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767328" y="274320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propiedad ya viene desde arriba?</a:t>
            </a:r>
            <a:endParaRPr lang="en-US" sz="1140" dirty="0"/>
          </a:p>
        </p:txBody>
      </p:sp>
      <p:sp>
        <p:nvSpPr>
          <p:cNvPr id="19" name="Shape 16"/>
          <p:cNvSpPr/>
          <p:nvPr/>
        </p:nvSpPr>
        <p:spPr>
          <a:xfrm>
            <a:off x="5650992" y="2999232"/>
            <a:ext cx="256032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26480" y="2286000"/>
            <a:ext cx="2011680" cy="1865376"/>
          </a:xfrm>
          <a:prstGeom prst="roundRect">
            <a:avLst>
              <a:gd name="adj" fmla="val 19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17920" y="2414016"/>
            <a:ext cx="109728" cy="16093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239572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Peso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382512" y="274320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¿Hay una regla más específica compitiendo?</a:t>
            </a:r>
            <a:endParaRPr lang="en-US" sz="1140" dirty="0"/>
          </a:p>
        </p:txBody>
      </p:sp>
      <p:sp>
        <p:nvSpPr>
          <p:cNvPr id="24" name="Shape 21"/>
          <p:cNvSpPr/>
          <p:nvPr/>
        </p:nvSpPr>
        <p:spPr>
          <a:xfrm>
            <a:off x="8266176" y="2999232"/>
            <a:ext cx="25603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41664" y="2286000"/>
            <a:ext cx="2011680" cy="1865376"/>
          </a:xfrm>
          <a:prstGeom prst="roundRect">
            <a:avLst>
              <a:gd name="adj" fmla="val 196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33104" y="2414016"/>
            <a:ext cx="109728" cy="1609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97696" y="239572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Orden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997696" y="274320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archivo deja otra regla después?</a:t>
            </a:r>
            <a:endParaRPr lang="en-US" sz="1140" dirty="0"/>
          </a:p>
        </p:txBody>
      </p:sp>
      <p:sp>
        <p:nvSpPr>
          <p:cNvPr id="29" name="Shape 26"/>
          <p:cNvSpPr/>
          <p:nvPr/>
        </p:nvSpPr>
        <p:spPr>
          <a:xfrm>
            <a:off x="1060704" y="4663440"/>
            <a:ext cx="9765792" cy="658368"/>
          </a:xfrm>
          <a:prstGeom prst="roundRect">
            <a:avLst>
              <a:gd name="adj" fmla="val 555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61872" y="4828032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CSS con método ahorra tiempo y evita subir complejidad solo para forzar un resultado.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estilos como inspector cambia la calidad del debugging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una regla aparece tachada o desplazada, el navegador ya está explicando el conflicto.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5669280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67712"/>
            <a:ext cx="5413248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40864"/>
            <a:ext cx="5193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tipo inspector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42416" y="2980944"/>
            <a:ext cx="1133856" cy="2139696"/>
          </a:xfrm>
          <a:prstGeom prst="roundRect">
            <a:avLst>
              <a:gd name="adj" fmla="val 3226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3163824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a.card-link</a:t>
            </a:r>
            <a:endParaRPr lang="en-US" sz="940" dirty="0"/>
          </a:p>
        </p:txBody>
      </p:sp>
      <p:sp>
        <p:nvSpPr>
          <p:cNvPr id="15" name="Text 12"/>
          <p:cNvSpPr/>
          <p:nvPr/>
        </p:nvSpPr>
        <p:spPr>
          <a:xfrm>
            <a:off x="1170432" y="3566160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Propiedad observada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1170432" y="3803904"/>
            <a:ext cx="877824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61872" y="3913632"/>
            <a:ext cx="6949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2194560" y="3712464"/>
            <a:ext cx="182880" cy="2560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395728" y="2798064"/>
            <a:ext cx="2483510" cy="2487168"/>
          </a:xfrm>
          <a:prstGeom prst="roundRect">
            <a:avLst>
              <a:gd name="adj" fmla="val 1473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05456" y="2926080"/>
            <a:ext cx="2264054" cy="66446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505456" y="2926080"/>
            <a:ext cx="73152" cy="6644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651760" y="2999232"/>
            <a:ext cx="7947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2651760" y="3182112"/>
            <a:ext cx="89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#243b53;</a:t>
            </a:r>
            <a:endParaRPr lang="en-US" sz="790" dirty="0"/>
          </a:p>
        </p:txBody>
      </p:sp>
      <p:sp>
        <p:nvSpPr>
          <p:cNvPr id="24" name="Shape 21"/>
          <p:cNvSpPr/>
          <p:nvPr/>
        </p:nvSpPr>
        <p:spPr>
          <a:xfrm>
            <a:off x="3983126" y="2999232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037990" y="3049524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0,0,1</a:t>
            </a:r>
            <a:endParaRPr lang="en-US" sz="760" dirty="0"/>
          </a:p>
        </p:txBody>
      </p:sp>
      <p:sp>
        <p:nvSpPr>
          <p:cNvPr id="26" name="Text 23"/>
          <p:cNvSpPr/>
          <p:nvPr/>
        </p:nvSpPr>
        <p:spPr>
          <a:xfrm>
            <a:off x="3964838" y="34350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710" dirty="0"/>
          </a:p>
        </p:txBody>
      </p:sp>
      <p:sp>
        <p:nvSpPr>
          <p:cNvPr id="27" name="Shape 24"/>
          <p:cNvSpPr/>
          <p:nvPr/>
        </p:nvSpPr>
        <p:spPr>
          <a:xfrm>
            <a:off x="2505456" y="3700272"/>
            <a:ext cx="2264054" cy="664464"/>
          </a:xfrm>
          <a:prstGeom prst="roundRect">
            <a:avLst>
              <a:gd name="adj" fmla="val 4128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05456" y="3700272"/>
            <a:ext cx="73152" cy="6644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651760" y="3773424"/>
            <a:ext cx="7947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.card-link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2651760" y="3956304"/>
            <a:ext cx="89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#102a43;</a:t>
            </a:r>
            <a:endParaRPr lang="en-US" sz="790" dirty="0"/>
          </a:p>
        </p:txBody>
      </p:sp>
      <p:sp>
        <p:nvSpPr>
          <p:cNvPr id="31" name="Shape 28"/>
          <p:cNvSpPr/>
          <p:nvPr/>
        </p:nvSpPr>
        <p:spPr>
          <a:xfrm>
            <a:off x="3983126" y="3773424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037990" y="3823716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0,1,0</a:t>
            </a:r>
            <a:endParaRPr lang="en-US" sz="760" dirty="0"/>
          </a:p>
        </p:txBody>
      </p:sp>
      <p:sp>
        <p:nvSpPr>
          <p:cNvPr id="33" name="Text 30"/>
          <p:cNvSpPr/>
          <p:nvPr/>
        </p:nvSpPr>
        <p:spPr>
          <a:xfrm>
            <a:off x="3964838" y="4209288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activo</a:t>
            </a:r>
            <a:endParaRPr lang="en-US" sz="710" dirty="0"/>
          </a:p>
        </p:txBody>
      </p:sp>
      <p:sp>
        <p:nvSpPr>
          <p:cNvPr id="34" name="Shape 31"/>
          <p:cNvSpPr/>
          <p:nvPr/>
        </p:nvSpPr>
        <p:spPr>
          <a:xfrm>
            <a:off x="2505456" y="4474464"/>
            <a:ext cx="2264054" cy="66446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05456" y="4474464"/>
            <a:ext cx="73152" cy="6644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651760" y="4547616"/>
            <a:ext cx="7947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#principal a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2651760" y="4730496"/>
            <a:ext cx="89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color: #d62027;</a:t>
            </a:r>
            <a:endParaRPr lang="en-US" sz="790" dirty="0"/>
          </a:p>
        </p:txBody>
      </p:sp>
      <p:sp>
        <p:nvSpPr>
          <p:cNvPr id="38" name="Shape 35"/>
          <p:cNvSpPr/>
          <p:nvPr/>
        </p:nvSpPr>
        <p:spPr>
          <a:xfrm>
            <a:off x="3983126" y="4547616"/>
            <a:ext cx="640080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037990" y="4597908"/>
            <a:ext cx="5303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1,0,1</a:t>
            </a:r>
            <a:endParaRPr lang="en-US" sz="760" dirty="0"/>
          </a:p>
        </p:txBody>
      </p:sp>
      <p:sp>
        <p:nvSpPr>
          <p:cNvPr id="40" name="Text 37"/>
          <p:cNvSpPr/>
          <p:nvPr/>
        </p:nvSpPr>
        <p:spPr>
          <a:xfrm>
            <a:off x="3964838" y="4983480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aplica aquí</a:t>
            </a:r>
            <a:endParaRPr lang="en-US" sz="710" dirty="0"/>
          </a:p>
        </p:txBody>
      </p:sp>
      <p:sp>
        <p:nvSpPr>
          <p:cNvPr id="41" name="Shape 38"/>
          <p:cNvSpPr/>
          <p:nvPr/>
        </p:nvSpPr>
        <p:spPr>
          <a:xfrm>
            <a:off x="4897526" y="3712464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98694" y="2980944"/>
            <a:ext cx="1247242" cy="2139696"/>
          </a:xfrm>
          <a:prstGeom prst="roundRect">
            <a:avLst>
              <a:gd name="adj" fmla="val 29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244998" y="3163824"/>
            <a:ext cx="95463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5226710" y="3566160"/>
            <a:ext cx="99121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263286" y="3694176"/>
            <a:ext cx="91805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#102a43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226710" y="4114800"/>
            <a:ext cx="9912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lectura técnica ya trae pistas sobre el porqué</a:t>
            </a:r>
            <a:endParaRPr lang="en-US" sz="890" dirty="0"/>
          </a:p>
        </p:txBody>
      </p:sp>
      <p:sp>
        <p:nvSpPr>
          <p:cNvPr id="47" name="Shape 44"/>
          <p:cNvSpPr/>
          <p:nvPr/>
        </p:nvSpPr>
        <p:spPr>
          <a:xfrm>
            <a:off x="6803136" y="2176272"/>
            <a:ext cx="3675888" cy="1207008"/>
          </a:xfrm>
          <a:prstGeom prst="roundRect">
            <a:avLst>
              <a:gd name="adj" fmla="val 303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94576" y="2304288"/>
            <a:ext cx="109728" cy="9509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059168" y="2286000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conviene mirar</a:t>
            </a:r>
            <a:endParaRPr lang="en-US" sz="1720" dirty="0"/>
          </a:p>
        </p:txBody>
      </p:sp>
      <p:sp>
        <p:nvSpPr>
          <p:cNvPr id="50" name="Text 47"/>
          <p:cNvSpPr/>
          <p:nvPr/>
        </p:nvSpPr>
        <p:spPr>
          <a:xfrm>
            <a:off x="7059168" y="2633472"/>
            <a:ext cx="3328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activa · regla tachada · peso relativo · valor final</a:t>
            </a:r>
            <a:endParaRPr lang="en-US" sz="1120" dirty="0"/>
          </a:p>
        </p:txBody>
      </p:sp>
      <p:sp>
        <p:nvSpPr>
          <p:cNvPr id="51" name="Shape 48"/>
          <p:cNvSpPr/>
          <p:nvPr/>
        </p:nvSpPr>
        <p:spPr>
          <a:xfrm>
            <a:off x="6803136" y="3602736"/>
            <a:ext cx="3675888" cy="1133856"/>
          </a:xfrm>
          <a:prstGeom prst="roundRect">
            <a:avLst>
              <a:gd name="adj" fmla="val 322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894576" y="3730752"/>
            <a:ext cx="109728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059168" y="371246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frecuente</a:t>
            </a:r>
            <a:endParaRPr lang="en-US" sz="1720" dirty="0"/>
          </a:p>
        </p:txBody>
      </p:sp>
      <p:sp>
        <p:nvSpPr>
          <p:cNvPr id="54" name="Text 51"/>
          <p:cNvSpPr/>
          <p:nvPr/>
        </p:nvSpPr>
        <p:spPr>
          <a:xfrm>
            <a:off x="7059168" y="4059936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sumar más selectores sin entender primero qué regla ya está dominando.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6803136" y="4956048"/>
            <a:ext cx="3675888" cy="658368"/>
          </a:xfrm>
          <a:prstGeom prst="roundRect">
            <a:avLst>
              <a:gd name="adj" fmla="val 555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94576" y="5084064"/>
            <a:ext cx="109728" cy="4023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059168" y="506577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sana</a:t>
            </a:r>
            <a:endParaRPr lang="en-US" sz="1620" dirty="0"/>
          </a:p>
        </p:txBody>
      </p:sp>
      <p:sp>
        <p:nvSpPr>
          <p:cNvPr id="58" name="Text 55"/>
          <p:cNvSpPr/>
          <p:nvPr/>
        </p:nvSpPr>
        <p:spPr>
          <a:xfrm>
            <a:off x="7059168" y="5413248"/>
            <a:ext cx="33284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entender, después corregir</a:t>
            </a:r>
            <a:endParaRPr lang="en-US" sz="10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guía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fijar la lectura técnica de conflictos, herencia y peso entre reglas.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04288"/>
            <a:ext cx="109728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286000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720" dirty="0"/>
          </a:p>
        </p:txBody>
      </p:sp>
      <p:sp>
        <p:nvSpPr>
          <p:cNvPr id="13" name="Text 10"/>
          <p:cNvSpPr/>
          <p:nvPr/>
        </p:nvSpPr>
        <p:spPr>
          <a:xfrm>
            <a:off x="1188720" y="263347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CSS necesita una lógica de cascada cuando varias reglas afectan el mismo elemento?</a:t>
            </a:r>
            <a:endParaRPr lang="en-US" sz="1160" dirty="0"/>
          </a:p>
        </p:txBody>
      </p:sp>
      <p:sp>
        <p:nvSpPr>
          <p:cNvPr id="14" name="Shape 11"/>
          <p:cNvSpPr/>
          <p:nvPr/>
        </p:nvSpPr>
        <p:spPr>
          <a:xfrm>
            <a:off x="6053328" y="2176272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44768" y="2304288"/>
            <a:ext cx="109728" cy="10058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2286000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720" dirty="0"/>
          </a:p>
        </p:txBody>
      </p:sp>
      <p:sp>
        <p:nvSpPr>
          <p:cNvPr id="17" name="Text 14"/>
          <p:cNvSpPr/>
          <p:nvPr/>
        </p:nvSpPr>
        <p:spPr>
          <a:xfrm>
            <a:off x="6309360" y="263347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propiedades suelen heredarse y cuáles no conviene asumir como heredables?</a:t>
            </a:r>
            <a:endParaRPr lang="en-US" sz="1160" dirty="0"/>
          </a:p>
        </p:txBody>
      </p:sp>
      <p:sp>
        <p:nvSpPr>
          <p:cNvPr id="18" name="Shape 15"/>
          <p:cNvSpPr/>
          <p:nvPr/>
        </p:nvSpPr>
        <p:spPr>
          <a:xfrm>
            <a:off x="932688" y="3749040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4128" y="3877056"/>
            <a:ext cx="109728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385876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720" dirty="0"/>
          </a:p>
        </p:txBody>
      </p:sp>
      <p:sp>
        <p:nvSpPr>
          <p:cNvPr id="21" name="Text 18"/>
          <p:cNvSpPr/>
          <p:nvPr/>
        </p:nvSpPr>
        <p:spPr>
          <a:xfrm>
            <a:off x="1188720" y="420624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la especificidad ayuda a explicar conflictos entre reglas?</a:t>
            </a:r>
            <a:endParaRPr lang="en-US" sz="1160" dirty="0"/>
          </a:p>
        </p:txBody>
      </p:sp>
      <p:sp>
        <p:nvSpPr>
          <p:cNvPr id="22" name="Shape 19"/>
          <p:cNvSpPr/>
          <p:nvPr/>
        </p:nvSpPr>
        <p:spPr>
          <a:xfrm>
            <a:off x="6053328" y="3749040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44768" y="3877056"/>
            <a:ext cx="109728" cy="10058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9360" y="385876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4</a:t>
            </a:r>
            <a:endParaRPr lang="en-US" sz="1720" dirty="0"/>
          </a:p>
        </p:txBody>
      </p:sp>
      <p:sp>
        <p:nvSpPr>
          <p:cNvPr id="25" name="Text 22"/>
          <p:cNvSpPr/>
          <p:nvPr/>
        </p:nvSpPr>
        <p:spPr>
          <a:xfrm>
            <a:off x="6309360" y="420624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se depura un estilo con criterio y no tocando propiedades al azar?</a:t>
            </a:r>
            <a:endParaRPr lang="en-US" sz="11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regla CSS no se entiende sola: se entiende por cómo compite, se hereda y termina resolviéndose en el navegador.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3108960" cy="3310128"/>
          </a:xfrm>
          <a:prstGeom prst="roundRect">
            <a:avLst>
              <a:gd name="adj" fmla="val 117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57056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36487" y="2432304"/>
            <a:ext cx="184343" cy="4915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51554" y="257056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907792"/>
            <a:ext cx="223113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Cascada,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herencia y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especificidad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explican el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final.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79392" y="2139696"/>
            <a:ext cx="3895344" cy="3310128"/>
          </a:xfrm>
          <a:prstGeom prst="roundRect">
            <a:avLst>
              <a:gd name="adj" fmla="val 11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70832" y="2267712"/>
            <a:ext cx="109728" cy="3054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35424" y="2249424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840" dirty="0"/>
          </a:p>
        </p:txBody>
      </p:sp>
      <p:sp>
        <p:nvSpPr>
          <p:cNvPr id="18" name="Text 15"/>
          <p:cNvSpPr/>
          <p:nvPr/>
        </p:nvSpPr>
        <p:spPr>
          <a:xfrm>
            <a:off x="4535424" y="2596896"/>
            <a:ext cx="354787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mejor con CSS significa leer por qué una regla gana, qué decisiones ya vienen heredadas y qué selector está pesando más sobre el resultado.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8449056" y="2139696"/>
            <a:ext cx="2340864" cy="3310128"/>
          </a:xfrm>
          <a:prstGeom prst="roundRect">
            <a:avLst>
              <a:gd name="adj" fmla="val 15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40496" y="2267712"/>
            <a:ext cx="109728" cy="3054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05088" y="224942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al bloque 3</a:t>
            </a:r>
            <a:endParaRPr lang="en-US" sz="1680" dirty="0"/>
          </a:p>
        </p:txBody>
      </p:sp>
      <p:sp>
        <p:nvSpPr>
          <p:cNvPr id="22" name="Text 19"/>
          <p:cNvSpPr/>
          <p:nvPr/>
        </p:nvSpPr>
        <p:spPr>
          <a:xfrm>
            <a:off x="8705088" y="2596896"/>
            <a:ext cx="1993392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tramo veremos cómo estas decisiones pasan a un CSS más mantenible con variables y consistencia visual.</a:t>
            </a:r>
            <a:endParaRPr lang="en-US" sz="10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 · Variables CSS y consistencia visual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importa pasar de reglas sueltas a decisiones visuales nombradas y reutilizables.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3675888" cy="3072384"/>
          </a:xfrm>
          <a:prstGeom prst="roundRect">
            <a:avLst>
              <a:gd name="adj" fmla="val 119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57056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36487" y="2432304"/>
            <a:ext cx="184343" cy="4915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51554" y="257056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15568" y="2889504"/>
            <a:ext cx="2596896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CSS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ordenan decisiones,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reducen repetición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 preparan un estilo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mantenible.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828032" y="2176272"/>
            <a:ext cx="5943600" cy="2852928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56048" y="2304288"/>
            <a:ext cx="568756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65776" y="2377440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Decisiones que ya conviene centralizar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010912" y="2834640"/>
            <a:ext cx="1749552" cy="1682496"/>
          </a:xfrm>
          <a:prstGeom prst="roundRect">
            <a:avLst>
              <a:gd name="adj" fmla="val 217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10912" y="2834640"/>
            <a:ext cx="91440" cy="16824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93792" y="2980944"/>
            <a:ext cx="149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</a:t>
            </a:r>
            <a:endParaRPr lang="en-US" sz="1220" dirty="0"/>
          </a:p>
        </p:txBody>
      </p:sp>
      <p:sp>
        <p:nvSpPr>
          <p:cNvPr id="21" name="Shape 18"/>
          <p:cNvSpPr/>
          <p:nvPr/>
        </p:nvSpPr>
        <p:spPr>
          <a:xfrm>
            <a:off x="5157216" y="3328416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30368" y="3429000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49824" y="3401568"/>
            <a:ext cx="999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endParaRPr lang="en-US" sz="760" dirty="0"/>
          </a:p>
        </p:txBody>
      </p:sp>
      <p:sp>
        <p:nvSpPr>
          <p:cNvPr id="24" name="Text 21"/>
          <p:cNvSpPr/>
          <p:nvPr/>
        </p:nvSpPr>
        <p:spPr>
          <a:xfrm>
            <a:off x="5449824" y="3529584"/>
            <a:ext cx="9997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#D62027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5157216" y="3840480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230368" y="3941064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49824" y="3913632"/>
            <a:ext cx="999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--text-main</a:t>
            </a:r>
            <a:endParaRPr lang="en-US" sz="820" dirty="0"/>
          </a:p>
        </p:txBody>
      </p:sp>
      <p:sp>
        <p:nvSpPr>
          <p:cNvPr id="28" name="Text 25"/>
          <p:cNvSpPr/>
          <p:nvPr/>
        </p:nvSpPr>
        <p:spPr>
          <a:xfrm>
            <a:off x="5449824" y="4041648"/>
            <a:ext cx="9997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#102A43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6925056" y="2834640"/>
            <a:ext cx="1749552" cy="1682496"/>
          </a:xfrm>
          <a:prstGeom prst="roundRect">
            <a:avLst>
              <a:gd name="adj" fmla="val 2174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925056" y="2834640"/>
            <a:ext cx="91440" cy="16824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107936" y="2980944"/>
            <a:ext cx="149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1220" dirty="0"/>
          </a:p>
        </p:txBody>
      </p:sp>
      <p:sp>
        <p:nvSpPr>
          <p:cNvPr id="32" name="Shape 29"/>
          <p:cNvSpPr/>
          <p:nvPr/>
        </p:nvSpPr>
        <p:spPr>
          <a:xfrm>
            <a:off x="7071360" y="3328416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144512" y="3401568"/>
            <a:ext cx="127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--space-sm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7144512" y="3529584"/>
            <a:ext cx="1274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8px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7071360" y="3840480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144512" y="3913632"/>
            <a:ext cx="127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--space-md</a:t>
            </a:r>
            <a:endParaRPr lang="en-US" sz="820" dirty="0"/>
          </a:p>
        </p:txBody>
      </p:sp>
      <p:sp>
        <p:nvSpPr>
          <p:cNvPr id="37" name="Text 34"/>
          <p:cNvSpPr/>
          <p:nvPr/>
        </p:nvSpPr>
        <p:spPr>
          <a:xfrm>
            <a:off x="7144512" y="4041648"/>
            <a:ext cx="1274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16px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8839200" y="2834640"/>
            <a:ext cx="1749552" cy="1682496"/>
          </a:xfrm>
          <a:prstGeom prst="roundRect">
            <a:avLst>
              <a:gd name="adj" fmla="val 217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839200" y="2834640"/>
            <a:ext cx="91440" cy="16824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022080" y="2980944"/>
            <a:ext cx="149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Superficie</a:t>
            </a:r>
            <a:endParaRPr lang="en-US" sz="1220" dirty="0"/>
          </a:p>
        </p:txBody>
      </p:sp>
      <p:sp>
        <p:nvSpPr>
          <p:cNvPr id="41" name="Shape 38"/>
          <p:cNvSpPr/>
          <p:nvPr/>
        </p:nvSpPr>
        <p:spPr>
          <a:xfrm>
            <a:off x="8985504" y="3328416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058656" y="3429000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278112" y="3401568"/>
            <a:ext cx="999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--surface-card</a:t>
            </a:r>
            <a:endParaRPr lang="en-US" sz="820" dirty="0"/>
          </a:p>
        </p:txBody>
      </p:sp>
      <p:sp>
        <p:nvSpPr>
          <p:cNvPr id="44" name="Text 41"/>
          <p:cNvSpPr/>
          <p:nvPr/>
        </p:nvSpPr>
        <p:spPr>
          <a:xfrm>
            <a:off x="9278112" y="3529584"/>
            <a:ext cx="9997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#FFFFFF</a:t>
            </a:r>
            <a:endParaRPr lang="en-US" sz="840" dirty="0"/>
          </a:p>
        </p:txBody>
      </p:sp>
      <p:sp>
        <p:nvSpPr>
          <p:cNvPr id="45" name="Shape 42"/>
          <p:cNvSpPr/>
          <p:nvPr/>
        </p:nvSpPr>
        <p:spPr>
          <a:xfrm>
            <a:off x="8985504" y="3840480"/>
            <a:ext cx="1475232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058656" y="3913632"/>
            <a:ext cx="1274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--radius-md</a:t>
            </a:r>
            <a:endParaRPr lang="en-US" sz="820" dirty="0"/>
          </a:p>
        </p:txBody>
      </p:sp>
      <p:sp>
        <p:nvSpPr>
          <p:cNvPr id="47" name="Text 44"/>
          <p:cNvSpPr/>
          <p:nvPr/>
        </p:nvSpPr>
        <p:spPr>
          <a:xfrm>
            <a:off x="9058656" y="4041648"/>
            <a:ext cx="1274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12px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5010912" y="4864608"/>
            <a:ext cx="5577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variable no solo ahorra escritura: también nombra una decisión.</a:t>
            </a:r>
            <a:endParaRPr lang="en-US" sz="840" dirty="0"/>
          </a:p>
        </p:txBody>
      </p:sp>
      <p:sp>
        <p:nvSpPr>
          <p:cNvPr id="49" name="Shape 46"/>
          <p:cNvSpPr/>
          <p:nvPr/>
        </p:nvSpPr>
        <p:spPr>
          <a:xfrm>
            <a:off x="4846320" y="5102352"/>
            <a:ext cx="1883664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919472" y="5212080"/>
            <a:ext cx="100584" cy="4937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102352" y="52303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repetición</a:t>
            </a:r>
            <a:endParaRPr lang="en-US" sz="1220" dirty="0"/>
          </a:p>
        </p:txBody>
      </p:sp>
      <p:sp>
        <p:nvSpPr>
          <p:cNvPr id="52" name="Text 49"/>
          <p:cNvSpPr/>
          <p:nvPr/>
        </p:nvSpPr>
        <p:spPr>
          <a:xfrm>
            <a:off x="5102352" y="5504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se multiplica, después cuesta cambiarla</a:t>
            </a:r>
            <a:endParaRPr lang="en-US" sz="880" dirty="0"/>
          </a:p>
        </p:txBody>
      </p:sp>
      <p:sp>
        <p:nvSpPr>
          <p:cNvPr id="53" name="Shape 50"/>
          <p:cNvSpPr/>
          <p:nvPr/>
        </p:nvSpPr>
        <p:spPr>
          <a:xfrm>
            <a:off x="6931152" y="5102352"/>
            <a:ext cx="1883664" cy="713232"/>
          </a:xfrm>
          <a:prstGeom prst="roundRect">
            <a:avLst>
              <a:gd name="adj" fmla="val 384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04304" y="5212080"/>
            <a:ext cx="100584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187184" y="52303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1220" dirty="0"/>
          </a:p>
        </p:txBody>
      </p:sp>
      <p:sp>
        <p:nvSpPr>
          <p:cNvPr id="56" name="Text 53"/>
          <p:cNvSpPr/>
          <p:nvPr/>
        </p:nvSpPr>
        <p:spPr>
          <a:xfrm>
            <a:off x="7187184" y="5504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piezas dejan de vivir como casos aislados</a:t>
            </a:r>
            <a:endParaRPr lang="en-US" sz="880" dirty="0"/>
          </a:p>
        </p:txBody>
      </p:sp>
      <p:sp>
        <p:nvSpPr>
          <p:cNvPr id="57" name="Shape 54"/>
          <p:cNvSpPr/>
          <p:nvPr/>
        </p:nvSpPr>
        <p:spPr>
          <a:xfrm>
            <a:off x="9015984" y="5102352"/>
            <a:ext cx="1792224" cy="713232"/>
          </a:xfrm>
          <a:prstGeom prst="roundRect">
            <a:avLst>
              <a:gd name="adj" fmla="val 384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089136" y="5212080"/>
            <a:ext cx="100584" cy="4937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9272016" y="52303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</a:t>
            </a:r>
            <a:endParaRPr lang="en-US" sz="1180" dirty="0"/>
          </a:p>
        </p:txBody>
      </p:sp>
      <p:sp>
        <p:nvSpPr>
          <p:cNvPr id="60" name="Text 57"/>
          <p:cNvSpPr/>
          <p:nvPr/>
        </p:nvSpPr>
        <p:spPr>
          <a:xfrm>
            <a:off x="9272016" y="5504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ajuste central evita tocar todo a mano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Repetir decisiones visuales tiene costo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 mismo color, radio o espacio se escribe muchas veces, cualquier cambio deja de ser pequeño.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4937760" cy="3419856"/>
          </a:xfrm>
          <a:prstGeom prst="roundRect">
            <a:avLst>
              <a:gd name="adj" fmla="val 10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12848"/>
            <a:ext cx="468172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286000"/>
            <a:ext cx="44622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que funciona, pero escala mal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670048"/>
            <a:ext cx="449884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#ffffff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12px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#102a43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.button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#ffffff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12px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.alert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border-left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4px solid #d62027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#102a43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6053328" y="2121408"/>
            <a:ext cx="1993392" cy="969264"/>
          </a:xfrm>
          <a:prstGeom prst="roundRect">
            <a:avLst>
              <a:gd name="adj" fmla="val 377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44768" y="2249424"/>
            <a:ext cx="109728" cy="7132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22311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 repetido</a:t>
            </a:r>
            <a:endParaRPr lang="en-US" sz="1560" dirty="0"/>
          </a:p>
        </p:txBody>
      </p:sp>
      <p:sp>
        <p:nvSpPr>
          <p:cNvPr id="17" name="Text 14"/>
          <p:cNvSpPr/>
          <p:nvPr/>
        </p:nvSpPr>
        <p:spPr>
          <a:xfrm>
            <a:off x="6309360" y="25786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rojo principal aparece en varias reglas y después cuesta rastrearlo.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8284464" y="2121408"/>
            <a:ext cx="1993392" cy="969264"/>
          </a:xfrm>
          <a:prstGeom prst="roundRect">
            <a:avLst>
              <a:gd name="adj" fmla="val 377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75904" y="2249424"/>
            <a:ext cx="109728" cy="7132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40496" y="22311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Radio repetido</a:t>
            </a:r>
            <a:endParaRPr lang="en-US" sz="1560" dirty="0"/>
          </a:p>
        </p:txBody>
      </p:sp>
      <p:sp>
        <p:nvSpPr>
          <p:cNvPr id="21" name="Text 18"/>
          <p:cNvSpPr/>
          <p:nvPr/>
        </p:nvSpPr>
        <p:spPr>
          <a:xfrm>
            <a:off x="8540496" y="257860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mismo borde redondeado se vuelve un dato duplicado.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6053328" y="3346704"/>
            <a:ext cx="1993392" cy="969264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44768" y="3474720"/>
            <a:ext cx="109728" cy="7132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9360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 repetido</a:t>
            </a:r>
            <a:endParaRPr lang="en-US" sz="1520" dirty="0"/>
          </a:p>
        </p:txBody>
      </p:sp>
      <p:sp>
        <p:nvSpPr>
          <p:cNvPr id="25" name="Text 22"/>
          <p:cNvSpPr/>
          <p:nvPr/>
        </p:nvSpPr>
        <p:spPr>
          <a:xfrm>
            <a:off x="6309360" y="38039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color base de texto debería declararse una vez y reutilizarse.</a:t>
            </a:r>
            <a:endParaRPr lang="en-US" sz="990" dirty="0"/>
          </a:p>
        </p:txBody>
      </p:sp>
      <p:sp>
        <p:nvSpPr>
          <p:cNvPr id="26" name="Shape 23"/>
          <p:cNvSpPr/>
          <p:nvPr/>
        </p:nvSpPr>
        <p:spPr>
          <a:xfrm>
            <a:off x="8284464" y="3346704"/>
            <a:ext cx="1993392" cy="969264"/>
          </a:xfrm>
          <a:prstGeom prst="roundRect">
            <a:avLst>
              <a:gd name="adj" fmla="val 3774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375904" y="3474720"/>
            <a:ext cx="109728" cy="7132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540496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Costo técnico</a:t>
            </a:r>
            <a:endParaRPr lang="en-US" sz="1520" dirty="0"/>
          </a:p>
        </p:txBody>
      </p:sp>
      <p:sp>
        <p:nvSpPr>
          <p:cNvPr id="29" name="Text 26"/>
          <p:cNvSpPr/>
          <p:nvPr/>
        </p:nvSpPr>
        <p:spPr>
          <a:xfrm>
            <a:off x="8540496" y="38039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una decisión obliga a buscarla regla por regla.</a:t>
            </a:r>
            <a:endParaRPr lang="en-US" sz="990" dirty="0"/>
          </a:p>
        </p:txBody>
      </p:sp>
      <p:sp>
        <p:nvSpPr>
          <p:cNvPr id="30" name="Shape 27"/>
          <p:cNvSpPr/>
          <p:nvPr/>
        </p:nvSpPr>
        <p:spPr>
          <a:xfrm>
            <a:off x="5980176" y="4700016"/>
            <a:ext cx="444398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81344" y="4864608"/>
            <a:ext cx="4041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una decisión visual se repite demasiado, ya conviene centralizarla.</a:t>
            </a:r>
            <a:endParaRPr lang="en-US" sz="16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CSS: centralizar criterio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combinación entre :root y var(...) permite convertir valores repetidos en decisiones visibles y reutilizables.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86384" y="2066544"/>
            <a:ext cx="5559552" cy="3730752"/>
          </a:xfrm>
          <a:prstGeom prst="roundRect">
            <a:avLst>
              <a:gd name="adj" fmla="val 98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176272"/>
            <a:ext cx="53035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249424"/>
            <a:ext cx="5084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básicas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70359" y="2655427"/>
            <a:ext cx="469270" cy="164592"/>
          </a:xfrm>
          <a:prstGeom prst="roundRect">
            <a:avLst>
              <a:gd name="adj" fmla="val 22222"/>
            </a:avLst>
          </a:prstGeom>
          <a:solidFill>
            <a:srgbClr val="F8E4E5">
              <a:alpha val="32000"/>
            </a:srgbClr>
          </a:solidFill>
          <a:ln w="12700">
            <a:solidFill>
              <a:srgbClr val="F8E4E5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55654" y="2812246"/>
            <a:ext cx="1200497" cy="164592"/>
          </a:xfrm>
          <a:prstGeom prst="roundRect">
            <a:avLst>
              <a:gd name="adj" fmla="val 22222"/>
            </a:avLst>
          </a:prstGeom>
          <a:solidFill>
            <a:srgbClr val="F8E4E5">
              <a:alpha val="32000"/>
            </a:srgbClr>
          </a:solidFill>
          <a:ln w="12700">
            <a:solidFill>
              <a:srgbClr val="F8E4E5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986881" y="3596344"/>
            <a:ext cx="1505176" cy="164592"/>
          </a:xfrm>
          <a:prstGeom prst="roundRect">
            <a:avLst>
              <a:gd name="adj" fmla="val 22222"/>
            </a:avLst>
          </a:prstGeom>
          <a:solidFill>
            <a:srgbClr val="E6EEF7">
              <a:alpha val="32000"/>
            </a:srgbClr>
          </a:solidFill>
          <a:ln w="12700">
            <a:solidFill>
              <a:srgbClr val="E6EEF7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69688" y="4380442"/>
            <a:ext cx="1139562" cy="164592"/>
          </a:xfrm>
          <a:prstGeom prst="roundRect">
            <a:avLst>
              <a:gd name="adj" fmla="val 22222"/>
            </a:avLst>
          </a:prstGeom>
          <a:solidFill>
            <a:srgbClr val="F2E7D9">
              <a:alpha val="32000"/>
            </a:srgbClr>
          </a:solidFill>
          <a:ln w="12700">
            <a:solidFill>
              <a:srgbClr val="F2E7D9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633472"/>
            <a:ext cx="512064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--color-texto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#102a43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--radio-md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12px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.button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--radio-md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--color-texto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8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8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--radio-md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98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98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6638544" y="2231136"/>
            <a:ext cx="1993392" cy="859536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11696" y="2340864"/>
            <a:ext cx="100584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94576" y="2359152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:root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94576" y="26334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 variables disponibles para todo el documento.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638544" y="3255264"/>
            <a:ext cx="1993392" cy="932688"/>
          </a:xfrm>
          <a:prstGeom prst="roundRect">
            <a:avLst>
              <a:gd name="adj" fmla="val 39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29984" y="3383280"/>
            <a:ext cx="109728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94576" y="336499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Tokens nombrados</a:t>
            </a:r>
            <a:endParaRPr lang="en-US" sz="1640" dirty="0"/>
          </a:p>
        </p:txBody>
      </p:sp>
      <p:sp>
        <p:nvSpPr>
          <p:cNvPr id="25" name="Text 22"/>
          <p:cNvSpPr/>
          <p:nvPr/>
        </p:nvSpPr>
        <p:spPr>
          <a:xfrm>
            <a:off x="6894576" y="37124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--color-primario y --radio-md ya hablan de función, no solo de valor.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8906256" y="2670048"/>
            <a:ext cx="1847088" cy="1170432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97696" y="2798064"/>
            <a:ext cx="109728" cy="914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62288" y="277977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var(...)</a:t>
            </a:r>
            <a:endParaRPr lang="en-US" sz="1660" dirty="0"/>
          </a:p>
        </p:txBody>
      </p:sp>
      <p:sp>
        <p:nvSpPr>
          <p:cNvPr id="29" name="Text 26"/>
          <p:cNvSpPr/>
          <p:nvPr/>
        </p:nvSpPr>
        <p:spPr>
          <a:xfrm>
            <a:off x="9162288" y="3127248"/>
            <a:ext cx="14996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 la decisión desde cualquier regla que la necesite.</a:t>
            </a:r>
            <a:endParaRPr lang="en-US" sz="1080" dirty="0"/>
          </a:p>
        </p:txBody>
      </p:sp>
      <p:sp>
        <p:nvSpPr>
          <p:cNvPr id="30" name="Shape 27"/>
          <p:cNvSpPr/>
          <p:nvPr/>
        </p:nvSpPr>
        <p:spPr>
          <a:xfrm>
            <a:off x="8906256" y="4041648"/>
            <a:ext cx="1847088" cy="914400"/>
          </a:xfrm>
          <a:prstGeom prst="roundRect">
            <a:avLst>
              <a:gd name="adj" fmla="val 3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79408" y="4151376"/>
            <a:ext cx="100584" cy="6949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162288" y="416966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reutilización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9162288" y="4443984"/>
            <a:ext cx="1517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Button y card comparten radio sin reescribirlo a mano.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364224" y="2632722"/>
            <a:ext cx="73152" cy="164592"/>
          </a:xfrm>
          <a:prstGeom prst="roundRect">
            <a:avLst>
              <a:gd name="adj" fmla="val 6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45936" y="2706789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37376" y="2706789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502298" y="2633472"/>
            <a:ext cx="16459" cy="81546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510528" y="2625242"/>
            <a:ext cx="128016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630314" y="2633472"/>
            <a:ext cx="16459" cy="27432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364224" y="2789542"/>
            <a:ext cx="73152" cy="164592"/>
          </a:xfrm>
          <a:prstGeom prst="roundRect">
            <a:avLst>
              <a:gd name="adj" fmla="val 6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45936" y="2863608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437376" y="2863608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02298" y="2871838"/>
            <a:ext cx="16459" cy="840626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10528" y="3704234"/>
            <a:ext cx="128016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630314" y="3712464"/>
            <a:ext cx="16459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64224" y="3573640"/>
            <a:ext cx="73152" cy="164592"/>
          </a:xfrm>
          <a:prstGeom prst="roundRect">
            <a:avLst>
              <a:gd name="adj" fmla="val 6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345936" y="3647706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37376" y="3647706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02298" y="3273552"/>
            <a:ext cx="16459" cy="382384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10528" y="3265322"/>
            <a:ext cx="239572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898026" y="3255264"/>
            <a:ext cx="16459" cy="18288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364224" y="4357738"/>
            <a:ext cx="73152" cy="164592"/>
          </a:xfrm>
          <a:prstGeom prst="roundRect">
            <a:avLst>
              <a:gd name="adj" fmla="val 625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45936" y="4431804"/>
            <a:ext cx="1828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37376" y="4431804"/>
            <a:ext cx="73152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502298" y="4440034"/>
            <a:ext cx="16459" cy="333134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10528" y="4764938"/>
            <a:ext cx="2395728" cy="16459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898026" y="4498848"/>
            <a:ext cx="16459" cy="274320"/>
          </a:xfrm>
          <a:prstGeom prst="rect">
            <a:avLst/>
          </a:prstGeom>
          <a:solidFill>
            <a:srgbClr val="96A3B2"/>
          </a:solidFill>
          <a:ln w="12700">
            <a:solidFill>
              <a:srgbClr val="96A3B2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valor suelto a decisión nombrada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variable CSS vuelve explícita la función visual de un valor dentro del sistema.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2926080" cy="3127248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45059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Valores sueltos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97280" y="2871216"/>
            <a:ext cx="1499616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70432" y="2907792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#d62027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097280" y="3529584"/>
            <a:ext cx="1499616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3566160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12px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1097280" y="4187952"/>
            <a:ext cx="1499616" cy="256032"/>
          </a:xfrm>
          <a:prstGeom prst="roundRect">
            <a:avLst>
              <a:gd name="adj" fmla="val 1785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70432" y="422452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#102a43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78992" y="473659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Sirven, pero no explican qué papel cumplen dentro del sistema visual.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041648" y="3639312"/>
            <a:ext cx="347472" cy="31089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2139696"/>
            <a:ext cx="6236208" cy="3236976"/>
          </a:xfrm>
          <a:prstGeom prst="roundRect">
            <a:avLst>
              <a:gd name="adj" fmla="val 11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54880" y="2267712"/>
            <a:ext cx="598017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64608" y="2340864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mismo contenido ya se entiende mejor como token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4809744" y="2798064"/>
            <a:ext cx="1847088" cy="2377440"/>
          </a:xfrm>
          <a:prstGeom prst="roundRect">
            <a:avLst>
              <a:gd name="adj" fmla="val 198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09744" y="2798064"/>
            <a:ext cx="91440" cy="2377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92624" y="294436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4956048" y="3291840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29200" y="3392424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48656" y="336499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5248656" y="3493008"/>
            <a:ext cx="1097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#D62027</a:t>
            </a:r>
            <a:endParaRPr lang="en-US" sz="840" dirty="0"/>
          </a:p>
        </p:txBody>
      </p:sp>
      <p:sp>
        <p:nvSpPr>
          <p:cNvPr id="30" name="Shape 27"/>
          <p:cNvSpPr/>
          <p:nvPr/>
        </p:nvSpPr>
        <p:spPr>
          <a:xfrm>
            <a:off x="4956048" y="3803904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0" y="390448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248656" y="3877056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--text-main</a:t>
            </a:r>
            <a:endParaRPr lang="en-US" sz="820" dirty="0"/>
          </a:p>
        </p:txBody>
      </p:sp>
      <p:sp>
        <p:nvSpPr>
          <p:cNvPr id="33" name="Text 30"/>
          <p:cNvSpPr/>
          <p:nvPr/>
        </p:nvSpPr>
        <p:spPr>
          <a:xfrm>
            <a:off x="5248656" y="4005072"/>
            <a:ext cx="1097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#102A43</a:t>
            </a:r>
            <a:endParaRPr lang="en-US" sz="840" dirty="0"/>
          </a:p>
        </p:txBody>
      </p:sp>
      <p:sp>
        <p:nvSpPr>
          <p:cNvPr id="34" name="Shape 31"/>
          <p:cNvSpPr/>
          <p:nvPr/>
        </p:nvSpPr>
        <p:spPr>
          <a:xfrm>
            <a:off x="6821424" y="2798064"/>
            <a:ext cx="1847088" cy="2377440"/>
          </a:xfrm>
          <a:prstGeom prst="roundRect">
            <a:avLst>
              <a:gd name="adj" fmla="val 198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821424" y="2798064"/>
            <a:ext cx="91440" cy="2377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004304" y="294436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Superficie</a:t>
            </a:r>
            <a:endParaRPr lang="en-US" sz="1220" dirty="0"/>
          </a:p>
        </p:txBody>
      </p:sp>
      <p:sp>
        <p:nvSpPr>
          <p:cNvPr id="37" name="Shape 34"/>
          <p:cNvSpPr/>
          <p:nvPr/>
        </p:nvSpPr>
        <p:spPr>
          <a:xfrm>
            <a:off x="6967728" y="3291840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040880" y="3392424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60336" y="336499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--surface-card</a:t>
            </a:r>
            <a:endParaRPr lang="en-US" sz="820" dirty="0"/>
          </a:p>
        </p:txBody>
      </p:sp>
      <p:sp>
        <p:nvSpPr>
          <p:cNvPr id="40" name="Text 37"/>
          <p:cNvSpPr/>
          <p:nvPr/>
        </p:nvSpPr>
        <p:spPr>
          <a:xfrm>
            <a:off x="7260336" y="3493008"/>
            <a:ext cx="1097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#FFFFFF</a:t>
            </a:r>
            <a:endParaRPr lang="en-US" sz="840" dirty="0"/>
          </a:p>
        </p:txBody>
      </p:sp>
      <p:sp>
        <p:nvSpPr>
          <p:cNvPr id="41" name="Shape 38"/>
          <p:cNvSpPr/>
          <p:nvPr/>
        </p:nvSpPr>
        <p:spPr>
          <a:xfrm>
            <a:off x="6967728" y="3803904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040880" y="3877056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--radius-md</a:t>
            </a:r>
            <a:endParaRPr lang="en-US" sz="820" dirty="0"/>
          </a:p>
        </p:txBody>
      </p:sp>
      <p:sp>
        <p:nvSpPr>
          <p:cNvPr id="43" name="Text 40"/>
          <p:cNvSpPr/>
          <p:nvPr/>
        </p:nvSpPr>
        <p:spPr>
          <a:xfrm>
            <a:off x="7040880" y="4005072"/>
            <a:ext cx="1371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12px</a:t>
            </a:r>
            <a:endParaRPr lang="en-US" sz="840" dirty="0"/>
          </a:p>
        </p:txBody>
      </p:sp>
      <p:sp>
        <p:nvSpPr>
          <p:cNvPr id="44" name="Shape 41"/>
          <p:cNvSpPr/>
          <p:nvPr/>
        </p:nvSpPr>
        <p:spPr>
          <a:xfrm>
            <a:off x="8833104" y="2798064"/>
            <a:ext cx="1847088" cy="2377440"/>
          </a:xfrm>
          <a:prstGeom prst="roundRect">
            <a:avLst>
              <a:gd name="adj" fmla="val 198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33104" y="2798064"/>
            <a:ext cx="91440" cy="23774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015984" y="2944368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1220" dirty="0"/>
          </a:p>
        </p:txBody>
      </p:sp>
      <p:sp>
        <p:nvSpPr>
          <p:cNvPr id="47" name="Shape 44"/>
          <p:cNvSpPr/>
          <p:nvPr/>
        </p:nvSpPr>
        <p:spPr>
          <a:xfrm>
            <a:off x="8979408" y="3291840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052560" y="3364992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--space-sm</a:t>
            </a:r>
            <a:endParaRPr lang="en-US" sz="820" dirty="0"/>
          </a:p>
        </p:txBody>
      </p:sp>
      <p:sp>
        <p:nvSpPr>
          <p:cNvPr id="49" name="Text 46"/>
          <p:cNvSpPr/>
          <p:nvPr/>
        </p:nvSpPr>
        <p:spPr>
          <a:xfrm>
            <a:off x="9052560" y="3493008"/>
            <a:ext cx="1371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8px</a:t>
            </a:r>
            <a:endParaRPr lang="en-US" sz="840" dirty="0"/>
          </a:p>
        </p:txBody>
      </p:sp>
      <p:sp>
        <p:nvSpPr>
          <p:cNvPr id="50" name="Shape 47"/>
          <p:cNvSpPr/>
          <p:nvPr/>
        </p:nvSpPr>
        <p:spPr>
          <a:xfrm>
            <a:off x="8979408" y="3803904"/>
            <a:ext cx="157276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052560" y="3877056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--space-lg</a:t>
            </a:r>
            <a:endParaRPr lang="en-US" sz="820" dirty="0"/>
          </a:p>
        </p:txBody>
      </p:sp>
      <p:sp>
        <p:nvSpPr>
          <p:cNvPr id="52" name="Text 49"/>
          <p:cNvSpPr/>
          <p:nvPr/>
        </p:nvSpPr>
        <p:spPr>
          <a:xfrm>
            <a:off x="9052560" y="4005072"/>
            <a:ext cx="1371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24px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4846320" y="5504688"/>
            <a:ext cx="5870448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047488" y="5669280"/>
            <a:ext cx="5468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Nombrar decisiones mejora la conversación técnica sobre el CSS.</a:t>
            </a:r>
            <a:endParaRPr lang="en-US" sz="146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Consistencia visual no es rigidez: es control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varias piezas comparten decisiones visuales, la interfaz se vuelve más estable y más razonable de mantener.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7461504" cy="987552"/>
          </a:xfrm>
          <a:prstGeom prst="roundRect">
            <a:avLst>
              <a:gd name="adj" fmla="val 370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304288"/>
            <a:ext cx="7059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se trata de volver todo idéntico. Se trata de que lo que se repite tenga una regla legible.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668512" y="2194560"/>
            <a:ext cx="2194560" cy="932688"/>
          </a:xfrm>
          <a:prstGeom prst="roundRect">
            <a:avLst>
              <a:gd name="adj" fmla="val 39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59952" y="2322576"/>
            <a:ext cx="109728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24544" y="230428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640" dirty="0"/>
          </a:p>
        </p:txBody>
      </p:sp>
      <p:sp>
        <p:nvSpPr>
          <p:cNvPr id="15" name="Text 12"/>
          <p:cNvSpPr/>
          <p:nvPr/>
        </p:nvSpPr>
        <p:spPr>
          <a:xfrm>
            <a:off x="8924544" y="265176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coherencia entre componentes y menos decisiones arbitrarias.</a:t>
            </a:r>
            <a:endParaRPr lang="en-US" sz="1010" dirty="0"/>
          </a:p>
        </p:txBody>
      </p:sp>
      <p:sp>
        <p:nvSpPr>
          <p:cNvPr id="16" name="Shape 13"/>
          <p:cNvSpPr/>
          <p:nvPr/>
        </p:nvSpPr>
        <p:spPr>
          <a:xfrm>
            <a:off x="932688" y="3493008"/>
            <a:ext cx="993038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33856" y="3657600"/>
            <a:ext cx="9528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Componentes alineados por reglas compartidas</a:t>
            </a:r>
            <a:endParaRPr lang="en-US" sz="1380" dirty="0"/>
          </a:p>
        </p:txBody>
      </p:sp>
      <p:sp>
        <p:nvSpPr>
          <p:cNvPr id="18" name="Shape 15"/>
          <p:cNvSpPr/>
          <p:nvPr/>
        </p:nvSpPr>
        <p:spPr>
          <a:xfrm>
            <a:off x="1152144" y="4005072"/>
            <a:ext cx="1901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16736" y="4187952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 base</a:t>
            </a:r>
            <a:endParaRPr lang="en-US" sz="1260" dirty="0"/>
          </a:p>
        </p:txBody>
      </p:sp>
      <p:sp>
        <p:nvSpPr>
          <p:cNvPr id="20" name="Text 17"/>
          <p:cNvSpPr/>
          <p:nvPr/>
        </p:nvSpPr>
        <p:spPr>
          <a:xfrm>
            <a:off x="1316736" y="4462272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Mismo texto base y mismo radio.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3273552" y="4151376"/>
            <a:ext cx="1280160" cy="402336"/>
          </a:xfrm>
          <a:prstGeom prst="roundRect">
            <a:avLst>
              <a:gd name="adj" fmla="val 1136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74720" y="4279392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Acción principal</a:t>
            </a:r>
            <a:endParaRPr lang="en-US" sz="940" dirty="0"/>
          </a:p>
        </p:txBody>
      </p:sp>
      <p:sp>
        <p:nvSpPr>
          <p:cNvPr id="23" name="Shape 20"/>
          <p:cNvSpPr/>
          <p:nvPr/>
        </p:nvSpPr>
        <p:spPr>
          <a:xfrm>
            <a:off x="4754880" y="4005072"/>
            <a:ext cx="5888736" cy="493776"/>
          </a:xfrm>
          <a:prstGeom prst="roundRect">
            <a:avLst>
              <a:gd name="adj" fmla="val 740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4005072"/>
            <a:ext cx="91440" cy="4937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4169664"/>
            <a:ext cx="5614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Alerta: mismo color de acción, misma familia visual.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1207008" y="5047488"/>
            <a:ext cx="1408176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80160" y="5084064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--color-primario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2798064" y="504748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71216" y="5084064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--radio-md</a:t>
            </a:r>
            <a:endParaRPr lang="en-US" sz="840" dirty="0"/>
          </a:p>
        </p:txBody>
      </p:sp>
      <p:sp>
        <p:nvSpPr>
          <p:cNvPr id="30" name="Shape 27"/>
          <p:cNvSpPr/>
          <p:nvPr/>
        </p:nvSpPr>
        <p:spPr>
          <a:xfrm>
            <a:off x="3968496" y="5047488"/>
            <a:ext cx="1133856" cy="219456"/>
          </a:xfrm>
          <a:prstGeom prst="roundRect">
            <a:avLst>
              <a:gd name="adj" fmla="val 208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041648" y="5084064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--text-main</a:t>
            </a:r>
            <a:endParaRPr lang="en-US" sz="84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sistema pequeño ya empieza a hablar en tokens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Color, espacio, superficie y tipografía pueden empezar a nombrarse desde temprano para evitar CSS desordenado.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10259568" cy="347472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31136"/>
            <a:ext cx="100035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04288"/>
            <a:ext cx="9784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Tablero base de tokens CSS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24128" y="2761488"/>
            <a:ext cx="2350008" cy="2304288"/>
          </a:xfrm>
          <a:prstGeom prst="roundRect">
            <a:avLst>
              <a:gd name="adj" fmla="val 158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2761488"/>
            <a:ext cx="91440" cy="2304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2907792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</a:t>
            </a:r>
            <a:endParaRPr lang="en-US" sz="1220" dirty="0"/>
          </a:p>
        </p:txBody>
      </p:sp>
      <p:sp>
        <p:nvSpPr>
          <p:cNvPr id="16" name="Shape 13"/>
          <p:cNvSpPr/>
          <p:nvPr/>
        </p:nvSpPr>
        <p:spPr>
          <a:xfrm>
            <a:off x="1170432" y="3255264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43584" y="335584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463040" y="3328416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endParaRPr lang="en-US" sz="760" dirty="0"/>
          </a:p>
        </p:txBody>
      </p:sp>
      <p:sp>
        <p:nvSpPr>
          <p:cNvPr id="19" name="Text 16"/>
          <p:cNvSpPr/>
          <p:nvPr/>
        </p:nvSpPr>
        <p:spPr>
          <a:xfrm>
            <a:off x="1463040" y="3456432"/>
            <a:ext cx="16002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#D62027</a:t>
            </a:r>
            <a:endParaRPr lang="en-US" sz="840" dirty="0"/>
          </a:p>
        </p:txBody>
      </p:sp>
      <p:sp>
        <p:nvSpPr>
          <p:cNvPr id="20" name="Shape 17"/>
          <p:cNvSpPr/>
          <p:nvPr/>
        </p:nvSpPr>
        <p:spPr>
          <a:xfrm>
            <a:off x="1170432" y="3767328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43584" y="386791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63040" y="384048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--color-texto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1463040" y="3968496"/>
            <a:ext cx="16002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#102A43</a:t>
            </a:r>
            <a:endParaRPr lang="en-US" sz="840" dirty="0"/>
          </a:p>
        </p:txBody>
      </p:sp>
      <p:sp>
        <p:nvSpPr>
          <p:cNvPr id="24" name="Shape 21"/>
          <p:cNvSpPr/>
          <p:nvPr/>
        </p:nvSpPr>
        <p:spPr>
          <a:xfrm>
            <a:off x="1170432" y="4279392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243584" y="43799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463040" y="4352544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--surface-card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1463040" y="4480560"/>
            <a:ext cx="16002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#FFFFFF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3538728" y="2761488"/>
            <a:ext cx="2350008" cy="2304288"/>
          </a:xfrm>
          <a:prstGeom prst="roundRect">
            <a:avLst>
              <a:gd name="adj" fmla="val 158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38728" y="2761488"/>
            <a:ext cx="91440" cy="23042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21608" y="2907792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</a:t>
            </a:r>
            <a:endParaRPr lang="en-US" sz="1220" dirty="0"/>
          </a:p>
        </p:txBody>
      </p:sp>
      <p:sp>
        <p:nvSpPr>
          <p:cNvPr id="31" name="Shape 28"/>
          <p:cNvSpPr/>
          <p:nvPr/>
        </p:nvSpPr>
        <p:spPr>
          <a:xfrm>
            <a:off x="3685032" y="3255264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758184" y="3328416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--space-sm</a:t>
            </a:r>
            <a:endParaRPr lang="en-US" sz="820" dirty="0"/>
          </a:p>
        </p:txBody>
      </p:sp>
      <p:sp>
        <p:nvSpPr>
          <p:cNvPr id="33" name="Text 30"/>
          <p:cNvSpPr/>
          <p:nvPr/>
        </p:nvSpPr>
        <p:spPr>
          <a:xfrm>
            <a:off x="3758184" y="3456432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8px</a:t>
            </a:r>
            <a:endParaRPr lang="en-US" sz="840" dirty="0"/>
          </a:p>
        </p:txBody>
      </p:sp>
      <p:sp>
        <p:nvSpPr>
          <p:cNvPr id="34" name="Shape 31"/>
          <p:cNvSpPr/>
          <p:nvPr/>
        </p:nvSpPr>
        <p:spPr>
          <a:xfrm>
            <a:off x="3685032" y="3767328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758184" y="3840480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--space-md</a:t>
            </a:r>
            <a:endParaRPr lang="en-US" sz="820" dirty="0"/>
          </a:p>
        </p:txBody>
      </p:sp>
      <p:sp>
        <p:nvSpPr>
          <p:cNvPr id="36" name="Text 33"/>
          <p:cNvSpPr/>
          <p:nvPr/>
        </p:nvSpPr>
        <p:spPr>
          <a:xfrm>
            <a:off x="3758184" y="3968496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16px</a:t>
            </a:r>
            <a:endParaRPr lang="en-US" sz="840" dirty="0"/>
          </a:p>
        </p:txBody>
      </p:sp>
      <p:sp>
        <p:nvSpPr>
          <p:cNvPr id="37" name="Shape 34"/>
          <p:cNvSpPr/>
          <p:nvPr/>
        </p:nvSpPr>
        <p:spPr>
          <a:xfrm>
            <a:off x="3685032" y="4279392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758184" y="4352544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--space-lg</a:t>
            </a:r>
            <a:endParaRPr lang="en-US" sz="820" dirty="0"/>
          </a:p>
        </p:txBody>
      </p:sp>
      <p:sp>
        <p:nvSpPr>
          <p:cNvPr id="39" name="Text 36"/>
          <p:cNvSpPr/>
          <p:nvPr/>
        </p:nvSpPr>
        <p:spPr>
          <a:xfrm>
            <a:off x="3758184" y="4480560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24px</a:t>
            </a:r>
            <a:endParaRPr lang="en-US" sz="840" dirty="0"/>
          </a:p>
        </p:txBody>
      </p:sp>
      <p:sp>
        <p:nvSpPr>
          <p:cNvPr id="40" name="Shape 37"/>
          <p:cNvSpPr/>
          <p:nvPr/>
        </p:nvSpPr>
        <p:spPr>
          <a:xfrm>
            <a:off x="6053328" y="2761488"/>
            <a:ext cx="2350008" cy="2304288"/>
          </a:xfrm>
          <a:prstGeom prst="roundRect">
            <a:avLst>
              <a:gd name="adj" fmla="val 158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053328" y="2761488"/>
            <a:ext cx="91440" cy="2304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236208" y="2907792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Superficie</a:t>
            </a:r>
            <a:endParaRPr lang="en-US" sz="1220" dirty="0"/>
          </a:p>
        </p:txBody>
      </p:sp>
      <p:sp>
        <p:nvSpPr>
          <p:cNvPr id="43" name="Shape 40"/>
          <p:cNvSpPr/>
          <p:nvPr/>
        </p:nvSpPr>
        <p:spPr>
          <a:xfrm>
            <a:off x="6199632" y="3255264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272784" y="3328416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--radius-md</a:t>
            </a:r>
            <a:endParaRPr lang="en-US" sz="820" dirty="0"/>
          </a:p>
        </p:txBody>
      </p:sp>
      <p:sp>
        <p:nvSpPr>
          <p:cNvPr id="45" name="Text 42"/>
          <p:cNvSpPr/>
          <p:nvPr/>
        </p:nvSpPr>
        <p:spPr>
          <a:xfrm>
            <a:off x="6272784" y="3456432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12px</a:t>
            </a:r>
            <a:endParaRPr lang="en-US" sz="840" dirty="0"/>
          </a:p>
        </p:txBody>
      </p:sp>
      <p:sp>
        <p:nvSpPr>
          <p:cNvPr id="46" name="Shape 43"/>
          <p:cNvSpPr/>
          <p:nvPr/>
        </p:nvSpPr>
        <p:spPr>
          <a:xfrm>
            <a:off x="6199632" y="3767328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272784" y="3840480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--shadow-soft</a:t>
            </a:r>
            <a:endParaRPr lang="en-US" sz="820" dirty="0"/>
          </a:p>
        </p:txBody>
      </p:sp>
      <p:sp>
        <p:nvSpPr>
          <p:cNvPr id="48" name="Text 45"/>
          <p:cNvSpPr/>
          <p:nvPr/>
        </p:nvSpPr>
        <p:spPr>
          <a:xfrm>
            <a:off x="6272784" y="3968496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8px 24px rgba(...)</a:t>
            </a:r>
            <a:endParaRPr lang="en-US" sz="840" dirty="0"/>
          </a:p>
        </p:txBody>
      </p:sp>
      <p:sp>
        <p:nvSpPr>
          <p:cNvPr id="49" name="Shape 46"/>
          <p:cNvSpPr/>
          <p:nvPr/>
        </p:nvSpPr>
        <p:spPr>
          <a:xfrm>
            <a:off x="6199632" y="4279392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272784" y="43799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92240" y="4352544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--border-soft</a:t>
            </a:r>
            <a:endParaRPr lang="en-US" sz="820" dirty="0"/>
          </a:p>
        </p:txBody>
      </p:sp>
      <p:sp>
        <p:nvSpPr>
          <p:cNvPr id="52" name="Text 49"/>
          <p:cNvSpPr/>
          <p:nvPr/>
        </p:nvSpPr>
        <p:spPr>
          <a:xfrm>
            <a:off x="6492240" y="4480560"/>
            <a:ext cx="16002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#D8DEE6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8567928" y="2761488"/>
            <a:ext cx="2350008" cy="2304288"/>
          </a:xfrm>
          <a:prstGeom prst="roundRect">
            <a:avLst>
              <a:gd name="adj" fmla="val 158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567928" y="2761488"/>
            <a:ext cx="91440" cy="2304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750808" y="2907792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</a:t>
            </a:r>
            <a:endParaRPr lang="en-US" sz="1220" dirty="0"/>
          </a:p>
        </p:txBody>
      </p:sp>
      <p:sp>
        <p:nvSpPr>
          <p:cNvPr id="56" name="Shape 53"/>
          <p:cNvSpPr/>
          <p:nvPr/>
        </p:nvSpPr>
        <p:spPr>
          <a:xfrm>
            <a:off x="8714232" y="3255264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787384" y="3328416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--font-title</a:t>
            </a:r>
            <a:endParaRPr lang="en-US" sz="820" dirty="0"/>
          </a:p>
        </p:txBody>
      </p:sp>
      <p:sp>
        <p:nvSpPr>
          <p:cNvPr id="58" name="Text 55"/>
          <p:cNvSpPr/>
          <p:nvPr/>
        </p:nvSpPr>
        <p:spPr>
          <a:xfrm>
            <a:off x="8787384" y="3456432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32px</a:t>
            </a:r>
            <a:endParaRPr lang="en-US" sz="840" dirty="0"/>
          </a:p>
        </p:txBody>
      </p:sp>
      <p:sp>
        <p:nvSpPr>
          <p:cNvPr id="59" name="Shape 56"/>
          <p:cNvSpPr/>
          <p:nvPr/>
        </p:nvSpPr>
        <p:spPr>
          <a:xfrm>
            <a:off x="8714232" y="3767328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787384" y="3840480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--font-body</a:t>
            </a:r>
            <a:endParaRPr lang="en-US" sz="820" dirty="0"/>
          </a:p>
        </p:txBody>
      </p:sp>
      <p:sp>
        <p:nvSpPr>
          <p:cNvPr id="61" name="Text 58"/>
          <p:cNvSpPr/>
          <p:nvPr/>
        </p:nvSpPr>
        <p:spPr>
          <a:xfrm>
            <a:off x="8787384" y="3968496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16px</a:t>
            </a:r>
            <a:endParaRPr lang="en-US" sz="840" dirty="0"/>
          </a:p>
        </p:txBody>
      </p:sp>
      <p:sp>
        <p:nvSpPr>
          <p:cNvPr id="62" name="Shape 59"/>
          <p:cNvSpPr/>
          <p:nvPr/>
        </p:nvSpPr>
        <p:spPr>
          <a:xfrm>
            <a:off x="8714232" y="4279392"/>
            <a:ext cx="2075688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787384" y="4352544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--line-body</a:t>
            </a:r>
            <a:endParaRPr lang="en-US" sz="820" dirty="0"/>
          </a:p>
        </p:txBody>
      </p:sp>
      <p:sp>
        <p:nvSpPr>
          <p:cNvPr id="64" name="Text 61"/>
          <p:cNvSpPr/>
          <p:nvPr/>
        </p:nvSpPr>
        <p:spPr>
          <a:xfrm>
            <a:off x="8787384" y="4480560"/>
            <a:ext cx="18745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</a:t>
            </a:r>
            <a:endParaRPr lang="en-US" sz="840" dirty="0"/>
          </a:p>
        </p:txBody>
      </p:sp>
      <p:sp>
        <p:nvSpPr>
          <p:cNvPr id="65" name="Text 62"/>
          <p:cNvSpPr/>
          <p:nvPr/>
        </p:nvSpPr>
        <p:spPr>
          <a:xfrm>
            <a:off x="1024128" y="5413248"/>
            <a:ext cx="9893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no es un design system completo, pero ya es una base mucho más legible que repetir valores aislados.</a:t>
            </a:r>
            <a:endParaRPr lang="en-US" sz="84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misma decisión puede sostener varios componentes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mismo color de acción, el mismo radio y el mismo texto base pueden atravesar botones, tarjetas, alertas y formularios.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77824" y="2157984"/>
            <a:ext cx="6473952" cy="2962656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322576"/>
            <a:ext cx="6071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Componentes alineados por reglas compartidas</a:t>
            </a:r>
            <a:endParaRPr lang="en-US" sz="1380" dirty="0"/>
          </a:p>
        </p:txBody>
      </p:sp>
      <p:sp>
        <p:nvSpPr>
          <p:cNvPr id="12" name="Shape 9"/>
          <p:cNvSpPr/>
          <p:nvPr/>
        </p:nvSpPr>
        <p:spPr>
          <a:xfrm>
            <a:off x="1097280" y="2670048"/>
            <a:ext cx="173736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61872" y="2852928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 base</a:t>
            </a:r>
            <a:endParaRPr lang="en-US" sz="1260" dirty="0"/>
          </a:p>
        </p:txBody>
      </p:sp>
      <p:sp>
        <p:nvSpPr>
          <p:cNvPr id="14" name="Text 11"/>
          <p:cNvSpPr/>
          <p:nvPr/>
        </p:nvSpPr>
        <p:spPr>
          <a:xfrm>
            <a:off x="1261872" y="31272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Mismo texto base y mismo radio.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2926080" y="2816352"/>
            <a:ext cx="1115568" cy="402336"/>
          </a:xfrm>
          <a:prstGeom prst="roundRect">
            <a:avLst>
              <a:gd name="adj" fmla="val 1136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2944368"/>
            <a:ext cx="7863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Acción principal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315968" y="2670048"/>
            <a:ext cx="2798064" cy="493776"/>
          </a:xfrm>
          <a:prstGeom prst="roundRect">
            <a:avLst>
              <a:gd name="adj" fmla="val 740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15968" y="2670048"/>
            <a:ext cx="91440" cy="4937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98848" y="2834640"/>
            <a:ext cx="2523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Alerta: mismo color de acción, misma familia visual.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4315968" y="3401568"/>
            <a:ext cx="10607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Correo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4315968" y="3566160"/>
            <a:ext cx="159105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44768" y="3529584"/>
            <a:ext cx="987552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09360" y="3657600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Enviar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1152144" y="4809744"/>
            <a:ext cx="124358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25296" y="484632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--color-primario</a:t>
            </a:r>
            <a:endParaRPr lang="en-US" sz="840" dirty="0"/>
          </a:p>
        </p:txBody>
      </p:sp>
      <p:sp>
        <p:nvSpPr>
          <p:cNvPr id="26" name="Shape 23"/>
          <p:cNvSpPr/>
          <p:nvPr/>
        </p:nvSpPr>
        <p:spPr>
          <a:xfrm>
            <a:off x="2542032" y="4809744"/>
            <a:ext cx="914400" cy="219456"/>
          </a:xfrm>
          <a:prstGeom prst="roundRect">
            <a:avLst>
              <a:gd name="adj" fmla="val 208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615184" y="484632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--radio-md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3602736" y="4809744"/>
            <a:ext cx="1024128" cy="219456"/>
          </a:xfrm>
          <a:prstGeom prst="roundRect">
            <a:avLst>
              <a:gd name="adj" fmla="val 208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675888" y="4846320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--text-main</a:t>
            </a:r>
            <a:endParaRPr lang="en-US" sz="840" dirty="0"/>
          </a:p>
        </p:txBody>
      </p:sp>
      <p:sp>
        <p:nvSpPr>
          <p:cNvPr id="30" name="Shape 27"/>
          <p:cNvSpPr/>
          <p:nvPr/>
        </p:nvSpPr>
        <p:spPr>
          <a:xfrm>
            <a:off x="7626096" y="2157984"/>
            <a:ext cx="3127248" cy="932688"/>
          </a:xfrm>
          <a:prstGeom prst="roundRect">
            <a:avLst>
              <a:gd name="adj" fmla="val 39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17536" y="2286000"/>
            <a:ext cx="109728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82128" y="2267712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Color de acción</a:t>
            </a:r>
            <a:endParaRPr lang="en-US" sz="1640" dirty="0"/>
          </a:p>
        </p:txBody>
      </p:sp>
      <p:sp>
        <p:nvSpPr>
          <p:cNvPr id="33" name="Text 30"/>
          <p:cNvSpPr/>
          <p:nvPr/>
        </p:nvSpPr>
        <p:spPr>
          <a:xfrm>
            <a:off x="7882128" y="2615184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Botones y alertas pueden compartir la misma decisión principal sin verse improvisados.</a:t>
            </a:r>
            <a:endParaRPr lang="en-US" sz="1030" dirty="0"/>
          </a:p>
        </p:txBody>
      </p:sp>
      <p:sp>
        <p:nvSpPr>
          <p:cNvPr id="34" name="Shape 31"/>
          <p:cNvSpPr/>
          <p:nvPr/>
        </p:nvSpPr>
        <p:spPr>
          <a:xfrm>
            <a:off x="7626096" y="3310128"/>
            <a:ext cx="3127248" cy="932688"/>
          </a:xfrm>
          <a:prstGeom prst="roundRect">
            <a:avLst>
              <a:gd name="adj" fmla="val 39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17536" y="3438144"/>
            <a:ext cx="109728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82128" y="3419856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Radio y superficie</a:t>
            </a:r>
            <a:endParaRPr lang="en-US" sz="1640" dirty="0"/>
          </a:p>
        </p:txBody>
      </p:sp>
      <p:sp>
        <p:nvSpPr>
          <p:cNvPr id="37" name="Text 34"/>
          <p:cNvSpPr/>
          <p:nvPr/>
        </p:nvSpPr>
        <p:spPr>
          <a:xfrm>
            <a:off x="7882128" y="376732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Cards y campos se sienten parte de la misma familia visual porque comparten base.</a:t>
            </a:r>
            <a:endParaRPr lang="en-US" sz="1030" dirty="0"/>
          </a:p>
        </p:txBody>
      </p:sp>
      <p:sp>
        <p:nvSpPr>
          <p:cNvPr id="38" name="Shape 35"/>
          <p:cNvSpPr/>
          <p:nvPr/>
        </p:nvSpPr>
        <p:spPr>
          <a:xfrm>
            <a:off x="7626096" y="4462272"/>
            <a:ext cx="3127248" cy="694944"/>
          </a:xfrm>
          <a:prstGeom prst="roundRect">
            <a:avLst>
              <a:gd name="adj" fmla="val 526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17536" y="4590288"/>
            <a:ext cx="109728" cy="4389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82128" y="4572000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620" dirty="0"/>
          </a:p>
        </p:txBody>
      </p:sp>
      <p:sp>
        <p:nvSpPr>
          <p:cNvPr id="41" name="Text 38"/>
          <p:cNvSpPr/>
          <p:nvPr/>
        </p:nvSpPr>
        <p:spPr>
          <a:xfrm>
            <a:off x="7882128" y="4919472"/>
            <a:ext cx="2779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control local y más coherencia global.</a:t>
            </a:r>
            <a:endParaRPr lang="en-US" sz="102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Mantenimiento: repetir vs centralizar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se nota cuando una decisión cambia y el CSS debe responder sin romper todo alrededor.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645152" cy="3456432"/>
          </a:xfrm>
          <a:prstGeom prst="roundRect">
            <a:avLst>
              <a:gd name="adj" fmla="val 105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49424"/>
            <a:ext cx="43891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22576"/>
            <a:ext cx="4169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variables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706624"/>
            <a:ext cx="420624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.button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border-radius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12px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.alert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border-left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4px solid #d62027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.badge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96128" y="3584448"/>
            <a:ext cx="310896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89904" y="2139696"/>
            <a:ext cx="5047488" cy="3456432"/>
          </a:xfrm>
          <a:prstGeom prst="roundRect">
            <a:avLst>
              <a:gd name="adj" fmla="val 105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2249424"/>
            <a:ext cx="479145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27648" y="232257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variables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309360" y="2706624"/>
            <a:ext cx="460857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#d62027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.button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.alert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border-left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4px solid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.badge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--color-primario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</a:t>
            </a:r>
            <a:pPr indent="0" marL="0">
              <a:buNone/>
            </a:pPr>
            <a:r>
              <a:rPr lang="en-US" sz="10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78992" y="5687568"/>
            <a:ext cx="3931920" cy="38404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2144" y="5797296"/>
            <a:ext cx="100584" cy="1645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35024" y="581558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ajuste exige tocar varias reglas</a:t>
            </a:r>
            <a:endParaRPr lang="en-US" sz="1120" dirty="0"/>
          </a:p>
        </p:txBody>
      </p:sp>
      <p:sp>
        <p:nvSpPr>
          <p:cNvPr id="22" name="Shape 19"/>
          <p:cNvSpPr/>
          <p:nvPr/>
        </p:nvSpPr>
        <p:spPr>
          <a:xfrm>
            <a:off x="6419088" y="5687568"/>
            <a:ext cx="3931920" cy="38404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92240" y="5797296"/>
            <a:ext cx="100584" cy="1645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581558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decisión centralizada se reutiliza mejor</a:t>
            </a:r>
            <a:endParaRPr lang="en-US" sz="112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lectura técnica más madura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con variables CSS implica detectar repetición, centralizar criterio, nombrarlo bien y reutilizarlo con sentido.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816352"/>
            <a:ext cx="1572768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944368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926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detectar</a:t>
            </a:r>
            <a:endParaRPr lang="en-US" sz="1480" dirty="0"/>
          </a:p>
        </p:txBody>
      </p:sp>
      <p:sp>
        <p:nvSpPr>
          <p:cNvPr id="13" name="Text 10"/>
          <p:cNvSpPr/>
          <p:nvPr/>
        </p:nvSpPr>
        <p:spPr>
          <a:xfrm>
            <a:off x="1152144" y="3273552"/>
            <a:ext cx="1225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repetición innecesaria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2578608" y="3328416"/>
            <a:ext cx="146304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34640" y="2816352"/>
            <a:ext cx="1572768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6080" y="2944368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0672" y="2926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centralizar</a:t>
            </a:r>
            <a:endParaRPr lang="en-US" sz="1480" dirty="0"/>
          </a:p>
        </p:txBody>
      </p:sp>
      <p:sp>
        <p:nvSpPr>
          <p:cNvPr id="18" name="Text 15"/>
          <p:cNvSpPr/>
          <p:nvPr/>
        </p:nvSpPr>
        <p:spPr>
          <a:xfrm>
            <a:off x="3090672" y="3273552"/>
            <a:ext cx="1225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visual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4517136" y="3328416"/>
            <a:ext cx="146304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773168" y="2816352"/>
            <a:ext cx="1572768" cy="1280160"/>
          </a:xfrm>
          <a:prstGeom prst="roundRect">
            <a:avLst>
              <a:gd name="adj" fmla="val 2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64608" y="2944368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0" y="2926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nombrar</a:t>
            </a:r>
            <a:endParaRPr lang="en-US" sz="1480" dirty="0"/>
          </a:p>
        </p:txBody>
      </p:sp>
      <p:sp>
        <p:nvSpPr>
          <p:cNvPr id="23" name="Text 20"/>
          <p:cNvSpPr/>
          <p:nvPr/>
        </p:nvSpPr>
        <p:spPr>
          <a:xfrm>
            <a:off x="5029200" y="3273552"/>
            <a:ext cx="1225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token con intención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455664" y="3328416"/>
            <a:ext cx="146304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11696" y="2816352"/>
            <a:ext cx="1572768" cy="1280160"/>
          </a:xfrm>
          <a:prstGeom prst="roundRect">
            <a:avLst>
              <a:gd name="adj" fmla="val 2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03136" y="2944368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67728" y="2926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reutilizar</a:t>
            </a:r>
            <a:endParaRPr lang="en-US" sz="1480" dirty="0"/>
          </a:p>
        </p:txBody>
      </p:sp>
      <p:sp>
        <p:nvSpPr>
          <p:cNvPr id="28" name="Text 25"/>
          <p:cNvSpPr/>
          <p:nvPr/>
        </p:nvSpPr>
        <p:spPr>
          <a:xfrm>
            <a:off x="6967728" y="3273552"/>
            <a:ext cx="1225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varios componentes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8723376" y="2523744"/>
            <a:ext cx="2157984" cy="1993392"/>
          </a:xfrm>
          <a:prstGeom prst="roundRect">
            <a:avLst>
              <a:gd name="adj" fmla="val 183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814816" y="2651760"/>
            <a:ext cx="109728" cy="17373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79408" y="263347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Esto prepara lo siguiente</a:t>
            </a:r>
            <a:endParaRPr lang="en-US" sz="1520" dirty="0"/>
          </a:p>
        </p:txBody>
      </p:sp>
      <p:sp>
        <p:nvSpPr>
          <p:cNvPr id="32" name="Text 29"/>
          <p:cNvSpPr/>
          <p:nvPr/>
        </p:nvSpPr>
        <p:spPr>
          <a:xfrm>
            <a:off x="8979408" y="2980944"/>
            <a:ext cx="181051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9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Responsive, layout moderno y sistemas visuales ya empiezan a apoyarse en esta misma lógica de decisiones.</a:t>
            </a:r>
            <a:endParaRPr lang="en-US" sz="890" dirty="0"/>
          </a:p>
        </p:txBody>
      </p:sp>
      <p:sp>
        <p:nvSpPr>
          <p:cNvPr id="33" name="Shape 30"/>
          <p:cNvSpPr/>
          <p:nvPr/>
        </p:nvSpPr>
        <p:spPr>
          <a:xfrm>
            <a:off x="1060704" y="4901184"/>
            <a:ext cx="9710928" cy="621792"/>
          </a:xfrm>
          <a:prstGeom prst="roundRect">
            <a:avLst>
              <a:gd name="adj" fmla="val 588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61872" y="5065776"/>
            <a:ext cx="9308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hoja de estilos madura no solo se ve bien hoy: también es razonable de modificar mañana.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guía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fijar la lógica entre repetición, variables, tokens y mantenimiento.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04288"/>
            <a:ext cx="109728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286000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720" dirty="0"/>
          </a:p>
        </p:txBody>
      </p:sp>
      <p:sp>
        <p:nvSpPr>
          <p:cNvPr id="13" name="Text 10"/>
          <p:cNvSpPr/>
          <p:nvPr/>
        </p:nvSpPr>
        <p:spPr>
          <a:xfrm>
            <a:off x="1188720" y="263347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técnico aparece cuando un mismo color, espacio o radio se repite manualmente en varias reglas?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053328" y="2176272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44768" y="2304288"/>
            <a:ext cx="109728" cy="10058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2286000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720" dirty="0"/>
          </a:p>
        </p:txBody>
      </p:sp>
      <p:sp>
        <p:nvSpPr>
          <p:cNvPr id="17" name="Text 14"/>
          <p:cNvSpPr/>
          <p:nvPr/>
        </p:nvSpPr>
        <p:spPr>
          <a:xfrm>
            <a:off x="6309360" y="2633472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un valor pasa de verse como dato suelto a verse como decisión nombrada?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932688" y="3749040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4128" y="3877056"/>
            <a:ext cx="109728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385876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720" dirty="0"/>
          </a:p>
        </p:txBody>
      </p:sp>
      <p:sp>
        <p:nvSpPr>
          <p:cNvPr id="21" name="Text 18"/>
          <p:cNvSpPr/>
          <p:nvPr/>
        </p:nvSpPr>
        <p:spPr>
          <a:xfrm>
            <a:off x="1188720" y="420624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variables CSS y consistencia visual están tan relacionadas entre sí?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6053328" y="3749040"/>
            <a:ext cx="4572000" cy="1261872"/>
          </a:xfrm>
          <a:prstGeom prst="roundRect">
            <a:avLst>
              <a:gd name="adj" fmla="val 289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44768" y="3877056"/>
            <a:ext cx="109728" cy="10058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9360" y="3858768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4</a:t>
            </a:r>
            <a:endParaRPr lang="en-US" sz="1720" dirty="0"/>
          </a:p>
        </p:txBody>
      </p:sp>
      <p:sp>
        <p:nvSpPr>
          <p:cNvPr id="25" name="Text 22"/>
          <p:cNvSpPr/>
          <p:nvPr/>
        </p:nvSpPr>
        <p:spPr>
          <a:xfrm>
            <a:off x="6309360" y="4206240"/>
            <a:ext cx="4224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ventaja concreta aporta centralizar una decisión antes de entrar a layout y responsive?</a:t>
            </a:r>
            <a:endParaRPr lang="en-US" sz="114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variables CSS vuelven más legible la intención visual y preparan una capa de estilos mejor conectada con el layout.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139696"/>
            <a:ext cx="6053328" cy="3255264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67712"/>
            <a:ext cx="109728" cy="29992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249424"/>
            <a:ext cx="5705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920" dirty="0"/>
          </a:p>
        </p:txBody>
      </p:sp>
      <p:sp>
        <p:nvSpPr>
          <p:cNvPr id="13" name="Text 10"/>
          <p:cNvSpPr/>
          <p:nvPr/>
        </p:nvSpPr>
        <p:spPr>
          <a:xfrm>
            <a:off x="1152144" y="2596896"/>
            <a:ext cx="5705856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CSS mejora cuando deja de repetir valores sin contexto y empieza a nombrar decisiones visuales que luego pueden reutilizarse entre componentes, pantallas y cambios futuros.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1170432" y="473659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773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76272" y="4736592"/>
            <a:ext cx="932688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49424" y="4773168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espacio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73552" y="4736592"/>
            <a:ext cx="1078992" cy="256032"/>
          </a:xfrm>
          <a:prstGeom prst="roundRect">
            <a:avLst>
              <a:gd name="adj" fmla="val 1785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46704" y="47731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superficie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35424" y="4736592"/>
            <a:ext cx="896112" cy="256032"/>
          </a:xfrm>
          <a:prstGeom prst="roundRect">
            <a:avLst>
              <a:gd name="adj" fmla="val 17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4773168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260336" y="2139696"/>
            <a:ext cx="3547872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34656" y="2592141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723388" y="2450592"/>
            <a:ext cx="188732" cy="5032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43576" y="2592141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16368" y="294436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al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7516368" y="3694176"/>
            <a:ext cx="2743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tramo veremos cómo estas decisiones llegan a la distribución real de elementos con Flexbox y Grid.</a:t>
            </a:r>
            <a:endParaRPr lang="en-US" sz="112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 · Flexbox y Grid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el criterio visual llega al orden espacial: alinear, repartir y estructurar también son decisiones técnicas.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3438144" cy="3236976"/>
          </a:xfrm>
          <a:prstGeom prst="roundRect">
            <a:avLst>
              <a:gd name="adj" fmla="val 11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2552273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99911" y="2414016"/>
            <a:ext cx="184343" cy="4915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978" y="2552273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99232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Layout moderno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significa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control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sobre el espacio.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4590288" y="2103120"/>
            <a:ext cx="288950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718304" y="2231136"/>
            <a:ext cx="2633472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28032" y="230428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4791456" y="2724912"/>
            <a:ext cx="2487168" cy="603504"/>
          </a:xfrm>
          <a:prstGeom prst="roundRect">
            <a:avLst>
              <a:gd name="adj" fmla="val 454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858512" y="2791968"/>
            <a:ext cx="1143000" cy="201168"/>
          </a:xfrm>
          <a:prstGeom prst="roundRect">
            <a:avLst>
              <a:gd name="adj" fmla="val 136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68568" y="2791968"/>
            <a:ext cx="1143000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58512" y="3060192"/>
            <a:ext cx="1143000" cy="201168"/>
          </a:xfrm>
          <a:prstGeom prst="roundRect">
            <a:avLst>
              <a:gd name="adj" fmla="val 136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68568" y="3060192"/>
            <a:ext cx="1143000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27264" y="2103120"/>
            <a:ext cx="2889504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55280" y="2231136"/>
            <a:ext cx="2633472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65008" y="230428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8028432" y="2724912"/>
            <a:ext cx="2487168" cy="603504"/>
          </a:xfrm>
          <a:prstGeom prst="roundRect">
            <a:avLst>
              <a:gd name="adj" fmla="val 454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95488" y="2791968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02192" y="2791968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08896" y="2791968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95488" y="3060192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02192" y="3060192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708896" y="3060192"/>
            <a:ext cx="73964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90288" y="3803904"/>
            <a:ext cx="2889504" cy="969264"/>
          </a:xfrm>
          <a:prstGeom prst="roundRect">
            <a:avLst>
              <a:gd name="adj" fmla="val 377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681728" y="3931920"/>
            <a:ext cx="109728" cy="7132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846320" y="3913632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</a:t>
            </a:r>
            <a:endParaRPr lang="en-US" sz="1420" dirty="0"/>
          </a:p>
        </p:txBody>
      </p:sp>
      <p:sp>
        <p:nvSpPr>
          <p:cNvPr id="36" name="Text 33"/>
          <p:cNvSpPr/>
          <p:nvPr/>
        </p:nvSpPr>
        <p:spPr>
          <a:xfrm>
            <a:off x="4846320" y="4261104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alineación y reparto sobre un eje dominante</a:t>
            </a:r>
            <a:endParaRPr lang="en-US" sz="960" dirty="0"/>
          </a:p>
        </p:txBody>
      </p:sp>
      <p:sp>
        <p:nvSpPr>
          <p:cNvPr id="37" name="Shape 34"/>
          <p:cNvSpPr/>
          <p:nvPr/>
        </p:nvSpPr>
        <p:spPr>
          <a:xfrm>
            <a:off x="7827264" y="3803904"/>
            <a:ext cx="2889504" cy="969264"/>
          </a:xfrm>
          <a:prstGeom prst="roundRect">
            <a:avLst>
              <a:gd name="adj" fmla="val 377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918704" y="3931920"/>
            <a:ext cx="109728" cy="7132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083296" y="3913632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</a:t>
            </a:r>
            <a:endParaRPr lang="en-US" sz="1420" dirty="0"/>
          </a:p>
        </p:txBody>
      </p:sp>
      <p:sp>
        <p:nvSpPr>
          <p:cNvPr id="40" name="Text 37"/>
          <p:cNvSpPr/>
          <p:nvPr/>
        </p:nvSpPr>
        <p:spPr>
          <a:xfrm>
            <a:off x="8083296" y="4261104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de filas, columnas y áreas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896112" y="5559552"/>
            <a:ext cx="994867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97280" y="5724144"/>
            <a:ext cx="9546336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compiten: resuelven problemas espaciales distintos y suelen convivir en una misma interfaz.</a:t>
            </a:r>
            <a:endParaRPr lang="en-US" sz="15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Distribuir elementos también es decidir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interfaz no solo necesita color y tipografía: también necesita orden espacial, relaciones y recorridos claros.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267712"/>
            <a:ext cx="1755648" cy="1444752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377440"/>
            <a:ext cx="100584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957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alineación</a:t>
            </a:r>
            <a:endParaRPr lang="en-US" sz="1340" dirty="0"/>
          </a:p>
        </p:txBody>
      </p:sp>
      <p:sp>
        <p:nvSpPr>
          <p:cNvPr id="13" name="Text 10"/>
          <p:cNvSpPr/>
          <p:nvPr/>
        </p:nvSpPr>
        <p:spPr>
          <a:xfrm>
            <a:off x="1152144" y="2670048"/>
            <a:ext cx="14264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queda al centro, al borde o en columna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2889504" y="2267712"/>
            <a:ext cx="1755648" cy="1444752"/>
          </a:xfrm>
          <a:prstGeom prst="roundRect">
            <a:avLst>
              <a:gd name="adj" fmla="val 18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62656" y="2377440"/>
            <a:ext cx="100584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45536" y="23957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reparto</a:t>
            </a:r>
            <a:endParaRPr lang="en-US" sz="1340" dirty="0"/>
          </a:p>
        </p:txBody>
      </p:sp>
      <p:sp>
        <p:nvSpPr>
          <p:cNvPr id="17" name="Text 14"/>
          <p:cNvSpPr/>
          <p:nvPr/>
        </p:nvSpPr>
        <p:spPr>
          <a:xfrm>
            <a:off x="3145536" y="2670048"/>
            <a:ext cx="14264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distribuye el espacio disponible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882896" y="2267712"/>
            <a:ext cx="1755648" cy="1444752"/>
          </a:xfrm>
          <a:prstGeom prst="roundRect">
            <a:avLst>
              <a:gd name="adj" fmla="val 189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56048" y="2377440"/>
            <a:ext cx="100584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38928" y="23957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relación</a:t>
            </a:r>
            <a:endParaRPr lang="en-US" sz="1340" dirty="0"/>
          </a:p>
        </p:txBody>
      </p:sp>
      <p:sp>
        <p:nvSpPr>
          <p:cNvPr id="21" name="Text 18"/>
          <p:cNvSpPr/>
          <p:nvPr/>
        </p:nvSpPr>
        <p:spPr>
          <a:xfrm>
            <a:off x="5138928" y="2670048"/>
            <a:ext cx="14264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bloques van juntos y cuáles forman áreas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876288" y="2267712"/>
            <a:ext cx="1755648" cy="1444752"/>
          </a:xfrm>
          <a:prstGeom prst="roundRect">
            <a:avLst>
              <a:gd name="adj" fmla="val 189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49440" y="2377440"/>
            <a:ext cx="100584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32320" y="23957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340" dirty="0"/>
          </a:p>
        </p:txBody>
      </p:sp>
      <p:sp>
        <p:nvSpPr>
          <p:cNvPr id="25" name="Text 22"/>
          <p:cNvSpPr/>
          <p:nvPr/>
        </p:nvSpPr>
        <p:spPr>
          <a:xfrm>
            <a:off x="7132320" y="2670048"/>
            <a:ext cx="14264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cambia cuando el ancho disponible varía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869680" y="2267712"/>
            <a:ext cx="1755648" cy="1444752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42832" y="2377440"/>
            <a:ext cx="100584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5712" y="23957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</a:t>
            </a:r>
            <a:endParaRPr lang="en-US" sz="1340" dirty="0"/>
          </a:p>
        </p:txBody>
      </p:sp>
      <p:sp>
        <p:nvSpPr>
          <p:cNvPr id="29" name="Text 26"/>
          <p:cNvSpPr/>
          <p:nvPr/>
        </p:nvSpPr>
        <p:spPr>
          <a:xfrm>
            <a:off x="9125712" y="2670048"/>
            <a:ext cx="14264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la herramienta según el problema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1152144" y="3803904"/>
            <a:ext cx="9400032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280160" y="3931920"/>
            <a:ext cx="914400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389888" y="4023360"/>
            <a:ext cx="8924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mismo contenido puede exigir otra distribución según el espacio</a:t>
            </a:r>
            <a:endParaRPr lang="en-US" sz="1020" dirty="0"/>
          </a:p>
        </p:txBody>
      </p:sp>
      <p:sp>
        <p:nvSpPr>
          <p:cNvPr id="33" name="Shape 30"/>
          <p:cNvSpPr/>
          <p:nvPr/>
        </p:nvSpPr>
        <p:spPr>
          <a:xfrm>
            <a:off x="1316736" y="4315968"/>
            <a:ext cx="4416552" cy="120700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426464" y="4462272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Móvil</a:t>
            </a:r>
            <a:endParaRPr lang="en-US" sz="1560" dirty="0"/>
          </a:p>
        </p:txBody>
      </p:sp>
      <p:sp>
        <p:nvSpPr>
          <p:cNvPr id="35" name="Shape 32"/>
          <p:cNvSpPr/>
          <p:nvPr/>
        </p:nvSpPr>
        <p:spPr>
          <a:xfrm>
            <a:off x="4818888" y="4443984"/>
            <a:ext cx="804672" cy="310896"/>
          </a:xfrm>
          <a:prstGeom prst="roundRect">
            <a:avLst>
              <a:gd name="adj" fmla="val 1470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92040" y="4480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390 px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1426464" y="4828032"/>
            <a:ext cx="4197096" cy="420624"/>
          </a:xfrm>
          <a:prstGeom prst="roundRect">
            <a:avLst>
              <a:gd name="adj" fmla="val 4348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499616" y="4901184"/>
            <a:ext cx="4050792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99616" y="5084064"/>
            <a:ext cx="1427013" cy="109728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776838" y="5084064"/>
            <a:ext cx="1007303" cy="1097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426464" y="537667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536192" y="5358384"/>
            <a:ext cx="41056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columna</a:t>
            </a:r>
            <a:endParaRPr lang="en-US" sz="880" dirty="0"/>
          </a:p>
        </p:txBody>
      </p:sp>
      <p:sp>
        <p:nvSpPr>
          <p:cNvPr id="43" name="Shape 40"/>
          <p:cNvSpPr/>
          <p:nvPr/>
        </p:nvSpPr>
        <p:spPr>
          <a:xfrm>
            <a:off x="1426464" y="5577840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536192" y="5559552"/>
            <a:ext cx="41056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CTA visible</a:t>
            </a:r>
            <a:endParaRPr lang="en-US" sz="880" dirty="0"/>
          </a:p>
        </p:txBody>
      </p:sp>
      <p:sp>
        <p:nvSpPr>
          <p:cNvPr id="45" name="Shape 42"/>
          <p:cNvSpPr/>
          <p:nvPr/>
        </p:nvSpPr>
        <p:spPr>
          <a:xfrm>
            <a:off x="5971032" y="4315968"/>
            <a:ext cx="4416552" cy="120700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080760" y="4462272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Desktop</a:t>
            </a:r>
            <a:endParaRPr lang="en-US" sz="1560" dirty="0"/>
          </a:p>
        </p:txBody>
      </p:sp>
      <p:sp>
        <p:nvSpPr>
          <p:cNvPr id="47" name="Shape 44"/>
          <p:cNvSpPr/>
          <p:nvPr/>
        </p:nvSpPr>
        <p:spPr>
          <a:xfrm>
            <a:off x="9473184" y="4443984"/>
            <a:ext cx="804672" cy="310896"/>
          </a:xfrm>
          <a:prstGeom prst="roundRect">
            <a:avLst>
              <a:gd name="adj" fmla="val 1470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546336" y="4480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1280 px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080760" y="4828032"/>
            <a:ext cx="4197096" cy="420624"/>
          </a:xfrm>
          <a:prstGeom prst="roundRect">
            <a:avLst>
              <a:gd name="adj" fmla="val 4348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153912" y="4901184"/>
            <a:ext cx="4050792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3912" y="5084064"/>
            <a:ext cx="1427013" cy="109728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431134" y="5084064"/>
            <a:ext cx="1007303" cy="1097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80760" y="5376672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190488" y="5358384"/>
            <a:ext cx="41056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contexto</a:t>
            </a:r>
            <a:endParaRPr lang="en-US" sz="880" dirty="0"/>
          </a:p>
        </p:txBody>
      </p:sp>
      <p:sp>
        <p:nvSpPr>
          <p:cNvPr id="55" name="Shape 52"/>
          <p:cNvSpPr/>
          <p:nvPr/>
        </p:nvSpPr>
        <p:spPr>
          <a:xfrm>
            <a:off x="6080760" y="5577840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190488" y="5559552"/>
            <a:ext cx="41056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columnas</a:t>
            </a:r>
            <a:endParaRPr lang="en-US" sz="880" dirty="0"/>
          </a:p>
        </p:txBody>
      </p:sp>
      <p:sp>
        <p:nvSpPr>
          <p:cNvPr id="57" name="Shape 54"/>
          <p:cNvSpPr/>
          <p:nvPr/>
        </p:nvSpPr>
        <p:spPr>
          <a:xfrm>
            <a:off x="5724144" y="4672584"/>
            <a:ext cx="201168" cy="23774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Flexbox: buena herramienta para una dirección dominante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resulta especialmente útil cuando el problema principal consiste en alinear o repartir una secuencia de elementos.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21408"/>
            <a:ext cx="3913632" cy="2852928"/>
          </a:xfrm>
          <a:prstGeom prst="roundRect">
            <a:avLst>
              <a:gd name="adj" fmla="val 12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31136"/>
            <a:ext cx="365760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04288"/>
            <a:ext cx="3438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Toolbar con Flexbox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688336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06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.toolbar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flex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justify-content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space-between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align-items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center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16px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60" dirty="0"/>
          </a:p>
        </p:txBody>
      </p:sp>
      <p:sp>
        <p:nvSpPr>
          <p:cNvPr id="14" name="Shape 11"/>
          <p:cNvSpPr/>
          <p:nvPr/>
        </p:nvSpPr>
        <p:spPr>
          <a:xfrm>
            <a:off x="5065776" y="2194560"/>
            <a:ext cx="2816352" cy="2340864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93792" y="2322576"/>
            <a:ext cx="2560320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2395728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Contenedor flex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266944" y="2816352"/>
            <a:ext cx="2414016" cy="1463040"/>
          </a:xfrm>
          <a:prstGeom prst="roundRect">
            <a:avLst>
              <a:gd name="adj" fmla="val 187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94960" y="2944368"/>
            <a:ext cx="633984" cy="539496"/>
          </a:xfrm>
          <a:prstGeom prst="roundRect">
            <a:avLst>
              <a:gd name="adj" fmla="val 50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56960" y="2944368"/>
            <a:ext cx="633984" cy="53949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18960" y="2944368"/>
            <a:ext cx="633984" cy="539496"/>
          </a:xfrm>
          <a:prstGeom prst="roundRect">
            <a:avLst>
              <a:gd name="adj" fmla="val 50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94960" y="3611880"/>
            <a:ext cx="633984" cy="53949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56960" y="3611880"/>
            <a:ext cx="633984" cy="539496"/>
          </a:xfrm>
          <a:prstGeom prst="roundRect">
            <a:avLst>
              <a:gd name="adj" fmla="val 50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56448" y="2157984"/>
            <a:ext cx="2615184" cy="987552"/>
          </a:xfrm>
          <a:prstGeom prst="roundRect">
            <a:avLst>
              <a:gd name="adj" fmla="val 370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47888" y="2286000"/>
            <a:ext cx="109728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12480" y="2267712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resuelve bien</a:t>
            </a:r>
            <a:endParaRPr lang="en-US" sz="1640" dirty="0"/>
          </a:p>
        </p:txBody>
      </p:sp>
      <p:sp>
        <p:nvSpPr>
          <p:cNvPr id="26" name="Text 23"/>
          <p:cNvSpPr/>
          <p:nvPr/>
        </p:nvSpPr>
        <p:spPr>
          <a:xfrm>
            <a:off x="8412480" y="2615184"/>
            <a:ext cx="2267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toolbars, navegación, grupos de botones, formularios compactos y barras de acciones.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8156448" y="3310128"/>
            <a:ext cx="2615184" cy="1115568"/>
          </a:xfrm>
          <a:prstGeom prst="roundRect">
            <a:avLst>
              <a:gd name="adj" fmla="val 327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47888" y="3438144"/>
            <a:ext cx="109728" cy="8595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412480" y="341985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útil</a:t>
            </a:r>
            <a:endParaRPr lang="en-US" sz="1620" dirty="0"/>
          </a:p>
        </p:txBody>
      </p:sp>
      <p:sp>
        <p:nvSpPr>
          <p:cNvPr id="30" name="Text 27"/>
          <p:cNvSpPr/>
          <p:nvPr/>
        </p:nvSpPr>
        <p:spPr>
          <a:xfrm>
            <a:off x="8412480" y="3767328"/>
            <a:ext cx="2267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lo que importa es una fila o columna principal, Flexbox suele dar una solución más directa.</a:t>
            </a:r>
            <a:endParaRPr lang="en-US" sz="1020" dirty="0"/>
          </a:p>
        </p:txBody>
      </p:sp>
      <p:sp>
        <p:nvSpPr>
          <p:cNvPr id="31" name="Shape 28"/>
          <p:cNvSpPr/>
          <p:nvPr/>
        </p:nvSpPr>
        <p:spPr>
          <a:xfrm>
            <a:off x="1078992" y="5138928"/>
            <a:ext cx="9601200" cy="420624"/>
          </a:xfrm>
          <a:prstGeom prst="roundRect">
            <a:avLst>
              <a:gd name="adj" fmla="val 869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280160" y="5303520"/>
            <a:ext cx="91988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 piensa muy bien en secuencia, alineación y reparto dentro de un mismo eje.</a:t>
            </a:r>
            <a:endParaRPr lang="en-US" sz="158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Flexbox importa leer los ejes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justify-content y align-items no se entienden bien si no se distingue primero el eje principal del secundario.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286000"/>
            <a:ext cx="5687568" cy="2670048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61872" y="2523744"/>
            <a:ext cx="1152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 principal</a:t>
            </a:r>
            <a:endParaRPr lang="en-US" sz="1560" dirty="0"/>
          </a:p>
        </p:txBody>
      </p:sp>
      <p:sp>
        <p:nvSpPr>
          <p:cNvPr id="12" name="Shape 9"/>
          <p:cNvSpPr/>
          <p:nvPr/>
        </p:nvSpPr>
        <p:spPr>
          <a:xfrm>
            <a:off x="1335024" y="3127248"/>
            <a:ext cx="4005072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1316736" y="3474720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justify-content distribuye sobre este eje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3730752" y="2706624"/>
            <a:ext cx="0" cy="133502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  <a:headEnd type="none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3840480" y="3730752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align-items ordena sobre el eje secundario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865376" y="2889504"/>
            <a:ext cx="512064" cy="38404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51760" y="2999232"/>
            <a:ext cx="512064" cy="38404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38144" y="2889504"/>
            <a:ext cx="512064" cy="38404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24528" y="2999232"/>
            <a:ext cx="512064" cy="38404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31152" y="2267712"/>
            <a:ext cx="3749040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22592" y="2395728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87184" y="2377440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sana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187184" y="2724912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identificar dirección y eje principal; después recién decidir justify-content y align-items.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6931152" y="3566160"/>
            <a:ext cx="3749040" cy="1078992"/>
          </a:xfrm>
          <a:prstGeom prst="roundRect">
            <a:avLst>
              <a:gd name="adj" fmla="val 33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22592" y="3694176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87184" y="3675888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común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187184" y="4023360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propiedades de alineación sin tener claro qué eje está gobernando el contenedor.</a:t>
            </a:r>
            <a:endParaRPr lang="en-US" sz="108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Casos típicos donde Flexbox aparece rápido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práctico de Flexbox se nota cuando miramos patrones muy comunes del trabajo real.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212848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40864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32257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toolbar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1188720" y="2670048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 + navegación + acciones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3657600" y="2212848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49040" y="2340864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13632" y="232257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acciones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3913632" y="2670048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botones alineados y con gap consistente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6382512" y="2212848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73952" y="2340864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38544" y="232257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formulario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6638544" y="2670048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controles cortos dentro de una misma fila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9107424" y="2212848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98864" y="2340864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63456" y="232257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chips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9363456" y="2670048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etiquetas o filtros que se reparten mejor</a:t>
            </a:r>
            <a:endParaRPr lang="en-US" sz="1010" dirty="0"/>
          </a:p>
        </p:txBody>
      </p:sp>
      <p:sp>
        <p:nvSpPr>
          <p:cNvPr id="26" name="Shape 23"/>
          <p:cNvSpPr/>
          <p:nvPr/>
        </p:nvSpPr>
        <p:spPr>
          <a:xfrm>
            <a:off x="1993392" y="3968496"/>
            <a:ext cx="7040880" cy="1316736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121408" y="4096512"/>
            <a:ext cx="6784848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231136" y="4169664"/>
            <a:ext cx="6565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de elementos alineados sobre un mismo eje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2194560" y="4590288"/>
            <a:ext cx="6638544" cy="438912"/>
          </a:xfrm>
          <a:prstGeom prst="roundRect">
            <a:avLst>
              <a:gd name="adj" fmla="val 6250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231136" y="4626864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532120" y="4626864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231136" y="4760976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532120" y="4760976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231136" y="4895088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532120" y="4895088"/>
            <a:ext cx="3264408" cy="97536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Grid: más fuerte cuando pensamos en estructura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interfaz necesita filas, columnas o regiones, Grid ofrece una lectura espacial más potente.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3822192" cy="2889504"/>
          </a:xfrm>
          <a:prstGeom prst="roundRect">
            <a:avLst>
              <a:gd name="adj" fmla="val 126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49424"/>
            <a:ext cx="35661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322576"/>
            <a:ext cx="3346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con Grid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60704" y="2706624"/>
            <a:ext cx="338328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060" dirty="0">
                <a:solidFill>
                  <a:srgbClr val="A6E2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.layout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grid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grid-template-columns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240px 1fr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60" dirty="0">
                <a:solidFill>
                  <a:srgbClr val="F926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24px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6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06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60" dirty="0"/>
          </a:p>
        </p:txBody>
      </p:sp>
      <p:sp>
        <p:nvSpPr>
          <p:cNvPr id="14" name="Shape 11"/>
          <p:cNvSpPr/>
          <p:nvPr/>
        </p:nvSpPr>
        <p:spPr>
          <a:xfrm>
            <a:off x="4974336" y="2139696"/>
            <a:ext cx="2999232" cy="2487168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02352" y="2267712"/>
            <a:ext cx="2743200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12080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container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175504" y="2761488"/>
            <a:ext cx="2596896" cy="1609344"/>
          </a:xfrm>
          <a:prstGeom prst="roundRect">
            <a:avLst>
              <a:gd name="adj" fmla="val 170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21808" y="290779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38672" y="290779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55536" y="290779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21808" y="363931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38672" y="363931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536" y="3639312"/>
            <a:ext cx="670560" cy="585216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47888" y="2194560"/>
            <a:ext cx="2505456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39328" y="2322576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03920" y="230428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resuelve bien</a:t>
            </a:r>
            <a:endParaRPr lang="en-US" sz="1620" dirty="0"/>
          </a:p>
        </p:txBody>
      </p:sp>
      <p:sp>
        <p:nvSpPr>
          <p:cNvPr id="27" name="Text 24"/>
          <p:cNvSpPr/>
          <p:nvPr/>
        </p:nvSpPr>
        <p:spPr>
          <a:xfrm>
            <a:off x="8503920" y="2651760"/>
            <a:ext cx="21579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 lateral + contenido, catálogos, dashboards y áreas de trabajo con varias regiones.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8247888" y="3493008"/>
            <a:ext cx="2505456" cy="987552"/>
          </a:xfrm>
          <a:prstGeom prst="roundRect">
            <a:avLst>
              <a:gd name="adj" fmla="val 3704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39328" y="3621024"/>
            <a:ext cx="109728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503920" y="360273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útil</a:t>
            </a:r>
            <a:endParaRPr lang="en-US" sz="1620" dirty="0"/>
          </a:p>
        </p:txBody>
      </p:sp>
      <p:sp>
        <p:nvSpPr>
          <p:cNvPr id="31" name="Text 28"/>
          <p:cNvSpPr/>
          <p:nvPr/>
        </p:nvSpPr>
        <p:spPr>
          <a:xfrm>
            <a:off x="8503920" y="395020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no piensa solo en secuencia: piensa en estructura espacial.</a:t>
            </a:r>
            <a:endParaRPr lang="en-US" sz="102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deja declarar columnas con más claridad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relación entre regiones visuales se vuelve mucho más legible cuando el contenedor declara su estructura.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212848"/>
            <a:ext cx="4681728" cy="2505456"/>
          </a:xfrm>
          <a:prstGeom prst="roundRect">
            <a:avLst>
              <a:gd name="adj" fmla="val 146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40864"/>
            <a:ext cx="442569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41401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Sidebar + contenido principal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97280" y="2834640"/>
            <a:ext cx="4279392" cy="1627632"/>
          </a:xfrm>
          <a:prstGeom prst="roundRect">
            <a:avLst>
              <a:gd name="adj" fmla="val 168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43584" y="2980944"/>
            <a:ext cx="1920240" cy="594360"/>
          </a:xfrm>
          <a:prstGeom prst="roundRect">
            <a:avLst>
              <a:gd name="adj" fmla="val 461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128" y="2980944"/>
            <a:ext cx="192024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43584" y="3721608"/>
            <a:ext cx="1920240" cy="594360"/>
          </a:xfrm>
          <a:prstGeom prst="roundRect">
            <a:avLst>
              <a:gd name="adj" fmla="val 461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10128" y="3721608"/>
            <a:ext cx="192024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5312" y="2286000"/>
            <a:ext cx="4681728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16752" y="2414016"/>
            <a:ext cx="109728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81344" y="2395728"/>
            <a:ext cx="433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útil</a:t>
            </a:r>
            <a:endParaRPr lang="en-US" sz="1660" dirty="0"/>
          </a:p>
        </p:txBody>
      </p:sp>
      <p:sp>
        <p:nvSpPr>
          <p:cNvPr id="21" name="Text 18"/>
          <p:cNvSpPr/>
          <p:nvPr/>
        </p:nvSpPr>
        <p:spPr>
          <a:xfrm>
            <a:off x="6181344" y="2743200"/>
            <a:ext cx="4334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240px + 1fr ya expresa una relación espacial entre panel lateral y región principal.</a:t>
            </a:r>
            <a:endParaRPr lang="en-US" sz="1040" dirty="0"/>
          </a:p>
        </p:txBody>
      </p:sp>
      <p:sp>
        <p:nvSpPr>
          <p:cNvPr id="22" name="Shape 19"/>
          <p:cNvSpPr/>
          <p:nvPr/>
        </p:nvSpPr>
        <p:spPr>
          <a:xfrm>
            <a:off x="5925312" y="3529584"/>
            <a:ext cx="4681728" cy="1005840"/>
          </a:xfrm>
          <a:prstGeom prst="roundRect">
            <a:avLst>
              <a:gd name="adj" fmla="val 36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16752" y="3657600"/>
            <a:ext cx="109728" cy="7498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81344" y="3639312"/>
            <a:ext cx="433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Ventaja real</a:t>
            </a:r>
            <a:endParaRPr lang="en-US" sz="1660" dirty="0"/>
          </a:p>
        </p:txBody>
      </p:sp>
      <p:sp>
        <p:nvSpPr>
          <p:cNvPr id="25" name="Text 22"/>
          <p:cNvSpPr/>
          <p:nvPr/>
        </p:nvSpPr>
        <p:spPr>
          <a:xfrm>
            <a:off x="6181344" y="3986784"/>
            <a:ext cx="4334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estructura se vuelve más fácil de leer, corregir y adaptar cuando deja de estar simulada con hacks.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1261872" y="5084064"/>
            <a:ext cx="9198864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463040" y="5248656"/>
            <a:ext cx="8796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hace visible la estructura de la pantalla en el propio CSS.</a:t>
            </a:r>
            <a:endParaRPr lang="en-US" sz="162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piensa mejor en áreas y regiones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interfaz tiene zonas reconocibles, conviene pensar en layout como composición de regiones.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69264" y="2249424"/>
            <a:ext cx="4882896" cy="2852928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25296" y="2505456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98448" y="2578608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Regiones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1280160" y="2852928"/>
            <a:ext cx="4261104" cy="1572768"/>
          </a:xfrm>
          <a:prstGeom prst="roundRect">
            <a:avLst>
              <a:gd name="adj" fmla="val 2326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81328" y="3054096"/>
            <a:ext cx="3858768" cy="329184"/>
          </a:xfrm>
          <a:prstGeom prst="roundRect">
            <a:avLst>
              <a:gd name="adj" fmla="val 1111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81328" y="3511296"/>
            <a:ext cx="987552" cy="713232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51760" y="3511296"/>
            <a:ext cx="2688336" cy="713232"/>
          </a:xfrm>
          <a:prstGeom prst="roundRect">
            <a:avLst>
              <a:gd name="adj" fmla="val 512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44368" y="3163824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</a:t>
            </a:r>
            <a:endParaRPr lang="en-US" sz="940" dirty="0"/>
          </a:p>
        </p:txBody>
      </p:sp>
      <p:sp>
        <p:nvSpPr>
          <p:cNvPr id="18" name="Text 15"/>
          <p:cNvSpPr/>
          <p:nvPr/>
        </p:nvSpPr>
        <p:spPr>
          <a:xfrm>
            <a:off x="1627632" y="3767328"/>
            <a:ext cx="7132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sidebar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3657600" y="3767328"/>
            <a:ext cx="6949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940" dirty="0"/>
          </a:p>
        </p:txBody>
      </p:sp>
      <p:sp>
        <p:nvSpPr>
          <p:cNvPr id="20" name="Shape 17"/>
          <p:cNvSpPr/>
          <p:nvPr/>
        </p:nvSpPr>
        <p:spPr>
          <a:xfrm>
            <a:off x="6254496" y="2359152"/>
            <a:ext cx="4261104" cy="1005840"/>
          </a:xfrm>
          <a:prstGeom prst="roundRect">
            <a:avLst>
              <a:gd name="adj" fmla="val 363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45936" y="2487168"/>
            <a:ext cx="109728" cy="7498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0528" y="2468880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Cuándo ayuda</a:t>
            </a:r>
            <a:endParaRPr lang="en-US" sz="1660" dirty="0"/>
          </a:p>
        </p:txBody>
      </p:sp>
      <p:sp>
        <p:nvSpPr>
          <p:cNvPr id="23" name="Text 20"/>
          <p:cNvSpPr/>
          <p:nvPr/>
        </p:nvSpPr>
        <p:spPr>
          <a:xfrm>
            <a:off x="6510528" y="2816352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no basta con alinear una secuencia y ya hay que describir regiones de una pantalla.</a:t>
            </a:r>
            <a:endParaRPr lang="en-US" sz="1040" dirty="0"/>
          </a:p>
        </p:txBody>
      </p:sp>
      <p:sp>
        <p:nvSpPr>
          <p:cNvPr id="24" name="Shape 21"/>
          <p:cNvSpPr/>
          <p:nvPr/>
        </p:nvSpPr>
        <p:spPr>
          <a:xfrm>
            <a:off x="6254496" y="3602736"/>
            <a:ext cx="4261104" cy="1005840"/>
          </a:xfrm>
          <a:prstGeom prst="roundRect">
            <a:avLst>
              <a:gd name="adj" fmla="val 363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45936" y="3730752"/>
            <a:ext cx="109728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10528" y="371246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madura</a:t>
            </a:r>
            <a:endParaRPr lang="en-US" sz="1660" dirty="0"/>
          </a:p>
        </p:txBody>
      </p:sp>
      <p:sp>
        <p:nvSpPr>
          <p:cNvPr id="27" name="Text 24"/>
          <p:cNvSpPr/>
          <p:nvPr/>
        </p:nvSpPr>
        <p:spPr>
          <a:xfrm>
            <a:off x="6510528" y="4059936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vuelve más natural pensar una interfaz como estructura y no solo como secuencia de bloques.</a:t>
            </a:r>
            <a:endParaRPr lang="en-US" sz="104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Casos donde Grid aparece con mucha fuerza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problema ya es de estructura general, Grid suele dar una solución más natural.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32688" y="2194560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22576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30428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</a:t>
            </a:r>
            <a:endParaRPr lang="en-US" sz="1440" dirty="0"/>
          </a:p>
        </p:txBody>
      </p:sp>
      <p:sp>
        <p:nvSpPr>
          <p:cNvPr id="13" name="Text 10"/>
          <p:cNvSpPr/>
          <p:nvPr/>
        </p:nvSpPr>
        <p:spPr>
          <a:xfrm>
            <a:off x="1188720" y="2651760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paneles con varias regiones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3675888" y="2194560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67328" y="232257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31920" y="230428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catálogo</a:t>
            </a:r>
            <a:endParaRPr lang="en-US" sz="1440" dirty="0"/>
          </a:p>
        </p:txBody>
      </p:sp>
      <p:sp>
        <p:nvSpPr>
          <p:cNvPr id="17" name="Text 14"/>
          <p:cNvSpPr/>
          <p:nvPr/>
        </p:nvSpPr>
        <p:spPr>
          <a:xfrm>
            <a:off x="3931920" y="2651760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grillas de productos o tarjetas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6419088" y="2194560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10528" y="232257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0" y="230428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layout general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6675120" y="2651760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sidebar + main + extras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9162288" y="2194560"/>
            <a:ext cx="1645920" cy="1481328"/>
          </a:xfrm>
          <a:prstGeom prst="roundRect">
            <a:avLst>
              <a:gd name="adj" fmla="val 246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53728" y="232257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18320" y="230428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áreas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9418320" y="2651760"/>
            <a:ext cx="12984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regiones con relaciones fijas</a:t>
            </a:r>
            <a:endParaRPr lang="en-US" sz="1010" dirty="0"/>
          </a:p>
        </p:txBody>
      </p:sp>
      <p:sp>
        <p:nvSpPr>
          <p:cNvPr id="26" name="Shape 23"/>
          <p:cNvSpPr/>
          <p:nvPr/>
        </p:nvSpPr>
        <p:spPr>
          <a:xfrm>
            <a:off x="1920240" y="3968496"/>
            <a:ext cx="722376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48256" y="4096512"/>
            <a:ext cx="6967728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57984" y="4169664"/>
            <a:ext cx="6748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Grilla de tarjetas como ejemplo simple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2121408" y="4590288"/>
            <a:ext cx="6821424" cy="530352"/>
          </a:xfrm>
          <a:prstGeom prst="roundRect">
            <a:avLst>
              <a:gd name="adj" fmla="val 5172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80336" y="4649216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70960" y="4649216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561584" y="4649216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252208" y="4649216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80336" y="4884928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70960" y="4884928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1584" y="4884928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252208" y="4884928"/>
            <a:ext cx="1631696" cy="176784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 y Grid no se eligen con slogans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pensar el tipo de problema espacial antes de decidir la herramienta.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4480560" cy="2615184"/>
          </a:xfrm>
          <a:prstGeom prst="roundRect">
            <a:avLst>
              <a:gd name="adj" fmla="val 139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59152"/>
            <a:ext cx="109728" cy="2359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170432" y="2688336"/>
            <a:ext cx="4133088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para secuencias, alineación, reparto de espacio dentro de una fila o columna y agrupación de elementos relacionados.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596128" y="2231136"/>
            <a:ext cx="4480560" cy="2615184"/>
          </a:xfrm>
          <a:prstGeom prst="roundRect">
            <a:avLst>
              <a:gd name="adj" fmla="val 139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87568" y="2359152"/>
            <a:ext cx="109728" cy="23591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34086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5852160" y="2688336"/>
            <a:ext cx="4133088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para layout general, columnas, regiones, áreas y estructuras donde importa la relación entre filas y columnas.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188720" y="5084064"/>
            <a:ext cx="9473184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89888" y="5248656"/>
            <a:ext cx="9070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Secuencia y alineación -&gt; Flexbox | estructura y regiones -&gt; Grid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normal es que convivan dentro de una misma interfaz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página puede usar Grid para la estructura general y Flexbox para resolver grupos internos.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96112" y="2231136"/>
            <a:ext cx="5321808" cy="2999232"/>
          </a:xfrm>
          <a:prstGeom prst="roundRect">
            <a:avLst>
              <a:gd name="adj" fmla="val 12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487168"/>
            <a:ext cx="1115568" cy="274320"/>
          </a:xfrm>
          <a:prstGeom prst="roundRect">
            <a:avLst>
              <a:gd name="adj" fmla="val 13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25296" y="256032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general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1207008" y="2834640"/>
            <a:ext cx="4700016" cy="2066544"/>
          </a:xfrm>
          <a:prstGeom prst="roundRect">
            <a:avLst>
              <a:gd name="adj" fmla="val 1770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08176" y="3017520"/>
            <a:ext cx="4297680" cy="347472"/>
          </a:xfrm>
          <a:prstGeom prst="roundRect">
            <a:avLst>
              <a:gd name="adj" fmla="val 1052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08176" y="3511296"/>
            <a:ext cx="969264" cy="1133856"/>
          </a:xfrm>
          <a:prstGeom prst="roundRect">
            <a:avLst>
              <a:gd name="adj" fmla="val 377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78608" y="3511296"/>
            <a:ext cx="3127248" cy="1133856"/>
          </a:xfrm>
          <a:prstGeom prst="roundRect">
            <a:avLst>
              <a:gd name="adj" fmla="val 322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0" y="3127248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1572768" y="4005072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sidebar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3822192" y="4005072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6565392" y="2231136"/>
            <a:ext cx="4041648" cy="2999232"/>
          </a:xfrm>
          <a:prstGeom prst="roundRect">
            <a:avLst>
              <a:gd name="adj" fmla="val 12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39712" y="2596896"/>
            <a:ext cx="3456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Dentro del header o del bloque de acciones,</a:t>
            </a:r>
            <a:endParaRPr lang="en-US" sz="1240" dirty="0"/>
          </a:p>
          <a:p>
            <a:pPr indent="0" marL="0">
              <a:buNone/>
            </a:pPr>
            <a:r>
              <a:rPr lang="en-US" sz="12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vuelve natural alinear botones, logo o navegación.</a:t>
            </a:r>
            <a:endParaRPr lang="en-US" sz="1240" dirty="0"/>
          </a:p>
        </p:txBody>
      </p:sp>
      <p:sp>
        <p:nvSpPr>
          <p:cNvPr id="22" name="Shape 19"/>
          <p:cNvSpPr/>
          <p:nvPr/>
        </p:nvSpPr>
        <p:spPr>
          <a:xfrm>
            <a:off x="6821424" y="3383280"/>
            <a:ext cx="2980944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49440" y="3511296"/>
            <a:ext cx="2724912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358444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 interno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7022592" y="4005072"/>
            <a:ext cx="2578608" cy="365760"/>
          </a:xfrm>
          <a:prstGeom prst="roundRect">
            <a:avLst>
              <a:gd name="adj" fmla="val 7500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063232" y="4045712"/>
            <a:ext cx="1228344" cy="121920"/>
          </a:xfrm>
          <a:prstGeom prst="roundRect">
            <a:avLst>
              <a:gd name="adj" fmla="val 225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332216" y="4045712"/>
            <a:ext cx="1228344" cy="1219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63232" y="4208272"/>
            <a:ext cx="1228344" cy="121920"/>
          </a:xfrm>
          <a:prstGeom prst="roundRect">
            <a:avLst>
              <a:gd name="adj" fmla="val 225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32216" y="4208272"/>
            <a:ext cx="1228344" cy="1219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layout también cambia cuando cambia el ancho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distribución visual madura no se piensa solo para un tamaño de pantalla.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157984"/>
            <a:ext cx="9875520" cy="2523744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286000"/>
            <a:ext cx="961948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77440"/>
            <a:ext cx="9400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Misma interfaz, otra distribución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1078992" y="2670048"/>
            <a:ext cx="4654296" cy="1847088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2816352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Móvil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745736" y="2798064"/>
            <a:ext cx="877824" cy="310896"/>
          </a:xfrm>
          <a:prstGeom prst="roundRect">
            <a:avLst>
              <a:gd name="adj" fmla="val 1470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28346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390 px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1188720" y="3182112"/>
            <a:ext cx="4434840" cy="512064"/>
          </a:xfrm>
          <a:prstGeom prst="roundRect">
            <a:avLst>
              <a:gd name="adj" fmla="val 3571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61872" y="3255264"/>
            <a:ext cx="4288536" cy="146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61872" y="3493008"/>
            <a:ext cx="1685239" cy="164592"/>
          </a:xfrm>
          <a:prstGeom prst="roundRect">
            <a:avLst>
              <a:gd name="adj" fmla="val 1111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17443" y="3493008"/>
            <a:ext cx="1507846" cy="16459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382219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8448" y="380390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columna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1188720" y="4023360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844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CTA primero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1188720" y="4224528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8448" y="420624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densidad</a:t>
            </a:r>
            <a:endParaRPr lang="en-US" sz="920" dirty="0"/>
          </a:p>
        </p:txBody>
      </p:sp>
      <p:sp>
        <p:nvSpPr>
          <p:cNvPr id="27" name="Shape 24"/>
          <p:cNvSpPr/>
          <p:nvPr/>
        </p:nvSpPr>
        <p:spPr>
          <a:xfrm>
            <a:off x="5971032" y="2670048"/>
            <a:ext cx="4654296" cy="1847088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80760" y="2816352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Desktop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637776" y="2798064"/>
            <a:ext cx="877824" cy="310896"/>
          </a:xfrm>
          <a:prstGeom prst="roundRect">
            <a:avLst>
              <a:gd name="adj" fmla="val 1470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710928" y="28346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1280 px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080760" y="3182112"/>
            <a:ext cx="4434840" cy="512064"/>
          </a:xfrm>
          <a:prstGeom prst="roundRect">
            <a:avLst>
              <a:gd name="adj" fmla="val 3571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53912" y="3255264"/>
            <a:ext cx="4288536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53912" y="3493008"/>
            <a:ext cx="1685239" cy="164592"/>
          </a:xfrm>
          <a:prstGeom prst="roundRect">
            <a:avLst>
              <a:gd name="adj" fmla="val 111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09483" y="3493008"/>
            <a:ext cx="1507846" cy="16459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080760" y="3822192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90488" y="380390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columnas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6080760" y="4023360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19048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contexto</a:t>
            </a:r>
            <a:endParaRPr lang="en-US" sz="920" dirty="0"/>
          </a:p>
        </p:txBody>
      </p:sp>
      <p:sp>
        <p:nvSpPr>
          <p:cNvPr id="39" name="Shape 36"/>
          <p:cNvSpPr/>
          <p:nvPr/>
        </p:nvSpPr>
        <p:spPr>
          <a:xfrm>
            <a:off x="6080760" y="4224528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190488" y="420624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uso del ancho</a:t>
            </a:r>
            <a:endParaRPr lang="en-US" sz="920" dirty="0"/>
          </a:p>
        </p:txBody>
      </p:sp>
      <p:sp>
        <p:nvSpPr>
          <p:cNvPr id="41" name="Shape 38"/>
          <p:cNvSpPr/>
          <p:nvPr/>
        </p:nvSpPr>
        <p:spPr>
          <a:xfrm>
            <a:off x="5724144" y="3346704"/>
            <a:ext cx="201168" cy="23774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353312" y="4974336"/>
            <a:ext cx="903427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554480" y="5138928"/>
            <a:ext cx="8631936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Responsive no es decorar distinto: es redistribuir con más criterio el mismo contenido.</a:t>
            </a:r>
            <a:endParaRPr lang="en-US" sz="158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secuencia sana para decidir layout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elegir Flexbox o Grid desde el problema espacial, no desde moda o memoria de propiedades.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743200"/>
            <a:ext cx="1719072" cy="1444752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871216"/>
            <a:ext cx="109728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leer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70432" y="3200400"/>
            <a:ext cx="1371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relación espacial necesita la interfaz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2743200" y="3346704"/>
            <a:ext cx="164592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4096" y="2743200"/>
            <a:ext cx="1719072" cy="1444752"/>
          </a:xfrm>
          <a:prstGeom prst="roundRect">
            <a:avLst>
              <a:gd name="adj" fmla="val 253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145536" y="2871216"/>
            <a:ext cx="109728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10128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decidir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310128" y="3200400"/>
            <a:ext cx="1371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es secuencia o estructura</a:t>
            </a:r>
            <a:endParaRPr lang="en-US" sz="1010" dirty="0"/>
          </a:p>
        </p:txBody>
      </p:sp>
      <p:sp>
        <p:nvSpPr>
          <p:cNvPr id="19" name="Shape 16"/>
          <p:cNvSpPr/>
          <p:nvPr/>
        </p:nvSpPr>
        <p:spPr>
          <a:xfrm>
            <a:off x="4882896" y="334670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93792" y="2743200"/>
            <a:ext cx="1719072" cy="1444752"/>
          </a:xfrm>
          <a:prstGeom prst="roundRect">
            <a:avLst>
              <a:gd name="adj" fmla="val 253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85232" y="2871216"/>
            <a:ext cx="109728" cy="1188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49824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aplicar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49824" y="3200400"/>
            <a:ext cx="1371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o Grid con intención</a:t>
            </a:r>
            <a:endParaRPr lang="en-US" sz="1010" dirty="0"/>
          </a:p>
        </p:txBody>
      </p:sp>
      <p:sp>
        <p:nvSpPr>
          <p:cNvPr id="24" name="Shape 21"/>
          <p:cNvSpPr/>
          <p:nvPr/>
        </p:nvSpPr>
        <p:spPr>
          <a:xfrm>
            <a:off x="7022592" y="3346704"/>
            <a:ext cx="164592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333488" y="2743200"/>
            <a:ext cx="1719072" cy="1444752"/>
          </a:xfrm>
          <a:prstGeom prst="roundRect">
            <a:avLst>
              <a:gd name="adj" fmla="val 253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24928" y="2871216"/>
            <a:ext cx="109728" cy="1188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58952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ajustar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589520" y="3200400"/>
            <a:ext cx="1371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espacio, alineación y respuesta</a:t>
            </a:r>
            <a:endParaRPr lang="en-US" sz="1010" dirty="0"/>
          </a:p>
        </p:txBody>
      </p:sp>
      <p:sp>
        <p:nvSpPr>
          <p:cNvPr id="29" name="Shape 26"/>
          <p:cNvSpPr/>
          <p:nvPr/>
        </p:nvSpPr>
        <p:spPr>
          <a:xfrm>
            <a:off x="9454896" y="2523744"/>
            <a:ext cx="1261872" cy="1865376"/>
          </a:xfrm>
          <a:prstGeom prst="roundRect">
            <a:avLst>
              <a:gd name="adj" fmla="val 289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546336" y="2651760"/>
            <a:ext cx="109728" cy="16093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710928" y="26334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460" dirty="0"/>
          </a:p>
        </p:txBody>
      </p:sp>
      <p:sp>
        <p:nvSpPr>
          <p:cNvPr id="32" name="Text 29"/>
          <p:cNvSpPr/>
          <p:nvPr/>
        </p:nvSpPr>
        <p:spPr>
          <a:xfrm>
            <a:off x="9710928" y="2980944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orden,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claridad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menos hacks</a:t>
            </a:r>
            <a:endParaRPr lang="en-US" sz="94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simple: una interfaz usa ambas herramientas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Pensar un caso concreto ayuda más que memorizar listas aisladas de propiedades.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5522976" cy="29260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139696"/>
            <a:ext cx="5522976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267712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33856" y="2267712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2267712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08176" y="2240280"/>
            <a:ext cx="4608576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54480" y="2276856"/>
            <a:ext cx="4352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1024128" y="2706624"/>
            <a:ext cx="5157216" cy="402336"/>
          </a:xfrm>
          <a:prstGeom prst="roundRect">
            <a:avLst>
              <a:gd name="adj" fmla="val 681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33856" y="2816352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de ejemplo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42416" y="3273552"/>
            <a:ext cx="166420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61488" y="3273552"/>
            <a:ext cx="1664208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3273552"/>
            <a:ext cx="166420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" y="4133088"/>
            <a:ext cx="5157216" cy="457200"/>
          </a:xfrm>
          <a:prstGeom prst="roundRect">
            <a:avLst>
              <a:gd name="adj" fmla="val 6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11696" y="2304288"/>
            <a:ext cx="3767328" cy="822960"/>
          </a:xfrm>
          <a:prstGeom prst="roundRect">
            <a:avLst>
              <a:gd name="adj" fmla="val 3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84848" y="2414016"/>
            <a:ext cx="100584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67728" y="24323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para la estructura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967728" y="270662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 + sidebar + contenido principal como regiones de la pantalla.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711696" y="3401568"/>
            <a:ext cx="3767328" cy="822960"/>
          </a:xfrm>
          <a:prstGeom prst="roundRect">
            <a:avLst>
              <a:gd name="adj" fmla="val 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4848" y="3511296"/>
            <a:ext cx="100584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67728" y="35295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Flexbox para grupos internos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967728" y="380390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botones, navegación y acciones dentro de un mismo bloque.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711696" y="4498848"/>
            <a:ext cx="3767328" cy="822960"/>
          </a:xfrm>
          <a:prstGeom prst="roundRect">
            <a:avLst>
              <a:gd name="adj" fmla="val 333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784848" y="4608576"/>
            <a:ext cx="100584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67728" y="462686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útil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967728" y="490118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no elige una sola herramienta: combina la adecuada según el problema.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Layout moderno también expresa criterio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que algo entre en la pantalla: conviene que la distribución sea legible, razonable y mantenible.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3090672" cy="2999232"/>
          </a:xfrm>
          <a:prstGeom prst="roundRect">
            <a:avLst>
              <a:gd name="adj" fmla="val 12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67712"/>
            <a:ext cx="283464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40864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Caja y espacio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60704" y="2816352"/>
            <a:ext cx="2688336" cy="2011680"/>
          </a:xfrm>
          <a:prstGeom prst="roundRect">
            <a:avLst>
              <a:gd name="adj" fmla="val 1364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2871216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60" dirty="0"/>
          </a:p>
        </p:txBody>
      </p:sp>
      <p:sp>
        <p:nvSpPr>
          <p:cNvPr id="15" name="Text 12"/>
          <p:cNvSpPr/>
          <p:nvPr/>
        </p:nvSpPr>
        <p:spPr>
          <a:xfrm>
            <a:off x="3108960" y="2871216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24px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267968" y="3023616"/>
            <a:ext cx="2273808" cy="1597152"/>
          </a:xfrm>
          <a:prstGeom prst="roundRect">
            <a:avLst>
              <a:gd name="adj" fmla="val 1718"/>
            </a:avLst>
          </a:prstGeom>
          <a:solidFill>
            <a:srgbClr val="E6EEF7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7696" y="3078480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border</a:t>
            </a:r>
            <a:endParaRPr lang="en-US" sz="860" dirty="0"/>
          </a:p>
        </p:txBody>
      </p:sp>
      <p:sp>
        <p:nvSpPr>
          <p:cNvPr id="18" name="Text 15"/>
          <p:cNvSpPr/>
          <p:nvPr/>
        </p:nvSpPr>
        <p:spPr>
          <a:xfrm>
            <a:off x="2901696" y="3078480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2px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1475232" y="3230880"/>
            <a:ext cx="1859280" cy="1182624"/>
          </a:xfrm>
          <a:prstGeom prst="roundRect">
            <a:avLst>
              <a:gd name="adj" fmla="val 2320"/>
            </a:avLst>
          </a:prstGeom>
          <a:solidFill>
            <a:srgbClr val="EDE6DA"/>
          </a:solidFill>
          <a:ln w="12700">
            <a:solidFill>
              <a:srgbClr val="EADF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84960" y="3285744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</a:t>
            </a:r>
            <a:endParaRPr lang="en-US" sz="860" dirty="0"/>
          </a:p>
        </p:txBody>
      </p:sp>
      <p:sp>
        <p:nvSpPr>
          <p:cNvPr id="21" name="Text 18"/>
          <p:cNvSpPr/>
          <p:nvPr/>
        </p:nvSpPr>
        <p:spPr>
          <a:xfrm>
            <a:off x="2694432" y="3285744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16px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1682496" y="3438144"/>
            <a:ext cx="1444752" cy="768096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792224" y="349300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860" dirty="0"/>
          </a:p>
        </p:txBody>
      </p:sp>
      <p:sp>
        <p:nvSpPr>
          <p:cNvPr id="24" name="Text 21"/>
          <p:cNvSpPr/>
          <p:nvPr/>
        </p:nvSpPr>
        <p:spPr>
          <a:xfrm>
            <a:off x="2487168" y="349300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320 x 120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4242816" y="2267712"/>
            <a:ext cx="1865376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34256" y="2395728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98848" y="23774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legibilidad</a:t>
            </a:r>
            <a:endParaRPr lang="en-US" sz="1540" dirty="0"/>
          </a:p>
        </p:txBody>
      </p:sp>
      <p:sp>
        <p:nvSpPr>
          <p:cNvPr id="28" name="Text 25"/>
          <p:cNvSpPr/>
          <p:nvPr/>
        </p:nvSpPr>
        <p:spPr>
          <a:xfrm>
            <a:off x="4498848" y="2724912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bloques mejor organizados se entienden y recorren mejor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4242816" y="3566160"/>
            <a:ext cx="1865376" cy="1060704"/>
          </a:xfrm>
          <a:prstGeom prst="roundRect">
            <a:avLst>
              <a:gd name="adj" fmla="val 344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334256" y="3694176"/>
            <a:ext cx="109728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98848" y="36758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</a:t>
            </a:r>
            <a:endParaRPr lang="en-US" sz="1540" dirty="0"/>
          </a:p>
        </p:txBody>
      </p:sp>
      <p:sp>
        <p:nvSpPr>
          <p:cNvPr id="32" name="Text 29"/>
          <p:cNvSpPr/>
          <p:nvPr/>
        </p:nvSpPr>
        <p:spPr>
          <a:xfrm>
            <a:off x="4498848" y="4023360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menos hacks y más intención hacen más razonable corregir después</a:t>
            </a:r>
            <a:endParaRPr lang="en-US" sz="980" dirty="0"/>
          </a:p>
        </p:txBody>
      </p:sp>
      <p:sp>
        <p:nvSpPr>
          <p:cNvPr id="33" name="Shape 30"/>
          <p:cNvSpPr/>
          <p:nvPr/>
        </p:nvSpPr>
        <p:spPr>
          <a:xfrm>
            <a:off x="6364224" y="2267712"/>
            <a:ext cx="1865376" cy="1060704"/>
          </a:xfrm>
          <a:prstGeom prst="roundRect">
            <a:avLst>
              <a:gd name="adj" fmla="val 344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55664" y="2395728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20256" y="23774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adaptación</a:t>
            </a:r>
            <a:endParaRPr lang="en-US" sz="1540" dirty="0"/>
          </a:p>
        </p:txBody>
      </p:sp>
      <p:sp>
        <p:nvSpPr>
          <p:cNvPr id="36" name="Text 33"/>
          <p:cNvSpPr/>
          <p:nvPr/>
        </p:nvSpPr>
        <p:spPr>
          <a:xfrm>
            <a:off x="6620256" y="2724912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responsive mejora cuando el layout ya nació con criterio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6364224" y="3566160"/>
            <a:ext cx="1865376" cy="1060704"/>
          </a:xfrm>
          <a:prstGeom prst="roundRect">
            <a:avLst>
              <a:gd name="adj" fmla="val 344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55664" y="3694176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20256" y="36758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diagnóstico</a:t>
            </a:r>
            <a:endParaRPr lang="en-US" sz="1540" dirty="0"/>
          </a:p>
        </p:txBody>
      </p:sp>
      <p:sp>
        <p:nvSpPr>
          <p:cNvPr id="40" name="Text 37"/>
          <p:cNvSpPr/>
          <p:nvPr/>
        </p:nvSpPr>
        <p:spPr>
          <a:xfrm>
            <a:off x="6620256" y="4023360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estructura clara se inspecciona mejor y se rompe menos</a:t>
            </a:r>
            <a:endParaRPr lang="en-US" sz="980" dirty="0"/>
          </a:p>
        </p:txBody>
      </p:sp>
      <p:sp>
        <p:nvSpPr>
          <p:cNvPr id="41" name="Shape 38"/>
          <p:cNvSpPr/>
          <p:nvPr/>
        </p:nvSpPr>
        <p:spPr>
          <a:xfrm>
            <a:off x="8540496" y="2139696"/>
            <a:ext cx="2139696" cy="2999232"/>
          </a:xfrm>
          <a:prstGeom prst="roundRect">
            <a:avLst>
              <a:gd name="adj" fmla="val 170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796528" y="2926080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layout bien elegido</a:t>
            </a:r>
            <a:endParaRPr lang="en-US" sz="1840" dirty="0"/>
          </a:p>
          <a:p>
            <a:pPr algn="ctr" indent="0" marL="0">
              <a:buNone/>
            </a:pPr>
            <a:r>
              <a:rPr lang="en-US" sz="18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solo se ve mejor:</a:t>
            </a:r>
            <a:endParaRPr lang="en-US" sz="1840" dirty="0"/>
          </a:p>
          <a:p>
            <a:pPr algn="ctr" indent="0" marL="0">
              <a:buNone/>
            </a:pPr>
            <a:r>
              <a:rPr lang="en-US" sz="18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piensa mejor el espacio.</a:t>
            </a:r>
            <a:endParaRPr lang="en-US" sz="184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guía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fijar cuándo pensar en secuencia, cuándo pensar en estructura y cómo leer el layout con más criterio.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4535424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40864"/>
            <a:ext cx="109728" cy="987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2257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70432" y="2670048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distribuir elementos también es una decisión técnica y no solo visual?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053328" y="2212848"/>
            <a:ext cx="4535424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44768" y="2340864"/>
            <a:ext cx="109728" cy="9875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232257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309360" y="2670048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tipo de problema espacial resuelve mejor Flexbox?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914400" y="3767328"/>
            <a:ext cx="4535424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895344"/>
            <a:ext cx="109728" cy="9875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87705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70432" y="4224528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la interfaz se piensa como estructura y no solo como secuencia?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6053328" y="3767328"/>
            <a:ext cx="4535424" cy="1243584"/>
          </a:xfrm>
          <a:prstGeom prst="roundRect">
            <a:avLst>
              <a:gd name="adj" fmla="val 294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44768" y="3895344"/>
            <a:ext cx="109728" cy="9875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9360" y="387705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309360" y="4224528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Flexbox y Grid suelen convivir en una misma pantalla?</a:t>
            </a:r>
            <a:endParaRPr lang="en-US" sz="114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y Grid prolongan la misma lógica de orden y criterio visual trabajada en toda la clase.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176272"/>
            <a:ext cx="5888736" cy="2962656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04288"/>
            <a:ext cx="109728" cy="2706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286000"/>
            <a:ext cx="5541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920" dirty="0"/>
          </a:p>
        </p:txBody>
      </p:sp>
      <p:sp>
        <p:nvSpPr>
          <p:cNvPr id="13" name="Text 10"/>
          <p:cNvSpPr/>
          <p:nvPr/>
        </p:nvSpPr>
        <p:spPr>
          <a:xfrm>
            <a:off x="1170432" y="2633472"/>
            <a:ext cx="55412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y Grid permiten distribuir interfaces modernas con más claridad, precisión y control que enfoques improvisados. La diferencia no está en memorizar más propiedades, sino en leer mejor el tipo de problema espacial que tenemos delante.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1133856" y="52852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5321808"/>
            <a:ext cx="859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267712" y="5285232"/>
            <a:ext cx="1024128" cy="256032"/>
          </a:xfrm>
          <a:prstGeom prst="roundRect">
            <a:avLst>
              <a:gd name="adj" fmla="val 1785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40864" y="5321808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438144" y="5285232"/>
            <a:ext cx="1078992" cy="256032"/>
          </a:xfrm>
          <a:prstGeom prst="roundRect">
            <a:avLst>
              <a:gd name="adj" fmla="val 17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11296" y="532180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responsive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63440" y="5285232"/>
            <a:ext cx="914400" cy="256032"/>
          </a:xfrm>
          <a:prstGeom prst="roundRect">
            <a:avLst>
              <a:gd name="adj" fmla="val 1785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36592" y="5321808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114032" y="2176272"/>
            <a:ext cx="3657600" cy="2962656"/>
          </a:xfrm>
          <a:prstGeom prst="roundRect">
            <a:avLst>
              <a:gd name="adj" fmla="val 123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205472" y="2304288"/>
            <a:ext cx="109728" cy="2706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70064" y="228600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al cierre</a:t>
            </a:r>
            <a:endParaRPr lang="en-US" sz="1820" dirty="0"/>
          </a:p>
        </p:txBody>
      </p:sp>
      <p:sp>
        <p:nvSpPr>
          <p:cNvPr id="25" name="Text 22"/>
          <p:cNvSpPr/>
          <p:nvPr/>
        </p:nvSpPr>
        <p:spPr>
          <a:xfrm>
            <a:off x="7370064" y="2633472"/>
            <a:ext cx="33101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podemos mirar la clase completa como una progresión: reglas, conflicto, decisiones reutilizables y finalmente distribución espacial con herramientas modernas.</a:t>
            </a:r>
            <a:endParaRPr lang="en-US" sz="11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moderno se entiende mejor cuando deja de verse como maquillaje y empieza a leerse como sistema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1133856" y="2121408"/>
            <a:ext cx="9582912" cy="731520"/>
          </a:xfrm>
          <a:prstGeom prst="roundRect">
            <a:avLst>
              <a:gd name="adj" fmla="val 5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35024" y="2286000"/>
            <a:ext cx="9180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-&gt; conflicto -&gt; consistencia -&gt; layout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969264" y="3346704"/>
            <a:ext cx="1993392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60704" y="3474720"/>
            <a:ext cx="109728" cy="14996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25296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reglas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25296" y="3803904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selector, propiedad y valor como base del estilo</a:t>
            </a:r>
            <a:endParaRPr lang="en-US" sz="1040" dirty="0"/>
          </a:p>
        </p:txBody>
      </p:sp>
      <p:sp>
        <p:nvSpPr>
          <p:cNvPr id="16" name="Shape 13"/>
          <p:cNvSpPr/>
          <p:nvPr/>
        </p:nvSpPr>
        <p:spPr>
          <a:xfrm>
            <a:off x="3511296" y="3346704"/>
            <a:ext cx="1993392" cy="1755648"/>
          </a:xfrm>
          <a:prstGeom prst="roundRect">
            <a:avLst>
              <a:gd name="adj" fmla="val 208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02736" y="3474720"/>
            <a:ext cx="109728" cy="14996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67328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conflicto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767328" y="3803904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cascada, herencia y especificidad explican el resultado</a:t>
            </a:r>
            <a:endParaRPr lang="en-US" sz="1040" dirty="0"/>
          </a:p>
        </p:txBody>
      </p:sp>
      <p:sp>
        <p:nvSpPr>
          <p:cNvPr id="20" name="Shape 17"/>
          <p:cNvSpPr/>
          <p:nvPr/>
        </p:nvSpPr>
        <p:spPr>
          <a:xfrm>
            <a:off x="6053328" y="3346704"/>
            <a:ext cx="1993392" cy="1755648"/>
          </a:xfrm>
          <a:prstGeom prst="roundRect">
            <a:avLst>
              <a:gd name="adj" fmla="val 208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44768" y="3474720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sistema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309360" y="3803904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tokens reducen repetición y ordenan criterio</a:t>
            </a:r>
            <a:endParaRPr lang="en-US" sz="1040" dirty="0"/>
          </a:p>
        </p:txBody>
      </p:sp>
      <p:sp>
        <p:nvSpPr>
          <p:cNvPr id="24" name="Shape 21"/>
          <p:cNvSpPr/>
          <p:nvPr/>
        </p:nvSpPr>
        <p:spPr>
          <a:xfrm>
            <a:off x="8595360" y="3346704"/>
            <a:ext cx="1993392" cy="1755648"/>
          </a:xfrm>
          <a:prstGeom prst="roundRect">
            <a:avLst>
              <a:gd name="adj" fmla="val 208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0" y="3474720"/>
            <a:ext cx="109728" cy="14996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851392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layout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851392" y="3803904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y Grid organizan espacio con más control</a:t>
            </a:r>
            <a:endParaRPr lang="en-US" sz="104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Ideas que deberían quedar instaladas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recordar listas sueltas, sino quedarse con una lectura técnica más estable de CSS.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87552" y="2139696"/>
            <a:ext cx="961948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267712"/>
            <a:ext cx="109728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43584" y="2249424"/>
            <a:ext cx="9272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</a:t>
            </a:r>
            <a:endParaRPr lang="en-US" sz="1580" dirty="0"/>
          </a:p>
        </p:txBody>
      </p:sp>
      <p:sp>
        <p:nvSpPr>
          <p:cNvPr id="13" name="Text 10"/>
          <p:cNvSpPr/>
          <p:nvPr/>
        </p:nvSpPr>
        <p:spPr>
          <a:xfrm>
            <a:off x="1243584" y="2596896"/>
            <a:ext cx="9272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no maquilla: organiza presentación y criterio visual.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987552" y="2999232"/>
            <a:ext cx="9619488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127248"/>
            <a:ext cx="109728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43584" y="3108960"/>
            <a:ext cx="9272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</a:t>
            </a:r>
            <a:endParaRPr lang="en-US" sz="1580" dirty="0"/>
          </a:p>
        </p:txBody>
      </p:sp>
      <p:sp>
        <p:nvSpPr>
          <p:cNvPr id="17" name="Text 14"/>
          <p:cNvSpPr/>
          <p:nvPr/>
        </p:nvSpPr>
        <p:spPr>
          <a:xfrm>
            <a:off x="1243584" y="3456432"/>
            <a:ext cx="9272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estilo no cambia, conviene leer cascada, herencia y especificidad antes de tocar cosas al azar.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987552" y="3858768"/>
            <a:ext cx="961948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8992" y="3986784"/>
            <a:ext cx="109728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43584" y="3968496"/>
            <a:ext cx="9272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</a:t>
            </a:r>
            <a:endParaRPr lang="en-US" sz="1580" dirty="0"/>
          </a:p>
        </p:txBody>
      </p:sp>
      <p:sp>
        <p:nvSpPr>
          <p:cNvPr id="21" name="Text 18"/>
          <p:cNvSpPr/>
          <p:nvPr/>
        </p:nvSpPr>
        <p:spPr>
          <a:xfrm>
            <a:off x="1243584" y="4315968"/>
            <a:ext cx="9272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CSS ayudan a centralizar decisiones y a hablar de tokens en vez de repetir valores.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987552" y="4718304"/>
            <a:ext cx="9619488" cy="676656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8992" y="4846320"/>
            <a:ext cx="109728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43584" y="4828032"/>
            <a:ext cx="9272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</a:t>
            </a:r>
            <a:endParaRPr lang="en-US" sz="1580" dirty="0"/>
          </a:p>
        </p:txBody>
      </p:sp>
      <p:sp>
        <p:nvSpPr>
          <p:cNvPr id="25" name="Text 22"/>
          <p:cNvSpPr/>
          <p:nvPr/>
        </p:nvSpPr>
        <p:spPr>
          <a:xfrm>
            <a:off x="1243584" y="5175504"/>
            <a:ext cx="9272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Flexbox y Grid no compiten: resuelven problemas espaciales distintos y suelen convivir.</a:t>
            </a:r>
            <a:endParaRPr lang="en-US" sz="122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 la siguiente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próxima sesión tomará esta base para entrar a responsive design, media queries y adaptación visual con más profundidad.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6583680" cy="2633472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40864"/>
            <a:ext cx="63276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32304"/>
            <a:ext cx="61081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viene: adaptación más explícita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1078992" y="2724912"/>
            <a:ext cx="3008376" cy="1956816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2871216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actual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099816" y="2852928"/>
            <a:ext cx="877824" cy="310896"/>
          </a:xfrm>
          <a:prstGeom prst="roundRect">
            <a:avLst>
              <a:gd name="adj" fmla="val 1470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72968" y="28895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claro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1188720" y="3236976"/>
            <a:ext cx="2788920" cy="512064"/>
          </a:xfrm>
          <a:prstGeom prst="roundRect">
            <a:avLst>
              <a:gd name="adj" fmla="val 3571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261872" y="3310128"/>
            <a:ext cx="2642616" cy="146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61872" y="3547872"/>
            <a:ext cx="1059790" cy="164592"/>
          </a:xfrm>
          <a:prstGeom prst="roundRect">
            <a:avLst>
              <a:gd name="adj" fmla="val 1111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27402" y="3547872"/>
            <a:ext cx="948233" cy="16459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3877056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8448" y="3858768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1188720" y="4078224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8448" y="4059936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1188720" y="427939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8448" y="4261104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20" dirty="0"/>
          </a:p>
        </p:txBody>
      </p:sp>
      <p:sp>
        <p:nvSpPr>
          <p:cNvPr id="27" name="Shape 24"/>
          <p:cNvSpPr/>
          <p:nvPr/>
        </p:nvSpPr>
        <p:spPr>
          <a:xfrm>
            <a:off x="4325112" y="2724912"/>
            <a:ext cx="3008376" cy="1956816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34840" y="2871216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clase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6345936" y="2852928"/>
            <a:ext cx="877824" cy="310896"/>
          </a:xfrm>
          <a:prstGeom prst="roundRect">
            <a:avLst>
              <a:gd name="adj" fmla="val 1470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28895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responsive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434840" y="3236976"/>
            <a:ext cx="2788920" cy="512064"/>
          </a:xfrm>
          <a:prstGeom prst="roundRect">
            <a:avLst>
              <a:gd name="adj" fmla="val 3571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07992" y="3310128"/>
            <a:ext cx="2642616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07992" y="3547872"/>
            <a:ext cx="1059790" cy="164592"/>
          </a:xfrm>
          <a:prstGeom prst="roundRect">
            <a:avLst>
              <a:gd name="adj" fmla="val 111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73522" y="3547872"/>
            <a:ext cx="948233" cy="16459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4840" y="3877056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44568" y="3858768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 queries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4434840" y="4078224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44568" y="4059936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breakpoints</a:t>
            </a:r>
            <a:endParaRPr lang="en-US" sz="920" dirty="0"/>
          </a:p>
        </p:txBody>
      </p:sp>
      <p:sp>
        <p:nvSpPr>
          <p:cNvPr id="39" name="Shape 36"/>
          <p:cNvSpPr/>
          <p:nvPr/>
        </p:nvSpPr>
        <p:spPr>
          <a:xfrm>
            <a:off x="4434840" y="4279392"/>
            <a:ext cx="45720" cy="457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44568" y="4261104"/>
            <a:ext cx="2697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adaptación intencional</a:t>
            </a:r>
            <a:endParaRPr lang="en-US" sz="920" dirty="0"/>
          </a:p>
        </p:txBody>
      </p:sp>
      <p:sp>
        <p:nvSpPr>
          <p:cNvPr id="41" name="Shape 38"/>
          <p:cNvSpPr/>
          <p:nvPr/>
        </p:nvSpPr>
        <p:spPr>
          <a:xfrm>
            <a:off x="4078224" y="3456432"/>
            <a:ext cx="201168" cy="23774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882128" y="2267712"/>
            <a:ext cx="2852928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73568" y="2395728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160" y="237744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Continuidad</a:t>
            </a:r>
            <a:endParaRPr lang="en-US" sz="1660" dirty="0"/>
          </a:p>
        </p:txBody>
      </p:sp>
      <p:sp>
        <p:nvSpPr>
          <p:cNvPr id="45" name="Text 42"/>
          <p:cNvSpPr/>
          <p:nvPr/>
        </p:nvSpPr>
        <p:spPr>
          <a:xfrm>
            <a:off x="8138160" y="27249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hoy se vio en layout será la base para responsive, sistemas visuales y experiencia de interfaz.</a:t>
            </a:r>
            <a:endParaRPr lang="en-US" sz="1060" dirty="0"/>
          </a:p>
        </p:txBody>
      </p:sp>
      <p:sp>
        <p:nvSpPr>
          <p:cNvPr id="46" name="Shape 43"/>
          <p:cNvSpPr/>
          <p:nvPr/>
        </p:nvSpPr>
        <p:spPr>
          <a:xfrm>
            <a:off x="7882128" y="3566160"/>
            <a:ext cx="2852928" cy="1078992"/>
          </a:xfrm>
          <a:prstGeom prst="roundRect">
            <a:avLst>
              <a:gd name="adj" fmla="val 339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73568" y="3694176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38160" y="3675888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útil</a:t>
            </a:r>
            <a:endParaRPr lang="en-US" sz="1660" dirty="0"/>
          </a:p>
        </p:txBody>
      </p:sp>
      <p:sp>
        <p:nvSpPr>
          <p:cNvPr id="49" name="Text 46"/>
          <p:cNvSpPr/>
          <p:nvPr/>
        </p:nvSpPr>
        <p:spPr>
          <a:xfrm>
            <a:off x="8138160" y="4023360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adaptar una interfaz, conviene que sus reglas, tokens y layout ya sean legibles.</a:t>
            </a:r>
            <a:endParaRPr lang="en-US" sz="106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04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09344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capa visual también se diseña, se diagnostica y se mantiene con criterio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50976" y="2212848"/>
            <a:ext cx="4078224" cy="2871216"/>
          </a:xfrm>
          <a:prstGeom prst="roundRect">
            <a:avLst>
              <a:gd name="adj" fmla="val 127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25296" y="266200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09639" y="2523744"/>
            <a:ext cx="184343" cy="4915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24706" y="2662001"/>
            <a:ext cx="153619" cy="3533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090672"/>
            <a:ext cx="276148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 moderno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entiende mejor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cuando se lee como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sistema.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13248" y="2249424"/>
            <a:ext cx="4736592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04688" y="2377440"/>
            <a:ext cx="109728" cy="8595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23591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cerrar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5669280" y="2706624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reglas, conflicto, variables y layout forman una misma conversación técnica sobre interfaces.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5413248" y="3621024"/>
            <a:ext cx="4736592" cy="1115568"/>
          </a:xfrm>
          <a:prstGeom prst="roundRect">
            <a:avLst>
              <a:gd name="adj" fmla="val 327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04688" y="3749040"/>
            <a:ext cx="109728" cy="8595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37307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salida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669280" y="4078224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parte de CSS te cambia más la forma de mirar una interfaz: cascada, variables o layout?</a:t>
            </a:r>
            <a:endParaRPr lang="en-US" sz="10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Moderno - Bloque 1</dc:title>
  <dc:subject>Clase 04</dc:subject>
  <dc:creator>Codex</dc:creator>
  <cp:lastModifiedBy>Codex</cp:lastModifiedBy>
  <cp:revision>1</cp:revision>
  <dcterms:created xsi:type="dcterms:W3CDTF">2026-03-15T18:04:23Z</dcterms:created>
  <dcterms:modified xsi:type="dcterms:W3CDTF">2026-03-15T18:04:23Z</dcterms:modified>
</cp:coreProperties>
</file>