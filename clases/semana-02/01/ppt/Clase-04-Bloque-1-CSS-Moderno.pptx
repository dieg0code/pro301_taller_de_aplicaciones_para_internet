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950976"/>
            <a:ext cx="109728" cy="4663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099475"/>
            <a:ext cx="307238" cy="706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5342" y="822960"/>
            <a:ext cx="368686" cy="98316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5476" y="1099475"/>
            <a:ext cx="307238" cy="706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731520"/>
            <a:ext cx="3246120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2256" y="859536"/>
            <a:ext cx="2483104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Semana 02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2688" y="18470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moderno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50976" y="256032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Cascada, variables,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 y Grid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50976" y="3675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CSS como sistema de reglas, no como maquillaje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0976" y="4608576"/>
            <a:ext cx="2670048" cy="749808"/>
          </a:xfrm>
          <a:prstGeom prst="roundRect">
            <a:avLst>
              <a:gd name="adj" fmla="val 4878"/>
            </a:avLst>
          </a:prstGeom>
          <a:solidFill>
            <a:srgbClr val="295596"/>
          </a:solidFill>
          <a:ln w="12700">
            <a:solidFill>
              <a:srgbClr val="29559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22192" y="4608576"/>
            <a:ext cx="3493008" cy="749808"/>
          </a:xfrm>
          <a:prstGeom prst="roundRect">
            <a:avLst>
              <a:gd name="adj" fmla="val 48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4782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 23 de marzo de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10:00 - 13:00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1648" y="4828032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 visual también se diseña con criterio técnico.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CSS aparece como lenguaje de reglas, conflicto, sistema y distribución.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731520" y="2048256"/>
            <a:ext cx="1847088" cy="1938528"/>
          </a:xfrm>
          <a:prstGeom prst="roundRect">
            <a:avLst>
              <a:gd name="adj" fmla="val 198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2311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" y="27614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como sistema de reglas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16352" y="2048256"/>
            <a:ext cx="1847088" cy="193852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2656" y="22311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62656" y="27614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Cascada, herencia y especificidad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01184" y="2048256"/>
            <a:ext cx="1847088" cy="1938528"/>
          </a:xfrm>
          <a:prstGeom prst="roundRect">
            <a:avLst>
              <a:gd name="adj" fmla="val 198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7488" y="22311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47488" y="27614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y consistencia visual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86016" y="2048256"/>
            <a:ext cx="1847088" cy="1938528"/>
          </a:xfrm>
          <a:prstGeom prst="roundRect">
            <a:avLst>
              <a:gd name="adj" fmla="val 198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22311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32320" y="27614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 y Grid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633472" y="2907792"/>
            <a:ext cx="201168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2907792"/>
            <a:ext cx="201168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03136" y="2907792"/>
            <a:ext cx="201168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80160" y="4535424"/>
            <a:ext cx="9601200" cy="676656"/>
          </a:xfrm>
          <a:prstGeom prst="roundRect">
            <a:avLst>
              <a:gd name="adj" fmla="val 54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81328" y="4700016"/>
            <a:ext cx="9198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→ conflicto → consistencia → layout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 · CSS como sistema de reglas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central es simple: la apariencia también se construye con lógica técnica.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22960" y="2139696"/>
            <a:ext cx="3712464" cy="3035808"/>
          </a:xfrm>
          <a:prstGeom prst="roundRect">
            <a:avLst>
              <a:gd name="adj" fmla="val 12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545690"/>
            <a:ext cx="146304" cy="3364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54557" y="2414016"/>
            <a:ext cx="175565" cy="46817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59382" y="2545690"/>
            <a:ext cx="146304" cy="3364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108960"/>
            <a:ext cx="2377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organiza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 y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espacio.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78992" y="4645152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46817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&lt;selector&gt;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194560" y="4645152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67712" y="4681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&lt;propiedad&gt;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19856" y="4645152"/>
            <a:ext cx="896112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93008" y="4681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&lt;valor&gt;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01184" y="2231136"/>
            <a:ext cx="3730752" cy="2267712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01184" y="2231136"/>
            <a:ext cx="373075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47488" y="235915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93792" y="235915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40096" y="235915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68112" y="2331720"/>
            <a:ext cx="281635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14416" y="236829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https://demo.local/cards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5084064" y="2798064"/>
            <a:ext cx="3364992" cy="402336"/>
          </a:xfrm>
          <a:prstGeom prst="roundRect">
            <a:avLst>
              <a:gd name="adj" fmla="val 681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93792" y="2907792"/>
            <a:ext cx="3145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102352" y="3364992"/>
            <a:ext cx="163677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84848" y="3364992"/>
            <a:ext cx="163677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02352" y="4005072"/>
            <a:ext cx="163677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84848" y="4005072"/>
            <a:ext cx="163677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05472" y="4663440"/>
            <a:ext cx="1060704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87968" y="2249424"/>
            <a:ext cx="1938528" cy="859536"/>
          </a:xfrm>
          <a:prstGeom prst="roundRect">
            <a:avLst>
              <a:gd name="adj" fmla="val 425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79408" y="2377440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0" y="235915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</a:t>
            </a:r>
            <a:endParaRPr lang="en-US" sz="1560" dirty="0"/>
          </a:p>
        </p:txBody>
      </p:sp>
      <p:sp>
        <p:nvSpPr>
          <p:cNvPr id="38" name="Text 35"/>
          <p:cNvSpPr/>
          <p:nvPr/>
        </p:nvSpPr>
        <p:spPr>
          <a:xfrm>
            <a:off x="9144000" y="27066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visible nace desde declaraciones concretas.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8887968" y="3145536"/>
            <a:ext cx="1938528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979408" y="3273552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0" y="325526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560" dirty="0"/>
          </a:p>
        </p:txBody>
      </p:sp>
      <p:sp>
        <p:nvSpPr>
          <p:cNvPr id="42" name="Text 39"/>
          <p:cNvSpPr/>
          <p:nvPr/>
        </p:nvSpPr>
        <p:spPr>
          <a:xfrm>
            <a:off x="9144000" y="360273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pesa igual ni todo debería escribirse al azar.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8887968" y="4041648"/>
            <a:ext cx="1938528" cy="877824"/>
          </a:xfrm>
          <a:prstGeom prst="roundRect">
            <a:avLst>
              <a:gd name="adj" fmla="val 41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79408" y="4169664"/>
            <a:ext cx="109728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144000" y="415137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560" dirty="0"/>
          </a:p>
        </p:txBody>
      </p:sp>
      <p:sp>
        <p:nvSpPr>
          <p:cNvPr id="46" name="Text 43"/>
          <p:cNvSpPr/>
          <p:nvPr/>
        </p:nvSpPr>
        <p:spPr>
          <a:xfrm>
            <a:off x="9144000" y="44988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también decide cómo se ordena lo que aparece en pantalla.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estructura, CSS presenta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página necesita una capa para significado y otra para presentación.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22960" y="2139696"/>
            <a:ext cx="3694176" cy="296265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267712"/>
            <a:ext cx="109728" cy="2706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2494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78992" y="2596896"/>
            <a:ext cx="3346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qué es cada parte del documento: títulos, secciones, formularios, navegación y contenido principal.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81728" y="2139696"/>
            <a:ext cx="3694176" cy="2962656"/>
          </a:xfrm>
          <a:prstGeom prst="roundRect">
            <a:avLst>
              <a:gd name="adj" fmla="val 12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3168" y="2267712"/>
            <a:ext cx="109728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22494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937760" y="2596896"/>
            <a:ext cx="3346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cómo se ve esa estructura: color, tamaño, espaciado, alineación, distribución y estados visuales.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53712" y="3291840"/>
            <a:ext cx="146304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68512" y="2212848"/>
            <a:ext cx="2615184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87968" y="2432304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0" y="25054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10040112" y="2432304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13264" y="25054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</a:t>
            </a:r>
            <a:endParaRPr lang="en-US" sz="890" dirty="0"/>
          </a:p>
        </p:txBody>
      </p:sp>
      <p:sp>
        <p:nvSpPr>
          <p:cNvPr id="24" name="Text 21"/>
          <p:cNvSpPr/>
          <p:nvPr/>
        </p:nvSpPr>
        <p:spPr>
          <a:xfrm>
            <a:off x="8924544" y="2834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organiza contenido.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otra organiza apariencia.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1078992" y="5230368"/>
            <a:ext cx="10003536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80160" y="5394960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estructura y presentación mejora lectura, corrección y mantenimiento.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contenido a la interfaz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apariencia final no aparece por magia: nace de una estructura y de reglas escritas sobre ella.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231136"/>
            <a:ext cx="21945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35915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4086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2688336"/>
            <a:ext cx="1847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acciones, bloques y jerarquía del documento.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45536" y="2706624"/>
            <a:ext cx="274320" cy="2560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9584" y="2157984"/>
            <a:ext cx="2651760" cy="1481328"/>
          </a:xfrm>
          <a:prstGeom prst="roundRect">
            <a:avLst>
              <a:gd name="adj" fmla="val 18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02736" y="2267712"/>
            <a:ext cx="100584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85616" y="228600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CSS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785616" y="2560320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Selectores, propiedades y valores convierten intención visual en instrucciones.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45936" y="2706624"/>
            <a:ext cx="27432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2084832"/>
            <a:ext cx="3712464" cy="2615184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2084832"/>
            <a:ext cx="371246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12864" y="221284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59168" y="221284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05472" y="221284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33488" y="2185416"/>
            <a:ext cx="279806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79792" y="2221992"/>
            <a:ext cx="2542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949440" y="2651760"/>
            <a:ext cx="3346704" cy="402336"/>
          </a:xfrm>
          <a:prstGeom prst="roundRect">
            <a:avLst>
              <a:gd name="adj" fmla="val 68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59168" y="2761488"/>
            <a:ext cx="3127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67728" y="3218688"/>
            <a:ext cx="1060704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83296" y="3218688"/>
            <a:ext cx="1060704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98864" y="3218688"/>
            <a:ext cx="1060704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4078224"/>
            <a:ext cx="3346704" cy="457200"/>
          </a:xfrm>
          <a:prstGeom prst="roundRect">
            <a:avLst>
              <a:gd name="adj" fmla="val 6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52144" y="5175504"/>
            <a:ext cx="9893808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53312" y="5340096"/>
            <a:ext cx="9491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bien resuelta no es solo bonita: es una consecuencia de decisiones legibles.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una regla CSS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cambio visible responde a una declaración concreta que el navegador puede leer y aplicar.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22960" y="2139696"/>
            <a:ext cx="4663440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249424"/>
            <a:ext cx="44074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22576"/>
            <a:ext cx="4187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42416" y="2706624"/>
            <a:ext cx="42245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#102a43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32px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547104" y="2267712"/>
            <a:ext cx="1993392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0256" y="2377440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03136" y="239572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03136" y="267004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a qué elemento apunta la regla.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47104" y="3236976"/>
            <a:ext cx="1993392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0256" y="3346704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03136" y="336499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propiedad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03136" y="36393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qué aspecto se quiere controlar.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96528" y="2761488"/>
            <a:ext cx="1865376" cy="109728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87968" y="2889504"/>
            <a:ext cx="109728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52560" y="28712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052560" y="321868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Expresa con qué criterio se aplica esa propiedad visual.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1163409" y="2731715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04688" y="2717524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2791590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791590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42762" y="2706624"/>
            <a:ext cx="16459" cy="9319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50992" y="2698394"/>
            <a:ext cx="89611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38874" y="2688336"/>
            <a:ext cx="16459" cy="1828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66115" y="2910938"/>
            <a:ext cx="512796" cy="164592"/>
          </a:xfrm>
          <a:prstGeom prst="roundRect">
            <a:avLst>
              <a:gd name="adj" fmla="val 22222"/>
            </a:avLst>
          </a:prstGeom>
          <a:solidFill>
            <a:srgbClr val="E6EEF7">
              <a:alpha val="32000"/>
            </a:srgbClr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04688" y="2896746"/>
            <a:ext cx="73152" cy="164592"/>
          </a:xfrm>
          <a:prstGeom prst="roundRect">
            <a:avLst>
              <a:gd name="adj" fmla="val 6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0" y="2970812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77840" y="2970812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42762" y="2979042"/>
            <a:ext cx="16459" cy="73342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50992" y="3704234"/>
            <a:ext cx="89611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38874" y="3657600"/>
            <a:ext cx="16459" cy="5486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753600" y="2910938"/>
            <a:ext cx="652077" cy="164592"/>
          </a:xfrm>
          <a:prstGeom prst="roundRect">
            <a:avLst>
              <a:gd name="adj" fmla="val 22222"/>
            </a:avLst>
          </a:prstGeom>
          <a:solidFill>
            <a:srgbClr val="F2E7D9">
              <a:alpha val="32000"/>
            </a:srgbClr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04688" y="2896746"/>
            <a:ext cx="73152" cy="164592"/>
          </a:xfrm>
          <a:prstGeom prst="roundRect">
            <a:avLst>
              <a:gd name="adj" fmla="val 6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86400" y="2970812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77840" y="2970812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42762" y="2979042"/>
            <a:ext cx="16459" cy="113575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650992" y="4106570"/>
            <a:ext cx="3145536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788298" y="3310128"/>
            <a:ext cx="16459" cy="80467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estructura puede verse distinto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presentación no cambia el significado estructural del documento.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4754880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103120"/>
            <a:ext cx="4754880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23113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2231136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2231136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2203704"/>
            <a:ext cx="38404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2240280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24128" y="2670048"/>
            <a:ext cx="4389120" cy="402336"/>
          </a:xfrm>
          <a:prstGeom prst="roundRect">
            <a:avLst>
              <a:gd name="adj" fmla="val 68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2779776"/>
            <a:ext cx="4169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42416" y="3236976"/>
            <a:ext cx="1408176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05456" y="3236976"/>
            <a:ext cx="1408176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68496" y="3236976"/>
            <a:ext cx="1408176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4128" y="4096512"/>
            <a:ext cx="4389120" cy="457200"/>
          </a:xfrm>
          <a:prstGeom prst="roundRect">
            <a:avLst>
              <a:gd name="adj" fmla="val 6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65392" y="2103120"/>
            <a:ext cx="4754880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103120"/>
            <a:ext cx="4754880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11696" y="223113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0" y="2231136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04304" y="2231136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32320" y="2203704"/>
            <a:ext cx="38404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78624" y="2240280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https://demo.local/cards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6748272" y="2670048"/>
            <a:ext cx="4389120" cy="402336"/>
          </a:xfrm>
          <a:prstGeom prst="roundRect">
            <a:avLst>
              <a:gd name="adj" fmla="val 681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58000" y="2779776"/>
            <a:ext cx="4169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766560" y="3236976"/>
            <a:ext cx="2148840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61120" y="3236976"/>
            <a:ext cx="21488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66560" y="3877056"/>
            <a:ext cx="21488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61120" y="3877056"/>
            <a:ext cx="21488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93808" y="4535424"/>
            <a:ext cx="1060704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95728" y="5248656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68880" y="532180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A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8119872" y="5248656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93024" y="532180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B</a:t>
            </a:r>
            <a:endParaRPr lang="en-US" sz="890" dirty="0"/>
          </a:p>
        </p:txBody>
      </p:sp>
      <p:sp>
        <p:nvSpPr>
          <p:cNvPr id="41" name="Shape 38"/>
          <p:cNvSpPr/>
          <p:nvPr/>
        </p:nvSpPr>
        <p:spPr>
          <a:xfrm>
            <a:off x="1225296" y="5650992"/>
            <a:ext cx="9729216" cy="402336"/>
          </a:xfrm>
          <a:prstGeom prst="roundRect">
            <a:avLst>
              <a:gd name="adj" fmla="val 909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26464" y="5815584"/>
            <a:ext cx="9326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HTML sigue diciendo lo mismo, la presentación puede cambiar sin romper el significado.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no es decoración: es sistema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 solo en lo 'bonito' es quedarse corto frente al papel real de la capa visual.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176272"/>
            <a:ext cx="8046720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340864"/>
            <a:ext cx="7644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define instrucciones visuales, no adornos sueltos.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60704" y="3621024"/>
            <a:ext cx="2779776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3730752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374904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316736" y="4023360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cambio visual debería poder leerse y rastrearse.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69664" y="3621024"/>
            <a:ext cx="2779776" cy="987552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42816" y="3730752"/>
            <a:ext cx="100584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25696" y="374904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25696" y="4023360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decisiones visuales conviven y se resuelven con lógica.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78624" y="3621024"/>
            <a:ext cx="2779776" cy="987552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51776" y="3730752"/>
            <a:ext cx="100584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34656" y="374904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34656" y="4023360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apariencia también ordena espacio, lectura y recorrido.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consistente no sale por accidente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Color, espaciado y jerarquía visual también forman parte del trabajo técnico.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084832"/>
            <a:ext cx="1719072" cy="1371600"/>
          </a:xfrm>
          <a:prstGeom prst="roundRect">
            <a:avLst>
              <a:gd name="adj" fmla="val 2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94560"/>
            <a:ext cx="100584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2128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097280" y="2487168"/>
            <a:ext cx="1389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señales visuales contradictorias.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2834640" y="2084832"/>
            <a:ext cx="1719072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07792" y="2194560"/>
            <a:ext cx="100584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0672" y="22128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Espaciado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090672" y="2487168"/>
            <a:ext cx="1389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ritmo y ordena la lectura.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4828032" y="2084832"/>
            <a:ext cx="1719072" cy="1371600"/>
          </a:xfrm>
          <a:prstGeom prst="roundRect">
            <a:avLst>
              <a:gd name="adj" fmla="val 2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01184" y="2194560"/>
            <a:ext cx="100584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4064" y="22128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084064" y="2487168"/>
            <a:ext cx="1389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distinguir lo importante.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821424" y="2084832"/>
            <a:ext cx="1719072" cy="1371600"/>
          </a:xfrm>
          <a:prstGeom prst="roundRect">
            <a:avLst>
              <a:gd name="adj" fmla="val 2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94576" y="2194560"/>
            <a:ext cx="100584" cy="11521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77456" y="22128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Estados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7077456" y="2487168"/>
            <a:ext cx="1389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visible cuándo algo actúa, cambia o espera.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8814816" y="2084832"/>
            <a:ext cx="1719072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87968" y="2194560"/>
            <a:ext cx="100584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70848" y="22128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9070848" y="2487168"/>
            <a:ext cx="1389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 componentes con más control.</a:t>
            </a:r>
            <a:endParaRPr lang="en-US" sz="1010" dirty="0"/>
          </a:p>
        </p:txBody>
      </p:sp>
      <p:sp>
        <p:nvSpPr>
          <p:cNvPr id="30" name="Shape 27"/>
          <p:cNvSpPr/>
          <p:nvPr/>
        </p:nvSpPr>
        <p:spPr>
          <a:xfrm>
            <a:off x="1060704" y="4023360"/>
            <a:ext cx="9784080" cy="621792"/>
          </a:xfrm>
          <a:prstGeom prst="roundRect">
            <a:avLst>
              <a:gd name="adj" fmla="val 588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61872" y="4187952"/>
            <a:ext cx="9381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coherencia visual también se diseña: no aparece sola porque sí.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975104" y="4809744"/>
            <a:ext cx="8193024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103120" y="4937760"/>
            <a:ext cx="7936992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212848" y="5010912"/>
            <a:ext cx="7717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legibles, decisiones consistentes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2212848" y="5404104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3328416" y="5340096"/>
            <a:ext cx="3041660" cy="225552"/>
          </a:xfrm>
          <a:prstGeom prst="roundRect">
            <a:avLst>
              <a:gd name="adj" fmla="val 12162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328416" y="5340096"/>
            <a:ext cx="91440" cy="225552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11296" y="54041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misma paleta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4242816" y="5404104"/>
            <a:ext cx="21089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estable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2212848" y="570280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3328416" y="5638800"/>
            <a:ext cx="4285976" cy="225552"/>
          </a:xfrm>
          <a:prstGeom prst="roundRect">
            <a:avLst>
              <a:gd name="adj" fmla="val 12162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328416" y="5638800"/>
            <a:ext cx="91440" cy="225552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511296" y="570280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mismo ritmo</a:t>
            </a:r>
            <a:endParaRPr lang="en-US" sz="820" dirty="0"/>
          </a:p>
        </p:txBody>
      </p:sp>
      <p:sp>
        <p:nvSpPr>
          <p:cNvPr id="44" name="Text 41"/>
          <p:cNvSpPr/>
          <p:nvPr/>
        </p:nvSpPr>
        <p:spPr>
          <a:xfrm>
            <a:off x="4242816" y="5702808"/>
            <a:ext cx="3353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 respirables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2212848" y="600151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</a:t>
            </a:r>
            <a:endParaRPr lang="en-US" sz="960" dirty="0"/>
          </a:p>
        </p:txBody>
      </p:sp>
      <p:sp>
        <p:nvSpPr>
          <p:cNvPr id="46" name="Shape 43"/>
          <p:cNvSpPr/>
          <p:nvPr/>
        </p:nvSpPr>
        <p:spPr>
          <a:xfrm>
            <a:off x="3328416" y="5937504"/>
            <a:ext cx="5945063" cy="225552"/>
          </a:xfrm>
          <a:prstGeom prst="roundRect">
            <a:avLst>
              <a:gd name="adj" fmla="val 1216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328416" y="5937504"/>
            <a:ext cx="91440" cy="2255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511296" y="60015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claras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4242816" y="6001512"/>
            <a:ext cx="50123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control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Improvisación visual vs sistema visual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no es solo estética: también cambia cuánto cuesta mantener una interfaz.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084832"/>
            <a:ext cx="4809744" cy="327355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28816" y="2084832"/>
            <a:ext cx="4809744" cy="3273552"/>
          </a:xfrm>
          <a:prstGeom prst="roundRect">
            <a:avLst>
              <a:gd name="adj" fmla="val 11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322576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239572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Improvisación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6766560" y="2322576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239572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1097280" y="2724912"/>
            <a:ext cx="4279392" cy="1956816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2724912"/>
            <a:ext cx="427939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285292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89888" y="285292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36192" y="285292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64208" y="2825496"/>
            <a:ext cx="33649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10512" y="2862072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https://demo.local/cards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1280160" y="3291840"/>
            <a:ext cx="3913632" cy="402336"/>
          </a:xfrm>
          <a:prstGeom prst="roundRect">
            <a:avLst>
              <a:gd name="adj" fmla="val 681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89888" y="3401568"/>
            <a:ext cx="3694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298448" y="3858768"/>
            <a:ext cx="191109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55264" y="3858768"/>
            <a:ext cx="19110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98448" y="4498848"/>
            <a:ext cx="19110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55264" y="4498848"/>
            <a:ext cx="19110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50208" y="5157216"/>
            <a:ext cx="1060704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89888" y="4791456"/>
            <a:ext cx="932688" cy="219456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05456" y="4754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29584" y="4809744"/>
            <a:ext cx="1078992" cy="18288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84848" y="2724912"/>
            <a:ext cx="4279392" cy="1956816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724912"/>
            <a:ext cx="427939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31152" y="285292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77456" y="285292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23760" y="285292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51776" y="2825496"/>
            <a:ext cx="33649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98080" y="2862072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6967728" y="3291840"/>
            <a:ext cx="3913632" cy="402336"/>
          </a:xfrm>
          <a:prstGeom prst="roundRect">
            <a:avLst>
              <a:gd name="adj" fmla="val 68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77456" y="3401568"/>
            <a:ext cx="3694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986016" y="3858768"/>
            <a:ext cx="124968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90560" y="3858768"/>
            <a:ext cx="1249680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595104" y="3858768"/>
            <a:ext cx="124968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967728" y="4718304"/>
            <a:ext cx="3913632" cy="457200"/>
          </a:xfrm>
          <a:prstGeom prst="roundRect">
            <a:avLst>
              <a:gd name="adj" fmla="val 6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49440" y="477316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22592" y="480974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1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065008" y="477316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138160" y="480974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2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9180576" y="477316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253728" y="480974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CSS, intención visual y apoyo con agentes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acelerar una primera versión, pero la lectura real del sistema sigue dependiendo de contexto y validación.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2816352" cy="3456432"/>
          </a:xfrm>
          <a:prstGeom prst="roundRect">
            <a:avLst>
              <a:gd name="adj" fmla="val 12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555565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4300" y="2414016"/>
            <a:ext cx="188732" cy="5032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24488" y="2555565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907792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también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trabaja mejor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la intención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está clara.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78992" y="473659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· alcance · consistencia · validación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913632" y="2103120"/>
            <a:ext cx="6912864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2231136"/>
            <a:ext cx="66568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51376" y="2304288"/>
            <a:ext cx="6437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útil para CSS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4059936" y="2670048"/>
            <a:ext cx="3209544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798064"/>
            <a:ext cx="91440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97680" y="2798064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28437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4681728" y="279806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297680" y="3145536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parte de la interfaz cambia y qué coherencia visual quieres sostener.</a:t>
            </a:r>
            <a:endParaRPr lang="en-US" sz="1010" dirty="0"/>
          </a:p>
        </p:txBody>
      </p:sp>
      <p:sp>
        <p:nvSpPr>
          <p:cNvPr id="25" name="Shape 22"/>
          <p:cNvSpPr/>
          <p:nvPr/>
        </p:nvSpPr>
        <p:spPr>
          <a:xfrm>
            <a:off x="7470648" y="2670048"/>
            <a:ext cx="3209544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62088" y="2798064"/>
            <a:ext cx="91440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08392" y="2798064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08392" y="28437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8092440" y="279806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708392" y="3145536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real, componentes afectados, restricciones y criterios ya existentes.</a:t>
            </a:r>
            <a:endParaRPr lang="en-US" sz="1010" dirty="0"/>
          </a:p>
        </p:txBody>
      </p:sp>
      <p:sp>
        <p:nvSpPr>
          <p:cNvPr id="31" name="Shape 28"/>
          <p:cNvSpPr/>
          <p:nvPr/>
        </p:nvSpPr>
        <p:spPr>
          <a:xfrm>
            <a:off x="4059936" y="3986784"/>
            <a:ext cx="3209544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51376" y="4114800"/>
            <a:ext cx="91440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97680" y="4114800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97680" y="41605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5" name="Text 32"/>
          <p:cNvSpPr/>
          <p:nvPr/>
        </p:nvSpPr>
        <p:spPr>
          <a:xfrm>
            <a:off x="4681728" y="4114800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4297680" y="4462272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proponer reglas, variables o una primera pasada más ordenada.</a:t>
            </a:r>
            <a:endParaRPr lang="en-US" sz="1010" dirty="0"/>
          </a:p>
        </p:txBody>
      </p:sp>
      <p:sp>
        <p:nvSpPr>
          <p:cNvPr id="37" name="Shape 34"/>
          <p:cNvSpPr/>
          <p:nvPr/>
        </p:nvSpPr>
        <p:spPr>
          <a:xfrm>
            <a:off x="7470648" y="3986784"/>
            <a:ext cx="3209544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62088" y="4114800"/>
            <a:ext cx="91440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08392" y="4114800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08392" y="41605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60" dirty="0"/>
          </a:p>
        </p:txBody>
      </p:sp>
      <p:sp>
        <p:nvSpPr>
          <p:cNvPr id="41" name="Text 38"/>
          <p:cNvSpPr/>
          <p:nvPr/>
        </p:nvSpPr>
        <p:spPr>
          <a:xfrm>
            <a:off x="8092440" y="4114800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7708392" y="4462272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resultado real, revisar en navegador y decidir qué merece quedarse.</a:t>
            </a:r>
            <a:endParaRPr lang="en-US" sz="1010" dirty="0"/>
          </a:p>
        </p:txBody>
      </p:sp>
      <p:sp>
        <p:nvSpPr>
          <p:cNvPr id="43" name="Shape 40"/>
          <p:cNvSpPr/>
          <p:nvPr/>
        </p:nvSpPr>
        <p:spPr>
          <a:xfrm>
            <a:off x="4114800" y="5157216"/>
            <a:ext cx="651052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224528" y="5202936"/>
            <a:ext cx="6291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acelera una primera versión; el desarrollador verifica si la interfaz realmente mejoró.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mental útil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visual empieza a verse mejor cuando se la piensa como sistema.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231136"/>
            <a:ext cx="2066544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40864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88720" y="26334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define qué es cada parte.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27248" y="2596896"/>
            <a:ext cx="274320" cy="23774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1296" y="2231136"/>
            <a:ext cx="2066544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84448" y="2340864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73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767328" y="26334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declara cómo debería verse.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05856" y="2596896"/>
            <a:ext cx="274320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89904" y="2231136"/>
            <a:ext cx="2066544" cy="969264"/>
          </a:xfrm>
          <a:prstGeom prst="roundRect">
            <a:avLst>
              <a:gd name="adj" fmla="val 28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63056" y="2340864"/>
            <a:ext cx="100584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5936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coherencia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45936" y="26334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decisiones repetidas se vuelven sistema.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84464" y="2596896"/>
            <a:ext cx="274320" cy="23774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8512" y="2231136"/>
            <a:ext cx="2066544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41664" y="2340864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24544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924544" y="26334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visible se vuelve más legible.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87552" y="3858768"/>
            <a:ext cx="9912096" cy="731520"/>
          </a:xfrm>
          <a:prstGeom prst="roundRect">
            <a:avLst>
              <a:gd name="adj" fmla="val 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88720" y="40233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apariencia final es consecuencia de reglas que pueden leerse, compararse y mantenerse.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fijar la idea de CSS como sistema, no solo como capa decorativa.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121408"/>
            <a:ext cx="457200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49424"/>
            <a:ext cx="109728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3113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70432" y="2578608"/>
            <a:ext cx="4224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HTML y CSS no deberían entenderse como si cumplieran la misma función?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2121408"/>
            <a:ext cx="4572000" cy="1207008"/>
          </a:xfrm>
          <a:prstGeom prst="roundRect">
            <a:avLst>
              <a:gd name="adj" fmla="val 30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2249424"/>
            <a:ext cx="109728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223113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91072" y="2578608"/>
            <a:ext cx="4224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CSS se lee como lenguaje de reglas y no solo como decoración?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3657600"/>
            <a:ext cx="457200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785616"/>
            <a:ext cx="109728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76732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70432" y="4114800"/>
            <a:ext cx="4224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interfaz coherente también refleja criterio técnico?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35040" y="3657600"/>
            <a:ext cx="4572000" cy="1207008"/>
          </a:xfrm>
          <a:prstGeom prst="roundRect">
            <a:avLst>
              <a:gd name="adj" fmla="val 30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3785616"/>
            <a:ext cx="109728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376732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291072" y="4114800"/>
            <a:ext cx="4224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señales muestran que una capa visual está improvisada y no pensada como sistema?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 visual deja de verse superficial cuando empezamos a leerla como sistema técnico.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084832"/>
            <a:ext cx="5669280" cy="2871216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3042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" y="2980944"/>
            <a:ext cx="5175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no maquilla una página terminada: define reglas de presentación sobre una estructura HTML previa y convierte la apariencia en una capa legible, repetible y mantenible.</a:t>
            </a:r>
            <a:endParaRPr lang="en-US" sz="1840" dirty="0"/>
          </a:p>
        </p:txBody>
      </p:sp>
      <p:sp>
        <p:nvSpPr>
          <p:cNvPr id="13" name="Shape 10"/>
          <p:cNvSpPr/>
          <p:nvPr/>
        </p:nvSpPr>
        <p:spPr>
          <a:xfrm>
            <a:off x="1115568" y="437083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44074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0" y="437083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59152" y="44074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56432" y="437083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29584" y="44074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coherencia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26864" y="437083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0016" y="44074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39712" y="2084832"/>
            <a:ext cx="3840480" cy="2871216"/>
          </a:xfrm>
          <a:prstGeom prst="roundRect">
            <a:avLst>
              <a:gd name="adj" fmla="val 12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31152" y="2212848"/>
            <a:ext cx="109728" cy="2615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95744" y="219456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2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095744" y="2542032"/>
            <a:ext cx="34930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tramo veremos por qué algunas reglas se aplican, otras compiten y otras terminan desplazadas: entramos a cascada, herencia y especificidad.</a:t>
            </a:r>
            <a:endParaRPr lang="en-US" sz="12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 · Cascada, herencia y especificidad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importa entender por qué una regla gana, otra se hereda y otra termina desplazada.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21408"/>
            <a:ext cx="3474720" cy="3255264"/>
          </a:xfrm>
          <a:prstGeom prst="roundRect">
            <a:avLst>
              <a:gd name="adj" fmla="val 11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3856" y="2548981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13810" y="2414016"/>
            <a:ext cx="179954" cy="4798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23756" y="2548981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962656"/>
            <a:ext cx="257860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resuelve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conflictos,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propaga reglas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pesa selectores.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553712" y="2157984"/>
            <a:ext cx="6163056" cy="2542032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81728" y="2286000"/>
            <a:ext cx="5907024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91456" y="2359152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Conflicto resuelto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4736592" y="2999232"/>
            <a:ext cx="1232611" cy="1280160"/>
          </a:xfrm>
          <a:prstGeom prst="roundRect">
            <a:avLst>
              <a:gd name="adj" fmla="val 2967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3182112"/>
            <a:ext cx="976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p.destacado</a:t>
            </a:r>
            <a:endParaRPr lang="en-US" sz="940" dirty="0"/>
          </a:p>
        </p:txBody>
      </p:sp>
      <p:sp>
        <p:nvSpPr>
          <p:cNvPr id="20" name="Text 17"/>
          <p:cNvSpPr/>
          <p:nvPr/>
        </p:nvSpPr>
        <p:spPr>
          <a:xfrm>
            <a:off x="4864608" y="3584448"/>
            <a:ext cx="97657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 observada</a:t>
            </a:r>
            <a:endParaRPr lang="en-US" sz="890" dirty="0"/>
          </a:p>
        </p:txBody>
      </p:sp>
      <p:sp>
        <p:nvSpPr>
          <p:cNvPr id="21" name="Shape 18"/>
          <p:cNvSpPr/>
          <p:nvPr/>
        </p:nvSpPr>
        <p:spPr>
          <a:xfrm>
            <a:off x="4864608" y="3822192"/>
            <a:ext cx="976579" cy="347472"/>
          </a:xfrm>
          <a:prstGeom prst="roundRect">
            <a:avLst>
              <a:gd name="adj" fmla="val 789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56048" y="3931920"/>
            <a:ext cx="79369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987491" y="3300984"/>
            <a:ext cx="182880" cy="2560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88659" y="2816352"/>
            <a:ext cx="2769900" cy="1627632"/>
          </a:xfrm>
          <a:prstGeom prst="roundRect">
            <a:avLst>
              <a:gd name="adj" fmla="val 2247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98387" y="2944368"/>
            <a:ext cx="2550444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98387" y="2944368"/>
            <a:ext cx="73152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4691" y="3017520"/>
            <a:ext cx="886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444691" y="3200400"/>
            <a:ext cx="9971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#52606d;</a:t>
            </a:r>
            <a:endParaRPr lang="en-US" sz="790" dirty="0"/>
          </a:p>
        </p:txBody>
      </p:sp>
      <p:sp>
        <p:nvSpPr>
          <p:cNvPr id="29" name="Shape 26"/>
          <p:cNvSpPr/>
          <p:nvPr/>
        </p:nvSpPr>
        <p:spPr>
          <a:xfrm>
            <a:off x="8062448" y="301752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17312" y="30678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0,0,1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8044160" y="341071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pierde por peso</a:t>
            </a:r>
            <a:endParaRPr lang="en-US" sz="710" dirty="0"/>
          </a:p>
        </p:txBody>
      </p:sp>
      <p:sp>
        <p:nvSpPr>
          <p:cNvPr id="32" name="Shape 29"/>
          <p:cNvSpPr/>
          <p:nvPr/>
        </p:nvSpPr>
        <p:spPr>
          <a:xfrm>
            <a:off x="6298387" y="3675888"/>
            <a:ext cx="2550444" cy="621792"/>
          </a:xfrm>
          <a:prstGeom prst="roundRect">
            <a:avLst>
              <a:gd name="adj" fmla="val 441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98387" y="3675888"/>
            <a:ext cx="73152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4691" y="3749040"/>
            <a:ext cx="886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.destacado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444691" y="3931920"/>
            <a:ext cx="9971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#d62027;</a:t>
            </a:r>
            <a:endParaRPr lang="en-US" sz="790" dirty="0"/>
          </a:p>
        </p:txBody>
      </p:sp>
      <p:sp>
        <p:nvSpPr>
          <p:cNvPr id="36" name="Shape 33"/>
          <p:cNvSpPr/>
          <p:nvPr/>
        </p:nvSpPr>
        <p:spPr>
          <a:xfrm>
            <a:off x="8062448" y="374904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17312" y="379933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0,1,0</a:t>
            </a:r>
            <a:endParaRPr lang="en-US" sz="760" dirty="0"/>
          </a:p>
        </p:txBody>
      </p:sp>
      <p:sp>
        <p:nvSpPr>
          <p:cNvPr id="38" name="Text 35"/>
          <p:cNvSpPr/>
          <p:nvPr/>
        </p:nvSpPr>
        <p:spPr>
          <a:xfrm>
            <a:off x="8044160" y="414223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específica</a:t>
            </a:r>
            <a:endParaRPr lang="en-US" sz="710" dirty="0"/>
          </a:p>
        </p:txBody>
      </p:sp>
      <p:sp>
        <p:nvSpPr>
          <p:cNvPr id="39" name="Shape 36"/>
          <p:cNvSpPr/>
          <p:nvPr/>
        </p:nvSpPr>
        <p:spPr>
          <a:xfrm>
            <a:off x="8976848" y="3300984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78016" y="2999232"/>
            <a:ext cx="1355872" cy="1280160"/>
          </a:xfrm>
          <a:prstGeom prst="roundRect">
            <a:avLst>
              <a:gd name="adj" fmla="val 2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324320" y="3182112"/>
            <a:ext cx="106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306032" y="3584448"/>
            <a:ext cx="109984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42608" y="3712464"/>
            <a:ext cx="1026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#d62027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590288" y="4901184"/>
            <a:ext cx="1755648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63440" y="5010912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46320" y="50292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cascada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4846320" y="5303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conflictos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547104" y="4901184"/>
            <a:ext cx="1755648" cy="749808"/>
          </a:xfrm>
          <a:prstGeom prst="roundRect">
            <a:avLst>
              <a:gd name="adj" fmla="val 36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620256" y="5010912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03136" y="50292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herencia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6803136" y="5303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 decisiones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503920" y="4901184"/>
            <a:ext cx="2011680" cy="749808"/>
          </a:xfrm>
          <a:prstGeom prst="roundRect">
            <a:avLst>
              <a:gd name="adj" fmla="val 365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577072" y="5010912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759952" y="50292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especificidad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8759952" y="53035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peso relativo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cascada: CSS no decide al azar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varias reglas apuntan a lo mismo, el navegador necesita una lógica para resolver el resultado.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69264" y="2139696"/>
            <a:ext cx="9930384" cy="822960"/>
          </a:xfrm>
          <a:prstGeom prst="roundRect">
            <a:avLst>
              <a:gd name="adj" fmla="val 44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304288"/>
            <a:ext cx="9528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dos reglas afectan la misma propiedad, CSS no falla: compara contexto y decide.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14400" y="3346704"/>
            <a:ext cx="2176272" cy="1591056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3474720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3456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Origen</a:t>
            </a:r>
            <a:endParaRPr lang="en-US" sz="1720" dirty="0"/>
          </a:p>
        </p:txBody>
      </p:sp>
      <p:sp>
        <p:nvSpPr>
          <p:cNvPr id="15" name="Text 12"/>
          <p:cNvSpPr/>
          <p:nvPr/>
        </p:nvSpPr>
        <p:spPr>
          <a:xfrm>
            <a:off x="1170432" y="380390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 de dónde viene la regla.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493008" y="3346704"/>
            <a:ext cx="2176272" cy="1591056"/>
          </a:xfrm>
          <a:prstGeom prst="roundRect">
            <a:avLst>
              <a:gd name="adj" fmla="val 2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84448" y="3474720"/>
            <a:ext cx="109728" cy="13350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456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</a:t>
            </a:r>
            <a:endParaRPr lang="en-US" sz="1720" dirty="0"/>
          </a:p>
        </p:txBody>
      </p:sp>
      <p:sp>
        <p:nvSpPr>
          <p:cNvPr id="19" name="Text 16"/>
          <p:cNvSpPr/>
          <p:nvPr/>
        </p:nvSpPr>
        <p:spPr>
          <a:xfrm>
            <a:off x="3749040" y="380390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peso empata, la última suele ganar.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6071616" y="3346704"/>
            <a:ext cx="2176272" cy="1591056"/>
          </a:xfrm>
          <a:prstGeom prst="roundRect">
            <a:avLst>
              <a:gd name="adj" fmla="val 229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63056" y="3474720"/>
            <a:ext cx="109728" cy="13350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27648" y="3456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</a:t>
            </a:r>
            <a:endParaRPr lang="en-US" sz="1720" dirty="0"/>
          </a:p>
        </p:txBody>
      </p:sp>
      <p:sp>
        <p:nvSpPr>
          <p:cNvPr id="23" name="Text 20"/>
          <p:cNvSpPr/>
          <p:nvPr/>
        </p:nvSpPr>
        <p:spPr>
          <a:xfrm>
            <a:off x="6327648" y="380390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especificidad cambia la jerarquía.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650224" y="3346704"/>
            <a:ext cx="2176272" cy="1591056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41664" y="3474720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06256" y="3456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Herencia</a:t>
            </a:r>
            <a:endParaRPr lang="en-US" sz="1720" dirty="0"/>
          </a:p>
        </p:txBody>
      </p:sp>
      <p:sp>
        <p:nvSpPr>
          <p:cNvPr id="27" name="Text 24"/>
          <p:cNvSpPr/>
          <p:nvPr/>
        </p:nvSpPr>
        <p:spPr>
          <a:xfrm>
            <a:off x="8906256" y="380390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algunas propiedades llegan desde arriba.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1133856" y="5266944"/>
            <a:ext cx="961948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35024" y="5431536"/>
            <a:ext cx="9217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Trabajar mejor con CSS significa leer cómo conviven las reglas, no acumular propiedades al azar.</a:t>
            </a: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reglas pueden competir sobre el mismo elemento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cascada aparece justo cuando una misma propiedad recibe más de una declaración posible.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4187952" cy="3456432"/>
          </a:xfrm>
          <a:prstGeom prst="roundRect">
            <a:avLst>
              <a:gd name="adj" fmla="val 105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49424"/>
            <a:ext cx="39319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2257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Conflicto básico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706624"/>
            <a:ext cx="37490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#52606d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.destacado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266944" y="2103120"/>
            <a:ext cx="5486400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94960" y="2231136"/>
            <a:ext cx="523036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04688" y="2304288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Inspector de cascada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449824" y="2944368"/>
            <a:ext cx="1133856" cy="2267712"/>
          </a:xfrm>
          <a:prstGeom prst="roundRect">
            <a:avLst>
              <a:gd name="adj" fmla="val 3226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1272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p.destacado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5577840" y="352958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 observada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5577840" y="3767328"/>
            <a:ext cx="877824" cy="347472"/>
          </a:xfrm>
          <a:prstGeom prst="roundRect">
            <a:avLst>
              <a:gd name="adj" fmla="val 789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3877056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601968" y="3739896"/>
            <a:ext cx="182880" cy="2560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03136" y="2761488"/>
            <a:ext cx="2340864" cy="2615184"/>
          </a:xfrm>
          <a:prstGeom prst="roundRect">
            <a:avLst>
              <a:gd name="adj" fmla="val 156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12864" y="2889504"/>
            <a:ext cx="2121408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12864" y="2889504"/>
            <a:ext cx="73152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9168" y="2962656"/>
            <a:ext cx="7490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7059168" y="3145536"/>
            <a:ext cx="84271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#52606d;</a:t>
            </a:r>
            <a:endParaRPr lang="en-US" sz="790" dirty="0"/>
          </a:p>
        </p:txBody>
      </p:sp>
      <p:sp>
        <p:nvSpPr>
          <p:cNvPr id="28" name="Shape 25"/>
          <p:cNvSpPr/>
          <p:nvPr/>
        </p:nvSpPr>
        <p:spPr>
          <a:xfrm>
            <a:off x="8247888" y="2962656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02752" y="30129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0,0,1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8229600" y="344728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precisa</a:t>
            </a:r>
            <a:endParaRPr lang="en-US" sz="710" dirty="0"/>
          </a:p>
        </p:txBody>
      </p:sp>
      <p:sp>
        <p:nvSpPr>
          <p:cNvPr id="31" name="Shape 28"/>
          <p:cNvSpPr/>
          <p:nvPr/>
        </p:nvSpPr>
        <p:spPr>
          <a:xfrm>
            <a:off x="6912864" y="3712464"/>
            <a:ext cx="2121408" cy="713232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12864" y="3712464"/>
            <a:ext cx="73152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59168" y="3785616"/>
            <a:ext cx="7490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.destacado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7059168" y="3968496"/>
            <a:ext cx="84271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#d62027;</a:t>
            </a:r>
            <a:endParaRPr lang="en-US" sz="790" dirty="0"/>
          </a:p>
        </p:txBody>
      </p:sp>
      <p:sp>
        <p:nvSpPr>
          <p:cNvPr id="35" name="Shape 32"/>
          <p:cNvSpPr/>
          <p:nvPr/>
        </p:nvSpPr>
        <p:spPr>
          <a:xfrm>
            <a:off x="8247888" y="3785616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02752" y="38359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0,1,0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8229600" y="42702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por clase</a:t>
            </a:r>
            <a:endParaRPr lang="en-US" sz="710" dirty="0"/>
          </a:p>
        </p:txBody>
      </p:sp>
      <p:sp>
        <p:nvSpPr>
          <p:cNvPr id="38" name="Shape 35"/>
          <p:cNvSpPr/>
          <p:nvPr/>
        </p:nvSpPr>
        <p:spPr>
          <a:xfrm>
            <a:off x="9162288" y="3739896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363456" y="2944368"/>
            <a:ext cx="1207008" cy="2267712"/>
          </a:xfrm>
          <a:prstGeom prst="roundRect">
            <a:avLst>
              <a:gd name="adj" fmla="val 30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09760" y="31272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9491472" y="3529584"/>
            <a:ext cx="95097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528048" y="365760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#d62027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491472" y="407822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párrafo sigue siendo p, pero la clase domina el color</a:t>
            </a:r>
            <a:endParaRPr lang="en-US" sz="8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peso empata, el orden también decide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siempre gana la regla más compleja: a veces el resultado depende simplemente de cuál aparece después.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283464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67712"/>
            <a:ext cx="109728" cy="14813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2494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regla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33856" y="2596896"/>
            <a:ext cx="24871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.card p { color: #102a43; }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3877056" y="2798064"/>
            <a:ext cx="310896" cy="2560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34256" y="2139696"/>
            <a:ext cx="2834640" cy="1737360"/>
          </a:xfrm>
          <a:prstGeom prst="roundRect">
            <a:avLst>
              <a:gd name="adj" fmla="val 21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25696" y="2267712"/>
            <a:ext cx="109728" cy="14813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90288" y="22494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Segunda regla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90288" y="2596896"/>
            <a:ext cx="24871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.card p { color: #d62027; }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7351776" y="2139696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43216" y="2267712"/>
            <a:ext cx="109728" cy="14813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07808" y="2249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07808" y="2596896"/>
            <a:ext cx="3054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selector y propiedad son iguales, la regla posterior suele imponerse sobre la anterior.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1115568" y="4480560"/>
            <a:ext cx="9656064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16736" y="4645152"/>
            <a:ext cx="9253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subir la complejidad del selector, conviene revisar si el conflicto viene solo del orden.</a:t>
            </a:r>
            <a:endParaRPr lang="en-US" sz="1820" dirty="0"/>
          </a:p>
        </p:txBody>
      </p:sp>
      <p:sp>
        <p:nvSpPr>
          <p:cNvPr id="25" name="Shape 22"/>
          <p:cNvSpPr/>
          <p:nvPr/>
        </p:nvSpPr>
        <p:spPr>
          <a:xfrm>
            <a:off x="2212848" y="5285232"/>
            <a:ext cx="7424928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40864" y="5413248"/>
            <a:ext cx="716889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50592" y="54864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Empate de peso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2450592" y="58795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1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3566160" y="5815584"/>
            <a:ext cx="1720535" cy="374904"/>
          </a:xfrm>
          <a:prstGeom prst="roundRect">
            <a:avLst>
              <a:gd name="adj" fmla="val 7317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66160" y="5815584"/>
            <a:ext cx="91440" cy="374904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49040" y="58795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0,1,1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4480560" y="5879592"/>
            <a:ext cx="7878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peso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2450592" y="632764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2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3566160" y="6263640"/>
            <a:ext cx="2949489" cy="374904"/>
          </a:xfrm>
          <a:prstGeom prst="roundRect">
            <a:avLst>
              <a:gd name="adj" fmla="val 731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566160" y="6263640"/>
            <a:ext cx="91440" cy="3749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49040" y="632764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0,1,1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4480560" y="6327648"/>
            <a:ext cx="201680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por orden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herencia reduce repetición y propaga criterio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todas las propiedades deben declararse una y otra vez: algunas viajan por la jerarquía del documento.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4864608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460857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317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Herencia en el árbol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60704" y="26517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transmite tipografía y color hacia sus hijos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15568" y="3017520"/>
            <a:ext cx="4352544" cy="2359152"/>
          </a:xfrm>
          <a:prstGeom prst="roundRect">
            <a:avLst>
              <a:gd name="adj" fmla="val 1163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91056" y="3108960"/>
            <a:ext cx="0" cy="142646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01952" y="3108960"/>
            <a:ext cx="0" cy="142646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15568" y="3200400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80160" y="3108960"/>
            <a:ext cx="804672" cy="256032"/>
          </a:xfrm>
          <a:prstGeom prst="roundRect">
            <a:avLst>
              <a:gd name="adj" fmla="val 10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53312" y="316382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2212848" y="31546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+ font-family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1463040" y="360273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26464" y="356616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91056" y="3474720"/>
            <a:ext cx="110642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64208" y="3529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2825496" y="352044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y sigue propagando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1773936" y="396849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737360" y="393192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01952" y="3840480"/>
            <a:ext cx="603504" cy="256032"/>
          </a:xfrm>
          <a:prstGeom prst="roundRect">
            <a:avLst>
              <a:gd name="adj" fmla="val 107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75104" y="38953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2633472" y="38862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hereda texto</a:t>
            </a:r>
            <a:endParaRPr lang="en-US" sz="910" dirty="0"/>
          </a:p>
        </p:txBody>
      </p:sp>
      <p:sp>
        <p:nvSpPr>
          <p:cNvPr id="31" name="Shape 28"/>
          <p:cNvSpPr/>
          <p:nvPr/>
        </p:nvSpPr>
        <p:spPr>
          <a:xfrm>
            <a:off x="1773936" y="433425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737360" y="429768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01952" y="4206240"/>
            <a:ext cx="603504" cy="256032"/>
          </a:xfrm>
          <a:prstGeom prst="roundRect">
            <a:avLst>
              <a:gd name="adj" fmla="val 1071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975104" y="4261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60" dirty="0"/>
          </a:p>
        </p:txBody>
      </p:sp>
      <p:sp>
        <p:nvSpPr>
          <p:cNvPr id="35" name="Text 32"/>
          <p:cNvSpPr/>
          <p:nvPr/>
        </p:nvSpPr>
        <p:spPr>
          <a:xfrm>
            <a:off x="2633472" y="425196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hereda si no redefine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6016752" y="2176272"/>
            <a:ext cx="2231136" cy="1426464"/>
          </a:xfrm>
          <a:prstGeom prst="roundRect">
            <a:avLst>
              <a:gd name="adj" fmla="val 256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08192" y="2304288"/>
            <a:ext cx="109728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72784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suele heredarse</a:t>
            </a:r>
            <a:endParaRPr lang="en-US" sz="1640" dirty="0"/>
          </a:p>
        </p:txBody>
      </p:sp>
      <p:sp>
        <p:nvSpPr>
          <p:cNvPr id="39" name="Text 36"/>
          <p:cNvSpPr/>
          <p:nvPr/>
        </p:nvSpPr>
        <p:spPr>
          <a:xfrm>
            <a:off x="6272784" y="2633472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color, font-family, line-height y otras propiedades ligadas a texto.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8485632" y="2176272"/>
            <a:ext cx="2231136" cy="1426464"/>
          </a:xfrm>
          <a:prstGeom prst="roundRect">
            <a:avLst>
              <a:gd name="adj" fmla="val 256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77072" y="2304288"/>
            <a:ext cx="109728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741664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suele heredarse</a:t>
            </a:r>
            <a:endParaRPr lang="en-US" sz="1640" dirty="0"/>
          </a:p>
        </p:txBody>
      </p:sp>
      <p:sp>
        <p:nvSpPr>
          <p:cNvPr id="43" name="Text 40"/>
          <p:cNvSpPr/>
          <p:nvPr/>
        </p:nvSpPr>
        <p:spPr>
          <a:xfrm>
            <a:off x="8741664" y="2633472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margin, padding, border, width, display y reglas de caja.</a:t>
            </a:r>
            <a:endParaRPr lang="en-US" sz="1080" dirty="0"/>
          </a:p>
        </p:txBody>
      </p:sp>
      <p:sp>
        <p:nvSpPr>
          <p:cNvPr id="44" name="Shape 41"/>
          <p:cNvSpPr/>
          <p:nvPr/>
        </p:nvSpPr>
        <p:spPr>
          <a:xfrm>
            <a:off x="5925312" y="4059936"/>
            <a:ext cx="493776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26480" y="4224528"/>
            <a:ext cx="4535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herencia evita dos errores: repetir de más o esperar que una propiedad se propague cuando no corresponde.</a:t>
            </a:r>
            <a:endParaRPr lang="en-US" sz="16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contenedor puede transmitir decisiones visuales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herencia hace visible la relación entre jerarquía HTML y resultado visual.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4334256" cy="3474720"/>
          </a:xfrm>
          <a:prstGeom prst="roundRect">
            <a:avLst>
              <a:gd name="adj" fmla="val 10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49424"/>
            <a:ext cx="40782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22576"/>
            <a:ext cx="3858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heredada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2706624"/>
            <a:ext cx="38953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#243b53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Arial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sans-serif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68112" y="2139696"/>
            <a:ext cx="5340096" cy="34747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6128" y="2267712"/>
            <a:ext cx="50840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05856" y="2331720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en el documento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2651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redefine, el texto recibe esas decisiones desde body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24144" y="3017520"/>
            <a:ext cx="4828032" cy="2414016"/>
          </a:xfrm>
          <a:prstGeom prst="roundRect">
            <a:avLst>
              <a:gd name="adj" fmla="val 1136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9632" y="3108960"/>
            <a:ext cx="0" cy="142646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10528" y="3108960"/>
            <a:ext cx="0" cy="142646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24144" y="3200400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88736" y="3108960"/>
            <a:ext cx="804672" cy="256032"/>
          </a:xfrm>
          <a:prstGeom prst="roundRect">
            <a:avLst>
              <a:gd name="adj" fmla="val 10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61888" y="316382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6821424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+ font-family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6071616" y="360273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356616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3474720"/>
            <a:ext cx="80467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72784" y="35295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7132320" y="352044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el contexto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6382512" y="396849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45936" y="393192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10528" y="3840480"/>
            <a:ext cx="603504" cy="256032"/>
          </a:xfrm>
          <a:prstGeom prst="roundRect">
            <a:avLst>
              <a:gd name="adj" fmla="val 107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0" y="38953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7242048" y="38862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#243b53 + Arial</a:t>
            </a:r>
            <a:endParaRPr lang="en-US" sz="910" dirty="0"/>
          </a:p>
        </p:txBody>
      </p:sp>
      <p:sp>
        <p:nvSpPr>
          <p:cNvPr id="35" name="Shape 32"/>
          <p:cNvSpPr/>
          <p:nvPr/>
        </p:nvSpPr>
        <p:spPr>
          <a:xfrm>
            <a:off x="6382512" y="433425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45936" y="429768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10528" y="4206240"/>
            <a:ext cx="603504" cy="256032"/>
          </a:xfrm>
          <a:prstGeom prst="roundRect">
            <a:avLst>
              <a:gd name="adj" fmla="val 1071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0" y="4261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7242048" y="42519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puede heredar</a:t>
            </a:r>
            <a:endParaRPr lang="en-US" sz="9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y caja no se comportan igual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parte importante del debugging en CSS consiste en distinguir qué tipo de propiedad estás mirando.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4736592" cy="2816352"/>
          </a:xfrm>
          <a:prstGeom prst="roundRect">
            <a:avLst>
              <a:gd name="adj" fmla="val 1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109728" cy="2560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2494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Propiedades ligadas a texto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52144" y="2596896"/>
            <a:ext cx="438912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font-family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font-size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line-height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text-align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70448" y="2139696"/>
            <a:ext cx="4736592" cy="2816352"/>
          </a:xfrm>
          <a:prstGeom prst="roundRect">
            <a:avLst>
              <a:gd name="adj" fmla="val 12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61888" y="2267712"/>
            <a:ext cx="109728" cy="2560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2494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Propiedades ligadas a caja y layout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2596896"/>
            <a:ext cx="438912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padding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170432" y="5212080"/>
            <a:ext cx="9546336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537667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distingues entre texto y caja, vas a repetir reglas inútiles o esperar herencias que nunca ocurren.</a:t>
            </a:r>
            <a:endParaRPr lang="en-US" sz="16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Especificidad: no todas las reglas pesan lo mismo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dos selectores compiten, el navegador compara su nivel de precisión antes de decidir.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5614416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67712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40864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de peso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1060704" y="2651760"/>
            <a:ext cx="5248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selector más específico suele imponerse sobre uno más general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1243584" y="4992624"/>
            <a:ext cx="4882896" cy="5486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14553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Etiqueta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2231136" y="3035808"/>
            <a:ext cx="1188720" cy="361188"/>
          </a:xfrm>
          <a:prstGeom prst="roundRect">
            <a:avLst>
              <a:gd name="adj" fmla="val 7595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31136" y="3035808"/>
            <a:ext cx="91440" cy="361188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14016" y="31363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0,0,1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3145536" y="31363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bajo</a:t>
            </a:r>
            <a:endParaRPr lang="en-US" sz="890" dirty="0"/>
          </a:p>
        </p:txBody>
      </p:sp>
      <p:sp>
        <p:nvSpPr>
          <p:cNvPr id="20" name="Text 17"/>
          <p:cNvSpPr/>
          <p:nvPr/>
        </p:nvSpPr>
        <p:spPr>
          <a:xfrm>
            <a:off x="1115568" y="365302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2231136" y="3543300"/>
            <a:ext cx="1993758" cy="361188"/>
          </a:xfrm>
          <a:prstGeom prst="roundRect">
            <a:avLst>
              <a:gd name="adj" fmla="val 7595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31136" y="3543300"/>
            <a:ext cx="91440" cy="361188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14016" y="36438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0,1,0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3145536" y="3643884"/>
            <a:ext cx="10610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medio</a:t>
            </a:r>
            <a:endParaRPr lang="en-US" sz="890" dirty="0"/>
          </a:p>
        </p:txBody>
      </p:sp>
      <p:sp>
        <p:nvSpPr>
          <p:cNvPr id="25" name="Text 22"/>
          <p:cNvSpPr/>
          <p:nvPr/>
        </p:nvSpPr>
        <p:spPr>
          <a:xfrm>
            <a:off x="1115568" y="41605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2231136" y="4050792"/>
            <a:ext cx="3207349" cy="361188"/>
          </a:xfrm>
          <a:prstGeom prst="roundRect">
            <a:avLst>
              <a:gd name="adj" fmla="val 759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31136" y="4050792"/>
            <a:ext cx="91440" cy="3611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14016" y="415137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1,0,0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3145536" y="4151376"/>
            <a:ext cx="22746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alto</a:t>
            </a:r>
            <a:endParaRPr lang="en-US" sz="890" dirty="0"/>
          </a:p>
        </p:txBody>
      </p:sp>
      <p:sp>
        <p:nvSpPr>
          <p:cNvPr id="30" name="Text 27"/>
          <p:cNvSpPr/>
          <p:nvPr/>
        </p:nvSpPr>
        <p:spPr>
          <a:xfrm>
            <a:off x="1115568" y="466801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Inline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2231136" y="4558284"/>
            <a:ext cx="4074201" cy="361188"/>
          </a:xfrm>
          <a:prstGeom prst="roundRect">
            <a:avLst>
              <a:gd name="adj" fmla="val 759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31136" y="4558284"/>
            <a:ext cx="91440" cy="3611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14016" y="46588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3145536" y="4658868"/>
            <a:ext cx="31415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</a:t>
            </a:r>
            <a:endParaRPr lang="en-US" sz="890" dirty="0"/>
          </a:p>
        </p:txBody>
      </p:sp>
      <p:sp>
        <p:nvSpPr>
          <p:cNvPr id="35" name="Text 32"/>
          <p:cNvSpPr/>
          <p:nvPr/>
        </p:nvSpPr>
        <p:spPr>
          <a:xfrm>
            <a:off x="1078992" y="534009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peso no siempre significa mejor CSS: también puede significar más fricción para mantenerlo.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6839712" y="2249424"/>
            <a:ext cx="3730752" cy="1261872"/>
          </a:xfrm>
          <a:prstGeom prst="roundRect">
            <a:avLst>
              <a:gd name="adj" fmla="val 289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40880" y="2414016"/>
            <a:ext cx="3328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especificidad responde una pregunta técnica muy concreta: ¿por qué esta regla no cambió el resultado si sí existe?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6986016" y="3822192"/>
            <a:ext cx="3438144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59168" y="3931920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42048" y="39502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7242048" y="4224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 &lt; clase &lt; id, pero sin convertir el archivo en una guerra de selectores.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6986016" y="4846320"/>
            <a:ext cx="3438144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9168" y="4956048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42048" y="4974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común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7242048" y="52486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 todo con más peso vuelve el CSS más duro de corregir.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selector más preciso puede desplazar a uno más general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correcta no es solo qué regla existe, sino qué regla termina pesando más sobre ese elemento.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473659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49424"/>
            <a:ext cx="4480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22576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selectores posibles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706624"/>
            <a:ext cx="429768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#52606d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p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#102a43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#principal .card p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852160" y="2176272"/>
            <a:ext cx="4882896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0176" y="2304288"/>
            <a:ext cx="4626864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9904" y="2377440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relativo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6035040" y="2688336"/>
            <a:ext cx="4517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medida que el selector gana precisión, también gana peso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6217920" y="3511296"/>
            <a:ext cx="4151376" cy="5486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9904" y="318211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205472" y="3072384"/>
            <a:ext cx="1188720" cy="268224"/>
          </a:xfrm>
          <a:prstGeom prst="roundRect">
            <a:avLst>
              <a:gd name="adj" fmla="val 10227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05472" y="3072384"/>
            <a:ext cx="91440" cy="268224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0,0,1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8119872" y="31729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</a:t>
            </a:r>
            <a:endParaRPr lang="en-US" sz="890" dirty="0"/>
          </a:p>
        </p:txBody>
      </p:sp>
      <p:sp>
        <p:nvSpPr>
          <p:cNvPr id="24" name="Text 21"/>
          <p:cNvSpPr/>
          <p:nvPr/>
        </p:nvSpPr>
        <p:spPr>
          <a:xfrm>
            <a:off x="6089904" y="359664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.card p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7205472" y="3486912"/>
            <a:ext cx="1945477" cy="268224"/>
          </a:xfrm>
          <a:prstGeom prst="roundRect">
            <a:avLst>
              <a:gd name="adj" fmla="val 10227"/>
            </a:avLst>
          </a:prstGeom>
          <a:solidFill>
            <a:srgbClr val="F2E7D9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05472" y="3486912"/>
            <a:ext cx="91440" cy="268224"/>
          </a:xfrm>
          <a:prstGeom prst="rect">
            <a:avLst/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88352" y="358749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0,1,1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8119872" y="3587496"/>
            <a:ext cx="10127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preciso</a:t>
            </a:r>
            <a:endParaRPr lang="en-US" sz="890" dirty="0"/>
          </a:p>
        </p:txBody>
      </p:sp>
      <p:sp>
        <p:nvSpPr>
          <p:cNvPr id="29" name="Text 26"/>
          <p:cNvSpPr/>
          <p:nvPr/>
        </p:nvSpPr>
        <p:spPr>
          <a:xfrm>
            <a:off x="6089904" y="40111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#principal .card p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7205472" y="3901440"/>
            <a:ext cx="3098353" cy="268224"/>
          </a:xfrm>
          <a:prstGeom prst="roundRect">
            <a:avLst>
              <a:gd name="adj" fmla="val 1022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05472" y="3901440"/>
            <a:ext cx="91440" cy="268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88352" y="400202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1,1,1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8119872" y="4002024"/>
            <a:ext cx="216566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</a:t>
            </a:r>
            <a:endParaRPr lang="en-US" sz="890" dirty="0"/>
          </a:p>
        </p:txBody>
      </p:sp>
      <p:sp>
        <p:nvSpPr>
          <p:cNvPr id="34" name="Shape 31"/>
          <p:cNvSpPr/>
          <p:nvPr/>
        </p:nvSpPr>
        <p:spPr>
          <a:xfrm>
            <a:off x="5907024" y="4462272"/>
            <a:ext cx="4791456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98464" y="4590288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63056" y="4572000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final</a:t>
            </a:r>
            <a:endParaRPr lang="en-US" sz="1720" dirty="0"/>
          </a:p>
        </p:txBody>
      </p:sp>
      <p:sp>
        <p:nvSpPr>
          <p:cNvPr id="37" name="Text 34"/>
          <p:cNvSpPr/>
          <p:nvPr/>
        </p:nvSpPr>
        <p:spPr>
          <a:xfrm>
            <a:off x="6163056" y="4919472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las tres reglas alcanzan al mismo párrafo, la del id gana porque su selector tiene mayor peso.</a:t>
            </a:r>
            <a:endParaRPr lang="en-US" sz="11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el conflicto como inspector y no como intuición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estilo no cambia, conviene mirar selector, peso, orden y resultado final como una misma escena técnica.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21408"/>
            <a:ext cx="10076688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49424"/>
            <a:ext cx="982065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2257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Conflicto completo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962656"/>
            <a:ext cx="1572768" cy="2267712"/>
          </a:xfrm>
          <a:prstGeom prst="roundRect">
            <a:avLst>
              <a:gd name="adj" fmla="val 2326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1455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p#principal.card.destacado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1152144" y="354787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 observada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1152144" y="3785616"/>
            <a:ext cx="1316736" cy="347472"/>
          </a:xfrm>
          <a:prstGeom prst="roundRect">
            <a:avLst>
              <a:gd name="adj" fmla="val 789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3584" y="3895344"/>
            <a:ext cx="1133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2596896" y="3749040"/>
            <a:ext cx="201168" cy="27432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98064" y="2779776"/>
            <a:ext cx="6291072" cy="2615184"/>
          </a:xfrm>
          <a:prstGeom prst="roundRect">
            <a:avLst>
              <a:gd name="adj" fmla="val 1399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07792" y="2907792"/>
            <a:ext cx="6071616" cy="707136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07792" y="2907792"/>
            <a:ext cx="73152" cy="707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54096" y="2980944"/>
            <a:ext cx="21389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3054096" y="3145536"/>
            <a:ext cx="23906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#52606d;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101584" y="2980944"/>
            <a:ext cx="713232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56448" y="303123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0,0,1</a:t>
            </a:r>
            <a:endParaRPr lang="en-US" sz="810" dirty="0"/>
          </a:p>
        </p:txBody>
      </p:sp>
      <p:sp>
        <p:nvSpPr>
          <p:cNvPr id="26" name="Text 23"/>
          <p:cNvSpPr/>
          <p:nvPr/>
        </p:nvSpPr>
        <p:spPr>
          <a:xfrm>
            <a:off x="8028432" y="345948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general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2907792" y="3724656"/>
            <a:ext cx="6071616" cy="707136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07792" y="3724656"/>
            <a:ext cx="73152" cy="707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54096" y="3797808"/>
            <a:ext cx="21389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p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3054096" y="3962400"/>
            <a:ext cx="23906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#102a43;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101584" y="3797808"/>
            <a:ext cx="713232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56448" y="384810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0,1,1</a:t>
            </a:r>
            <a:endParaRPr lang="en-US" sz="810" dirty="0"/>
          </a:p>
        </p:txBody>
      </p:sp>
      <p:sp>
        <p:nvSpPr>
          <p:cNvPr id="33" name="Text 30"/>
          <p:cNvSpPr/>
          <p:nvPr/>
        </p:nvSpPr>
        <p:spPr>
          <a:xfrm>
            <a:off x="8028432" y="427634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preciso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2907792" y="4541520"/>
            <a:ext cx="6071616" cy="707136"/>
          </a:xfrm>
          <a:prstGeom prst="roundRect">
            <a:avLst>
              <a:gd name="adj" fmla="val 3879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07792" y="4541520"/>
            <a:ext cx="73152" cy="7071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54096" y="4614672"/>
            <a:ext cx="21389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#principal .card p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3054096" y="4779264"/>
            <a:ext cx="23906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#d62027;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101584" y="4614672"/>
            <a:ext cx="713232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56448" y="466496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1,1,1</a:t>
            </a:r>
            <a:endParaRPr lang="en-US" sz="810" dirty="0"/>
          </a:p>
        </p:txBody>
      </p:sp>
      <p:sp>
        <p:nvSpPr>
          <p:cNvPr id="40" name="Text 37"/>
          <p:cNvSpPr/>
          <p:nvPr/>
        </p:nvSpPr>
        <p:spPr>
          <a:xfrm>
            <a:off x="8028432" y="509320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por id</a:t>
            </a:r>
            <a:endParaRPr lang="en-US" sz="760" dirty="0"/>
          </a:p>
        </p:txBody>
      </p:sp>
      <p:sp>
        <p:nvSpPr>
          <p:cNvPr id="41" name="Shape 38"/>
          <p:cNvSpPr/>
          <p:nvPr/>
        </p:nvSpPr>
        <p:spPr>
          <a:xfrm>
            <a:off x="9089136" y="3749040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90304" y="2962656"/>
            <a:ext cx="1444752" cy="226771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36608" y="314553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9418320" y="3547872"/>
            <a:ext cx="1188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454896" y="3675888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#d62027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418320" y="4096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final se explica sin tocar nada al azar</a:t>
            </a:r>
            <a:endParaRPr lang="en-US" sz="89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Diagnosticar CSS es seguir una secuencia, no improvisar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depuración mejora cuando se revisa el conflicto con un orden mental estable.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286000"/>
            <a:ext cx="2011680" cy="1865376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414016"/>
            <a:ext cx="109728" cy="1609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9572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Selector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52144" y="274320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regla apunta al elemento correcto?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3035808" y="2999232"/>
            <a:ext cx="256032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1296" y="2286000"/>
            <a:ext cx="2011680" cy="1865376"/>
          </a:xfrm>
          <a:prstGeom prst="roundRect">
            <a:avLst>
              <a:gd name="adj" fmla="val 19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02736" y="2414016"/>
            <a:ext cx="109728" cy="16093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7328" y="239572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Herencia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67328" y="274320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propiedad ya viene desde arriba?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5650992" y="2999232"/>
            <a:ext cx="25603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2286000"/>
            <a:ext cx="2011680" cy="1865376"/>
          </a:xfrm>
          <a:prstGeom prst="roundRect">
            <a:avLst>
              <a:gd name="adj" fmla="val 19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414016"/>
            <a:ext cx="109728" cy="1609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39572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Peso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82512" y="274320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una regla más específica compitiendo?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8266176" y="2999232"/>
            <a:ext cx="256032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41664" y="2286000"/>
            <a:ext cx="2011680" cy="1865376"/>
          </a:xfrm>
          <a:prstGeom prst="roundRect">
            <a:avLst>
              <a:gd name="adj" fmla="val 19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33104" y="2414016"/>
            <a:ext cx="109728" cy="1609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97696" y="239572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Orden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997696" y="274320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archivo deja otra regla después?</a:t>
            </a:r>
            <a:endParaRPr lang="en-US" sz="1140" dirty="0"/>
          </a:p>
        </p:txBody>
      </p:sp>
      <p:sp>
        <p:nvSpPr>
          <p:cNvPr id="29" name="Shape 26"/>
          <p:cNvSpPr/>
          <p:nvPr/>
        </p:nvSpPr>
        <p:spPr>
          <a:xfrm>
            <a:off x="1060704" y="4663440"/>
            <a:ext cx="9765792" cy="658368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61872" y="4828032"/>
            <a:ext cx="9363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CSS con método ahorra tiempo y evita subir complejidad solo para forzar un resultado.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 estilos como inspector cambia la calidad del debugging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regla aparece tachada o desplazada, el navegador ya está explicando el conflicto.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5669280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541324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40864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tipo inspector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980944"/>
            <a:ext cx="1133856" cy="2139696"/>
          </a:xfrm>
          <a:prstGeom prst="roundRect">
            <a:avLst>
              <a:gd name="adj" fmla="val 3226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3163824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a.card-link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1170432" y="356616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 observada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1170432" y="3803904"/>
            <a:ext cx="877824" cy="347472"/>
          </a:xfrm>
          <a:prstGeom prst="roundRect">
            <a:avLst>
              <a:gd name="adj" fmla="val 789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61872" y="3913632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2194560" y="3712464"/>
            <a:ext cx="182880" cy="2560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95728" y="2798064"/>
            <a:ext cx="2483510" cy="2487168"/>
          </a:xfrm>
          <a:prstGeom prst="roundRect">
            <a:avLst>
              <a:gd name="adj" fmla="val 147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05456" y="2926080"/>
            <a:ext cx="2264054" cy="664464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05456" y="2926080"/>
            <a:ext cx="73152" cy="6644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51760" y="2999232"/>
            <a:ext cx="7947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2651760" y="3182112"/>
            <a:ext cx="89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#243b53;</a:t>
            </a:r>
            <a:endParaRPr lang="en-US" sz="790" dirty="0"/>
          </a:p>
        </p:txBody>
      </p:sp>
      <p:sp>
        <p:nvSpPr>
          <p:cNvPr id="24" name="Shape 21"/>
          <p:cNvSpPr/>
          <p:nvPr/>
        </p:nvSpPr>
        <p:spPr>
          <a:xfrm>
            <a:off x="3983126" y="2999232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37990" y="304952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0,0,1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3964838" y="3435096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710" dirty="0"/>
          </a:p>
        </p:txBody>
      </p:sp>
      <p:sp>
        <p:nvSpPr>
          <p:cNvPr id="27" name="Shape 24"/>
          <p:cNvSpPr/>
          <p:nvPr/>
        </p:nvSpPr>
        <p:spPr>
          <a:xfrm>
            <a:off x="2505456" y="3700272"/>
            <a:ext cx="2264054" cy="664464"/>
          </a:xfrm>
          <a:prstGeom prst="roundRect">
            <a:avLst>
              <a:gd name="adj" fmla="val 412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05456" y="3700272"/>
            <a:ext cx="73152" cy="664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51760" y="3773424"/>
            <a:ext cx="7947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.card-link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2651760" y="3956304"/>
            <a:ext cx="89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#102a43;</a:t>
            </a:r>
            <a:endParaRPr lang="en-US" sz="790" dirty="0"/>
          </a:p>
        </p:txBody>
      </p:sp>
      <p:sp>
        <p:nvSpPr>
          <p:cNvPr id="31" name="Shape 28"/>
          <p:cNvSpPr/>
          <p:nvPr/>
        </p:nvSpPr>
        <p:spPr>
          <a:xfrm>
            <a:off x="3983126" y="3773424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37990" y="382371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0,1,0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3964838" y="420928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activo</a:t>
            </a:r>
            <a:endParaRPr lang="en-US" sz="710" dirty="0"/>
          </a:p>
        </p:txBody>
      </p:sp>
      <p:sp>
        <p:nvSpPr>
          <p:cNvPr id="34" name="Shape 31"/>
          <p:cNvSpPr/>
          <p:nvPr/>
        </p:nvSpPr>
        <p:spPr>
          <a:xfrm>
            <a:off x="2505456" y="4474464"/>
            <a:ext cx="2264054" cy="664464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05456" y="4474464"/>
            <a:ext cx="73152" cy="6644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651760" y="4547616"/>
            <a:ext cx="7947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#principal a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651760" y="4730496"/>
            <a:ext cx="89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#d62027;</a:t>
            </a:r>
            <a:endParaRPr lang="en-US" sz="790" dirty="0"/>
          </a:p>
        </p:txBody>
      </p:sp>
      <p:sp>
        <p:nvSpPr>
          <p:cNvPr id="38" name="Shape 35"/>
          <p:cNvSpPr/>
          <p:nvPr/>
        </p:nvSpPr>
        <p:spPr>
          <a:xfrm>
            <a:off x="3983126" y="4547616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37990" y="45979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1,0,1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3964838" y="498348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aplica aquí</a:t>
            </a:r>
            <a:endParaRPr lang="en-US" sz="710" dirty="0"/>
          </a:p>
        </p:txBody>
      </p:sp>
      <p:sp>
        <p:nvSpPr>
          <p:cNvPr id="41" name="Shape 38"/>
          <p:cNvSpPr/>
          <p:nvPr/>
        </p:nvSpPr>
        <p:spPr>
          <a:xfrm>
            <a:off x="4897526" y="3712464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098694" y="2980944"/>
            <a:ext cx="1247242" cy="2139696"/>
          </a:xfrm>
          <a:prstGeom prst="roundRect">
            <a:avLst>
              <a:gd name="adj" fmla="val 29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44998" y="3163824"/>
            <a:ext cx="9546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226710" y="3566160"/>
            <a:ext cx="99121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63286" y="3694176"/>
            <a:ext cx="91805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#102a43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226710" y="4114800"/>
            <a:ext cx="991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 técnica ya trae pistas sobre el porqué</a:t>
            </a:r>
            <a:endParaRPr lang="en-US" sz="890" dirty="0"/>
          </a:p>
        </p:txBody>
      </p:sp>
      <p:sp>
        <p:nvSpPr>
          <p:cNvPr id="47" name="Shape 44"/>
          <p:cNvSpPr/>
          <p:nvPr/>
        </p:nvSpPr>
        <p:spPr>
          <a:xfrm>
            <a:off x="6803136" y="2176272"/>
            <a:ext cx="3675888" cy="1207008"/>
          </a:xfrm>
          <a:prstGeom prst="roundRect">
            <a:avLst>
              <a:gd name="adj" fmla="val 30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94576" y="2304288"/>
            <a:ext cx="109728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59168" y="228600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conviene mirar</a:t>
            </a:r>
            <a:endParaRPr lang="en-US" sz="1720" dirty="0"/>
          </a:p>
        </p:txBody>
      </p:sp>
      <p:sp>
        <p:nvSpPr>
          <p:cNvPr id="50" name="Text 47"/>
          <p:cNvSpPr/>
          <p:nvPr/>
        </p:nvSpPr>
        <p:spPr>
          <a:xfrm>
            <a:off x="7059168" y="2633472"/>
            <a:ext cx="3328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activa · regla tachada · peso relativo · valor final</a:t>
            </a:r>
            <a:endParaRPr lang="en-US" sz="1120" dirty="0"/>
          </a:p>
        </p:txBody>
      </p:sp>
      <p:sp>
        <p:nvSpPr>
          <p:cNvPr id="51" name="Shape 48"/>
          <p:cNvSpPr/>
          <p:nvPr/>
        </p:nvSpPr>
        <p:spPr>
          <a:xfrm>
            <a:off x="6803136" y="3602736"/>
            <a:ext cx="3675888" cy="1133856"/>
          </a:xfrm>
          <a:prstGeom prst="roundRect">
            <a:avLst>
              <a:gd name="adj" fmla="val 32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894576" y="3730752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59168" y="371246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frecuente</a:t>
            </a:r>
            <a:endParaRPr lang="en-US" sz="1720" dirty="0"/>
          </a:p>
        </p:txBody>
      </p:sp>
      <p:sp>
        <p:nvSpPr>
          <p:cNvPr id="54" name="Text 51"/>
          <p:cNvSpPr/>
          <p:nvPr/>
        </p:nvSpPr>
        <p:spPr>
          <a:xfrm>
            <a:off x="7059168" y="4059936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sumar más selectores sin entender primero qué regla ya está dominando.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803136" y="4956048"/>
            <a:ext cx="3675888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894576" y="5084064"/>
            <a:ext cx="109728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59168" y="506577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sana</a:t>
            </a:r>
            <a:endParaRPr lang="en-US" sz="1620" dirty="0"/>
          </a:p>
        </p:txBody>
      </p:sp>
      <p:sp>
        <p:nvSpPr>
          <p:cNvPr id="58" name="Text 55"/>
          <p:cNvSpPr/>
          <p:nvPr/>
        </p:nvSpPr>
        <p:spPr>
          <a:xfrm>
            <a:off x="7059168" y="5413248"/>
            <a:ext cx="3328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entender, después corregir</a:t>
            </a:r>
            <a:endParaRPr lang="en-US" sz="10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fijar la lectura técnica de conflictos, herencia y peso entre reglas.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176272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04288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8600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188720" y="2633472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CSS necesita una lógica de cascada cuando varias reglas afectan el mismo elemento?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6053328" y="2176272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2304288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28600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6309360" y="2633472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propiedades suelen heredarse y cuáles no conviene asumir como heredables?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932688" y="3749040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4128" y="3877056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385876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1188720" y="4206240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la especificidad ayuda a explicar conflictos entre reglas?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6053328" y="3749040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3877056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85876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</a:t>
            </a:r>
            <a:endParaRPr lang="en-US" sz="1720" dirty="0"/>
          </a:p>
        </p:txBody>
      </p:sp>
      <p:sp>
        <p:nvSpPr>
          <p:cNvPr id="25" name="Text 22"/>
          <p:cNvSpPr/>
          <p:nvPr/>
        </p:nvSpPr>
        <p:spPr>
          <a:xfrm>
            <a:off x="6309360" y="4206240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se depura un estilo con criterio y no tocando propiedades al azar?</a:t>
            </a:r>
            <a:endParaRPr lang="en-US" sz="11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conflicto CSS puede discutirse rápido con apoyo, pero solo se cierra bien cuando el inspector confirma qué regla manda.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9948672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969264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40864"/>
            <a:ext cx="947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rápida sí, validación ciega no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706624"/>
            <a:ext cx="3968496" cy="2395728"/>
          </a:xfrm>
          <a:prstGeom prst="roundRect">
            <a:avLst>
              <a:gd name="adj" fmla="val 152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834640"/>
            <a:ext cx="109728" cy="21396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83464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6736" y="310896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inicial del conflicto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16736" y="3493008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8176" y="359816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5570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por qué una regla parece no aplicarse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316736" y="3913632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401878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54480" y="397764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selectores y pesos relativos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1316736" y="4334256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4394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4480" y="439826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hipótesis sobre herencia u orden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1316736" y="4754880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08176" y="486003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81888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un primer mapa del problema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693408" y="2706624"/>
            <a:ext cx="3968496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3136" y="2834640"/>
            <a:ext cx="109728" cy="21396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04304" y="283464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004304" y="310896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final del navegador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004304" y="3493008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95744" y="359816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42048" y="35570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la regla activa en DevTools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004304" y="3913632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95744" y="40187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397764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el conflicto es de especificidad u orden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004304" y="4334256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095744" y="44394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42048" y="439826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sin subir complejidad innecesaria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7004304" y="4754880"/>
            <a:ext cx="351129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5744" y="486003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42048" y="481888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válida una explicación sin evidencia real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5230368" y="3154680"/>
            <a:ext cx="1207008" cy="1499616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340096" y="330098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13248" y="3776472"/>
            <a:ext cx="841248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94960" y="33467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Inspector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358384" y="405079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del navegador manda sobre la intuición.</a:t>
            </a:r>
            <a:endParaRPr lang="en-US" sz="810" dirty="0"/>
          </a:p>
        </p:txBody>
      </p:sp>
      <p:sp>
        <p:nvSpPr>
          <p:cNvPr id="50" name="Shape 47"/>
          <p:cNvSpPr/>
          <p:nvPr/>
        </p:nvSpPr>
        <p:spPr>
          <a:xfrm>
            <a:off x="1060704" y="5157216"/>
            <a:ext cx="954633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70432" y="5202936"/>
            <a:ext cx="9326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hipótesis útiles; después lectura técnica real del conflicto.</a:t>
            </a:r>
            <a:endParaRPr lang="en-US" sz="8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· Variables CSS y consistencia visual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importa pasar de reglas sueltas a decisiones visuales nombradas y reutilizables.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3675888" cy="3072384"/>
          </a:xfrm>
          <a:prstGeom prst="roundRect">
            <a:avLst>
              <a:gd name="adj" fmla="val 11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570561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36487" y="2432304"/>
            <a:ext cx="184343" cy="49158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1554" y="2570561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889504"/>
            <a:ext cx="25968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CSS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ordenan decisiones,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reducen repetición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preparan un estilo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mantenible.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828032" y="2176272"/>
            <a:ext cx="5943600" cy="285292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56048" y="2304288"/>
            <a:ext cx="568756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65776" y="237744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que ya conviene centralizar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010912" y="2834640"/>
            <a:ext cx="1749552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10912" y="2834640"/>
            <a:ext cx="91440" cy="1682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3792" y="2980944"/>
            <a:ext cx="149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5157216" y="3328416"/>
            <a:ext cx="147523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30368" y="3429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9824" y="3401568"/>
            <a:ext cx="999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5449824" y="3529584"/>
            <a:ext cx="999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5157216" y="3840480"/>
            <a:ext cx="147523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30368" y="39410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9824" y="3913632"/>
            <a:ext cx="999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--text-main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5449824" y="4041648"/>
            <a:ext cx="999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#102A43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6925056" y="2834640"/>
            <a:ext cx="1749552" cy="1682496"/>
          </a:xfrm>
          <a:prstGeom prst="roundRect">
            <a:avLst>
              <a:gd name="adj" fmla="val 21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25056" y="2834640"/>
            <a:ext cx="91440" cy="1682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07936" y="2980944"/>
            <a:ext cx="149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7071360" y="3328416"/>
            <a:ext cx="147523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44512" y="3401568"/>
            <a:ext cx="127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--space-sm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7144512" y="3529584"/>
            <a:ext cx="1274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8px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7071360" y="3840480"/>
            <a:ext cx="147523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44512" y="3913632"/>
            <a:ext cx="127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--space-md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7144512" y="4041648"/>
            <a:ext cx="1274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16px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8839200" y="2834640"/>
            <a:ext cx="1749552" cy="1682496"/>
          </a:xfrm>
          <a:prstGeom prst="roundRect">
            <a:avLst>
              <a:gd name="adj" fmla="val 21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839200" y="2834640"/>
            <a:ext cx="91440" cy="1682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22080" y="2980944"/>
            <a:ext cx="149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8985504" y="3328416"/>
            <a:ext cx="147523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058656" y="3429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78112" y="3401568"/>
            <a:ext cx="999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--surface-card</a:t>
            </a:r>
            <a:endParaRPr lang="en-US" sz="820" dirty="0"/>
          </a:p>
        </p:txBody>
      </p:sp>
      <p:sp>
        <p:nvSpPr>
          <p:cNvPr id="44" name="Text 41"/>
          <p:cNvSpPr/>
          <p:nvPr/>
        </p:nvSpPr>
        <p:spPr>
          <a:xfrm>
            <a:off x="9278112" y="3529584"/>
            <a:ext cx="999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#FFFFFF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8985504" y="3840480"/>
            <a:ext cx="147523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58656" y="3913632"/>
            <a:ext cx="127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--radius-md</a:t>
            </a:r>
            <a:endParaRPr lang="en-US" sz="820" dirty="0"/>
          </a:p>
        </p:txBody>
      </p:sp>
      <p:sp>
        <p:nvSpPr>
          <p:cNvPr id="47" name="Text 44"/>
          <p:cNvSpPr/>
          <p:nvPr/>
        </p:nvSpPr>
        <p:spPr>
          <a:xfrm>
            <a:off x="9058656" y="4041648"/>
            <a:ext cx="1274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12px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5010912" y="4864608"/>
            <a:ext cx="5577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variable no solo ahorra escritura: también nombra una decisión.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4846320" y="5102352"/>
            <a:ext cx="1883664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919472" y="5212080"/>
            <a:ext cx="100584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102352" y="5230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repetición</a:t>
            </a:r>
            <a:endParaRPr lang="en-US" sz="1220" dirty="0"/>
          </a:p>
        </p:txBody>
      </p:sp>
      <p:sp>
        <p:nvSpPr>
          <p:cNvPr id="52" name="Text 49"/>
          <p:cNvSpPr/>
          <p:nvPr/>
        </p:nvSpPr>
        <p:spPr>
          <a:xfrm>
            <a:off x="5102352" y="5504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multiplica, después cuesta cambiarla</a:t>
            </a:r>
            <a:endParaRPr lang="en-US" sz="880" dirty="0"/>
          </a:p>
        </p:txBody>
      </p:sp>
      <p:sp>
        <p:nvSpPr>
          <p:cNvPr id="53" name="Shape 50"/>
          <p:cNvSpPr/>
          <p:nvPr/>
        </p:nvSpPr>
        <p:spPr>
          <a:xfrm>
            <a:off x="6931152" y="5102352"/>
            <a:ext cx="1883664" cy="713232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004304" y="5212080"/>
            <a:ext cx="100584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87184" y="5230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220" dirty="0"/>
          </a:p>
        </p:txBody>
      </p:sp>
      <p:sp>
        <p:nvSpPr>
          <p:cNvPr id="56" name="Text 53"/>
          <p:cNvSpPr/>
          <p:nvPr/>
        </p:nvSpPr>
        <p:spPr>
          <a:xfrm>
            <a:off x="7187184" y="5504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piezas dejan de vivir como casos aislados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9015984" y="5102352"/>
            <a:ext cx="1792224" cy="713232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089136" y="5212080"/>
            <a:ext cx="100584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272016" y="52303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1180" dirty="0"/>
          </a:p>
        </p:txBody>
      </p:sp>
      <p:sp>
        <p:nvSpPr>
          <p:cNvPr id="60" name="Text 57"/>
          <p:cNvSpPr/>
          <p:nvPr/>
        </p:nvSpPr>
        <p:spPr>
          <a:xfrm>
            <a:off x="9272016" y="55046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ajuste central evita tocar todo a mano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Repetir decisiones visuales tiene costo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mismo color, radio o espacio se escribe muchas veces, cualquier cambio deja de ser pequeño.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4937760" cy="3419856"/>
          </a:xfrm>
          <a:prstGeom prst="roundRect">
            <a:avLst>
              <a:gd name="adj" fmla="val 10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12848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286000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que funciona, pero escala mal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670048"/>
            <a:ext cx="44988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#ffffff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12px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#102a43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#ffffff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12px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border-left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4px solid #d62027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#102a43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6053328" y="2121408"/>
            <a:ext cx="1993392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2249424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231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 repetido</a:t>
            </a:r>
            <a:endParaRPr lang="en-US" sz="1560" dirty="0"/>
          </a:p>
        </p:txBody>
      </p:sp>
      <p:sp>
        <p:nvSpPr>
          <p:cNvPr id="17" name="Text 14"/>
          <p:cNvSpPr/>
          <p:nvPr/>
        </p:nvSpPr>
        <p:spPr>
          <a:xfrm>
            <a:off x="6309360" y="2578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rojo principal aparece en varias reglas y después cuesta rastrearlo.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284464" y="2121408"/>
            <a:ext cx="1993392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75904" y="2249424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0496" y="2231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 repetido</a:t>
            </a:r>
            <a:endParaRPr lang="en-US" sz="1560" dirty="0"/>
          </a:p>
        </p:txBody>
      </p:sp>
      <p:sp>
        <p:nvSpPr>
          <p:cNvPr id="21" name="Text 18"/>
          <p:cNvSpPr/>
          <p:nvPr/>
        </p:nvSpPr>
        <p:spPr>
          <a:xfrm>
            <a:off x="8540496" y="2578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borde redondeado se vuelve un dato duplicado.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053328" y="3346704"/>
            <a:ext cx="1993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3474720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456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repetido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6309360" y="3803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color base de texto debería declararse una vez y reutilizarse.</a:t>
            </a:r>
            <a:endParaRPr lang="en-US" sz="990" dirty="0"/>
          </a:p>
        </p:txBody>
      </p:sp>
      <p:sp>
        <p:nvSpPr>
          <p:cNvPr id="26" name="Shape 23"/>
          <p:cNvSpPr/>
          <p:nvPr/>
        </p:nvSpPr>
        <p:spPr>
          <a:xfrm>
            <a:off x="8284464" y="3346704"/>
            <a:ext cx="1993392" cy="969264"/>
          </a:xfrm>
          <a:prstGeom prst="roundRect">
            <a:avLst>
              <a:gd name="adj" fmla="val 37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75904" y="3474720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0496" y="3456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 técnico</a:t>
            </a:r>
            <a:endParaRPr lang="en-US" sz="1520" dirty="0"/>
          </a:p>
        </p:txBody>
      </p:sp>
      <p:sp>
        <p:nvSpPr>
          <p:cNvPr id="29" name="Text 26"/>
          <p:cNvSpPr/>
          <p:nvPr/>
        </p:nvSpPr>
        <p:spPr>
          <a:xfrm>
            <a:off x="8540496" y="3803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decisión obliga a buscarla regla por regla.</a:t>
            </a:r>
            <a:endParaRPr lang="en-US" sz="990" dirty="0"/>
          </a:p>
        </p:txBody>
      </p:sp>
      <p:sp>
        <p:nvSpPr>
          <p:cNvPr id="30" name="Shape 27"/>
          <p:cNvSpPr/>
          <p:nvPr/>
        </p:nvSpPr>
        <p:spPr>
          <a:xfrm>
            <a:off x="5980176" y="4700016"/>
            <a:ext cx="4443984" cy="749808"/>
          </a:xfrm>
          <a:prstGeom prst="roundRect">
            <a:avLst>
              <a:gd name="adj" fmla="val 487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81344" y="486460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decisión visual se repite demasiado, ya conviene centralizarla.</a:t>
            </a:r>
            <a:endParaRPr lang="en-US" sz="16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CSS: centralizar criterio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combinación entre :root y var(...) permite convertir valores repetidos en decisiones visibles y reutilizables.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786384" y="2066544"/>
            <a:ext cx="5559552" cy="3730752"/>
          </a:xfrm>
          <a:prstGeom prst="roundRect">
            <a:avLst>
              <a:gd name="adj" fmla="val 98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76272"/>
            <a:ext cx="5303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249424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básicas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70359" y="2655427"/>
            <a:ext cx="469270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55654" y="2812246"/>
            <a:ext cx="1200497" cy="164592"/>
          </a:xfrm>
          <a:prstGeom prst="roundRect">
            <a:avLst>
              <a:gd name="adj" fmla="val 22222"/>
            </a:avLst>
          </a:prstGeom>
          <a:solidFill>
            <a:srgbClr val="F8E4E5">
              <a:alpha val="32000"/>
            </a:srgbClr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86881" y="3596344"/>
            <a:ext cx="1505176" cy="164592"/>
          </a:xfrm>
          <a:prstGeom prst="roundRect">
            <a:avLst>
              <a:gd name="adj" fmla="val 22222"/>
            </a:avLst>
          </a:prstGeom>
          <a:solidFill>
            <a:srgbClr val="E6EEF7">
              <a:alpha val="32000"/>
            </a:srgbClr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69688" y="4380442"/>
            <a:ext cx="1139562" cy="164592"/>
          </a:xfrm>
          <a:prstGeom prst="roundRect">
            <a:avLst>
              <a:gd name="adj" fmla="val 22222"/>
            </a:avLst>
          </a:prstGeom>
          <a:solidFill>
            <a:srgbClr val="F2E7D9">
              <a:alpha val="32000"/>
            </a:srgbClr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633472"/>
            <a:ext cx="512064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--color-texto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#102a43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--radio-md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12px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--radio-md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--color-texto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--radio-md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638544" y="2231136"/>
            <a:ext cx="1993392" cy="859536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11696" y="2340864"/>
            <a:ext cx="100584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4576" y="23591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:root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94576" y="263347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variables disponibles para todo el documento.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38544" y="3255264"/>
            <a:ext cx="1993392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29984" y="3383280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94576" y="3364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nombrados</a:t>
            </a:r>
            <a:endParaRPr lang="en-US" sz="1640" dirty="0"/>
          </a:p>
        </p:txBody>
      </p:sp>
      <p:sp>
        <p:nvSpPr>
          <p:cNvPr id="25" name="Text 22"/>
          <p:cNvSpPr/>
          <p:nvPr/>
        </p:nvSpPr>
        <p:spPr>
          <a:xfrm>
            <a:off x="6894576" y="3712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--color-primario y --radio-md ya hablan de función, no solo de valor.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906256" y="2670048"/>
            <a:ext cx="1847088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97696" y="2798064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62288" y="27797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var(...)</a:t>
            </a:r>
            <a:endParaRPr lang="en-US" sz="1660" dirty="0"/>
          </a:p>
        </p:txBody>
      </p:sp>
      <p:sp>
        <p:nvSpPr>
          <p:cNvPr id="29" name="Text 26"/>
          <p:cNvSpPr/>
          <p:nvPr/>
        </p:nvSpPr>
        <p:spPr>
          <a:xfrm>
            <a:off x="9162288" y="3127248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 la decisión desde cualquier regla que la necesite.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8906256" y="4041648"/>
            <a:ext cx="1847088" cy="914400"/>
          </a:xfrm>
          <a:prstGeom prst="roundRect">
            <a:avLst>
              <a:gd name="adj" fmla="val 3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79408" y="4151376"/>
            <a:ext cx="100584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62288" y="416966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reutilización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162288" y="4443984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y card comparten radio sin reescribirlo a mano.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364224" y="2632722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45936" y="2706789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37376" y="2706789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02298" y="2633472"/>
            <a:ext cx="16459" cy="8154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10528" y="2625242"/>
            <a:ext cx="128016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630314" y="2633472"/>
            <a:ext cx="16459" cy="2743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64224" y="2789542"/>
            <a:ext cx="73152" cy="164592"/>
          </a:xfrm>
          <a:prstGeom prst="roundRect">
            <a:avLst>
              <a:gd name="adj" fmla="val 6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45936" y="2863608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37376" y="2863608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02298" y="2871838"/>
            <a:ext cx="16459" cy="84062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10528" y="3704234"/>
            <a:ext cx="128016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30314" y="3712464"/>
            <a:ext cx="16459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64224" y="3573640"/>
            <a:ext cx="73152" cy="164592"/>
          </a:xfrm>
          <a:prstGeom prst="roundRect">
            <a:avLst>
              <a:gd name="adj" fmla="val 6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45936" y="3647706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37376" y="3647706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02298" y="3273552"/>
            <a:ext cx="16459" cy="38238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10528" y="3265322"/>
            <a:ext cx="239572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898026" y="3255264"/>
            <a:ext cx="16459" cy="1828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64224" y="4357738"/>
            <a:ext cx="73152" cy="164592"/>
          </a:xfrm>
          <a:prstGeom prst="roundRect">
            <a:avLst>
              <a:gd name="adj" fmla="val 6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45936" y="4431804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37376" y="4431804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502298" y="4440034"/>
            <a:ext cx="16459" cy="33313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510528" y="4764938"/>
            <a:ext cx="239572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898026" y="4498848"/>
            <a:ext cx="16459" cy="274320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valor suelto a decisión nombrada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variable CSS vuelve explícita la función visual de un valor dentro del sistema.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2926080" cy="3127248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45059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Valores sueltos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97280" y="2871216"/>
            <a:ext cx="1499616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29077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97280" y="3529584"/>
            <a:ext cx="1499616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35661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12px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97280" y="4187952"/>
            <a:ext cx="1499616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4224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#102a43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78992" y="473659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Sirven, pero no explican qué papel cumplen dentro del sistema visual.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4041648" y="3639312"/>
            <a:ext cx="347472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2139696"/>
            <a:ext cx="6236208" cy="3236976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0" y="2267712"/>
            <a:ext cx="598017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34086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contenido ya se entiende mejor como token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4809744" y="2798064"/>
            <a:ext cx="1847088" cy="2377440"/>
          </a:xfrm>
          <a:prstGeom prst="roundRect">
            <a:avLst>
              <a:gd name="adj" fmla="val 198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09744" y="2798064"/>
            <a:ext cx="91440" cy="2377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92624" y="29443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4956048" y="3291840"/>
            <a:ext cx="157276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0" y="33924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48656" y="33649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5248656" y="349300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4956048" y="3803904"/>
            <a:ext cx="157276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0" y="39044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48656" y="387705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--text-main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5248656" y="400507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#102A43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6821424" y="2798064"/>
            <a:ext cx="1847088" cy="2377440"/>
          </a:xfrm>
          <a:prstGeom prst="roundRect">
            <a:avLst>
              <a:gd name="adj" fmla="val 198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21424" y="2798064"/>
            <a:ext cx="91440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04304" y="29443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</a:t>
            </a:r>
            <a:endParaRPr lang="en-US" sz="1220" dirty="0"/>
          </a:p>
        </p:txBody>
      </p:sp>
      <p:sp>
        <p:nvSpPr>
          <p:cNvPr id="37" name="Shape 34"/>
          <p:cNvSpPr/>
          <p:nvPr/>
        </p:nvSpPr>
        <p:spPr>
          <a:xfrm>
            <a:off x="6967728" y="3291840"/>
            <a:ext cx="157276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040880" y="33924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60336" y="33649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--surface-card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7260336" y="349300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#FFFFFF</a:t>
            </a:r>
            <a:endParaRPr lang="en-US" sz="840" dirty="0"/>
          </a:p>
        </p:txBody>
      </p:sp>
      <p:sp>
        <p:nvSpPr>
          <p:cNvPr id="41" name="Shape 38"/>
          <p:cNvSpPr/>
          <p:nvPr/>
        </p:nvSpPr>
        <p:spPr>
          <a:xfrm>
            <a:off x="6967728" y="3803904"/>
            <a:ext cx="157276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40880" y="387705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--radius-md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7040880" y="400507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12px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8833104" y="2798064"/>
            <a:ext cx="1847088" cy="2377440"/>
          </a:xfrm>
          <a:prstGeom prst="roundRect">
            <a:avLst>
              <a:gd name="adj" fmla="val 198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33104" y="2798064"/>
            <a:ext cx="91440" cy="2377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15984" y="29443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220" dirty="0"/>
          </a:p>
        </p:txBody>
      </p:sp>
      <p:sp>
        <p:nvSpPr>
          <p:cNvPr id="47" name="Shape 44"/>
          <p:cNvSpPr/>
          <p:nvPr/>
        </p:nvSpPr>
        <p:spPr>
          <a:xfrm>
            <a:off x="8979408" y="3291840"/>
            <a:ext cx="157276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52560" y="336499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--space-sm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9052560" y="349300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8px</a:t>
            </a:r>
            <a:endParaRPr lang="en-US" sz="840" dirty="0"/>
          </a:p>
        </p:txBody>
      </p:sp>
      <p:sp>
        <p:nvSpPr>
          <p:cNvPr id="50" name="Shape 47"/>
          <p:cNvSpPr/>
          <p:nvPr/>
        </p:nvSpPr>
        <p:spPr>
          <a:xfrm>
            <a:off x="8979408" y="3803904"/>
            <a:ext cx="157276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52560" y="387705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--space-lg</a:t>
            </a:r>
            <a:endParaRPr lang="en-US" sz="820" dirty="0"/>
          </a:p>
        </p:txBody>
      </p:sp>
      <p:sp>
        <p:nvSpPr>
          <p:cNvPr id="52" name="Text 49"/>
          <p:cNvSpPr/>
          <p:nvPr/>
        </p:nvSpPr>
        <p:spPr>
          <a:xfrm>
            <a:off x="9052560" y="400507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24px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4846320" y="5504688"/>
            <a:ext cx="5870448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047488" y="5669280"/>
            <a:ext cx="5468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Nombrar decisiones mejora la conversación técnica sobre el CSS.</a:t>
            </a:r>
            <a:endParaRPr lang="en-US" sz="14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Consistencia visual no es rigidez: es control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varias piezas comparten decisiones visuales, la interfaz se vuelve más estable y más razonable de mantener.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7461504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304288"/>
            <a:ext cx="7059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trata de volver todo idéntico. Se trata de que lo que se repite tenga una regla legible.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668512" y="2194560"/>
            <a:ext cx="2194560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59952" y="2322576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24544" y="2304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640" dirty="0"/>
          </a:p>
        </p:txBody>
      </p:sp>
      <p:sp>
        <p:nvSpPr>
          <p:cNvPr id="15" name="Text 12"/>
          <p:cNvSpPr/>
          <p:nvPr/>
        </p:nvSpPr>
        <p:spPr>
          <a:xfrm>
            <a:off x="8924544" y="265176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coherencia entre componentes y menos decisiones arbitrarias.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932688" y="3493008"/>
            <a:ext cx="9930384" cy="1865376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657600"/>
            <a:ext cx="9528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alineados por reglas compartidas</a:t>
            </a:r>
            <a:endParaRPr lang="en-US" sz="1380" dirty="0"/>
          </a:p>
        </p:txBody>
      </p:sp>
      <p:sp>
        <p:nvSpPr>
          <p:cNvPr id="18" name="Shape 15"/>
          <p:cNvSpPr/>
          <p:nvPr/>
        </p:nvSpPr>
        <p:spPr>
          <a:xfrm>
            <a:off x="1152144" y="4005072"/>
            <a:ext cx="1901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16736" y="41879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base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1316736" y="4462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texto base y mismo radio.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3273552" y="4151376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0" y="427939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principal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4754880" y="4005072"/>
            <a:ext cx="5888736" cy="493776"/>
          </a:xfrm>
          <a:prstGeom prst="roundRect">
            <a:avLst>
              <a:gd name="adj" fmla="val 74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4005072"/>
            <a:ext cx="91440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4169664"/>
            <a:ext cx="5614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Alerta: mismo color de acción, misma familia visual.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207008" y="5047488"/>
            <a:ext cx="1408176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80160" y="5084064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--color-primario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2798064" y="504748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871216" y="508406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--radio-md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3968496" y="5047488"/>
            <a:ext cx="1133856" cy="219456"/>
          </a:xfrm>
          <a:prstGeom prst="roundRect">
            <a:avLst>
              <a:gd name="adj" fmla="val 208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41648" y="508406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--text-main</a:t>
            </a:r>
            <a:endParaRPr lang="en-US" sz="8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sistema pequeño ya empieza a hablar en tokens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Color, espacio, superficie y tipografía pueden empezar a nombrarse desde temprano para evitar CSS desordenado.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10259568" cy="34747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31136"/>
            <a:ext cx="1000353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0428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base de tokens CSS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61488"/>
            <a:ext cx="2350008" cy="2304288"/>
          </a:xfrm>
          <a:prstGeom prst="roundRect">
            <a:avLst>
              <a:gd name="adj" fmla="val 158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2761488"/>
            <a:ext cx="91440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290779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1170432" y="3255264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3558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332841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1463040" y="345643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170432" y="3767328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43584" y="38679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63040" y="3840480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--color-texto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463040" y="3968496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#102A43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1170432" y="4279392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43584" y="4379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63040" y="435254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--surface-card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1463040" y="448056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#FFFFFF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3538728" y="2761488"/>
            <a:ext cx="2350008" cy="2304288"/>
          </a:xfrm>
          <a:prstGeom prst="roundRect">
            <a:avLst>
              <a:gd name="adj" fmla="val 158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38728" y="2761488"/>
            <a:ext cx="91440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21608" y="290779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3685032" y="3255264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58184" y="332841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--space-sm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3758184" y="3456432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8px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3685032" y="3767328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58184" y="384048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--space-md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3758184" y="3968496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16px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3685032" y="4279392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58184" y="4352544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--space-lg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3758184" y="4480560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24px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6053328" y="2761488"/>
            <a:ext cx="2350008" cy="2304288"/>
          </a:xfrm>
          <a:prstGeom prst="roundRect">
            <a:avLst>
              <a:gd name="adj" fmla="val 158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53328" y="2761488"/>
            <a:ext cx="91440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36208" y="290779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</a:t>
            </a:r>
            <a:endParaRPr lang="en-US" sz="1220" dirty="0"/>
          </a:p>
        </p:txBody>
      </p:sp>
      <p:sp>
        <p:nvSpPr>
          <p:cNvPr id="43" name="Shape 40"/>
          <p:cNvSpPr/>
          <p:nvPr/>
        </p:nvSpPr>
        <p:spPr>
          <a:xfrm>
            <a:off x="6199632" y="3255264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72784" y="332841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--radius-md</a:t>
            </a:r>
            <a:endParaRPr lang="en-US" sz="820" dirty="0"/>
          </a:p>
        </p:txBody>
      </p:sp>
      <p:sp>
        <p:nvSpPr>
          <p:cNvPr id="45" name="Text 42"/>
          <p:cNvSpPr/>
          <p:nvPr/>
        </p:nvSpPr>
        <p:spPr>
          <a:xfrm>
            <a:off x="6272784" y="3456432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12px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6199632" y="3767328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72784" y="384048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--shadow-soft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6272784" y="3968496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8px 24px rgba(...)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6199632" y="4279392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72784" y="4379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92240" y="435254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--border-soft</a:t>
            </a:r>
            <a:endParaRPr lang="en-US" sz="820" dirty="0"/>
          </a:p>
        </p:txBody>
      </p:sp>
      <p:sp>
        <p:nvSpPr>
          <p:cNvPr id="52" name="Text 49"/>
          <p:cNvSpPr/>
          <p:nvPr/>
        </p:nvSpPr>
        <p:spPr>
          <a:xfrm>
            <a:off x="6492240" y="448056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#D8DEE6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8567928" y="2761488"/>
            <a:ext cx="2350008" cy="2304288"/>
          </a:xfrm>
          <a:prstGeom prst="roundRect">
            <a:avLst>
              <a:gd name="adj" fmla="val 158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567928" y="2761488"/>
            <a:ext cx="91440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50808" y="290779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</a:t>
            </a:r>
            <a:endParaRPr lang="en-US" sz="1220" dirty="0"/>
          </a:p>
        </p:txBody>
      </p:sp>
      <p:sp>
        <p:nvSpPr>
          <p:cNvPr id="56" name="Shape 53"/>
          <p:cNvSpPr/>
          <p:nvPr/>
        </p:nvSpPr>
        <p:spPr>
          <a:xfrm>
            <a:off x="8714232" y="3255264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87384" y="332841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--font-title</a:t>
            </a:r>
            <a:endParaRPr lang="en-US" sz="820" dirty="0"/>
          </a:p>
        </p:txBody>
      </p:sp>
      <p:sp>
        <p:nvSpPr>
          <p:cNvPr id="58" name="Text 55"/>
          <p:cNvSpPr/>
          <p:nvPr/>
        </p:nvSpPr>
        <p:spPr>
          <a:xfrm>
            <a:off x="8787384" y="3456432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32px</a:t>
            </a:r>
            <a:endParaRPr lang="en-US" sz="840" dirty="0"/>
          </a:p>
        </p:txBody>
      </p:sp>
      <p:sp>
        <p:nvSpPr>
          <p:cNvPr id="59" name="Shape 56"/>
          <p:cNvSpPr/>
          <p:nvPr/>
        </p:nvSpPr>
        <p:spPr>
          <a:xfrm>
            <a:off x="8714232" y="3767328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787384" y="384048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--font-body</a:t>
            </a:r>
            <a:endParaRPr lang="en-US" sz="820" dirty="0"/>
          </a:p>
        </p:txBody>
      </p:sp>
      <p:sp>
        <p:nvSpPr>
          <p:cNvPr id="61" name="Text 58"/>
          <p:cNvSpPr/>
          <p:nvPr/>
        </p:nvSpPr>
        <p:spPr>
          <a:xfrm>
            <a:off x="8787384" y="3968496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16px</a:t>
            </a:r>
            <a:endParaRPr lang="en-US" sz="840" dirty="0"/>
          </a:p>
        </p:txBody>
      </p:sp>
      <p:sp>
        <p:nvSpPr>
          <p:cNvPr id="62" name="Shape 59"/>
          <p:cNvSpPr/>
          <p:nvPr/>
        </p:nvSpPr>
        <p:spPr>
          <a:xfrm>
            <a:off x="8714232" y="4279392"/>
            <a:ext cx="207568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787384" y="4352544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--line-body</a:t>
            </a:r>
            <a:endParaRPr lang="en-US" sz="820" dirty="0"/>
          </a:p>
        </p:txBody>
      </p:sp>
      <p:sp>
        <p:nvSpPr>
          <p:cNvPr id="64" name="Text 61"/>
          <p:cNvSpPr/>
          <p:nvPr/>
        </p:nvSpPr>
        <p:spPr>
          <a:xfrm>
            <a:off x="8787384" y="4480560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840" dirty="0"/>
          </a:p>
        </p:txBody>
      </p:sp>
      <p:sp>
        <p:nvSpPr>
          <p:cNvPr id="65" name="Text 62"/>
          <p:cNvSpPr/>
          <p:nvPr/>
        </p:nvSpPr>
        <p:spPr>
          <a:xfrm>
            <a:off x="1024128" y="5413248"/>
            <a:ext cx="9893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es un design system completo, pero ya es una base mucho más legible que repetir valores aislados.</a:t>
            </a:r>
            <a:endParaRPr lang="en-US" sz="8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misma decisión puede sostener varios componentes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color de acción, el mismo radio y el mismo texto base pueden atravesar botones, tarjetas, alertas y formularios.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77824" y="2157984"/>
            <a:ext cx="6473952" cy="296265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322576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alineados por reglas compartidas</a:t>
            </a:r>
            <a:endParaRPr lang="en-US" sz="1380" dirty="0"/>
          </a:p>
        </p:txBody>
      </p:sp>
      <p:sp>
        <p:nvSpPr>
          <p:cNvPr id="12" name="Shape 9"/>
          <p:cNvSpPr/>
          <p:nvPr/>
        </p:nvSpPr>
        <p:spPr>
          <a:xfrm>
            <a:off x="1097280" y="2670048"/>
            <a:ext cx="1737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61872" y="28529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base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1261872" y="31272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texto base y mismo radio.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2926080" y="2816352"/>
            <a:ext cx="1115568" cy="402336"/>
          </a:xfrm>
          <a:prstGeom prst="roundRect">
            <a:avLst>
              <a:gd name="adj" fmla="val 1136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0672" y="294436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principal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315968" y="2670048"/>
            <a:ext cx="2798064" cy="493776"/>
          </a:xfrm>
          <a:prstGeom prst="roundRect">
            <a:avLst>
              <a:gd name="adj" fmla="val 74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15968" y="2670048"/>
            <a:ext cx="91440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8848" y="283464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Alerta: mismo color de acción, misma familia visual.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4315968" y="3401568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315968" y="3566160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44768" y="3529584"/>
            <a:ext cx="987552" cy="384048"/>
          </a:xfrm>
          <a:prstGeom prst="roundRect">
            <a:avLst>
              <a:gd name="adj" fmla="val 1190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65760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1152144" y="4809744"/>
            <a:ext cx="1243584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5296" y="4846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--color-primario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2542032" y="4809744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15184" y="48463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--radio-md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3602736" y="4809744"/>
            <a:ext cx="1024128" cy="219456"/>
          </a:xfrm>
          <a:prstGeom prst="roundRect">
            <a:avLst>
              <a:gd name="adj" fmla="val 208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75888" y="484632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--text-main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7626096" y="2157984"/>
            <a:ext cx="3127248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17536" y="2286000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82128" y="226771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 de acción</a:t>
            </a:r>
            <a:endParaRPr lang="en-US" sz="1640" dirty="0"/>
          </a:p>
        </p:txBody>
      </p:sp>
      <p:sp>
        <p:nvSpPr>
          <p:cNvPr id="33" name="Text 30"/>
          <p:cNvSpPr/>
          <p:nvPr/>
        </p:nvSpPr>
        <p:spPr>
          <a:xfrm>
            <a:off x="7882128" y="261518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 y alertas pueden compartir la misma decisión principal sin verse improvisados.</a:t>
            </a:r>
            <a:endParaRPr lang="en-US" sz="1030" dirty="0"/>
          </a:p>
        </p:txBody>
      </p:sp>
      <p:sp>
        <p:nvSpPr>
          <p:cNvPr id="34" name="Shape 31"/>
          <p:cNvSpPr/>
          <p:nvPr/>
        </p:nvSpPr>
        <p:spPr>
          <a:xfrm>
            <a:off x="7626096" y="3310128"/>
            <a:ext cx="312724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17536" y="3438144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82128" y="3419856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 y superficie</a:t>
            </a:r>
            <a:endParaRPr lang="en-US" sz="1640" dirty="0"/>
          </a:p>
        </p:txBody>
      </p:sp>
      <p:sp>
        <p:nvSpPr>
          <p:cNvPr id="37" name="Text 34"/>
          <p:cNvSpPr/>
          <p:nvPr/>
        </p:nvSpPr>
        <p:spPr>
          <a:xfrm>
            <a:off x="7882128" y="376732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 y campos se sienten parte de la misma familia visual porque comparten base.</a:t>
            </a:r>
            <a:endParaRPr lang="en-US" sz="1030" dirty="0"/>
          </a:p>
        </p:txBody>
      </p:sp>
      <p:sp>
        <p:nvSpPr>
          <p:cNvPr id="38" name="Shape 35"/>
          <p:cNvSpPr/>
          <p:nvPr/>
        </p:nvSpPr>
        <p:spPr>
          <a:xfrm>
            <a:off x="7626096" y="4462272"/>
            <a:ext cx="3127248" cy="694944"/>
          </a:xfrm>
          <a:prstGeom prst="roundRect">
            <a:avLst>
              <a:gd name="adj" fmla="val 52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17536" y="4590288"/>
            <a:ext cx="109728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82128" y="457200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620" dirty="0"/>
          </a:p>
        </p:txBody>
      </p:sp>
      <p:sp>
        <p:nvSpPr>
          <p:cNvPr id="41" name="Text 38"/>
          <p:cNvSpPr/>
          <p:nvPr/>
        </p:nvSpPr>
        <p:spPr>
          <a:xfrm>
            <a:off x="7882128" y="4919472"/>
            <a:ext cx="2779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control local y más coherencia global.</a:t>
            </a:r>
            <a:endParaRPr lang="en-US" sz="10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Mantenimiento: repetir vs centralizar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se nota cuando una decisión cambia y el CSS debe responder sin romper todo alrededor.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4645152" cy="3456432"/>
          </a:xfrm>
          <a:prstGeom prst="roundRect">
            <a:avLst>
              <a:gd name="adj" fmla="val 105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49424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22576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variables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706624"/>
            <a:ext cx="42062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12px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border-left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4px solid #d62027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96128" y="3584448"/>
            <a:ext cx="310896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89904" y="2139696"/>
            <a:ext cx="5047488" cy="3456432"/>
          </a:xfrm>
          <a:prstGeom prst="roundRect">
            <a:avLst>
              <a:gd name="adj" fmla="val 105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249424"/>
            <a:ext cx="47914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27648" y="232257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variables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2706624"/>
            <a:ext cx="46085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#d62027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border-left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4px solid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--color-primario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78992" y="5687568"/>
            <a:ext cx="3931920" cy="384048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52144" y="5797296"/>
            <a:ext cx="100584" cy="1645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35024" y="581558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ajuste exige tocar varias reglas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419088" y="5687568"/>
            <a:ext cx="3931920" cy="38404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92240" y="5797296"/>
            <a:ext cx="100584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581558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decisión centralizada se reutiliza mejor</a:t>
            </a:r>
            <a:endParaRPr lang="en-US" sz="11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Refactorizar estilos mejora cuando la intención está explícita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CSS y tokens se vuelven más útiles cuando el cambio se piensa como flujo y no como parche suelto.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9838944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67712"/>
            <a:ext cx="95829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40864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Spec-driven para refactor de estilos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706624"/>
            <a:ext cx="2235708" cy="2560320"/>
          </a:xfrm>
          <a:prstGeom prst="roundRect">
            <a:avLst>
              <a:gd name="adj" fmla="val 1636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283464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2880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627632" y="2834640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1152144" y="3145536"/>
            <a:ext cx="73152" cy="19933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3163824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298448" y="3310128"/>
            <a:ext cx="18699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decisión visual se repite o debería quedar centralizada?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1298448" y="3657600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98448" y="3803904"/>
            <a:ext cx="1869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color, espacio, radio o superficie con intención clara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1298448" y="4700016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298448" y="4846320"/>
            <a:ext cx="1869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 sobre qué no debería cambiar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479292" y="2706624"/>
            <a:ext cx="2235708" cy="2560320"/>
          </a:xfrm>
          <a:prstGeom prst="roundRect">
            <a:avLst>
              <a:gd name="adj" fmla="val 16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89020" y="283464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89020" y="2880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4064508" y="2834640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360" dirty="0"/>
          </a:p>
        </p:txBody>
      </p:sp>
      <p:sp>
        <p:nvSpPr>
          <p:cNvPr id="28" name="Shape 25"/>
          <p:cNvSpPr/>
          <p:nvPr/>
        </p:nvSpPr>
        <p:spPr>
          <a:xfrm>
            <a:off x="3589020" y="3145536"/>
            <a:ext cx="73152" cy="19933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35324" y="3163824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35324" y="3310128"/>
            <a:ext cx="18699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variable o token conviene crear y dónde vive?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3735324" y="3657600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35324" y="3803904"/>
            <a:ext cx="1869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alcance y relación con componentes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3735324" y="4700016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735324" y="4846320"/>
            <a:ext cx="1869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 técnica del sistema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916168" y="2706624"/>
            <a:ext cx="2235708" cy="2560320"/>
          </a:xfrm>
          <a:prstGeom prst="roundRect">
            <a:avLst>
              <a:gd name="adj" fmla="val 163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25896" y="283464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25896" y="2880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501384" y="2834640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</a:t>
            </a:r>
            <a:endParaRPr lang="en-US" sz="1360" dirty="0"/>
          </a:p>
        </p:txBody>
      </p:sp>
      <p:sp>
        <p:nvSpPr>
          <p:cNvPr id="39" name="Shape 36"/>
          <p:cNvSpPr/>
          <p:nvPr/>
        </p:nvSpPr>
        <p:spPr>
          <a:xfrm>
            <a:off x="6025896" y="3145536"/>
            <a:ext cx="73152" cy="19933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2200" y="3163824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172200" y="3310128"/>
            <a:ext cx="18699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reglas deben moverse primero y cómo se prueba el cambio?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6172200" y="3657600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172200" y="3803904"/>
            <a:ext cx="1869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pequeños, revisables y trazables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172200" y="4700016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172200" y="4846320"/>
            <a:ext cx="1869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aislamiento y orden del refactor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353044" y="2706624"/>
            <a:ext cx="2235708" cy="256032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62772" y="283464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62772" y="2880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8938260" y="2834640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</a:t>
            </a:r>
            <a:endParaRPr lang="en-US" sz="1360" dirty="0"/>
          </a:p>
        </p:txBody>
      </p:sp>
      <p:sp>
        <p:nvSpPr>
          <p:cNvPr id="50" name="Shape 47"/>
          <p:cNvSpPr/>
          <p:nvPr/>
        </p:nvSpPr>
        <p:spPr>
          <a:xfrm>
            <a:off x="8462772" y="3145536"/>
            <a:ext cx="73152" cy="19933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609076" y="3163824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609076" y="3310128"/>
            <a:ext cx="18699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CSS cambió y cómo confirmas que la interfaz sigue coherente?</a:t>
            </a:r>
            <a:endParaRPr lang="en-US" sz="980" dirty="0"/>
          </a:p>
        </p:txBody>
      </p:sp>
      <p:sp>
        <p:nvSpPr>
          <p:cNvPr id="53" name="Text 50"/>
          <p:cNvSpPr/>
          <p:nvPr/>
        </p:nvSpPr>
        <p:spPr>
          <a:xfrm>
            <a:off x="8609076" y="3657600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609076" y="3803904"/>
            <a:ext cx="1869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refactorizadas y revisión visual</a:t>
            </a:r>
            <a:endParaRPr lang="en-US" sz="920" dirty="0"/>
          </a:p>
        </p:txBody>
      </p:sp>
      <p:sp>
        <p:nvSpPr>
          <p:cNvPr id="55" name="Text 52"/>
          <p:cNvSpPr/>
          <p:nvPr/>
        </p:nvSpPr>
        <p:spPr>
          <a:xfrm>
            <a:off x="8609076" y="4700016"/>
            <a:ext cx="18699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609076" y="4846320"/>
            <a:ext cx="1869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verificable en pantalla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97280" y="5522976"/>
            <a:ext cx="9436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acelerar detección y propuesta de tokens, pero la calidad del refactor depende de intención clara y revisión humana.</a:t>
            </a:r>
            <a:endParaRPr lang="en-US" sz="8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fijar la lógica entre repetición, variables, tokens y mantenimiento.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176272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04288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8600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188720" y="2633472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técnico aparece cuando un mismo color, espacio o radio se repite manualmente en varias reglas?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053328" y="2176272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2304288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28600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6309360" y="2633472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un valor pasa de verse como dato suelto a verse como decisión nombrada?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932688" y="3749040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4128" y="3877056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385876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1188720" y="4206240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variables CSS y consistencia visual están tan relacionadas entre sí?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053328" y="3749040"/>
            <a:ext cx="4572000" cy="1261872"/>
          </a:xfrm>
          <a:prstGeom prst="roundRect">
            <a:avLst>
              <a:gd name="adj" fmla="val 289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3877056"/>
            <a:ext cx="109728" cy="10058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85876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</a:t>
            </a:r>
            <a:endParaRPr lang="en-US" sz="1720" dirty="0"/>
          </a:p>
        </p:txBody>
      </p:sp>
      <p:sp>
        <p:nvSpPr>
          <p:cNvPr id="25" name="Text 22"/>
          <p:cNvSpPr/>
          <p:nvPr/>
        </p:nvSpPr>
        <p:spPr>
          <a:xfrm>
            <a:off x="6309360" y="4206240"/>
            <a:ext cx="4224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ventaja concreta aporta centralizar una decisión antes de entrar a layout y responsive?</a:t>
            </a:r>
            <a:endParaRPr lang="en-US" sz="11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variables CSS vuelven más legible la intención visual y preparan una capa de estilos mejor conectada con el layout.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6053328" cy="3255264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109728" cy="2999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249424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1152144" y="2596896"/>
            <a:ext cx="57058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CSS mejora cuando deja de repetir valores sin contexto y empieza a nombrar decisiones visuales que luego pueden reutilizarse entre componentes, pantallas y cambios futuros.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1170432" y="4736592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4773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176272" y="473659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9424" y="477316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73552" y="4736592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46704" y="477316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superficie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35424" y="4736592"/>
            <a:ext cx="896112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4773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260336" y="2139696"/>
            <a:ext cx="3547872" cy="3255264"/>
          </a:xfrm>
          <a:prstGeom prst="roundRect">
            <a:avLst>
              <a:gd name="adj" fmla="val 11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34656" y="2592141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23388" y="2450592"/>
            <a:ext cx="188732" cy="5032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43576" y="2592141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16368" y="294436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516368" y="369417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tramo veremos cómo estas decisiones llegan a la distribución real de elementos con Flexbox y Grid.</a:t>
            </a:r>
            <a:endParaRPr lang="en-US" sz="11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· Flexbox y Grid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el criterio visual llega al orden espacial: alinear, repartir y estructurar también son decisiones técnicas.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3438144" cy="3236976"/>
          </a:xfrm>
          <a:prstGeom prst="roundRect">
            <a:avLst>
              <a:gd name="adj" fmla="val 11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552273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9911" y="2414016"/>
            <a:ext cx="184343" cy="49158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4978" y="2552273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999232"/>
            <a:ext cx="2578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moderno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significa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control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sobre el espacio.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590288" y="2103120"/>
            <a:ext cx="288950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18304" y="2231136"/>
            <a:ext cx="2633472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8032" y="230428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4791456" y="2724912"/>
            <a:ext cx="2487168" cy="603504"/>
          </a:xfrm>
          <a:prstGeom prst="roundRect">
            <a:avLst>
              <a:gd name="adj" fmla="val 454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58512" y="2791968"/>
            <a:ext cx="1143000" cy="201168"/>
          </a:xfrm>
          <a:prstGeom prst="roundRect">
            <a:avLst>
              <a:gd name="adj" fmla="val 1363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8568" y="2791968"/>
            <a:ext cx="114300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58512" y="3060192"/>
            <a:ext cx="1143000" cy="201168"/>
          </a:xfrm>
          <a:prstGeom prst="roundRect">
            <a:avLst>
              <a:gd name="adj" fmla="val 1363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68568" y="3060192"/>
            <a:ext cx="114300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27264" y="2103120"/>
            <a:ext cx="288950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55280" y="2231136"/>
            <a:ext cx="2633472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65008" y="230428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8028432" y="2724912"/>
            <a:ext cx="2487168" cy="603504"/>
          </a:xfrm>
          <a:prstGeom prst="roundRect">
            <a:avLst>
              <a:gd name="adj" fmla="val 454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5488" y="2791968"/>
            <a:ext cx="739648" cy="201168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02192" y="2791968"/>
            <a:ext cx="7396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08896" y="2791968"/>
            <a:ext cx="739648" cy="201168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95488" y="3060192"/>
            <a:ext cx="7396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02192" y="3060192"/>
            <a:ext cx="739648" cy="201168"/>
          </a:xfrm>
          <a:prstGeom prst="roundRect">
            <a:avLst>
              <a:gd name="adj" fmla="val 1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08896" y="3060192"/>
            <a:ext cx="7396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90288" y="3803904"/>
            <a:ext cx="2889504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81728" y="3931920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0" y="391363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</a:t>
            </a:r>
            <a:endParaRPr lang="en-US" sz="1420" dirty="0"/>
          </a:p>
        </p:txBody>
      </p:sp>
      <p:sp>
        <p:nvSpPr>
          <p:cNvPr id="36" name="Text 33"/>
          <p:cNvSpPr/>
          <p:nvPr/>
        </p:nvSpPr>
        <p:spPr>
          <a:xfrm>
            <a:off x="4846320" y="42611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alineación y reparto sobre un eje dominante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7827264" y="3803904"/>
            <a:ext cx="2889504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918704" y="3931920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83296" y="391363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</a:t>
            </a:r>
            <a:endParaRPr lang="en-US" sz="1420" dirty="0"/>
          </a:p>
        </p:txBody>
      </p:sp>
      <p:sp>
        <p:nvSpPr>
          <p:cNvPr id="40" name="Text 37"/>
          <p:cNvSpPr/>
          <p:nvPr/>
        </p:nvSpPr>
        <p:spPr>
          <a:xfrm>
            <a:off x="8083296" y="42611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filas, columnas y áreas</a:t>
            </a: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896112" y="5559552"/>
            <a:ext cx="994867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97280" y="5724144"/>
            <a:ext cx="954633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compiten: resuelven problemas espaciales distintos y suelen convivir en una misma interfaz.</a:t>
            </a:r>
            <a:endParaRPr lang="en-US" sz="15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Distribuir elementos también es decidir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no solo necesita color y tipografía: también necesita orden espacial, relaciones y recorridos claros.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267712"/>
            <a:ext cx="1755648" cy="1444752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77440"/>
            <a:ext cx="100584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957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alineación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1152144" y="2670048"/>
            <a:ext cx="1426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queda al centro, al borde o en columna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2889504" y="2267712"/>
            <a:ext cx="1755648" cy="1444752"/>
          </a:xfrm>
          <a:prstGeom prst="roundRect">
            <a:avLst>
              <a:gd name="adj" fmla="val 18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62656" y="2377440"/>
            <a:ext cx="100584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45536" y="23957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reparto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3145536" y="2670048"/>
            <a:ext cx="1426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distribuye el espacio disponible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882896" y="2267712"/>
            <a:ext cx="1755648" cy="1444752"/>
          </a:xfrm>
          <a:prstGeom prst="roundRect">
            <a:avLst>
              <a:gd name="adj" fmla="val 189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56048" y="2377440"/>
            <a:ext cx="100584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38928" y="23957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</a:t>
            </a:r>
            <a:endParaRPr lang="en-US" sz="1340" dirty="0"/>
          </a:p>
        </p:txBody>
      </p:sp>
      <p:sp>
        <p:nvSpPr>
          <p:cNvPr id="21" name="Text 18"/>
          <p:cNvSpPr/>
          <p:nvPr/>
        </p:nvSpPr>
        <p:spPr>
          <a:xfrm>
            <a:off x="5138928" y="2670048"/>
            <a:ext cx="1426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bloques van juntos y cuáles forman áreas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876288" y="2267712"/>
            <a:ext cx="1755648" cy="1444752"/>
          </a:xfrm>
          <a:prstGeom prst="roundRect">
            <a:avLst>
              <a:gd name="adj" fmla="val 18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0" y="2377440"/>
            <a:ext cx="100584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23957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340" dirty="0"/>
          </a:p>
        </p:txBody>
      </p:sp>
      <p:sp>
        <p:nvSpPr>
          <p:cNvPr id="25" name="Text 22"/>
          <p:cNvSpPr/>
          <p:nvPr/>
        </p:nvSpPr>
        <p:spPr>
          <a:xfrm>
            <a:off x="7132320" y="2670048"/>
            <a:ext cx="1426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cambia cuando el ancho disponible varía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869680" y="2267712"/>
            <a:ext cx="1755648" cy="1444752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42832" y="2377440"/>
            <a:ext cx="100584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25712" y="23957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340" dirty="0"/>
          </a:p>
        </p:txBody>
      </p:sp>
      <p:sp>
        <p:nvSpPr>
          <p:cNvPr id="29" name="Text 26"/>
          <p:cNvSpPr/>
          <p:nvPr/>
        </p:nvSpPr>
        <p:spPr>
          <a:xfrm>
            <a:off x="9125712" y="2670048"/>
            <a:ext cx="1426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la herramienta según el problema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1152144" y="3803904"/>
            <a:ext cx="9400032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80160" y="3931920"/>
            <a:ext cx="914400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89888" y="4023360"/>
            <a:ext cx="8924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mismo contenido puede exigir otra distribución según el espacio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1316736" y="4315968"/>
            <a:ext cx="4416552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426464" y="44622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1560" dirty="0"/>
          </a:p>
        </p:txBody>
      </p:sp>
      <p:sp>
        <p:nvSpPr>
          <p:cNvPr id="35" name="Shape 32"/>
          <p:cNvSpPr/>
          <p:nvPr/>
        </p:nvSpPr>
        <p:spPr>
          <a:xfrm>
            <a:off x="4818888" y="4443984"/>
            <a:ext cx="804672" cy="310896"/>
          </a:xfrm>
          <a:prstGeom prst="roundRect">
            <a:avLst>
              <a:gd name="adj" fmla="val 1470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92040" y="4480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426464" y="4828032"/>
            <a:ext cx="4197096" cy="420624"/>
          </a:xfrm>
          <a:prstGeom prst="roundRect">
            <a:avLst>
              <a:gd name="adj" fmla="val 4348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499616" y="4901184"/>
            <a:ext cx="405079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499616" y="5084064"/>
            <a:ext cx="1427013" cy="109728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776838" y="5084064"/>
            <a:ext cx="1007303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426464" y="537667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536192" y="5358384"/>
            <a:ext cx="4105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1426464" y="5577840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536192" y="5559552"/>
            <a:ext cx="4105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 visible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5971032" y="4315968"/>
            <a:ext cx="4416552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80760" y="44622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560" dirty="0"/>
          </a:p>
        </p:txBody>
      </p:sp>
      <p:sp>
        <p:nvSpPr>
          <p:cNvPr id="47" name="Shape 44"/>
          <p:cNvSpPr/>
          <p:nvPr/>
        </p:nvSpPr>
        <p:spPr>
          <a:xfrm>
            <a:off x="9473184" y="4443984"/>
            <a:ext cx="804672" cy="310896"/>
          </a:xfrm>
          <a:prstGeom prst="roundRect">
            <a:avLst>
              <a:gd name="adj" fmla="val 147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46336" y="4480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080760" y="4828032"/>
            <a:ext cx="4197096" cy="420624"/>
          </a:xfrm>
          <a:prstGeom prst="roundRect">
            <a:avLst>
              <a:gd name="adj" fmla="val 4348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153912" y="4901184"/>
            <a:ext cx="4050792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53912" y="5084064"/>
            <a:ext cx="1427013" cy="109728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431134" y="5084064"/>
            <a:ext cx="1007303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080760" y="5376672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190488" y="5358384"/>
            <a:ext cx="4105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contexto</a:t>
            </a:r>
            <a:endParaRPr lang="en-US" sz="880" dirty="0"/>
          </a:p>
        </p:txBody>
      </p:sp>
      <p:sp>
        <p:nvSpPr>
          <p:cNvPr id="55" name="Shape 52"/>
          <p:cNvSpPr/>
          <p:nvPr/>
        </p:nvSpPr>
        <p:spPr>
          <a:xfrm>
            <a:off x="6080760" y="5577840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190488" y="5559552"/>
            <a:ext cx="4105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5724144" y="4672584"/>
            <a:ext cx="20116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Flexbox: buena herramienta para una dirección dominante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resulta especialmente útil cuando el problema principal consiste en alinear o repartir una secuencia de elementos.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21408"/>
            <a:ext cx="3913632" cy="2852928"/>
          </a:xfrm>
          <a:prstGeom prst="roundRect">
            <a:avLst>
              <a:gd name="adj" fmla="val 12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31136"/>
            <a:ext cx="36576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04288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Toolbar con Flexbox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688336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.toolbar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flex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space-between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center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16px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5065776" y="2194560"/>
            <a:ext cx="2816352" cy="2340864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93792" y="2322576"/>
            <a:ext cx="2560320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23957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Contenedor flex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266944" y="2816352"/>
            <a:ext cx="2414016" cy="1463040"/>
          </a:xfrm>
          <a:prstGeom prst="roundRect">
            <a:avLst>
              <a:gd name="adj" fmla="val 187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94960" y="2944368"/>
            <a:ext cx="633984" cy="539496"/>
          </a:xfrm>
          <a:prstGeom prst="roundRect">
            <a:avLst>
              <a:gd name="adj" fmla="val 50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56960" y="2944368"/>
            <a:ext cx="633984" cy="53949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18960" y="2944368"/>
            <a:ext cx="633984" cy="539496"/>
          </a:xfrm>
          <a:prstGeom prst="roundRect">
            <a:avLst>
              <a:gd name="adj" fmla="val 50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3611880"/>
            <a:ext cx="633984" cy="53949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56960" y="3611880"/>
            <a:ext cx="633984" cy="539496"/>
          </a:xfrm>
          <a:prstGeom prst="roundRect">
            <a:avLst>
              <a:gd name="adj" fmla="val 50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56448" y="2157984"/>
            <a:ext cx="2615184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47888" y="2286000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226771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 bien</a:t>
            </a:r>
            <a:endParaRPr lang="en-US" sz="1640" dirty="0"/>
          </a:p>
        </p:txBody>
      </p:sp>
      <p:sp>
        <p:nvSpPr>
          <p:cNvPr id="26" name="Text 23"/>
          <p:cNvSpPr/>
          <p:nvPr/>
        </p:nvSpPr>
        <p:spPr>
          <a:xfrm>
            <a:off x="8412480" y="261518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toolbars, navegación, grupos de botones, formularios compactos y barras de acciones.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8156448" y="3310128"/>
            <a:ext cx="2615184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47888" y="3438144"/>
            <a:ext cx="109728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12480" y="341985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útil</a:t>
            </a:r>
            <a:endParaRPr lang="en-US" sz="1620" dirty="0"/>
          </a:p>
        </p:txBody>
      </p:sp>
      <p:sp>
        <p:nvSpPr>
          <p:cNvPr id="30" name="Text 27"/>
          <p:cNvSpPr/>
          <p:nvPr/>
        </p:nvSpPr>
        <p:spPr>
          <a:xfrm>
            <a:off x="8412480" y="37673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lo que importa es una fila o columna principal, Flexbox suele dar una solución más directa.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1078992" y="5138928"/>
            <a:ext cx="9601200" cy="420624"/>
          </a:xfrm>
          <a:prstGeom prst="roundRect">
            <a:avLst>
              <a:gd name="adj" fmla="val 869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80160" y="5303520"/>
            <a:ext cx="9198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 piensa muy bien en secuencia, alineación y reparto dentro de un mismo eje.</a:t>
            </a:r>
            <a:endParaRPr lang="en-US" sz="15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Flexbox importa leer los ejes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justify-content y align-items no se entienden bien si no se distingue primero el eje principal del secundario.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286000"/>
            <a:ext cx="5687568" cy="2670048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52374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principal</a:t>
            </a:r>
            <a:endParaRPr lang="en-US" sz="1560" dirty="0"/>
          </a:p>
        </p:txBody>
      </p:sp>
      <p:sp>
        <p:nvSpPr>
          <p:cNvPr id="12" name="Shape 9"/>
          <p:cNvSpPr/>
          <p:nvPr/>
        </p:nvSpPr>
        <p:spPr>
          <a:xfrm>
            <a:off x="1335024" y="3127248"/>
            <a:ext cx="400507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1316736" y="347472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justify-content distribuye sobre este eje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730752" y="2706624"/>
            <a:ext cx="0" cy="133502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3840480" y="373075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align-items ordena sobre el eje secundario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65376" y="2889504"/>
            <a:ext cx="512064" cy="384048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51760" y="2999232"/>
            <a:ext cx="512064" cy="38404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38144" y="2889504"/>
            <a:ext cx="512064" cy="384048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24528" y="2999232"/>
            <a:ext cx="512064" cy="38404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31152" y="2267712"/>
            <a:ext cx="3749040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22592" y="2395728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87184" y="23774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sana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187184" y="2724912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identificar dirección y eje principal; después recién decidir justify-content y align-items.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931152" y="3566160"/>
            <a:ext cx="3749040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22592" y="3694176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87184" y="367588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común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187184" y="402336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propiedades de alineación sin tener claro qué eje está gobernando el contenedor.</a:t>
            </a:r>
            <a:endParaRPr lang="en-US" sz="10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típicos donde Flexbox aparece rápido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práctico de Flexbox se nota cuando miramos patrones muy comunes del trabajo real.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40864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225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toolbar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188720" y="2670048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+ navegación + acciones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3657600" y="2212848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49040" y="2340864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13632" y="23225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acciones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913632" y="2670048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 alineados y con gap consistente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6382512" y="2212848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73952" y="2340864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38544" y="23225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6638544" y="2670048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cortos dentro de una misma fila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9107424" y="2212848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98864" y="2340864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63456" y="23225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chips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9363456" y="2670048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etiquetas o filtros que se reparten mejor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1993392" y="3968496"/>
            <a:ext cx="7040880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21408" y="4096512"/>
            <a:ext cx="6784848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31136" y="4169664"/>
            <a:ext cx="6565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elementos alineados sobre un mismo eje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2194560" y="4590288"/>
            <a:ext cx="6638544" cy="438912"/>
          </a:xfrm>
          <a:prstGeom prst="roundRect">
            <a:avLst>
              <a:gd name="adj" fmla="val 625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231136" y="4626864"/>
            <a:ext cx="3264408" cy="97536"/>
          </a:xfrm>
          <a:prstGeom prst="roundRect">
            <a:avLst>
              <a:gd name="adj" fmla="val 28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32120" y="4626864"/>
            <a:ext cx="3264408" cy="9753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31136" y="4760976"/>
            <a:ext cx="3264408" cy="97536"/>
          </a:xfrm>
          <a:prstGeom prst="roundRect">
            <a:avLst>
              <a:gd name="adj" fmla="val 28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32120" y="4760976"/>
            <a:ext cx="3264408" cy="9753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231136" y="4895088"/>
            <a:ext cx="3264408" cy="97536"/>
          </a:xfrm>
          <a:prstGeom prst="roundRect">
            <a:avLst>
              <a:gd name="adj" fmla="val 28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532120" y="4895088"/>
            <a:ext cx="3264408" cy="9753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Grid: más fuerte cuando pensamos en estructura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interfaz necesita filas, columnas o regiones, Grid ofrece una lectura espacial más potente.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3822192" cy="2889504"/>
          </a:xfrm>
          <a:prstGeom prst="roundRect">
            <a:avLst>
              <a:gd name="adj" fmla="val 126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49424"/>
            <a:ext cx="35661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22576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con Grid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706624"/>
            <a:ext cx="33832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.layout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grid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240px 1fr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24px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4974336" y="2139696"/>
            <a:ext cx="2999232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02352" y="2267712"/>
            <a:ext cx="2743200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234086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container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175504" y="2761488"/>
            <a:ext cx="2596896" cy="1609344"/>
          </a:xfrm>
          <a:prstGeom prst="roundRect">
            <a:avLst>
              <a:gd name="adj" fmla="val 170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21808" y="2907792"/>
            <a:ext cx="670560" cy="585216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38672" y="2907792"/>
            <a:ext cx="670560" cy="585216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55536" y="2907792"/>
            <a:ext cx="670560" cy="585216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21808" y="3639312"/>
            <a:ext cx="670560" cy="585216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38672" y="3639312"/>
            <a:ext cx="670560" cy="585216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55536" y="3639312"/>
            <a:ext cx="670560" cy="585216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47888" y="2194560"/>
            <a:ext cx="2505456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39328" y="2322576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03920" y="23042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 bien</a:t>
            </a:r>
            <a:endParaRPr lang="en-US" sz="1620" dirty="0"/>
          </a:p>
        </p:txBody>
      </p:sp>
      <p:sp>
        <p:nvSpPr>
          <p:cNvPr id="27" name="Text 24"/>
          <p:cNvSpPr/>
          <p:nvPr/>
        </p:nvSpPr>
        <p:spPr>
          <a:xfrm>
            <a:off x="8503920" y="2651760"/>
            <a:ext cx="2157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lateral + contenido, catálogos, dashboards y áreas de trabajo con varias regiones.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247888" y="3493008"/>
            <a:ext cx="2505456" cy="987552"/>
          </a:xfrm>
          <a:prstGeom prst="roundRect">
            <a:avLst>
              <a:gd name="adj" fmla="val 37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39328" y="3621024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03920" y="360273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útil</a:t>
            </a:r>
            <a:endParaRPr lang="en-US" sz="1620" dirty="0"/>
          </a:p>
        </p:txBody>
      </p:sp>
      <p:sp>
        <p:nvSpPr>
          <p:cNvPr id="31" name="Text 28"/>
          <p:cNvSpPr/>
          <p:nvPr/>
        </p:nvSpPr>
        <p:spPr>
          <a:xfrm>
            <a:off x="8503920" y="395020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no piensa solo en secuencia: piensa en estructura espacial.</a:t>
            </a:r>
            <a:endParaRPr lang="en-US" sz="10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deja declarar columnas con más claridad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relación entre regiones visuales se vuelve mucho más legible cuando el contenedor declara su estructura.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212848"/>
            <a:ext cx="4681728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40864"/>
            <a:ext cx="442569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4140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+ contenido principal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97280" y="2834640"/>
            <a:ext cx="4279392" cy="1627632"/>
          </a:xfrm>
          <a:prstGeom prst="roundRect">
            <a:avLst>
              <a:gd name="adj" fmla="val 168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3584" y="2980944"/>
            <a:ext cx="1920240" cy="594360"/>
          </a:xfrm>
          <a:prstGeom prst="roundRect">
            <a:avLst>
              <a:gd name="adj" fmla="val 46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0128" y="2980944"/>
            <a:ext cx="1920240" cy="5943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43584" y="3721608"/>
            <a:ext cx="1920240" cy="594360"/>
          </a:xfrm>
          <a:prstGeom prst="roundRect">
            <a:avLst>
              <a:gd name="adj" fmla="val 46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10128" y="3721608"/>
            <a:ext cx="1920240" cy="5943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25312" y="2286000"/>
            <a:ext cx="46817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16752" y="2414016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1344" y="2395728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660" dirty="0"/>
          </a:p>
        </p:txBody>
      </p:sp>
      <p:sp>
        <p:nvSpPr>
          <p:cNvPr id="21" name="Text 18"/>
          <p:cNvSpPr/>
          <p:nvPr/>
        </p:nvSpPr>
        <p:spPr>
          <a:xfrm>
            <a:off x="6181344" y="2743200"/>
            <a:ext cx="4334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240px + 1fr ya expresa una relación espacial entre panel lateral y región principal.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5925312" y="3529584"/>
            <a:ext cx="4681728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16752" y="3657600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81344" y="3639312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 real</a:t>
            </a:r>
            <a:endParaRPr lang="en-US" sz="1660" dirty="0"/>
          </a:p>
        </p:txBody>
      </p:sp>
      <p:sp>
        <p:nvSpPr>
          <p:cNvPr id="25" name="Text 22"/>
          <p:cNvSpPr/>
          <p:nvPr/>
        </p:nvSpPr>
        <p:spPr>
          <a:xfrm>
            <a:off x="6181344" y="3986784"/>
            <a:ext cx="4334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se vuelve más fácil de leer, corregir y adaptar cuando deja de estar simulada con hacks.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1261872" y="5084064"/>
            <a:ext cx="9198864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63040" y="5248656"/>
            <a:ext cx="8796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hace visible la estructura de la pantalla en el propio CSS.</a:t>
            </a:r>
            <a:endParaRPr lang="en-US" sz="16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piensa mejor en áreas y regiones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interfaz tiene zonas reconocibles, conviene pensar en layout como composición de regiones.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69264" y="2249424"/>
            <a:ext cx="4882896" cy="285292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25296" y="2505456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257860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Regiones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1280160" y="2852928"/>
            <a:ext cx="4261104" cy="1572768"/>
          </a:xfrm>
          <a:prstGeom prst="roundRect">
            <a:avLst>
              <a:gd name="adj" fmla="val 2326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81328" y="3054096"/>
            <a:ext cx="3858768" cy="329184"/>
          </a:xfrm>
          <a:prstGeom prst="roundRect">
            <a:avLst>
              <a:gd name="adj" fmla="val 1111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3511296"/>
            <a:ext cx="987552" cy="713232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51760" y="3511296"/>
            <a:ext cx="2688336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44368" y="316382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1627632" y="3767328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3657600" y="3767328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6254496" y="2359152"/>
            <a:ext cx="4261104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45936" y="2487168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0528" y="246888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ayuda</a:t>
            </a:r>
            <a:endParaRPr lang="en-US" sz="1660" dirty="0"/>
          </a:p>
        </p:txBody>
      </p:sp>
      <p:sp>
        <p:nvSpPr>
          <p:cNvPr id="23" name="Text 20"/>
          <p:cNvSpPr/>
          <p:nvPr/>
        </p:nvSpPr>
        <p:spPr>
          <a:xfrm>
            <a:off x="6510528" y="281635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no basta con alinear una secuencia y ya hay que describir regiones de una pantalla.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254496" y="3602736"/>
            <a:ext cx="4261104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45936" y="3730752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10528" y="37124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madura</a:t>
            </a:r>
            <a:endParaRPr lang="en-US" sz="1660" dirty="0"/>
          </a:p>
        </p:txBody>
      </p:sp>
      <p:sp>
        <p:nvSpPr>
          <p:cNvPr id="27" name="Text 24"/>
          <p:cNvSpPr/>
          <p:nvPr/>
        </p:nvSpPr>
        <p:spPr>
          <a:xfrm>
            <a:off x="6510528" y="405993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vuelve más natural pensar una interfaz como estructura y no solo como secuencia de bloques.</a:t>
            </a:r>
            <a:endParaRPr lang="en-US" sz="10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donde Grid aparece con mucha fuerza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problema ya es de estructura general, Grid suele dar una solución más natural.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32688" y="2194560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22576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042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188720" y="2651760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paneles con varias regiones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3675888" y="2194560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67328" y="2322576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3042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catálogo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931920" y="2651760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grillas de productos o tarjetas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6419088" y="2194560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0528" y="2322576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3042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general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6675120" y="2651760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+ main + extras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9162288" y="2194560"/>
            <a:ext cx="1645920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53728" y="2322576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0" y="23042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áreas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9418320" y="2651760"/>
            <a:ext cx="1298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regiones con relaciones fijas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1920240" y="3968496"/>
            <a:ext cx="7223760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48256" y="4096512"/>
            <a:ext cx="696772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57984" y="4169664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Grilla de tarjetas como ejemplo simple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2121408" y="4590288"/>
            <a:ext cx="6821424" cy="530352"/>
          </a:xfrm>
          <a:prstGeom prst="roundRect">
            <a:avLst>
              <a:gd name="adj" fmla="val 5172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180336" y="4649216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70960" y="4649216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61584" y="4649216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52208" y="4649216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180336" y="4884928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70960" y="4884928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61584" y="4884928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52208" y="4884928"/>
            <a:ext cx="1631696" cy="176784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 y Grid no se eligen con slogans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pensar el tipo de problema espacial antes de decidir la herramienta.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231136"/>
            <a:ext cx="4480560" cy="2615184"/>
          </a:xfrm>
          <a:prstGeom prst="roundRect">
            <a:avLst>
              <a:gd name="adj" fmla="val 13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59152"/>
            <a:ext cx="109728" cy="2359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70432" y="2688336"/>
            <a:ext cx="4133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para secuencias, alineación, reparto de espacio dentro de una fila o columna y agrupación de elementos relacionados.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96128" y="2231136"/>
            <a:ext cx="4480560" cy="2615184"/>
          </a:xfrm>
          <a:prstGeom prst="roundRect">
            <a:avLst>
              <a:gd name="adj" fmla="val 13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87568" y="2359152"/>
            <a:ext cx="109728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34086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852160" y="2688336"/>
            <a:ext cx="4133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para layout general, columnas, regiones, áreas y estructuras donde importa la relación entre filas y columnas.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188720" y="5084064"/>
            <a:ext cx="947318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89888" y="5248656"/>
            <a:ext cx="9070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y alineación -&gt; Flexbox | estructura y regiones -&gt; Grid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normal es que convivan dentro de una misma interfaz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página puede usar Grid para la estructura general y Flexbox para resolver grupos internos.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96112" y="2231136"/>
            <a:ext cx="5321808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487168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56032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general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1207008" y="2834640"/>
            <a:ext cx="4700016" cy="2066544"/>
          </a:xfrm>
          <a:prstGeom prst="roundRect">
            <a:avLst>
              <a:gd name="adj" fmla="val 177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08176" y="3017520"/>
            <a:ext cx="4297680" cy="347472"/>
          </a:xfrm>
          <a:prstGeom prst="roundRect">
            <a:avLst>
              <a:gd name="adj" fmla="val 105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3511296"/>
            <a:ext cx="969264" cy="1133856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78608" y="3511296"/>
            <a:ext cx="3127248" cy="1133856"/>
          </a:xfrm>
          <a:prstGeom prst="roundRect">
            <a:avLst>
              <a:gd name="adj" fmla="val 32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3127248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1572768" y="4005072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3822192" y="4005072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565392" y="2231136"/>
            <a:ext cx="4041648" cy="2999232"/>
          </a:xfrm>
          <a:prstGeom prst="roundRect">
            <a:avLst>
              <a:gd name="adj" fmla="val 12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39712" y="2596896"/>
            <a:ext cx="3456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del header o del bloque de acciones,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vuelve natural alinear botones, logo o navegación.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6821424" y="3383280"/>
            <a:ext cx="2980944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0" y="3511296"/>
            <a:ext cx="2724912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9168" y="35844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 interno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7022592" y="4005072"/>
            <a:ext cx="2578608" cy="365760"/>
          </a:xfrm>
          <a:prstGeom prst="roundRect">
            <a:avLst>
              <a:gd name="adj" fmla="val 750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63232" y="4045712"/>
            <a:ext cx="1228344" cy="121920"/>
          </a:xfrm>
          <a:prstGeom prst="roundRect">
            <a:avLst>
              <a:gd name="adj" fmla="val 2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32216" y="4045712"/>
            <a:ext cx="1228344" cy="1219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63232" y="4208272"/>
            <a:ext cx="1228344" cy="121920"/>
          </a:xfrm>
          <a:prstGeom prst="roundRect">
            <a:avLst>
              <a:gd name="adj" fmla="val 2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32216" y="4208272"/>
            <a:ext cx="1228344" cy="1219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layout también cambia cuando cambia el ancho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distribución visual madura no se piensa solo para un tamaño de pantalla.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157984"/>
            <a:ext cx="9875520" cy="2523744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286000"/>
            <a:ext cx="961948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77440"/>
            <a:ext cx="9400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interfaz, otra distribución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1078992" y="2670048"/>
            <a:ext cx="4654296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45736" y="2798064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18888" y="2834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88720" y="3182112"/>
            <a:ext cx="4434840" cy="512064"/>
          </a:xfrm>
          <a:prstGeom prst="roundRect">
            <a:avLst>
              <a:gd name="adj" fmla="val 357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61872" y="3255264"/>
            <a:ext cx="4288536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61872" y="3493008"/>
            <a:ext cx="1685239" cy="164592"/>
          </a:xfrm>
          <a:prstGeom prst="roundRect">
            <a:avLst>
              <a:gd name="adj" fmla="val 1111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7443" y="3493008"/>
            <a:ext cx="1507846" cy="1645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" y="382219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8448" y="380390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1188720" y="4023360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844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 primero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1188720" y="4224528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98448" y="420624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densidad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5971032" y="2670048"/>
            <a:ext cx="4654296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9637776" y="2798064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10928" y="2834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0760" y="3182112"/>
            <a:ext cx="4434840" cy="512064"/>
          </a:xfrm>
          <a:prstGeom prst="roundRect">
            <a:avLst>
              <a:gd name="adj" fmla="val 357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53912" y="3255264"/>
            <a:ext cx="4288536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53912" y="3493008"/>
            <a:ext cx="1685239" cy="164592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209483" y="3493008"/>
            <a:ext cx="1507846" cy="1645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80760" y="3822192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90488" y="380390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6080760" y="4023360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9048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contexto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6080760" y="4224528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90488" y="420624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uso del ancho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5724144" y="3346704"/>
            <a:ext cx="20116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353312" y="4974336"/>
            <a:ext cx="903427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554480" y="5138928"/>
            <a:ext cx="863193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no es decorar distinto: es redistribuir con más criterio el mismo contenido.</a:t>
            </a:r>
            <a:endParaRPr lang="en-US" sz="15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secuencia sana para decidir layout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elegir Flexbox o Grid desde el problema espacial, no desde moda o memoria de propiedades.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743200"/>
            <a:ext cx="1719072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871216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leer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70432" y="3200400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relación espacial necesita la interfaz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2743200" y="3346704"/>
            <a:ext cx="164592" cy="20116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54096" y="2743200"/>
            <a:ext cx="1719072" cy="1444752"/>
          </a:xfrm>
          <a:prstGeom prst="roundRect">
            <a:avLst>
              <a:gd name="adj" fmla="val 25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45536" y="2871216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0128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decidir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310128" y="3200400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 secuencia o estructura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4882896" y="334670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93792" y="2743200"/>
            <a:ext cx="1719072" cy="144475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85232" y="2871216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9824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aplicar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49824" y="3200400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o Grid con intención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7022592" y="3346704"/>
            <a:ext cx="164592" cy="20116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33488" y="2743200"/>
            <a:ext cx="1719072" cy="1444752"/>
          </a:xfrm>
          <a:prstGeom prst="roundRect">
            <a:avLst>
              <a:gd name="adj" fmla="val 25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24928" y="2871216"/>
            <a:ext cx="109728" cy="1188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ajustar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589520" y="3200400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espacio, alineación y respuesta</a:t>
            </a:r>
            <a:endParaRPr lang="en-US" sz="1010" dirty="0"/>
          </a:p>
        </p:txBody>
      </p:sp>
      <p:sp>
        <p:nvSpPr>
          <p:cNvPr id="29" name="Shape 26"/>
          <p:cNvSpPr/>
          <p:nvPr/>
        </p:nvSpPr>
        <p:spPr>
          <a:xfrm>
            <a:off x="9454896" y="2523744"/>
            <a:ext cx="1261872" cy="1865376"/>
          </a:xfrm>
          <a:prstGeom prst="roundRect">
            <a:avLst>
              <a:gd name="adj" fmla="val 28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46336" y="2651760"/>
            <a:ext cx="109728" cy="1609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10928" y="26334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460" dirty="0"/>
          </a:p>
        </p:txBody>
      </p:sp>
      <p:sp>
        <p:nvSpPr>
          <p:cNvPr id="32" name="Text 29"/>
          <p:cNvSpPr/>
          <p:nvPr/>
        </p:nvSpPr>
        <p:spPr>
          <a:xfrm>
            <a:off x="9710928" y="2980944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orden,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claridad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menos hacks</a:t>
            </a:r>
            <a:endParaRPr lang="en-US" sz="9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simple: una interfaz usa ambas herramientas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 un caso concreto ayuda más que memorizar listas aisladas de propiedades.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5522976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139696"/>
            <a:ext cx="552297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26771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226771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226771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2240280"/>
            <a:ext cx="460857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2276856"/>
            <a:ext cx="4352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24128" y="2706624"/>
            <a:ext cx="5157216" cy="402336"/>
          </a:xfrm>
          <a:prstGeom prst="roundRect">
            <a:avLst>
              <a:gd name="adj" fmla="val 68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2816352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ejemplo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42416" y="3273552"/>
            <a:ext cx="166420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61488" y="3273552"/>
            <a:ext cx="1664208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3273552"/>
            <a:ext cx="166420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4128" y="4133088"/>
            <a:ext cx="5157216" cy="457200"/>
          </a:xfrm>
          <a:prstGeom prst="roundRect">
            <a:avLst>
              <a:gd name="adj" fmla="val 6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11696" y="2304288"/>
            <a:ext cx="3767328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84848" y="2414016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67728" y="243230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para la estructura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967728" y="270662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+ sidebar + contenido principal como regiones de la pantalla.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11696" y="3401568"/>
            <a:ext cx="3767328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3511296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67728" y="35295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 para grupos internos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967728" y="380390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botones, navegación y acciones dentro de un mismo bloque.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711696" y="4498848"/>
            <a:ext cx="3767328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84848" y="4608576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67728" y="462686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967728" y="490118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no elige una sola herramienta: combina la adecuada según el problema.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asistido no es layout verificado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y Grid pueden bosquejarse rápido con ayuda, pero el comportamiento real sigue exigiendo inspección y criterio.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9912096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67712"/>
            <a:ext cx="96560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40864"/>
            <a:ext cx="9436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tuyo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06624"/>
            <a:ext cx="3950208" cy="2395728"/>
          </a:xfrm>
          <a:prstGeom prst="roundRect">
            <a:avLst>
              <a:gd name="adj" fmla="val 152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34640"/>
            <a:ext cx="109728" cy="21396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83464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35024" y="310896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versión del layout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35024" y="3493008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26464" y="359816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2768" y="35570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barra o toolbar en Flexbox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335024" y="3913632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26464" y="401878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72768" y="3977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bosquejar una grilla inicial de tarjetas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1335024" y="4334256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26464" y="44394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72768" y="43982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si un caso suena más a eje o a estructura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1335024" y="4754880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26464" y="486003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2768" y="4818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un primer reparto de espacios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693408" y="2706624"/>
            <a:ext cx="3950208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3136" y="2834640"/>
            <a:ext cx="109728" cy="21396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04304" y="283464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004304" y="310896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espacial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004304" y="3493008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95744" y="359816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42048" y="35570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alineación y ejes reales en pantalla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004304" y="3913632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95744" y="40187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3977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si el layout sigue siendo legible al crecer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004304" y="4334256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095744" y="44394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42048" y="43982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responsive y comportamiento concreto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7004304" y="4754880"/>
            <a:ext cx="34930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5744" y="486003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42048" y="4818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la distribución mejora o solo acomoda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5230368" y="3154680"/>
            <a:ext cx="1207008" cy="1499616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340096" y="330098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13248" y="3776472"/>
            <a:ext cx="841248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94960" y="33467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358384" y="405079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y Grid se validan mirando comportamiento, no solo leyendo CSS.</a:t>
            </a:r>
            <a:endParaRPr lang="en-US" sz="810" dirty="0"/>
          </a:p>
        </p:txBody>
      </p:sp>
      <p:sp>
        <p:nvSpPr>
          <p:cNvPr id="50" name="Shape 47"/>
          <p:cNvSpPr/>
          <p:nvPr/>
        </p:nvSpPr>
        <p:spPr>
          <a:xfrm>
            <a:off x="1078992" y="5157216"/>
            <a:ext cx="95097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8720" y="5202936"/>
            <a:ext cx="9290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layout generado puede verse razonable en texto y aun así fallar cuando se inspecciona de verdad.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fijar cuándo pensar en secuencia, cuándo pensar en estructura y cómo leer el layout con más criterio.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4535424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40864"/>
            <a:ext cx="109728" cy="9875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2257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70432" y="2670048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distribuir elementos también es una decisión técnica y no solo visual?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053328" y="2212848"/>
            <a:ext cx="4535424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2340864"/>
            <a:ext cx="109728" cy="9875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32257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09360" y="2670048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tipo de problema espacial resuelve mejor Flexbox?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914400" y="3767328"/>
            <a:ext cx="4535424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895344"/>
            <a:ext cx="109728" cy="9875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8770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70432" y="4224528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la interfaz se piensa como estructura y no solo como secuencia?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053328" y="3767328"/>
            <a:ext cx="4535424" cy="1243584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3895344"/>
            <a:ext cx="109728" cy="9875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8770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309360" y="4224528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Flexbox y Grid suelen convivir en una misma pantalla?</a:t>
            </a:r>
            <a:endParaRPr lang="en-US" sz="11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y Grid prolongan la misma lógica de orden y criterio visual trabajada en toda la clase.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176272"/>
            <a:ext cx="5888736" cy="296265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04288"/>
            <a:ext cx="109728" cy="2706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86000"/>
            <a:ext cx="554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1170432" y="2633472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y Grid permiten distribuir interfaces modernas con más claridad, precisión y control que enfoques improvisados. La diferencia no está en memorizar más propiedades, sino en leer mejor el tipo de problema espacial que tenemos delante.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33856" y="52852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532180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67712" y="5285232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40864" y="53218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38144" y="5285232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11296" y="53218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52852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592" y="53218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114032" y="2176272"/>
            <a:ext cx="3657600" cy="2962656"/>
          </a:xfrm>
          <a:prstGeom prst="roundRect">
            <a:avLst>
              <a:gd name="adj" fmla="val 12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2304288"/>
            <a:ext cx="109728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228600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cierre</a:t>
            </a:r>
            <a:endParaRPr lang="en-US" sz="1820" dirty="0"/>
          </a:p>
        </p:txBody>
      </p:sp>
      <p:sp>
        <p:nvSpPr>
          <p:cNvPr id="25" name="Text 22"/>
          <p:cNvSpPr/>
          <p:nvPr/>
        </p:nvSpPr>
        <p:spPr>
          <a:xfrm>
            <a:off x="7370064" y="2633472"/>
            <a:ext cx="3310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podemos mirar la clase completa como una progresión: reglas, conflicto, decisiones reutilizables y finalmente distribución espacial con herramientas modernas.</a:t>
            </a:r>
            <a:endParaRPr lang="en-US" sz="11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moderno se entiende mejor cuando deja de verse como maquillaje y empieza a leerse como sistema técnico.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1133856" y="2121408"/>
            <a:ext cx="9582912" cy="731520"/>
          </a:xfrm>
          <a:prstGeom prst="roundRect">
            <a:avLst>
              <a:gd name="adj" fmla="val 5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286000"/>
            <a:ext cx="9180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-&gt; conflicto -&gt; consistencia -&gt; layout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69264" y="3346704"/>
            <a:ext cx="1993392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3474720"/>
            <a:ext cx="109728" cy="14996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3456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reglas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25296" y="3803904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selector, propiedad y valor como base del estilo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3511296" y="3346704"/>
            <a:ext cx="1993392" cy="1755648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02736" y="3474720"/>
            <a:ext cx="109728" cy="14996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3456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conflicto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767328" y="3803904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cascada, herencia y especificidad explican el resultado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6053328" y="3346704"/>
            <a:ext cx="1993392" cy="1755648"/>
          </a:xfrm>
          <a:prstGeom prst="roundRect">
            <a:avLst>
              <a:gd name="adj" fmla="val 208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44768" y="3474720"/>
            <a:ext cx="109728" cy="14996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456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sistema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09360" y="3803904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y tokens reducen repetición y ordenan criterio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8595360" y="3346704"/>
            <a:ext cx="1993392" cy="1755648"/>
          </a:xfrm>
          <a:prstGeom prst="roundRect">
            <a:avLst>
              <a:gd name="adj" fmla="val 208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0" y="3474720"/>
            <a:ext cx="109728" cy="14996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51392" y="3456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layout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851392" y="3803904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y Grid organizan espacio con más control</a:t>
            </a:r>
            <a:endParaRPr lang="en-US" sz="104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Ideas que deberían quedar instaladas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no es recordar listas sueltas, sino quedarse con una lectura técnica más estable de CSS.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87552" y="2084832"/>
            <a:ext cx="9619488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212848"/>
            <a:ext cx="10972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94560"/>
            <a:ext cx="9272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1243584" y="2542032"/>
            <a:ext cx="92720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no maquilla: organiza presentación y criterio visual.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987552" y="2834640"/>
            <a:ext cx="9619488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2962656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2944368"/>
            <a:ext cx="9272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1243584" y="3291840"/>
            <a:ext cx="92720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estilo no cambia, conviene leer cascada, herencia y especificidad antes de tocar cosas al azar.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987552" y="3584448"/>
            <a:ext cx="9619488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3712464"/>
            <a:ext cx="10972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3694176"/>
            <a:ext cx="9272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1243584" y="4041648"/>
            <a:ext cx="92720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CSS ayudan a centralizar decisiones y a hablar de tokens en vez de repetir valores.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987552" y="4334256"/>
            <a:ext cx="9619488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8992" y="4462272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43584" y="4443984"/>
            <a:ext cx="9272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</a:t>
            </a:r>
            <a:endParaRPr lang="en-US" sz="1480" dirty="0"/>
          </a:p>
        </p:txBody>
      </p:sp>
      <p:sp>
        <p:nvSpPr>
          <p:cNvPr id="25" name="Text 22"/>
          <p:cNvSpPr/>
          <p:nvPr/>
        </p:nvSpPr>
        <p:spPr>
          <a:xfrm>
            <a:off x="1243584" y="4791456"/>
            <a:ext cx="92720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y Grid no compiten: resuelven problemas espaciales distintos y suelen convivir.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987552" y="5084064"/>
            <a:ext cx="9619488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78992" y="5212080"/>
            <a:ext cx="10972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43584" y="5193792"/>
            <a:ext cx="9272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</a:t>
            </a:r>
            <a:endParaRPr lang="en-US" sz="1480" dirty="0"/>
          </a:p>
        </p:txBody>
      </p:sp>
      <p:sp>
        <p:nvSpPr>
          <p:cNvPr id="29" name="Text 26"/>
          <p:cNvSpPr/>
          <p:nvPr/>
        </p:nvSpPr>
        <p:spPr>
          <a:xfrm>
            <a:off x="1243584" y="5541264"/>
            <a:ext cx="92720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acelerar una primera versión, pero CSS se valida leyendo el resultado real en navegador y DevTools.</a:t>
            </a:r>
            <a:endParaRPr lang="en-US" sz="112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 la siguiente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próxima sesión tomará esta base para entrar a responsive design, media queries y adaptación visual con más profundidad.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6583680" cy="2633472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40864"/>
            <a:ext cx="632764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432304"/>
            <a:ext cx="6108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viene: adaptación más explícita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1078992" y="2724912"/>
            <a:ext cx="3008376" cy="1956816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287121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actual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099816" y="2852928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2968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claro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88720" y="3236976"/>
            <a:ext cx="2788920" cy="512064"/>
          </a:xfrm>
          <a:prstGeom prst="roundRect">
            <a:avLst>
              <a:gd name="adj" fmla="val 357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61872" y="3310128"/>
            <a:ext cx="2642616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61872" y="3547872"/>
            <a:ext cx="1059790" cy="164592"/>
          </a:xfrm>
          <a:prstGeom prst="roundRect">
            <a:avLst>
              <a:gd name="adj" fmla="val 1111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27402" y="3547872"/>
            <a:ext cx="948233" cy="1645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" y="3877056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8448" y="385876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1188720" y="4078224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8448" y="4059936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1188720" y="427939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98448" y="4261104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325112" y="2724912"/>
            <a:ext cx="3008376" cy="1956816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34840" y="287121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clase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345936" y="2852928"/>
            <a:ext cx="877824" cy="310896"/>
          </a:xfrm>
          <a:prstGeom prst="roundRect">
            <a:avLst>
              <a:gd name="adj" fmla="val 147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19088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434840" y="3236976"/>
            <a:ext cx="2788920" cy="512064"/>
          </a:xfrm>
          <a:prstGeom prst="roundRect">
            <a:avLst>
              <a:gd name="adj" fmla="val 357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07992" y="3310128"/>
            <a:ext cx="2642616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07992" y="3547872"/>
            <a:ext cx="1059790" cy="164592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73522" y="3547872"/>
            <a:ext cx="948233" cy="1645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34840" y="3877056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44568" y="385876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queries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4434840" y="4078224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44568" y="4059936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breakpoints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4434840" y="4279392"/>
            <a:ext cx="45720" cy="457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44568" y="4261104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adaptación intencional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4078224" y="3456432"/>
            <a:ext cx="20116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882128" y="2267712"/>
            <a:ext cx="285292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73568" y="2395728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237744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Continuidad</a:t>
            </a:r>
            <a:endParaRPr lang="en-US" sz="1660" dirty="0"/>
          </a:p>
        </p:txBody>
      </p:sp>
      <p:sp>
        <p:nvSpPr>
          <p:cNvPr id="45" name="Text 42"/>
          <p:cNvSpPr/>
          <p:nvPr/>
        </p:nvSpPr>
        <p:spPr>
          <a:xfrm>
            <a:off x="8138160" y="27249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hoy se vio en layout será la base para responsive, sistemas visuales y experiencia de interfaz.</a:t>
            </a:r>
            <a:endParaRPr lang="en-US" sz="1060" dirty="0"/>
          </a:p>
        </p:txBody>
      </p:sp>
      <p:sp>
        <p:nvSpPr>
          <p:cNvPr id="46" name="Shape 43"/>
          <p:cNvSpPr/>
          <p:nvPr/>
        </p:nvSpPr>
        <p:spPr>
          <a:xfrm>
            <a:off x="7882128" y="3566160"/>
            <a:ext cx="2852928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73568" y="3694176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367588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660" dirty="0"/>
          </a:p>
        </p:txBody>
      </p:sp>
      <p:sp>
        <p:nvSpPr>
          <p:cNvPr id="49" name="Text 46"/>
          <p:cNvSpPr/>
          <p:nvPr/>
        </p:nvSpPr>
        <p:spPr>
          <a:xfrm>
            <a:off x="8138160" y="4023360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adaptar una interfaz, conviene que sus reglas, tokens y layout ya sean legibles.</a:t>
            </a:r>
            <a:endParaRPr lang="en-US" sz="106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04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093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 visual también se diseña, se diagnostica y se mantiene con criterio técnico.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950976" y="2212848"/>
            <a:ext cx="4078224" cy="2871216"/>
          </a:xfrm>
          <a:prstGeom prst="roundRect">
            <a:avLst>
              <a:gd name="adj" fmla="val 12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25296" y="2662001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09639" y="2523744"/>
            <a:ext cx="184343" cy="49158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24706" y="2662001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3090672"/>
            <a:ext cx="2761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moderno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entiende mejor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se lee como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sistema.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413248" y="2249424"/>
            <a:ext cx="473659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04688" y="2377440"/>
            <a:ext cx="109728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3591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Hilo metodológico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669280" y="270662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cómo decide CSS, explicitar intención, apoyarse con inteligencia y verificar el resultado real.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413248" y="3621024"/>
            <a:ext cx="4736592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04688" y="3749040"/>
            <a:ext cx="109728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37307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de salida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669280" y="407822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CSS te cambia más la forma de mirar una interfaz: cascada, variables o layout?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Moderno - Bloque 1</dc:title>
  <dc:subject>Clase 04</dc:subject>
  <dc:creator>Codex</dc:creator>
  <cp:lastModifiedBy>Codex</cp:lastModifiedBy>
  <cp:revision>1</cp:revision>
  <dcterms:created xsi:type="dcterms:W3CDTF">2026-03-16T00:52:31Z</dcterms:created>
  <dcterms:modified xsi:type="dcterms:W3CDTF">2026-03-16T00:52:31Z</dcterms:modified>
</cp:coreProperties>
</file>