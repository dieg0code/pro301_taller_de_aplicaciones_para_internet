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ojo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2" y="930226"/>
            <a:ext cx="2761488" cy="9559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65376" y="133502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Semana 02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950976" y="1289670"/>
            <a:ext cx="234086" cy="53839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31880" y="1078992"/>
            <a:ext cx="280904" cy="7490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59601" y="1289670"/>
            <a:ext cx="234086" cy="53839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0976" y="1773936"/>
            <a:ext cx="424281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Diseñar para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pantallas reales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50976" y="3090672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Responsive, viewport y reordenamiento con criterio</a:t>
            </a:r>
            <a:endParaRPr lang="en-US" sz="1460" dirty="0"/>
          </a:p>
        </p:txBody>
      </p:sp>
      <p:sp>
        <p:nvSpPr>
          <p:cNvPr id="9" name="Text 6"/>
          <p:cNvSpPr/>
          <p:nvPr/>
        </p:nvSpPr>
        <p:spPr>
          <a:xfrm>
            <a:off x="950976" y="3730752"/>
            <a:ext cx="4736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interfaz no vive en una sola pantalla: cambia de lectura cuando cambia el espacio.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5870448" y="1975104"/>
            <a:ext cx="4590288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70448" y="1975104"/>
            <a:ext cx="4590288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16752" y="2103120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63056" y="2103120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09360" y="2103120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37376" y="2075688"/>
            <a:ext cx="3675888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2112264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https://demo.local/landing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6035040" y="2450592"/>
            <a:ext cx="4261104" cy="384048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44768" y="2551176"/>
            <a:ext cx="4041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amplia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6035040" y="2962656"/>
            <a:ext cx="1170432" cy="1956816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51776" y="2962656"/>
            <a:ext cx="294436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51776" y="3602736"/>
            <a:ext cx="2944368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51776" y="4407408"/>
            <a:ext cx="2944368" cy="566928"/>
          </a:xfrm>
          <a:prstGeom prst="roundRect">
            <a:avLst>
              <a:gd name="adj" fmla="val 645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015984" y="2798064"/>
            <a:ext cx="1700784" cy="2633472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15984" y="2798064"/>
            <a:ext cx="1700784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25712" y="2926080"/>
            <a:ext cx="59436" cy="5943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235440" y="2926080"/>
            <a:ext cx="59436" cy="5943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345168" y="2926080"/>
            <a:ext cx="59436" cy="5943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400032" y="2894076"/>
            <a:ext cx="1225296" cy="187452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454896" y="2935224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m.demo.lo…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9180576" y="3273552"/>
            <a:ext cx="1371600" cy="310896"/>
          </a:xfrm>
          <a:prstGeom prst="roundRect">
            <a:avLst>
              <a:gd name="adj" fmla="val 88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90304" y="3374136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Móvil</a:t>
            </a:r>
            <a:endParaRPr lang="en-US" sz="840" dirty="0"/>
          </a:p>
        </p:txBody>
      </p:sp>
      <p:sp>
        <p:nvSpPr>
          <p:cNvPr id="32" name="Shape 29"/>
          <p:cNvSpPr/>
          <p:nvPr/>
        </p:nvSpPr>
        <p:spPr>
          <a:xfrm>
            <a:off x="9180576" y="3749040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180576" y="418795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180576" y="470001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180576" y="521208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50976" y="5212080"/>
            <a:ext cx="2542032" cy="786384"/>
          </a:xfrm>
          <a:prstGeom prst="roundRect">
            <a:avLst>
              <a:gd name="adj" fmla="val 4651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42416" y="5340096"/>
            <a:ext cx="109728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207008" y="53218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Martes 24 de marzo de 2026</a:t>
            </a:r>
            <a:endParaRPr lang="en-US" sz="1120" dirty="0"/>
          </a:p>
        </p:txBody>
      </p:sp>
      <p:sp>
        <p:nvSpPr>
          <p:cNvPr id="39" name="Text 36"/>
          <p:cNvSpPr/>
          <p:nvPr/>
        </p:nvSpPr>
        <p:spPr>
          <a:xfrm>
            <a:off x="1207008" y="5596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10:50 - 13:10</a:t>
            </a:r>
            <a:endParaRPr lang="en-US" sz="1140" dirty="0"/>
          </a:p>
        </p:txBody>
      </p:sp>
      <p:sp>
        <p:nvSpPr>
          <p:cNvPr id="40" name="Shape 37"/>
          <p:cNvSpPr/>
          <p:nvPr/>
        </p:nvSpPr>
        <p:spPr>
          <a:xfrm>
            <a:off x="3712464" y="5212080"/>
            <a:ext cx="3675888" cy="786384"/>
          </a:xfrm>
          <a:prstGeom prst="roundRect">
            <a:avLst>
              <a:gd name="adj" fmla="val 465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913632" y="5376672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layout también explica.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 la interfaz se mira como sistema adaptable: pantalla, viewport, componentes y criterio de diseño.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749808" y="2084832"/>
            <a:ext cx="2578608" cy="2651760"/>
          </a:xfrm>
          <a:prstGeom prst="roundRect">
            <a:avLst>
              <a:gd name="adj" fmla="val 1418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2249424"/>
            <a:ext cx="2578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87552" y="2761488"/>
            <a:ext cx="21031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Pantallas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reales y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3419856" y="3364992"/>
            <a:ext cx="29260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67328" y="2084832"/>
            <a:ext cx="2578608" cy="2651760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67328" y="2249424"/>
            <a:ext cx="2578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005072" y="2761488"/>
            <a:ext cx="21031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Viewport,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adaptación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layout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455664" y="3364992"/>
            <a:ext cx="29260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03136" y="2084832"/>
            <a:ext cx="2578608" cy="2651760"/>
          </a:xfrm>
          <a:prstGeom prst="roundRect">
            <a:avLst>
              <a:gd name="adj" fmla="val 141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03136" y="2249424"/>
            <a:ext cx="2578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761488"/>
            <a:ext cx="21031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consistencia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9491472" y="3364992"/>
            <a:ext cx="29260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838944" y="2084832"/>
            <a:ext cx="1773936" cy="2651760"/>
          </a:xfrm>
          <a:prstGeom prst="roundRect">
            <a:avLst>
              <a:gd name="adj" fmla="val 206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38944" y="2249424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076688" y="2761488"/>
            <a:ext cx="12984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frameworks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1353312" y="5468112"/>
            <a:ext cx="9290304" cy="512064"/>
          </a:xfrm>
          <a:prstGeom prst="roundRect">
            <a:avLst>
              <a:gd name="adj" fmla="val 714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554480" y="5632704"/>
            <a:ext cx="8887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Pantallas reales -&gt; reflow -&gt; patrones -&gt; sistema visual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1 · CSS y responsive empiezan en la pantalla real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central es simple: una interfaz web no vive en una sola resolución, sino bajo cambio de espacio.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22960" y="2121408"/>
            <a:ext cx="3438144" cy="3273552"/>
          </a:xfrm>
          <a:prstGeom prst="roundRect">
            <a:avLst>
              <a:gd name="adj" fmla="val 111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580437"/>
            <a:ext cx="164592" cy="37856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76502" y="2432304"/>
            <a:ext cx="197510" cy="52669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06931" y="2580437"/>
            <a:ext cx="164592" cy="37856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3017520"/>
            <a:ext cx="24688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interfaz</a:t>
            </a:r>
            <a:endParaRPr lang="en-US" sz="2350" dirty="0"/>
          </a:p>
          <a:p>
            <a:pPr indent="0" marL="0">
              <a:buNone/>
            </a:pPr>
            <a:r>
              <a:rPr lang="en-US" sz="2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una</a:t>
            </a:r>
            <a:endParaRPr lang="en-US" sz="2350" dirty="0"/>
          </a:p>
          <a:p>
            <a:pPr indent="0" marL="0">
              <a:buNone/>
            </a:pPr>
            <a:r>
              <a:rPr lang="en-US" sz="2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captura fija.</a:t>
            </a:r>
            <a:endParaRPr lang="en-US" sz="2350" dirty="0"/>
          </a:p>
        </p:txBody>
      </p:sp>
      <p:sp>
        <p:nvSpPr>
          <p:cNvPr id="15" name="Shape 12"/>
          <p:cNvSpPr/>
          <p:nvPr/>
        </p:nvSpPr>
        <p:spPr>
          <a:xfrm>
            <a:off x="1078992" y="4736592"/>
            <a:ext cx="1024128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52144" y="477316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viewport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194560" y="473659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67712" y="4773168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jerarquía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078992" y="5065776"/>
            <a:ext cx="102412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52144" y="510235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194560" y="5065776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67712" y="5102352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reflow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26864" y="2231136"/>
            <a:ext cx="2779776" cy="2779776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26864" y="2231136"/>
            <a:ext cx="2779776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73168" y="2359152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919472" y="2359152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65776" y="2359152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193792" y="2331720"/>
            <a:ext cx="1865376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40096" y="2368296"/>
            <a:ext cx="1572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https://demo.local/cards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4791456" y="2706624"/>
            <a:ext cx="2450592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01184" y="2807208"/>
            <a:ext cx="2231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Maqueta fija</a:t>
            </a:r>
            <a:endParaRPr lang="en-US" sz="960" dirty="0"/>
          </a:p>
        </p:txBody>
      </p:sp>
      <p:sp>
        <p:nvSpPr>
          <p:cNvPr id="32" name="Shape 29"/>
          <p:cNvSpPr/>
          <p:nvPr/>
        </p:nvSpPr>
        <p:spPr>
          <a:xfrm>
            <a:off x="4791456" y="3218688"/>
            <a:ext cx="743712" cy="640080"/>
          </a:xfrm>
          <a:prstGeom prst="roundRect">
            <a:avLst>
              <a:gd name="adj" fmla="val 571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626608" y="3218688"/>
            <a:ext cx="74371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61760" y="3218688"/>
            <a:ext cx="74371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791456" y="4005072"/>
            <a:ext cx="245059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791456" y="4553712"/>
            <a:ext cx="245059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64224" y="5102352"/>
            <a:ext cx="768096" cy="310896"/>
          </a:xfrm>
          <a:prstGeom prst="roundRect">
            <a:avLst>
              <a:gd name="adj" fmla="val 1176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882128" y="2231136"/>
            <a:ext cx="2779776" cy="2779776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882128" y="2231136"/>
            <a:ext cx="2779776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28432" y="2359152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174736" y="2359152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321040" y="2359152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449056" y="2331720"/>
            <a:ext cx="1865376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595360" y="2368296"/>
            <a:ext cx="1572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m.demo.local/cards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8046720" y="2706624"/>
            <a:ext cx="2450592" cy="384048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156448" y="2807208"/>
            <a:ext cx="2231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 interfaz, otro espacio</a:t>
            </a:r>
            <a:endParaRPr lang="en-US" sz="960" dirty="0"/>
          </a:p>
        </p:txBody>
      </p:sp>
      <p:sp>
        <p:nvSpPr>
          <p:cNvPr id="47" name="Shape 44"/>
          <p:cNvSpPr/>
          <p:nvPr/>
        </p:nvSpPr>
        <p:spPr>
          <a:xfrm>
            <a:off x="8046720" y="3255264"/>
            <a:ext cx="2450592" cy="420624"/>
          </a:xfrm>
          <a:prstGeom prst="roundRect">
            <a:avLst>
              <a:gd name="adj" fmla="val 869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046720" y="3840480"/>
            <a:ext cx="245059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046720" y="4389120"/>
            <a:ext cx="245059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046720" y="4937760"/>
            <a:ext cx="2450592" cy="384048"/>
          </a:xfrm>
          <a:prstGeom prst="roundRect">
            <a:avLst>
              <a:gd name="adj" fmla="val 95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626864" y="5321808"/>
            <a:ext cx="2578608" cy="822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700016" y="5431536"/>
            <a:ext cx="100584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882896" y="544982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Rígido</a:t>
            </a:r>
            <a:endParaRPr lang="en-US" sz="1250" dirty="0"/>
          </a:p>
        </p:txBody>
      </p:sp>
      <p:sp>
        <p:nvSpPr>
          <p:cNvPr id="54" name="Text 51"/>
          <p:cNvSpPr/>
          <p:nvPr/>
        </p:nvSpPr>
        <p:spPr>
          <a:xfrm>
            <a:off x="4882896" y="572414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se ve bien cuando el ancho coincide con la maqueta.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8083296" y="5321808"/>
            <a:ext cx="2578608" cy="822960"/>
          </a:xfrm>
          <a:prstGeom prst="roundRect">
            <a:avLst>
              <a:gd name="adj" fmla="val 3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156448" y="5431536"/>
            <a:ext cx="100584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339328" y="544982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Adaptable</a:t>
            </a:r>
            <a:endParaRPr lang="en-US" sz="1250" dirty="0"/>
          </a:p>
        </p:txBody>
      </p:sp>
      <p:sp>
        <p:nvSpPr>
          <p:cNvPr id="58" name="Text 55"/>
          <p:cNvSpPr/>
          <p:nvPr/>
        </p:nvSpPr>
        <p:spPr>
          <a:xfrm>
            <a:off x="8339328" y="572414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reordena relación, foco y aire cuando cambia el viewport.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misma interfaz puede vivirse distinto según el ancho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útil ya no es cómo se ve una pantalla, sino cómo cambia la lectura cuando cambia el espacio.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59536" y="2157984"/>
            <a:ext cx="6729984" cy="3639312"/>
          </a:xfrm>
          <a:prstGeom prst="roundRect">
            <a:avLst>
              <a:gd name="adj" fmla="val 10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286000"/>
            <a:ext cx="647395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359152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página en dos contextos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60704" y="2724912"/>
            <a:ext cx="2826593" cy="2871216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52144" y="2816352"/>
            <a:ext cx="2643713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25296" y="2880360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335024" y="2880360"/>
            <a:ext cx="54864" cy="5486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2880360"/>
            <a:ext cx="54864" cy="54864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70432" y="3127248"/>
            <a:ext cx="26071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Móvil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1170432" y="3383280"/>
            <a:ext cx="896112" cy="237744"/>
          </a:xfrm>
          <a:prstGeom prst="roundRect">
            <a:avLst>
              <a:gd name="adj" fmla="val 1153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43584" y="3438144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390 px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1225296" y="3730752"/>
            <a:ext cx="2497409" cy="1645920"/>
          </a:xfrm>
          <a:prstGeom prst="roundRect">
            <a:avLst>
              <a:gd name="adj" fmla="val 1667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335024" y="3840480"/>
            <a:ext cx="2277953" cy="3108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335024" y="4261104"/>
            <a:ext cx="2277953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35024" y="4608576"/>
            <a:ext cx="2277953" cy="201168"/>
          </a:xfrm>
          <a:prstGeom prst="roundRect">
            <a:avLst>
              <a:gd name="adj" fmla="val 909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335024" y="4956048"/>
            <a:ext cx="2277953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335024" y="5303520"/>
            <a:ext cx="2277953" cy="201168"/>
          </a:xfrm>
          <a:prstGeom prst="roundRect">
            <a:avLst>
              <a:gd name="adj" fmla="val 909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207008" y="4956048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16736" y="4946904"/>
            <a:ext cx="246083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columna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1207008" y="5120640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316736" y="5111496"/>
            <a:ext cx="246083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foco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1207008" y="528523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316736" y="5276088"/>
            <a:ext cx="246083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CTA primero</a:t>
            </a:r>
            <a:endParaRPr lang="en-US" sz="880" dirty="0"/>
          </a:p>
        </p:txBody>
      </p:sp>
      <p:sp>
        <p:nvSpPr>
          <p:cNvPr id="33" name="Shape 30"/>
          <p:cNvSpPr/>
          <p:nvPr/>
        </p:nvSpPr>
        <p:spPr>
          <a:xfrm>
            <a:off x="3997025" y="3813048"/>
            <a:ext cx="402336" cy="32918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54367" y="2724912"/>
            <a:ext cx="2826593" cy="2871216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945807" y="2816352"/>
            <a:ext cx="2643713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018959" y="2880360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128687" y="2880360"/>
            <a:ext cx="54864" cy="5486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238415" y="2880360"/>
            <a:ext cx="54864" cy="54864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964095" y="3127248"/>
            <a:ext cx="26071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Desktop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4964095" y="3383280"/>
            <a:ext cx="896112" cy="237744"/>
          </a:xfrm>
          <a:prstGeom prst="roundRect">
            <a:avLst>
              <a:gd name="adj" fmla="val 1153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37247" y="3438144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1280 px</a:t>
            </a:r>
            <a:endParaRPr lang="en-US" sz="940" dirty="0"/>
          </a:p>
        </p:txBody>
      </p:sp>
      <p:sp>
        <p:nvSpPr>
          <p:cNvPr id="42" name="Shape 39"/>
          <p:cNvSpPr/>
          <p:nvPr/>
        </p:nvSpPr>
        <p:spPr>
          <a:xfrm>
            <a:off x="5018959" y="3730752"/>
            <a:ext cx="2497409" cy="1645920"/>
          </a:xfrm>
          <a:prstGeom prst="roundRect">
            <a:avLst>
              <a:gd name="adj" fmla="val 1667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128687" y="3840480"/>
            <a:ext cx="2277953" cy="3108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128687" y="4261104"/>
            <a:ext cx="2277953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128687" y="4608576"/>
            <a:ext cx="2277953" cy="201168"/>
          </a:xfrm>
          <a:prstGeom prst="roundRect">
            <a:avLst>
              <a:gd name="adj" fmla="val 909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128687" y="4956048"/>
            <a:ext cx="2277953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128687" y="5303520"/>
            <a:ext cx="2277953" cy="201168"/>
          </a:xfrm>
          <a:prstGeom prst="roundRect">
            <a:avLst>
              <a:gd name="adj" fmla="val 909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128687" y="5650992"/>
            <a:ext cx="2277953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000671" y="4956048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110399" y="4946904"/>
            <a:ext cx="246083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contexto</a:t>
            </a:r>
            <a:endParaRPr lang="en-US" sz="880" dirty="0"/>
          </a:p>
        </p:txBody>
      </p:sp>
      <p:sp>
        <p:nvSpPr>
          <p:cNvPr id="51" name="Shape 48"/>
          <p:cNvSpPr/>
          <p:nvPr/>
        </p:nvSpPr>
        <p:spPr>
          <a:xfrm>
            <a:off x="5000671" y="5120640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110399" y="5111496"/>
            <a:ext cx="246083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lateral</a:t>
            </a:r>
            <a:endParaRPr lang="en-US" sz="880" dirty="0"/>
          </a:p>
        </p:txBody>
      </p:sp>
      <p:sp>
        <p:nvSpPr>
          <p:cNvPr id="53" name="Shape 50"/>
          <p:cNvSpPr/>
          <p:nvPr/>
        </p:nvSpPr>
        <p:spPr>
          <a:xfrm>
            <a:off x="5000671" y="528523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110399" y="5276088"/>
            <a:ext cx="246083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bloques simultáneos</a:t>
            </a:r>
            <a:endParaRPr lang="en-US" sz="880" dirty="0"/>
          </a:p>
        </p:txBody>
      </p:sp>
      <p:sp>
        <p:nvSpPr>
          <p:cNvPr id="55" name="Shape 52"/>
          <p:cNvSpPr/>
          <p:nvPr/>
        </p:nvSpPr>
        <p:spPr>
          <a:xfrm>
            <a:off x="7900416" y="2249424"/>
            <a:ext cx="2761488" cy="1005840"/>
          </a:xfrm>
          <a:prstGeom prst="roundRect">
            <a:avLst>
              <a:gd name="adj" fmla="val 363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991856" y="2377440"/>
            <a:ext cx="109728" cy="749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156448" y="235915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Pantalla real</a:t>
            </a:r>
            <a:endParaRPr lang="en-US" sz="1420" dirty="0"/>
          </a:p>
        </p:txBody>
      </p:sp>
      <p:sp>
        <p:nvSpPr>
          <p:cNvPr id="58" name="Text 55"/>
          <p:cNvSpPr/>
          <p:nvPr/>
        </p:nvSpPr>
        <p:spPr>
          <a:xfrm>
            <a:off x="8156448" y="2633472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notebook, monitor, tablet, teléfono o ventana reducida dentro del navegador.</a:t>
            </a:r>
            <a:endParaRPr lang="en-US" sz="960" dirty="0"/>
          </a:p>
        </p:txBody>
      </p:sp>
      <p:sp>
        <p:nvSpPr>
          <p:cNvPr id="59" name="Shape 56"/>
          <p:cNvSpPr/>
          <p:nvPr/>
        </p:nvSpPr>
        <p:spPr>
          <a:xfrm>
            <a:off x="7900416" y="3456432"/>
            <a:ext cx="2761488" cy="1005840"/>
          </a:xfrm>
          <a:prstGeom prst="roundRect">
            <a:avLst>
              <a:gd name="adj" fmla="val 363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991856" y="3584448"/>
            <a:ext cx="109728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156448" y="3566160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una foto</a:t>
            </a:r>
            <a:endParaRPr lang="en-US" sz="1420" dirty="0"/>
          </a:p>
        </p:txBody>
      </p:sp>
      <p:sp>
        <p:nvSpPr>
          <p:cNvPr id="62" name="Text 59"/>
          <p:cNvSpPr/>
          <p:nvPr/>
        </p:nvSpPr>
        <p:spPr>
          <a:xfrm>
            <a:off x="8156448" y="3840480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tiene que conservar claridad aunque cambie el contenedor.</a:t>
            </a:r>
            <a:endParaRPr lang="en-US" sz="960" dirty="0"/>
          </a:p>
        </p:txBody>
      </p:sp>
      <p:sp>
        <p:nvSpPr>
          <p:cNvPr id="63" name="Shape 60"/>
          <p:cNvSpPr/>
          <p:nvPr/>
        </p:nvSpPr>
        <p:spPr>
          <a:xfrm>
            <a:off x="7900416" y="4663440"/>
            <a:ext cx="2761488" cy="1005840"/>
          </a:xfrm>
          <a:prstGeom prst="roundRect">
            <a:avLst>
              <a:gd name="adj" fmla="val 363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991856" y="4791456"/>
            <a:ext cx="109728" cy="7498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156448" y="4773168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técnica</a:t>
            </a:r>
            <a:endParaRPr lang="en-US" sz="1420" dirty="0"/>
          </a:p>
        </p:txBody>
      </p:sp>
      <p:sp>
        <p:nvSpPr>
          <p:cNvPr id="66" name="Text 63"/>
          <p:cNvSpPr/>
          <p:nvPr/>
        </p:nvSpPr>
        <p:spPr>
          <a:xfrm>
            <a:off x="8156448" y="5047488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importante no es si cabe, sino si sigue siendo legible y razonable de usar.</a:t>
            </a:r>
            <a:endParaRPr lang="en-US" sz="9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 no es achicar todo: es reorganizar con intención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de contexto obliga a decidir qué sube, qué baja y qué necesita más aire para seguir comunicando bien.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59536" y="2176272"/>
            <a:ext cx="4443984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2176272"/>
            <a:ext cx="4443984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0" y="2304288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52144" y="2304288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98448" y="2304288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26464" y="2276856"/>
            <a:ext cx="3529584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72768" y="2313432"/>
            <a:ext cx="3236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https://demo.local/home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1024128" y="2651760"/>
            <a:ext cx="4114800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33856" y="2752344"/>
            <a:ext cx="3895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Composición amplia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1024128" y="3163824"/>
            <a:ext cx="1170432" cy="1956816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340864" y="3163824"/>
            <a:ext cx="279806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340864" y="3803904"/>
            <a:ext cx="2798064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40864" y="4608576"/>
            <a:ext cx="2798064" cy="566928"/>
          </a:xfrm>
          <a:prstGeom prst="roundRect">
            <a:avLst>
              <a:gd name="adj" fmla="val 645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87552" y="5468112"/>
            <a:ext cx="4187952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78992" y="5596128"/>
            <a:ext cx="109728" cy="2743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43584" y="55778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Copiar la forma no basta</a:t>
            </a:r>
            <a:endParaRPr lang="en-US" sz="1620" dirty="0"/>
          </a:p>
        </p:txBody>
      </p:sp>
      <p:sp>
        <p:nvSpPr>
          <p:cNvPr id="26" name="Shape 23"/>
          <p:cNvSpPr/>
          <p:nvPr/>
        </p:nvSpPr>
        <p:spPr>
          <a:xfrm>
            <a:off x="5541264" y="3566160"/>
            <a:ext cx="475488" cy="40233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63056" y="2432304"/>
            <a:ext cx="1755648" cy="2944368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63056" y="2432304"/>
            <a:ext cx="1755648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72784" y="2560320"/>
            <a:ext cx="59436" cy="5943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82512" y="2560320"/>
            <a:ext cx="59436" cy="5943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92240" y="2560320"/>
            <a:ext cx="59436" cy="5943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47104" y="2528316"/>
            <a:ext cx="1280160" cy="187452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01968" y="2569464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m.demo.lo…</a:t>
            </a:r>
            <a:endParaRPr lang="en-US" sz="620" dirty="0"/>
          </a:p>
        </p:txBody>
      </p:sp>
      <p:sp>
        <p:nvSpPr>
          <p:cNvPr id="34" name="Shape 31"/>
          <p:cNvSpPr/>
          <p:nvPr/>
        </p:nvSpPr>
        <p:spPr>
          <a:xfrm>
            <a:off x="6327648" y="2907792"/>
            <a:ext cx="1426464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37376" y="3008376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móvil</a:t>
            </a:r>
            <a:endParaRPr lang="en-US" sz="840" dirty="0"/>
          </a:p>
        </p:txBody>
      </p:sp>
      <p:sp>
        <p:nvSpPr>
          <p:cNvPr id="36" name="Shape 33"/>
          <p:cNvSpPr/>
          <p:nvPr/>
        </p:nvSpPr>
        <p:spPr>
          <a:xfrm>
            <a:off x="6327648" y="3383280"/>
            <a:ext cx="1426464" cy="310896"/>
          </a:xfrm>
          <a:prstGeom prst="roundRect">
            <a:avLst>
              <a:gd name="adj" fmla="val 1176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27648" y="3822192"/>
            <a:ext cx="1426464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27648" y="4361688"/>
            <a:ext cx="1426464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327648" y="4901184"/>
            <a:ext cx="1426464" cy="292608"/>
          </a:xfrm>
          <a:prstGeom prst="roundRect">
            <a:avLst>
              <a:gd name="adj" fmla="val 1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156448" y="2249424"/>
            <a:ext cx="2633472" cy="932688"/>
          </a:xfrm>
          <a:prstGeom prst="roundRect">
            <a:avLst>
              <a:gd name="adj" fmla="val 39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247888" y="2377440"/>
            <a:ext cx="109728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412480" y="23591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reordena</a:t>
            </a:r>
            <a:endParaRPr lang="en-US" sz="1360" dirty="0"/>
          </a:p>
        </p:txBody>
      </p:sp>
      <p:sp>
        <p:nvSpPr>
          <p:cNvPr id="43" name="Text 40"/>
          <p:cNvSpPr/>
          <p:nvPr/>
        </p:nvSpPr>
        <p:spPr>
          <a:xfrm>
            <a:off x="8412480" y="26334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acción principal sube y el contenido lateral baja.</a:t>
            </a:r>
            <a:endParaRPr lang="en-US" sz="920" dirty="0"/>
          </a:p>
        </p:txBody>
      </p:sp>
      <p:sp>
        <p:nvSpPr>
          <p:cNvPr id="44" name="Shape 41"/>
          <p:cNvSpPr/>
          <p:nvPr/>
        </p:nvSpPr>
        <p:spPr>
          <a:xfrm>
            <a:off x="8156448" y="3383280"/>
            <a:ext cx="2633472" cy="932688"/>
          </a:xfrm>
          <a:prstGeom prst="roundRect">
            <a:avLst>
              <a:gd name="adj" fmla="val 39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247888" y="3511296"/>
            <a:ext cx="10972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412480" y="34930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simplifica</a:t>
            </a:r>
            <a:endParaRPr lang="en-US" sz="1360" dirty="0"/>
          </a:p>
        </p:txBody>
      </p:sp>
      <p:sp>
        <p:nvSpPr>
          <p:cNvPr id="47" name="Text 44"/>
          <p:cNvSpPr/>
          <p:nvPr/>
        </p:nvSpPr>
        <p:spPr>
          <a:xfrm>
            <a:off x="8412480" y="3767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deja de defender columnas que ya no ayudan a leer.</a:t>
            </a:r>
            <a:endParaRPr lang="en-US" sz="920" dirty="0"/>
          </a:p>
        </p:txBody>
      </p:sp>
      <p:sp>
        <p:nvSpPr>
          <p:cNvPr id="48" name="Shape 45"/>
          <p:cNvSpPr/>
          <p:nvPr/>
        </p:nvSpPr>
        <p:spPr>
          <a:xfrm>
            <a:off x="8156448" y="4517136"/>
            <a:ext cx="2633472" cy="932688"/>
          </a:xfrm>
          <a:prstGeom prst="roundRect">
            <a:avLst>
              <a:gd name="adj" fmla="val 392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247888" y="4645152"/>
            <a:ext cx="109728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412480" y="46268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protege el foco</a:t>
            </a:r>
            <a:endParaRPr lang="en-US" sz="1360" dirty="0"/>
          </a:p>
        </p:txBody>
      </p:sp>
      <p:sp>
        <p:nvSpPr>
          <p:cNvPr id="51" name="Text 48"/>
          <p:cNvSpPr/>
          <p:nvPr/>
        </p:nvSpPr>
        <p:spPr>
          <a:xfrm>
            <a:off x="8412480" y="49011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cuida experiencia, no simetría rígida.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misma interfaz puede reacomodarse sin perder sentido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se entiende mejor cuando se ve el reflow: cambia el orden, no solo la escala.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41248" y="2121408"/>
            <a:ext cx="6839712" cy="3822192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249424"/>
            <a:ext cx="658368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322576"/>
            <a:ext cx="6364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Reflow de una misma interfaz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42416" y="2651760"/>
            <a:ext cx="2036064" cy="2670048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651760"/>
            <a:ext cx="73152" cy="2670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07008" y="2798064"/>
            <a:ext cx="920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Desktop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2200656" y="2779776"/>
            <a:ext cx="713232" cy="219456"/>
          </a:xfrm>
          <a:prstGeom prst="roundRect">
            <a:avLst>
              <a:gd name="adj" fmla="val 125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55520" y="2834640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1280 px</a:t>
            </a:r>
            <a:endParaRPr lang="en-US" sz="810" dirty="0"/>
          </a:p>
        </p:txBody>
      </p:sp>
      <p:sp>
        <p:nvSpPr>
          <p:cNvPr id="18" name="Shape 15"/>
          <p:cNvSpPr/>
          <p:nvPr/>
        </p:nvSpPr>
        <p:spPr>
          <a:xfrm>
            <a:off x="1188720" y="3145536"/>
            <a:ext cx="1743456" cy="1792224"/>
          </a:xfrm>
          <a:prstGeom prst="roundRect">
            <a:avLst>
              <a:gd name="adj" fmla="val 1573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88720" y="3145536"/>
            <a:ext cx="1743456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80160" y="3227832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71600" y="3227832"/>
            <a:ext cx="45720" cy="457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63040" y="3227832"/>
            <a:ext cx="45720" cy="4572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298448" y="3456432"/>
            <a:ext cx="1524000" cy="243596"/>
          </a:xfrm>
          <a:prstGeom prst="roundRect">
            <a:avLst>
              <a:gd name="adj" fmla="val 750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298448" y="3773180"/>
            <a:ext cx="883920" cy="835396"/>
          </a:xfrm>
          <a:prstGeom prst="roundRect">
            <a:avLst>
              <a:gd name="adj" fmla="val 21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255520" y="3773180"/>
            <a:ext cx="566928" cy="381122"/>
          </a:xfrm>
          <a:prstGeom prst="roundRect">
            <a:avLst>
              <a:gd name="adj" fmla="val 479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255520" y="4227454"/>
            <a:ext cx="566928" cy="381122"/>
          </a:xfrm>
          <a:prstGeom prst="roundRect">
            <a:avLst>
              <a:gd name="adj" fmla="val 4798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207008" y="5084064"/>
            <a:ext cx="1706880" cy="146304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80160" y="5120640"/>
            <a:ext cx="15605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 y contenido simultáneo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3105912" y="3867912"/>
            <a:ext cx="109728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243072" y="2651760"/>
            <a:ext cx="2036064" cy="2670048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243072" y="2651760"/>
            <a:ext cx="73152" cy="2670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407664" y="2798064"/>
            <a:ext cx="920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Tablet</a:t>
            </a:r>
            <a:endParaRPr lang="en-US" sz="1140" dirty="0"/>
          </a:p>
        </p:txBody>
      </p:sp>
      <p:sp>
        <p:nvSpPr>
          <p:cNvPr id="33" name="Shape 30"/>
          <p:cNvSpPr/>
          <p:nvPr/>
        </p:nvSpPr>
        <p:spPr>
          <a:xfrm>
            <a:off x="4401312" y="2779776"/>
            <a:ext cx="713232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456176" y="2834640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820 px</a:t>
            </a:r>
            <a:endParaRPr lang="en-US" sz="810" dirty="0"/>
          </a:p>
        </p:txBody>
      </p:sp>
      <p:sp>
        <p:nvSpPr>
          <p:cNvPr id="35" name="Shape 32"/>
          <p:cNvSpPr/>
          <p:nvPr/>
        </p:nvSpPr>
        <p:spPr>
          <a:xfrm>
            <a:off x="3389376" y="3145536"/>
            <a:ext cx="1743456" cy="1792224"/>
          </a:xfrm>
          <a:prstGeom prst="roundRect">
            <a:avLst>
              <a:gd name="adj" fmla="val 1573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389376" y="3145536"/>
            <a:ext cx="1743456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480816" y="3227832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572256" y="3227832"/>
            <a:ext cx="45720" cy="457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663696" y="3227832"/>
            <a:ext cx="45720" cy="4572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499104" y="3456432"/>
            <a:ext cx="1524000" cy="243596"/>
          </a:xfrm>
          <a:prstGeom prst="roundRect">
            <a:avLst>
              <a:gd name="adj" fmla="val 7508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499104" y="3773180"/>
            <a:ext cx="725424" cy="351861"/>
          </a:xfrm>
          <a:prstGeom prst="roundRect">
            <a:avLst>
              <a:gd name="adj" fmla="val 519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297680" y="3773180"/>
            <a:ext cx="725424" cy="351861"/>
          </a:xfrm>
          <a:prstGeom prst="roundRect">
            <a:avLst>
              <a:gd name="adj" fmla="val 51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499104" y="4198193"/>
            <a:ext cx="1524000" cy="611551"/>
          </a:xfrm>
          <a:prstGeom prst="roundRect">
            <a:avLst>
              <a:gd name="adj" fmla="val 29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407664" y="5084064"/>
            <a:ext cx="1706880" cy="146304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480816" y="5120640"/>
            <a:ext cx="15605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piezas se acercan y cambian de ritmo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5306568" y="3867912"/>
            <a:ext cx="109728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443728" y="2651760"/>
            <a:ext cx="2036064" cy="2670048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443728" y="2651760"/>
            <a:ext cx="73152" cy="2670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608320" y="2798064"/>
            <a:ext cx="920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Móvil</a:t>
            </a:r>
            <a:endParaRPr lang="en-US" sz="1140" dirty="0"/>
          </a:p>
        </p:txBody>
      </p:sp>
      <p:sp>
        <p:nvSpPr>
          <p:cNvPr id="50" name="Shape 47"/>
          <p:cNvSpPr/>
          <p:nvPr/>
        </p:nvSpPr>
        <p:spPr>
          <a:xfrm>
            <a:off x="6601968" y="2779776"/>
            <a:ext cx="713232" cy="219456"/>
          </a:xfrm>
          <a:prstGeom prst="roundRect">
            <a:avLst>
              <a:gd name="adj" fmla="val 125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56832" y="2834640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390 px</a:t>
            </a:r>
            <a:endParaRPr lang="en-US" sz="810" dirty="0"/>
          </a:p>
        </p:txBody>
      </p:sp>
      <p:sp>
        <p:nvSpPr>
          <p:cNvPr id="52" name="Shape 49"/>
          <p:cNvSpPr/>
          <p:nvPr/>
        </p:nvSpPr>
        <p:spPr>
          <a:xfrm>
            <a:off x="5590032" y="3145536"/>
            <a:ext cx="1743456" cy="1792224"/>
          </a:xfrm>
          <a:prstGeom prst="roundRect">
            <a:avLst>
              <a:gd name="adj" fmla="val 1573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590032" y="3145536"/>
            <a:ext cx="1743456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681472" y="3227832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772912" y="3227832"/>
            <a:ext cx="45720" cy="457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864352" y="3227832"/>
            <a:ext cx="45720" cy="4572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699760" y="3456432"/>
            <a:ext cx="1524000" cy="243596"/>
          </a:xfrm>
          <a:prstGeom prst="roundRect">
            <a:avLst>
              <a:gd name="adj" fmla="val 7508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699760" y="3773180"/>
            <a:ext cx="1524000" cy="296753"/>
          </a:xfrm>
          <a:prstGeom prst="roundRect">
            <a:avLst>
              <a:gd name="adj" fmla="val 616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699760" y="4143085"/>
            <a:ext cx="1524000" cy="296753"/>
          </a:xfrm>
          <a:prstGeom prst="roundRect">
            <a:avLst>
              <a:gd name="adj" fmla="val 616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699760" y="4512991"/>
            <a:ext cx="1524000" cy="296753"/>
          </a:xfrm>
          <a:prstGeom prst="roundRect">
            <a:avLst>
              <a:gd name="adj" fmla="val 616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608320" y="5084064"/>
            <a:ext cx="1706880" cy="146304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681472" y="5120640"/>
            <a:ext cx="15605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columna con prioridad clara</a:t>
            </a:r>
            <a:endParaRPr lang="en-US" sz="780" dirty="0"/>
          </a:p>
        </p:txBody>
      </p:sp>
      <p:sp>
        <p:nvSpPr>
          <p:cNvPr id="63" name="Text 60"/>
          <p:cNvSpPr/>
          <p:nvPr/>
        </p:nvSpPr>
        <p:spPr>
          <a:xfrm>
            <a:off x="1024128" y="5779008"/>
            <a:ext cx="6473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espacio deja de ser accidente y se vuelve condición de diseño.</a:t>
            </a:r>
            <a:endParaRPr lang="en-US" sz="840" dirty="0"/>
          </a:p>
        </p:txBody>
      </p:sp>
      <p:sp>
        <p:nvSpPr>
          <p:cNvPr id="64" name="Shape 61"/>
          <p:cNvSpPr/>
          <p:nvPr/>
        </p:nvSpPr>
        <p:spPr>
          <a:xfrm>
            <a:off x="7973568" y="2286000"/>
            <a:ext cx="2670048" cy="1060704"/>
          </a:xfrm>
          <a:prstGeom prst="roundRect">
            <a:avLst>
              <a:gd name="adj" fmla="val 344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065008" y="2414016"/>
            <a:ext cx="10972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229600" y="239572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deformar</a:t>
            </a:r>
            <a:endParaRPr lang="en-US" sz="1380" dirty="0"/>
          </a:p>
        </p:txBody>
      </p:sp>
      <p:sp>
        <p:nvSpPr>
          <p:cNvPr id="67" name="Text 64"/>
          <p:cNvSpPr/>
          <p:nvPr/>
        </p:nvSpPr>
        <p:spPr>
          <a:xfrm>
            <a:off x="8229600" y="267004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reflow significa cambiar relaciones para conservar claridad.</a:t>
            </a:r>
            <a:endParaRPr lang="en-US" sz="940" dirty="0"/>
          </a:p>
        </p:txBody>
      </p:sp>
      <p:sp>
        <p:nvSpPr>
          <p:cNvPr id="68" name="Shape 65"/>
          <p:cNvSpPr/>
          <p:nvPr/>
        </p:nvSpPr>
        <p:spPr>
          <a:xfrm>
            <a:off x="7973568" y="3584448"/>
            <a:ext cx="2670048" cy="1060704"/>
          </a:xfrm>
          <a:prstGeom prst="roundRect">
            <a:avLst>
              <a:gd name="adj" fmla="val 344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065008" y="3712464"/>
            <a:ext cx="109728" cy="8046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229600" y="3694176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Cambia la jerarquía</a:t>
            </a:r>
            <a:endParaRPr lang="en-US" sz="1380" dirty="0"/>
          </a:p>
        </p:txBody>
      </p:sp>
      <p:sp>
        <p:nvSpPr>
          <p:cNvPr id="71" name="Text 68"/>
          <p:cNvSpPr/>
          <p:nvPr/>
        </p:nvSpPr>
        <p:spPr>
          <a:xfrm>
            <a:off x="8229600" y="3968496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antes era lateral puede pasar a una secuencia vertical.</a:t>
            </a:r>
            <a:endParaRPr lang="en-US" sz="940" dirty="0"/>
          </a:p>
        </p:txBody>
      </p:sp>
      <p:sp>
        <p:nvSpPr>
          <p:cNvPr id="72" name="Shape 69"/>
          <p:cNvSpPr/>
          <p:nvPr/>
        </p:nvSpPr>
        <p:spPr>
          <a:xfrm>
            <a:off x="7973568" y="4882896"/>
            <a:ext cx="2670048" cy="914400"/>
          </a:xfrm>
          <a:prstGeom prst="roundRect">
            <a:avLst>
              <a:gd name="adj" fmla="val 4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065008" y="5010912"/>
            <a:ext cx="109728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229600" y="499262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importa</a:t>
            </a:r>
            <a:endParaRPr lang="en-US" sz="1360" dirty="0"/>
          </a:p>
        </p:txBody>
      </p:sp>
      <p:sp>
        <p:nvSpPr>
          <p:cNvPr id="75" name="Text 72"/>
          <p:cNvSpPr/>
          <p:nvPr/>
        </p:nvSpPr>
        <p:spPr>
          <a:xfrm>
            <a:off x="8229600" y="5248656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seguir entendiendo la interfaz sin depender del ancho ideal.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viewport cambia proporción, densidad y orden de lectura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cambia el área visible, cambian también el ritmo visual y la relación entre bloques.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41248" y="2139696"/>
            <a:ext cx="5504688" cy="3529584"/>
          </a:xfrm>
          <a:prstGeom prst="roundRect">
            <a:avLst>
              <a:gd name="adj" fmla="val 10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2139696"/>
            <a:ext cx="5504688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2267712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33856" y="2267712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80160" y="2267712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08176" y="2240280"/>
            <a:ext cx="4590288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54480" y="227685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https://demo.local/dashboard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1005840" y="2615184"/>
            <a:ext cx="5175504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5568" y="2715768"/>
            <a:ext cx="4956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contenido en espacio amplio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1005840" y="3127248"/>
            <a:ext cx="1170432" cy="2286000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322576" y="3127248"/>
            <a:ext cx="385876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322576" y="3767328"/>
            <a:ext cx="3858768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22576" y="4572000"/>
            <a:ext cx="3858768" cy="566928"/>
          </a:xfrm>
          <a:prstGeom prst="roundRect">
            <a:avLst>
              <a:gd name="adj" fmla="val 645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01968" y="2212848"/>
            <a:ext cx="4041648" cy="3438144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03136" y="2377440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Orden de lectura cuando el espacio se reduce</a:t>
            </a:r>
            <a:endParaRPr lang="en-US" sz="1420" dirty="0"/>
          </a:p>
        </p:txBody>
      </p:sp>
      <p:sp>
        <p:nvSpPr>
          <p:cNvPr id="25" name="Shape 22"/>
          <p:cNvSpPr/>
          <p:nvPr/>
        </p:nvSpPr>
        <p:spPr>
          <a:xfrm>
            <a:off x="6766560" y="2779776"/>
            <a:ext cx="3712464" cy="713232"/>
          </a:xfrm>
          <a:prstGeom prst="roundRect">
            <a:avLst>
              <a:gd name="adj" fmla="val 512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58000" y="2907792"/>
            <a:ext cx="109728" cy="4572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22592" y="2889504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Lo principal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022592" y="312724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CTA, mensaje central y acción visible.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6766560" y="3621024"/>
            <a:ext cx="3712464" cy="713232"/>
          </a:xfrm>
          <a:prstGeom prst="roundRect">
            <a:avLst>
              <a:gd name="adj" fmla="val 512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858000" y="3749040"/>
            <a:ext cx="109728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22592" y="3730752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Lo que acompaña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022592" y="396849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Contexto, apoyo y bloques secundarios.</a:t>
            </a:r>
            <a:endParaRPr lang="en-US" sz="960" dirty="0"/>
          </a:p>
        </p:txBody>
      </p:sp>
      <p:sp>
        <p:nvSpPr>
          <p:cNvPr id="33" name="Shape 30"/>
          <p:cNvSpPr/>
          <p:nvPr/>
        </p:nvSpPr>
        <p:spPr>
          <a:xfrm>
            <a:off x="6766560" y="4462272"/>
            <a:ext cx="3712464" cy="713232"/>
          </a:xfrm>
          <a:prstGeom prst="roundRect">
            <a:avLst>
              <a:gd name="adj" fmla="val 512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858000" y="4590288"/>
            <a:ext cx="109728" cy="4572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22592" y="4572000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Lo que puede bajar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022592" y="4809744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Detalle, decorativos y apoyo tardío.</a:t>
            </a:r>
            <a:endParaRPr lang="en-US" sz="960" dirty="0"/>
          </a:p>
        </p:txBody>
      </p:sp>
      <p:sp>
        <p:nvSpPr>
          <p:cNvPr id="37" name="Shape 34"/>
          <p:cNvSpPr/>
          <p:nvPr/>
        </p:nvSpPr>
        <p:spPr>
          <a:xfrm>
            <a:off x="987552" y="5504688"/>
            <a:ext cx="9692640" cy="493776"/>
          </a:xfrm>
          <a:prstGeom prst="roundRect">
            <a:avLst>
              <a:gd name="adj" fmla="val 740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188720" y="5669280"/>
            <a:ext cx="9290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Pensar viewport antes que breakpoint obliga a leer comportamiento, no solo números.</a:t>
            </a:r>
            <a:endParaRPr lang="en-US" sz="16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layout fijo suele esconder problemas que después explotan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Mientras el ancho coincide con la maqueta, todo parece ordenado. El problema aparece cuando el contexto cambia.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3913632" y="2322576"/>
            <a:ext cx="4352544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913632" y="2322576"/>
            <a:ext cx="4352544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59936" y="2450592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0" y="2450592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52544" y="2450592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80560" y="2423160"/>
            <a:ext cx="3438144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26864" y="2459736"/>
            <a:ext cx="3145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https://demo.local/rigid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4078224" y="2798064"/>
            <a:ext cx="4023360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87952" y="2898648"/>
            <a:ext cx="3803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rígido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4078224" y="3310128"/>
            <a:ext cx="1267968" cy="640080"/>
          </a:xfrm>
          <a:prstGeom prst="roundRect">
            <a:avLst>
              <a:gd name="adj" fmla="val 571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37632" y="3310128"/>
            <a:ext cx="1267968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97040" y="3310128"/>
            <a:ext cx="1267968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078224" y="4096512"/>
            <a:ext cx="402336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078224" y="4645152"/>
            <a:ext cx="402336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23760" y="5193792"/>
            <a:ext cx="768096" cy="310896"/>
          </a:xfrm>
          <a:prstGeom prst="roundRect">
            <a:avLst>
              <a:gd name="adj" fmla="val 1176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41248" y="2322576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4400" y="2432304"/>
            <a:ext cx="100584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97280" y="245059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 apretado</a:t>
            </a:r>
            <a:endParaRPr lang="en-US" sz="1260" dirty="0"/>
          </a:p>
        </p:txBody>
      </p:sp>
      <p:sp>
        <p:nvSpPr>
          <p:cNvPr id="28" name="Text 25"/>
          <p:cNvSpPr/>
          <p:nvPr/>
        </p:nvSpPr>
        <p:spPr>
          <a:xfrm>
            <a:off x="1097280" y="272491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contenido cabe, pero ya no respira.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841248" y="3401568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14400" y="3511296"/>
            <a:ext cx="100584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97280" y="352958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Navegación incómoda</a:t>
            </a:r>
            <a:endParaRPr lang="en-US" sz="1260" dirty="0"/>
          </a:p>
        </p:txBody>
      </p:sp>
      <p:sp>
        <p:nvSpPr>
          <p:cNvPr id="32" name="Text 29"/>
          <p:cNvSpPr/>
          <p:nvPr/>
        </p:nvSpPr>
        <p:spPr>
          <a:xfrm>
            <a:off x="1097280" y="380390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menú sigue horizontal aunque ya no lo soporte.</a:t>
            </a:r>
            <a:endParaRPr lang="en-US" sz="920" dirty="0"/>
          </a:p>
        </p:txBody>
      </p:sp>
      <p:sp>
        <p:nvSpPr>
          <p:cNvPr id="33" name="Shape 30"/>
          <p:cNvSpPr/>
          <p:nvPr/>
        </p:nvSpPr>
        <p:spPr>
          <a:xfrm>
            <a:off x="8613648" y="2322576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686800" y="2432304"/>
            <a:ext cx="100584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869680" y="245059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Cards sin aire</a:t>
            </a:r>
            <a:endParaRPr lang="en-US" sz="1260" dirty="0"/>
          </a:p>
        </p:txBody>
      </p:sp>
      <p:sp>
        <p:nvSpPr>
          <p:cNvPr id="36" name="Text 33"/>
          <p:cNvSpPr/>
          <p:nvPr/>
        </p:nvSpPr>
        <p:spPr>
          <a:xfrm>
            <a:off x="8869680" y="272491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conservan columnas que vuelven la lectura pesada.</a:t>
            </a:r>
            <a:endParaRPr lang="en-US" sz="920" dirty="0"/>
          </a:p>
        </p:txBody>
      </p:sp>
      <p:sp>
        <p:nvSpPr>
          <p:cNvPr id="37" name="Shape 34"/>
          <p:cNvSpPr/>
          <p:nvPr/>
        </p:nvSpPr>
        <p:spPr>
          <a:xfrm>
            <a:off x="8613648" y="3401568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686800" y="3511296"/>
            <a:ext cx="100584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869680" y="352958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CTA debilitado</a:t>
            </a:r>
            <a:endParaRPr lang="en-US" sz="1260" dirty="0"/>
          </a:p>
        </p:txBody>
      </p:sp>
      <p:sp>
        <p:nvSpPr>
          <p:cNvPr id="40" name="Text 37"/>
          <p:cNvSpPr/>
          <p:nvPr/>
        </p:nvSpPr>
        <p:spPr>
          <a:xfrm>
            <a:off x="8869680" y="380390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acción principal pierde jerarquía dentro del ruido.</a:t>
            </a:r>
            <a:endParaRPr lang="en-US" sz="920" dirty="0"/>
          </a:p>
        </p:txBody>
      </p:sp>
      <p:sp>
        <p:nvSpPr>
          <p:cNvPr id="41" name="Shape 38"/>
          <p:cNvSpPr/>
          <p:nvPr/>
        </p:nvSpPr>
        <p:spPr>
          <a:xfrm>
            <a:off x="1243584" y="5504688"/>
            <a:ext cx="9619488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444752" y="5669280"/>
            <a:ext cx="9217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 no es un extra visual: es parte central de pensar bien la interfaz.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el espacio baja, no todo debería pesar igual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obliga a decidir qué abre la lectura, qué acompaña y qué puede moverse sin dañar la experiencia.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41248" y="2212848"/>
            <a:ext cx="3950208" cy="3621024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2377440"/>
            <a:ext cx="3547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Orden de lectura cuando el espacio se reduce</a:t>
            </a:r>
            <a:endParaRPr lang="en-US" sz="1420" dirty="0"/>
          </a:p>
        </p:txBody>
      </p:sp>
      <p:sp>
        <p:nvSpPr>
          <p:cNvPr id="12" name="Shape 9"/>
          <p:cNvSpPr/>
          <p:nvPr/>
        </p:nvSpPr>
        <p:spPr>
          <a:xfrm>
            <a:off x="1005840" y="2779776"/>
            <a:ext cx="3621024" cy="713232"/>
          </a:xfrm>
          <a:prstGeom prst="roundRect">
            <a:avLst>
              <a:gd name="adj" fmla="val 512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97280" y="2907792"/>
            <a:ext cx="109728" cy="4572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61872" y="2889504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Lo principal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61872" y="3127248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CTA, mensaje central y acción visible.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1005840" y="3621024"/>
            <a:ext cx="3621024" cy="713232"/>
          </a:xfrm>
          <a:prstGeom prst="roundRect">
            <a:avLst>
              <a:gd name="adj" fmla="val 512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97280" y="3749040"/>
            <a:ext cx="109728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61872" y="373075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Lo que acompaña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61872" y="3968496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Contexto, apoyo y bloques secundarios.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1005840" y="4462272"/>
            <a:ext cx="3621024" cy="713232"/>
          </a:xfrm>
          <a:prstGeom prst="roundRect">
            <a:avLst>
              <a:gd name="adj" fmla="val 512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97280" y="4590288"/>
            <a:ext cx="109728" cy="4572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61872" y="4572000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Lo que puede bajar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61872" y="4809744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Detalle, decorativos y apoyo tardío.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4956048" y="3657600"/>
            <a:ext cx="420624" cy="34747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22976" y="2212848"/>
            <a:ext cx="1865376" cy="331012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522976" y="2212848"/>
            <a:ext cx="1865376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32704" y="2340864"/>
            <a:ext cx="59436" cy="5943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42432" y="2340864"/>
            <a:ext cx="59436" cy="5943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52160" y="2340864"/>
            <a:ext cx="59436" cy="5943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907024" y="2308860"/>
            <a:ext cx="1389888" cy="187452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61888" y="235000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m.demo.lo…</a:t>
            </a:r>
            <a:endParaRPr lang="en-US" sz="620" dirty="0"/>
          </a:p>
        </p:txBody>
      </p:sp>
      <p:sp>
        <p:nvSpPr>
          <p:cNvPr id="32" name="Shape 29"/>
          <p:cNvSpPr/>
          <p:nvPr/>
        </p:nvSpPr>
        <p:spPr>
          <a:xfrm>
            <a:off x="5687568" y="2688336"/>
            <a:ext cx="1536192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97296" y="2788920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Prioridad visible</a:t>
            </a:r>
            <a:endParaRPr lang="en-US" sz="840" dirty="0"/>
          </a:p>
        </p:txBody>
      </p:sp>
      <p:sp>
        <p:nvSpPr>
          <p:cNvPr id="34" name="Shape 31"/>
          <p:cNvSpPr/>
          <p:nvPr/>
        </p:nvSpPr>
        <p:spPr>
          <a:xfrm>
            <a:off x="5687568" y="3163824"/>
            <a:ext cx="1536192" cy="310896"/>
          </a:xfrm>
          <a:prstGeom prst="roundRect">
            <a:avLst>
              <a:gd name="adj" fmla="val 1176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687568" y="3602736"/>
            <a:ext cx="1536192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687568" y="4325112"/>
            <a:ext cx="1536192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687568" y="5047488"/>
            <a:ext cx="1536192" cy="292608"/>
          </a:xfrm>
          <a:prstGeom prst="roundRect">
            <a:avLst>
              <a:gd name="adj" fmla="val 1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827264" y="2340864"/>
            <a:ext cx="2816352" cy="987552"/>
          </a:xfrm>
          <a:prstGeom prst="roundRect">
            <a:avLst>
              <a:gd name="adj" fmla="val 370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918704" y="2468880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83296" y="24505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Abrir la lectura</a:t>
            </a:r>
            <a:endParaRPr lang="en-US" sz="1380" dirty="0"/>
          </a:p>
        </p:txBody>
      </p:sp>
      <p:sp>
        <p:nvSpPr>
          <p:cNvPr id="41" name="Text 38"/>
          <p:cNvSpPr/>
          <p:nvPr/>
        </p:nvSpPr>
        <p:spPr>
          <a:xfrm>
            <a:off x="8083296" y="27249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mensaje principal debe aparecer sin competir con lo secundario.</a:t>
            </a:r>
            <a:endParaRPr lang="en-US" sz="920" dirty="0"/>
          </a:p>
        </p:txBody>
      </p:sp>
      <p:sp>
        <p:nvSpPr>
          <p:cNvPr id="42" name="Shape 39"/>
          <p:cNvSpPr/>
          <p:nvPr/>
        </p:nvSpPr>
        <p:spPr>
          <a:xfrm>
            <a:off x="7827264" y="3529584"/>
            <a:ext cx="2816352" cy="987552"/>
          </a:xfrm>
          <a:prstGeom prst="roundRect">
            <a:avLst>
              <a:gd name="adj" fmla="val 370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918704" y="3657600"/>
            <a:ext cx="109728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083296" y="36393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Mover no es perder</a:t>
            </a:r>
            <a:endParaRPr lang="en-US" sz="1380" dirty="0"/>
          </a:p>
        </p:txBody>
      </p:sp>
      <p:sp>
        <p:nvSpPr>
          <p:cNvPr id="45" name="Text 42"/>
          <p:cNvSpPr/>
          <p:nvPr/>
        </p:nvSpPr>
        <p:spPr>
          <a:xfrm>
            <a:off x="8083296" y="3913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bloque puede bajar de lugar y seguir cumpliendo su función mejor.</a:t>
            </a:r>
            <a:endParaRPr lang="en-US" sz="920" dirty="0"/>
          </a:p>
        </p:txBody>
      </p:sp>
      <p:sp>
        <p:nvSpPr>
          <p:cNvPr id="46" name="Shape 43"/>
          <p:cNvSpPr/>
          <p:nvPr/>
        </p:nvSpPr>
        <p:spPr>
          <a:xfrm>
            <a:off x="7827264" y="4718304"/>
            <a:ext cx="2816352" cy="987552"/>
          </a:xfrm>
          <a:prstGeom prst="roundRect">
            <a:avLst>
              <a:gd name="adj" fmla="val 370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918704" y="4846320"/>
            <a:ext cx="109728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083296" y="48280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Mostrar lo correcto</a:t>
            </a:r>
            <a:endParaRPr lang="en-US" sz="1380" dirty="0"/>
          </a:p>
        </p:txBody>
      </p:sp>
      <p:sp>
        <p:nvSpPr>
          <p:cNvPr id="49" name="Text 46"/>
          <p:cNvSpPr/>
          <p:nvPr/>
        </p:nvSpPr>
        <p:spPr>
          <a:xfrm>
            <a:off x="8083296" y="51023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no es mostrar todo, sino sostener claridad e interacción.</a:t>
            </a:r>
            <a:endParaRPr lang="en-US" sz="9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adaptación se valida mirando comportamiento real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no se da por bueno en el papel: se confirma en viewport, navegador y lectura efectiva de la pantalla.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77824" y="2157984"/>
            <a:ext cx="4535424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157984"/>
            <a:ext cx="4535424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4128" y="2286000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70432" y="2286000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316736" y="2286000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2258568"/>
            <a:ext cx="3621024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91056" y="2295144"/>
            <a:ext cx="3328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https://demo.local/review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1042416" y="2633472"/>
            <a:ext cx="4206240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52144" y="2734056"/>
            <a:ext cx="3986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en pantalla real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1042416" y="3145536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42416" y="3730752"/>
            <a:ext cx="205740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91256" y="3730752"/>
            <a:ext cx="205740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42416" y="4535424"/>
            <a:ext cx="4206240" cy="512064"/>
          </a:xfrm>
          <a:prstGeom prst="roundRect">
            <a:avLst>
              <a:gd name="adj" fmla="val 714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87568" y="2231136"/>
            <a:ext cx="2139696" cy="932688"/>
          </a:xfrm>
          <a:prstGeom prst="roundRect">
            <a:avLst>
              <a:gd name="adj" fmla="val 39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79008" y="2359152"/>
            <a:ext cx="10972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0" y="234086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Mirar el viewport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943600" y="2615184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aprieta, qué gana foco y qué relación ya no funciona.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687568" y="3364992"/>
            <a:ext cx="2139696" cy="932688"/>
          </a:xfrm>
          <a:prstGeom prst="roundRect">
            <a:avLst>
              <a:gd name="adj" fmla="val 39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79008" y="3493008"/>
            <a:ext cx="109728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0" y="347472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la jerarquía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943600" y="374904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ojo ya no sabe dónde entrar, el reflow no resolvió el problema.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687568" y="4498848"/>
            <a:ext cx="2139696" cy="932688"/>
          </a:xfrm>
          <a:prstGeom prst="roundRect">
            <a:avLst>
              <a:gd name="adj" fmla="val 392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779008" y="4626864"/>
            <a:ext cx="109728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0" y="460857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Verificar la acción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0" y="4882896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CTA y la interacción principal deben seguir siendo obvios.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101584" y="2157984"/>
            <a:ext cx="2596896" cy="35661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339328" y="2340864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mínima</a:t>
            </a:r>
            <a:endParaRPr lang="en-US" sz="1480" dirty="0"/>
          </a:p>
        </p:txBody>
      </p:sp>
      <p:sp>
        <p:nvSpPr>
          <p:cNvPr id="37" name="Shape 34"/>
          <p:cNvSpPr/>
          <p:nvPr/>
        </p:nvSpPr>
        <p:spPr>
          <a:xfrm>
            <a:off x="8339328" y="276148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613648" y="277063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texto sigue respirando?</a:t>
            </a:r>
            <a:endParaRPr lang="en-US" sz="940" dirty="0"/>
          </a:p>
        </p:txBody>
      </p:sp>
      <p:sp>
        <p:nvSpPr>
          <p:cNvPr id="39" name="Shape 36"/>
          <p:cNvSpPr/>
          <p:nvPr/>
        </p:nvSpPr>
        <p:spPr>
          <a:xfrm>
            <a:off x="8339328" y="327355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613648" y="3282696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navegación todavía se entiende?</a:t>
            </a:r>
            <a:endParaRPr lang="en-US" sz="940" dirty="0"/>
          </a:p>
        </p:txBody>
      </p:sp>
      <p:sp>
        <p:nvSpPr>
          <p:cNvPr id="41" name="Shape 38"/>
          <p:cNvSpPr/>
          <p:nvPr/>
        </p:nvSpPr>
        <p:spPr>
          <a:xfrm>
            <a:off x="8339328" y="378561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613648" y="3794760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orden visual ayuda?</a:t>
            </a:r>
            <a:endParaRPr lang="en-US" sz="940" dirty="0"/>
          </a:p>
        </p:txBody>
      </p:sp>
      <p:sp>
        <p:nvSpPr>
          <p:cNvPr id="43" name="Shape 40"/>
          <p:cNvSpPr/>
          <p:nvPr/>
        </p:nvSpPr>
        <p:spPr>
          <a:xfrm>
            <a:off x="8339328" y="42976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613648" y="430682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acción principal sigue visible?</a:t>
            </a:r>
            <a:endParaRPr lang="en-US" sz="940" dirty="0"/>
          </a:p>
        </p:txBody>
      </p:sp>
      <p:sp>
        <p:nvSpPr>
          <p:cNvPr id="45" name="Shape 42"/>
          <p:cNvSpPr/>
          <p:nvPr/>
        </p:nvSpPr>
        <p:spPr>
          <a:xfrm>
            <a:off x="8339328" y="4809744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613648" y="4818888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cambio mejora o solo acomoda?</a:t>
            </a:r>
            <a:endParaRPr lang="en-US" sz="9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 asistido no es responsive validado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primera propuesta puede venir de un agente, pero la adaptación se confirma leyendo comportamiento real en pantalla.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77824" y="2084832"/>
            <a:ext cx="9912096" cy="3675888"/>
          </a:xfrm>
          <a:prstGeom prst="roundRect">
            <a:avLst>
              <a:gd name="adj" fmla="val 9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212848"/>
            <a:ext cx="965606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286000"/>
            <a:ext cx="9436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acelerar un agente y qué sigue siendo tuyo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24128" y="2651760"/>
            <a:ext cx="3950208" cy="2651760"/>
          </a:xfrm>
          <a:prstGeom prst="roundRect">
            <a:avLst>
              <a:gd name="adj" fmla="val 13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33856" y="2779776"/>
            <a:ext cx="109728" cy="2395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35024" y="277977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 con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35024" y="3054096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primeras propuestas de adaptación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35024" y="3438144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26464" y="356387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72768" y="3502152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bosquejar una versión móvil inicial</a:t>
            </a:r>
            <a:endParaRPr lang="en-US" sz="890" dirty="0"/>
          </a:p>
        </p:txBody>
      </p:sp>
      <p:sp>
        <p:nvSpPr>
          <p:cNvPr id="20" name="Shape 17"/>
          <p:cNvSpPr/>
          <p:nvPr/>
        </p:nvSpPr>
        <p:spPr>
          <a:xfrm>
            <a:off x="1335024" y="3899916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26464" y="402564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72768" y="3963924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variantes de layout</a:t>
            </a:r>
            <a:endParaRPr lang="en-US" sz="890" dirty="0"/>
          </a:p>
        </p:txBody>
      </p:sp>
      <p:sp>
        <p:nvSpPr>
          <p:cNvPr id="23" name="Shape 20"/>
          <p:cNvSpPr/>
          <p:nvPr/>
        </p:nvSpPr>
        <p:spPr>
          <a:xfrm>
            <a:off x="1335024" y="4361688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26464" y="448741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72768" y="4425696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sugerir un primer orden de bloques</a:t>
            </a:r>
            <a:endParaRPr lang="en-US" sz="890" dirty="0"/>
          </a:p>
        </p:txBody>
      </p:sp>
      <p:sp>
        <p:nvSpPr>
          <p:cNvPr id="26" name="Shape 23"/>
          <p:cNvSpPr/>
          <p:nvPr/>
        </p:nvSpPr>
        <p:spPr>
          <a:xfrm>
            <a:off x="1335024" y="4823460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26464" y="494919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572768" y="4887468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dónde un caso necesita reflow</a:t>
            </a:r>
            <a:endParaRPr lang="en-US" sz="890" dirty="0"/>
          </a:p>
        </p:txBody>
      </p:sp>
      <p:sp>
        <p:nvSpPr>
          <p:cNvPr id="29" name="Shape 26"/>
          <p:cNvSpPr/>
          <p:nvPr/>
        </p:nvSpPr>
        <p:spPr>
          <a:xfrm>
            <a:off x="6693408" y="2651760"/>
            <a:ext cx="3950208" cy="265176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803136" y="2779776"/>
            <a:ext cx="109728" cy="2395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04304" y="277977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004304" y="3054096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y validación final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7004304" y="3438144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095744" y="356387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42048" y="3502152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si la jerarquía visual sigue clara</a:t>
            </a:r>
            <a:endParaRPr lang="en-US" sz="890" dirty="0"/>
          </a:p>
        </p:txBody>
      </p:sp>
      <p:sp>
        <p:nvSpPr>
          <p:cNvPr id="36" name="Shape 33"/>
          <p:cNvSpPr/>
          <p:nvPr/>
        </p:nvSpPr>
        <p:spPr>
          <a:xfrm>
            <a:off x="7004304" y="3899916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095744" y="402564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242048" y="3963924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comprobar si el viewport mejora la lectura</a:t>
            </a:r>
            <a:endParaRPr lang="en-US" sz="890" dirty="0"/>
          </a:p>
        </p:txBody>
      </p:sp>
      <p:sp>
        <p:nvSpPr>
          <p:cNvPr id="39" name="Shape 36"/>
          <p:cNvSpPr/>
          <p:nvPr/>
        </p:nvSpPr>
        <p:spPr>
          <a:xfrm>
            <a:off x="7004304" y="4361688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095744" y="448741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242048" y="4425696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qué baja y qué permanece arriba</a:t>
            </a:r>
            <a:endParaRPr lang="en-US" sz="890" dirty="0"/>
          </a:p>
        </p:txBody>
      </p:sp>
      <p:sp>
        <p:nvSpPr>
          <p:cNvPr id="42" name="Shape 39"/>
          <p:cNvSpPr/>
          <p:nvPr/>
        </p:nvSpPr>
        <p:spPr>
          <a:xfrm>
            <a:off x="7004304" y="4823460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95744" y="494919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242048" y="4887468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por buena una adaptación sin verla</a:t>
            </a:r>
            <a:endParaRPr lang="en-US" sz="890" dirty="0"/>
          </a:p>
        </p:txBody>
      </p:sp>
      <p:sp>
        <p:nvSpPr>
          <p:cNvPr id="45" name="Shape 42"/>
          <p:cNvSpPr/>
          <p:nvPr/>
        </p:nvSpPr>
        <p:spPr>
          <a:xfrm>
            <a:off x="5230368" y="316382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340096" y="331012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413248" y="373075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394960" y="33558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Pantalla real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5358384" y="414223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adaptación se aprueba viendo la pantalla real.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078992" y="5358384"/>
            <a:ext cx="9509760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88720" y="5404104"/>
            <a:ext cx="9290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propone primero. Tú validas la experiencia.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cerrar 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responsive es comportamiento, las preguntas también deben apuntar a cómo cambia la interfaz bajo presión de espacio.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1005840" y="2249424"/>
            <a:ext cx="2889504" cy="142646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2377440"/>
            <a:ext cx="109728" cy="11704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61872" y="235915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Pantalla fija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una interfaz web no debería pensarse como una maqueta que solo debe verse bien en un ancho ideal?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4645152" y="2249424"/>
            <a:ext cx="2889504" cy="1426464"/>
          </a:xfrm>
          <a:prstGeom prst="roundRect">
            <a:avLst>
              <a:gd name="adj" fmla="val 256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36592" y="2377440"/>
            <a:ext cx="109728" cy="11704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01184" y="235915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Achicar vs reorganizar</a:t>
            </a:r>
            <a:endParaRPr lang="en-US" sz="1420" dirty="0"/>
          </a:p>
        </p:txBody>
      </p:sp>
      <p:sp>
        <p:nvSpPr>
          <p:cNvPr id="17" name="Text 14"/>
          <p:cNvSpPr/>
          <p:nvPr/>
        </p:nvSpPr>
        <p:spPr>
          <a:xfrm>
            <a:off x="4901184" y="2871216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hay entre reducir una pantalla y reordenar una interfaz con intención?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8284464" y="2249424"/>
            <a:ext cx="2889504" cy="1426464"/>
          </a:xfrm>
          <a:prstGeom prst="roundRect">
            <a:avLst>
              <a:gd name="adj" fmla="val 256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75904" y="2377440"/>
            <a:ext cx="109728" cy="11704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40496" y="235915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Validación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540496" y="2743200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parte de una adaptación responsive siempre conviene verificar mirando la interfaz en pantalla real?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1133856" y="4773168"/>
            <a:ext cx="9893808" cy="749808"/>
          </a:xfrm>
          <a:prstGeom prst="roundRect">
            <a:avLst>
              <a:gd name="adj" fmla="val 4878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35024" y="4937760"/>
            <a:ext cx="9491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mejor respuesta no es un número de breakpoint: es una lectura clara del comportamiento visual.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empieza cuando dejamos de defender una sola pantalla y empezamos a diseñar bajo cambio de contexto.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987552" y="2194560"/>
            <a:ext cx="5870448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98448" y="2542032"/>
            <a:ext cx="5230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Diseñar responsive significa reorganizar con criterio, no encoger una maqueta.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335024" y="3694176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08176" y="3730752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viewport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615184" y="3694176"/>
            <a:ext cx="1170432" cy="256032"/>
          </a:xfrm>
          <a:prstGeom prst="roundRect">
            <a:avLst>
              <a:gd name="adj" fmla="val 17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88336" y="373075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prioridad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931920" y="3694176"/>
            <a:ext cx="987552" cy="256032"/>
          </a:xfrm>
          <a:prstGeom prst="roundRect">
            <a:avLst>
              <a:gd name="adj" fmla="val 178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05072" y="373075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reflow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102352" y="3694176"/>
            <a:ext cx="1243584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75504" y="37307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223760" y="2194560"/>
            <a:ext cx="2999232" cy="1993392"/>
          </a:xfrm>
          <a:prstGeom prst="roundRect">
            <a:avLst>
              <a:gd name="adj" fmla="val 183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0" y="2322576"/>
            <a:ext cx="109728" cy="17373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79792" y="23042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al Bloque 2</a:t>
            </a:r>
            <a:endParaRPr lang="en-US" sz="1640" dirty="0"/>
          </a:p>
        </p:txBody>
      </p:sp>
      <p:sp>
        <p:nvSpPr>
          <p:cNvPr id="23" name="Text 20"/>
          <p:cNvSpPr/>
          <p:nvPr/>
        </p:nvSpPr>
        <p:spPr>
          <a:xfrm>
            <a:off x="7479792" y="2688336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bajaremos esta idea a viewport, puntos de quiebre y decisiones concretas de layout para que responsive deje de ser intuición suelta.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133856" y="4919472"/>
            <a:ext cx="9089136" cy="658368"/>
          </a:xfrm>
          <a:prstGeom prst="roundRect">
            <a:avLst>
              <a:gd name="adj" fmla="val 555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35024" y="5084064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Entender el espacio -&gt; proponer -&gt; mirar en pantalla -&gt; validar con criterio</a:t>
            </a:r>
            <a:endParaRPr lang="en-US" sz="1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2 · Viewport, adaptación y decisiones de layout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ancho visible no es un dato neutral: cambia el ritmo, la jerarquía y la decisión de layout que conviene tomar.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41248" y="2176272"/>
            <a:ext cx="3401568" cy="3419856"/>
          </a:xfrm>
          <a:prstGeom prst="roundRect">
            <a:avLst>
              <a:gd name="adj" fmla="val 1075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2607137"/>
            <a:ext cx="153619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81623" y="2468880"/>
            <a:ext cx="184343" cy="49158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96690" y="2607137"/>
            <a:ext cx="153619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2944368"/>
            <a:ext cx="22677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Viewport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un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número.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1097280" y="471830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70432" y="475488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quiebre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212848" y="4718304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86000" y="475488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097280" y="5047488"/>
            <a:ext cx="98755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0432" y="508406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212848" y="5047488"/>
            <a:ext cx="1170432" cy="256032"/>
          </a:xfrm>
          <a:prstGeom prst="roundRect">
            <a:avLst>
              <a:gd name="adj" fmla="val 178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86000" y="508406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35424" y="2212848"/>
            <a:ext cx="6144768" cy="3547872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63440" y="2340864"/>
            <a:ext cx="5888736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73168" y="241401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el ancho antes de tocar el layout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4736592" y="2779776"/>
            <a:ext cx="1367028" cy="841248"/>
          </a:xfrm>
          <a:prstGeom prst="roundRect">
            <a:avLst>
              <a:gd name="adj" fmla="val 434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36592" y="2779776"/>
            <a:ext cx="1367028" cy="73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28032" y="2907792"/>
            <a:ext cx="11841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Amplio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5109210" y="3145536"/>
            <a:ext cx="62179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36642" y="3191256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1280 px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4846320" y="3392424"/>
            <a:ext cx="11475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composición todavía respira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6121908" y="3200400"/>
            <a:ext cx="1828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6195060" y="2779776"/>
            <a:ext cx="1367028" cy="841248"/>
          </a:xfrm>
          <a:prstGeom prst="roundRect">
            <a:avLst>
              <a:gd name="adj" fmla="val 434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195060" y="2779776"/>
            <a:ext cx="1367028" cy="731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86500" y="2907792"/>
            <a:ext cx="11841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Tensión</a:t>
            </a:r>
            <a:endParaRPr lang="en-US" sz="920" dirty="0"/>
          </a:p>
        </p:txBody>
      </p:sp>
      <p:sp>
        <p:nvSpPr>
          <p:cNvPr id="36" name="Shape 33"/>
          <p:cNvSpPr/>
          <p:nvPr/>
        </p:nvSpPr>
        <p:spPr>
          <a:xfrm>
            <a:off x="6567678" y="3145536"/>
            <a:ext cx="62179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95110" y="3191256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980 px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6304788" y="3392424"/>
            <a:ext cx="11475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contenido empieza a comprimirse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7580376" y="3200400"/>
            <a:ext cx="1828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7653528" y="2779776"/>
            <a:ext cx="1367028" cy="841248"/>
          </a:xfrm>
          <a:prstGeom prst="roundRect">
            <a:avLst>
              <a:gd name="adj" fmla="val 4348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653528" y="2779776"/>
            <a:ext cx="1367028" cy="731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44968" y="2907792"/>
            <a:ext cx="11841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Quiebre útil</a:t>
            </a:r>
            <a:endParaRPr lang="en-US" sz="920" dirty="0"/>
          </a:p>
        </p:txBody>
      </p:sp>
      <p:sp>
        <p:nvSpPr>
          <p:cNvPr id="43" name="Shape 40"/>
          <p:cNvSpPr/>
          <p:nvPr/>
        </p:nvSpPr>
        <p:spPr>
          <a:xfrm>
            <a:off x="8026146" y="3145536"/>
            <a:ext cx="62179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053578" y="3191256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760 px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763256" y="3392424"/>
            <a:ext cx="11475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ya pide otra relación</a:t>
            </a:r>
            <a:endParaRPr lang="en-US" sz="680" dirty="0"/>
          </a:p>
        </p:txBody>
      </p:sp>
      <p:sp>
        <p:nvSpPr>
          <p:cNvPr id="46" name="Shape 43"/>
          <p:cNvSpPr/>
          <p:nvPr/>
        </p:nvSpPr>
        <p:spPr>
          <a:xfrm>
            <a:off x="9038844" y="3200400"/>
            <a:ext cx="1828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9111996" y="2779776"/>
            <a:ext cx="1367028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111996" y="2779776"/>
            <a:ext cx="1367028" cy="73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203436" y="2907792"/>
            <a:ext cx="11841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Estrecho</a:t>
            </a:r>
            <a:endParaRPr lang="en-US" sz="920" dirty="0"/>
          </a:p>
        </p:txBody>
      </p:sp>
      <p:sp>
        <p:nvSpPr>
          <p:cNvPr id="50" name="Shape 47"/>
          <p:cNvSpPr/>
          <p:nvPr/>
        </p:nvSpPr>
        <p:spPr>
          <a:xfrm>
            <a:off x="9484614" y="3145536"/>
            <a:ext cx="62179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512046" y="3191256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390 px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9221724" y="3392424"/>
            <a:ext cx="11475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columna ya ordena mejor</a:t>
            </a:r>
            <a:endParaRPr lang="en-US" sz="680" dirty="0"/>
          </a:p>
        </p:txBody>
      </p:sp>
      <p:sp>
        <p:nvSpPr>
          <p:cNvPr id="53" name="Shape 50"/>
          <p:cNvSpPr/>
          <p:nvPr/>
        </p:nvSpPr>
        <p:spPr>
          <a:xfrm>
            <a:off x="4736592" y="3767328"/>
            <a:ext cx="1755648" cy="1517904"/>
          </a:xfrm>
          <a:prstGeom prst="roundRect">
            <a:avLst>
              <a:gd name="adj" fmla="val 241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846320" y="3895344"/>
            <a:ext cx="91440" cy="12618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010912" y="3895344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120640" y="3968496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</a:t>
            </a:r>
            <a:endParaRPr lang="en-US" sz="840" dirty="0"/>
          </a:p>
        </p:txBody>
      </p:sp>
      <p:sp>
        <p:nvSpPr>
          <p:cNvPr id="57" name="Text 54"/>
          <p:cNvSpPr/>
          <p:nvPr/>
        </p:nvSpPr>
        <p:spPr>
          <a:xfrm>
            <a:off x="5010912" y="4187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se tensiona</a:t>
            </a:r>
            <a:endParaRPr lang="en-US" sz="1220" dirty="0"/>
          </a:p>
        </p:txBody>
      </p:sp>
      <p:sp>
        <p:nvSpPr>
          <p:cNvPr id="58" name="Text 55"/>
          <p:cNvSpPr/>
          <p:nvPr/>
        </p:nvSpPr>
        <p:spPr>
          <a:xfrm>
            <a:off x="5010912" y="453542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Texto, navegación y CTA empiezan a competir por espacio antes de que nadie escriba una media query.</a:t>
            </a:r>
            <a:endParaRPr lang="en-US" sz="890" dirty="0"/>
          </a:p>
        </p:txBody>
      </p:sp>
      <p:sp>
        <p:nvSpPr>
          <p:cNvPr id="59" name="Shape 56"/>
          <p:cNvSpPr/>
          <p:nvPr/>
        </p:nvSpPr>
        <p:spPr>
          <a:xfrm>
            <a:off x="8119872" y="3767328"/>
            <a:ext cx="2359152" cy="1517904"/>
          </a:xfrm>
          <a:prstGeom prst="roundRect">
            <a:avLst>
              <a:gd name="adj" fmla="val 241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229600" y="3895344"/>
            <a:ext cx="91440" cy="12618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394192" y="3895344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8503920" y="3968496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</a:t>
            </a:r>
            <a:endParaRPr lang="en-US" sz="840" dirty="0"/>
          </a:p>
        </p:txBody>
      </p:sp>
      <p:sp>
        <p:nvSpPr>
          <p:cNvPr id="63" name="Text 60"/>
          <p:cNvSpPr/>
          <p:nvPr/>
        </p:nvSpPr>
        <p:spPr>
          <a:xfrm>
            <a:off x="8394192" y="418795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conviene decidir</a:t>
            </a:r>
            <a:endParaRPr lang="en-US" sz="1220" dirty="0"/>
          </a:p>
        </p:txBody>
      </p:sp>
      <p:sp>
        <p:nvSpPr>
          <p:cNvPr id="64" name="Text 61"/>
          <p:cNvSpPr/>
          <p:nvPr/>
        </p:nvSpPr>
        <p:spPr>
          <a:xfrm>
            <a:off x="8394192" y="4535424"/>
            <a:ext cx="1975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Apilar, redistribuir o mover foco para recuperar claridad, no para copiar la maqueta vieja.</a:t>
            </a:r>
            <a:endParaRPr lang="en-US" sz="890" dirty="0"/>
          </a:p>
        </p:txBody>
      </p:sp>
      <p:sp>
        <p:nvSpPr>
          <p:cNvPr id="65" name="Shape 62"/>
          <p:cNvSpPr/>
          <p:nvPr/>
        </p:nvSpPr>
        <p:spPr>
          <a:xfrm>
            <a:off x="6638544" y="3968496"/>
            <a:ext cx="1335024" cy="1115568"/>
          </a:xfrm>
          <a:prstGeom prst="roundRect">
            <a:avLst>
              <a:gd name="adj" fmla="val 327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748272" y="4023360"/>
            <a:ext cx="1115568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803136" y="406908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Punto útil</a:t>
            </a:r>
            <a:endParaRPr lang="en-US" sz="940" dirty="0"/>
          </a:p>
        </p:txBody>
      </p:sp>
      <p:sp>
        <p:nvSpPr>
          <p:cNvPr id="68" name="Shape 65"/>
          <p:cNvSpPr/>
          <p:nvPr/>
        </p:nvSpPr>
        <p:spPr>
          <a:xfrm>
            <a:off x="6803136" y="4480560"/>
            <a:ext cx="1005840" cy="201168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839712" y="4828032"/>
            <a:ext cx="932688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894576" y="4882896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760 px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6803136" y="51937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corte aparece cuando la lectura deja de sostener la relación anterior entre bloques.</a:t>
            </a:r>
            <a:endParaRPr lang="en-US" sz="820" dirty="0"/>
          </a:p>
        </p:txBody>
      </p:sp>
      <p:sp>
        <p:nvSpPr>
          <p:cNvPr id="72" name="Text 69"/>
          <p:cNvSpPr/>
          <p:nvPr/>
        </p:nvSpPr>
        <p:spPr>
          <a:xfrm>
            <a:off x="4718304" y="5596128"/>
            <a:ext cx="5779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Viewport = condición de lectura, no cifra memorizada.</a:t>
            </a:r>
            <a:endParaRPr lang="en-US" sz="8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viewport cambia la lectura antes que el código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pensar en media queries, conviene observar cómo cambia el peso visual de la misma interfaz cuando el ancho se reduce.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41248" y="2249424"/>
            <a:ext cx="4187952" cy="329184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2249424"/>
            <a:ext cx="4187952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2377440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33856" y="2377440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80160" y="2377440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08176" y="2350008"/>
            <a:ext cx="327355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54480" y="2386584"/>
            <a:ext cx="2980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https://demo.local/overview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1005840" y="2724912"/>
            <a:ext cx="3858768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5568" y="2825496"/>
            <a:ext cx="3639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 amplio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1005840" y="3236976"/>
            <a:ext cx="1170432" cy="2048256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322576" y="3236976"/>
            <a:ext cx="254203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322576" y="3877056"/>
            <a:ext cx="2542032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22576" y="4681728"/>
            <a:ext cx="2542032" cy="566928"/>
          </a:xfrm>
          <a:prstGeom prst="roundRect">
            <a:avLst>
              <a:gd name="adj" fmla="val 645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157216" y="3657600"/>
            <a:ext cx="402336" cy="32918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69280" y="2249424"/>
            <a:ext cx="1993392" cy="329184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0" y="2249424"/>
            <a:ext cx="1993392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97296" y="2377440"/>
            <a:ext cx="64008" cy="6400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16168" y="2377440"/>
            <a:ext cx="64008" cy="6400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35040" y="2377440"/>
            <a:ext cx="64008" cy="64008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08192" y="2345436"/>
            <a:ext cx="1444752" cy="187452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72200" y="238658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m.demo.local/…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5833872" y="2724912"/>
            <a:ext cx="1664208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43600" y="2825496"/>
            <a:ext cx="1444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Viewport reducido</a:t>
            </a:r>
            <a:endParaRPr lang="en-US" sz="840" dirty="0"/>
          </a:p>
        </p:txBody>
      </p:sp>
      <p:sp>
        <p:nvSpPr>
          <p:cNvPr id="33" name="Shape 30"/>
          <p:cNvSpPr/>
          <p:nvPr/>
        </p:nvSpPr>
        <p:spPr>
          <a:xfrm>
            <a:off x="5833872" y="3200400"/>
            <a:ext cx="1664208" cy="310896"/>
          </a:xfrm>
          <a:prstGeom prst="roundRect">
            <a:avLst>
              <a:gd name="adj" fmla="val 1176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33872" y="3639312"/>
            <a:ext cx="1664208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833872" y="4352544"/>
            <a:ext cx="1664208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833872" y="5065776"/>
            <a:ext cx="1664208" cy="292608"/>
          </a:xfrm>
          <a:prstGeom prst="roundRect">
            <a:avLst>
              <a:gd name="adj" fmla="val 1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991856" y="2304288"/>
            <a:ext cx="2651760" cy="932688"/>
          </a:xfrm>
          <a:prstGeom prst="roundRect">
            <a:avLst>
              <a:gd name="adj" fmla="val 39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083296" y="2432304"/>
            <a:ext cx="10972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247888" y="241401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Proporción</a:t>
            </a:r>
            <a:endParaRPr lang="en-US" sz="1340" dirty="0"/>
          </a:p>
        </p:txBody>
      </p:sp>
      <p:sp>
        <p:nvSpPr>
          <p:cNvPr id="40" name="Text 37"/>
          <p:cNvSpPr/>
          <p:nvPr/>
        </p:nvSpPr>
        <p:spPr>
          <a:xfrm>
            <a:off x="8247888" y="2688336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masas visuales ya no reparten contexto y foco de la misma forma.</a:t>
            </a:r>
            <a:endParaRPr lang="en-US" sz="910" dirty="0"/>
          </a:p>
        </p:txBody>
      </p:sp>
      <p:sp>
        <p:nvSpPr>
          <p:cNvPr id="41" name="Shape 38"/>
          <p:cNvSpPr/>
          <p:nvPr/>
        </p:nvSpPr>
        <p:spPr>
          <a:xfrm>
            <a:off x="7991856" y="3419856"/>
            <a:ext cx="2651760" cy="932688"/>
          </a:xfrm>
          <a:prstGeom prst="roundRect">
            <a:avLst>
              <a:gd name="adj" fmla="val 39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083296" y="3547872"/>
            <a:ext cx="109728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247888" y="352958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Densidad</a:t>
            </a:r>
            <a:endParaRPr lang="en-US" sz="1340" dirty="0"/>
          </a:p>
        </p:txBody>
      </p:sp>
      <p:sp>
        <p:nvSpPr>
          <p:cNvPr id="44" name="Text 41"/>
          <p:cNvSpPr/>
          <p:nvPr/>
        </p:nvSpPr>
        <p:spPr>
          <a:xfrm>
            <a:off x="8247888" y="3803904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contenido puede sentirse más pesado solo por cambiar el ancho visible.</a:t>
            </a:r>
            <a:endParaRPr lang="en-US" sz="910" dirty="0"/>
          </a:p>
        </p:txBody>
      </p:sp>
      <p:sp>
        <p:nvSpPr>
          <p:cNvPr id="45" name="Shape 42"/>
          <p:cNvSpPr/>
          <p:nvPr/>
        </p:nvSpPr>
        <p:spPr>
          <a:xfrm>
            <a:off x="7991856" y="4535424"/>
            <a:ext cx="2651760" cy="932688"/>
          </a:xfrm>
          <a:prstGeom prst="roundRect">
            <a:avLst>
              <a:gd name="adj" fmla="val 392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083296" y="4663440"/>
            <a:ext cx="109728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247888" y="464515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 visual</a:t>
            </a:r>
            <a:endParaRPr lang="en-US" sz="1340" dirty="0"/>
          </a:p>
        </p:txBody>
      </p:sp>
      <p:sp>
        <p:nvSpPr>
          <p:cNvPr id="48" name="Text 45"/>
          <p:cNvSpPr/>
          <p:nvPr/>
        </p:nvSpPr>
        <p:spPr>
          <a:xfrm>
            <a:off x="8247888" y="4919472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mirada necesita un punto de inicio más claro cuando el espacio se estrecha.</a:t>
            </a:r>
            <a:endParaRPr lang="en-US" sz="9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interfaz no se rompe en un número exacto: se rompe cuando deja de leerse bien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Breakpoint útil no es una receta de anchos. Es el momento en que la jerarquía y el ritmo ya piden otra decisión de layout.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77824" y="2139696"/>
            <a:ext cx="9912096" cy="3675888"/>
          </a:xfrm>
          <a:prstGeom prst="roundRect">
            <a:avLst>
              <a:gd name="adj" fmla="val 9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267712"/>
            <a:ext cx="965606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40864"/>
            <a:ext cx="9436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quiebre aparece cuando la lectura ya no sostiene la relación anterior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706624"/>
            <a:ext cx="2308860" cy="841248"/>
          </a:xfrm>
          <a:prstGeom prst="roundRect">
            <a:avLst>
              <a:gd name="adj" fmla="val 434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78992" y="2706624"/>
            <a:ext cx="2308860" cy="73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0432" y="2834640"/>
            <a:ext cx="21259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Amplio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1922526" y="3072384"/>
            <a:ext cx="62179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949958" y="311810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1440 px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1188720" y="3319272"/>
            <a:ext cx="20894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zonas todavía conviven</a:t>
            </a:r>
            <a:endParaRPr lang="en-US" sz="680" dirty="0"/>
          </a:p>
        </p:txBody>
      </p:sp>
      <p:sp>
        <p:nvSpPr>
          <p:cNvPr id="19" name="Shape 16"/>
          <p:cNvSpPr/>
          <p:nvPr/>
        </p:nvSpPr>
        <p:spPr>
          <a:xfrm>
            <a:off x="3406140" y="3127248"/>
            <a:ext cx="1828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479292" y="2706624"/>
            <a:ext cx="2308860" cy="841248"/>
          </a:xfrm>
          <a:prstGeom prst="roundRect">
            <a:avLst>
              <a:gd name="adj" fmla="val 434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79292" y="2706624"/>
            <a:ext cx="2308860" cy="731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70732" y="2834640"/>
            <a:ext cx="21259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Comprime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4322826" y="3072384"/>
            <a:ext cx="62179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50258" y="311810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1120 px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89020" y="3319272"/>
            <a:ext cx="20894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contenido empieza a defender aire</a:t>
            </a:r>
            <a:endParaRPr lang="en-US" sz="680" dirty="0"/>
          </a:p>
        </p:txBody>
      </p:sp>
      <p:sp>
        <p:nvSpPr>
          <p:cNvPr id="26" name="Shape 23"/>
          <p:cNvSpPr/>
          <p:nvPr/>
        </p:nvSpPr>
        <p:spPr>
          <a:xfrm>
            <a:off x="5806440" y="3127248"/>
            <a:ext cx="1828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879592" y="2706624"/>
            <a:ext cx="2308860" cy="841248"/>
          </a:xfrm>
          <a:prstGeom prst="roundRect">
            <a:avLst>
              <a:gd name="adj" fmla="val 4348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79592" y="2706624"/>
            <a:ext cx="2308860" cy="731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71032" y="2834640"/>
            <a:ext cx="21259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Quiebre útil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6723126" y="3072384"/>
            <a:ext cx="62179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50558" y="311810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760 px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989320" y="3319272"/>
            <a:ext cx="20894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ya pide otra secuencia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8206740" y="3127248"/>
            <a:ext cx="1828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279892" y="2706624"/>
            <a:ext cx="230886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279892" y="2706624"/>
            <a:ext cx="2308860" cy="73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371332" y="2834640"/>
            <a:ext cx="21259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Móvil</a:t>
            </a:r>
            <a:endParaRPr lang="en-US" sz="920" dirty="0"/>
          </a:p>
        </p:txBody>
      </p:sp>
      <p:sp>
        <p:nvSpPr>
          <p:cNvPr id="37" name="Shape 34"/>
          <p:cNvSpPr/>
          <p:nvPr/>
        </p:nvSpPr>
        <p:spPr>
          <a:xfrm>
            <a:off x="9123426" y="3072384"/>
            <a:ext cx="62179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150858" y="311810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390 px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8389620" y="3319272"/>
            <a:ext cx="20894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columna ordena mejor el recorrido</a:t>
            </a:r>
            <a:endParaRPr lang="en-US" sz="680" dirty="0"/>
          </a:p>
        </p:txBody>
      </p:sp>
      <p:sp>
        <p:nvSpPr>
          <p:cNvPr id="40" name="Shape 37"/>
          <p:cNvSpPr/>
          <p:nvPr/>
        </p:nvSpPr>
        <p:spPr>
          <a:xfrm>
            <a:off x="1078992" y="3694176"/>
            <a:ext cx="2340864" cy="1645920"/>
          </a:xfrm>
          <a:prstGeom prst="roundRect">
            <a:avLst>
              <a:gd name="adj" fmla="val 22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88720" y="3822192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353312" y="3822192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463040" y="3895344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</a:t>
            </a:r>
            <a:endParaRPr lang="en-US" sz="840" dirty="0"/>
          </a:p>
        </p:txBody>
      </p:sp>
      <p:sp>
        <p:nvSpPr>
          <p:cNvPr id="44" name="Text 41"/>
          <p:cNvSpPr/>
          <p:nvPr/>
        </p:nvSpPr>
        <p:spPr>
          <a:xfrm>
            <a:off x="1353312" y="411480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 real</a:t>
            </a:r>
            <a:endParaRPr lang="en-US" sz="1220" dirty="0"/>
          </a:p>
        </p:txBody>
      </p:sp>
      <p:sp>
        <p:nvSpPr>
          <p:cNvPr id="45" name="Text 42"/>
          <p:cNvSpPr/>
          <p:nvPr/>
        </p:nvSpPr>
        <p:spPr>
          <a:xfrm>
            <a:off x="1353312" y="4462272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título pierde respiración, la acción principal deja de abrir la lectura o la segunda columna ya no aporta contexto útil.</a:t>
            </a:r>
            <a:endParaRPr lang="en-US" sz="890" dirty="0"/>
          </a:p>
        </p:txBody>
      </p:sp>
      <p:sp>
        <p:nvSpPr>
          <p:cNvPr id="46" name="Shape 43"/>
          <p:cNvSpPr/>
          <p:nvPr/>
        </p:nvSpPr>
        <p:spPr>
          <a:xfrm>
            <a:off x="5376672" y="3694176"/>
            <a:ext cx="5212080" cy="1645920"/>
          </a:xfrm>
          <a:prstGeom prst="roundRect">
            <a:avLst>
              <a:gd name="adj" fmla="val 22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486400" y="3822192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650992" y="3822192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760720" y="3895344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</a:t>
            </a:r>
            <a:endParaRPr lang="en-US" sz="840" dirty="0"/>
          </a:p>
        </p:txBody>
      </p:sp>
      <p:sp>
        <p:nvSpPr>
          <p:cNvPr id="50" name="Text 47"/>
          <p:cNvSpPr/>
          <p:nvPr/>
        </p:nvSpPr>
        <p:spPr>
          <a:xfrm>
            <a:off x="5650992" y="4114800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Decisión sana</a:t>
            </a:r>
            <a:endParaRPr lang="en-US" sz="1220" dirty="0"/>
          </a:p>
        </p:txBody>
      </p:sp>
      <p:sp>
        <p:nvSpPr>
          <p:cNvPr id="51" name="Text 48"/>
          <p:cNvSpPr/>
          <p:nvPr/>
        </p:nvSpPr>
        <p:spPr>
          <a:xfrm>
            <a:off x="5650992" y="4462272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columnas, apilar o reordenar para recuperar claridad antes de tocar más CSS que el necesario.</a:t>
            </a:r>
            <a:endParaRPr lang="en-US" sz="890" dirty="0"/>
          </a:p>
        </p:txBody>
      </p:sp>
      <p:sp>
        <p:nvSpPr>
          <p:cNvPr id="52" name="Shape 49"/>
          <p:cNvSpPr/>
          <p:nvPr/>
        </p:nvSpPr>
        <p:spPr>
          <a:xfrm>
            <a:off x="3566160" y="3895344"/>
            <a:ext cx="1664208" cy="1243584"/>
          </a:xfrm>
          <a:prstGeom prst="roundRect">
            <a:avLst>
              <a:gd name="adj" fmla="val 294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675888" y="3950208"/>
            <a:ext cx="1444752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730752" y="3995928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Quiebre observado</a:t>
            </a:r>
            <a:endParaRPr lang="en-US" sz="940" dirty="0"/>
          </a:p>
        </p:txBody>
      </p:sp>
      <p:sp>
        <p:nvSpPr>
          <p:cNvPr id="55" name="Shape 52"/>
          <p:cNvSpPr/>
          <p:nvPr/>
        </p:nvSpPr>
        <p:spPr>
          <a:xfrm>
            <a:off x="3730752" y="4407408"/>
            <a:ext cx="1335024" cy="201168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767328" y="4754880"/>
            <a:ext cx="126187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822192" y="4809744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760 px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3730752" y="512064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nace de repetir 768 por costumbre. Nace de ver que el contenido ya pide otra distribución.</a:t>
            </a:r>
            <a:endParaRPr lang="en-US" sz="820" dirty="0"/>
          </a:p>
        </p:txBody>
      </p:sp>
      <p:sp>
        <p:nvSpPr>
          <p:cNvPr id="59" name="Text 56"/>
          <p:cNvSpPr/>
          <p:nvPr/>
        </p:nvSpPr>
        <p:spPr>
          <a:xfrm>
            <a:off x="1060704" y="5650992"/>
            <a:ext cx="9546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Breakpoint útil = punto donde cambia la decisión de layout.</a:t>
            </a:r>
            <a:endParaRPr lang="en-US" sz="8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señales muestran que llegó un quiebre real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avisa antes de romperse del todo: el problema suele aparecer primero como lectura pesada o foco confuso.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3913632" y="2340864"/>
            <a:ext cx="4187952" cy="2999232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913632" y="2340864"/>
            <a:ext cx="4187952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59936" y="2468880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0" y="2468880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52544" y="2468880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80560" y="2441448"/>
            <a:ext cx="327355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26864" y="2478024"/>
            <a:ext cx="2980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https://demo.local/signals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4078224" y="2816352"/>
            <a:ext cx="3858768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87952" y="2916936"/>
            <a:ext cx="3639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Síntomas del quiebre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4078224" y="3328416"/>
            <a:ext cx="1213104" cy="640080"/>
          </a:xfrm>
          <a:prstGeom prst="roundRect">
            <a:avLst>
              <a:gd name="adj" fmla="val 571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82768" y="3328416"/>
            <a:ext cx="1213104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87312" y="3328416"/>
            <a:ext cx="1213104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078224" y="4114800"/>
            <a:ext cx="385876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078224" y="4663440"/>
            <a:ext cx="385876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059168" y="5212080"/>
            <a:ext cx="768096" cy="310896"/>
          </a:xfrm>
          <a:prstGeom prst="roundRect">
            <a:avLst>
              <a:gd name="adj" fmla="val 1176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41248" y="2359152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4400" y="2468880"/>
            <a:ext cx="100584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97280" y="248716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 apretado</a:t>
            </a:r>
            <a:endParaRPr lang="en-US" sz="1260" dirty="0"/>
          </a:p>
        </p:txBody>
      </p:sp>
      <p:sp>
        <p:nvSpPr>
          <p:cNvPr id="28" name="Text 25"/>
          <p:cNvSpPr/>
          <p:nvPr/>
        </p:nvSpPr>
        <p:spPr>
          <a:xfrm>
            <a:off x="1097280" y="276148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todavía cabe, pero ya no se lee con aire.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841248" y="3456432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14400" y="3566160"/>
            <a:ext cx="100584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97280" y="358444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Navegación incómoda</a:t>
            </a:r>
            <a:endParaRPr lang="en-US" sz="1260" dirty="0"/>
          </a:p>
        </p:txBody>
      </p:sp>
      <p:sp>
        <p:nvSpPr>
          <p:cNvPr id="32" name="Text 29"/>
          <p:cNvSpPr/>
          <p:nvPr/>
        </p:nvSpPr>
        <p:spPr>
          <a:xfrm>
            <a:off x="1097280" y="385876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insiste con una relación horizontal que el ancho ya no soporta.</a:t>
            </a:r>
            <a:endParaRPr lang="en-US" sz="920" dirty="0"/>
          </a:p>
        </p:txBody>
      </p:sp>
      <p:sp>
        <p:nvSpPr>
          <p:cNvPr id="33" name="Shape 30"/>
          <p:cNvSpPr/>
          <p:nvPr/>
        </p:nvSpPr>
        <p:spPr>
          <a:xfrm>
            <a:off x="8540496" y="2359152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613648" y="2468880"/>
            <a:ext cx="100584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796528" y="248716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CTA sin foco</a:t>
            </a:r>
            <a:endParaRPr lang="en-US" sz="1260" dirty="0"/>
          </a:p>
        </p:txBody>
      </p:sp>
      <p:sp>
        <p:nvSpPr>
          <p:cNvPr id="36" name="Text 33"/>
          <p:cNvSpPr/>
          <p:nvPr/>
        </p:nvSpPr>
        <p:spPr>
          <a:xfrm>
            <a:off x="8796528" y="276148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acción principal se hunde dentro del ruido visual.</a:t>
            </a:r>
            <a:endParaRPr lang="en-US" sz="920" dirty="0"/>
          </a:p>
        </p:txBody>
      </p:sp>
      <p:sp>
        <p:nvSpPr>
          <p:cNvPr id="37" name="Shape 34"/>
          <p:cNvSpPr/>
          <p:nvPr/>
        </p:nvSpPr>
        <p:spPr>
          <a:xfrm>
            <a:off x="8540496" y="3456432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613648" y="3566160"/>
            <a:ext cx="100584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796528" y="358444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Columna que sobra</a:t>
            </a:r>
            <a:endParaRPr lang="en-US" sz="1260" dirty="0"/>
          </a:p>
        </p:txBody>
      </p:sp>
      <p:sp>
        <p:nvSpPr>
          <p:cNvPr id="40" name="Text 37"/>
          <p:cNvSpPr/>
          <p:nvPr/>
        </p:nvSpPr>
        <p:spPr>
          <a:xfrm>
            <a:off x="8796528" y="385876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lateral sigue ocupando espacio aunque ya no ayude a entender.</a:t>
            </a:r>
            <a:endParaRPr lang="en-US" sz="920" dirty="0"/>
          </a:p>
        </p:txBody>
      </p:sp>
      <p:sp>
        <p:nvSpPr>
          <p:cNvPr id="41" name="Shape 38"/>
          <p:cNvSpPr/>
          <p:nvPr/>
        </p:nvSpPr>
        <p:spPr>
          <a:xfrm>
            <a:off x="1170432" y="5486400"/>
            <a:ext cx="9436608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371600" y="5650992"/>
            <a:ext cx="9034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breakpoint aparece cuando el contenido deja de explicarse bien solo.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Cambiar layout no es esconder problemas: es redistribuir prioridad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sano no intenta conservar la misma forma. Cambia relaciones para mantener claridad, foco y recorrido.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41248" y="2176272"/>
            <a:ext cx="6437376" cy="3675888"/>
          </a:xfrm>
          <a:prstGeom prst="roundRect">
            <a:avLst>
              <a:gd name="adj" fmla="val 9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304288"/>
            <a:ext cx="618134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377440"/>
            <a:ext cx="5961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cambia es la relación entre piezas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42416" y="2706624"/>
            <a:ext cx="1901952" cy="2523744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706624"/>
            <a:ext cx="73152" cy="25237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07008" y="285292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Desktop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2066544" y="2834640"/>
            <a:ext cx="713232" cy="219456"/>
          </a:xfrm>
          <a:prstGeom prst="roundRect">
            <a:avLst>
              <a:gd name="adj" fmla="val 125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21408" y="2889504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1280 px</a:t>
            </a:r>
            <a:endParaRPr lang="en-US" sz="810" dirty="0"/>
          </a:p>
        </p:txBody>
      </p:sp>
      <p:sp>
        <p:nvSpPr>
          <p:cNvPr id="18" name="Shape 15"/>
          <p:cNvSpPr/>
          <p:nvPr/>
        </p:nvSpPr>
        <p:spPr>
          <a:xfrm>
            <a:off x="1188720" y="3200400"/>
            <a:ext cx="1609344" cy="1645920"/>
          </a:xfrm>
          <a:prstGeom prst="roundRect">
            <a:avLst>
              <a:gd name="adj" fmla="val 1705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88720" y="3200400"/>
            <a:ext cx="1609344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80160" y="3282696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71600" y="3282696"/>
            <a:ext cx="45720" cy="457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63040" y="3282696"/>
            <a:ext cx="45720" cy="4572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298448" y="3511296"/>
            <a:ext cx="1389888" cy="217261"/>
          </a:xfrm>
          <a:prstGeom prst="roundRect">
            <a:avLst>
              <a:gd name="adj" fmla="val 841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298448" y="3801709"/>
            <a:ext cx="806135" cy="715427"/>
          </a:xfrm>
          <a:prstGeom prst="roundRect">
            <a:avLst>
              <a:gd name="adj" fmla="val 2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177735" y="3801709"/>
            <a:ext cx="510601" cy="321137"/>
          </a:xfrm>
          <a:prstGeom prst="roundRect">
            <a:avLst>
              <a:gd name="adj" fmla="val 569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177735" y="4195999"/>
            <a:ext cx="510601" cy="321137"/>
          </a:xfrm>
          <a:prstGeom prst="roundRect">
            <a:avLst>
              <a:gd name="adj" fmla="val 5695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207008" y="4992624"/>
            <a:ext cx="1572768" cy="146304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80160" y="5029200"/>
            <a:ext cx="14264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contexto y lectura en dos zonas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2971800" y="3849624"/>
            <a:ext cx="109728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108960" y="2706624"/>
            <a:ext cx="1901952" cy="2523744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108960" y="2706624"/>
            <a:ext cx="73152" cy="25237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73552" y="285292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Tablet</a:t>
            </a:r>
            <a:endParaRPr lang="en-US" sz="1140" dirty="0"/>
          </a:p>
        </p:txBody>
      </p:sp>
      <p:sp>
        <p:nvSpPr>
          <p:cNvPr id="33" name="Shape 30"/>
          <p:cNvSpPr/>
          <p:nvPr/>
        </p:nvSpPr>
        <p:spPr>
          <a:xfrm>
            <a:off x="4133088" y="2834640"/>
            <a:ext cx="713232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87952" y="2889504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820 px</a:t>
            </a:r>
            <a:endParaRPr lang="en-US" sz="810" dirty="0"/>
          </a:p>
        </p:txBody>
      </p:sp>
      <p:sp>
        <p:nvSpPr>
          <p:cNvPr id="35" name="Shape 32"/>
          <p:cNvSpPr/>
          <p:nvPr/>
        </p:nvSpPr>
        <p:spPr>
          <a:xfrm>
            <a:off x="3255264" y="3200400"/>
            <a:ext cx="1609344" cy="1645920"/>
          </a:xfrm>
          <a:prstGeom prst="roundRect">
            <a:avLst>
              <a:gd name="adj" fmla="val 1705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55264" y="3200400"/>
            <a:ext cx="1609344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346704" y="3282696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438144" y="3282696"/>
            <a:ext cx="45720" cy="457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529584" y="3282696"/>
            <a:ext cx="45720" cy="4572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364992" y="3511296"/>
            <a:ext cx="1389888" cy="217261"/>
          </a:xfrm>
          <a:prstGeom prst="roundRect">
            <a:avLst>
              <a:gd name="adj" fmla="val 8418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364992" y="3801709"/>
            <a:ext cx="658368" cy="313822"/>
          </a:xfrm>
          <a:prstGeom prst="roundRect">
            <a:avLst>
              <a:gd name="adj" fmla="val 582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096512" y="3801709"/>
            <a:ext cx="658368" cy="313822"/>
          </a:xfrm>
          <a:prstGeom prst="roundRect">
            <a:avLst>
              <a:gd name="adj" fmla="val 58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364992" y="4188684"/>
            <a:ext cx="1389888" cy="529620"/>
          </a:xfrm>
          <a:prstGeom prst="roundRect">
            <a:avLst>
              <a:gd name="adj" fmla="val 34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273552" y="4992624"/>
            <a:ext cx="1572768" cy="146304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346704" y="5029200"/>
            <a:ext cx="14264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reacomoda sin perder el hilo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5038344" y="3849624"/>
            <a:ext cx="109728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175504" y="2706624"/>
            <a:ext cx="1901952" cy="2523744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175504" y="2706624"/>
            <a:ext cx="73152" cy="2523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40096" y="285292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Móvil</a:t>
            </a:r>
            <a:endParaRPr lang="en-US" sz="1140" dirty="0"/>
          </a:p>
        </p:txBody>
      </p:sp>
      <p:sp>
        <p:nvSpPr>
          <p:cNvPr id="50" name="Shape 47"/>
          <p:cNvSpPr/>
          <p:nvPr/>
        </p:nvSpPr>
        <p:spPr>
          <a:xfrm>
            <a:off x="6199632" y="2834640"/>
            <a:ext cx="713232" cy="219456"/>
          </a:xfrm>
          <a:prstGeom prst="roundRect">
            <a:avLst>
              <a:gd name="adj" fmla="val 125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254496" y="2889504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390 px</a:t>
            </a:r>
            <a:endParaRPr lang="en-US" sz="810" dirty="0"/>
          </a:p>
        </p:txBody>
      </p:sp>
      <p:sp>
        <p:nvSpPr>
          <p:cNvPr id="52" name="Shape 49"/>
          <p:cNvSpPr/>
          <p:nvPr/>
        </p:nvSpPr>
        <p:spPr>
          <a:xfrm>
            <a:off x="5321808" y="3200400"/>
            <a:ext cx="1609344" cy="1645920"/>
          </a:xfrm>
          <a:prstGeom prst="roundRect">
            <a:avLst>
              <a:gd name="adj" fmla="val 1705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321808" y="3200400"/>
            <a:ext cx="1609344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413248" y="3282696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504688" y="3282696"/>
            <a:ext cx="45720" cy="457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596128" y="3282696"/>
            <a:ext cx="45720" cy="4572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431536" y="3511296"/>
            <a:ext cx="1389888" cy="217261"/>
          </a:xfrm>
          <a:prstGeom prst="roundRect">
            <a:avLst>
              <a:gd name="adj" fmla="val 8418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431536" y="3801709"/>
            <a:ext cx="1389888" cy="256764"/>
          </a:xfrm>
          <a:prstGeom prst="roundRect">
            <a:avLst>
              <a:gd name="adj" fmla="val 71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431536" y="4131625"/>
            <a:ext cx="1389888" cy="256764"/>
          </a:xfrm>
          <a:prstGeom prst="roundRect">
            <a:avLst>
              <a:gd name="adj" fmla="val 71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431536" y="4461540"/>
            <a:ext cx="1389888" cy="256764"/>
          </a:xfrm>
          <a:prstGeom prst="roundRect">
            <a:avLst>
              <a:gd name="adj" fmla="val 71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340096" y="4992624"/>
            <a:ext cx="1572768" cy="146304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413248" y="5029200"/>
            <a:ext cx="14264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 en una secuencia más clara</a:t>
            </a:r>
            <a:endParaRPr lang="en-US" sz="780" dirty="0"/>
          </a:p>
        </p:txBody>
      </p:sp>
      <p:sp>
        <p:nvSpPr>
          <p:cNvPr id="63" name="Text 60"/>
          <p:cNvSpPr/>
          <p:nvPr/>
        </p:nvSpPr>
        <p:spPr>
          <a:xfrm>
            <a:off x="1024128" y="5687568"/>
            <a:ext cx="6071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Redistribuir prioridad vale más que defender la geometría original.</a:t>
            </a:r>
            <a:endParaRPr lang="en-US" sz="840" dirty="0"/>
          </a:p>
        </p:txBody>
      </p:sp>
      <p:sp>
        <p:nvSpPr>
          <p:cNvPr id="64" name="Shape 61"/>
          <p:cNvSpPr/>
          <p:nvPr/>
        </p:nvSpPr>
        <p:spPr>
          <a:xfrm>
            <a:off x="7589520" y="2286000"/>
            <a:ext cx="3054096" cy="969264"/>
          </a:xfrm>
          <a:prstGeom prst="roundRect">
            <a:avLst>
              <a:gd name="adj" fmla="val 377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680960" y="2414016"/>
            <a:ext cx="109728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845552" y="2395728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Apilar</a:t>
            </a:r>
            <a:endParaRPr lang="en-US" sz="1380" dirty="0"/>
          </a:p>
        </p:txBody>
      </p:sp>
      <p:sp>
        <p:nvSpPr>
          <p:cNvPr id="67" name="Text 64"/>
          <p:cNvSpPr/>
          <p:nvPr/>
        </p:nvSpPr>
        <p:spPr>
          <a:xfrm>
            <a:off x="7845552" y="2670048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dos columnas ya compiten, una secuencia vertical puede aclarar mejor la lectura.</a:t>
            </a:r>
            <a:endParaRPr lang="en-US" sz="920" dirty="0"/>
          </a:p>
        </p:txBody>
      </p:sp>
      <p:sp>
        <p:nvSpPr>
          <p:cNvPr id="68" name="Shape 65"/>
          <p:cNvSpPr/>
          <p:nvPr/>
        </p:nvSpPr>
        <p:spPr>
          <a:xfrm>
            <a:off x="7589520" y="3438144"/>
            <a:ext cx="3054096" cy="969264"/>
          </a:xfrm>
          <a:prstGeom prst="roundRect">
            <a:avLst>
              <a:gd name="adj" fmla="val 377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680960" y="3566160"/>
            <a:ext cx="109728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845552" y="3547872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Reordenar</a:t>
            </a:r>
            <a:endParaRPr lang="en-US" sz="1380" dirty="0"/>
          </a:p>
        </p:txBody>
      </p:sp>
      <p:sp>
        <p:nvSpPr>
          <p:cNvPr id="71" name="Text 68"/>
          <p:cNvSpPr/>
          <p:nvPr/>
        </p:nvSpPr>
        <p:spPr>
          <a:xfrm>
            <a:off x="7845552" y="3822192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pieza puede subir o bajar de lugar sin perder valor si mejora el recorrido visual.</a:t>
            </a:r>
            <a:endParaRPr lang="en-US" sz="920" dirty="0"/>
          </a:p>
        </p:txBody>
      </p:sp>
      <p:sp>
        <p:nvSpPr>
          <p:cNvPr id="72" name="Shape 69"/>
          <p:cNvSpPr/>
          <p:nvPr/>
        </p:nvSpPr>
        <p:spPr>
          <a:xfrm>
            <a:off x="7589520" y="4590288"/>
            <a:ext cx="3054096" cy="969264"/>
          </a:xfrm>
          <a:prstGeom prst="roundRect">
            <a:avLst>
              <a:gd name="adj" fmla="val 377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680960" y="4718304"/>
            <a:ext cx="109728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845552" y="4700016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 aire</a:t>
            </a:r>
            <a:endParaRPr lang="en-US" sz="1380" dirty="0"/>
          </a:p>
        </p:txBody>
      </p:sp>
      <p:sp>
        <p:nvSpPr>
          <p:cNvPr id="75" name="Text 72"/>
          <p:cNvSpPr/>
          <p:nvPr/>
        </p:nvSpPr>
        <p:spPr>
          <a:xfrm>
            <a:off x="7845552" y="4974336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también decide cuánto espacio necesita cada bloque para seguir explicando bien.</a:t>
            </a:r>
            <a:endParaRPr lang="en-US" sz="9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espacio obliga a decidir qué sube, qué baja y qué se apila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el ancho baja, responsive deja de ser una corrección superficial y se vuelve una secuencia de decisiones de layout.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41248" y="2212848"/>
            <a:ext cx="3950208" cy="3602736"/>
          </a:xfrm>
          <a:prstGeom prst="roundRect">
            <a:avLst>
              <a:gd name="adj" fmla="val 10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2377440"/>
            <a:ext cx="3547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Orden de lectura cuando el espacio se reduce</a:t>
            </a:r>
            <a:endParaRPr lang="en-US" sz="1420" dirty="0"/>
          </a:p>
        </p:txBody>
      </p:sp>
      <p:sp>
        <p:nvSpPr>
          <p:cNvPr id="12" name="Shape 9"/>
          <p:cNvSpPr/>
          <p:nvPr/>
        </p:nvSpPr>
        <p:spPr>
          <a:xfrm>
            <a:off x="1005840" y="2779776"/>
            <a:ext cx="3621024" cy="713232"/>
          </a:xfrm>
          <a:prstGeom prst="roundRect">
            <a:avLst>
              <a:gd name="adj" fmla="val 512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97280" y="2907792"/>
            <a:ext cx="109728" cy="4572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61872" y="2889504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Lo principal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61872" y="3127248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CTA, mensaje central y acción visible.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1005840" y="3621024"/>
            <a:ext cx="3621024" cy="713232"/>
          </a:xfrm>
          <a:prstGeom prst="roundRect">
            <a:avLst>
              <a:gd name="adj" fmla="val 512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97280" y="3749040"/>
            <a:ext cx="109728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61872" y="373075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Lo que acompaña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61872" y="3968496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Contexto, apoyo y bloques secundarios.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1005840" y="4462272"/>
            <a:ext cx="3621024" cy="713232"/>
          </a:xfrm>
          <a:prstGeom prst="roundRect">
            <a:avLst>
              <a:gd name="adj" fmla="val 512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97280" y="4590288"/>
            <a:ext cx="109728" cy="4572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61872" y="4572000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Lo que puede bajar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61872" y="4809744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Detalle, decorativos y apoyo tardío.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4937760" y="3675888"/>
            <a:ext cx="402336" cy="32918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6400" y="2212848"/>
            <a:ext cx="1938528" cy="3328416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86400" y="2212848"/>
            <a:ext cx="1938528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14416" y="2340864"/>
            <a:ext cx="64008" cy="6400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33288" y="2340864"/>
            <a:ext cx="64008" cy="6400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52160" y="2340864"/>
            <a:ext cx="64008" cy="64008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925312" y="2308860"/>
            <a:ext cx="1389888" cy="187452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89320" y="23500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m.demo.local/…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5650992" y="2688336"/>
            <a:ext cx="1609344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60720" y="2788920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útil</a:t>
            </a:r>
            <a:endParaRPr lang="en-US" sz="840" dirty="0"/>
          </a:p>
        </p:txBody>
      </p:sp>
      <p:sp>
        <p:nvSpPr>
          <p:cNvPr id="34" name="Shape 31"/>
          <p:cNvSpPr/>
          <p:nvPr/>
        </p:nvSpPr>
        <p:spPr>
          <a:xfrm>
            <a:off x="5650992" y="3163824"/>
            <a:ext cx="1609344" cy="310896"/>
          </a:xfrm>
          <a:prstGeom prst="roundRect">
            <a:avLst>
              <a:gd name="adj" fmla="val 1176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650992" y="3602736"/>
            <a:ext cx="1609344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650992" y="4334256"/>
            <a:ext cx="1609344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650992" y="5065776"/>
            <a:ext cx="1609344" cy="292608"/>
          </a:xfrm>
          <a:prstGeom prst="roundRect">
            <a:avLst>
              <a:gd name="adj" fmla="val 1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772400" y="2286000"/>
            <a:ext cx="2871216" cy="3310128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900416" y="2432304"/>
            <a:ext cx="91440" cy="3017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83296" y="243230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Decisiones de layout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8083296" y="2670048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de orden no significa degradar la interfaz.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8083296" y="303580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302752" y="3026664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principal sube y abre la lectura</a:t>
            </a:r>
            <a:endParaRPr lang="en-US" sz="920" dirty="0"/>
          </a:p>
        </p:txBody>
      </p:sp>
      <p:sp>
        <p:nvSpPr>
          <p:cNvPr id="44" name="Shape 41"/>
          <p:cNvSpPr/>
          <p:nvPr/>
        </p:nvSpPr>
        <p:spPr>
          <a:xfrm>
            <a:off x="8083296" y="360273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302752" y="3593592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lateral puede bajar sin perder sentido</a:t>
            </a:r>
            <a:endParaRPr lang="en-US" sz="920" dirty="0"/>
          </a:p>
        </p:txBody>
      </p:sp>
      <p:sp>
        <p:nvSpPr>
          <p:cNvPr id="46" name="Shape 43"/>
          <p:cNvSpPr/>
          <p:nvPr/>
        </p:nvSpPr>
        <p:spPr>
          <a:xfrm>
            <a:off x="8083296" y="41696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302752" y="4160520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acción visible no debería competir</a:t>
            </a:r>
            <a:endParaRPr lang="en-US" sz="920" dirty="0"/>
          </a:p>
        </p:txBody>
      </p:sp>
      <p:sp>
        <p:nvSpPr>
          <p:cNvPr id="48" name="Shape 45"/>
          <p:cNvSpPr/>
          <p:nvPr/>
        </p:nvSpPr>
        <p:spPr>
          <a:xfrm>
            <a:off x="8083296" y="473659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302752" y="4727448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espacio extra se usa para respirar, no para rellenar</a:t>
            </a:r>
            <a:endParaRPr lang="en-US" sz="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breakpoints útiles nacen del contenido, no de números recitados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anchos frecuentes ayudan a orientarse, pero el corte correcto siempre lo termina dictando la lectura real del caso.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41248" y="2212848"/>
            <a:ext cx="6163056" cy="3584448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340864"/>
            <a:ext cx="590702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414016"/>
            <a:ext cx="5687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contenido define cuándo conviene cortar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42416" y="2779776"/>
            <a:ext cx="1859280" cy="841248"/>
          </a:xfrm>
          <a:prstGeom prst="roundRect">
            <a:avLst>
              <a:gd name="adj" fmla="val 434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779776"/>
            <a:ext cx="1859280" cy="731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33856" y="2907792"/>
            <a:ext cx="167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1661160" y="3145536"/>
            <a:ext cx="62179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88592" y="3191256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título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1152144" y="3392424"/>
            <a:ext cx="1639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empieza a apretarse</a:t>
            </a:r>
            <a:endParaRPr lang="en-US" sz="680" dirty="0"/>
          </a:p>
        </p:txBody>
      </p:sp>
      <p:sp>
        <p:nvSpPr>
          <p:cNvPr id="19" name="Shape 16"/>
          <p:cNvSpPr/>
          <p:nvPr/>
        </p:nvSpPr>
        <p:spPr>
          <a:xfrm>
            <a:off x="2919984" y="3200400"/>
            <a:ext cx="1828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993136" y="2779776"/>
            <a:ext cx="1859280" cy="841248"/>
          </a:xfrm>
          <a:prstGeom prst="roundRect">
            <a:avLst>
              <a:gd name="adj" fmla="val 4348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93136" y="2779776"/>
            <a:ext cx="1859280" cy="73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84576" y="2907792"/>
            <a:ext cx="167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Menú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3611880" y="3145536"/>
            <a:ext cx="62179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39312" y="3191256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102864" y="3392424"/>
            <a:ext cx="1639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no cabe sin tensión</a:t>
            </a:r>
            <a:endParaRPr lang="en-US" sz="680" dirty="0"/>
          </a:p>
        </p:txBody>
      </p:sp>
      <p:sp>
        <p:nvSpPr>
          <p:cNvPr id="26" name="Shape 23"/>
          <p:cNvSpPr/>
          <p:nvPr/>
        </p:nvSpPr>
        <p:spPr>
          <a:xfrm>
            <a:off x="4870704" y="3200400"/>
            <a:ext cx="1828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4943856" y="2779776"/>
            <a:ext cx="1859280" cy="841248"/>
          </a:xfrm>
          <a:prstGeom prst="roundRect">
            <a:avLst>
              <a:gd name="adj" fmla="val 434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943856" y="2779776"/>
            <a:ext cx="1859280" cy="731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35296" y="2907792"/>
            <a:ext cx="167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Cards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5562600" y="3145536"/>
            <a:ext cx="62179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90032" y="3191256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053584" y="3392424"/>
            <a:ext cx="1639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columnas ya no ayudan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1042416" y="3767328"/>
            <a:ext cx="1755648" cy="1554480"/>
          </a:xfrm>
          <a:prstGeom prst="roundRect">
            <a:avLst>
              <a:gd name="adj" fmla="val 235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52144" y="3895344"/>
            <a:ext cx="91440" cy="12984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316736" y="3895344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426464" y="3968496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</a:t>
            </a:r>
            <a:endParaRPr lang="en-US" sz="840" dirty="0"/>
          </a:p>
        </p:txBody>
      </p:sp>
      <p:sp>
        <p:nvSpPr>
          <p:cNvPr id="37" name="Text 34"/>
          <p:cNvSpPr/>
          <p:nvPr/>
        </p:nvSpPr>
        <p:spPr>
          <a:xfrm>
            <a:off x="1316736" y="4187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manda</a:t>
            </a:r>
            <a:endParaRPr lang="en-US" sz="1220" dirty="0"/>
          </a:p>
        </p:txBody>
      </p:sp>
      <p:sp>
        <p:nvSpPr>
          <p:cNvPr id="38" name="Text 35"/>
          <p:cNvSpPr/>
          <p:nvPr/>
        </p:nvSpPr>
        <p:spPr>
          <a:xfrm>
            <a:off x="1316736" y="453542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Texto, navegación y acciones dicen antes que un número si la estructura dejó de sostener la lectura.</a:t>
            </a:r>
            <a:endParaRPr lang="en-US" sz="890" dirty="0"/>
          </a:p>
        </p:txBody>
      </p:sp>
      <p:sp>
        <p:nvSpPr>
          <p:cNvPr id="39" name="Shape 36"/>
          <p:cNvSpPr/>
          <p:nvPr/>
        </p:nvSpPr>
        <p:spPr>
          <a:xfrm>
            <a:off x="4425696" y="3767328"/>
            <a:ext cx="2377440" cy="1554480"/>
          </a:xfrm>
          <a:prstGeom prst="roundRect">
            <a:avLst>
              <a:gd name="adj" fmla="val 235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535424" y="3895344"/>
            <a:ext cx="91440" cy="12984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700016" y="3895344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09744" y="3968496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</a:t>
            </a:r>
            <a:endParaRPr lang="en-US" sz="840" dirty="0"/>
          </a:p>
        </p:txBody>
      </p:sp>
      <p:sp>
        <p:nvSpPr>
          <p:cNvPr id="43" name="Text 40"/>
          <p:cNvSpPr/>
          <p:nvPr/>
        </p:nvSpPr>
        <p:spPr>
          <a:xfrm>
            <a:off x="4700016" y="41879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 sana</a:t>
            </a:r>
            <a:endParaRPr lang="en-US" sz="1220" dirty="0"/>
          </a:p>
        </p:txBody>
      </p:sp>
      <p:sp>
        <p:nvSpPr>
          <p:cNvPr id="44" name="Text 41"/>
          <p:cNvSpPr/>
          <p:nvPr/>
        </p:nvSpPr>
        <p:spPr>
          <a:xfrm>
            <a:off x="4700016" y="4535424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Cortar cuando el contenido lo exige, no solo porque un número famoso suene correcto.</a:t>
            </a:r>
            <a:endParaRPr lang="en-US" sz="890" dirty="0"/>
          </a:p>
        </p:txBody>
      </p:sp>
      <p:sp>
        <p:nvSpPr>
          <p:cNvPr id="45" name="Shape 42"/>
          <p:cNvSpPr/>
          <p:nvPr/>
        </p:nvSpPr>
        <p:spPr>
          <a:xfrm>
            <a:off x="2944368" y="3968496"/>
            <a:ext cx="1335024" cy="1152144"/>
          </a:xfrm>
          <a:prstGeom prst="roundRect">
            <a:avLst>
              <a:gd name="adj" fmla="val 317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054096" y="4023360"/>
            <a:ext cx="1115568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108960" y="406908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</a:t>
            </a:r>
            <a:endParaRPr lang="en-US" sz="940" dirty="0"/>
          </a:p>
        </p:txBody>
      </p:sp>
      <p:sp>
        <p:nvSpPr>
          <p:cNvPr id="48" name="Shape 45"/>
          <p:cNvSpPr/>
          <p:nvPr/>
        </p:nvSpPr>
        <p:spPr>
          <a:xfrm>
            <a:off x="3108960" y="4480560"/>
            <a:ext cx="1005840" cy="201168"/>
          </a:xfrm>
          <a:prstGeom prst="chevron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145536" y="4828032"/>
            <a:ext cx="932688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200400" y="4882896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108960" y="51937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se detecta el problema visual; después se decide el breakpoint que lo corrige.</a:t>
            </a:r>
            <a:endParaRPr lang="en-US" sz="820" dirty="0"/>
          </a:p>
        </p:txBody>
      </p:sp>
      <p:sp>
        <p:nvSpPr>
          <p:cNvPr id="52" name="Text 49"/>
          <p:cNvSpPr/>
          <p:nvPr/>
        </p:nvSpPr>
        <p:spPr>
          <a:xfrm>
            <a:off x="1024128" y="5632704"/>
            <a:ext cx="5797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320 / 768 / 1024 sirven como referencia, no como dogma.</a:t>
            </a:r>
            <a:endParaRPr lang="en-US" sz="840" dirty="0"/>
          </a:p>
        </p:txBody>
      </p:sp>
      <p:sp>
        <p:nvSpPr>
          <p:cNvPr id="53" name="Shape 50"/>
          <p:cNvSpPr/>
          <p:nvPr/>
        </p:nvSpPr>
        <p:spPr>
          <a:xfrm>
            <a:off x="7278624" y="2267712"/>
            <a:ext cx="3364992" cy="3474720"/>
          </a:xfrm>
          <a:prstGeom prst="roundRect">
            <a:avLst>
              <a:gd name="adj" fmla="val 108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406640" y="2414016"/>
            <a:ext cx="91440" cy="31821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589520" y="2414016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conviene escuchar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7589520" y="265176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mejor breakpoint suele aparecer como síntoma antes que como regla.</a:t>
            </a:r>
            <a:endParaRPr lang="en-US" sz="880" dirty="0"/>
          </a:p>
        </p:txBody>
      </p:sp>
      <p:sp>
        <p:nvSpPr>
          <p:cNvPr id="57" name="Shape 54"/>
          <p:cNvSpPr/>
          <p:nvPr/>
        </p:nvSpPr>
        <p:spPr>
          <a:xfrm>
            <a:off x="7589520" y="301752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808976" y="3008376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título ya perdió respiración</a:t>
            </a:r>
            <a:endParaRPr lang="en-US" sz="910" dirty="0"/>
          </a:p>
        </p:txBody>
      </p:sp>
      <p:sp>
        <p:nvSpPr>
          <p:cNvPr id="59" name="Shape 56"/>
          <p:cNvSpPr/>
          <p:nvPr/>
        </p:nvSpPr>
        <p:spPr>
          <a:xfrm>
            <a:off x="7589520" y="354787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808976" y="3538728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navegación obliga a defender una forma vieja</a:t>
            </a:r>
            <a:endParaRPr lang="en-US" sz="910" dirty="0"/>
          </a:p>
        </p:txBody>
      </p:sp>
      <p:sp>
        <p:nvSpPr>
          <p:cNvPr id="61" name="Shape 58"/>
          <p:cNvSpPr/>
          <p:nvPr/>
        </p:nvSpPr>
        <p:spPr>
          <a:xfrm>
            <a:off x="7589520" y="40782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808976" y="4069080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acción principal dejó de abrir el recorrido</a:t>
            </a:r>
            <a:endParaRPr lang="en-US" sz="910" dirty="0"/>
          </a:p>
        </p:txBody>
      </p:sp>
      <p:sp>
        <p:nvSpPr>
          <p:cNvPr id="63" name="Shape 60"/>
          <p:cNvSpPr/>
          <p:nvPr/>
        </p:nvSpPr>
        <p:spPr>
          <a:xfrm>
            <a:off x="7589520" y="460857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808976" y="4599432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dos columnas siguen ocupando espacio sin explicar nada</a:t>
            </a:r>
            <a:endParaRPr lang="en-US" sz="91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DevTools responsive permite leer comportamiento y no inventarlo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validación de layout mejora cuando se prueba el caso real y no solo la idea mental de cómo debería verse.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77824" y="2157984"/>
            <a:ext cx="6473952" cy="3675888"/>
          </a:xfrm>
          <a:prstGeom prst="roundRect">
            <a:avLst>
              <a:gd name="adj" fmla="val 9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340864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Viewport + lectura en navegador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36592" y="234086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9744" y="237744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390 px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5541264" y="234086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14416" y="237744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820 px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6364224" y="234086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37376" y="237744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1280 px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1078992" y="2651760"/>
            <a:ext cx="2944368" cy="2688336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78992" y="2651760"/>
            <a:ext cx="2944368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25296" y="2779776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71600" y="2779776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517904" y="2779776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645920" y="2752344"/>
            <a:ext cx="2029968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792224" y="278892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https://demo.local/review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1243584" y="3127248"/>
            <a:ext cx="2615184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353312" y="3227832"/>
            <a:ext cx="2395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en revisión</a:t>
            </a:r>
            <a:endParaRPr lang="en-US" sz="960" dirty="0"/>
          </a:p>
        </p:txBody>
      </p:sp>
      <p:sp>
        <p:nvSpPr>
          <p:cNvPr id="27" name="Shape 24"/>
          <p:cNvSpPr/>
          <p:nvPr/>
        </p:nvSpPr>
        <p:spPr>
          <a:xfrm>
            <a:off x="1243584" y="3639312"/>
            <a:ext cx="2615184" cy="457200"/>
          </a:xfrm>
          <a:prstGeom prst="roundRect">
            <a:avLst>
              <a:gd name="adj" fmla="val 8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243584" y="4224528"/>
            <a:ext cx="1261872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596896" y="4224528"/>
            <a:ext cx="1261872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243584" y="5029200"/>
            <a:ext cx="2615184" cy="512064"/>
          </a:xfrm>
          <a:prstGeom prst="roundRect">
            <a:avLst>
              <a:gd name="adj" fmla="val 714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261104" y="2651760"/>
            <a:ext cx="2779776" cy="2688336"/>
          </a:xfrm>
          <a:prstGeom prst="roundRect">
            <a:avLst>
              <a:gd name="adj" fmla="val 136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389120" y="2798064"/>
            <a:ext cx="91440" cy="2395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0" y="2798064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Señales a observar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572000" y="321868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91456" y="3209544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entra el ojo al contenido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572000" y="369417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368503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acción principal sigue visible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572000" y="41696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91456" y="4160520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scroll extra aporta o sobra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572000" y="464515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91456" y="4636008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aire entre bloques todavía ayuda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699248" y="2231136"/>
            <a:ext cx="2944368" cy="3511296"/>
          </a:xfrm>
          <a:prstGeom prst="roundRect">
            <a:avLst>
              <a:gd name="adj" fmla="val 12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827264" y="2377440"/>
            <a:ext cx="91440" cy="3218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010144" y="237744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 que importa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8010144" y="2615184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se valida mirando resultado, no imaginándolo.</a:t>
            </a:r>
            <a:endParaRPr lang="en-US" sz="880" dirty="0"/>
          </a:p>
        </p:txBody>
      </p:sp>
      <p:sp>
        <p:nvSpPr>
          <p:cNvPr id="46" name="Shape 43"/>
          <p:cNvSpPr/>
          <p:nvPr/>
        </p:nvSpPr>
        <p:spPr>
          <a:xfrm>
            <a:off x="8010144" y="2980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229600" y="297180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el comportamiento en distintos anchos</a:t>
            </a:r>
            <a:endParaRPr lang="en-US" sz="910" dirty="0"/>
          </a:p>
        </p:txBody>
      </p:sp>
      <p:sp>
        <p:nvSpPr>
          <p:cNvPr id="48" name="Shape 45"/>
          <p:cNvSpPr/>
          <p:nvPr/>
        </p:nvSpPr>
        <p:spPr>
          <a:xfrm>
            <a:off x="8010144" y="354787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229600" y="35387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antes y después del reflow</a:t>
            </a:r>
            <a:endParaRPr lang="en-US" sz="910" dirty="0"/>
          </a:p>
        </p:txBody>
      </p:sp>
      <p:sp>
        <p:nvSpPr>
          <p:cNvPr id="50" name="Shape 47"/>
          <p:cNvSpPr/>
          <p:nvPr/>
        </p:nvSpPr>
        <p:spPr>
          <a:xfrm>
            <a:off x="8010144" y="411480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229600" y="410565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si la jerarquía mejora de verdad</a:t>
            </a:r>
            <a:endParaRPr lang="en-US" sz="910" dirty="0"/>
          </a:p>
        </p:txBody>
      </p:sp>
      <p:sp>
        <p:nvSpPr>
          <p:cNvPr id="52" name="Shape 49"/>
          <p:cNvSpPr/>
          <p:nvPr/>
        </p:nvSpPr>
        <p:spPr>
          <a:xfrm>
            <a:off x="8010144" y="468172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229600" y="467258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que el cambio ayuda y no solo acomoda</a:t>
            </a:r>
            <a:endParaRPr lang="en-US" sz="91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conviene mirar cuando pruebas una interfaz en varios anchos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responsive no es solo ver si algo cabe. Es revisar si la interfaz sigue explicándose bien en contexto.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59536" y="2194560"/>
            <a:ext cx="4498848" cy="3547872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322576"/>
            <a:ext cx="4242816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3957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no es solo mirar tamaño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60704" y="2761488"/>
            <a:ext cx="1889516" cy="2779776"/>
          </a:xfrm>
          <a:prstGeom prst="roundRect">
            <a:avLst>
              <a:gd name="adj" fmla="val 19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52144" y="2852928"/>
            <a:ext cx="1706636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25296" y="2916936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335024" y="2916936"/>
            <a:ext cx="54864" cy="5486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2916936"/>
            <a:ext cx="54864" cy="54864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70432" y="3163824"/>
            <a:ext cx="167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1170432" y="3419856"/>
            <a:ext cx="896112" cy="237744"/>
          </a:xfrm>
          <a:prstGeom prst="roundRect">
            <a:avLst>
              <a:gd name="adj" fmla="val 1153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43584" y="347472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820 px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1225296" y="3767328"/>
            <a:ext cx="1560332" cy="1554480"/>
          </a:xfrm>
          <a:prstGeom prst="roundRect">
            <a:avLst>
              <a:gd name="adj" fmla="val 1765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335024" y="3877056"/>
            <a:ext cx="1340876" cy="3108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335024" y="4297680"/>
            <a:ext cx="1340876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35024" y="4645152"/>
            <a:ext cx="1340876" cy="201168"/>
          </a:xfrm>
          <a:prstGeom prst="roundRect">
            <a:avLst>
              <a:gd name="adj" fmla="val 909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335024" y="4992624"/>
            <a:ext cx="1340876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335024" y="5340096"/>
            <a:ext cx="1340876" cy="201168"/>
          </a:xfrm>
          <a:prstGeom prst="roundRect">
            <a:avLst>
              <a:gd name="adj" fmla="val 909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207008" y="4901184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16736" y="4892040"/>
            <a:ext cx="15237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recorrido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1207008" y="5065776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316736" y="5056632"/>
            <a:ext cx="15237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 competencia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3059948" y="3803904"/>
            <a:ext cx="402336" cy="32918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560308" y="2761488"/>
            <a:ext cx="1889516" cy="2779776"/>
          </a:xfrm>
          <a:prstGeom prst="roundRect">
            <a:avLst>
              <a:gd name="adj" fmla="val 19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651748" y="2852928"/>
            <a:ext cx="1706636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724900" y="2916936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834628" y="2916936"/>
            <a:ext cx="54864" cy="5486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944356" y="2916936"/>
            <a:ext cx="54864" cy="54864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670036" y="3163824"/>
            <a:ext cx="167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Amplio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3670036" y="3419856"/>
            <a:ext cx="896112" cy="237744"/>
          </a:xfrm>
          <a:prstGeom prst="roundRect">
            <a:avLst>
              <a:gd name="adj" fmla="val 1153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743188" y="347472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1280 px</a:t>
            </a:r>
            <a:endParaRPr lang="en-US" sz="940" dirty="0"/>
          </a:p>
        </p:txBody>
      </p:sp>
      <p:sp>
        <p:nvSpPr>
          <p:cNvPr id="40" name="Shape 37"/>
          <p:cNvSpPr/>
          <p:nvPr/>
        </p:nvSpPr>
        <p:spPr>
          <a:xfrm>
            <a:off x="3724900" y="3767328"/>
            <a:ext cx="1560332" cy="1554480"/>
          </a:xfrm>
          <a:prstGeom prst="roundRect">
            <a:avLst>
              <a:gd name="adj" fmla="val 1765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834628" y="3877056"/>
            <a:ext cx="1340876" cy="3108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834628" y="4297680"/>
            <a:ext cx="1340876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834628" y="4645152"/>
            <a:ext cx="1340876" cy="201168"/>
          </a:xfrm>
          <a:prstGeom prst="roundRect">
            <a:avLst>
              <a:gd name="adj" fmla="val 909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834628" y="4992624"/>
            <a:ext cx="1340876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834628" y="5340096"/>
            <a:ext cx="1340876" cy="201168"/>
          </a:xfrm>
          <a:prstGeom prst="roundRect">
            <a:avLst>
              <a:gd name="adj" fmla="val 909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834628" y="5687568"/>
            <a:ext cx="1340876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706612" y="4901184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816340" y="4892040"/>
            <a:ext cx="15237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contexto</a:t>
            </a:r>
            <a:endParaRPr lang="en-US" sz="880" dirty="0"/>
          </a:p>
        </p:txBody>
      </p:sp>
      <p:sp>
        <p:nvSpPr>
          <p:cNvPr id="49" name="Shape 46"/>
          <p:cNvSpPr/>
          <p:nvPr/>
        </p:nvSpPr>
        <p:spPr>
          <a:xfrm>
            <a:off x="3706612" y="5065776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816340" y="5056632"/>
            <a:ext cx="15237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otra relación entre piezas</a:t>
            </a:r>
            <a:endParaRPr lang="en-US" sz="880" dirty="0"/>
          </a:p>
        </p:txBody>
      </p:sp>
      <p:sp>
        <p:nvSpPr>
          <p:cNvPr id="51" name="Shape 48"/>
          <p:cNvSpPr/>
          <p:nvPr/>
        </p:nvSpPr>
        <p:spPr>
          <a:xfrm>
            <a:off x="5705856" y="2249424"/>
            <a:ext cx="2249424" cy="1444752"/>
          </a:xfrm>
          <a:prstGeom prst="roundRect">
            <a:avLst>
              <a:gd name="adj" fmla="val 25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797296" y="2377440"/>
            <a:ext cx="109728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961888" y="235915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</a:t>
            </a:r>
            <a:endParaRPr lang="en-US" sz="1420" dirty="0"/>
          </a:p>
        </p:txBody>
      </p:sp>
      <p:sp>
        <p:nvSpPr>
          <p:cNvPr id="54" name="Text 51"/>
          <p:cNvSpPr/>
          <p:nvPr/>
        </p:nvSpPr>
        <p:spPr>
          <a:xfrm>
            <a:off x="5961888" y="274320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título y el contenido principal siguen abriendo el recorrido?</a:t>
            </a:r>
            <a:endParaRPr lang="en-US" sz="960" dirty="0"/>
          </a:p>
        </p:txBody>
      </p:sp>
      <p:sp>
        <p:nvSpPr>
          <p:cNvPr id="55" name="Shape 52"/>
          <p:cNvSpPr/>
          <p:nvPr/>
        </p:nvSpPr>
        <p:spPr>
          <a:xfrm>
            <a:off x="8193024" y="2249424"/>
            <a:ext cx="2249424" cy="1444752"/>
          </a:xfrm>
          <a:prstGeom prst="roundRect">
            <a:avLst>
              <a:gd name="adj" fmla="val 253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284464" y="2377440"/>
            <a:ext cx="109728" cy="11887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449056" y="235915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Jerarquía</a:t>
            </a:r>
            <a:endParaRPr lang="en-US" sz="1420" dirty="0"/>
          </a:p>
        </p:txBody>
      </p:sp>
      <p:sp>
        <p:nvSpPr>
          <p:cNvPr id="58" name="Text 55"/>
          <p:cNvSpPr/>
          <p:nvPr/>
        </p:nvSpPr>
        <p:spPr>
          <a:xfrm>
            <a:off x="8449056" y="274320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¿sigue claro qué sube, qué acompaña y qué puede bajar?</a:t>
            </a:r>
            <a:endParaRPr lang="en-US" sz="960" dirty="0"/>
          </a:p>
        </p:txBody>
      </p:sp>
      <p:sp>
        <p:nvSpPr>
          <p:cNvPr id="59" name="Shape 56"/>
          <p:cNvSpPr/>
          <p:nvPr/>
        </p:nvSpPr>
        <p:spPr>
          <a:xfrm>
            <a:off x="5705856" y="4005072"/>
            <a:ext cx="2249424" cy="1444752"/>
          </a:xfrm>
          <a:prstGeom prst="roundRect">
            <a:avLst>
              <a:gd name="adj" fmla="val 253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797296" y="4133088"/>
            <a:ext cx="109728" cy="11887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961888" y="411480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Interacción</a:t>
            </a:r>
            <a:endParaRPr lang="en-US" sz="1420" dirty="0"/>
          </a:p>
        </p:txBody>
      </p:sp>
      <p:sp>
        <p:nvSpPr>
          <p:cNvPr id="62" name="Text 59"/>
          <p:cNvSpPr/>
          <p:nvPr/>
        </p:nvSpPr>
        <p:spPr>
          <a:xfrm>
            <a:off x="5961888" y="4498848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CTA, los inputs o la navegación siguen siendo obvios?</a:t>
            </a:r>
            <a:endParaRPr lang="en-US" sz="960" dirty="0"/>
          </a:p>
        </p:txBody>
      </p:sp>
      <p:sp>
        <p:nvSpPr>
          <p:cNvPr id="63" name="Shape 60"/>
          <p:cNvSpPr/>
          <p:nvPr/>
        </p:nvSpPr>
        <p:spPr>
          <a:xfrm>
            <a:off x="8193024" y="4005072"/>
            <a:ext cx="2249424" cy="1444752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284464" y="4133088"/>
            <a:ext cx="109728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449056" y="411480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Espacio</a:t>
            </a:r>
            <a:endParaRPr lang="en-US" sz="1420" dirty="0"/>
          </a:p>
        </p:txBody>
      </p:sp>
      <p:sp>
        <p:nvSpPr>
          <p:cNvPr id="66" name="Text 63"/>
          <p:cNvSpPr/>
          <p:nvPr/>
        </p:nvSpPr>
        <p:spPr>
          <a:xfrm>
            <a:off x="8449056" y="4498848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layout respira o solo consiguió meter todo dentro del ancho?</a:t>
            </a:r>
            <a:endParaRPr lang="en-US" sz="9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común: seguir defendiendo la versión amplia aunque ya no funciona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falla cuando la prioridad pasa a ser conservar la forma vieja en vez de recuperar una lectura clara.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41248" y="2212848"/>
            <a:ext cx="2907792" cy="3163824"/>
          </a:xfrm>
          <a:prstGeom prst="roundRect">
            <a:avLst>
              <a:gd name="adj" fmla="val 125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340864"/>
            <a:ext cx="109728" cy="2907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3225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Defender la versión amplia</a:t>
            </a:r>
            <a:endParaRPr lang="en-US" sz="1620" dirty="0"/>
          </a:p>
        </p:txBody>
      </p:sp>
      <p:sp>
        <p:nvSpPr>
          <p:cNvPr id="13" name="Text 10"/>
          <p:cNvSpPr/>
          <p:nvPr/>
        </p:nvSpPr>
        <p:spPr>
          <a:xfrm>
            <a:off x="1097280" y="2743200"/>
            <a:ext cx="256032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seguir empujando columnas, alineaciones y simetría aunque el viewport ya pida otra secuencia visual.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4078224" y="2249424"/>
            <a:ext cx="3145536" cy="2816352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78224" y="2249424"/>
            <a:ext cx="3145536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24528" y="2377440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70832" y="2377440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17136" y="2377440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45152" y="2350008"/>
            <a:ext cx="2231136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91456" y="2386584"/>
            <a:ext cx="1938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https://demo.local/rigid-layout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4242816" y="2724912"/>
            <a:ext cx="2816352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52544" y="2825496"/>
            <a:ext cx="2596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Composición defendida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4242816" y="3236976"/>
            <a:ext cx="865632" cy="640080"/>
          </a:xfrm>
          <a:prstGeom prst="roundRect">
            <a:avLst>
              <a:gd name="adj" fmla="val 571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199888" y="3236976"/>
            <a:ext cx="86563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56960" y="3236976"/>
            <a:ext cx="86563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242816" y="4023360"/>
            <a:ext cx="281635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42816" y="4572000"/>
            <a:ext cx="281635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81344" y="5120640"/>
            <a:ext cx="768096" cy="310896"/>
          </a:xfrm>
          <a:prstGeom prst="roundRect">
            <a:avLst>
              <a:gd name="adj" fmla="val 1176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571232" y="2212848"/>
            <a:ext cx="3090672" cy="3163824"/>
          </a:xfrm>
          <a:prstGeom prst="roundRect">
            <a:avLst>
              <a:gd name="adj" fmla="val 118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662672" y="2340864"/>
            <a:ext cx="109728" cy="2907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27264" y="23225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sano es cambiar la relación</a:t>
            </a:r>
            <a:endParaRPr lang="en-US" sz="1580" dirty="0"/>
          </a:p>
        </p:txBody>
      </p:sp>
      <p:sp>
        <p:nvSpPr>
          <p:cNvPr id="32" name="Text 29"/>
          <p:cNvSpPr/>
          <p:nvPr/>
        </p:nvSpPr>
        <p:spPr>
          <a:xfrm>
            <a:off x="7827264" y="2743200"/>
            <a:ext cx="27432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el ancho baja, lo correcto puede ser apilar, mover foco y abandonar una simetría que ya no ayuda a entender.</a:t>
            </a:r>
            <a:endParaRPr lang="en-US" sz="1030" dirty="0"/>
          </a:p>
        </p:txBody>
      </p:sp>
      <p:sp>
        <p:nvSpPr>
          <p:cNvPr id="33" name="Shape 30"/>
          <p:cNvSpPr/>
          <p:nvPr/>
        </p:nvSpPr>
        <p:spPr>
          <a:xfrm>
            <a:off x="1225296" y="5449824"/>
            <a:ext cx="9345168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426464" y="5614416"/>
            <a:ext cx="8942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Preservar una forma vieja no es responsive.</a:t>
            </a:r>
            <a:endParaRPr lang="en-US" sz="16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agente puede proponer un breakpoint; tú validas la decisión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ayuda inteligente sirve para acelerar hipótesis de layout, pero el viewport real sigue siendo la fuente final de verdad.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77824" y="2103120"/>
            <a:ext cx="9912096" cy="3675888"/>
          </a:xfrm>
          <a:prstGeom prst="roundRect">
            <a:avLst>
              <a:gd name="adj" fmla="val 9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231136"/>
            <a:ext cx="965606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04288"/>
            <a:ext cx="9436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Dónde un agente ayuda y dónde la decisión sigue siendo tuya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24128" y="2670048"/>
            <a:ext cx="3950208" cy="2651760"/>
          </a:xfrm>
          <a:prstGeom prst="roundRect">
            <a:avLst>
              <a:gd name="adj" fmla="val 13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33856" y="2798064"/>
            <a:ext cx="109728" cy="2395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35024" y="279806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 con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35024" y="3072384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primeras hipótesis de adaptación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35024" y="3456432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26464" y="358216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72768" y="3520440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sugerir media queries o cortes iniciales</a:t>
            </a:r>
            <a:endParaRPr lang="en-US" sz="890" dirty="0"/>
          </a:p>
        </p:txBody>
      </p:sp>
      <p:sp>
        <p:nvSpPr>
          <p:cNvPr id="20" name="Shape 17"/>
          <p:cNvSpPr/>
          <p:nvPr/>
        </p:nvSpPr>
        <p:spPr>
          <a:xfrm>
            <a:off x="1335024" y="3918204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26464" y="404393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72768" y="3982212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qué bloque conviene apilar primero</a:t>
            </a:r>
            <a:endParaRPr lang="en-US" sz="890" dirty="0"/>
          </a:p>
        </p:txBody>
      </p:sp>
      <p:sp>
        <p:nvSpPr>
          <p:cNvPr id="23" name="Shape 20"/>
          <p:cNvSpPr/>
          <p:nvPr/>
        </p:nvSpPr>
        <p:spPr>
          <a:xfrm>
            <a:off x="1335024" y="4379976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26464" y="450570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72768" y="4443984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una versión tablet o móvil</a:t>
            </a:r>
            <a:endParaRPr lang="en-US" sz="890" dirty="0"/>
          </a:p>
        </p:txBody>
      </p:sp>
      <p:sp>
        <p:nvSpPr>
          <p:cNvPr id="26" name="Shape 23"/>
          <p:cNvSpPr/>
          <p:nvPr/>
        </p:nvSpPr>
        <p:spPr>
          <a:xfrm>
            <a:off x="1335024" y="4841748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26464" y="496747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572768" y="4905756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 zonas donde el layout se densifica</a:t>
            </a:r>
            <a:endParaRPr lang="en-US" sz="890" dirty="0"/>
          </a:p>
        </p:txBody>
      </p:sp>
      <p:sp>
        <p:nvSpPr>
          <p:cNvPr id="29" name="Shape 26"/>
          <p:cNvSpPr/>
          <p:nvPr/>
        </p:nvSpPr>
        <p:spPr>
          <a:xfrm>
            <a:off x="6693408" y="2670048"/>
            <a:ext cx="3950208" cy="265176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803136" y="2798064"/>
            <a:ext cx="109728" cy="2395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04304" y="279806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004304" y="3072384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y validación final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7004304" y="3456432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095744" y="358216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42048" y="3520440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si la jerarquía realmente mejoró</a:t>
            </a:r>
            <a:endParaRPr lang="en-US" sz="890" dirty="0"/>
          </a:p>
        </p:txBody>
      </p:sp>
      <p:sp>
        <p:nvSpPr>
          <p:cNvPr id="36" name="Shape 33"/>
          <p:cNvSpPr/>
          <p:nvPr/>
        </p:nvSpPr>
        <p:spPr>
          <a:xfrm>
            <a:off x="7004304" y="3918204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095744" y="404393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242048" y="3982212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por bueno un breakpoint sin probarlo</a:t>
            </a:r>
            <a:endParaRPr lang="en-US" sz="890" dirty="0"/>
          </a:p>
        </p:txBody>
      </p:sp>
      <p:sp>
        <p:nvSpPr>
          <p:cNvPr id="39" name="Shape 36"/>
          <p:cNvSpPr/>
          <p:nvPr/>
        </p:nvSpPr>
        <p:spPr>
          <a:xfrm>
            <a:off x="7004304" y="4379976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095744" y="450570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242048" y="4443984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aprobar un reflow solo porque "se ve ordenado"</a:t>
            </a:r>
            <a:endParaRPr lang="en-US" sz="890" dirty="0"/>
          </a:p>
        </p:txBody>
      </p:sp>
      <p:sp>
        <p:nvSpPr>
          <p:cNvPr id="42" name="Shape 39"/>
          <p:cNvSpPr/>
          <p:nvPr/>
        </p:nvSpPr>
        <p:spPr>
          <a:xfrm>
            <a:off x="7004304" y="4841748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95744" y="496747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242048" y="4905756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suponer que menos columnas siempre significa mejor lectura</a:t>
            </a:r>
            <a:endParaRPr lang="en-US" sz="890" dirty="0"/>
          </a:p>
        </p:txBody>
      </p:sp>
      <p:sp>
        <p:nvSpPr>
          <p:cNvPr id="45" name="Shape 42"/>
          <p:cNvSpPr/>
          <p:nvPr/>
        </p:nvSpPr>
        <p:spPr>
          <a:xfrm>
            <a:off x="5230368" y="3182112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340096" y="3328416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413248" y="3749040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394960" y="337413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Viewport real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5358384" y="41605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hipótesis se acepta cuando el layout mejora la lectura en pantalla.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078992" y="5376672"/>
            <a:ext cx="9509760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88720" y="5422392"/>
            <a:ext cx="9290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acelera la primera propuesta. Tú validas la decisión de layout.</a:t>
            </a:r>
            <a:endParaRPr lang="en-US" sz="8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cerrar 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viewport cambia la lectura, las preguntas útiles también deben apuntar a comportamiento, foco y decisión de layout.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987552" y="2249424"/>
            <a:ext cx="2889504" cy="1444752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377440"/>
            <a:ext cx="109728" cy="11887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35915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Quiebre real</a:t>
            </a:r>
            <a:endParaRPr lang="en-US" sz="1460" dirty="0"/>
          </a:p>
        </p:txBody>
      </p:sp>
      <p:sp>
        <p:nvSpPr>
          <p:cNvPr id="13" name="Text 10"/>
          <p:cNvSpPr/>
          <p:nvPr/>
        </p:nvSpPr>
        <p:spPr>
          <a:xfrm>
            <a:off x="1243584" y="276148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hay entre memorizar un breakpoint y detectar un quiebre real de lectura en la interfaz?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4645152" y="2249424"/>
            <a:ext cx="2889504" cy="1444752"/>
          </a:xfrm>
          <a:prstGeom prst="roundRect">
            <a:avLst>
              <a:gd name="adj" fmla="val 25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36592" y="2377440"/>
            <a:ext cx="109728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01184" y="235915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Prioridad</a:t>
            </a:r>
            <a:endParaRPr lang="en-US" sz="1460" dirty="0"/>
          </a:p>
        </p:txBody>
      </p:sp>
      <p:sp>
        <p:nvSpPr>
          <p:cNvPr id="17" name="Text 14"/>
          <p:cNvSpPr/>
          <p:nvPr/>
        </p:nvSpPr>
        <p:spPr>
          <a:xfrm>
            <a:off x="4901184" y="276148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el espacio baja, ¿cómo decides qué sube, qué acompaña y qué puede moverse?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8302752" y="2249424"/>
            <a:ext cx="2889504" cy="1444752"/>
          </a:xfrm>
          <a:prstGeom prst="roundRect">
            <a:avLst>
              <a:gd name="adj" fmla="val 253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94192" y="2377440"/>
            <a:ext cx="109728" cy="11887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58784" y="235915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Validación</a:t>
            </a:r>
            <a:endParaRPr lang="en-US" sz="1460" dirty="0"/>
          </a:p>
        </p:txBody>
      </p:sp>
      <p:sp>
        <p:nvSpPr>
          <p:cNvPr id="21" name="Text 18"/>
          <p:cNvSpPr/>
          <p:nvPr/>
        </p:nvSpPr>
        <p:spPr>
          <a:xfrm>
            <a:off x="8558784" y="276148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parte del responsive siempre conviene revisar en el navegador antes de darla por buena?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1170432" y="4791456"/>
            <a:ext cx="9747504" cy="713232"/>
          </a:xfrm>
          <a:prstGeom prst="roundRect">
            <a:avLst>
              <a:gd name="adj" fmla="val 5128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71600" y="4956048"/>
            <a:ext cx="9345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 maduro no recita anchos: lee señales, decide layout y valida resultado.</a:t>
            </a:r>
            <a:endParaRPr lang="en-US" sz="17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Viewport, quiebre y decisión de layout quedan mejor entendidos cuando dejamos de pensar responsive como magia y lo leemos como comportamiento.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969264" y="2176272"/>
            <a:ext cx="5870448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98448" y="2542032"/>
            <a:ext cx="5230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 con criterio implica leer el viewport, detectar el quiebre y decidir el layout que mejor conserva claridad.</a:t>
            </a:r>
            <a:endParaRPr lang="en-US" sz="2060" dirty="0"/>
          </a:p>
        </p:txBody>
      </p:sp>
      <p:sp>
        <p:nvSpPr>
          <p:cNvPr id="12" name="Shape 9"/>
          <p:cNvSpPr/>
          <p:nvPr/>
        </p:nvSpPr>
        <p:spPr>
          <a:xfrm>
            <a:off x="1389888" y="3675888"/>
            <a:ext cx="1042416" cy="256032"/>
          </a:xfrm>
          <a:prstGeom prst="roundRect">
            <a:avLst>
              <a:gd name="adj" fmla="val 17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63040" y="371246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viewport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615184" y="3675888"/>
            <a:ext cx="987552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88336" y="371246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quiebre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803904" y="3675888"/>
            <a:ext cx="1133856" cy="256032"/>
          </a:xfrm>
          <a:prstGeom prst="roundRect">
            <a:avLst>
              <a:gd name="adj" fmla="val 178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77056" y="371246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reordenar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138928" y="367588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12080" y="371246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205472" y="2176272"/>
            <a:ext cx="3054096" cy="1993392"/>
          </a:xfrm>
          <a:prstGeom prst="roundRect">
            <a:avLst>
              <a:gd name="adj" fmla="val 183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96912" y="2304288"/>
            <a:ext cx="109728" cy="17373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61504" y="2286000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al Bloque 3</a:t>
            </a:r>
            <a:endParaRPr lang="en-US" sz="1620" dirty="0"/>
          </a:p>
        </p:txBody>
      </p:sp>
      <p:sp>
        <p:nvSpPr>
          <p:cNvPr id="23" name="Text 20"/>
          <p:cNvSpPr/>
          <p:nvPr/>
        </p:nvSpPr>
        <p:spPr>
          <a:xfrm>
            <a:off x="7461504" y="2670048"/>
            <a:ext cx="2706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layout cambia con el contexto, entonces los componentes también deben nacer preparados para adaptarse con consistencia.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133856" y="4919472"/>
            <a:ext cx="9217152" cy="658368"/>
          </a:xfrm>
          <a:prstGeom prst="roundRect">
            <a:avLst>
              <a:gd name="adj" fmla="val 555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35024" y="5084064"/>
            <a:ext cx="8814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el ancho -&gt; detectar señales -&gt; decidir el layout -&gt; validar en pantalla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 · Componentes visuales y consistencia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la interfaz deja de pensarse como una secuencia de pantallas sueltas y empieza a leerse como una familia de piezas reutilizables.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41248" y="2176272"/>
            <a:ext cx="3054096" cy="3493008"/>
          </a:xfrm>
          <a:prstGeom prst="roundRect">
            <a:avLst>
              <a:gd name="adj" fmla="val 119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359152"/>
            <a:ext cx="109728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98448" y="2663830"/>
            <a:ext cx="135331" cy="31126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60845" y="2542032"/>
            <a:ext cx="162397" cy="4330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50309" y="2663830"/>
            <a:ext cx="135331" cy="31126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17904" y="2907792"/>
            <a:ext cx="18105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interfaz madura</a:t>
            </a:r>
            <a:endParaRPr lang="en-US" sz="1840" dirty="0"/>
          </a:p>
          <a:p>
            <a:pPr indent="0" marL="0">
              <a:buNone/>
            </a:pPr>
            <a:r>
              <a:rPr lang="en-US" sz="18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arma con piezas</a:t>
            </a:r>
            <a:endParaRPr lang="en-US" sz="1840" dirty="0"/>
          </a:p>
          <a:p>
            <a:pPr indent="0" marL="0">
              <a:buNone/>
            </a:pPr>
            <a:r>
              <a:rPr lang="en-US" sz="18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reutilizables.</a:t>
            </a:r>
            <a:endParaRPr lang="en-US" sz="1840" dirty="0"/>
          </a:p>
        </p:txBody>
      </p:sp>
      <p:sp>
        <p:nvSpPr>
          <p:cNvPr id="16" name="Text 13"/>
          <p:cNvSpPr/>
          <p:nvPr/>
        </p:nvSpPr>
        <p:spPr>
          <a:xfrm>
            <a:off x="1188720" y="4645152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Componentes, variantes, estados y consistencia visual preparan el terreno para que la interfaz crezca sin volverse caótica.</a:t>
            </a:r>
            <a:endParaRPr lang="en-US" sz="1010" dirty="0"/>
          </a:p>
        </p:txBody>
      </p:sp>
      <p:sp>
        <p:nvSpPr>
          <p:cNvPr id="17" name="Shape 14"/>
          <p:cNvSpPr/>
          <p:nvPr/>
        </p:nvSpPr>
        <p:spPr>
          <a:xfrm>
            <a:off x="1115568" y="5230368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88720" y="526694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reusar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066544" y="5230368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39696" y="526694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017520" y="5230368"/>
            <a:ext cx="877824" cy="256032"/>
          </a:xfrm>
          <a:prstGeom prst="roundRect">
            <a:avLst>
              <a:gd name="adj" fmla="val 178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90672" y="526694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adaptar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169664" y="2157984"/>
            <a:ext cx="6437376" cy="3584448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97680" y="2286000"/>
            <a:ext cx="618134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07408" y="2359152"/>
            <a:ext cx="5961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familia pequeña ya puede mostrar sistema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4315968" y="2724912"/>
            <a:ext cx="2990088" cy="1197864"/>
          </a:xfrm>
          <a:prstGeom prst="roundRect">
            <a:avLst>
              <a:gd name="adj" fmla="val 305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407408" y="2834640"/>
            <a:ext cx="73152" cy="9784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63440" y="2852928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6556248" y="2834640"/>
            <a:ext cx="58521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92824" y="2880360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4572000" y="3145536"/>
            <a:ext cx="2478024" cy="402336"/>
          </a:xfrm>
          <a:prstGeom prst="roundRect">
            <a:avLst>
              <a:gd name="adj" fmla="val 909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681728" y="3218688"/>
            <a:ext cx="2258568" cy="91440"/>
          </a:xfrm>
          <a:prstGeom prst="roundRect">
            <a:avLst>
              <a:gd name="adj" fmla="val 20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81728" y="3346704"/>
            <a:ext cx="2258568" cy="109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81728" y="3493008"/>
            <a:ext cx="1040770" cy="73152"/>
          </a:xfrm>
          <a:prstGeom prst="roundRect">
            <a:avLst>
              <a:gd name="adj" fmla="val 25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0" y="3584448"/>
            <a:ext cx="2478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fija la estructura reconocible de la pieza</a:t>
            </a:r>
            <a:endParaRPr lang="en-US" sz="760" dirty="0"/>
          </a:p>
        </p:txBody>
      </p:sp>
      <p:sp>
        <p:nvSpPr>
          <p:cNvPr id="36" name="Shape 33"/>
          <p:cNvSpPr/>
          <p:nvPr/>
        </p:nvSpPr>
        <p:spPr>
          <a:xfrm>
            <a:off x="7470648" y="2724912"/>
            <a:ext cx="2990088" cy="1197864"/>
          </a:xfrm>
          <a:prstGeom prst="roundRect">
            <a:avLst>
              <a:gd name="adj" fmla="val 305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562088" y="2834640"/>
            <a:ext cx="73152" cy="9784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18120" y="2852928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Destacada</a:t>
            </a:r>
            <a:endParaRPr lang="en-US" sz="1220" dirty="0"/>
          </a:p>
        </p:txBody>
      </p:sp>
      <p:sp>
        <p:nvSpPr>
          <p:cNvPr id="39" name="Shape 36"/>
          <p:cNvSpPr/>
          <p:nvPr/>
        </p:nvSpPr>
        <p:spPr>
          <a:xfrm>
            <a:off x="9710928" y="2834640"/>
            <a:ext cx="58521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747504" y="2880360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780" dirty="0"/>
          </a:p>
        </p:txBody>
      </p:sp>
      <p:sp>
        <p:nvSpPr>
          <p:cNvPr id="41" name="Shape 38"/>
          <p:cNvSpPr/>
          <p:nvPr/>
        </p:nvSpPr>
        <p:spPr>
          <a:xfrm>
            <a:off x="7726680" y="3145536"/>
            <a:ext cx="2478024" cy="402336"/>
          </a:xfrm>
          <a:prstGeom prst="roundRect">
            <a:avLst>
              <a:gd name="adj" fmla="val 909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836408" y="3218688"/>
            <a:ext cx="2258568" cy="91440"/>
          </a:xfrm>
          <a:prstGeom prst="roundRect">
            <a:avLst>
              <a:gd name="adj" fmla="val 20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836408" y="3346704"/>
            <a:ext cx="2258568" cy="109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836408" y="3493008"/>
            <a:ext cx="1040770" cy="73152"/>
          </a:xfrm>
          <a:prstGeom prst="roundRect">
            <a:avLst>
              <a:gd name="adj" fmla="val 25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726680" y="3584448"/>
            <a:ext cx="2478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sube foco sin romper la familia</a:t>
            </a:r>
            <a:endParaRPr lang="en-US" sz="760" dirty="0"/>
          </a:p>
        </p:txBody>
      </p:sp>
      <p:sp>
        <p:nvSpPr>
          <p:cNvPr id="46" name="Shape 43"/>
          <p:cNvSpPr/>
          <p:nvPr/>
        </p:nvSpPr>
        <p:spPr>
          <a:xfrm>
            <a:off x="4315968" y="4087368"/>
            <a:ext cx="2990088" cy="1197864"/>
          </a:xfrm>
          <a:prstGeom prst="roundRect">
            <a:avLst>
              <a:gd name="adj" fmla="val 305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407408" y="4197096"/>
            <a:ext cx="73152" cy="9784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663440" y="4215384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Compacta</a:t>
            </a:r>
            <a:endParaRPr lang="en-US" sz="1220" dirty="0"/>
          </a:p>
        </p:txBody>
      </p:sp>
      <p:sp>
        <p:nvSpPr>
          <p:cNvPr id="49" name="Shape 46"/>
          <p:cNvSpPr/>
          <p:nvPr/>
        </p:nvSpPr>
        <p:spPr>
          <a:xfrm>
            <a:off x="6556248" y="4197096"/>
            <a:ext cx="58521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592824" y="4242816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</a:t>
            </a:r>
            <a:endParaRPr lang="en-US" sz="780" dirty="0"/>
          </a:p>
        </p:txBody>
      </p:sp>
      <p:sp>
        <p:nvSpPr>
          <p:cNvPr id="51" name="Shape 48"/>
          <p:cNvSpPr/>
          <p:nvPr/>
        </p:nvSpPr>
        <p:spPr>
          <a:xfrm>
            <a:off x="4572000" y="4507992"/>
            <a:ext cx="2478024" cy="402336"/>
          </a:xfrm>
          <a:prstGeom prst="roundRect">
            <a:avLst>
              <a:gd name="adj" fmla="val 909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681728" y="4581144"/>
            <a:ext cx="2258568" cy="7315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681728" y="4690872"/>
            <a:ext cx="2258568" cy="73152"/>
          </a:xfrm>
          <a:prstGeom prst="roundRect">
            <a:avLst>
              <a:gd name="adj" fmla="val 25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681728" y="4800600"/>
            <a:ext cx="2258568" cy="73152"/>
          </a:xfrm>
          <a:prstGeom prst="roundRect">
            <a:avLst>
              <a:gd name="adj" fmla="val 25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572000" y="4946904"/>
            <a:ext cx="2478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aire con la misma lógica visual</a:t>
            </a:r>
            <a:endParaRPr lang="en-US" sz="760" dirty="0"/>
          </a:p>
        </p:txBody>
      </p:sp>
      <p:sp>
        <p:nvSpPr>
          <p:cNvPr id="56" name="Shape 53"/>
          <p:cNvSpPr/>
          <p:nvPr/>
        </p:nvSpPr>
        <p:spPr>
          <a:xfrm>
            <a:off x="7470648" y="4087368"/>
            <a:ext cx="2990088" cy="1197864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562088" y="4197096"/>
            <a:ext cx="73152" cy="9784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818120" y="4215384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Acción</a:t>
            </a:r>
            <a:endParaRPr lang="en-US" sz="1220" dirty="0"/>
          </a:p>
        </p:txBody>
      </p:sp>
      <p:sp>
        <p:nvSpPr>
          <p:cNvPr id="59" name="Shape 56"/>
          <p:cNvSpPr/>
          <p:nvPr/>
        </p:nvSpPr>
        <p:spPr>
          <a:xfrm>
            <a:off x="9710928" y="4197096"/>
            <a:ext cx="58521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747504" y="4242816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cta</a:t>
            </a:r>
            <a:endParaRPr lang="en-US" sz="780" dirty="0"/>
          </a:p>
        </p:txBody>
      </p:sp>
      <p:sp>
        <p:nvSpPr>
          <p:cNvPr id="61" name="Shape 58"/>
          <p:cNvSpPr/>
          <p:nvPr/>
        </p:nvSpPr>
        <p:spPr>
          <a:xfrm>
            <a:off x="7726680" y="4507992"/>
            <a:ext cx="2478024" cy="402336"/>
          </a:xfrm>
          <a:prstGeom prst="roundRect">
            <a:avLst>
              <a:gd name="adj" fmla="val 909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872984" y="4599432"/>
            <a:ext cx="2185416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946136" y="4654296"/>
            <a:ext cx="2039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Explorar</a:t>
            </a:r>
            <a:endParaRPr lang="en-US" sz="740" dirty="0"/>
          </a:p>
        </p:txBody>
      </p:sp>
      <p:sp>
        <p:nvSpPr>
          <p:cNvPr id="64" name="Text 61"/>
          <p:cNvSpPr/>
          <p:nvPr/>
        </p:nvSpPr>
        <p:spPr>
          <a:xfrm>
            <a:off x="7726680" y="4946904"/>
            <a:ext cx="2478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mantiene identidad y vuelve visible la respuesta</a:t>
            </a:r>
            <a:endParaRPr lang="en-US" sz="760" dirty="0"/>
          </a:p>
        </p:txBody>
      </p:sp>
      <p:sp>
        <p:nvSpPr>
          <p:cNvPr id="65" name="Text 62"/>
          <p:cNvSpPr/>
          <p:nvPr/>
        </p:nvSpPr>
        <p:spPr>
          <a:xfrm>
            <a:off x="4352544" y="5577840"/>
            <a:ext cx="6071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trata de copiar cajas: se trata de estabilizar decisiones que pueden volver a aparecer.</a:t>
            </a:r>
            <a:endParaRPr lang="en-US" sz="8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pantalla clara suele nacer de pocas piezas bien pensadas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una interfaz se lee por componentes, deja de depender de soluciones aisladas repartidas por cada pantalla.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41248" y="2176272"/>
            <a:ext cx="4005072" cy="3145536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2176272"/>
            <a:ext cx="4005072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2304288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33856" y="2304288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80160" y="2304288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08176" y="2276856"/>
            <a:ext cx="309067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54480" y="2313432"/>
            <a:ext cx="2798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https://demo.local/dashboard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1005840" y="2651760"/>
            <a:ext cx="3675888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5568" y="2752344"/>
            <a:ext cx="3456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 resuelta una vez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1005840" y="3163824"/>
            <a:ext cx="1170432" cy="1901952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322576" y="3163824"/>
            <a:ext cx="235915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322576" y="3803904"/>
            <a:ext cx="2359152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22576" y="4608576"/>
            <a:ext cx="2359152" cy="566928"/>
          </a:xfrm>
          <a:prstGeom prst="roundRect">
            <a:avLst>
              <a:gd name="adj" fmla="val 645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42416" y="5394960"/>
            <a:ext cx="3602736" cy="438912"/>
          </a:xfrm>
          <a:prstGeom prst="roundRect">
            <a:avLst>
              <a:gd name="adj" fmla="val 8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33856" y="5522976"/>
            <a:ext cx="109728" cy="1828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98448" y="5504688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todo se resuelve como caso único, cada pantalla inventa sus propias reglas.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5138928" y="2139696"/>
            <a:ext cx="5614416" cy="3675888"/>
          </a:xfrm>
          <a:prstGeom prst="roundRect">
            <a:avLst>
              <a:gd name="adj" fmla="val 9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66944" y="2267712"/>
            <a:ext cx="5358384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76672" y="2340864"/>
            <a:ext cx="5138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interfaz leída como piezas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5303520" y="2962656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49824" y="2816352"/>
            <a:ext cx="1042416" cy="292608"/>
          </a:xfrm>
          <a:prstGeom prst="roundRect">
            <a:avLst>
              <a:gd name="adj" fmla="val 937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41264" y="2889504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</a:t>
            </a:r>
            <a:endParaRPr lang="en-US" sz="940" dirty="0"/>
          </a:p>
        </p:txBody>
      </p:sp>
      <p:sp>
        <p:nvSpPr>
          <p:cNvPr id="32" name="Text 29"/>
          <p:cNvSpPr/>
          <p:nvPr/>
        </p:nvSpPr>
        <p:spPr>
          <a:xfrm>
            <a:off x="7114032" y="2889504"/>
            <a:ext cx="3456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 entendida como composición de partes</a:t>
            </a:r>
            <a:endParaRPr lang="en-US" sz="860" dirty="0"/>
          </a:p>
        </p:txBody>
      </p:sp>
      <p:sp>
        <p:nvSpPr>
          <p:cNvPr id="33" name="Shape 30"/>
          <p:cNvSpPr/>
          <p:nvPr/>
        </p:nvSpPr>
        <p:spPr>
          <a:xfrm>
            <a:off x="6236208" y="3456432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382512" y="3310128"/>
            <a:ext cx="122529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73952" y="3383280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</a:t>
            </a:r>
            <a:endParaRPr lang="en-US" sz="940" dirty="0"/>
          </a:p>
        </p:txBody>
      </p:sp>
      <p:sp>
        <p:nvSpPr>
          <p:cNvPr id="36" name="Text 33"/>
          <p:cNvSpPr/>
          <p:nvPr/>
        </p:nvSpPr>
        <p:spPr>
          <a:xfrm>
            <a:off x="8046720" y="3383280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marca, navegación y entrada</a:t>
            </a:r>
            <a:endParaRPr lang="en-US" sz="860" dirty="0"/>
          </a:p>
        </p:txBody>
      </p:sp>
      <p:sp>
        <p:nvSpPr>
          <p:cNvPr id="37" name="Shape 34"/>
          <p:cNvSpPr/>
          <p:nvPr/>
        </p:nvSpPr>
        <p:spPr>
          <a:xfrm>
            <a:off x="6236208" y="3950208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82512" y="3803904"/>
            <a:ext cx="104241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73952" y="3877056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</a:t>
            </a:r>
            <a:endParaRPr lang="en-US" sz="940" dirty="0"/>
          </a:p>
        </p:txBody>
      </p:sp>
      <p:sp>
        <p:nvSpPr>
          <p:cNvPr id="40" name="Text 37"/>
          <p:cNvSpPr/>
          <p:nvPr/>
        </p:nvSpPr>
        <p:spPr>
          <a:xfrm>
            <a:off x="8046720" y="3877056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principal y foco de lectura</a:t>
            </a:r>
            <a:endParaRPr lang="en-US" sz="860" dirty="0"/>
          </a:p>
        </p:txBody>
      </p:sp>
      <p:sp>
        <p:nvSpPr>
          <p:cNvPr id="41" name="Shape 38"/>
          <p:cNvSpPr/>
          <p:nvPr/>
        </p:nvSpPr>
        <p:spPr>
          <a:xfrm>
            <a:off x="6236208" y="4443984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236208" y="4443984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382512" y="4297680"/>
            <a:ext cx="140817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473952" y="4370832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CardGrid</a:t>
            </a:r>
            <a:endParaRPr lang="en-US" sz="940" dirty="0"/>
          </a:p>
        </p:txBody>
      </p:sp>
      <p:sp>
        <p:nvSpPr>
          <p:cNvPr id="45" name="Text 42"/>
          <p:cNvSpPr/>
          <p:nvPr/>
        </p:nvSpPr>
        <p:spPr>
          <a:xfrm>
            <a:off x="8046720" y="4370832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zona repetible con ritmo compartido</a:t>
            </a:r>
            <a:endParaRPr lang="en-US" sz="860" dirty="0"/>
          </a:p>
        </p:txBody>
      </p:sp>
      <p:sp>
        <p:nvSpPr>
          <p:cNvPr id="46" name="Shape 43"/>
          <p:cNvSpPr/>
          <p:nvPr/>
        </p:nvSpPr>
        <p:spPr>
          <a:xfrm>
            <a:off x="7168896" y="4937760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315200" y="4791456"/>
            <a:ext cx="104241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406640" y="4864608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</a:t>
            </a:r>
            <a:endParaRPr lang="en-US" sz="940" dirty="0"/>
          </a:p>
        </p:txBody>
      </p:sp>
      <p:sp>
        <p:nvSpPr>
          <p:cNvPr id="49" name="Text 46"/>
          <p:cNvSpPr/>
          <p:nvPr/>
        </p:nvSpPr>
        <p:spPr>
          <a:xfrm>
            <a:off x="8979408" y="4864608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mismo patrón, variantes por intención</a:t>
            </a:r>
            <a:endParaRPr lang="en-US" sz="860" dirty="0"/>
          </a:p>
        </p:txBody>
      </p:sp>
      <p:sp>
        <p:nvSpPr>
          <p:cNvPr id="50" name="Shape 47"/>
          <p:cNvSpPr/>
          <p:nvPr/>
        </p:nvSpPr>
        <p:spPr>
          <a:xfrm>
            <a:off x="7168896" y="5431536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315200" y="5285232"/>
            <a:ext cx="104241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406640" y="5358384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</a:t>
            </a:r>
            <a:endParaRPr lang="en-US" sz="940" dirty="0"/>
          </a:p>
        </p:txBody>
      </p:sp>
      <p:sp>
        <p:nvSpPr>
          <p:cNvPr id="53" name="Text 50"/>
          <p:cNvSpPr/>
          <p:nvPr/>
        </p:nvSpPr>
        <p:spPr>
          <a:xfrm>
            <a:off x="8979408" y="5358384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 familia, distinto contenido</a:t>
            </a:r>
            <a:endParaRPr lang="en-US" sz="860" dirty="0"/>
          </a:p>
        </p:txBody>
      </p:sp>
      <p:sp>
        <p:nvSpPr>
          <p:cNvPr id="54" name="Shape 51"/>
          <p:cNvSpPr/>
          <p:nvPr/>
        </p:nvSpPr>
        <p:spPr>
          <a:xfrm>
            <a:off x="6236208" y="5925312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382512" y="5779008"/>
            <a:ext cx="95097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473952" y="5852160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CTA</a:t>
            </a:r>
            <a:endParaRPr lang="en-US" sz="940" dirty="0"/>
          </a:p>
        </p:txBody>
      </p:sp>
      <p:sp>
        <p:nvSpPr>
          <p:cNvPr id="57" name="Text 54"/>
          <p:cNvSpPr/>
          <p:nvPr/>
        </p:nvSpPr>
        <p:spPr>
          <a:xfrm>
            <a:off x="8046720" y="5852160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 visible y consistente</a:t>
            </a:r>
            <a:endParaRPr lang="en-US" sz="86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componente no es solo una caja: es una decisión reutilizable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una pieza resuelve función, jerarquía y respuesta al espacio, ya puede sostener más de una pantalla sin improvisar de nuevo.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932688" y="2212848"/>
            <a:ext cx="3913632" cy="3090672"/>
          </a:xfrm>
          <a:prstGeom prst="roundRect">
            <a:avLst>
              <a:gd name="adj" fmla="val 118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212848"/>
            <a:ext cx="109728" cy="3090672"/>
          </a:xfrm>
          <a:prstGeom prst="roundRect">
            <a:avLst>
              <a:gd name="adj" fmla="val 25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359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 informativa</a:t>
            </a:r>
            <a:endParaRPr lang="en-US" sz="1460" dirty="0"/>
          </a:p>
        </p:txBody>
      </p:sp>
      <p:sp>
        <p:nvSpPr>
          <p:cNvPr id="13" name="Shape 10"/>
          <p:cNvSpPr/>
          <p:nvPr/>
        </p:nvSpPr>
        <p:spPr>
          <a:xfrm>
            <a:off x="1152144" y="2724912"/>
            <a:ext cx="3474720" cy="347472"/>
          </a:xfrm>
          <a:prstGeom prst="roundRect">
            <a:avLst>
              <a:gd name="adj" fmla="val 105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52144" y="3236976"/>
            <a:ext cx="347472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52144" y="4297680"/>
            <a:ext cx="1528877" cy="256032"/>
          </a:xfrm>
          <a:prstGeom prst="roundRect">
            <a:avLst>
              <a:gd name="adj" fmla="val 1428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4224528"/>
            <a:ext cx="841248" cy="402336"/>
          </a:xfrm>
          <a:prstGeom prst="roundRect">
            <a:avLst>
              <a:gd name="adj" fmla="val 1136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15568" y="5138928"/>
            <a:ext cx="3547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título, contenido y acción siguen un mismo ritmo visual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5504688" y="2212848"/>
            <a:ext cx="2432304" cy="932688"/>
          </a:xfrm>
          <a:prstGeom prst="roundRect">
            <a:avLst>
              <a:gd name="adj" fmla="val 39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96128" y="2340864"/>
            <a:ext cx="10972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0" y="232257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Función</a:t>
            </a:r>
            <a:endParaRPr lang="en-US" sz="1340" dirty="0"/>
          </a:p>
        </p:txBody>
      </p:sp>
      <p:sp>
        <p:nvSpPr>
          <p:cNvPr id="21" name="Text 18"/>
          <p:cNvSpPr/>
          <p:nvPr/>
        </p:nvSpPr>
        <p:spPr>
          <a:xfrm>
            <a:off x="5760720" y="259689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pieza existe para resolver una tarea visual, no solo para rellenar espacio.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8211312" y="2212848"/>
            <a:ext cx="2432304" cy="932688"/>
          </a:xfrm>
          <a:prstGeom prst="roundRect">
            <a:avLst>
              <a:gd name="adj" fmla="val 39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02752" y="2340864"/>
            <a:ext cx="109728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67344" y="232257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Jerarquía</a:t>
            </a:r>
            <a:endParaRPr lang="en-US" sz="1340" dirty="0"/>
          </a:p>
        </p:txBody>
      </p:sp>
      <p:sp>
        <p:nvSpPr>
          <p:cNvPr id="25" name="Text 22"/>
          <p:cNvSpPr/>
          <p:nvPr/>
        </p:nvSpPr>
        <p:spPr>
          <a:xfrm>
            <a:off x="8467344" y="259689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 orden interno deja claro qué se lee primero, qué acompaña y qué activa.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504688" y="3419856"/>
            <a:ext cx="5138928" cy="1316736"/>
          </a:xfrm>
          <a:prstGeom prst="roundRect">
            <a:avLst>
              <a:gd name="adj" fmla="val 277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96128" y="3547872"/>
            <a:ext cx="109728" cy="10607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60720" y="3529584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 al contexto</a:t>
            </a:r>
            <a:endParaRPr lang="en-US" sz="1440" dirty="0"/>
          </a:p>
        </p:txBody>
      </p:sp>
      <p:sp>
        <p:nvSpPr>
          <p:cNvPr id="29" name="Text 26"/>
          <p:cNvSpPr/>
          <p:nvPr/>
        </p:nvSpPr>
        <p:spPr>
          <a:xfrm>
            <a:off x="5760720" y="3858768"/>
            <a:ext cx="4791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pieza también debe sostener legibilidad, aire y claridad cuando cambia el ancho disponible o cuando aparece en una zona distinta de la interfaz.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1133856" y="5449824"/>
            <a:ext cx="9308592" cy="438912"/>
          </a:xfrm>
          <a:prstGeom prst="roundRect">
            <a:avLst>
              <a:gd name="adj" fmla="val 833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35024" y="5614416"/>
            <a:ext cx="8906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 útil = función visible + jerarquía estable + adaptación razonable.</a:t>
            </a:r>
            <a:endParaRPr lang="en-US" sz="16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misma pieza puede variar sin perder identidad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Variantes distintas no rompen el sistema cuando todavía comparten estructura, ritmo y una lógica reconocible.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77824" y="2176272"/>
            <a:ext cx="6620256" cy="3547872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304288"/>
            <a:ext cx="636422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77440"/>
            <a:ext cx="6144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Familia de cards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24128" y="2743200"/>
            <a:ext cx="3081528" cy="1179576"/>
          </a:xfrm>
          <a:prstGeom prst="roundRect">
            <a:avLst>
              <a:gd name="adj" fmla="val 310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15568" y="2852928"/>
            <a:ext cx="73152" cy="9601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0" y="2871216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3355848" y="2852928"/>
            <a:ext cx="58521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92424" y="2898648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280160" y="3163824"/>
            <a:ext cx="2569464" cy="402336"/>
          </a:xfrm>
          <a:prstGeom prst="roundRect">
            <a:avLst>
              <a:gd name="adj" fmla="val 909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389888" y="3236976"/>
            <a:ext cx="2350008" cy="91440"/>
          </a:xfrm>
          <a:prstGeom prst="roundRect">
            <a:avLst>
              <a:gd name="adj" fmla="val 20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389888" y="3364992"/>
            <a:ext cx="2350008" cy="109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89888" y="3511296"/>
            <a:ext cx="1079175" cy="73152"/>
          </a:xfrm>
          <a:prstGeom prst="roundRect">
            <a:avLst>
              <a:gd name="adj" fmla="val 25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80160" y="3602736"/>
            <a:ext cx="2569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referencia estable que ordena la familia</a:t>
            </a:r>
            <a:endParaRPr lang="en-US" sz="760" dirty="0"/>
          </a:p>
        </p:txBody>
      </p:sp>
      <p:sp>
        <p:nvSpPr>
          <p:cNvPr id="23" name="Shape 20"/>
          <p:cNvSpPr/>
          <p:nvPr/>
        </p:nvSpPr>
        <p:spPr>
          <a:xfrm>
            <a:off x="4270248" y="2743200"/>
            <a:ext cx="3081528" cy="1179576"/>
          </a:xfrm>
          <a:prstGeom prst="roundRect">
            <a:avLst>
              <a:gd name="adj" fmla="val 310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361688" y="2852928"/>
            <a:ext cx="73152" cy="9601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17720" y="2871216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Destacada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6601968" y="2852928"/>
            <a:ext cx="58521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38544" y="2898648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4526280" y="3163824"/>
            <a:ext cx="2569464" cy="402336"/>
          </a:xfrm>
          <a:prstGeom prst="roundRect">
            <a:avLst>
              <a:gd name="adj" fmla="val 909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3236976"/>
            <a:ext cx="2350008" cy="91440"/>
          </a:xfrm>
          <a:prstGeom prst="roundRect">
            <a:avLst>
              <a:gd name="adj" fmla="val 20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36008" y="3364992"/>
            <a:ext cx="2350008" cy="109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36008" y="3511296"/>
            <a:ext cx="1079175" cy="73152"/>
          </a:xfrm>
          <a:prstGeom prst="roundRect">
            <a:avLst>
              <a:gd name="adj" fmla="val 25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26280" y="3602736"/>
            <a:ext cx="2569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sube una card sin inventar otro idioma visual</a:t>
            </a:r>
            <a:endParaRPr lang="en-US" sz="760" dirty="0"/>
          </a:p>
        </p:txBody>
      </p:sp>
      <p:sp>
        <p:nvSpPr>
          <p:cNvPr id="33" name="Shape 30"/>
          <p:cNvSpPr/>
          <p:nvPr/>
        </p:nvSpPr>
        <p:spPr>
          <a:xfrm>
            <a:off x="1024128" y="4087368"/>
            <a:ext cx="3081528" cy="1179576"/>
          </a:xfrm>
          <a:prstGeom prst="roundRect">
            <a:avLst>
              <a:gd name="adj" fmla="val 310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15568" y="4197096"/>
            <a:ext cx="73152" cy="9601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371600" y="4215384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Compacta</a:t>
            </a:r>
            <a:endParaRPr lang="en-US" sz="1220" dirty="0"/>
          </a:p>
        </p:txBody>
      </p:sp>
      <p:sp>
        <p:nvSpPr>
          <p:cNvPr id="36" name="Shape 33"/>
          <p:cNvSpPr/>
          <p:nvPr/>
        </p:nvSpPr>
        <p:spPr>
          <a:xfrm>
            <a:off x="3355848" y="4197096"/>
            <a:ext cx="58521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392424" y="4242816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1280160" y="4507992"/>
            <a:ext cx="2569464" cy="402336"/>
          </a:xfrm>
          <a:prstGeom prst="roundRect">
            <a:avLst>
              <a:gd name="adj" fmla="val 909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389888" y="4581144"/>
            <a:ext cx="2350008" cy="7315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389888" y="4690872"/>
            <a:ext cx="2350008" cy="73152"/>
          </a:xfrm>
          <a:prstGeom prst="roundRect">
            <a:avLst>
              <a:gd name="adj" fmla="val 25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389888" y="4800600"/>
            <a:ext cx="2350008" cy="73152"/>
          </a:xfrm>
          <a:prstGeom prst="roundRect">
            <a:avLst>
              <a:gd name="adj" fmla="val 25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280160" y="4946904"/>
            <a:ext cx="2569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menos aire pero conserva estructura</a:t>
            </a:r>
            <a:endParaRPr lang="en-US" sz="760" dirty="0"/>
          </a:p>
        </p:txBody>
      </p:sp>
      <p:sp>
        <p:nvSpPr>
          <p:cNvPr id="43" name="Shape 40"/>
          <p:cNvSpPr/>
          <p:nvPr/>
        </p:nvSpPr>
        <p:spPr>
          <a:xfrm>
            <a:off x="4270248" y="4087368"/>
            <a:ext cx="3081528" cy="1179576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361688" y="4197096"/>
            <a:ext cx="73152" cy="9601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617720" y="4215384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Acción</a:t>
            </a:r>
            <a:endParaRPr lang="en-US" sz="1220" dirty="0"/>
          </a:p>
        </p:txBody>
      </p:sp>
      <p:sp>
        <p:nvSpPr>
          <p:cNvPr id="46" name="Shape 43"/>
          <p:cNvSpPr/>
          <p:nvPr/>
        </p:nvSpPr>
        <p:spPr>
          <a:xfrm>
            <a:off x="6601968" y="4197096"/>
            <a:ext cx="58521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638544" y="4242816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cta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4526280" y="4507992"/>
            <a:ext cx="2569464" cy="402336"/>
          </a:xfrm>
          <a:prstGeom prst="roundRect">
            <a:avLst>
              <a:gd name="adj" fmla="val 909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672584" y="4599432"/>
            <a:ext cx="2276856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745736" y="4654296"/>
            <a:ext cx="2130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detalle</a:t>
            </a:r>
            <a:endParaRPr lang="en-US" sz="740" dirty="0"/>
          </a:p>
        </p:txBody>
      </p:sp>
      <p:sp>
        <p:nvSpPr>
          <p:cNvPr id="51" name="Text 48"/>
          <p:cNvSpPr/>
          <p:nvPr/>
        </p:nvSpPr>
        <p:spPr>
          <a:xfrm>
            <a:off x="4526280" y="4946904"/>
            <a:ext cx="2569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visible sigue siendo parte de la familia</a:t>
            </a:r>
            <a:endParaRPr lang="en-US" sz="760" dirty="0"/>
          </a:p>
        </p:txBody>
      </p:sp>
      <p:sp>
        <p:nvSpPr>
          <p:cNvPr id="52" name="Text 49"/>
          <p:cNvSpPr/>
          <p:nvPr/>
        </p:nvSpPr>
        <p:spPr>
          <a:xfrm>
            <a:off x="1060704" y="5559552"/>
            <a:ext cx="6254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Variante no significa pieza nueva: significa misma familia con intención distinta.</a:t>
            </a:r>
            <a:endParaRPr lang="en-US" sz="840" dirty="0"/>
          </a:p>
        </p:txBody>
      </p:sp>
      <p:sp>
        <p:nvSpPr>
          <p:cNvPr id="53" name="Shape 50"/>
          <p:cNvSpPr/>
          <p:nvPr/>
        </p:nvSpPr>
        <p:spPr>
          <a:xfrm>
            <a:off x="7863840" y="2340864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936992" y="2450592"/>
            <a:ext cx="100584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119872" y="246888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Comparten</a:t>
            </a:r>
            <a:endParaRPr lang="en-US" sz="1260" dirty="0"/>
          </a:p>
        </p:txBody>
      </p:sp>
      <p:sp>
        <p:nvSpPr>
          <p:cNvPr id="56" name="Text 53"/>
          <p:cNvSpPr/>
          <p:nvPr/>
        </p:nvSpPr>
        <p:spPr>
          <a:xfrm>
            <a:off x="8119872" y="274320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ritmo, borde, aire y jerarquía básica</a:t>
            </a:r>
            <a:endParaRPr lang="en-US" sz="920" dirty="0"/>
          </a:p>
        </p:txBody>
      </p:sp>
      <p:sp>
        <p:nvSpPr>
          <p:cNvPr id="57" name="Shape 54"/>
          <p:cNvSpPr/>
          <p:nvPr/>
        </p:nvSpPr>
        <p:spPr>
          <a:xfrm>
            <a:off x="7863840" y="3456432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936992" y="3566160"/>
            <a:ext cx="100584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119872" y="358444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Cambian</a:t>
            </a:r>
            <a:endParaRPr lang="en-US" sz="1260" dirty="0"/>
          </a:p>
        </p:txBody>
      </p:sp>
      <p:sp>
        <p:nvSpPr>
          <p:cNvPr id="60" name="Text 57"/>
          <p:cNvSpPr/>
          <p:nvPr/>
        </p:nvSpPr>
        <p:spPr>
          <a:xfrm>
            <a:off x="8119872" y="385876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énfasis, tamaño o contexto sin perder parentesco</a:t>
            </a:r>
            <a:endParaRPr lang="en-US" sz="920" dirty="0"/>
          </a:p>
        </p:txBody>
      </p:sp>
      <p:sp>
        <p:nvSpPr>
          <p:cNvPr id="61" name="Shape 58"/>
          <p:cNvSpPr/>
          <p:nvPr/>
        </p:nvSpPr>
        <p:spPr>
          <a:xfrm>
            <a:off x="7863840" y="4572000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936992" y="4681728"/>
            <a:ext cx="100584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119872" y="470001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Evitan ruido</a:t>
            </a:r>
            <a:endParaRPr lang="en-US" sz="1260" dirty="0"/>
          </a:p>
        </p:txBody>
      </p:sp>
      <p:sp>
        <p:nvSpPr>
          <p:cNvPr id="64" name="Text 61"/>
          <p:cNvSpPr/>
          <p:nvPr/>
        </p:nvSpPr>
        <p:spPr>
          <a:xfrm>
            <a:off x="8119872" y="497433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variedad útil en vez de pequeñas improvisaciones</a:t>
            </a:r>
            <a:endParaRPr lang="en-US" sz="9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también comunica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componente no solo cambia de forma: también cambia de estado y eso debe sentirse parte del mismo sistema visual.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96112" y="2212848"/>
            <a:ext cx="6455664" cy="3456432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340864"/>
            <a:ext cx="619963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414016"/>
            <a:ext cx="5980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Estados de un botón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42416" y="2779776"/>
            <a:ext cx="2999232" cy="1133856"/>
          </a:xfrm>
          <a:prstGeom prst="roundRect">
            <a:avLst>
              <a:gd name="adj" fmla="val 322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33856" y="2889504"/>
            <a:ext cx="73152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89888" y="2907792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3291840" y="2889504"/>
            <a:ext cx="58521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28416" y="293522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298448" y="3200400"/>
            <a:ext cx="2487168" cy="402336"/>
          </a:xfrm>
          <a:prstGeom prst="roundRect">
            <a:avLst>
              <a:gd name="adj" fmla="val 909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444752" y="3291840"/>
            <a:ext cx="2194560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517904" y="3346704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Continuar</a:t>
            </a:r>
            <a:endParaRPr lang="en-US" sz="740" dirty="0"/>
          </a:p>
        </p:txBody>
      </p:sp>
      <p:sp>
        <p:nvSpPr>
          <p:cNvPr id="21" name="Text 18"/>
          <p:cNvSpPr/>
          <p:nvPr/>
        </p:nvSpPr>
        <p:spPr>
          <a:xfrm>
            <a:off x="1298448" y="3639312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 la acción de forma estable</a:t>
            </a:r>
            <a:endParaRPr lang="en-US" sz="760" dirty="0"/>
          </a:p>
        </p:txBody>
      </p:sp>
      <p:sp>
        <p:nvSpPr>
          <p:cNvPr id="22" name="Shape 19"/>
          <p:cNvSpPr/>
          <p:nvPr/>
        </p:nvSpPr>
        <p:spPr>
          <a:xfrm>
            <a:off x="4206240" y="2779776"/>
            <a:ext cx="2999232" cy="1133856"/>
          </a:xfrm>
          <a:prstGeom prst="roundRect">
            <a:avLst>
              <a:gd name="adj" fmla="val 322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97680" y="2889504"/>
            <a:ext cx="73152" cy="9144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53712" y="2907792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Hover</a:t>
            </a:r>
            <a:endParaRPr lang="en-US" sz="1220" dirty="0"/>
          </a:p>
        </p:txBody>
      </p:sp>
      <p:sp>
        <p:nvSpPr>
          <p:cNvPr id="25" name="Shape 22"/>
          <p:cNvSpPr/>
          <p:nvPr/>
        </p:nvSpPr>
        <p:spPr>
          <a:xfrm>
            <a:off x="6455664" y="2889504"/>
            <a:ext cx="58521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293522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hover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4462272" y="3200400"/>
            <a:ext cx="2487168" cy="402336"/>
          </a:xfrm>
          <a:prstGeom prst="roundRect">
            <a:avLst>
              <a:gd name="adj" fmla="val 909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08576" y="3291840"/>
            <a:ext cx="2194560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81728" y="3346704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Continuar</a:t>
            </a:r>
            <a:endParaRPr lang="en-US" sz="740" dirty="0"/>
          </a:p>
        </p:txBody>
      </p:sp>
      <p:sp>
        <p:nvSpPr>
          <p:cNvPr id="30" name="Text 27"/>
          <p:cNvSpPr/>
          <p:nvPr/>
        </p:nvSpPr>
        <p:spPr>
          <a:xfrm>
            <a:off x="4462272" y="3639312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insinúa interacción sin exagerar el gesto</a:t>
            </a:r>
            <a:endParaRPr lang="en-US" sz="760" dirty="0"/>
          </a:p>
        </p:txBody>
      </p:sp>
      <p:sp>
        <p:nvSpPr>
          <p:cNvPr id="31" name="Shape 28"/>
          <p:cNvSpPr/>
          <p:nvPr/>
        </p:nvSpPr>
        <p:spPr>
          <a:xfrm>
            <a:off x="1042416" y="4078224"/>
            <a:ext cx="2999232" cy="1133856"/>
          </a:xfrm>
          <a:prstGeom prst="roundRect">
            <a:avLst>
              <a:gd name="adj" fmla="val 322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133856" y="4187952"/>
            <a:ext cx="73152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389888" y="4206240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Activa</a:t>
            </a:r>
            <a:endParaRPr lang="en-US" sz="1220" dirty="0"/>
          </a:p>
        </p:txBody>
      </p:sp>
      <p:sp>
        <p:nvSpPr>
          <p:cNvPr id="34" name="Shape 31"/>
          <p:cNvSpPr/>
          <p:nvPr/>
        </p:nvSpPr>
        <p:spPr>
          <a:xfrm>
            <a:off x="3291840" y="4187952"/>
            <a:ext cx="58521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328416" y="4233672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1298448" y="4498848"/>
            <a:ext cx="2487168" cy="402336"/>
          </a:xfrm>
          <a:prstGeom prst="roundRect">
            <a:avLst>
              <a:gd name="adj" fmla="val 909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444752" y="4590288"/>
            <a:ext cx="2194560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517904" y="4645152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Confirmado</a:t>
            </a:r>
            <a:endParaRPr lang="en-US" sz="740" dirty="0"/>
          </a:p>
        </p:txBody>
      </p:sp>
      <p:sp>
        <p:nvSpPr>
          <p:cNvPr id="39" name="Text 36"/>
          <p:cNvSpPr/>
          <p:nvPr/>
        </p:nvSpPr>
        <p:spPr>
          <a:xfrm>
            <a:off x="1298448" y="4937760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 foco y respuesta</a:t>
            </a:r>
            <a:endParaRPr lang="en-US" sz="760" dirty="0"/>
          </a:p>
        </p:txBody>
      </p:sp>
      <p:sp>
        <p:nvSpPr>
          <p:cNvPr id="40" name="Shape 37"/>
          <p:cNvSpPr/>
          <p:nvPr/>
        </p:nvSpPr>
        <p:spPr>
          <a:xfrm>
            <a:off x="4206240" y="4078224"/>
            <a:ext cx="2999232" cy="113385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297680" y="4187952"/>
            <a:ext cx="73152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53712" y="4206240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Inactiva</a:t>
            </a:r>
            <a:endParaRPr lang="en-US" sz="1220" dirty="0"/>
          </a:p>
        </p:txBody>
      </p:sp>
      <p:sp>
        <p:nvSpPr>
          <p:cNvPr id="43" name="Shape 40"/>
          <p:cNvSpPr/>
          <p:nvPr/>
        </p:nvSpPr>
        <p:spPr>
          <a:xfrm>
            <a:off x="6455664" y="4187952"/>
            <a:ext cx="58521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492240" y="4233672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disabled</a:t>
            </a:r>
            <a:endParaRPr lang="en-US" sz="780" dirty="0"/>
          </a:p>
        </p:txBody>
      </p:sp>
      <p:sp>
        <p:nvSpPr>
          <p:cNvPr id="45" name="Shape 42"/>
          <p:cNvSpPr/>
          <p:nvPr/>
        </p:nvSpPr>
        <p:spPr>
          <a:xfrm>
            <a:off x="4462272" y="4498848"/>
            <a:ext cx="2487168" cy="402336"/>
          </a:xfrm>
          <a:prstGeom prst="roundRect">
            <a:avLst>
              <a:gd name="adj" fmla="val 909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608576" y="4590288"/>
            <a:ext cx="2194560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681728" y="4645152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Completa datos</a:t>
            </a:r>
            <a:endParaRPr lang="en-US" sz="740" dirty="0"/>
          </a:p>
        </p:txBody>
      </p:sp>
      <p:sp>
        <p:nvSpPr>
          <p:cNvPr id="48" name="Text 45"/>
          <p:cNvSpPr/>
          <p:nvPr/>
        </p:nvSpPr>
        <p:spPr>
          <a:xfrm>
            <a:off x="4462272" y="4937760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 perteneciendo a la familia aunque restrinja la acción</a:t>
            </a:r>
            <a:endParaRPr lang="en-US" sz="760" dirty="0"/>
          </a:p>
        </p:txBody>
      </p:sp>
      <p:sp>
        <p:nvSpPr>
          <p:cNvPr id="49" name="Text 46"/>
          <p:cNvSpPr/>
          <p:nvPr/>
        </p:nvSpPr>
        <p:spPr>
          <a:xfrm>
            <a:off x="1078992" y="5504688"/>
            <a:ext cx="6089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claro = menos ambigüedad para quien usa la interfaz.</a:t>
            </a:r>
            <a:endParaRPr lang="en-US" sz="840" dirty="0"/>
          </a:p>
        </p:txBody>
      </p:sp>
      <p:sp>
        <p:nvSpPr>
          <p:cNvPr id="50" name="Shape 47"/>
          <p:cNvSpPr/>
          <p:nvPr/>
        </p:nvSpPr>
        <p:spPr>
          <a:xfrm>
            <a:off x="7754112" y="2286000"/>
            <a:ext cx="2816352" cy="969264"/>
          </a:xfrm>
          <a:prstGeom prst="roundRect">
            <a:avLst>
              <a:gd name="adj" fmla="val 377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845552" y="2414016"/>
            <a:ext cx="109728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10144" y="23957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Default</a:t>
            </a:r>
            <a:endParaRPr lang="en-US" sz="1320" dirty="0"/>
          </a:p>
        </p:txBody>
      </p:sp>
      <p:sp>
        <p:nvSpPr>
          <p:cNvPr id="53" name="Text 50"/>
          <p:cNvSpPr/>
          <p:nvPr/>
        </p:nvSpPr>
        <p:spPr>
          <a:xfrm>
            <a:off x="8010144" y="2670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 la acción sin competir con todo lo demás.</a:t>
            </a:r>
            <a:endParaRPr lang="en-US" sz="920" dirty="0"/>
          </a:p>
        </p:txBody>
      </p:sp>
      <p:sp>
        <p:nvSpPr>
          <p:cNvPr id="54" name="Shape 51"/>
          <p:cNvSpPr/>
          <p:nvPr/>
        </p:nvSpPr>
        <p:spPr>
          <a:xfrm>
            <a:off x="7754112" y="3493008"/>
            <a:ext cx="2816352" cy="969264"/>
          </a:xfrm>
          <a:prstGeom prst="roundRect">
            <a:avLst>
              <a:gd name="adj" fmla="val 377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845552" y="3621024"/>
            <a:ext cx="109728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010144" y="360273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Activo / foco</a:t>
            </a:r>
            <a:endParaRPr lang="en-US" sz="1320" dirty="0"/>
          </a:p>
        </p:txBody>
      </p:sp>
      <p:sp>
        <p:nvSpPr>
          <p:cNvPr id="57" name="Text 54"/>
          <p:cNvSpPr/>
          <p:nvPr/>
        </p:nvSpPr>
        <p:spPr>
          <a:xfrm>
            <a:off x="8010144" y="38770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 respuesta o interacción presente sin cambiar de idioma visual.</a:t>
            </a:r>
            <a:endParaRPr lang="en-US" sz="910" dirty="0"/>
          </a:p>
        </p:txBody>
      </p:sp>
      <p:sp>
        <p:nvSpPr>
          <p:cNvPr id="58" name="Shape 55"/>
          <p:cNvSpPr/>
          <p:nvPr/>
        </p:nvSpPr>
        <p:spPr>
          <a:xfrm>
            <a:off x="7754112" y="4700016"/>
            <a:ext cx="2816352" cy="932688"/>
          </a:xfrm>
          <a:prstGeom prst="roundRect">
            <a:avLst>
              <a:gd name="adj" fmla="val 392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845552" y="4828032"/>
            <a:ext cx="109728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010144" y="48097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Disabled</a:t>
            </a:r>
            <a:endParaRPr lang="en-US" sz="1320" dirty="0"/>
          </a:p>
        </p:txBody>
      </p:sp>
      <p:sp>
        <p:nvSpPr>
          <p:cNvPr id="61" name="Text 58"/>
          <p:cNvSpPr/>
          <p:nvPr/>
        </p:nvSpPr>
        <p:spPr>
          <a:xfrm>
            <a:off x="8010144" y="50657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previene error, pero sigue siendo parte del mismo sistema.</a:t>
            </a:r>
            <a:endParaRPr lang="en-US" sz="9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 también vive dentro del componente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pieza útil no solo se reutiliza: también mantiene claridad cuando cambia el contexto donde aparece.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77824" y="2194560"/>
            <a:ext cx="6565392" cy="3584448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322576"/>
            <a:ext cx="630936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95728"/>
            <a:ext cx="6089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card en distintos anchos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724912"/>
            <a:ext cx="1944624" cy="2432304"/>
          </a:xfrm>
          <a:prstGeom prst="roundRect">
            <a:avLst>
              <a:gd name="adj" fmla="val 1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78992" y="2724912"/>
            <a:ext cx="73152" cy="2432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43584" y="2871216"/>
            <a:ext cx="829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Desktop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2145792" y="2852928"/>
            <a:ext cx="713232" cy="219456"/>
          </a:xfrm>
          <a:prstGeom prst="roundRect">
            <a:avLst>
              <a:gd name="adj" fmla="val 125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00656" y="2907792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1280 px</a:t>
            </a:r>
            <a:endParaRPr lang="en-US" sz="810" dirty="0"/>
          </a:p>
        </p:txBody>
      </p:sp>
      <p:sp>
        <p:nvSpPr>
          <p:cNvPr id="18" name="Shape 15"/>
          <p:cNvSpPr/>
          <p:nvPr/>
        </p:nvSpPr>
        <p:spPr>
          <a:xfrm>
            <a:off x="1225296" y="3218688"/>
            <a:ext cx="1652016" cy="1554480"/>
          </a:xfrm>
          <a:prstGeom prst="roundRect">
            <a:avLst>
              <a:gd name="adj" fmla="val 1765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25296" y="3218688"/>
            <a:ext cx="1652016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316736" y="3300984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08176" y="3300984"/>
            <a:ext cx="45720" cy="457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99616" y="3300984"/>
            <a:ext cx="45720" cy="4572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335024" y="3529584"/>
            <a:ext cx="1432560" cy="200802"/>
          </a:xfrm>
          <a:prstGeom prst="roundRect">
            <a:avLst>
              <a:gd name="adj" fmla="val 910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35024" y="3803538"/>
            <a:ext cx="830885" cy="640446"/>
          </a:xfrm>
          <a:prstGeom prst="roundRect">
            <a:avLst>
              <a:gd name="adj" fmla="val 28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239061" y="3803538"/>
            <a:ext cx="528523" cy="283647"/>
          </a:xfrm>
          <a:prstGeom prst="roundRect">
            <a:avLst>
              <a:gd name="adj" fmla="val 644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239061" y="4160337"/>
            <a:ext cx="528523" cy="283647"/>
          </a:xfrm>
          <a:prstGeom prst="roundRect">
            <a:avLst>
              <a:gd name="adj" fmla="val 644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243584" y="4919472"/>
            <a:ext cx="1615440" cy="146304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16736" y="4956048"/>
            <a:ext cx="14691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imagen lateral y lectura acompasada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3051048" y="3822192"/>
            <a:ext cx="109728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188208" y="2724912"/>
            <a:ext cx="1944624" cy="2432304"/>
          </a:xfrm>
          <a:prstGeom prst="roundRect">
            <a:avLst>
              <a:gd name="adj" fmla="val 1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188208" y="2724912"/>
            <a:ext cx="73152" cy="24323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52800" y="2871216"/>
            <a:ext cx="829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Tablet</a:t>
            </a:r>
            <a:endParaRPr lang="en-US" sz="1140" dirty="0"/>
          </a:p>
        </p:txBody>
      </p:sp>
      <p:sp>
        <p:nvSpPr>
          <p:cNvPr id="33" name="Shape 30"/>
          <p:cNvSpPr/>
          <p:nvPr/>
        </p:nvSpPr>
        <p:spPr>
          <a:xfrm>
            <a:off x="4255008" y="2852928"/>
            <a:ext cx="713232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309872" y="2907792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820 px</a:t>
            </a:r>
            <a:endParaRPr lang="en-US" sz="810" dirty="0"/>
          </a:p>
        </p:txBody>
      </p:sp>
      <p:sp>
        <p:nvSpPr>
          <p:cNvPr id="35" name="Shape 32"/>
          <p:cNvSpPr/>
          <p:nvPr/>
        </p:nvSpPr>
        <p:spPr>
          <a:xfrm>
            <a:off x="3334512" y="3218688"/>
            <a:ext cx="1652016" cy="1554480"/>
          </a:xfrm>
          <a:prstGeom prst="roundRect">
            <a:avLst>
              <a:gd name="adj" fmla="val 1765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334512" y="3218688"/>
            <a:ext cx="1652016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425952" y="3300984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517392" y="3300984"/>
            <a:ext cx="45720" cy="457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608832" y="3300984"/>
            <a:ext cx="45720" cy="4572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444240" y="3529584"/>
            <a:ext cx="1432560" cy="200802"/>
          </a:xfrm>
          <a:prstGeom prst="roundRect">
            <a:avLst>
              <a:gd name="adj" fmla="val 9107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444240" y="3803538"/>
            <a:ext cx="679704" cy="290048"/>
          </a:xfrm>
          <a:prstGeom prst="roundRect">
            <a:avLst>
              <a:gd name="adj" fmla="val 630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97096" y="3803538"/>
            <a:ext cx="679704" cy="290048"/>
          </a:xfrm>
          <a:prstGeom prst="roundRect">
            <a:avLst>
              <a:gd name="adj" fmla="val 63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444240" y="4166738"/>
            <a:ext cx="1432560" cy="478414"/>
          </a:xfrm>
          <a:prstGeom prst="roundRect">
            <a:avLst>
              <a:gd name="adj" fmla="val 382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352800" y="4919472"/>
            <a:ext cx="1615440" cy="146304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425952" y="4956048"/>
            <a:ext cx="14691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reordena bloques sin perder foco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5160264" y="3822192"/>
            <a:ext cx="109728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297424" y="2724912"/>
            <a:ext cx="1944624" cy="2432304"/>
          </a:xfrm>
          <a:prstGeom prst="roundRect">
            <a:avLst>
              <a:gd name="adj" fmla="val 1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297424" y="2724912"/>
            <a:ext cx="73152" cy="2432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462016" y="2871216"/>
            <a:ext cx="829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Móvil</a:t>
            </a:r>
            <a:endParaRPr lang="en-US" sz="1140" dirty="0"/>
          </a:p>
        </p:txBody>
      </p:sp>
      <p:sp>
        <p:nvSpPr>
          <p:cNvPr id="50" name="Shape 47"/>
          <p:cNvSpPr/>
          <p:nvPr/>
        </p:nvSpPr>
        <p:spPr>
          <a:xfrm>
            <a:off x="6364224" y="2852928"/>
            <a:ext cx="713232" cy="219456"/>
          </a:xfrm>
          <a:prstGeom prst="roundRect">
            <a:avLst>
              <a:gd name="adj" fmla="val 125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19088" y="2907792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390 px</a:t>
            </a:r>
            <a:endParaRPr lang="en-US" sz="810" dirty="0"/>
          </a:p>
        </p:txBody>
      </p:sp>
      <p:sp>
        <p:nvSpPr>
          <p:cNvPr id="52" name="Shape 49"/>
          <p:cNvSpPr/>
          <p:nvPr/>
        </p:nvSpPr>
        <p:spPr>
          <a:xfrm>
            <a:off x="5443728" y="3218688"/>
            <a:ext cx="1652016" cy="1554480"/>
          </a:xfrm>
          <a:prstGeom prst="roundRect">
            <a:avLst>
              <a:gd name="adj" fmla="val 1765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443728" y="3218688"/>
            <a:ext cx="1652016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535168" y="3300984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626608" y="3300984"/>
            <a:ext cx="45720" cy="457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718048" y="3300984"/>
            <a:ext cx="45720" cy="4572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553456" y="3529584"/>
            <a:ext cx="1432560" cy="200802"/>
          </a:xfrm>
          <a:prstGeom prst="roundRect">
            <a:avLst>
              <a:gd name="adj" fmla="val 910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553456" y="3803538"/>
            <a:ext cx="1432560" cy="231770"/>
          </a:xfrm>
          <a:prstGeom prst="roundRect">
            <a:avLst>
              <a:gd name="adj" fmla="val 789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553456" y="4108460"/>
            <a:ext cx="1432560" cy="231770"/>
          </a:xfrm>
          <a:prstGeom prst="roundRect">
            <a:avLst>
              <a:gd name="adj" fmla="val 78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553456" y="4413382"/>
            <a:ext cx="1432560" cy="231770"/>
          </a:xfrm>
          <a:prstGeom prst="roundRect">
            <a:avLst>
              <a:gd name="adj" fmla="val 78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462016" y="4919472"/>
            <a:ext cx="1615440" cy="146304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535168" y="4956048"/>
            <a:ext cx="14691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apila, simplifica y mantiene CTA visible</a:t>
            </a:r>
            <a:endParaRPr lang="en-US" sz="780" dirty="0"/>
          </a:p>
        </p:txBody>
      </p:sp>
      <p:sp>
        <p:nvSpPr>
          <p:cNvPr id="63" name="Text 60"/>
          <p:cNvSpPr/>
          <p:nvPr/>
        </p:nvSpPr>
        <p:spPr>
          <a:xfrm>
            <a:off x="1060704" y="5614416"/>
            <a:ext cx="6199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pieza cambia de relación interna antes de perder sentido.</a:t>
            </a:r>
            <a:endParaRPr lang="en-US" sz="840" dirty="0"/>
          </a:p>
        </p:txBody>
      </p:sp>
      <p:sp>
        <p:nvSpPr>
          <p:cNvPr id="64" name="Shape 61"/>
          <p:cNvSpPr/>
          <p:nvPr/>
        </p:nvSpPr>
        <p:spPr>
          <a:xfrm>
            <a:off x="7827264" y="2322576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900416" y="2432304"/>
            <a:ext cx="100584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083296" y="245059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Legibilidad</a:t>
            </a:r>
            <a:endParaRPr lang="en-US" sz="1260" dirty="0"/>
          </a:p>
        </p:txBody>
      </p:sp>
      <p:sp>
        <p:nvSpPr>
          <p:cNvPr id="67" name="Text 64"/>
          <p:cNvSpPr/>
          <p:nvPr/>
        </p:nvSpPr>
        <p:spPr>
          <a:xfrm>
            <a:off x="8083296" y="272491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y acciones siguen abriendo la lectura</a:t>
            </a:r>
            <a:endParaRPr lang="en-US" sz="920" dirty="0"/>
          </a:p>
        </p:txBody>
      </p:sp>
      <p:sp>
        <p:nvSpPr>
          <p:cNvPr id="68" name="Shape 65"/>
          <p:cNvSpPr/>
          <p:nvPr/>
        </p:nvSpPr>
        <p:spPr>
          <a:xfrm>
            <a:off x="7827264" y="3456432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900416" y="3566160"/>
            <a:ext cx="100584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083296" y="358444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Jerarquía</a:t>
            </a:r>
            <a:endParaRPr lang="en-US" sz="1260" dirty="0"/>
          </a:p>
        </p:txBody>
      </p:sp>
      <p:sp>
        <p:nvSpPr>
          <p:cNvPr id="71" name="Text 68"/>
          <p:cNvSpPr/>
          <p:nvPr/>
        </p:nvSpPr>
        <p:spPr>
          <a:xfrm>
            <a:off x="8083296" y="385876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 el orden, no el sentido de la pieza</a:t>
            </a:r>
            <a:endParaRPr lang="en-US" sz="920" dirty="0"/>
          </a:p>
        </p:txBody>
      </p:sp>
      <p:sp>
        <p:nvSpPr>
          <p:cNvPr id="72" name="Shape 69"/>
          <p:cNvSpPr/>
          <p:nvPr/>
        </p:nvSpPr>
        <p:spPr>
          <a:xfrm>
            <a:off x="7827264" y="4590288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900416" y="4700016"/>
            <a:ext cx="100584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083296" y="471830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Aire</a:t>
            </a:r>
            <a:endParaRPr lang="en-US" sz="1260" dirty="0"/>
          </a:p>
        </p:txBody>
      </p:sp>
      <p:sp>
        <p:nvSpPr>
          <p:cNvPr id="75" name="Text 72"/>
          <p:cNvSpPr/>
          <p:nvPr/>
        </p:nvSpPr>
        <p:spPr>
          <a:xfrm>
            <a:off x="8083296" y="49926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no consiste en apretar todo dentro</a:t>
            </a:r>
            <a:endParaRPr lang="en-US" sz="9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Consistencia visual no significa clonar todo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buena consistencia repite decisiones con criterio. La rigidez, en cambio, repite sin entender qué parte importa conservar.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77824" y="2139696"/>
            <a:ext cx="9930384" cy="3822192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267712"/>
            <a:ext cx="967435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40864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Repetir con criterio vs repetir por accidente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24128" y="2706624"/>
            <a:ext cx="4727448" cy="2798064"/>
          </a:xfrm>
          <a:prstGeom prst="roundRect">
            <a:avLst>
              <a:gd name="adj" fmla="val 130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33856" y="2834640"/>
            <a:ext cx="91440" cy="25420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16736" y="2834640"/>
            <a:ext cx="4306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Rigidez accidental</a:t>
            </a:r>
            <a:endParaRPr lang="en-US" sz="1280" dirty="0"/>
          </a:p>
        </p:txBody>
      </p:sp>
      <p:sp>
        <p:nvSpPr>
          <p:cNvPr id="16" name="Text 13"/>
          <p:cNvSpPr/>
          <p:nvPr/>
        </p:nvSpPr>
        <p:spPr>
          <a:xfrm>
            <a:off x="1316736" y="3035808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pieza se repite, pero cambia por descuido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1316736" y="3364992"/>
            <a:ext cx="4215384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35024" y="3401568"/>
            <a:ext cx="73152" cy="2011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63040" y="3447288"/>
            <a:ext cx="4050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 A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1353312" y="3694176"/>
            <a:ext cx="4014216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71600" y="3730752"/>
            <a:ext cx="73152" cy="2011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776472"/>
            <a:ext cx="3849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 B</a:t>
            </a:r>
            <a:endParaRPr lang="en-US" sz="840" dirty="0"/>
          </a:p>
        </p:txBody>
      </p:sp>
      <p:sp>
        <p:nvSpPr>
          <p:cNvPr id="23" name="Shape 20"/>
          <p:cNvSpPr/>
          <p:nvPr/>
        </p:nvSpPr>
        <p:spPr>
          <a:xfrm>
            <a:off x="1389888" y="4023360"/>
            <a:ext cx="4123944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08176" y="4059936"/>
            <a:ext cx="73152" cy="2011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36192" y="4105656"/>
            <a:ext cx="3959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 C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1316736" y="4425696"/>
            <a:ext cx="42702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pantalla parece traer una versión nueva del mismo bloque. Cambia el borde, el aire o la acción sin que exista una regla visible.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5934456" y="2706624"/>
            <a:ext cx="4727448" cy="2798064"/>
          </a:xfrm>
          <a:prstGeom prst="roundRect">
            <a:avLst>
              <a:gd name="adj" fmla="val 130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44184" y="2834640"/>
            <a:ext cx="91440" cy="25420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27064" y="2834640"/>
            <a:ext cx="4306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Consistencia útil</a:t>
            </a:r>
            <a:endParaRPr lang="en-US" sz="1280" dirty="0"/>
          </a:p>
        </p:txBody>
      </p:sp>
      <p:sp>
        <p:nvSpPr>
          <p:cNvPr id="30" name="Text 27"/>
          <p:cNvSpPr/>
          <p:nvPr/>
        </p:nvSpPr>
        <p:spPr>
          <a:xfrm>
            <a:off x="6227064" y="3035808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familia comparte reglas y permite variantes</a:t>
            </a:r>
            <a:endParaRPr lang="en-US" sz="840" dirty="0"/>
          </a:p>
        </p:txBody>
      </p:sp>
      <p:sp>
        <p:nvSpPr>
          <p:cNvPr id="31" name="Shape 28"/>
          <p:cNvSpPr/>
          <p:nvPr/>
        </p:nvSpPr>
        <p:spPr>
          <a:xfrm>
            <a:off x="6227064" y="3383280"/>
            <a:ext cx="4270248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245352" y="3456432"/>
            <a:ext cx="73152" cy="2011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27064" y="3712464"/>
            <a:ext cx="4270248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245352" y="3858768"/>
            <a:ext cx="73152" cy="2011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227064" y="4041648"/>
            <a:ext cx="4270248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45352" y="4261104"/>
            <a:ext cx="73152" cy="2011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227064" y="4443984"/>
            <a:ext cx="4270248" cy="27432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27064" y="4809744"/>
            <a:ext cx="4270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piezas comparten ritmo, borde, acento y jerarquía. Cambian por intención de uso, no por accidente visual.</a:t>
            </a:r>
            <a:endParaRPr lang="en-US" sz="860" dirty="0"/>
          </a:p>
        </p:txBody>
      </p:sp>
      <p:sp>
        <p:nvSpPr>
          <p:cNvPr id="39" name="Text 36"/>
          <p:cNvSpPr/>
          <p:nvPr/>
        </p:nvSpPr>
        <p:spPr>
          <a:xfrm>
            <a:off x="1060704" y="5797296"/>
            <a:ext cx="9564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Consistencia madura = menos ruido y cambios más razonables de sostener.</a:t>
            </a:r>
            <a:endParaRPr lang="en-US" sz="84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común: repetir piezas casi iguales por toda la interfaz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vista parece orden, pero en realidad es deuda visual escondida en pequeñas variaciones sin sistema.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77824" y="2249424"/>
            <a:ext cx="3877056" cy="2980944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249424"/>
            <a:ext cx="3877056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4128" y="2377440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70432" y="2377440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316736" y="2377440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2350008"/>
            <a:ext cx="2962656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91056" y="2386584"/>
            <a:ext cx="2670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https://demo.local/patches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1042416" y="2724912"/>
            <a:ext cx="3547872" cy="384048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52144" y="2825496"/>
            <a:ext cx="3328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 parcheada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1042416" y="3236976"/>
            <a:ext cx="1170432" cy="1737360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359152" y="3236976"/>
            <a:ext cx="223113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359152" y="3877056"/>
            <a:ext cx="2231136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59152" y="4681728"/>
            <a:ext cx="2231136" cy="566928"/>
          </a:xfrm>
          <a:prstGeom prst="roundRect">
            <a:avLst>
              <a:gd name="adj" fmla="val 645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230368" y="2231136"/>
            <a:ext cx="5157216" cy="1060704"/>
          </a:xfrm>
          <a:prstGeom prst="roundRect">
            <a:avLst>
              <a:gd name="adj" fmla="val 344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21808" y="2359152"/>
            <a:ext cx="109728" cy="8046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0" y="2340864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Síntoma</a:t>
            </a:r>
            <a:endParaRPr lang="en-US" sz="1440" dirty="0"/>
          </a:p>
        </p:txBody>
      </p:sp>
      <p:sp>
        <p:nvSpPr>
          <p:cNvPr id="26" name="Text 23"/>
          <p:cNvSpPr/>
          <p:nvPr/>
        </p:nvSpPr>
        <p:spPr>
          <a:xfrm>
            <a:off x="5486400" y="2651760"/>
            <a:ext cx="4809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parece estable hasta que un pequeño cambio obliga a tocar cinco versiones casi idénticas del mismo bloque.</a:t>
            </a:r>
            <a:endParaRPr lang="en-US" sz="970" dirty="0"/>
          </a:p>
        </p:txBody>
      </p:sp>
      <p:sp>
        <p:nvSpPr>
          <p:cNvPr id="27" name="Shape 24"/>
          <p:cNvSpPr/>
          <p:nvPr/>
        </p:nvSpPr>
        <p:spPr>
          <a:xfrm>
            <a:off x="5248656" y="3547872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321808" y="3657600"/>
            <a:ext cx="100584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04688" y="367588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Bordes distintos</a:t>
            </a:r>
            <a:endParaRPr lang="en-US" sz="1260" dirty="0"/>
          </a:p>
        </p:txBody>
      </p:sp>
      <p:sp>
        <p:nvSpPr>
          <p:cNvPr id="30" name="Text 27"/>
          <p:cNvSpPr/>
          <p:nvPr/>
        </p:nvSpPr>
        <p:spPr>
          <a:xfrm>
            <a:off x="5504688" y="395020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card cambia grosor o radio sin razón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7589520" y="3547872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662672" y="3657600"/>
            <a:ext cx="100584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45552" y="367588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Espaciado desigual</a:t>
            </a:r>
            <a:endParaRPr lang="en-US" sz="1260" dirty="0"/>
          </a:p>
        </p:txBody>
      </p:sp>
      <p:sp>
        <p:nvSpPr>
          <p:cNvPr id="34" name="Text 31"/>
          <p:cNvSpPr/>
          <p:nvPr/>
        </p:nvSpPr>
        <p:spPr>
          <a:xfrm>
            <a:off x="7845552" y="395020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familia pierde ritmo entre pantallas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5248656" y="4681728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321808" y="4791456"/>
            <a:ext cx="100584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504688" y="480974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CTA inestable</a:t>
            </a:r>
            <a:endParaRPr lang="en-US" sz="1260" dirty="0"/>
          </a:p>
        </p:txBody>
      </p:sp>
      <p:sp>
        <p:nvSpPr>
          <p:cNvPr id="38" name="Text 35"/>
          <p:cNvSpPr/>
          <p:nvPr/>
        </p:nvSpPr>
        <p:spPr>
          <a:xfrm>
            <a:off x="5504688" y="508406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llamado cambia tamaño o tono sin regla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7589520" y="4681728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662672" y="4791456"/>
            <a:ext cx="100584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45552" y="480974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 frágil</a:t>
            </a:r>
            <a:endParaRPr lang="en-US" sz="1260" dirty="0"/>
          </a:p>
        </p:txBody>
      </p:sp>
      <p:sp>
        <p:nvSpPr>
          <p:cNvPr id="42" name="Text 39"/>
          <p:cNvSpPr/>
          <p:nvPr/>
        </p:nvSpPr>
        <p:spPr>
          <a:xfrm>
            <a:off x="7845552" y="508406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versión responde distinto al ancho</a:t>
            </a:r>
            <a:endParaRPr lang="en-US" sz="9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sistema pequeño puede nacer temprano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hace falta una biblioteca enorme para empezar a ordenar decisiones: bastan pocas piezas compartidas y algunas reglas visibles.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77824" y="2176272"/>
            <a:ext cx="6327648" cy="3584448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304288"/>
            <a:ext cx="6071616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774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mínimas que ya conviene compartir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60704" y="2834640"/>
            <a:ext cx="1367028" cy="2414016"/>
          </a:xfrm>
          <a:prstGeom prst="roundRect">
            <a:avLst>
              <a:gd name="adj" fmla="val 267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834640"/>
            <a:ext cx="91440" cy="24140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43584" y="2980944"/>
            <a:ext cx="11109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Color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1207008" y="3328416"/>
            <a:ext cx="109270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80160" y="34290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99616" y="3401568"/>
            <a:ext cx="6172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--brand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499616" y="3529584"/>
            <a:ext cx="6172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#D62027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1207008" y="3840480"/>
            <a:ext cx="109270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80160" y="394106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913632"/>
            <a:ext cx="6172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--text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499616" y="4041648"/>
            <a:ext cx="6172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#102A43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2592324" y="2834640"/>
            <a:ext cx="1367028" cy="2414016"/>
          </a:xfrm>
          <a:prstGeom prst="roundRect">
            <a:avLst>
              <a:gd name="adj" fmla="val 267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592324" y="2834640"/>
            <a:ext cx="91440" cy="24140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75204" y="2980944"/>
            <a:ext cx="11109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Espacio</a:t>
            </a:r>
            <a:endParaRPr lang="en-US" sz="1220" dirty="0"/>
          </a:p>
        </p:txBody>
      </p:sp>
      <p:sp>
        <p:nvSpPr>
          <p:cNvPr id="27" name="Shape 24"/>
          <p:cNvSpPr/>
          <p:nvPr/>
        </p:nvSpPr>
        <p:spPr>
          <a:xfrm>
            <a:off x="2738628" y="3328416"/>
            <a:ext cx="109270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11780" y="3401568"/>
            <a:ext cx="8915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--space-sm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2811780" y="3529584"/>
            <a:ext cx="8915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8px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2738628" y="3840480"/>
            <a:ext cx="109270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811780" y="3913632"/>
            <a:ext cx="8915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--space-md</a:t>
            </a:r>
            <a:endParaRPr lang="en-US" sz="820" dirty="0"/>
          </a:p>
        </p:txBody>
      </p:sp>
      <p:sp>
        <p:nvSpPr>
          <p:cNvPr id="32" name="Text 29"/>
          <p:cNvSpPr/>
          <p:nvPr/>
        </p:nvSpPr>
        <p:spPr>
          <a:xfrm>
            <a:off x="2811780" y="4041648"/>
            <a:ext cx="8915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16px</a:t>
            </a:r>
            <a:endParaRPr lang="en-US" sz="840" dirty="0"/>
          </a:p>
        </p:txBody>
      </p:sp>
      <p:sp>
        <p:nvSpPr>
          <p:cNvPr id="33" name="Shape 30"/>
          <p:cNvSpPr/>
          <p:nvPr/>
        </p:nvSpPr>
        <p:spPr>
          <a:xfrm>
            <a:off x="4123944" y="2834640"/>
            <a:ext cx="1367028" cy="2414016"/>
          </a:xfrm>
          <a:prstGeom prst="roundRect">
            <a:avLst>
              <a:gd name="adj" fmla="val 267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123944" y="2834640"/>
            <a:ext cx="91440" cy="24140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306824" y="2980944"/>
            <a:ext cx="11109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Superficie</a:t>
            </a:r>
            <a:endParaRPr lang="en-US" sz="1220" dirty="0"/>
          </a:p>
        </p:txBody>
      </p:sp>
      <p:sp>
        <p:nvSpPr>
          <p:cNvPr id="36" name="Shape 33"/>
          <p:cNvSpPr/>
          <p:nvPr/>
        </p:nvSpPr>
        <p:spPr>
          <a:xfrm>
            <a:off x="4270248" y="3328416"/>
            <a:ext cx="109270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343400" y="34290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62856" y="3401568"/>
            <a:ext cx="6172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--surface</a:t>
            </a:r>
            <a:endParaRPr lang="en-US" sz="820" dirty="0"/>
          </a:p>
        </p:txBody>
      </p:sp>
      <p:sp>
        <p:nvSpPr>
          <p:cNvPr id="39" name="Text 36"/>
          <p:cNvSpPr/>
          <p:nvPr/>
        </p:nvSpPr>
        <p:spPr>
          <a:xfrm>
            <a:off x="4562856" y="3529584"/>
            <a:ext cx="6172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#FFFFFF</a:t>
            </a:r>
            <a:endParaRPr lang="en-US" sz="840" dirty="0"/>
          </a:p>
        </p:txBody>
      </p:sp>
      <p:sp>
        <p:nvSpPr>
          <p:cNvPr id="40" name="Shape 37"/>
          <p:cNvSpPr/>
          <p:nvPr/>
        </p:nvSpPr>
        <p:spPr>
          <a:xfrm>
            <a:off x="4270248" y="3840480"/>
            <a:ext cx="109270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343400" y="3913632"/>
            <a:ext cx="8915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--radius-md</a:t>
            </a:r>
            <a:endParaRPr lang="en-US" sz="820" dirty="0"/>
          </a:p>
        </p:txBody>
      </p:sp>
      <p:sp>
        <p:nvSpPr>
          <p:cNvPr id="42" name="Text 39"/>
          <p:cNvSpPr/>
          <p:nvPr/>
        </p:nvSpPr>
        <p:spPr>
          <a:xfrm>
            <a:off x="4343400" y="4041648"/>
            <a:ext cx="8915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12px</a:t>
            </a:r>
            <a:endParaRPr lang="en-US" sz="840" dirty="0"/>
          </a:p>
        </p:txBody>
      </p:sp>
      <p:sp>
        <p:nvSpPr>
          <p:cNvPr id="43" name="Shape 40"/>
          <p:cNvSpPr/>
          <p:nvPr/>
        </p:nvSpPr>
        <p:spPr>
          <a:xfrm>
            <a:off x="5655564" y="2834640"/>
            <a:ext cx="1367028" cy="2414016"/>
          </a:xfrm>
          <a:prstGeom prst="roundRect">
            <a:avLst>
              <a:gd name="adj" fmla="val 267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655564" y="2834640"/>
            <a:ext cx="91440" cy="24140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838444" y="2980944"/>
            <a:ext cx="11109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Acción</a:t>
            </a:r>
            <a:endParaRPr lang="en-US" sz="1220" dirty="0"/>
          </a:p>
        </p:txBody>
      </p:sp>
      <p:sp>
        <p:nvSpPr>
          <p:cNvPr id="46" name="Shape 43"/>
          <p:cNvSpPr/>
          <p:nvPr/>
        </p:nvSpPr>
        <p:spPr>
          <a:xfrm>
            <a:off x="5801868" y="3328416"/>
            <a:ext cx="109270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875020" y="3401568"/>
            <a:ext cx="8915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--cta</a:t>
            </a:r>
            <a:endParaRPr lang="en-US" sz="820" dirty="0"/>
          </a:p>
        </p:txBody>
      </p:sp>
      <p:sp>
        <p:nvSpPr>
          <p:cNvPr id="48" name="Text 45"/>
          <p:cNvSpPr/>
          <p:nvPr/>
        </p:nvSpPr>
        <p:spPr>
          <a:xfrm>
            <a:off x="5875020" y="3529584"/>
            <a:ext cx="8915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 / enlace</a:t>
            </a:r>
            <a:endParaRPr lang="en-US" sz="840" dirty="0"/>
          </a:p>
        </p:txBody>
      </p:sp>
      <p:sp>
        <p:nvSpPr>
          <p:cNvPr id="49" name="Shape 46"/>
          <p:cNvSpPr/>
          <p:nvPr/>
        </p:nvSpPr>
        <p:spPr>
          <a:xfrm>
            <a:off x="5801868" y="3840480"/>
            <a:ext cx="109270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875020" y="3913632"/>
            <a:ext cx="8915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--card-base</a:t>
            </a:r>
            <a:endParaRPr lang="en-US" sz="820" dirty="0"/>
          </a:p>
        </p:txBody>
      </p:sp>
      <p:sp>
        <p:nvSpPr>
          <p:cNvPr id="51" name="Text 48"/>
          <p:cNvSpPr/>
          <p:nvPr/>
        </p:nvSpPr>
        <p:spPr>
          <a:xfrm>
            <a:off x="5875020" y="4041648"/>
            <a:ext cx="8915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base</a:t>
            </a:r>
            <a:endParaRPr lang="en-US" sz="840" dirty="0"/>
          </a:p>
        </p:txBody>
      </p:sp>
      <p:sp>
        <p:nvSpPr>
          <p:cNvPr id="52" name="Text 49"/>
          <p:cNvSpPr/>
          <p:nvPr/>
        </p:nvSpPr>
        <p:spPr>
          <a:xfrm>
            <a:off x="1060704" y="5596128"/>
            <a:ext cx="5961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estas decisiones se nombran, los componentes dejan de depender de memoria o intuición aislada.</a:t>
            </a:r>
            <a:endParaRPr lang="en-US" sz="840" dirty="0"/>
          </a:p>
        </p:txBody>
      </p:sp>
      <p:sp>
        <p:nvSpPr>
          <p:cNvPr id="53" name="Shape 50"/>
          <p:cNvSpPr/>
          <p:nvPr/>
        </p:nvSpPr>
        <p:spPr>
          <a:xfrm>
            <a:off x="7443216" y="2249424"/>
            <a:ext cx="3090672" cy="2322576"/>
          </a:xfrm>
          <a:prstGeom prst="roundRect">
            <a:avLst>
              <a:gd name="adj" fmla="val 15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571232" y="2377440"/>
            <a:ext cx="2834640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680960" y="2450592"/>
            <a:ext cx="2615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token a la interfaz</a:t>
            </a:r>
            <a:endParaRPr lang="en-US" sz="980" dirty="0"/>
          </a:p>
        </p:txBody>
      </p:sp>
      <p:sp>
        <p:nvSpPr>
          <p:cNvPr id="56" name="Shape 53"/>
          <p:cNvSpPr/>
          <p:nvPr/>
        </p:nvSpPr>
        <p:spPr>
          <a:xfrm>
            <a:off x="7607808" y="3054096"/>
            <a:ext cx="0" cy="45720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754112" y="2926080"/>
            <a:ext cx="1225296" cy="256032"/>
          </a:xfrm>
          <a:prstGeom prst="roundRect">
            <a:avLst>
              <a:gd name="adj" fmla="val 10714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827264" y="2985516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</a:t>
            </a:r>
            <a:endParaRPr lang="en-US" sz="880" dirty="0"/>
          </a:p>
        </p:txBody>
      </p:sp>
      <p:sp>
        <p:nvSpPr>
          <p:cNvPr id="59" name="Shape 56"/>
          <p:cNvSpPr/>
          <p:nvPr/>
        </p:nvSpPr>
        <p:spPr>
          <a:xfrm>
            <a:off x="8540496" y="3511296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686800" y="3383280"/>
            <a:ext cx="1225296" cy="256032"/>
          </a:xfrm>
          <a:prstGeom prst="roundRect">
            <a:avLst>
              <a:gd name="adj" fmla="val 10714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759952" y="3442716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</a:t>
            </a:r>
            <a:endParaRPr lang="en-US" sz="880" dirty="0"/>
          </a:p>
        </p:txBody>
      </p:sp>
      <p:sp>
        <p:nvSpPr>
          <p:cNvPr id="62" name="Shape 59"/>
          <p:cNvSpPr/>
          <p:nvPr/>
        </p:nvSpPr>
        <p:spPr>
          <a:xfrm>
            <a:off x="8540496" y="3968496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686800" y="3840480"/>
            <a:ext cx="1042416" cy="256032"/>
          </a:xfrm>
          <a:prstGeom prst="roundRect">
            <a:avLst>
              <a:gd name="adj" fmla="val 10714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759952" y="3899916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</a:t>
            </a:r>
            <a:endParaRPr lang="en-US" sz="880" dirty="0"/>
          </a:p>
        </p:txBody>
      </p:sp>
      <p:sp>
        <p:nvSpPr>
          <p:cNvPr id="65" name="Shape 62"/>
          <p:cNvSpPr/>
          <p:nvPr/>
        </p:nvSpPr>
        <p:spPr>
          <a:xfrm>
            <a:off x="7754112" y="4297680"/>
            <a:ext cx="1225296" cy="256032"/>
          </a:xfrm>
          <a:prstGeom prst="roundRect">
            <a:avLst>
              <a:gd name="adj" fmla="val 10714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827264" y="4357116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</a:t>
            </a:r>
            <a:endParaRPr lang="en-US" sz="880" dirty="0"/>
          </a:p>
        </p:txBody>
      </p:sp>
      <p:sp>
        <p:nvSpPr>
          <p:cNvPr id="67" name="Shape 64"/>
          <p:cNvSpPr/>
          <p:nvPr/>
        </p:nvSpPr>
        <p:spPr>
          <a:xfrm>
            <a:off x="7443216" y="4901184"/>
            <a:ext cx="3090672" cy="658368"/>
          </a:xfrm>
          <a:prstGeom prst="roundRect">
            <a:avLst>
              <a:gd name="adj" fmla="val 555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7534656" y="5029200"/>
            <a:ext cx="109728" cy="4023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699248" y="50109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Pequeño sistema &gt; improvisación repetida</a:t>
            </a:r>
            <a:endParaRPr lang="en-US" sz="11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agente puede detectar patrones; tú decides qué será sistema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ayuda inteligente sirve para comparar, reagrupar y proponer variantes, pero la coherencia real de la familia visual sigue dependiendo del criterio humano.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77824" y="2103120"/>
            <a:ext cx="9912096" cy="3675888"/>
          </a:xfrm>
          <a:prstGeom prst="roundRect">
            <a:avLst>
              <a:gd name="adj" fmla="val 9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231136"/>
            <a:ext cx="965606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04288"/>
            <a:ext cx="9436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acelerar un agente y qué sigue siendo una decisión tuya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24128" y="2670048"/>
            <a:ext cx="3950208" cy="2651760"/>
          </a:xfrm>
          <a:prstGeom prst="roundRect">
            <a:avLst>
              <a:gd name="adj" fmla="val 13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33856" y="2798064"/>
            <a:ext cx="109728" cy="2395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35024" y="279806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 con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35024" y="3072384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detección y primeras versiones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35024" y="3456432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26464" y="358216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72768" y="3520440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encontrar piezas que ya se repiten en varias pantallas</a:t>
            </a:r>
            <a:endParaRPr lang="en-US" sz="890" dirty="0"/>
          </a:p>
        </p:txBody>
      </p:sp>
      <p:sp>
        <p:nvSpPr>
          <p:cNvPr id="20" name="Shape 17"/>
          <p:cNvSpPr/>
          <p:nvPr/>
        </p:nvSpPr>
        <p:spPr>
          <a:xfrm>
            <a:off x="1335024" y="3918204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26464" y="404393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72768" y="3982212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variantes iniciales de card, botón o navbar</a:t>
            </a:r>
            <a:endParaRPr lang="en-US" sz="890" dirty="0"/>
          </a:p>
        </p:txBody>
      </p:sp>
      <p:sp>
        <p:nvSpPr>
          <p:cNvPr id="23" name="Shape 20"/>
          <p:cNvSpPr/>
          <p:nvPr/>
        </p:nvSpPr>
        <p:spPr>
          <a:xfrm>
            <a:off x="1335024" y="4379976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26464" y="450570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72768" y="4443984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dónde una familia perdió consistencia</a:t>
            </a:r>
            <a:endParaRPr lang="en-US" sz="890" dirty="0"/>
          </a:p>
        </p:txBody>
      </p:sp>
      <p:sp>
        <p:nvSpPr>
          <p:cNvPr id="26" name="Shape 23"/>
          <p:cNvSpPr/>
          <p:nvPr/>
        </p:nvSpPr>
        <p:spPr>
          <a:xfrm>
            <a:off x="1335024" y="4841748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26464" y="496747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572768" y="4905756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sugerir qué decisiones conviene volver compartidas</a:t>
            </a:r>
            <a:endParaRPr lang="en-US" sz="890" dirty="0"/>
          </a:p>
        </p:txBody>
      </p:sp>
      <p:sp>
        <p:nvSpPr>
          <p:cNvPr id="29" name="Shape 26"/>
          <p:cNvSpPr/>
          <p:nvPr/>
        </p:nvSpPr>
        <p:spPr>
          <a:xfrm>
            <a:off x="6693408" y="2670048"/>
            <a:ext cx="3950208" cy="265176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803136" y="2798064"/>
            <a:ext cx="109728" cy="2395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04304" y="279806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004304" y="3072384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gobernanza del sistema visual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7004304" y="3456432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095744" y="358216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42048" y="3520440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por buena una familia sin verla en contexto real</a:t>
            </a:r>
            <a:endParaRPr lang="en-US" sz="890" dirty="0"/>
          </a:p>
        </p:txBody>
      </p:sp>
      <p:sp>
        <p:nvSpPr>
          <p:cNvPr id="36" name="Shape 33"/>
          <p:cNvSpPr/>
          <p:nvPr/>
        </p:nvSpPr>
        <p:spPr>
          <a:xfrm>
            <a:off x="7004304" y="3918204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095744" y="404393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242048" y="3982212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aprobar estados o variantes sin revisar claridad</a:t>
            </a:r>
            <a:endParaRPr lang="en-US" sz="890" dirty="0"/>
          </a:p>
        </p:txBody>
      </p:sp>
      <p:sp>
        <p:nvSpPr>
          <p:cNvPr id="39" name="Shape 36"/>
          <p:cNvSpPr/>
          <p:nvPr/>
        </p:nvSpPr>
        <p:spPr>
          <a:xfrm>
            <a:off x="7004304" y="4379976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095744" y="450570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242048" y="4443984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confundir repetición con consistencia útil</a:t>
            </a:r>
            <a:endParaRPr lang="en-US" sz="890" dirty="0"/>
          </a:p>
        </p:txBody>
      </p:sp>
      <p:sp>
        <p:nvSpPr>
          <p:cNvPr id="42" name="Shape 39"/>
          <p:cNvSpPr/>
          <p:nvPr/>
        </p:nvSpPr>
        <p:spPr>
          <a:xfrm>
            <a:off x="7004304" y="4841748"/>
            <a:ext cx="3493008" cy="333756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95744" y="496747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242048" y="4905756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dejar que la interfaz herede un patrón solo porque fue rápido</a:t>
            </a:r>
            <a:endParaRPr lang="en-US" sz="890" dirty="0"/>
          </a:p>
        </p:txBody>
      </p:sp>
      <p:sp>
        <p:nvSpPr>
          <p:cNvPr id="45" name="Shape 42"/>
          <p:cNvSpPr/>
          <p:nvPr/>
        </p:nvSpPr>
        <p:spPr>
          <a:xfrm>
            <a:off x="5230368" y="3182112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340096" y="3328416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413248" y="3749040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394960" y="337413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 visual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5358384" y="41605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patrón solo entra al sistema cuando resiste comparación, contexto y uso real.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078992" y="5376672"/>
            <a:ext cx="9509760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88720" y="5422392"/>
            <a:ext cx="9290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ayuda a encontrar orden. Tú decides qué orden vale la pena sostener.</a:t>
            </a:r>
            <a:endParaRPr lang="en-US" sz="88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cerrar 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una interfaz se construye con piezas reutilizables, las preguntas útiles ya no apuntan a pantallas sueltas, sino a familias, variantes y coherencia.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987552" y="2249424"/>
            <a:ext cx="2907792" cy="1499616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377440"/>
            <a:ext cx="109728" cy="12435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Patrón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1243584" y="2743200"/>
            <a:ext cx="2560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señal te muestra que una pieza ya dejó de ser caso aislado y conviene tratarla como componente?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4645152" y="2249424"/>
            <a:ext cx="2907792" cy="1499616"/>
          </a:xfrm>
          <a:prstGeom prst="roundRect">
            <a:avLst>
              <a:gd name="adj" fmla="val 243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36592" y="2377440"/>
            <a:ext cx="109728" cy="12435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01184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Variante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4901184" y="2743200"/>
            <a:ext cx="2560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distingues una variante legítima de una pieza respecto de una improvisación que rompe la familia?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8302752" y="2249424"/>
            <a:ext cx="2907792" cy="1499616"/>
          </a:xfrm>
          <a:prstGeom prst="roundRect">
            <a:avLst>
              <a:gd name="adj" fmla="val 243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94192" y="2377440"/>
            <a:ext cx="109728" cy="12435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58784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Sistema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8558784" y="2743200"/>
            <a:ext cx="2560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parte de un componente siempre conviene validar antes de decir que ya pertenece al sistema visual?</a:t>
            </a:r>
            <a:endParaRPr lang="en-US" sz="1010" dirty="0"/>
          </a:p>
        </p:txBody>
      </p:sp>
      <p:sp>
        <p:nvSpPr>
          <p:cNvPr id="22" name="Shape 19"/>
          <p:cNvSpPr/>
          <p:nvPr/>
        </p:nvSpPr>
        <p:spPr>
          <a:xfrm>
            <a:off x="1133856" y="4864608"/>
            <a:ext cx="9784080" cy="694944"/>
          </a:xfrm>
          <a:prstGeom prst="roundRect">
            <a:avLst>
              <a:gd name="adj" fmla="val 526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35024" y="5029200"/>
            <a:ext cx="9381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 maduro = pieza repetible, variable y coherente con una misma lógica visual.</a:t>
            </a:r>
            <a:endParaRPr lang="en-US" sz="172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la interfaz se piensa por componentes, empieza a aparecer una capa de sistema que luego puede sostener tokens, reglas compartidas y mejores decisiones de framework.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950976" y="2176272"/>
            <a:ext cx="5797296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43584" y="2596896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interfaz madura mejora cuando comparte componentes, variantes y estados en vez de volver a inventar cada pieza en cada pantalla.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298448" y="3694176"/>
            <a:ext cx="1133856" cy="256032"/>
          </a:xfrm>
          <a:prstGeom prst="roundRect">
            <a:avLst>
              <a:gd name="adj" fmla="val 17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71600" y="373075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651760" y="3694176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24912" y="373075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785616" y="3694176"/>
            <a:ext cx="859536" cy="256032"/>
          </a:xfrm>
          <a:prstGeom prst="roundRect">
            <a:avLst>
              <a:gd name="adj" fmla="val 178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58768" y="373075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846320" y="3694176"/>
            <a:ext cx="11704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19472" y="373075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consistencia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150608" y="2176272"/>
            <a:ext cx="3145536" cy="1993392"/>
          </a:xfrm>
          <a:prstGeom prst="roundRect">
            <a:avLst>
              <a:gd name="adj" fmla="val 183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42048" y="2304288"/>
            <a:ext cx="109728" cy="17373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06640" y="228600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al Bloque 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406640" y="2670048"/>
            <a:ext cx="2798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ya existen piezas compartidas, el siguiente paso es ordenar también sus decisiones base: tokens, reglas y criterio para no depender ciegamente de frameworks.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1115568" y="4956048"/>
            <a:ext cx="9326880" cy="658368"/>
          </a:xfrm>
          <a:prstGeom prst="roundRect">
            <a:avLst>
              <a:gd name="adj" fmla="val 555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16736" y="5120640"/>
            <a:ext cx="8924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Pieza repetible -&gt; familia coherente -&gt; mini sistema -&gt; decisiones más sostenibles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 · Sistemas de diseño y criterio frente a frameworks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la interfaz deja de verse solo como layout o componente: empieza a leerse también como un sistema de decisiones compartidas.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96112" y="2139696"/>
            <a:ext cx="3035808" cy="3236976"/>
          </a:xfrm>
          <a:prstGeom prst="roundRect">
            <a:avLst>
              <a:gd name="adj" fmla="val 12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33856" y="2500701"/>
            <a:ext cx="157277" cy="36173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22588" y="2359152"/>
            <a:ext cx="188732" cy="5032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42776" y="2500701"/>
            <a:ext cx="157277" cy="36173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0432" y="2871216"/>
            <a:ext cx="2505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Diseñar en sistema significa ordenar decisiones antes que estilos sueltos.</a:t>
            </a:r>
            <a:endParaRPr lang="en-US" sz="2120" dirty="0"/>
          </a:p>
        </p:txBody>
      </p:sp>
      <p:sp>
        <p:nvSpPr>
          <p:cNvPr id="15" name="Text 12"/>
          <p:cNvSpPr/>
          <p:nvPr/>
        </p:nvSpPr>
        <p:spPr>
          <a:xfrm>
            <a:off x="1170432" y="470001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E8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Tokens, reglas, componentes y criterio reducen improvisación y vuelven la interfaz más mantenible.</a:t>
            </a:r>
            <a:endParaRPr lang="en-US" sz="1010" dirty="0"/>
          </a:p>
        </p:txBody>
      </p:sp>
      <p:sp>
        <p:nvSpPr>
          <p:cNvPr id="16" name="Shape 13"/>
          <p:cNvSpPr/>
          <p:nvPr/>
        </p:nvSpPr>
        <p:spPr>
          <a:xfrm>
            <a:off x="1170432" y="5084064"/>
            <a:ext cx="768096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43584" y="512064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048256" y="5084064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121408" y="51206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926080" y="5084064"/>
            <a:ext cx="804672" cy="256032"/>
          </a:xfrm>
          <a:prstGeom prst="roundRect">
            <a:avLst>
              <a:gd name="adj" fmla="val 178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99232" y="512064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24528" y="2139696"/>
            <a:ext cx="5870448" cy="3236976"/>
          </a:xfrm>
          <a:prstGeom prst="roundRect">
            <a:avLst>
              <a:gd name="adj" fmla="val 11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52544" y="2267712"/>
            <a:ext cx="5614416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62272" y="234086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empieza a volverse sistema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4407408" y="2798064"/>
            <a:ext cx="1252728" cy="2066544"/>
          </a:xfrm>
          <a:prstGeom prst="roundRect">
            <a:avLst>
              <a:gd name="adj" fmla="val 292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07408" y="2798064"/>
            <a:ext cx="91440" cy="20665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90288" y="2944368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Color</a:t>
            </a:r>
            <a:endParaRPr lang="en-US" sz="1220" dirty="0"/>
          </a:p>
        </p:txBody>
      </p:sp>
      <p:sp>
        <p:nvSpPr>
          <p:cNvPr id="28" name="Shape 25"/>
          <p:cNvSpPr/>
          <p:nvPr/>
        </p:nvSpPr>
        <p:spPr>
          <a:xfrm>
            <a:off x="4553712" y="3291840"/>
            <a:ext cx="97840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26864" y="33924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46320" y="336499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--brand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4846320" y="349300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#D62027</a:t>
            </a:r>
            <a:endParaRPr lang="en-US" sz="840" dirty="0"/>
          </a:p>
        </p:txBody>
      </p:sp>
      <p:sp>
        <p:nvSpPr>
          <p:cNvPr id="32" name="Shape 29"/>
          <p:cNvSpPr/>
          <p:nvPr/>
        </p:nvSpPr>
        <p:spPr>
          <a:xfrm>
            <a:off x="4553712" y="3803904"/>
            <a:ext cx="97840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26864" y="390448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3877056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--text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4846320" y="4005072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#102A43</a:t>
            </a:r>
            <a:endParaRPr lang="en-US" sz="840" dirty="0"/>
          </a:p>
        </p:txBody>
      </p:sp>
      <p:sp>
        <p:nvSpPr>
          <p:cNvPr id="36" name="Shape 33"/>
          <p:cNvSpPr/>
          <p:nvPr/>
        </p:nvSpPr>
        <p:spPr>
          <a:xfrm>
            <a:off x="5824728" y="2798064"/>
            <a:ext cx="1252728" cy="2066544"/>
          </a:xfrm>
          <a:prstGeom prst="roundRect">
            <a:avLst>
              <a:gd name="adj" fmla="val 292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824728" y="2798064"/>
            <a:ext cx="91440" cy="20665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07608" y="2944368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Espacio</a:t>
            </a:r>
            <a:endParaRPr lang="en-US" sz="1220" dirty="0"/>
          </a:p>
        </p:txBody>
      </p:sp>
      <p:sp>
        <p:nvSpPr>
          <p:cNvPr id="39" name="Shape 36"/>
          <p:cNvSpPr/>
          <p:nvPr/>
        </p:nvSpPr>
        <p:spPr>
          <a:xfrm>
            <a:off x="5971032" y="3291840"/>
            <a:ext cx="97840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44184" y="3364992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--space-sm</a:t>
            </a:r>
            <a:endParaRPr lang="en-US" sz="820" dirty="0"/>
          </a:p>
        </p:txBody>
      </p:sp>
      <p:sp>
        <p:nvSpPr>
          <p:cNvPr id="41" name="Text 38"/>
          <p:cNvSpPr/>
          <p:nvPr/>
        </p:nvSpPr>
        <p:spPr>
          <a:xfrm>
            <a:off x="6044184" y="3493008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8px</a:t>
            </a:r>
            <a:endParaRPr lang="en-US" sz="840" dirty="0"/>
          </a:p>
        </p:txBody>
      </p:sp>
      <p:sp>
        <p:nvSpPr>
          <p:cNvPr id="42" name="Shape 39"/>
          <p:cNvSpPr/>
          <p:nvPr/>
        </p:nvSpPr>
        <p:spPr>
          <a:xfrm>
            <a:off x="5971032" y="3803904"/>
            <a:ext cx="97840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044184" y="387705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--space-md</a:t>
            </a:r>
            <a:endParaRPr lang="en-US" sz="820" dirty="0"/>
          </a:p>
        </p:txBody>
      </p:sp>
      <p:sp>
        <p:nvSpPr>
          <p:cNvPr id="44" name="Text 41"/>
          <p:cNvSpPr/>
          <p:nvPr/>
        </p:nvSpPr>
        <p:spPr>
          <a:xfrm>
            <a:off x="6044184" y="400507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16px</a:t>
            </a:r>
            <a:endParaRPr lang="en-US" sz="840" dirty="0"/>
          </a:p>
        </p:txBody>
      </p:sp>
      <p:sp>
        <p:nvSpPr>
          <p:cNvPr id="45" name="Shape 42"/>
          <p:cNvSpPr/>
          <p:nvPr/>
        </p:nvSpPr>
        <p:spPr>
          <a:xfrm>
            <a:off x="7242048" y="2798064"/>
            <a:ext cx="1252728" cy="2066544"/>
          </a:xfrm>
          <a:prstGeom prst="roundRect">
            <a:avLst>
              <a:gd name="adj" fmla="val 292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242048" y="2798064"/>
            <a:ext cx="91440" cy="20665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424928" y="2944368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Pieza</a:t>
            </a:r>
            <a:endParaRPr lang="en-US" sz="1220" dirty="0"/>
          </a:p>
        </p:txBody>
      </p:sp>
      <p:sp>
        <p:nvSpPr>
          <p:cNvPr id="48" name="Shape 45"/>
          <p:cNvSpPr/>
          <p:nvPr/>
        </p:nvSpPr>
        <p:spPr>
          <a:xfrm>
            <a:off x="7388352" y="3291840"/>
            <a:ext cx="97840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461504" y="3364992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card-base</a:t>
            </a:r>
            <a:endParaRPr lang="en-US" sz="820" dirty="0"/>
          </a:p>
        </p:txBody>
      </p:sp>
      <p:sp>
        <p:nvSpPr>
          <p:cNvPr id="50" name="Text 47"/>
          <p:cNvSpPr/>
          <p:nvPr/>
        </p:nvSpPr>
        <p:spPr>
          <a:xfrm>
            <a:off x="7461504" y="3493008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común</a:t>
            </a:r>
            <a:endParaRPr lang="en-US" sz="840" dirty="0"/>
          </a:p>
        </p:txBody>
      </p:sp>
      <p:sp>
        <p:nvSpPr>
          <p:cNvPr id="51" name="Shape 48"/>
          <p:cNvSpPr/>
          <p:nvPr/>
        </p:nvSpPr>
        <p:spPr>
          <a:xfrm>
            <a:off x="7388352" y="3803904"/>
            <a:ext cx="97840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461504" y="387705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cta</a:t>
            </a:r>
            <a:endParaRPr lang="en-US" sz="820" dirty="0"/>
          </a:p>
        </p:txBody>
      </p:sp>
      <p:sp>
        <p:nvSpPr>
          <p:cNvPr id="53" name="Text 50"/>
          <p:cNvSpPr/>
          <p:nvPr/>
        </p:nvSpPr>
        <p:spPr>
          <a:xfrm>
            <a:off x="7461504" y="400507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 visible</a:t>
            </a:r>
            <a:endParaRPr lang="en-US" sz="840" dirty="0"/>
          </a:p>
        </p:txBody>
      </p:sp>
      <p:sp>
        <p:nvSpPr>
          <p:cNvPr id="54" name="Shape 51"/>
          <p:cNvSpPr/>
          <p:nvPr/>
        </p:nvSpPr>
        <p:spPr>
          <a:xfrm>
            <a:off x="8659368" y="2798064"/>
            <a:ext cx="1252728" cy="2066544"/>
          </a:xfrm>
          <a:prstGeom prst="roundRect">
            <a:avLst>
              <a:gd name="adj" fmla="val 292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659368" y="2798064"/>
            <a:ext cx="91440" cy="20665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842248" y="2944368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</a:t>
            </a:r>
            <a:endParaRPr lang="en-US" sz="1220" dirty="0"/>
          </a:p>
        </p:txBody>
      </p:sp>
      <p:sp>
        <p:nvSpPr>
          <p:cNvPr id="57" name="Shape 54"/>
          <p:cNvSpPr/>
          <p:nvPr/>
        </p:nvSpPr>
        <p:spPr>
          <a:xfrm>
            <a:off x="8805672" y="3291840"/>
            <a:ext cx="97840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878824" y="3364992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uso</a:t>
            </a:r>
            <a:endParaRPr lang="en-US" sz="820" dirty="0"/>
          </a:p>
        </p:txBody>
      </p:sp>
      <p:sp>
        <p:nvSpPr>
          <p:cNvPr id="59" name="Text 56"/>
          <p:cNvSpPr/>
          <p:nvPr/>
        </p:nvSpPr>
        <p:spPr>
          <a:xfrm>
            <a:off x="8878824" y="3493008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zonas de uso</a:t>
            </a:r>
            <a:endParaRPr lang="en-US" sz="840" dirty="0"/>
          </a:p>
        </p:txBody>
      </p:sp>
      <p:sp>
        <p:nvSpPr>
          <p:cNvPr id="60" name="Shape 57"/>
          <p:cNvSpPr/>
          <p:nvPr/>
        </p:nvSpPr>
        <p:spPr>
          <a:xfrm>
            <a:off x="8805672" y="3803904"/>
            <a:ext cx="97840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878824" y="387705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cambio</a:t>
            </a:r>
            <a:endParaRPr lang="en-US" sz="820" dirty="0"/>
          </a:p>
        </p:txBody>
      </p:sp>
      <p:sp>
        <p:nvSpPr>
          <p:cNvPr id="62" name="Text 59"/>
          <p:cNvSpPr/>
          <p:nvPr/>
        </p:nvSpPr>
        <p:spPr>
          <a:xfrm>
            <a:off x="8878824" y="400507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 de cambio</a:t>
            </a:r>
            <a:endParaRPr lang="en-US" sz="840" dirty="0"/>
          </a:p>
        </p:txBody>
      </p:sp>
      <p:sp>
        <p:nvSpPr>
          <p:cNvPr id="63" name="Text 60"/>
          <p:cNvSpPr/>
          <p:nvPr/>
        </p:nvSpPr>
        <p:spPr>
          <a:xfrm>
            <a:off x="4407408" y="5212080"/>
            <a:ext cx="5504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de sistema = decisiones visibles que otras pantallas pueden volver a usar sin inventar de nuevo.</a:t>
            </a:r>
            <a:endParaRPr lang="en-US" sz="84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sistema de diseño intenta ordenar decisiones, no decorar pantallas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estética importa, pero el verdadero valor aparece cuando la interfaz deja de depender de memoria difusa y empieza a sostener reglas visibles.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932688" y="2212848"/>
            <a:ext cx="3035808" cy="1078992"/>
          </a:xfrm>
          <a:prstGeom prst="roundRect">
            <a:avLst>
              <a:gd name="adj" fmla="val 339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340864"/>
            <a:ext cx="109728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322576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Decisiones base</a:t>
            </a:r>
            <a:endParaRPr lang="en-US" sz="1520" dirty="0"/>
          </a:p>
        </p:txBody>
      </p:sp>
      <p:sp>
        <p:nvSpPr>
          <p:cNvPr id="13" name="Text 10"/>
          <p:cNvSpPr/>
          <p:nvPr/>
        </p:nvSpPr>
        <p:spPr>
          <a:xfrm>
            <a:off x="1188720" y="2615184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Color, espacio, radio y tono dejan de ser intuición suelta.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4169664" y="2651760"/>
            <a:ext cx="384048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45152" y="2212848"/>
            <a:ext cx="3035808" cy="1078992"/>
          </a:xfrm>
          <a:prstGeom prst="roundRect">
            <a:avLst>
              <a:gd name="adj" fmla="val 339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36592" y="2340864"/>
            <a:ext cx="109728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01184" y="2322576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Componentes</a:t>
            </a:r>
            <a:endParaRPr lang="en-US" sz="1520" dirty="0"/>
          </a:p>
        </p:txBody>
      </p:sp>
      <p:sp>
        <p:nvSpPr>
          <p:cNvPr id="18" name="Text 15"/>
          <p:cNvSpPr/>
          <p:nvPr/>
        </p:nvSpPr>
        <p:spPr>
          <a:xfrm>
            <a:off x="4901184" y="2615184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piezas reutilizables heredan reglas, no solo apariencia.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7882128" y="2651760"/>
            <a:ext cx="384048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57616" y="2212848"/>
            <a:ext cx="2816352" cy="1078992"/>
          </a:xfrm>
          <a:prstGeom prst="roundRect">
            <a:avLst>
              <a:gd name="adj" fmla="val 339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49056" y="2340864"/>
            <a:ext cx="109728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13648" y="23225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Pantallas</a:t>
            </a:r>
            <a:endParaRPr lang="en-US" sz="1520" dirty="0"/>
          </a:p>
        </p:txBody>
      </p:sp>
      <p:sp>
        <p:nvSpPr>
          <p:cNvPr id="23" name="Text 20"/>
          <p:cNvSpPr/>
          <p:nvPr/>
        </p:nvSpPr>
        <p:spPr>
          <a:xfrm>
            <a:off x="8613648" y="261518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consistencia deja de depender de copiar y pegar.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950976" y="3822192"/>
            <a:ext cx="10076688" cy="1408176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52144" y="4078224"/>
            <a:ext cx="2926080" cy="822960"/>
          </a:xfrm>
          <a:prstGeom prst="roundRect">
            <a:avLst>
              <a:gd name="adj" fmla="val 3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225296" y="4187952"/>
            <a:ext cx="100584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408176" y="420624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vuelve legible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408176" y="4480560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decisión tiene nombre, función y repetición visible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480560" y="4078224"/>
            <a:ext cx="2926080" cy="822960"/>
          </a:xfrm>
          <a:prstGeom prst="roundRect">
            <a:avLst>
              <a:gd name="adj" fmla="val 3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53712" y="4187952"/>
            <a:ext cx="100584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36592" y="420624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vuelve mantenible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4736592" y="4480560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una base afecta con menos ruido a toda la interfaz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808976" y="4078224"/>
            <a:ext cx="2926080" cy="822960"/>
          </a:xfrm>
          <a:prstGeom prst="roundRect">
            <a:avLst>
              <a:gd name="adj" fmla="val 3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882128" y="4187952"/>
            <a:ext cx="100584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065008" y="420624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vuelve predecible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8065008" y="4480560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equipo sabe qué piezas comparten lógica y cuáles no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Tokens, componentes y reglas compartidas forman una misma capa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sistema visual pequeño suele apoyarse en decisiones base, piezas reutilizables y reglas de uso que estabilizan el lenguaje de la interfaz.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96112" y="2157984"/>
            <a:ext cx="5998464" cy="3621024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286000"/>
            <a:ext cx="574243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359152"/>
            <a:ext cx="5522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niveles que empiezan a sostener la interfaz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816352"/>
            <a:ext cx="1767840" cy="2450592"/>
          </a:xfrm>
          <a:prstGeom prst="roundRect">
            <a:avLst>
              <a:gd name="adj" fmla="val 206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78992" y="2816352"/>
            <a:ext cx="91440" cy="24505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962656"/>
            <a:ext cx="1511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Tokens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1225296" y="3310128"/>
            <a:ext cx="149352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98448" y="341071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17904" y="3383280"/>
            <a:ext cx="1018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--brand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517904" y="3511296"/>
            <a:ext cx="1018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#D62027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1225296" y="3822192"/>
            <a:ext cx="149352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98448" y="3895344"/>
            <a:ext cx="1292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--space-md</a:t>
            </a: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1298448" y="4023360"/>
            <a:ext cx="1292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16px</a:t>
            </a:r>
            <a:endParaRPr lang="en-US" sz="840" dirty="0"/>
          </a:p>
        </p:txBody>
      </p:sp>
      <p:sp>
        <p:nvSpPr>
          <p:cNvPr id="23" name="Shape 20"/>
          <p:cNvSpPr/>
          <p:nvPr/>
        </p:nvSpPr>
        <p:spPr>
          <a:xfrm>
            <a:off x="3011424" y="2816352"/>
            <a:ext cx="1767840" cy="2450592"/>
          </a:xfrm>
          <a:prstGeom prst="roundRect">
            <a:avLst>
              <a:gd name="adj" fmla="val 206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011424" y="2816352"/>
            <a:ext cx="91440" cy="2450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194304" y="2962656"/>
            <a:ext cx="1511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Componentes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3157728" y="3310128"/>
            <a:ext cx="149352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30880" y="3383280"/>
            <a:ext cx="1292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3230880" y="3511296"/>
            <a:ext cx="1292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visible</a:t>
            </a:r>
            <a:endParaRPr lang="en-US" sz="840" dirty="0"/>
          </a:p>
        </p:txBody>
      </p:sp>
      <p:sp>
        <p:nvSpPr>
          <p:cNvPr id="29" name="Shape 26"/>
          <p:cNvSpPr/>
          <p:nvPr/>
        </p:nvSpPr>
        <p:spPr>
          <a:xfrm>
            <a:off x="3157728" y="3822192"/>
            <a:ext cx="149352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30880" y="3895344"/>
            <a:ext cx="1292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3230880" y="4023360"/>
            <a:ext cx="1292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 repetible</a:t>
            </a:r>
            <a:endParaRPr lang="en-US" sz="840" dirty="0"/>
          </a:p>
        </p:txBody>
      </p:sp>
      <p:sp>
        <p:nvSpPr>
          <p:cNvPr id="32" name="Shape 29"/>
          <p:cNvSpPr/>
          <p:nvPr/>
        </p:nvSpPr>
        <p:spPr>
          <a:xfrm>
            <a:off x="4943856" y="2816352"/>
            <a:ext cx="1767840" cy="2450592"/>
          </a:xfrm>
          <a:prstGeom prst="roundRect">
            <a:avLst>
              <a:gd name="adj" fmla="val 206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943856" y="2816352"/>
            <a:ext cx="91440" cy="24505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26736" y="2962656"/>
            <a:ext cx="1511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</a:t>
            </a:r>
            <a:endParaRPr lang="en-US" sz="1220" dirty="0"/>
          </a:p>
        </p:txBody>
      </p:sp>
      <p:sp>
        <p:nvSpPr>
          <p:cNvPr id="35" name="Shape 32"/>
          <p:cNvSpPr/>
          <p:nvPr/>
        </p:nvSpPr>
        <p:spPr>
          <a:xfrm>
            <a:off x="5090160" y="3310128"/>
            <a:ext cx="149352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63312" y="3383280"/>
            <a:ext cx="1292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uso</a:t>
            </a:r>
            <a:endParaRPr lang="en-US" sz="820" dirty="0"/>
          </a:p>
        </p:txBody>
      </p:sp>
      <p:sp>
        <p:nvSpPr>
          <p:cNvPr id="37" name="Text 34"/>
          <p:cNvSpPr/>
          <p:nvPr/>
        </p:nvSpPr>
        <p:spPr>
          <a:xfrm>
            <a:off x="5163312" y="3511296"/>
            <a:ext cx="1292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dónde repite</a:t>
            </a:r>
            <a:endParaRPr lang="en-US" sz="840" dirty="0"/>
          </a:p>
        </p:txBody>
      </p:sp>
      <p:sp>
        <p:nvSpPr>
          <p:cNvPr id="38" name="Shape 35"/>
          <p:cNvSpPr/>
          <p:nvPr/>
        </p:nvSpPr>
        <p:spPr>
          <a:xfrm>
            <a:off x="5090160" y="3822192"/>
            <a:ext cx="149352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163312" y="3895344"/>
            <a:ext cx="1292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variación</a:t>
            </a:r>
            <a:endParaRPr lang="en-US" sz="820" dirty="0"/>
          </a:p>
        </p:txBody>
      </p:sp>
      <p:sp>
        <p:nvSpPr>
          <p:cNvPr id="40" name="Text 37"/>
          <p:cNvSpPr/>
          <p:nvPr/>
        </p:nvSpPr>
        <p:spPr>
          <a:xfrm>
            <a:off x="5163312" y="4023360"/>
            <a:ext cx="1292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cambiar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1078992" y="5614416"/>
            <a:ext cx="5632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Tokens, piezas y reglas ya no viven separados: se apoyan entre sí para sostener consistencia.</a:t>
            </a:r>
            <a:endParaRPr lang="en-US" sz="840" dirty="0"/>
          </a:p>
        </p:txBody>
      </p:sp>
      <p:sp>
        <p:nvSpPr>
          <p:cNvPr id="42" name="Shape 39"/>
          <p:cNvSpPr/>
          <p:nvPr/>
        </p:nvSpPr>
        <p:spPr>
          <a:xfrm>
            <a:off x="7205472" y="2304288"/>
            <a:ext cx="3090672" cy="265176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333488" y="2432304"/>
            <a:ext cx="2834640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443216" y="2505456"/>
            <a:ext cx="2615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sistema a la pantalla</a:t>
            </a:r>
            <a:endParaRPr lang="en-US" sz="980" dirty="0"/>
          </a:p>
        </p:txBody>
      </p:sp>
      <p:sp>
        <p:nvSpPr>
          <p:cNvPr id="45" name="Shape 42"/>
          <p:cNvSpPr/>
          <p:nvPr/>
        </p:nvSpPr>
        <p:spPr>
          <a:xfrm>
            <a:off x="7370064" y="3108960"/>
            <a:ext cx="0" cy="45720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516368" y="2980944"/>
            <a:ext cx="1225296" cy="256032"/>
          </a:xfrm>
          <a:prstGeom prst="roundRect">
            <a:avLst>
              <a:gd name="adj" fmla="val 10714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589520" y="3040380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</a:t>
            </a:r>
            <a:endParaRPr lang="en-US" sz="880" dirty="0"/>
          </a:p>
        </p:txBody>
      </p:sp>
      <p:sp>
        <p:nvSpPr>
          <p:cNvPr id="48" name="Text 45"/>
          <p:cNvSpPr/>
          <p:nvPr/>
        </p:nvSpPr>
        <p:spPr>
          <a:xfrm>
            <a:off x="7589520" y="3264408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visual</a:t>
            </a:r>
            <a:endParaRPr lang="en-US" sz="710" dirty="0"/>
          </a:p>
        </p:txBody>
      </p:sp>
      <p:sp>
        <p:nvSpPr>
          <p:cNvPr id="49" name="Shape 46"/>
          <p:cNvSpPr/>
          <p:nvPr/>
        </p:nvSpPr>
        <p:spPr>
          <a:xfrm>
            <a:off x="8302752" y="3566160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449056" y="3438144"/>
            <a:ext cx="1225296" cy="256032"/>
          </a:xfrm>
          <a:prstGeom prst="roundRect">
            <a:avLst>
              <a:gd name="adj" fmla="val 10714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522208" y="3497580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</a:t>
            </a:r>
            <a:endParaRPr lang="en-US" sz="880" dirty="0"/>
          </a:p>
        </p:txBody>
      </p:sp>
      <p:sp>
        <p:nvSpPr>
          <p:cNvPr id="52" name="Text 49"/>
          <p:cNvSpPr/>
          <p:nvPr/>
        </p:nvSpPr>
        <p:spPr>
          <a:xfrm>
            <a:off x="8522208" y="3721608"/>
            <a:ext cx="1627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</a:t>
            </a:r>
            <a:endParaRPr lang="en-US" sz="710" dirty="0"/>
          </a:p>
        </p:txBody>
      </p:sp>
      <p:sp>
        <p:nvSpPr>
          <p:cNvPr id="53" name="Shape 50"/>
          <p:cNvSpPr/>
          <p:nvPr/>
        </p:nvSpPr>
        <p:spPr>
          <a:xfrm>
            <a:off x="8302752" y="4023360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449056" y="3895344"/>
            <a:ext cx="1042416" cy="256032"/>
          </a:xfrm>
          <a:prstGeom prst="roundRect">
            <a:avLst>
              <a:gd name="adj" fmla="val 10714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522208" y="395478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</a:t>
            </a:r>
            <a:endParaRPr lang="en-US" sz="880" dirty="0"/>
          </a:p>
        </p:txBody>
      </p:sp>
      <p:sp>
        <p:nvSpPr>
          <p:cNvPr id="56" name="Text 53"/>
          <p:cNvSpPr/>
          <p:nvPr/>
        </p:nvSpPr>
        <p:spPr>
          <a:xfrm>
            <a:off x="8522208" y="4178808"/>
            <a:ext cx="1627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pieza</a:t>
            </a:r>
            <a:endParaRPr lang="en-US" sz="710" dirty="0"/>
          </a:p>
        </p:txBody>
      </p:sp>
      <p:sp>
        <p:nvSpPr>
          <p:cNvPr id="57" name="Shape 54"/>
          <p:cNvSpPr/>
          <p:nvPr/>
        </p:nvSpPr>
        <p:spPr>
          <a:xfrm>
            <a:off x="7516368" y="4352544"/>
            <a:ext cx="1225296" cy="256032"/>
          </a:xfrm>
          <a:prstGeom prst="roundRect">
            <a:avLst>
              <a:gd name="adj" fmla="val 10714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589520" y="4411980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</a:t>
            </a:r>
            <a:endParaRPr lang="en-US" sz="880" dirty="0"/>
          </a:p>
        </p:txBody>
      </p:sp>
      <p:sp>
        <p:nvSpPr>
          <p:cNvPr id="59" name="Text 56"/>
          <p:cNvSpPr/>
          <p:nvPr/>
        </p:nvSpPr>
        <p:spPr>
          <a:xfrm>
            <a:off x="7589520" y="4636008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</a:t>
            </a:r>
            <a:endParaRPr lang="en-US" sz="710" dirty="0"/>
          </a:p>
        </p:txBody>
      </p:sp>
      <p:sp>
        <p:nvSpPr>
          <p:cNvPr id="60" name="Shape 57"/>
          <p:cNvSpPr/>
          <p:nvPr/>
        </p:nvSpPr>
        <p:spPr>
          <a:xfrm>
            <a:off x="7205472" y="5193792"/>
            <a:ext cx="3090672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296912" y="5321808"/>
            <a:ext cx="109728" cy="2743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461504" y="53035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capa de sistema, cada pantalla termina negociando sus reglas desde cero.</a:t>
            </a:r>
            <a:endParaRPr lang="en-US" sz="10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framework puede ayudar, pero no debería reemplazar la comprensión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no es usar apoyo externo, sino dejar de entender el layout, la jerarquía o la lógica visual que se está importando.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950976" y="2212848"/>
            <a:ext cx="4151376" cy="3730752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5296" y="2523744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Acelera una primera versión</a:t>
            </a:r>
            <a:endParaRPr lang="en-US" sz="1820" dirty="0"/>
          </a:p>
        </p:txBody>
      </p:sp>
      <p:sp>
        <p:nvSpPr>
          <p:cNvPr id="12" name="Shape 9"/>
          <p:cNvSpPr/>
          <p:nvPr/>
        </p:nvSpPr>
        <p:spPr>
          <a:xfrm>
            <a:off x="1170432" y="2871216"/>
            <a:ext cx="3602736" cy="749808"/>
          </a:xfrm>
          <a:prstGeom prst="roundRect">
            <a:avLst>
              <a:gd name="adj" fmla="val 365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43584" y="2980944"/>
            <a:ext cx="100584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26464" y="2999232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grilla inicial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1426464" y="327355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ahorra tiempo cuando el problema todavía es simple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170432" y="3749040"/>
            <a:ext cx="3602736" cy="749808"/>
          </a:xfrm>
          <a:prstGeom prst="roundRect">
            <a:avLst>
              <a:gd name="adj" fmla="val 365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43584" y="3858768"/>
            <a:ext cx="10058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26464" y="387705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componentes base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1426464" y="415137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piezas listas para explorar una interfaz más rápido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170432" y="4626864"/>
            <a:ext cx="3602736" cy="749808"/>
          </a:xfrm>
          <a:prstGeom prst="roundRect">
            <a:avLst>
              <a:gd name="adj" fmla="val 365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43584" y="4736592"/>
            <a:ext cx="10058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26464" y="475488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theme inicial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1426464" y="502920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ordenar color, spacing y variantes tempranas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559552" y="2212848"/>
            <a:ext cx="4700016" cy="3730752"/>
          </a:xfrm>
          <a:prstGeom prst="roundRect">
            <a:avLst>
              <a:gd name="adj" fmla="val 98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70448" y="2596896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Pero si nadie entiende la lógica, el sistema se vuelve caja negra.</a:t>
            </a:r>
            <a:endParaRPr lang="en-US" sz="1920" dirty="0"/>
          </a:p>
        </p:txBody>
      </p:sp>
      <p:sp>
        <p:nvSpPr>
          <p:cNvPr id="26" name="Shape 23"/>
          <p:cNvSpPr/>
          <p:nvPr/>
        </p:nvSpPr>
        <p:spPr>
          <a:xfrm>
            <a:off x="5888736" y="3456432"/>
            <a:ext cx="2267712" cy="768096"/>
          </a:xfrm>
          <a:prstGeom prst="roundRect">
            <a:avLst>
              <a:gd name="adj" fmla="val 35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61888" y="3566160"/>
            <a:ext cx="100584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44768" y="358444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Layout opaco</a:t>
            </a:r>
            <a:endParaRPr lang="en-US" sz="1220" dirty="0"/>
          </a:p>
        </p:txBody>
      </p:sp>
      <p:sp>
        <p:nvSpPr>
          <p:cNvPr id="29" name="Text 26"/>
          <p:cNvSpPr/>
          <p:nvPr/>
        </p:nvSpPr>
        <p:spPr>
          <a:xfrm>
            <a:off x="6144768" y="385876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cuesta modificarlo sin romper jerarquía o responsive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5888736" y="4315968"/>
            <a:ext cx="2267712" cy="768096"/>
          </a:xfrm>
          <a:prstGeom prst="roundRect">
            <a:avLst>
              <a:gd name="adj" fmla="val 35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61888" y="4425696"/>
            <a:ext cx="100584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44768" y="4443984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 ajeno</a:t>
            </a:r>
            <a:endParaRPr lang="en-US" sz="1220" dirty="0"/>
          </a:p>
        </p:txBody>
      </p:sp>
      <p:sp>
        <p:nvSpPr>
          <p:cNvPr id="33" name="Text 30"/>
          <p:cNvSpPr/>
          <p:nvPr/>
        </p:nvSpPr>
        <p:spPr>
          <a:xfrm>
            <a:off x="6144768" y="471830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importa una UI que nadie sabe adaptar con soltura</a:t>
            </a:r>
            <a:endParaRPr lang="en-US" sz="840" dirty="0"/>
          </a:p>
        </p:txBody>
      </p:sp>
      <p:sp>
        <p:nvSpPr>
          <p:cNvPr id="34" name="Shape 31"/>
          <p:cNvSpPr/>
          <p:nvPr/>
        </p:nvSpPr>
        <p:spPr>
          <a:xfrm>
            <a:off x="5888736" y="5175504"/>
            <a:ext cx="2267712" cy="768096"/>
          </a:xfrm>
          <a:prstGeom prst="roundRect">
            <a:avLst>
              <a:gd name="adj" fmla="val 357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61888" y="5285232"/>
            <a:ext cx="100584" cy="5486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44768" y="5303520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Rigidez</a:t>
            </a:r>
            <a:endParaRPr lang="en-US" sz="1220" dirty="0"/>
          </a:p>
        </p:txBody>
      </p:sp>
      <p:sp>
        <p:nvSpPr>
          <p:cNvPr id="37" name="Text 34"/>
          <p:cNvSpPr/>
          <p:nvPr/>
        </p:nvSpPr>
        <p:spPr>
          <a:xfrm>
            <a:off x="6144768" y="557784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pequeño cambio termina peleando contra el framework</a:t>
            </a:r>
            <a:endParaRPr lang="en-US" sz="84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útil no es si acelera: es qué decide realmente el equipo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framework puede empujar una buena base, pero cada zona de la interfaz sigue exigiendo criterio sobre qué se adopta, qué se adapta y qué se gobierna.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59536" y="2139696"/>
            <a:ext cx="10149840" cy="3639312"/>
          </a:xfrm>
          <a:prstGeom prst="roundRect">
            <a:avLst>
              <a:gd name="adj" fmla="val 10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267712"/>
            <a:ext cx="9893808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340864"/>
            <a:ext cx="9674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Frameworks con criterio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24128" y="2706624"/>
            <a:ext cx="1767718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3856" y="2788920"/>
            <a:ext cx="154826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Zona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2846710" y="2706624"/>
            <a:ext cx="2946197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56438" y="2788920"/>
            <a:ext cx="272674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acelera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5847771" y="2706624"/>
            <a:ext cx="2946197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57499" y="2788920"/>
            <a:ext cx="272674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volver fija la interfaz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848832" y="2706624"/>
            <a:ext cx="1995952" cy="310896"/>
          </a:xfrm>
          <a:prstGeom prst="roundRect">
            <a:avLst>
              <a:gd name="adj" fmla="val 882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58560" y="2788920"/>
            <a:ext cx="1776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el equipo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1024128" y="3090672"/>
            <a:ext cx="1767718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24128" y="3090672"/>
            <a:ext cx="73152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70432" y="3236976"/>
            <a:ext cx="15299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Layout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2846710" y="3090672"/>
            <a:ext cx="2946197" cy="512064"/>
          </a:xfrm>
          <a:prstGeom prst="roundRect">
            <a:avLst>
              <a:gd name="adj" fmla="val 53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974726" y="3200400"/>
            <a:ext cx="269016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una primera grilla, utilidades y ritmo base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5847771" y="3090672"/>
            <a:ext cx="2946197" cy="512064"/>
          </a:xfrm>
          <a:prstGeom prst="roundRect">
            <a:avLst>
              <a:gd name="adj" fmla="val 53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75787" y="3200400"/>
            <a:ext cx="269016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se copia sin leer, el responsive queda amarrado al caso feliz</a:t>
            </a:r>
            <a:endParaRPr lang="en-US" sz="860" dirty="0"/>
          </a:p>
        </p:txBody>
      </p:sp>
      <p:sp>
        <p:nvSpPr>
          <p:cNvPr id="28" name="Shape 25"/>
          <p:cNvSpPr/>
          <p:nvPr/>
        </p:nvSpPr>
        <p:spPr>
          <a:xfrm>
            <a:off x="8848832" y="3090672"/>
            <a:ext cx="1995952" cy="512064"/>
          </a:xfrm>
          <a:prstGeom prst="roundRect">
            <a:avLst>
              <a:gd name="adj" fmla="val 53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976848" y="3200400"/>
            <a:ext cx="173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qué patrón realmente quedará compartido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1024128" y="3675888"/>
            <a:ext cx="1767718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24128" y="3675888"/>
            <a:ext cx="73152" cy="5120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70432" y="3822192"/>
            <a:ext cx="15299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Componentes</a:t>
            </a:r>
            <a:endParaRPr lang="en-US" sz="1120" dirty="0"/>
          </a:p>
        </p:txBody>
      </p:sp>
      <p:sp>
        <p:nvSpPr>
          <p:cNvPr id="33" name="Shape 30"/>
          <p:cNvSpPr/>
          <p:nvPr/>
        </p:nvSpPr>
        <p:spPr>
          <a:xfrm>
            <a:off x="2846710" y="3675888"/>
            <a:ext cx="2946197" cy="512064"/>
          </a:xfrm>
          <a:prstGeom prst="roundRect">
            <a:avLst>
              <a:gd name="adj" fmla="val 53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974726" y="3785616"/>
            <a:ext cx="269016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aporta piezas listas y variantes iniciales</a:t>
            </a:r>
            <a:endParaRPr lang="en-US" sz="860" dirty="0"/>
          </a:p>
        </p:txBody>
      </p:sp>
      <p:sp>
        <p:nvSpPr>
          <p:cNvPr id="35" name="Shape 32"/>
          <p:cNvSpPr/>
          <p:nvPr/>
        </p:nvSpPr>
        <p:spPr>
          <a:xfrm>
            <a:off x="5847771" y="3675888"/>
            <a:ext cx="2946197" cy="512064"/>
          </a:xfrm>
          <a:prstGeom prst="roundRect">
            <a:avLst>
              <a:gd name="adj" fmla="val 53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75787" y="3785616"/>
            <a:ext cx="269016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arrastra nombres, estados o UI que no pertenecen al lenguaje propio</a:t>
            </a:r>
            <a:endParaRPr lang="en-US" sz="860" dirty="0"/>
          </a:p>
        </p:txBody>
      </p:sp>
      <p:sp>
        <p:nvSpPr>
          <p:cNvPr id="37" name="Shape 34"/>
          <p:cNvSpPr/>
          <p:nvPr/>
        </p:nvSpPr>
        <p:spPr>
          <a:xfrm>
            <a:off x="8848832" y="3675888"/>
            <a:ext cx="1995952" cy="512064"/>
          </a:xfrm>
          <a:prstGeom prst="roundRect">
            <a:avLst>
              <a:gd name="adj" fmla="val 53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976848" y="3785616"/>
            <a:ext cx="173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adaptar jerarquía, estados y espaciado del equipo</a:t>
            </a:r>
            <a:endParaRPr lang="en-US" sz="860" dirty="0"/>
          </a:p>
        </p:txBody>
      </p:sp>
      <p:sp>
        <p:nvSpPr>
          <p:cNvPr id="39" name="Shape 36"/>
          <p:cNvSpPr/>
          <p:nvPr/>
        </p:nvSpPr>
        <p:spPr>
          <a:xfrm>
            <a:off x="1024128" y="4261104"/>
            <a:ext cx="1767718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24128" y="4261104"/>
            <a:ext cx="73152" cy="5120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170432" y="4407408"/>
            <a:ext cx="15299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Tema</a:t>
            </a:r>
            <a:endParaRPr lang="en-US" sz="1120" dirty="0"/>
          </a:p>
        </p:txBody>
      </p:sp>
      <p:sp>
        <p:nvSpPr>
          <p:cNvPr id="42" name="Shape 39"/>
          <p:cNvSpPr/>
          <p:nvPr/>
        </p:nvSpPr>
        <p:spPr>
          <a:xfrm>
            <a:off x="2846710" y="4261104"/>
            <a:ext cx="2946197" cy="512064"/>
          </a:xfrm>
          <a:prstGeom prst="roundRect">
            <a:avLst>
              <a:gd name="adj" fmla="val 53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974726" y="4370832"/>
            <a:ext cx="269016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 color, spacing y consistencia más rápido</a:t>
            </a:r>
            <a:endParaRPr lang="en-US" sz="860" dirty="0"/>
          </a:p>
        </p:txBody>
      </p:sp>
      <p:sp>
        <p:nvSpPr>
          <p:cNvPr id="44" name="Shape 41"/>
          <p:cNvSpPr/>
          <p:nvPr/>
        </p:nvSpPr>
        <p:spPr>
          <a:xfrm>
            <a:off x="5847771" y="4261104"/>
            <a:ext cx="2946197" cy="512064"/>
          </a:xfrm>
          <a:prstGeom prst="roundRect">
            <a:avLst>
              <a:gd name="adj" fmla="val 53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975787" y="4370832"/>
            <a:ext cx="269016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nadie entiende el theme, se vuelve una caja negra difícil de tocar</a:t>
            </a:r>
            <a:endParaRPr lang="en-US" sz="860" dirty="0"/>
          </a:p>
        </p:txBody>
      </p:sp>
      <p:sp>
        <p:nvSpPr>
          <p:cNvPr id="46" name="Shape 43"/>
          <p:cNvSpPr/>
          <p:nvPr/>
        </p:nvSpPr>
        <p:spPr>
          <a:xfrm>
            <a:off x="8848832" y="4261104"/>
            <a:ext cx="1995952" cy="512064"/>
          </a:xfrm>
          <a:prstGeom prst="roundRect">
            <a:avLst>
              <a:gd name="adj" fmla="val 53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976848" y="4370832"/>
            <a:ext cx="173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documentar tokens mínimos y reglas que sí importan</a:t>
            </a:r>
            <a:endParaRPr lang="en-US" sz="860" dirty="0"/>
          </a:p>
        </p:txBody>
      </p:sp>
      <p:sp>
        <p:nvSpPr>
          <p:cNvPr id="48" name="Shape 45"/>
          <p:cNvSpPr/>
          <p:nvPr/>
        </p:nvSpPr>
        <p:spPr>
          <a:xfrm>
            <a:off x="1024128" y="4846320"/>
            <a:ext cx="1767718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024128" y="4846320"/>
            <a:ext cx="73152" cy="5120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170432" y="4992624"/>
            <a:ext cx="15299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Gobernanza</a:t>
            </a:r>
            <a:endParaRPr lang="en-US" sz="1120" dirty="0"/>
          </a:p>
        </p:txBody>
      </p:sp>
      <p:sp>
        <p:nvSpPr>
          <p:cNvPr id="51" name="Shape 48"/>
          <p:cNvSpPr/>
          <p:nvPr/>
        </p:nvSpPr>
        <p:spPr>
          <a:xfrm>
            <a:off x="2846710" y="4846320"/>
            <a:ext cx="2946197" cy="512064"/>
          </a:xfrm>
          <a:prstGeom prst="roundRect">
            <a:avLst>
              <a:gd name="adj" fmla="val 53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974726" y="4956048"/>
            <a:ext cx="269016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velocidad inicial y reduce decisiones repetidas</a:t>
            </a:r>
            <a:endParaRPr lang="en-US" sz="860" dirty="0"/>
          </a:p>
        </p:txBody>
      </p:sp>
      <p:sp>
        <p:nvSpPr>
          <p:cNvPr id="53" name="Shape 50"/>
          <p:cNvSpPr/>
          <p:nvPr/>
        </p:nvSpPr>
        <p:spPr>
          <a:xfrm>
            <a:off x="5847771" y="4846320"/>
            <a:ext cx="2946197" cy="512064"/>
          </a:xfrm>
          <a:prstGeom prst="roundRect">
            <a:avLst>
              <a:gd name="adj" fmla="val 53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975787" y="4956048"/>
            <a:ext cx="269016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reemplazar criterio si todo queda heredado por costumbre</a:t>
            </a:r>
            <a:endParaRPr lang="en-US" sz="860" dirty="0"/>
          </a:p>
        </p:txBody>
      </p:sp>
      <p:sp>
        <p:nvSpPr>
          <p:cNvPr id="55" name="Shape 52"/>
          <p:cNvSpPr/>
          <p:nvPr/>
        </p:nvSpPr>
        <p:spPr>
          <a:xfrm>
            <a:off x="8848832" y="4846320"/>
            <a:ext cx="1995952" cy="512064"/>
          </a:xfrm>
          <a:prstGeom prst="roundRect">
            <a:avLst>
              <a:gd name="adj" fmla="val 53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976848" y="4956048"/>
            <a:ext cx="173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mantener visible qué parte del sistema el equipo realmente comprende</a:t>
            </a:r>
            <a:endParaRPr lang="en-US" sz="860" dirty="0"/>
          </a:p>
        </p:txBody>
      </p:sp>
      <p:sp>
        <p:nvSpPr>
          <p:cNvPr id="57" name="Text 54"/>
          <p:cNvSpPr/>
          <p:nvPr/>
        </p:nvSpPr>
        <p:spPr>
          <a:xfrm>
            <a:off x="1042416" y="5614416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Acelerar no basta: lo importante es si el equipo sigue entendiendo la lógica visual que está sosteniendo.</a:t>
            </a:r>
            <a:endParaRPr lang="en-US" sz="84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Usar un framework sin entender suele trasladar el problema, no resolverlo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puede verse ordenada al principio, pero sin comprensión del sistema luego cuesta adaptar, explicar o mantener casi cualquier decisión.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950976" y="2267712"/>
            <a:ext cx="2359152" cy="1627632"/>
          </a:xfrm>
          <a:prstGeom prst="roundRect">
            <a:avLst>
              <a:gd name="adj" fmla="val 224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395728"/>
            <a:ext cx="109728" cy="13716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23774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Jerarquía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07008" y="2724912"/>
            <a:ext cx="2011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usan componentes bonitos sin saber por qué uno pesa más que otro.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3639312" y="2267712"/>
            <a:ext cx="2359152" cy="1627632"/>
          </a:xfrm>
          <a:prstGeom prst="roundRect">
            <a:avLst>
              <a:gd name="adj" fmla="val 224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30752" y="2395728"/>
            <a:ext cx="109728" cy="13716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95344" y="23774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Layout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895344" y="2724912"/>
            <a:ext cx="2011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grillas funcionan mientras nadie se sale del ejemplo ideal.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6327648" y="2267712"/>
            <a:ext cx="2359152" cy="1627632"/>
          </a:xfrm>
          <a:prstGeom prst="roundRect">
            <a:avLst>
              <a:gd name="adj" fmla="val 224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19088" y="2395728"/>
            <a:ext cx="109728" cy="13716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0" y="23774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583680" y="2724912"/>
            <a:ext cx="2011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memoriza la clase utilitaria, pero no se lee el quiebre real.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9015984" y="2267712"/>
            <a:ext cx="1865376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07424" y="2395728"/>
            <a:ext cx="109728" cy="13716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72016" y="237744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272016" y="2724912"/>
            <a:ext cx="15179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reglas quedan implícitas y nadie sabe bien dónde cambian.</a:t>
            </a:r>
            <a:endParaRPr lang="en-US" sz="970" dirty="0"/>
          </a:p>
        </p:txBody>
      </p:sp>
      <p:sp>
        <p:nvSpPr>
          <p:cNvPr id="26" name="Shape 23"/>
          <p:cNvSpPr/>
          <p:nvPr/>
        </p:nvSpPr>
        <p:spPr>
          <a:xfrm>
            <a:off x="1078992" y="4718304"/>
            <a:ext cx="9784080" cy="786384"/>
          </a:xfrm>
          <a:prstGeom prst="roundRect">
            <a:avLst>
              <a:gd name="adj" fmla="val 4651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80160" y="4882896"/>
            <a:ext cx="9381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deuda no aparece por usar ayuda externa, sino por dejar de entender el problema visual y estructural que esa ayuda está resolviendo.</a:t>
            </a:r>
            <a:endParaRPr lang="en-US" sz="172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Rigidizar una interfaz también puede ser deuda técnica visual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velocidad inicial puede esconder un costo posterior: piezas difíciles de adaptar, responsive incómodo y decisiones que nadie quiere tocar.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932688" y="2249424"/>
            <a:ext cx="4041648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249424"/>
            <a:ext cx="4041648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78992" y="2377440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25296" y="2377440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371600" y="2377440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99616" y="2350008"/>
            <a:ext cx="3127248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45920" y="2386584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https://ui.demo/dashboard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1097280" y="2724912"/>
            <a:ext cx="3712464" cy="384048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07008" y="2825496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rígida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1097280" y="3236976"/>
            <a:ext cx="1164336" cy="640080"/>
          </a:xfrm>
          <a:prstGeom prst="roundRect">
            <a:avLst>
              <a:gd name="adj" fmla="val 571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353056" y="3236976"/>
            <a:ext cx="1164336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08832" y="3236976"/>
            <a:ext cx="1164336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97280" y="4023360"/>
            <a:ext cx="3712464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97280" y="4572000"/>
            <a:ext cx="3712464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31920" y="5120640"/>
            <a:ext cx="768096" cy="310896"/>
          </a:xfrm>
          <a:prstGeom prst="roundRect">
            <a:avLst>
              <a:gd name="adj" fmla="val 1176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248656" y="3529584"/>
            <a:ext cx="457200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61888" y="2249424"/>
            <a:ext cx="4041648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61888" y="2249424"/>
            <a:ext cx="4041648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08192" y="2377440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54496" y="2377440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2377440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528816" y="2350008"/>
            <a:ext cx="3127248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75120" y="2386584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https://ui.demo/dashboard</a:t>
            </a:r>
            <a:endParaRPr lang="en-US" sz="880" dirty="0"/>
          </a:p>
        </p:txBody>
      </p:sp>
      <p:sp>
        <p:nvSpPr>
          <p:cNvPr id="33" name="Shape 30"/>
          <p:cNvSpPr/>
          <p:nvPr/>
        </p:nvSpPr>
        <p:spPr>
          <a:xfrm>
            <a:off x="6126480" y="2724912"/>
            <a:ext cx="3712464" cy="38404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36208" y="2825496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gobernada</a:t>
            </a:r>
            <a:endParaRPr lang="en-US" sz="960" dirty="0"/>
          </a:p>
        </p:txBody>
      </p:sp>
      <p:sp>
        <p:nvSpPr>
          <p:cNvPr id="35" name="Shape 32"/>
          <p:cNvSpPr/>
          <p:nvPr/>
        </p:nvSpPr>
        <p:spPr>
          <a:xfrm>
            <a:off x="6126480" y="3236976"/>
            <a:ext cx="3712464" cy="457200"/>
          </a:xfrm>
          <a:prstGeom prst="roundRect">
            <a:avLst>
              <a:gd name="adj" fmla="val 8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126480" y="3822192"/>
            <a:ext cx="1810512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28432" y="3822192"/>
            <a:ext cx="1810512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126480" y="4626864"/>
            <a:ext cx="3712464" cy="512064"/>
          </a:xfrm>
          <a:prstGeom prst="roundRect">
            <a:avLst>
              <a:gd name="adj" fmla="val 714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69264" y="5394960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42416" y="5504688"/>
            <a:ext cx="100584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225296" y="552297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Rígida</a:t>
            </a:r>
            <a:endParaRPr lang="en-US" sz="1260" dirty="0"/>
          </a:p>
        </p:txBody>
      </p:sp>
      <p:sp>
        <p:nvSpPr>
          <p:cNvPr id="42" name="Text 39"/>
          <p:cNvSpPr/>
          <p:nvPr/>
        </p:nvSpPr>
        <p:spPr>
          <a:xfrm>
            <a:off x="1225296" y="579729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cambio pequeño pelea contra una estructura cerrada</a:t>
            </a:r>
            <a:endParaRPr lang="en-US" sz="920" dirty="0"/>
          </a:p>
        </p:txBody>
      </p:sp>
      <p:sp>
        <p:nvSpPr>
          <p:cNvPr id="43" name="Shape 40"/>
          <p:cNvSpPr/>
          <p:nvPr/>
        </p:nvSpPr>
        <p:spPr>
          <a:xfrm>
            <a:off x="4535424" y="5394960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608576" y="5504688"/>
            <a:ext cx="100584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91456" y="552297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Gobernada</a:t>
            </a:r>
            <a:endParaRPr lang="en-US" sz="1260" dirty="0"/>
          </a:p>
        </p:txBody>
      </p:sp>
      <p:sp>
        <p:nvSpPr>
          <p:cNvPr id="46" name="Text 43"/>
          <p:cNvSpPr/>
          <p:nvPr/>
        </p:nvSpPr>
        <p:spPr>
          <a:xfrm>
            <a:off x="4791456" y="579729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cambia sin perder lenguaje ni control</a:t>
            </a:r>
            <a:endParaRPr lang="en-US" sz="920" dirty="0"/>
          </a:p>
        </p:txBody>
      </p:sp>
      <p:sp>
        <p:nvSpPr>
          <p:cNvPr id="47" name="Shape 44"/>
          <p:cNvSpPr/>
          <p:nvPr/>
        </p:nvSpPr>
        <p:spPr>
          <a:xfrm>
            <a:off x="8101584" y="5394960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174736" y="5504688"/>
            <a:ext cx="100584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357616" y="552297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Sostenible</a:t>
            </a:r>
            <a:endParaRPr lang="en-US" sz="1260" dirty="0"/>
          </a:p>
        </p:txBody>
      </p:sp>
      <p:sp>
        <p:nvSpPr>
          <p:cNvPr id="50" name="Text 47"/>
          <p:cNvSpPr/>
          <p:nvPr/>
        </p:nvSpPr>
        <p:spPr>
          <a:xfrm>
            <a:off x="8357616" y="579729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velocidad no reemplaza comprensión ni mantenibilidad</a:t>
            </a:r>
            <a:endParaRPr lang="en-US" sz="92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rigidez del sistema se nota por síntomas bastante concretos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una interfaz depende demasiado de patrones cerrados, el problema no se ve en una sola pantalla: aparece en la dificultad para cambiar, adaptar y explicar el sistema.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987552" y="2212848"/>
            <a:ext cx="2395728" cy="1444752"/>
          </a:xfrm>
          <a:prstGeom prst="roundRect">
            <a:avLst>
              <a:gd name="adj" fmla="val 253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340864"/>
            <a:ext cx="109728" cy="11887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32257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Cambios mínimos rompen demasiado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1243584" y="2889504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ajustar una pieza altera otras sin intención clara.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3694176" y="2212848"/>
            <a:ext cx="2395728" cy="1444752"/>
          </a:xfrm>
          <a:prstGeom prst="roundRect">
            <a:avLst>
              <a:gd name="adj" fmla="val 25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85616" y="2340864"/>
            <a:ext cx="109728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50208" y="232257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responsive se vuelve incómodo</a:t>
            </a:r>
            <a:endParaRPr lang="en-US" sz="1270" dirty="0"/>
          </a:p>
        </p:txBody>
      </p:sp>
      <p:sp>
        <p:nvSpPr>
          <p:cNvPr id="17" name="Text 14"/>
          <p:cNvSpPr/>
          <p:nvPr/>
        </p:nvSpPr>
        <p:spPr>
          <a:xfrm>
            <a:off x="3950208" y="2889504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adaptación ya no nace del contenido, sino de parches para sostener la forma vieja.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6400800" y="2212848"/>
            <a:ext cx="2395728" cy="1444752"/>
          </a:xfrm>
          <a:prstGeom prst="roundRect">
            <a:avLst>
              <a:gd name="adj" fmla="val 253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92240" y="2340864"/>
            <a:ext cx="109728" cy="11887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56832" y="232257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Nadie sabe bien dónde tocar</a:t>
            </a:r>
            <a:endParaRPr lang="en-US" sz="1280" dirty="0"/>
          </a:p>
        </p:txBody>
      </p:sp>
      <p:sp>
        <p:nvSpPr>
          <p:cNvPr id="21" name="Text 18"/>
          <p:cNvSpPr/>
          <p:nvPr/>
        </p:nvSpPr>
        <p:spPr>
          <a:xfrm>
            <a:off x="6656832" y="2889504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funciona, pero se volvió frágil y opaco.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9107424" y="2212848"/>
            <a:ext cx="1865376" cy="1444752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98864" y="2340864"/>
            <a:ext cx="109728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363456" y="232257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Aparece miedo</a:t>
            </a:r>
            <a:endParaRPr lang="en-US" sz="1260" dirty="0"/>
          </a:p>
        </p:txBody>
      </p:sp>
      <p:sp>
        <p:nvSpPr>
          <p:cNvPr id="25" name="Text 22"/>
          <p:cNvSpPr/>
          <p:nvPr/>
        </p:nvSpPr>
        <p:spPr>
          <a:xfrm>
            <a:off x="9363456" y="2871216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ajuste parece arriesgar más de lo razonable.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1060704" y="4169664"/>
            <a:ext cx="9765792" cy="804672"/>
          </a:xfrm>
          <a:prstGeom prst="roundRect">
            <a:avLst>
              <a:gd name="adj" fmla="val 4545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61872" y="4334256"/>
            <a:ext cx="9363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deuda visual no siempre grita: a veces aparece como una interfaz que todavía funciona, pero ya no se deja entender ni adaptar con soltura.</a:t>
            </a:r>
            <a:endParaRPr lang="en-US" sz="1720" dirty="0"/>
          </a:p>
        </p:txBody>
      </p:sp>
      <p:sp>
        <p:nvSpPr>
          <p:cNvPr id="28" name="Shape 25"/>
          <p:cNvSpPr/>
          <p:nvPr/>
        </p:nvSpPr>
        <p:spPr>
          <a:xfrm>
            <a:off x="1426464" y="5321808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499616" y="5431536"/>
            <a:ext cx="100584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682496" y="544982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Síntoma de fondo</a:t>
            </a:r>
            <a:endParaRPr lang="en-US" sz="1260" dirty="0"/>
          </a:p>
        </p:txBody>
      </p:sp>
      <p:sp>
        <p:nvSpPr>
          <p:cNvPr id="31" name="Text 28"/>
          <p:cNvSpPr/>
          <p:nvPr/>
        </p:nvSpPr>
        <p:spPr>
          <a:xfrm>
            <a:off x="1682496" y="572414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equipo heredó reglas, pero no terminó de comprenderlas</a:t>
            </a:r>
            <a:endParaRPr lang="en-US" sz="920" dirty="0"/>
          </a:p>
        </p:txBody>
      </p:sp>
      <p:sp>
        <p:nvSpPr>
          <p:cNvPr id="32" name="Shape 29"/>
          <p:cNvSpPr/>
          <p:nvPr/>
        </p:nvSpPr>
        <p:spPr>
          <a:xfrm>
            <a:off x="4974336" y="5321808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47488" y="5431536"/>
            <a:ext cx="100584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30368" y="544982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sana</a:t>
            </a:r>
            <a:endParaRPr lang="en-US" sz="1260" dirty="0"/>
          </a:p>
        </p:txBody>
      </p:sp>
      <p:sp>
        <p:nvSpPr>
          <p:cNvPr id="35" name="Text 32"/>
          <p:cNvSpPr/>
          <p:nvPr/>
        </p:nvSpPr>
        <p:spPr>
          <a:xfrm>
            <a:off x="5230368" y="572414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hacer explícita la lógica antes de seguir agregando piezas</a:t>
            </a:r>
            <a:endParaRPr lang="en-US" sz="920" dirty="0"/>
          </a:p>
        </p:txBody>
      </p:sp>
      <p:sp>
        <p:nvSpPr>
          <p:cNvPr id="36" name="Shape 33"/>
          <p:cNvSpPr/>
          <p:nvPr/>
        </p:nvSpPr>
        <p:spPr>
          <a:xfrm>
            <a:off x="8522208" y="5321808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595360" y="5431536"/>
            <a:ext cx="100584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778240" y="544982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Antídoto</a:t>
            </a:r>
            <a:endParaRPr lang="en-US" sz="1260" dirty="0"/>
          </a:p>
        </p:txBody>
      </p:sp>
      <p:sp>
        <p:nvSpPr>
          <p:cNvPr id="39" name="Text 36"/>
          <p:cNvSpPr/>
          <p:nvPr/>
        </p:nvSpPr>
        <p:spPr>
          <a:xfrm>
            <a:off x="8778240" y="572414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caja negra, más reglas visibles y decisiones documentadas</a:t>
            </a:r>
            <a:endParaRPr lang="en-US" sz="92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útil no es "framework sí o no", sino "qué entiendo realmente de esta interfaz"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discusión madura no pasa por pureza tecnológica, sino por si el equipo comprende la lógica espacial, visual y estructural que está sosteniendo.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950976" y="2194560"/>
            <a:ext cx="4553712" cy="2779776"/>
          </a:xfrm>
          <a:prstGeom prst="roundRect">
            <a:avLst>
              <a:gd name="adj" fmla="val 131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322576"/>
            <a:ext cx="109728" cy="2523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23042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pobre</a:t>
            </a:r>
            <a:endParaRPr lang="en-US" sz="1740" dirty="0"/>
          </a:p>
        </p:txBody>
      </p:sp>
      <p:sp>
        <p:nvSpPr>
          <p:cNvPr id="13" name="Text 10"/>
          <p:cNvSpPr/>
          <p:nvPr/>
        </p:nvSpPr>
        <p:spPr>
          <a:xfrm>
            <a:off x="1207008" y="2688336"/>
            <a:ext cx="420624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"¿estamos usando framework o no?"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queda en la herramienta y pierde de vista el problema visual, la jerarquía, el layout y la mantenibilidad real.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60720" y="2194560"/>
            <a:ext cx="4553712" cy="2779776"/>
          </a:xfrm>
          <a:prstGeom prst="roundRect">
            <a:avLst>
              <a:gd name="adj" fmla="val 131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52160" y="2322576"/>
            <a:ext cx="109728" cy="25237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16752" y="23042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útil</a:t>
            </a:r>
            <a:endParaRPr lang="en-US" sz="1740" dirty="0"/>
          </a:p>
        </p:txBody>
      </p:sp>
      <p:sp>
        <p:nvSpPr>
          <p:cNvPr id="17" name="Text 14"/>
          <p:cNvSpPr/>
          <p:nvPr/>
        </p:nvSpPr>
        <p:spPr>
          <a:xfrm>
            <a:off x="6016752" y="2688336"/>
            <a:ext cx="420624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"¿entiendo la lógica visual y estructural de lo que estoy usando?"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Eso sí permite decidir qué adoptar, qué adaptar y qué conviene volver sistema propio.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243584" y="5230368"/>
            <a:ext cx="9052560" cy="676656"/>
          </a:xfrm>
          <a:prstGeom prst="roundRect">
            <a:avLst>
              <a:gd name="adj" fmla="val 540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44752" y="5394960"/>
            <a:ext cx="8650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Marco sano: usar ayuda externa está bien si no reemplaza lectura, criterio ni comprensión del sistema.</a:t>
            </a:r>
            <a:endParaRPr lang="en-US" sz="172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Agentes, sistema visual y gobernanza no son la misma cosa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agente puede ayudar a proponer estructura, detectar repetición o sugerir tokens, pero la decisión de qué entra al sistema sigue siendo una responsabilidad humana.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77824" y="2176272"/>
            <a:ext cx="10113264" cy="3621024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304288"/>
            <a:ext cx="985723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77440"/>
            <a:ext cx="9637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acelerar un agente y qué no conviene delegar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24128" y="2743200"/>
            <a:ext cx="4050792" cy="2596896"/>
          </a:xfrm>
          <a:prstGeom prst="roundRect">
            <a:avLst>
              <a:gd name="adj" fmla="val 140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33856" y="2871216"/>
            <a:ext cx="109728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35024" y="28712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 con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35024" y="314553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exploración y primeras propuestas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35024" y="3529584"/>
            <a:ext cx="3593592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26464" y="364845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72768" y="3593592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dónde una familia perdió consistencia</a:t>
            </a:r>
            <a:endParaRPr lang="en-US" sz="890" dirty="0"/>
          </a:p>
        </p:txBody>
      </p:sp>
      <p:sp>
        <p:nvSpPr>
          <p:cNvPr id="20" name="Shape 17"/>
          <p:cNvSpPr/>
          <p:nvPr/>
        </p:nvSpPr>
        <p:spPr>
          <a:xfrm>
            <a:off x="1335024" y="3977640"/>
            <a:ext cx="3593592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26464" y="409651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72768" y="4041648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sugerir tokens o nombres iniciales</a:t>
            </a:r>
            <a:endParaRPr lang="en-US" sz="890" dirty="0"/>
          </a:p>
        </p:txBody>
      </p:sp>
      <p:sp>
        <p:nvSpPr>
          <p:cNvPr id="23" name="Shape 20"/>
          <p:cNvSpPr/>
          <p:nvPr/>
        </p:nvSpPr>
        <p:spPr>
          <a:xfrm>
            <a:off x="1335024" y="4425696"/>
            <a:ext cx="3593592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26464" y="454456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72768" y="4489704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primeras variantes de un componente</a:t>
            </a:r>
            <a:endParaRPr lang="en-US" sz="890" dirty="0"/>
          </a:p>
        </p:txBody>
      </p:sp>
      <p:sp>
        <p:nvSpPr>
          <p:cNvPr id="26" name="Shape 23"/>
          <p:cNvSpPr/>
          <p:nvPr/>
        </p:nvSpPr>
        <p:spPr>
          <a:xfrm>
            <a:off x="1335024" y="4873752"/>
            <a:ext cx="3593592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26464" y="499262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572768" y="4937760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 repeticiones que ya parecen patrón</a:t>
            </a:r>
            <a:endParaRPr lang="en-US" sz="890" dirty="0"/>
          </a:p>
        </p:txBody>
      </p:sp>
      <p:sp>
        <p:nvSpPr>
          <p:cNvPr id="29" name="Shape 26"/>
          <p:cNvSpPr/>
          <p:nvPr/>
        </p:nvSpPr>
        <p:spPr>
          <a:xfrm>
            <a:off x="6793992" y="2743200"/>
            <a:ext cx="4050792" cy="2596896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903720" y="2871216"/>
            <a:ext cx="109728" cy="2340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04888" y="28712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104888" y="314553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gobernanza del sistema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7104888" y="3529584"/>
            <a:ext cx="3593592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96328" y="364845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342632" y="3593592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qué pieza ya pertenece al lenguaje visual</a:t>
            </a:r>
            <a:endParaRPr lang="en-US" sz="890" dirty="0"/>
          </a:p>
        </p:txBody>
      </p:sp>
      <p:sp>
        <p:nvSpPr>
          <p:cNvPr id="36" name="Shape 33"/>
          <p:cNvSpPr/>
          <p:nvPr/>
        </p:nvSpPr>
        <p:spPr>
          <a:xfrm>
            <a:off x="7104888" y="3977640"/>
            <a:ext cx="3593592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196328" y="409651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42632" y="4041648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por bueno un patrón solo porque se ve moderno</a:t>
            </a:r>
            <a:endParaRPr lang="en-US" sz="890" dirty="0"/>
          </a:p>
        </p:txBody>
      </p:sp>
      <p:sp>
        <p:nvSpPr>
          <p:cNvPr id="39" name="Shape 36"/>
          <p:cNvSpPr/>
          <p:nvPr/>
        </p:nvSpPr>
        <p:spPr>
          <a:xfrm>
            <a:off x="7104888" y="4425696"/>
            <a:ext cx="3593592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196328" y="454456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342632" y="4489704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 rigidez sin revisar mantenibilidad</a:t>
            </a:r>
            <a:endParaRPr lang="en-US" sz="890" dirty="0"/>
          </a:p>
        </p:txBody>
      </p:sp>
      <p:sp>
        <p:nvSpPr>
          <p:cNvPr id="42" name="Shape 39"/>
          <p:cNvSpPr/>
          <p:nvPr/>
        </p:nvSpPr>
        <p:spPr>
          <a:xfrm>
            <a:off x="7104888" y="4873752"/>
            <a:ext cx="3593592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196328" y="499262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342632" y="4937760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aprobar un framework sin entender su lógica base</a:t>
            </a:r>
            <a:endParaRPr lang="en-US" sz="890" dirty="0"/>
          </a:p>
        </p:txBody>
      </p:sp>
      <p:sp>
        <p:nvSpPr>
          <p:cNvPr id="45" name="Shape 42"/>
          <p:cNvSpPr/>
          <p:nvPr/>
        </p:nvSpPr>
        <p:spPr>
          <a:xfrm>
            <a:off x="5330952" y="3227832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440680" y="3374136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513832" y="3794760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495544" y="341985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 visual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5458968" y="42062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decisión se consolida cuando resiste contexto real, variantes, responsive y lectura del equipo.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078992" y="5394960"/>
            <a:ext cx="971092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88720" y="5440680"/>
            <a:ext cx="9491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propone más rápido. La gobernanza del sistema sigue necesitando intención y revisión.</a:t>
            </a:r>
            <a:endParaRPr lang="en-US" sz="88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Gobernar un sistema visual también se parece a un flujo spec-driven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una decisión pasa a ser parte del sistema, ya no basta con que funcione una vez: conviene explicitar intención, restricción, tarea y validación antes de consolidarla.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77824" y="2157984"/>
            <a:ext cx="10076688" cy="3639312"/>
          </a:xfrm>
          <a:prstGeom prst="roundRect">
            <a:avLst>
              <a:gd name="adj" fmla="val 10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286000"/>
            <a:ext cx="9820656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591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madura una decisión visual compartida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24128" y="2724912"/>
            <a:ext cx="2295144" cy="2615184"/>
          </a:xfrm>
          <a:prstGeom prst="roundRect">
            <a:avLst>
              <a:gd name="adj" fmla="val 1594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33856" y="2852928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33856" y="28986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1609344" y="285292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Intención</a:t>
            </a:r>
            <a:endParaRPr lang="en-US" sz="1360" dirty="0"/>
          </a:p>
        </p:txBody>
      </p:sp>
      <p:sp>
        <p:nvSpPr>
          <p:cNvPr id="17" name="Shape 14"/>
          <p:cNvSpPr/>
          <p:nvPr/>
        </p:nvSpPr>
        <p:spPr>
          <a:xfrm>
            <a:off x="1133856" y="3163824"/>
            <a:ext cx="73152" cy="20482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80160" y="3182112"/>
            <a:ext cx="1929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guia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280160" y="3328416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problema visual o de consistencia queremos resolver?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1280160" y="3675888"/>
            <a:ext cx="1929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Artefacto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280160" y="382219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repetido, dolor real, patrón a estabilizar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1280160" y="4773168"/>
            <a:ext cx="1929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280160" y="491947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claridad del problema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520440" y="2724912"/>
            <a:ext cx="2295144" cy="2615184"/>
          </a:xfrm>
          <a:prstGeom prst="roundRect">
            <a:avLst>
              <a:gd name="adj" fmla="val 1594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30168" y="2852928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30168" y="28986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4105656" y="285292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</a:t>
            </a:r>
            <a:endParaRPr lang="en-US" sz="1360" dirty="0"/>
          </a:p>
        </p:txBody>
      </p:sp>
      <p:sp>
        <p:nvSpPr>
          <p:cNvPr id="28" name="Shape 25"/>
          <p:cNvSpPr/>
          <p:nvPr/>
        </p:nvSpPr>
        <p:spPr>
          <a:xfrm>
            <a:off x="3630168" y="3163824"/>
            <a:ext cx="73152" cy="20482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76472" y="3182112"/>
            <a:ext cx="1929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guia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776472" y="3328416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base conviene volver visible?</a:t>
            </a:r>
            <a:endParaRPr lang="en-US" sz="980" dirty="0"/>
          </a:p>
        </p:txBody>
      </p:sp>
      <p:sp>
        <p:nvSpPr>
          <p:cNvPr id="31" name="Text 28"/>
          <p:cNvSpPr/>
          <p:nvPr/>
        </p:nvSpPr>
        <p:spPr>
          <a:xfrm>
            <a:off x="3776472" y="3675888"/>
            <a:ext cx="1929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Artefacto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776472" y="382219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token, variante, guideline o restricción</a:t>
            </a:r>
            <a:endParaRPr lang="en-US" sz="920" dirty="0"/>
          </a:p>
        </p:txBody>
      </p:sp>
      <p:sp>
        <p:nvSpPr>
          <p:cNvPr id="33" name="Text 30"/>
          <p:cNvSpPr/>
          <p:nvPr/>
        </p:nvSpPr>
        <p:spPr>
          <a:xfrm>
            <a:off x="3776472" y="4773168"/>
            <a:ext cx="1929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776472" y="491947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coherencia del lenguaje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016752" y="2724912"/>
            <a:ext cx="2295144" cy="2615184"/>
          </a:xfrm>
          <a:prstGeom prst="roundRect">
            <a:avLst>
              <a:gd name="adj" fmla="val 1594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126480" y="2852928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26480" y="28986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20" dirty="0"/>
          </a:p>
        </p:txBody>
      </p:sp>
      <p:sp>
        <p:nvSpPr>
          <p:cNvPr id="38" name="Text 35"/>
          <p:cNvSpPr/>
          <p:nvPr/>
        </p:nvSpPr>
        <p:spPr>
          <a:xfrm>
            <a:off x="6601968" y="285292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</a:t>
            </a:r>
            <a:endParaRPr lang="en-US" sz="1360" dirty="0"/>
          </a:p>
        </p:txBody>
      </p:sp>
      <p:sp>
        <p:nvSpPr>
          <p:cNvPr id="39" name="Shape 36"/>
          <p:cNvSpPr/>
          <p:nvPr/>
        </p:nvSpPr>
        <p:spPr>
          <a:xfrm>
            <a:off x="6126480" y="3163824"/>
            <a:ext cx="73152" cy="20482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72784" y="3182112"/>
            <a:ext cx="1929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guia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272784" y="3328416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¿Resiste más de una pantalla o viewport?</a:t>
            </a:r>
            <a:endParaRPr lang="en-US" sz="980" dirty="0"/>
          </a:p>
        </p:txBody>
      </p:sp>
      <p:sp>
        <p:nvSpPr>
          <p:cNvPr id="42" name="Text 39"/>
          <p:cNvSpPr/>
          <p:nvPr/>
        </p:nvSpPr>
        <p:spPr>
          <a:xfrm>
            <a:off x="6272784" y="3675888"/>
            <a:ext cx="1929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Artefacto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272784" y="382219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en contexto real</a:t>
            </a:r>
            <a:endParaRPr lang="en-US" sz="920" dirty="0"/>
          </a:p>
        </p:txBody>
      </p:sp>
      <p:sp>
        <p:nvSpPr>
          <p:cNvPr id="44" name="Text 41"/>
          <p:cNvSpPr/>
          <p:nvPr/>
        </p:nvSpPr>
        <p:spPr>
          <a:xfrm>
            <a:off x="6272784" y="4773168"/>
            <a:ext cx="1929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272784" y="491947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adaptación y lectura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8513064" y="2724912"/>
            <a:ext cx="2295144" cy="2615184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622792" y="2852928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622792" y="28986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20" dirty="0"/>
          </a:p>
        </p:txBody>
      </p:sp>
      <p:sp>
        <p:nvSpPr>
          <p:cNvPr id="49" name="Text 46"/>
          <p:cNvSpPr/>
          <p:nvPr/>
        </p:nvSpPr>
        <p:spPr>
          <a:xfrm>
            <a:off x="9098280" y="285292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Consolida</a:t>
            </a:r>
            <a:endParaRPr lang="en-US" sz="1360" dirty="0"/>
          </a:p>
        </p:txBody>
      </p:sp>
      <p:sp>
        <p:nvSpPr>
          <p:cNvPr id="50" name="Shape 47"/>
          <p:cNvSpPr/>
          <p:nvPr/>
        </p:nvSpPr>
        <p:spPr>
          <a:xfrm>
            <a:off x="8622792" y="3163824"/>
            <a:ext cx="73152" cy="20482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769096" y="3182112"/>
            <a:ext cx="1929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guia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769096" y="3328416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¿Vale la pena volverlo sistema?</a:t>
            </a:r>
            <a:endParaRPr lang="en-US" sz="980" dirty="0"/>
          </a:p>
        </p:txBody>
      </p:sp>
      <p:sp>
        <p:nvSpPr>
          <p:cNvPr id="53" name="Text 50"/>
          <p:cNvSpPr/>
          <p:nvPr/>
        </p:nvSpPr>
        <p:spPr>
          <a:xfrm>
            <a:off x="8769096" y="3675888"/>
            <a:ext cx="1929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Artefacto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8769096" y="382219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mínima y decisión compartida</a:t>
            </a:r>
            <a:endParaRPr lang="en-US" sz="920" dirty="0"/>
          </a:p>
        </p:txBody>
      </p:sp>
      <p:sp>
        <p:nvSpPr>
          <p:cNvPr id="55" name="Text 52"/>
          <p:cNvSpPr/>
          <p:nvPr/>
        </p:nvSpPr>
        <p:spPr>
          <a:xfrm>
            <a:off x="8769096" y="4773168"/>
            <a:ext cx="1929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8769096" y="491947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mantenibilidad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1078992" y="5596128"/>
            <a:ext cx="9674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una regla entra al sistema, ya no se evalúa por gusto: se evalúa por claridad, consistencia y sostenibilidad.</a:t>
            </a:r>
            <a:endParaRPr lang="en-US" sz="88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cerrar 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interfaz ya se leyó como sistema, las preguntas útiles apuntan a decisiones compartidas, gobernanza y comprensión real del framework o patrón usado.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987552" y="2249424"/>
            <a:ext cx="2907792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377440"/>
            <a:ext cx="109728" cy="12618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Sistema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1243584" y="2743200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intenta resolver realmente un sistema de diseño además de "hacer que se vea parecido"?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4645152" y="2249424"/>
            <a:ext cx="2907792" cy="1517904"/>
          </a:xfrm>
          <a:prstGeom prst="roundRect">
            <a:avLst>
              <a:gd name="adj" fmla="val 241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36592" y="2377440"/>
            <a:ext cx="109728" cy="12618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01184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Framework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4901184" y="2743200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riesgo aparece cuando una interfaz depende de estructuras que aceleran mucho, pero que nadie entiende bien?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8302752" y="2249424"/>
            <a:ext cx="2907792" cy="1517904"/>
          </a:xfrm>
          <a:prstGeom prst="roundRect">
            <a:avLst>
              <a:gd name="adj" fmla="val 241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94192" y="2377440"/>
            <a:ext cx="109728" cy="12618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58784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Gobernanza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8558784" y="2743200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parte de una propuesta de agente o framework siempre conviene validar antes de volverla sistema?</a:t>
            </a:r>
            <a:endParaRPr lang="en-US" sz="1010" dirty="0"/>
          </a:p>
        </p:txBody>
      </p:sp>
      <p:sp>
        <p:nvSpPr>
          <p:cNvPr id="22" name="Shape 19"/>
          <p:cNvSpPr/>
          <p:nvPr/>
        </p:nvSpPr>
        <p:spPr>
          <a:xfrm>
            <a:off x="1133856" y="4882896"/>
            <a:ext cx="9784080" cy="694944"/>
          </a:xfrm>
          <a:prstGeom prst="roundRect">
            <a:avLst>
              <a:gd name="adj" fmla="val 526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35024" y="5047488"/>
            <a:ext cx="9381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útil = decisiones visibles, piezas coherentes y criterio suficiente para no heredar caja negra.</a:t>
            </a:r>
            <a:endParaRPr lang="en-US" sz="172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sistema de diseño agrega valor real cuando ordena decisiones visuales y componentes sin convertir el trabajo en dependencia ciega de una herramienta o framework.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932688" y="2194560"/>
            <a:ext cx="5724144" cy="1975104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43584" y="2633472"/>
            <a:ext cx="5102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visual sano = tokens, componentes y reglas compartidas que el equipo entiende, adapta y mantiene con criterio.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316736" y="3694176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89888" y="373075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267712" y="3694176"/>
            <a:ext cx="1060704" cy="256032"/>
          </a:xfrm>
          <a:prstGeom prst="roundRect">
            <a:avLst>
              <a:gd name="adj" fmla="val 17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40864" y="37307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529584" y="3694176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02736" y="373075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462272" y="3694176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35424" y="37307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059168" y="2194560"/>
            <a:ext cx="3273552" cy="1975104"/>
          </a:xfrm>
          <a:prstGeom prst="roundRect">
            <a:avLst>
              <a:gd name="adj" fmla="val 185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50608" y="2322576"/>
            <a:ext cx="109728" cy="17190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23042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al cierre de clase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315200" y="2688336"/>
            <a:ext cx="29260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no estamos hablando de pantallas aisladas: responsive, componentes y sistema visual forman una misma lectura profesional de la interfaz.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1115568" y="4956048"/>
            <a:ext cx="9326880" cy="658368"/>
          </a:xfrm>
          <a:prstGeom prst="roundRect">
            <a:avLst>
              <a:gd name="adj" fmla="val 555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16736" y="5120640"/>
            <a:ext cx="8924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 + componentes + sistema = interfaz más razonable y menos dependiente de soluciones rígidas.</a:t>
            </a:r>
            <a:endParaRPr lang="en-US" sz="1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progresión de hoy fue movernos desde la pantalla fija hacia una lectura más madura: responsive, layout, componentes y sistema visual como una misma forma de diseñar.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77824" y="2340864"/>
            <a:ext cx="2139696" cy="2267712"/>
          </a:xfrm>
          <a:prstGeom prst="roundRect">
            <a:avLst>
              <a:gd name="adj" fmla="val 170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2505456"/>
            <a:ext cx="2139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15568" y="3017520"/>
            <a:ext cx="1664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Pantallas reales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3108960" y="3401568"/>
            <a:ext cx="310896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9584" y="2340864"/>
            <a:ext cx="2139696" cy="2267712"/>
          </a:xfrm>
          <a:prstGeom prst="roundRect">
            <a:avLst>
              <a:gd name="adj" fmla="val 170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29584" y="2505456"/>
            <a:ext cx="2139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767328" y="3017520"/>
            <a:ext cx="1664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Viewport y layout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5760720" y="3401568"/>
            <a:ext cx="310896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81344" y="2340864"/>
            <a:ext cx="2139696" cy="2267712"/>
          </a:xfrm>
          <a:prstGeom prst="roundRect">
            <a:avLst>
              <a:gd name="adj" fmla="val 170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81344" y="2505456"/>
            <a:ext cx="2139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19088" y="3017520"/>
            <a:ext cx="1664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Componentes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8412480" y="3401568"/>
            <a:ext cx="310896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33104" y="2340864"/>
            <a:ext cx="2139696" cy="2267712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33104" y="2505456"/>
            <a:ext cx="2139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070848" y="3017520"/>
            <a:ext cx="1664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visual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1024128" y="5084064"/>
            <a:ext cx="9930384" cy="658368"/>
          </a:xfrm>
          <a:prstGeom prst="roundRect">
            <a:avLst>
              <a:gd name="adj" fmla="val 555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25296" y="5248656"/>
            <a:ext cx="9528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clase no trató cuatro temas separados: trató cómo una interfaz deja de improvisarse y empieza a gobernarse con criterio.</a:t>
            </a:r>
            <a:endParaRPr lang="en-US" sz="174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hilo central de la clase fue este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madura cuando deja de defender una sola maqueta y empieza a responder a contexto, piezas reutilizables y decisiones compartidas.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1005840" y="2487168"/>
            <a:ext cx="9912096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07008" y="2651760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Pantalla fija -&gt; viewport real -&gt; layout con criterio -&gt; componente reutilizable -&gt; mini sistema visual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133856" y="4187952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07008" y="4297680"/>
            <a:ext cx="100584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89888" y="431596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</a:t>
            </a:r>
            <a:endParaRPr lang="en-US" sz="1260" dirty="0"/>
          </a:p>
        </p:txBody>
      </p:sp>
      <p:sp>
        <p:nvSpPr>
          <p:cNvPr id="15" name="Text 12"/>
          <p:cNvSpPr/>
          <p:nvPr/>
        </p:nvSpPr>
        <p:spPr>
          <a:xfrm>
            <a:off x="1389888" y="459028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 para contexto y no para una sola captura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4590288" y="4187952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4297680"/>
            <a:ext cx="100584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431596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Componentes</a:t>
            </a:r>
            <a:endParaRPr lang="en-US" sz="1260" dirty="0"/>
          </a:p>
        </p:txBody>
      </p:sp>
      <p:sp>
        <p:nvSpPr>
          <p:cNvPr id="19" name="Text 16"/>
          <p:cNvSpPr/>
          <p:nvPr/>
        </p:nvSpPr>
        <p:spPr>
          <a:xfrm>
            <a:off x="4846320" y="459028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compartir piezas, variantes y estados con lógica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8046720" y="4187952"/>
            <a:ext cx="2176272" cy="877824"/>
          </a:xfrm>
          <a:prstGeom prst="roundRect">
            <a:avLst>
              <a:gd name="adj" fmla="val 31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19872" y="4297680"/>
            <a:ext cx="100584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02752" y="431596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8302752" y="459028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volver visibles las decisiones que otras pantallas heredarán</a:t>
            </a:r>
            <a:endParaRPr lang="en-US" sz="92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instalada 1 · responsive no es achicar una pantalla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adaptación no consiste en defender la composición vieja: consiste en reorganizar foco, orden y aire cuando cambia el espacio.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950976" y="2194560"/>
            <a:ext cx="3529584" cy="2596896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194560"/>
            <a:ext cx="3529584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97280" y="2322576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43584" y="2322576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389888" y="2322576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517904" y="2295144"/>
            <a:ext cx="2615184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64208" y="2331720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https://demo.local/news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1115568" y="2670048"/>
            <a:ext cx="3200400" cy="384048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25296" y="2770632"/>
            <a:ext cx="2980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amplia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1115568" y="3182112"/>
            <a:ext cx="1170432" cy="1353312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32304" y="3182112"/>
            <a:ext cx="188366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432304" y="3822192"/>
            <a:ext cx="1883664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432304" y="4626864"/>
            <a:ext cx="1883664" cy="566928"/>
          </a:xfrm>
          <a:prstGeom prst="roundRect">
            <a:avLst>
              <a:gd name="adj" fmla="val 645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00016" y="3310128"/>
            <a:ext cx="402336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21808" y="2267712"/>
            <a:ext cx="1938528" cy="246888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21808" y="2267712"/>
            <a:ext cx="1938528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49824" y="2395728"/>
            <a:ext cx="64008" cy="6400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68696" y="2395728"/>
            <a:ext cx="64008" cy="6400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87568" y="2395728"/>
            <a:ext cx="64008" cy="64008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760720" y="2363724"/>
            <a:ext cx="1389888" cy="187452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24728" y="2404872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m.demo.local/news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5486400" y="2743200"/>
            <a:ext cx="1609344" cy="384048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96128" y="2843784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Móvil</a:t>
            </a:r>
            <a:endParaRPr lang="en-US" sz="960" dirty="0"/>
          </a:p>
        </p:txBody>
      </p:sp>
      <p:sp>
        <p:nvSpPr>
          <p:cNvPr id="33" name="Shape 30"/>
          <p:cNvSpPr/>
          <p:nvPr/>
        </p:nvSpPr>
        <p:spPr>
          <a:xfrm>
            <a:off x="5486400" y="3291840"/>
            <a:ext cx="1609344" cy="420624"/>
          </a:xfrm>
          <a:prstGeom prst="roundRect">
            <a:avLst>
              <a:gd name="adj" fmla="val 869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86400" y="3877056"/>
            <a:ext cx="1609344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86400" y="4425696"/>
            <a:ext cx="1609344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486400" y="4974336"/>
            <a:ext cx="1609344" cy="384048"/>
          </a:xfrm>
          <a:prstGeom prst="roundRect">
            <a:avLst>
              <a:gd name="adj" fmla="val 95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735824" y="2231136"/>
            <a:ext cx="2907792" cy="2505456"/>
          </a:xfrm>
          <a:prstGeom prst="roundRect">
            <a:avLst>
              <a:gd name="adj" fmla="val 146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827264" y="2359152"/>
            <a:ext cx="109728" cy="22494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991856" y="23408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siempre conviene mirar</a:t>
            </a:r>
            <a:endParaRPr lang="en-US" sz="1620" dirty="0"/>
          </a:p>
        </p:txBody>
      </p:sp>
      <p:sp>
        <p:nvSpPr>
          <p:cNvPr id="40" name="Text 37"/>
          <p:cNvSpPr/>
          <p:nvPr/>
        </p:nvSpPr>
        <p:spPr>
          <a:xfrm>
            <a:off x="7991856" y="2743200"/>
            <a:ext cx="256032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principal, foco del CTA, orden de bloques, aire útil y claridad en viewport real.</a:t>
            </a:r>
            <a:endParaRPr lang="en-US" sz="1060" dirty="0"/>
          </a:p>
        </p:txBody>
      </p:sp>
      <p:sp>
        <p:nvSpPr>
          <p:cNvPr id="41" name="Shape 38"/>
          <p:cNvSpPr/>
          <p:nvPr/>
        </p:nvSpPr>
        <p:spPr>
          <a:xfrm>
            <a:off x="1316736" y="5248656"/>
            <a:ext cx="9217152" cy="566928"/>
          </a:xfrm>
          <a:prstGeom prst="roundRect">
            <a:avLst>
              <a:gd name="adj" fmla="val 645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517904" y="5413248"/>
            <a:ext cx="8814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 sano = la interfaz cambia de relación sin perder sentido.</a:t>
            </a:r>
            <a:endParaRPr lang="en-US" sz="164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instalada 2 · una interfaz madura se compone con piezas reutilizables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una pieza se repite, deja de ser caso único y empieza a exigir nombre, variante, estado y una lógica que sobreviva a más de una pantalla.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96112" y="2139696"/>
            <a:ext cx="6601968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267712"/>
            <a:ext cx="6345936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340864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pieza suelta a familia utilizable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42416" y="2706624"/>
            <a:ext cx="3072384" cy="1188720"/>
          </a:xfrm>
          <a:prstGeom prst="roundRect">
            <a:avLst>
              <a:gd name="adj" fmla="val 307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33856" y="2816352"/>
            <a:ext cx="73152" cy="9692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89888" y="2834640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3364992" y="2816352"/>
            <a:ext cx="58521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01568" y="2862072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298448" y="3127248"/>
            <a:ext cx="2560320" cy="402336"/>
          </a:xfrm>
          <a:prstGeom prst="roundRect">
            <a:avLst>
              <a:gd name="adj" fmla="val 909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408176" y="3200400"/>
            <a:ext cx="2340864" cy="91440"/>
          </a:xfrm>
          <a:prstGeom prst="roundRect">
            <a:avLst>
              <a:gd name="adj" fmla="val 20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408176" y="3328416"/>
            <a:ext cx="2340864" cy="109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08176" y="3474720"/>
            <a:ext cx="1075334" cy="73152"/>
          </a:xfrm>
          <a:prstGeom prst="roundRect">
            <a:avLst>
              <a:gd name="adj" fmla="val 25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98448" y="356616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fija el patrón común</a:t>
            </a:r>
            <a:endParaRPr lang="en-US" sz="760" dirty="0"/>
          </a:p>
        </p:txBody>
      </p:sp>
      <p:sp>
        <p:nvSpPr>
          <p:cNvPr id="23" name="Shape 20"/>
          <p:cNvSpPr/>
          <p:nvPr/>
        </p:nvSpPr>
        <p:spPr>
          <a:xfrm>
            <a:off x="4279392" y="2706624"/>
            <a:ext cx="3072384" cy="1188720"/>
          </a:xfrm>
          <a:prstGeom prst="roundRect">
            <a:avLst>
              <a:gd name="adj" fmla="val 307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370832" y="2816352"/>
            <a:ext cx="73152" cy="9692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26864" y="2834640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Destacada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6601968" y="2816352"/>
            <a:ext cx="58521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38544" y="2862072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4535424" y="3127248"/>
            <a:ext cx="2560320" cy="402336"/>
          </a:xfrm>
          <a:prstGeom prst="roundRect">
            <a:avLst>
              <a:gd name="adj" fmla="val 909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45152" y="3200400"/>
            <a:ext cx="2340864" cy="91440"/>
          </a:xfrm>
          <a:prstGeom prst="roundRect">
            <a:avLst>
              <a:gd name="adj" fmla="val 20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45152" y="3328416"/>
            <a:ext cx="2340864" cy="109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45152" y="3474720"/>
            <a:ext cx="1075334" cy="73152"/>
          </a:xfrm>
          <a:prstGeom prst="roundRect">
            <a:avLst>
              <a:gd name="adj" fmla="val 25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35424" y="356616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sube foco sin romper familia</a:t>
            </a:r>
            <a:endParaRPr lang="en-US" sz="760" dirty="0"/>
          </a:p>
        </p:txBody>
      </p:sp>
      <p:sp>
        <p:nvSpPr>
          <p:cNvPr id="33" name="Shape 30"/>
          <p:cNvSpPr/>
          <p:nvPr/>
        </p:nvSpPr>
        <p:spPr>
          <a:xfrm>
            <a:off x="1042416" y="4059936"/>
            <a:ext cx="3072384" cy="1188720"/>
          </a:xfrm>
          <a:prstGeom prst="roundRect">
            <a:avLst>
              <a:gd name="adj" fmla="val 307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33856" y="4169664"/>
            <a:ext cx="73152" cy="9692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389888" y="418795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Compacta</a:t>
            </a:r>
            <a:endParaRPr lang="en-US" sz="1220" dirty="0"/>
          </a:p>
        </p:txBody>
      </p:sp>
      <p:sp>
        <p:nvSpPr>
          <p:cNvPr id="36" name="Shape 33"/>
          <p:cNvSpPr/>
          <p:nvPr/>
        </p:nvSpPr>
        <p:spPr>
          <a:xfrm>
            <a:off x="3364992" y="4169664"/>
            <a:ext cx="58521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401568" y="421538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1298448" y="4480560"/>
            <a:ext cx="2560320" cy="402336"/>
          </a:xfrm>
          <a:prstGeom prst="roundRect">
            <a:avLst>
              <a:gd name="adj" fmla="val 909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408176" y="4553712"/>
            <a:ext cx="2340864" cy="7315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408176" y="4663440"/>
            <a:ext cx="2340864" cy="73152"/>
          </a:xfrm>
          <a:prstGeom prst="roundRect">
            <a:avLst>
              <a:gd name="adj" fmla="val 25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408176" y="4773168"/>
            <a:ext cx="2340864" cy="73152"/>
          </a:xfrm>
          <a:prstGeom prst="roundRect">
            <a:avLst>
              <a:gd name="adj" fmla="val 25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298448" y="49194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aire con la misma lógica</a:t>
            </a:r>
            <a:endParaRPr lang="en-US" sz="760" dirty="0"/>
          </a:p>
        </p:txBody>
      </p:sp>
      <p:sp>
        <p:nvSpPr>
          <p:cNvPr id="43" name="Shape 40"/>
          <p:cNvSpPr/>
          <p:nvPr/>
        </p:nvSpPr>
        <p:spPr>
          <a:xfrm>
            <a:off x="4279392" y="4059936"/>
            <a:ext cx="3072384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370832" y="4169664"/>
            <a:ext cx="73152" cy="9692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626864" y="4187952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Acción</a:t>
            </a:r>
            <a:endParaRPr lang="en-US" sz="1220" dirty="0"/>
          </a:p>
        </p:txBody>
      </p:sp>
      <p:sp>
        <p:nvSpPr>
          <p:cNvPr id="46" name="Shape 43"/>
          <p:cNvSpPr/>
          <p:nvPr/>
        </p:nvSpPr>
        <p:spPr>
          <a:xfrm>
            <a:off x="6601968" y="4169664"/>
            <a:ext cx="58521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638544" y="421538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cta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4535424" y="4480560"/>
            <a:ext cx="2560320" cy="402336"/>
          </a:xfrm>
          <a:prstGeom prst="roundRect">
            <a:avLst>
              <a:gd name="adj" fmla="val 9091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681728" y="4572000"/>
            <a:ext cx="2267712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754880" y="4626864"/>
            <a:ext cx="2121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Explorar</a:t>
            </a:r>
            <a:endParaRPr lang="en-US" sz="740" dirty="0"/>
          </a:p>
        </p:txBody>
      </p:sp>
      <p:sp>
        <p:nvSpPr>
          <p:cNvPr id="51" name="Text 48"/>
          <p:cNvSpPr/>
          <p:nvPr/>
        </p:nvSpPr>
        <p:spPr>
          <a:xfrm>
            <a:off x="4535424" y="49194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mantiene identidad y respuesta visible</a:t>
            </a:r>
            <a:endParaRPr lang="en-US" sz="760" dirty="0"/>
          </a:p>
        </p:txBody>
      </p:sp>
      <p:sp>
        <p:nvSpPr>
          <p:cNvPr id="52" name="Text 49"/>
          <p:cNvSpPr/>
          <p:nvPr/>
        </p:nvSpPr>
        <p:spPr>
          <a:xfrm>
            <a:off x="1078992" y="5541264"/>
            <a:ext cx="6236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 útil = pieza que puede repetirse, variar y seguir perteneciendo al mismo lenguaje.</a:t>
            </a:r>
            <a:endParaRPr lang="en-US" sz="840" dirty="0"/>
          </a:p>
        </p:txBody>
      </p:sp>
      <p:sp>
        <p:nvSpPr>
          <p:cNvPr id="53" name="Shape 50"/>
          <p:cNvSpPr/>
          <p:nvPr/>
        </p:nvSpPr>
        <p:spPr>
          <a:xfrm>
            <a:off x="7827264" y="2304288"/>
            <a:ext cx="2706624" cy="969264"/>
          </a:xfrm>
          <a:prstGeom prst="roundRect">
            <a:avLst>
              <a:gd name="adj" fmla="val 377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918704" y="2432304"/>
            <a:ext cx="109728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083296" y="2414016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comparte estructura</a:t>
            </a:r>
            <a:endParaRPr lang="en-US" sz="1280" dirty="0"/>
          </a:p>
        </p:txBody>
      </p:sp>
      <p:sp>
        <p:nvSpPr>
          <p:cNvPr id="56" name="Shape 53"/>
          <p:cNvSpPr/>
          <p:nvPr/>
        </p:nvSpPr>
        <p:spPr>
          <a:xfrm>
            <a:off x="7827264" y="3511296"/>
            <a:ext cx="2706624" cy="969264"/>
          </a:xfrm>
          <a:prstGeom prst="roundRect">
            <a:avLst>
              <a:gd name="adj" fmla="val 377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918704" y="3639312"/>
            <a:ext cx="109728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083296" y="362102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comparte estados</a:t>
            </a:r>
            <a:endParaRPr lang="en-US" sz="1280" dirty="0"/>
          </a:p>
        </p:txBody>
      </p:sp>
      <p:sp>
        <p:nvSpPr>
          <p:cNvPr id="59" name="Shape 56"/>
          <p:cNvSpPr/>
          <p:nvPr/>
        </p:nvSpPr>
        <p:spPr>
          <a:xfrm>
            <a:off x="7827264" y="4718304"/>
            <a:ext cx="2706624" cy="969264"/>
          </a:xfrm>
          <a:prstGeom prst="roundRect">
            <a:avLst>
              <a:gd name="adj" fmla="val 377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918704" y="4846320"/>
            <a:ext cx="109728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083296" y="4828032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comparte criterio</a:t>
            </a:r>
            <a:endParaRPr lang="en-US" sz="128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instalada 3 · un sistema visual estabiliza decisiones y reduce dependencia ciega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Tokens, piezas y reglas compartidas sirven menos para decorar y más para volver la interfaz legible, mantenible y razonable de adaptar.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932688" y="2194560"/>
            <a:ext cx="5577840" cy="3547872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322576"/>
            <a:ext cx="5321808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95728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mínimo que una interfaz gana cuando aparece sistema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115568" y="2852928"/>
            <a:ext cx="1627632" cy="2377440"/>
          </a:xfrm>
          <a:prstGeom prst="roundRect">
            <a:avLst>
              <a:gd name="adj" fmla="val 224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15568" y="2852928"/>
            <a:ext cx="91440" cy="2377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98448" y="299923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1261872" y="3346704"/>
            <a:ext cx="1353312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335024" y="344728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54480" y="3419856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--brand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554480" y="3547872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#D62027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1261872" y="3858768"/>
            <a:ext cx="1353312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35024" y="3931920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--space</a:t>
            </a: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1335024" y="4059936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16 / 24</a:t>
            </a:r>
            <a:endParaRPr lang="en-US" sz="840" dirty="0"/>
          </a:p>
        </p:txBody>
      </p:sp>
      <p:sp>
        <p:nvSpPr>
          <p:cNvPr id="23" name="Shape 20"/>
          <p:cNvSpPr/>
          <p:nvPr/>
        </p:nvSpPr>
        <p:spPr>
          <a:xfrm>
            <a:off x="2907792" y="2852928"/>
            <a:ext cx="1627632" cy="2377440"/>
          </a:xfrm>
          <a:prstGeom prst="roundRect">
            <a:avLst>
              <a:gd name="adj" fmla="val 224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07792" y="2852928"/>
            <a:ext cx="91440" cy="2377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090672" y="299923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Pieza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3054096" y="3346704"/>
            <a:ext cx="1353312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27248" y="3419856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3127248" y="354787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estable</a:t>
            </a:r>
            <a:endParaRPr lang="en-US" sz="840" dirty="0"/>
          </a:p>
        </p:txBody>
      </p:sp>
      <p:sp>
        <p:nvSpPr>
          <p:cNvPr id="29" name="Shape 26"/>
          <p:cNvSpPr/>
          <p:nvPr/>
        </p:nvSpPr>
        <p:spPr>
          <a:xfrm>
            <a:off x="3054096" y="3858768"/>
            <a:ext cx="1353312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27248" y="3931920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cta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3127248" y="4059936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 visible</a:t>
            </a:r>
            <a:endParaRPr lang="en-US" sz="840" dirty="0"/>
          </a:p>
        </p:txBody>
      </p:sp>
      <p:sp>
        <p:nvSpPr>
          <p:cNvPr id="32" name="Shape 29"/>
          <p:cNvSpPr/>
          <p:nvPr/>
        </p:nvSpPr>
        <p:spPr>
          <a:xfrm>
            <a:off x="4700016" y="2852928"/>
            <a:ext cx="1627632" cy="2377440"/>
          </a:xfrm>
          <a:prstGeom prst="roundRect">
            <a:avLst>
              <a:gd name="adj" fmla="val 224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700016" y="2852928"/>
            <a:ext cx="91440" cy="2377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82896" y="299923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</a:t>
            </a:r>
            <a:endParaRPr lang="en-US" sz="1220" dirty="0"/>
          </a:p>
        </p:txBody>
      </p:sp>
      <p:sp>
        <p:nvSpPr>
          <p:cNvPr id="35" name="Shape 32"/>
          <p:cNvSpPr/>
          <p:nvPr/>
        </p:nvSpPr>
        <p:spPr>
          <a:xfrm>
            <a:off x="4846320" y="3346704"/>
            <a:ext cx="1353312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19472" y="3419856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uso</a:t>
            </a:r>
            <a:endParaRPr lang="en-US" sz="820" dirty="0"/>
          </a:p>
        </p:txBody>
      </p:sp>
      <p:sp>
        <p:nvSpPr>
          <p:cNvPr id="37" name="Text 34"/>
          <p:cNvSpPr/>
          <p:nvPr/>
        </p:nvSpPr>
        <p:spPr>
          <a:xfrm>
            <a:off x="4919472" y="354787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cuándo repite</a:t>
            </a:r>
            <a:endParaRPr lang="en-US" sz="840" dirty="0"/>
          </a:p>
        </p:txBody>
      </p:sp>
      <p:sp>
        <p:nvSpPr>
          <p:cNvPr id="38" name="Shape 35"/>
          <p:cNvSpPr/>
          <p:nvPr/>
        </p:nvSpPr>
        <p:spPr>
          <a:xfrm>
            <a:off x="4846320" y="3858768"/>
            <a:ext cx="1353312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919472" y="3931920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cambio</a:t>
            </a:r>
            <a:endParaRPr lang="en-US" sz="820" dirty="0"/>
          </a:p>
        </p:txBody>
      </p:sp>
      <p:sp>
        <p:nvSpPr>
          <p:cNvPr id="40" name="Text 37"/>
          <p:cNvSpPr/>
          <p:nvPr/>
        </p:nvSpPr>
        <p:spPr>
          <a:xfrm>
            <a:off x="4919472" y="4059936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sí varía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1115568" y="5577840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sistema, cada pantalla recuerda "más o menos". Con sistema, la decisión se vuelve visible.</a:t>
            </a:r>
            <a:endParaRPr lang="en-US" sz="840" dirty="0"/>
          </a:p>
        </p:txBody>
      </p:sp>
      <p:sp>
        <p:nvSpPr>
          <p:cNvPr id="42" name="Shape 39"/>
          <p:cNvSpPr/>
          <p:nvPr/>
        </p:nvSpPr>
        <p:spPr>
          <a:xfrm>
            <a:off x="6876288" y="2340864"/>
            <a:ext cx="3364992" cy="1225296"/>
          </a:xfrm>
          <a:prstGeom prst="roundRect">
            <a:avLst>
              <a:gd name="adj" fmla="val 298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967728" y="2468880"/>
            <a:ext cx="109728" cy="9692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132320" y="24505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Ayuda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7132320" y="2761488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framework puede acelerar cuando el equipo sigue entendiendo layout, jerarquía y responsive.</a:t>
            </a:r>
            <a:endParaRPr lang="en-US" sz="1040" dirty="0"/>
          </a:p>
        </p:txBody>
      </p:sp>
      <p:sp>
        <p:nvSpPr>
          <p:cNvPr id="46" name="Shape 43"/>
          <p:cNvSpPr/>
          <p:nvPr/>
        </p:nvSpPr>
        <p:spPr>
          <a:xfrm>
            <a:off x="6876288" y="3803904"/>
            <a:ext cx="3364992" cy="1225296"/>
          </a:xfrm>
          <a:prstGeom prst="roundRect">
            <a:avLst>
              <a:gd name="adj" fmla="val 298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967728" y="3931920"/>
            <a:ext cx="109728" cy="9692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132320" y="391363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7132320" y="4224528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dependencia ciega aparece cuando el sistema acelera más rápido de lo que el equipo comprende.</a:t>
            </a:r>
            <a:endParaRPr lang="en-US" sz="1040" dirty="0"/>
          </a:p>
        </p:txBody>
      </p:sp>
      <p:sp>
        <p:nvSpPr>
          <p:cNvPr id="50" name="Shape 47"/>
          <p:cNvSpPr/>
          <p:nvPr/>
        </p:nvSpPr>
        <p:spPr>
          <a:xfrm>
            <a:off x="6876288" y="5266944"/>
            <a:ext cx="3364992" cy="475488"/>
          </a:xfrm>
          <a:prstGeom prst="roundRect">
            <a:avLst>
              <a:gd name="adj" fmla="val 769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967728" y="5394960"/>
            <a:ext cx="109728" cy="2194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132320" y="53766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 &gt; herramienta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Huella metodológica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sesión deja una práctica moderna bastante clara: entender la interfaz, explicitar intención, apoyarse con inteligencia y validar con evidencia antes de consolidar una decisión.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77824" y="2176272"/>
            <a:ext cx="10113264" cy="3621024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304288"/>
            <a:ext cx="985723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77440"/>
            <a:ext cx="9637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-&gt; explicitar -&gt; apoyar -&gt; validar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24128" y="2743200"/>
            <a:ext cx="2331720" cy="2596896"/>
          </a:xfrm>
          <a:prstGeom prst="roundRect">
            <a:avLst>
              <a:gd name="adj" fmla="val 156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15568" y="2871216"/>
            <a:ext cx="91440" cy="2340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61872" y="2871216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61872" y="291693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60" dirty="0"/>
          </a:p>
        </p:txBody>
      </p:sp>
      <p:sp>
        <p:nvSpPr>
          <p:cNvPr id="17" name="Text 14"/>
          <p:cNvSpPr/>
          <p:nvPr/>
        </p:nvSpPr>
        <p:spPr>
          <a:xfrm>
            <a:off x="1645920" y="2871216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Entender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1261872" y="3218688"/>
            <a:ext cx="198424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la interfaz, el viewport, la jerarquía y el patrón real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3392424" y="3931920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520440" y="2743200"/>
            <a:ext cx="2331720" cy="2596896"/>
          </a:xfrm>
          <a:prstGeom prst="roundRect">
            <a:avLst>
              <a:gd name="adj" fmla="val 156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11880" y="2871216"/>
            <a:ext cx="91440" cy="23408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758184" y="2871216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58184" y="291693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4142232" y="2871216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Intención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3758184" y="3218688"/>
            <a:ext cx="198424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decir qué debe cambiar, qué debe mantenerse y qué restricción existe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5888736" y="3931920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016752" y="2743200"/>
            <a:ext cx="2331720" cy="2596896"/>
          </a:xfrm>
          <a:prstGeom prst="roundRect">
            <a:avLst>
              <a:gd name="adj" fmla="val 156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08192" y="2871216"/>
            <a:ext cx="91440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54496" y="2871216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54496" y="291693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60" dirty="0"/>
          </a:p>
        </p:txBody>
      </p:sp>
      <p:sp>
        <p:nvSpPr>
          <p:cNvPr id="31" name="Text 28"/>
          <p:cNvSpPr/>
          <p:nvPr/>
        </p:nvSpPr>
        <p:spPr>
          <a:xfrm>
            <a:off x="6638544" y="2871216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Apoyo</a:t>
            </a:r>
            <a:endParaRPr lang="en-US" sz="1420" dirty="0"/>
          </a:p>
        </p:txBody>
      </p:sp>
      <p:sp>
        <p:nvSpPr>
          <p:cNvPr id="32" name="Text 29"/>
          <p:cNvSpPr/>
          <p:nvPr/>
        </p:nvSpPr>
        <p:spPr>
          <a:xfrm>
            <a:off x="6254496" y="3218688"/>
            <a:ext cx="198424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agente o framework para acelerar una primera propuesta</a:t>
            </a:r>
            <a:endParaRPr lang="en-US" sz="1040" dirty="0"/>
          </a:p>
        </p:txBody>
      </p:sp>
      <p:sp>
        <p:nvSpPr>
          <p:cNvPr id="33" name="Shape 30"/>
          <p:cNvSpPr/>
          <p:nvPr/>
        </p:nvSpPr>
        <p:spPr>
          <a:xfrm>
            <a:off x="8385048" y="3931920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513064" y="2743200"/>
            <a:ext cx="2331720" cy="2596896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604504" y="2871216"/>
            <a:ext cx="91440" cy="2340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750808" y="2871216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750808" y="291693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60" dirty="0"/>
          </a:p>
        </p:txBody>
      </p:sp>
      <p:sp>
        <p:nvSpPr>
          <p:cNvPr id="38" name="Text 35"/>
          <p:cNvSpPr/>
          <p:nvPr/>
        </p:nvSpPr>
        <p:spPr>
          <a:xfrm>
            <a:off x="9134856" y="2871216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</a:t>
            </a:r>
            <a:endParaRPr lang="en-US" sz="1420" dirty="0"/>
          </a:p>
        </p:txBody>
      </p:sp>
      <p:sp>
        <p:nvSpPr>
          <p:cNvPr id="39" name="Text 36"/>
          <p:cNvSpPr/>
          <p:nvPr/>
        </p:nvSpPr>
        <p:spPr>
          <a:xfrm>
            <a:off x="8750808" y="3218688"/>
            <a:ext cx="198424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en navegador, viewport y contexto real antes de consolidar</a:t>
            </a:r>
            <a:endParaRPr lang="en-US" sz="1040" dirty="0"/>
          </a:p>
        </p:txBody>
      </p:sp>
      <p:sp>
        <p:nvSpPr>
          <p:cNvPr id="40" name="Shape 37"/>
          <p:cNvSpPr/>
          <p:nvPr/>
        </p:nvSpPr>
        <p:spPr>
          <a:xfrm>
            <a:off x="1078992" y="5394960"/>
            <a:ext cx="971092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188720" y="5440680"/>
            <a:ext cx="9491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Apoyo inteligente sin validación = velocidad sin criterio. La clase entera empuja en la dirección contraria.</a:t>
            </a:r>
            <a:endParaRPr lang="en-US" sz="88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salida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clase ya no debería quedar solo en ideas sueltas: conviene salir con preguntas que obliguen a leer mejor la interfaz y no solo a repetir vocabulario.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987552" y="2267712"/>
            <a:ext cx="2907792" cy="1591056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395728"/>
            <a:ext cx="109728" cy="13350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3774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Validación</a:t>
            </a:r>
            <a:endParaRPr lang="en-US" sz="1420" dirty="0"/>
          </a:p>
        </p:txBody>
      </p:sp>
      <p:sp>
        <p:nvSpPr>
          <p:cNvPr id="13" name="Text 10"/>
          <p:cNvSpPr/>
          <p:nvPr/>
        </p:nvSpPr>
        <p:spPr>
          <a:xfrm>
            <a:off x="1243584" y="2761488"/>
            <a:ext cx="2560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parte de una adaptación responsiva conviene revisar siempre en pantalla real antes de darla por buena?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4645152" y="2267712"/>
            <a:ext cx="2907792" cy="1591056"/>
          </a:xfrm>
          <a:prstGeom prst="roundRect">
            <a:avLst>
              <a:gd name="adj" fmla="val 229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36592" y="2395728"/>
            <a:ext cx="109728" cy="13350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01184" y="23774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Patrón</a:t>
            </a:r>
            <a:endParaRPr lang="en-US" sz="1420" dirty="0"/>
          </a:p>
        </p:txBody>
      </p:sp>
      <p:sp>
        <p:nvSpPr>
          <p:cNvPr id="17" name="Text 14"/>
          <p:cNvSpPr/>
          <p:nvPr/>
        </p:nvSpPr>
        <p:spPr>
          <a:xfrm>
            <a:off x="4901184" y="2761488"/>
            <a:ext cx="2560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¿Cuándo una repetición visual ya te sugiere que debería existir un componente y no otra pantalla resuelta a mano?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8302752" y="2267712"/>
            <a:ext cx="2907792" cy="1591056"/>
          </a:xfrm>
          <a:prstGeom prst="roundRect">
            <a:avLst>
              <a:gd name="adj" fmla="val 229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94192" y="2395728"/>
            <a:ext cx="109728" cy="13350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58784" y="23774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Criterio</a:t>
            </a:r>
            <a:endParaRPr lang="en-US" sz="1420" dirty="0"/>
          </a:p>
        </p:txBody>
      </p:sp>
      <p:sp>
        <p:nvSpPr>
          <p:cNvPr id="21" name="Text 18"/>
          <p:cNvSpPr/>
          <p:nvPr/>
        </p:nvSpPr>
        <p:spPr>
          <a:xfrm>
            <a:off x="8558784" y="2761488"/>
            <a:ext cx="2560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riesgo aparece cuando una interfaz depende demasiado de clases o patrones que nadie entiende bien?</a:t>
            </a:r>
            <a:endParaRPr lang="en-US" sz="1010" dirty="0"/>
          </a:p>
        </p:txBody>
      </p:sp>
      <p:sp>
        <p:nvSpPr>
          <p:cNvPr id="22" name="Shape 19"/>
          <p:cNvSpPr/>
          <p:nvPr/>
        </p:nvSpPr>
        <p:spPr>
          <a:xfrm>
            <a:off x="1115568" y="4992624"/>
            <a:ext cx="9820656" cy="694944"/>
          </a:xfrm>
          <a:prstGeom prst="roundRect">
            <a:avLst>
              <a:gd name="adj" fmla="val 526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16736" y="515721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Salir de esta clase con criterio significa poder leer mejor qué estás adaptando, qué estás repitiendo y qué parte ya debería volverse sistema.</a:t>
            </a:r>
            <a:endParaRPr lang="en-US" sz="172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 la siguiente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una interfaz debe adaptarse, mantenerse y escalar con criterio, entonces también importa medir cómo rinde, qué tan accesible es y qué tan bien está construida desde el punto de vista técnico.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896112" y="2304288"/>
            <a:ext cx="2066544" cy="2048256"/>
          </a:xfrm>
          <a:prstGeom prst="roundRect">
            <a:avLst>
              <a:gd name="adj" fmla="val 178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2468880"/>
            <a:ext cx="2066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foco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33856" y="2980944"/>
            <a:ext cx="15910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SEO técnico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108960" y="3236976"/>
            <a:ext cx="292608" cy="20116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47872" y="2304288"/>
            <a:ext cx="2066544" cy="2048256"/>
          </a:xfrm>
          <a:prstGeom prst="roundRect">
            <a:avLst>
              <a:gd name="adj" fmla="val 178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47872" y="2468880"/>
            <a:ext cx="2066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foco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785616" y="2980944"/>
            <a:ext cx="15910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Rendimiento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760720" y="3236976"/>
            <a:ext cx="292608" cy="20116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99632" y="2304288"/>
            <a:ext cx="2066544" cy="2048256"/>
          </a:xfrm>
          <a:prstGeom prst="roundRect">
            <a:avLst>
              <a:gd name="adj" fmla="val 178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99632" y="2468880"/>
            <a:ext cx="2066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foco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37376" y="2980944"/>
            <a:ext cx="15910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Accesibilidad</a:t>
            </a:r>
            <a:endParaRPr lang="en-US" sz="1540" dirty="0"/>
          </a:p>
        </p:txBody>
      </p:sp>
      <p:sp>
        <p:nvSpPr>
          <p:cNvPr id="21" name="Shape 18"/>
          <p:cNvSpPr/>
          <p:nvPr/>
        </p:nvSpPr>
        <p:spPr>
          <a:xfrm>
            <a:off x="8412480" y="3236976"/>
            <a:ext cx="292608" cy="20116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51392" y="2304288"/>
            <a:ext cx="2066544" cy="2048256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51392" y="2468880"/>
            <a:ext cx="2066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089136" y="2980944"/>
            <a:ext cx="15910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Auditoría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005840" y="4901184"/>
            <a:ext cx="9912096" cy="786384"/>
          </a:xfrm>
          <a:prstGeom prst="roundRect">
            <a:avLst>
              <a:gd name="adj" fmla="val 4651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07008" y="506577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próxima clase empuja la misma idea desde otro ángulo: no basta con que la interfaz se vea razonable; también debe rendir, ser accesible y poder auditarse con evidencia.</a:t>
            </a:r>
            <a:endParaRPr lang="en-US" sz="174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05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de trabajo para lo que viene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aquí la interfaz ya no solo se compone: también se prueba, se mide y se sostiene con evidencia.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932688" y="2157984"/>
            <a:ext cx="3163824" cy="3401568"/>
          </a:xfrm>
          <a:prstGeom prst="roundRect">
            <a:avLst>
              <a:gd name="adj" fmla="val 115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07008" y="2585557"/>
            <a:ext cx="149962" cy="344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86962" y="2450592"/>
            <a:ext cx="179954" cy="47987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96908" y="2585557"/>
            <a:ext cx="149962" cy="344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7008" y="2944368"/>
            <a:ext cx="2542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Diseñar mejor también significa validar mejor.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1207008" y="446227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E8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Responsive, componentes y sistema visual abren la puerta a una interfaz que ya puede ser medida y auditada con más rigor.</a:t>
            </a:r>
            <a:endParaRPr lang="en-US" sz="1010" dirty="0"/>
          </a:p>
        </p:txBody>
      </p:sp>
      <p:sp>
        <p:nvSpPr>
          <p:cNvPr id="16" name="Shape 13"/>
          <p:cNvSpPr/>
          <p:nvPr/>
        </p:nvSpPr>
        <p:spPr>
          <a:xfrm>
            <a:off x="4535424" y="2231136"/>
            <a:ext cx="1993392" cy="932688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08576" y="2340864"/>
            <a:ext cx="100584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91456" y="235915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leer contexto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791456" y="263347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viewport, jerarquía y tarea real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784848" y="2231136"/>
            <a:ext cx="1993392" cy="932688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0" y="2340864"/>
            <a:ext cx="100584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40880" y="235915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repetir con patrón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040880" y="263347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piezas, estados y reglas comunes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034272" y="2231136"/>
            <a:ext cx="1993392" cy="932688"/>
          </a:xfrm>
          <a:prstGeom prst="roundRect">
            <a:avLst>
              <a:gd name="adj" fmla="val 294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07424" y="2340864"/>
            <a:ext cx="100584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90304" y="235915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validar con evidencia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9290304" y="263347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navegador, pruebas y auditoría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608576" y="3803904"/>
            <a:ext cx="6437376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09744" y="3968496"/>
            <a:ext cx="6035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Esa es la transición que sigue: pasar de interfaz razonable a interfaz técnicamente comprobable.</a:t>
            </a:r>
            <a:endParaRPr lang="en-US" sz="1920" dirty="0"/>
          </a:p>
        </p:txBody>
      </p:sp>
      <p:sp>
        <p:nvSpPr>
          <p:cNvPr id="30" name="Shape 27"/>
          <p:cNvSpPr/>
          <p:nvPr/>
        </p:nvSpPr>
        <p:spPr>
          <a:xfrm>
            <a:off x="4608576" y="5084064"/>
            <a:ext cx="6437376" cy="585216"/>
          </a:xfrm>
          <a:prstGeom prst="roundRect">
            <a:avLst>
              <a:gd name="adj" fmla="val 625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09744" y="524865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clase siguiente no cambia de tema: profundiza la misma exigencia profesional desde SEO, rendimiento, accesibilidad y auditoría.</a:t>
            </a:r>
            <a:endParaRPr lang="en-US" sz="14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Pantallas Reales, Responsive y Sistemas Visuales - Bloque 1</dc:title>
  <dc:subject>Clase 05</dc:subject>
  <dc:creator>Codex</dc:creator>
  <cp:lastModifiedBy>Codex</cp:lastModifiedBy>
  <cp:revision>1</cp:revision>
  <dcterms:created xsi:type="dcterms:W3CDTF">2026-03-22T00:01:27Z</dcterms:created>
  <dcterms:modified xsi:type="dcterms:W3CDTF">2026-03-22T00:01:27Z</dcterms:modified>
</cp:coreProperties>
</file>