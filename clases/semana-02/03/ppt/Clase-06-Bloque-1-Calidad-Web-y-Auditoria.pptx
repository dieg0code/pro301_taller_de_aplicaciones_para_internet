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ojo\pro301-taller-de-aplicaciones-para-internet\.agent\skills\slides-aiep\assets\logo-ai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7072" y="480412"/>
            <a:ext cx="2560320" cy="88626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3232" y="1309421"/>
            <a:ext cx="256032" cy="58887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20470" y="1078992"/>
            <a:ext cx="307238" cy="81930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378915" y="1309421"/>
            <a:ext cx="256032" cy="58887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298448" y="1335024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Semana 02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13232" y="1883664"/>
            <a:ext cx="3749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Medir y mejorar</a:t>
            </a:r>
            <a:endParaRPr lang="en-US" sz="2450" dirty="0"/>
          </a:p>
          <a:p>
            <a:pPr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calidad web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731520" y="3255264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F3E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SEO técnico, rendimiento, accesibilidad y auditoría con criterio</a:t>
            </a:r>
            <a:endParaRPr lang="en-US" sz="1340" dirty="0"/>
          </a:p>
        </p:txBody>
      </p:sp>
      <p:sp>
        <p:nvSpPr>
          <p:cNvPr id="9" name="Text 6"/>
          <p:cNvSpPr/>
          <p:nvPr/>
        </p:nvSpPr>
        <p:spPr>
          <a:xfrm>
            <a:off x="749808" y="3895344"/>
            <a:ext cx="3785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página puede verse bien y aun así estar mal resuelta desde su estructura, su carga o su uso.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9808" y="5102352"/>
            <a:ext cx="2670048" cy="694944"/>
          </a:xfrm>
          <a:prstGeom prst="roundRect">
            <a:avLst>
              <a:gd name="adj" fmla="val 5263"/>
            </a:avLst>
          </a:prstGeom>
          <a:solidFill>
            <a:srgbClr val="355F95"/>
          </a:solidFill>
          <a:ln w="12700">
            <a:solidFill>
              <a:srgbClr val="355F9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9536" y="5248656"/>
            <a:ext cx="73152" cy="402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528523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Miércoles 25 de marzo de 2026</a:t>
            </a:r>
            <a:endParaRPr lang="en-US" sz="1060" dirty="0"/>
          </a:p>
          <a:p>
            <a:pPr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10:50 - 13:10</a:t>
            </a:r>
            <a:endParaRPr lang="en-US" sz="1060" dirty="0"/>
          </a:p>
        </p:txBody>
      </p:sp>
      <p:sp>
        <p:nvSpPr>
          <p:cNvPr id="13" name="Shape 10"/>
          <p:cNvSpPr/>
          <p:nvPr/>
        </p:nvSpPr>
        <p:spPr>
          <a:xfrm>
            <a:off x="3712464" y="5120640"/>
            <a:ext cx="3438144" cy="676656"/>
          </a:xfrm>
          <a:prstGeom prst="roundRect">
            <a:avLst>
              <a:gd name="adj" fmla="val 5405"/>
            </a:avLst>
          </a:prstGeom>
          <a:solidFill>
            <a:srgbClr val="F3DADB"/>
          </a:solidFill>
          <a:ln w="12700">
            <a:solidFill>
              <a:srgbClr val="F3DAD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13632" y="5285232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calidad técnica también se revisa.</a:t>
            </a:r>
            <a:endParaRPr lang="en-US" sz="2020" dirty="0"/>
          </a:p>
        </p:txBody>
      </p:sp>
      <p:sp>
        <p:nvSpPr>
          <p:cNvPr id="15" name="Shape 12"/>
          <p:cNvSpPr/>
          <p:nvPr/>
        </p:nvSpPr>
        <p:spPr>
          <a:xfrm>
            <a:off x="5413248" y="1700784"/>
            <a:ext cx="4407408" cy="3182112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13248" y="1700784"/>
            <a:ext cx="4407408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559552" y="1828800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05856" y="1828800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852160" y="1828800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980176" y="1801368"/>
            <a:ext cx="3493008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26480" y="183794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https://demo.local/landing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5577840" y="2212848"/>
            <a:ext cx="4078224" cy="384048"/>
          </a:xfrm>
          <a:prstGeom prst="roundRect">
            <a:avLst>
              <a:gd name="adj" fmla="val 714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87568" y="2322576"/>
            <a:ext cx="3858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Página principal</a:t>
            </a:r>
            <a:endParaRPr lang="en-US" sz="940" dirty="0"/>
          </a:p>
        </p:txBody>
      </p:sp>
      <p:sp>
        <p:nvSpPr>
          <p:cNvPr id="24" name="Shape 21"/>
          <p:cNvSpPr/>
          <p:nvPr/>
        </p:nvSpPr>
        <p:spPr>
          <a:xfrm>
            <a:off x="5577840" y="2779776"/>
            <a:ext cx="1536192" cy="1901952"/>
          </a:xfrm>
          <a:prstGeom prst="roundRect">
            <a:avLst>
              <a:gd name="adj" fmla="val 238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278624" y="2779776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278624" y="3383280"/>
            <a:ext cx="2377440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278624" y="4151376"/>
            <a:ext cx="2377440" cy="475488"/>
          </a:xfrm>
          <a:prstGeom prst="roundRect">
            <a:avLst>
              <a:gd name="adj" fmla="val 769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705088" y="4736592"/>
            <a:ext cx="822960" cy="310896"/>
          </a:xfrm>
          <a:prstGeom prst="roundRect">
            <a:avLst>
              <a:gd name="adj" fmla="val 882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613648" y="4169664"/>
            <a:ext cx="2011680" cy="987552"/>
          </a:xfrm>
          <a:prstGeom prst="roundRect">
            <a:avLst>
              <a:gd name="adj" fmla="val 277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686800" y="4279392"/>
            <a:ext cx="100584" cy="7680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869680" y="429768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Hallazgos ocultos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8869680" y="4572000"/>
            <a:ext cx="1682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peso alto, headings pobres, links vagos y contraste discutible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de la clase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Hoy la calidad web aparece como estructura, carga, uso y evidencia técnica.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749808" y="1993392"/>
            <a:ext cx="1920240" cy="2487168"/>
          </a:xfrm>
          <a:prstGeom prst="roundRect">
            <a:avLst>
              <a:gd name="adj" fmla="val 190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2157984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69264" y="2651760"/>
            <a:ext cx="14813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Calidad web no es solo apariencia</a:t>
            </a:r>
            <a:endParaRPr lang="en-US" sz="1840" dirty="0"/>
          </a:p>
        </p:txBody>
      </p:sp>
      <p:sp>
        <p:nvSpPr>
          <p:cNvPr id="13" name="Shape 10"/>
          <p:cNvSpPr/>
          <p:nvPr/>
        </p:nvSpPr>
        <p:spPr>
          <a:xfrm>
            <a:off x="2752344" y="3072384"/>
            <a:ext cx="182880" cy="20116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80944" y="1993392"/>
            <a:ext cx="1993392" cy="2487168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80944" y="2157984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200400" y="26517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SEO técnico y estructura que sí se deja entender</a:t>
            </a:r>
            <a:endParaRPr lang="en-US" sz="1720" dirty="0"/>
          </a:p>
        </p:txBody>
      </p:sp>
      <p:sp>
        <p:nvSpPr>
          <p:cNvPr id="17" name="Shape 14"/>
          <p:cNvSpPr/>
          <p:nvPr/>
        </p:nvSpPr>
        <p:spPr>
          <a:xfrm>
            <a:off x="5047488" y="3072384"/>
            <a:ext cx="201168" cy="20116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03520" y="1993392"/>
            <a:ext cx="1993392" cy="2487168"/>
          </a:xfrm>
          <a:prstGeom prst="roundRect">
            <a:avLst>
              <a:gd name="adj" fmla="val 183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03520" y="2157984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522976" y="26517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Rendimiento y experiencia percibida</a:t>
            </a:r>
            <a:endParaRPr lang="en-US" sz="1780" dirty="0"/>
          </a:p>
        </p:txBody>
      </p:sp>
      <p:sp>
        <p:nvSpPr>
          <p:cNvPr id="21" name="Shape 18"/>
          <p:cNvSpPr/>
          <p:nvPr/>
        </p:nvSpPr>
        <p:spPr>
          <a:xfrm>
            <a:off x="7379208" y="3072384"/>
            <a:ext cx="201168" cy="20116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644384" y="1993392"/>
            <a:ext cx="2066544" cy="2487168"/>
          </a:xfrm>
          <a:prstGeom prst="roundRect">
            <a:avLst>
              <a:gd name="adj" fmla="val 177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44384" y="2157984"/>
            <a:ext cx="2066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863840" y="2651760"/>
            <a:ext cx="16276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Accesibilidad y auditoría con herramientas actuales</a:t>
            </a:r>
            <a:endParaRPr lang="en-US" sz="1680" dirty="0"/>
          </a:p>
        </p:txBody>
      </p:sp>
      <p:sp>
        <p:nvSpPr>
          <p:cNvPr id="25" name="Shape 22"/>
          <p:cNvSpPr/>
          <p:nvPr/>
        </p:nvSpPr>
        <p:spPr>
          <a:xfrm>
            <a:off x="1298448" y="5193792"/>
            <a:ext cx="8558784" cy="749808"/>
          </a:xfrm>
          <a:prstGeom prst="roundRect">
            <a:avLst>
              <a:gd name="adj" fmla="val 4878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9616" y="5358384"/>
            <a:ext cx="8156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 -&gt; visibilidad -&gt; experiencia -&gt; revisión técnica</a:t>
            </a:r>
            <a:endParaRPr lang="en-US" sz="18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1 · Calidad web no es solo apariencia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calidad también se juega en lo que la página comunica, carga, permite usar y deja medir.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77824" y="2103120"/>
            <a:ext cx="2962656" cy="3255264"/>
          </a:xfrm>
          <a:prstGeom prst="roundRect">
            <a:avLst>
              <a:gd name="adj" fmla="val 1235"/>
            </a:avLst>
          </a:prstGeom>
          <a:solidFill>
            <a:srgbClr val="2F5687"/>
          </a:solidFill>
          <a:ln w="12700">
            <a:solidFill>
              <a:srgbClr val="2F568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15568" y="2663099"/>
            <a:ext cx="215798" cy="496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74526" y="2468880"/>
            <a:ext cx="258958" cy="69055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676644" y="2663099"/>
            <a:ext cx="215798" cy="496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0" y="2980944"/>
            <a:ext cx="2249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interfaz puede verse limpia</a:t>
            </a:r>
            <a:endParaRPr lang="en-US" sz="2180" dirty="0"/>
          </a:p>
          <a:p>
            <a:pPr indent="0" marL="0">
              <a:buNone/>
            </a:pPr>
            <a:r>
              <a:rPr lang="en-US" sz="21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 estar bien resuelta.</a:t>
            </a:r>
            <a:endParaRPr lang="en-US" sz="2180" dirty="0"/>
          </a:p>
        </p:txBody>
      </p:sp>
      <p:sp>
        <p:nvSpPr>
          <p:cNvPr id="15" name="Shape 12"/>
          <p:cNvSpPr/>
          <p:nvPr/>
        </p:nvSpPr>
        <p:spPr>
          <a:xfrm>
            <a:off x="1133856" y="4626864"/>
            <a:ext cx="950976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07008" y="4663440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</a:t>
            </a:r>
            <a:endParaRPr lang="en-US" sz="810" dirty="0"/>
          </a:p>
        </p:txBody>
      </p:sp>
      <p:sp>
        <p:nvSpPr>
          <p:cNvPr id="17" name="Shape 14"/>
          <p:cNvSpPr/>
          <p:nvPr/>
        </p:nvSpPr>
        <p:spPr>
          <a:xfrm>
            <a:off x="2231136" y="4626864"/>
            <a:ext cx="950976" cy="219456"/>
          </a:xfrm>
          <a:prstGeom prst="roundRect">
            <a:avLst>
              <a:gd name="adj" fmla="val 2083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304288" y="4663440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carga</a:t>
            </a:r>
            <a:endParaRPr lang="en-US" sz="810" dirty="0"/>
          </a:p>
        </p:txBody>
      </p:sp>
      <p:sp>
        <p:nvSpPr>
          <p:cNvPr id="19" name="Shape 16"/>
          <p:cNvSpPr/>
          <p:nvPr/>
        </p:nvSpPr>
        <p:spPr>
          <a:xfrm>
            <a:off x="1133856" y="4937760"/>
            <a:ext cx="950976" cy="219456"/>
          </a:xfrm>
          <a:prstGeom prst="roundRect">
            <a:avLst>
              <a:gd name="adj" fmla="val 20833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07008" y="4974336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</a:t>
            </a:r>
            <a:endParaRPr lang="en-US" sz="810" dirty="0"/>
          </a:p>
        </p:txBody>
      </p:sp>
      <p:sp>
        <p:nvSpPr>
          <p:cNvPr id="21" name="Shape 18"/>
          <p:cNvSpPr/>
          <p:nvPr/>
        </p:nvSpPr>
        <p:spPr>
          <a:xfrm>
            <a:off x="2231136" y="4937760"/>
            <a:ext cx="95097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304288" y="4974336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810" dirty="0"/>
          </a:p>
        </p:txBody>
      </p:sp>
      <p:sp>
        <p:nvSpPr>
          <p:cNvPr id="23" name="Shape 20"/>
          <p:cNvSpPr/>
          <p:nvPr/>
        </p:nvSpPr>
        <p:spPr>
          <a:xfrm>
            <a:off x="4187952" y="2029968"/>
            <a:ext cx="3767328" cy="2596896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87952" y="2029968"/>
            <a:ext cx="3767328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334256" y="2157984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480560" y="2157984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626864" y="2157984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754880" y="2130552"/>
            <a:ext cx="2852928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01184" y="2167128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https://demo.local/home</a:t>
            </a:r>
            <a:endParaRPr lang="en-US" sz="880" dirty="0"/>
          </a:p>
        </p:txBody>
      </p:sp>
      <p:sp>
        <p:nvSpPr>
          <p:cNvPr id="30" name="Shape 27"/>
          <p:cNvSpPr/>
          <p:nvPr/>
        </p:nvSpPr>
        <p:spPr>
          <a:xfrm>
            <a:off x="4352544" y="2542032"/>
            <a:ext cx="3438144" cy="384048"/>
          </a:xfrm>
          <a:prstGeom prst="roundRect">
            <a:avLst>
              <a:gd name="adj" fmla="val 714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462272" y="2651760"/>
            <a:ext cx="3218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ve bien</a:t>
            </a:r>
            <a:endParaRPr lang="en-US" sz="940" dirty="0"/>
          </a:p>
        </p:txBody>
      </p:sp>
      <p:sp>
        <p:nvSpPr>
          <p:cNvPr id="32" name="Shape 29"/>
          <p:cNvSpPr/>
          <p:nvPr/>
        </p:nvSpPr>
        <p:spPr>
          <a:xfrm>
            <a:off x="4352544" y="3108960"/>
            <a:ext cx="1536192" cy="1316736"/>
          </a:xfrm>
          <a:prstGeom prst="roundRect">
            <a:avLst>
              <a:gd name="adj" fmla="val 277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053328" y="3108960"/>
            <a:ext cx="17373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053328" y="3712464"/>
            <a:ext cx="1737360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053328" y="4480560"/>
            <a:ext cx="1737360" cy="475488"/>
          </a:xfrm>
          <a:prstGeom prst="roundRect">
            <a:avLst>
              <a:gd name="adj" fmla="val 769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839712" y="5065776"/>
            <a:ext cx="822960" cy="310896"/>
          </a:xfrm>
          <a:prstGeom prst="roundRect">
            <a:avLst>
              <a:gd name="adj" fmla="val 882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193024" y="2194560"/>
            <a:ext cx="2139696" cy="896112"/>
          </a:xfrm>
          <a:prstGeom prst="roundRect">
            <a:avLst>
              <a:gd name="adj" fmla="val 306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266176" y="2304288"/>
            <a:ext cx="100584" cy="6766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449056" y="2322576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se entiende bien</a:t>
            </a:r>
            <a:endParaRPr lang="en-US" sz="1220" dirty="0"/>
          </a:p>
        </p:txBody>
      </p:sp>
      <p:sp>
        <p:nvSpPr>
          <p:cNvPr id="40" name="Text 37"/>
          <p:cNvSpPr/>
          <p:nvPr/>
        </p:nvSpPr>
        <p:spPr>
          <a:xfrm>
            <a:off x="8449056" y="2596896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 y headings pobres ocultan el propósito real.</a:t>
            </a:r>
            <a:endParaRPr lang="en-US" sz="880" dirty="0"/>
          </a:p>
        </p:txBody>
      </p:sp>
      <p:sp>
        <p:nvSpPr>
          <p:cNvPr id="41" name="Shape 38"/>
          <p:cNvSpPr/>
          <p:nvPr/>
        </p:nvSpPr>
        <p:spPr>
          <a:xfrm>
            <a:off x="8193024" y="3236976"/>
            <a:ext cx="2139696" cy="896112"/>
          </a:xfrm>
          <a:prstGeom prst="roundRect">
            <a:avLst>
              <a:gd name="adj" fmla="val 306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266176" y="3346704"/>
            <a:ext cx="100584" cy="6766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449056" y="336499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Carga pesada</a:t>
            </a:r>
            <a:endParaRPr lang="en-US" sz="1220" dirty="0"/>
          </a:p>
        </p:txBody>
      </p:sp>
      <p:sp>
        <p:nvSpPr>
          <p:cNvPr id="44" name="Text 41"/>
          <p:cNvSpPr/>
          <p:nvPr/>
        </p:nvSpPr>
        <p:spPr>
          <a:xfrm>
            <a:off x="8449056" y="3639312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primera vista depende de recursos que no aportan valor inmediato.</a:t>
            </a:r>
            <a:endParaRPr lang="en-US" sz="880" dirty="0"/>
          </a:p>
        </p:txBody>
      </p:sp>
      <p:sp>
        <p:nvSpPr>
          <p:cNvPr id="45" name="Shape 42"/>
          <p:cNvSpPr/>
          <p:nvPr/>
        </p:nvSpPr>
        <p:spPr>
          <a:xfrm>
            <a:off x="8193024" y="4279392"/>
            <a:ext cx="2139696" cy="896112"/>
          </a:xfrm>
          <a:prstGeom prst="roundRect">
            <a:avLst>
              <a:gd name="adj" fmla="val 306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266176" y="4389120"/>
            <a:ext cx="100584" cy="6766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449056" y="4407408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Uso frágil</a:t>
            </a:r>
            <a:endParaRPr lang="en-US" sz="1220" dirty="0"/>
          </a:p>
        </p:txBody>
      </p:sp>
      <p:sp>
        <p:nvSpPr>
          <p:cNvPr id="48" name="Text 45"/>
          <p:cNvSpPr/>
          <p:nvPr/>
        </p:nvSpPr>
        <p:spPr>
          <a:xfrm>
            <a:off x="8449056" y="4681728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labels, contraste o foco pueden fallar sin que se note de inmediato.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página puede verse bien y aun así estar mal resuelta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visual puede esconder problemas de estructura, peso o uso que no aparecen a simple vista.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77824" y="2139696"/>
            <a:ext cx="4498848" cy="3529584"/>
          </a:xfrm>
          <a:prstGeom prst="roundRect">
            <a:avLst>
              <a:gd name="adj" fmla="val 103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60704" y="23225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ve bien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042416" y="2651760"/>
            <a:ext cx="4114800" cy="2633472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42416" y="2651760"/>
            <a:ext cx="4114800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88720" y="2779776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335024" y="2779776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81328" y="2779776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609344" y="2752344"/>
            <a:ext cx="320040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755648" y="2788920"/>
            <a:ext cx="2907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https://demo.local/demo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1207008" y="3163824"/>
            <a:ext cx="3785616" cy="384048"/>
          </a:xfrm>
          <a:prstGeom prst="roundRect">
            <a:avLst>
              <a:gd name="adj" fmla="val 714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16736" y="3273552"/>
            <a:ext cx="3566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Interfaz ordenada</a:t>
            </a:r>
            <a:endParaRPr lang="en-US" sz="940" dirty="0"/>
          </a:p>
        </p:txBody>
      </p:sp>
      <p:sp>
        <p:nvSpPr>
          <p:cNvPr id="21" name="Shape 18"/>
          <p:cNvSpPr/>
          <p:nvPr/>
        </p:nvSpPr>
        <p:spPr>
          <a:xfrm>
            <a:off x="1207008" y="3730752"/>
            <a:ext cx="1536192" cy="1353312"/>
          </a:xfrm>
          <a:prstGeom prst="roundRect">
            <a:avLst>
              <a:gd name="adj" fmla="val 270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907792" y="3730752"/>
            <a:ext cx="208483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907792" y="4334256"/>
            <a:ext cx="2084832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907792" y="5102352"/>
            <a:ext cx="2084832" cy="475488"/>
          </a:xfrm>
          <a:prstGeom prst="roundRect">
            <a:avLst>
              <a:gd name="adj" fmla="val 769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041648" y="5687568"/>
            <a:ext cx="822960" cy="310896"/>
          </a:xfrm>
          <a:prstGeom prst="roundRect">
            <a:avLst>
              <a:gd name="adj" fmla="val 882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650992" y="2139696"/>
            <a:ext cx="4645152" cy="3529584"/>
          </a:xfrm>
          <a:prstGeom prst="roundRect">
            <a:avLst>
              <a:gd name="adj" fmla="val 1036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70448" y="232257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Pero conviene revisar</a:t>
            </a:r>
            <a:endParaRPr lang="en-US" sz="1520" dirty="0"/>
          </a:p>
        </p:txBody>
      </p:sp>
      <p:sp>
        <p:nvSpPr>
          <p:cNvPr id="28" name="Shape 25"/>
          <p:cNvSpPr/>
          <p:nvPr/>
        </p:nvSpPr>
        <p:spPr>
          <a:xfrm>
            <a:off x="5888736" y="2688336"/>
            <a:ext cx="4133088" cy="749808"/>
          </a:xfrm>
          <a:prstGeom prst="roundRect">
            <a:avLst>
              <a:gd name="adj" fmla="val 487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980176" y="2816352"/>
            <a:ext cx="109728" cy="4937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44768" y="2798064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Documento y estructura</a:t>
            </a:r>
            <a:endParaRPr lang="en-US" sz="1280" dirty="0"/>
          </a:p>
        </p:txBody>
      </p:sp>
      <p:sp>
        <p:nvSpPr>
          <p:cNvPr id="31" name="Text 28"/>
          <p:cNvSpPr/>
          <p:nvPr/>
        </p:nvSpPr>
        <p:spPr>
          <a:xfrm>
            <a:off x="6144768" y="3145536"/>
            <a:ext cx="3785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título, headings, semántica y enlaces explican de qué trata la página.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888736" y="3584448"/>
            <a:ext cx="4133088" cy="749808"/>
          </a:xfrm>
          <a:prstGeom prst="roundRect">
            <a:avLst>
              <a:gd name="adj" fmla="val 487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980176" y="3712464"/>
            <a:ext cx="109728" cy="4937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144768" y="3694176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Carga y recursos</a:t>
            </a:r>
            <a:endParaRPr lang="en-US" sz="1280" dirty="0"/>
          </a:p>
        </p:txBody>
      </p:sp>
      <p:sp>
        <p:nvSpPr>
          <p:cNvPr id="35" name="Text 32"/>
          <p:cNvSpPr/>
          <p:nvPr/>
        </p:nvSpPr>
        <p:spPr>
          <a:xfrm>
            <a:off x="6144768" y="4041648"/>
            <a:ext cx="3785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peso de imágenes, CSS, JS y terceros puede degradar la experiencia antes de leer.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888736" y="4480560"/>
            <a:ext cx="4133088" cy="749808"/>
          </a:xfrm>
          <a:prstGeom prst="roundRect">
            <a:avLst>
              <a:gd name="adj" fmla="val 487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980176" y="4608576"/>
            <a:ext cx="109728" cy="49377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144768" y="4590288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Uso y auditoría</a:t>
            </a:r>
            <a:endParaRPr lang="en-US" sz="1280" dirty="0"/>
          </a:p>
        </p:txBody>
      </p:sp>
      <p:sp>
        <p:nvSpPr>
          <p:cNvPr id="39" name="Text 36"/>
          <p:cNvSpPr/>
          <p:nvPr/>
        </p:nvSpPr>
        <p:spPr>
          <a:xfrm>
            <a:off x="6144768" y="4937760"/>
            <a:ext cx="3785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contraste, labels, foco y métricas vuelven visible una calidad que no siempre se ve a ojo.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calidad aparece en más de una capa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SEO técnico, rendimiento, accesibilidad y auditoría se cruzan; no viven como listas separadas.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22960" y="2029968"/>
            <a:ext cx="6912864" cy="3584448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157984"/>
            <a:ext cx="665683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231136"/>
            <a:ext cx="6437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Capas de calidad web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3493008" y="2487168"/>
            <a:ext cx="1572768" cy="219456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02736" y="2542032"/>
            <a:ext cx="1353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Calidad web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969264" y="2816352"/>
            <a:ext cx="3227832" cy="1069848"/>
          </a:xfrm>
          <a:prstGeom prst="roundRect">
            <a:avLst>
              <a:gd name="adj" fmla="val 341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60704" y="2926080"/>
            <a:ext cx="73152" cy="8503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25296" y="2962656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SEO técnico</a:t>
            </a:r>
            <a:endParaRPr lang="en-US" sz="1160" dirty="0"/>
          </a:p>
        </p:txBody>
      </p:sp>
      <p:sp>
        <p:nvSpPr>
          <p:cNvPr id="18" name="Text 15"/>
          <p:cNvSpPr/>
          <p:nvPr/>
        </p:nvSpPr>
        <p:spPr>
          <a:xfrm>
            <a:off x="1225296" y="3200400"/>
            <a:ext cx="2843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página debe dejar claro de qué trata y cómo está organizada.</a:t>
            </a:r>
            <a:endParaRPr lang="en-US" sz="810" dirty="0"/>
          </a:p>
        </p:txBody>
      </p:sp>
      <p:sp>
        <p:nvSpPr>
          <p:cNvPr id="19" name="Shape 16"/>
          <p:cNvSpPr/>
          <p:nvPr/>
        </p:nvSpPr>
        <p:spPr>
          <a:xfrm>
            <a:off x="4361688" y="2816352"/>
            <a:ext cx="3227832" cy="1069848"/>
          </a:xfrm>
          <a:prstGeom prst="roundRect">
            <a:avLst>
              <a:gd name="adj" fmla="val 341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453128" y="2926080"/>
            <a:ext cx="73152" cy="85039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17720" y="2962656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Rendimiento</a:t>
            </a:r>
            <a:endParaRPr lang="en-US" sz="1160" dirty="0"/>
          </a:p>
        </p:txBody>
      </p:sp>
      <p:sp>
        <p:nvSpPr>
          <p:cNvPr id="22" name="Text 19"/>
          <p:cNvSpPr/>
          <p:nvPr/>
        </p:nvSpPr>
        <p:spPr>
          <a:xfrm>
            <a:off x="4617720" y="3200400"/>
            <a:ext cx="2843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contenido útil debería aparecer mejor y sin costo innecesario.</a:t>
            </a:r>
            <a:endParaRPr lang="en-US" sz="810" dirty="0"/>
          </a:p>
        </p:txBody>
      </p:sp>
      <p:sp>
        <p:nvSpPr>
          <p:cNvPr id="23" name="Shape 20"/>
          <p:cNvSpPr/>
          <p:nvPr/>
        </p:nvSpPr>
        <p:spPr>
          <a:xfrm>
            <a:off x="969264" y="4050792"/>
            <a:ext cx="3227832" cy="1069848"/>
          </a:xfrm>
          <a:prstGeom prst="roundRect">
            <a:avLst>
              <a:gd name="adj" fmla="val 341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60704" y="4160520"/>
            <a:ext cx="73152" cy="8503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25296" y="4197096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Accesibilidad</a:t>
            </a:r>
            <a:endParaRPr lang="en-US" sz="1160" dirty="0"/>
          </a:p>
        </p:txBody>
      </p:sp>
      <p:sp>
        <p:nvSpPr>
          <p:cNvPr id="26" name="Text 23"/>
          <p:cNvSpPr/>
          <p:nvPr/>
        </p:nvSpPr>
        <p:spPr>
          <a:xfrm>
            <a:off x="1225296" y="4434840"/>
            <a:ext cx="2843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interfaz clara también debe poder leerse, recorrerse y usarse mejor.</a:t>
            </a:r>
            <a:endParaRPr lang="en-US" sz="810" dirty="0"/>
          </a:p>
        </p:txBody>
      </p:sp>
      <p:sp>
        <p:nvSpPr>
          <p:cNvPr id="27" name="Shape 24"/>
          <p:cNvSpPr/>
          <p:nvPr/>
        </p:nvSpPr>
        <p:spPr>
          <a:xfrm>
            <a:off x="4361688" y="4050792"/>
            <a:ext cx="3227832" cy="1069848"/>
          </a:xfrm>
          <a:prstGeom prst="roundRect">
            <a:avLst>
              <a:gd name="adj" fmla="val 341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453128" y="4160520"/>
            <a:ext cx="73152" cy="8503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17720" y="4197096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Auditoría</a:t>
            </a:r>
            <a:endParaRPr lang="en-US" sz="1160" dirty="0"/>
          </a:p>
        </p:txBody>
      </p:sp>
      <p:sp>
        <p:nvSpPr>
          <p:cNvPr id="30" name="Text 27"/>
          <p:cNvSpPr/>
          <p:nvPr/>
        </p:nvSpPr>
        <p:spPr>
          <a:xfrm>
            <a:off x="4617720" y="4434840"/>
            <a:ext cx="2843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Herramientas y reportes ayudan a pasar de intuición a evidencia.</a:t>
            </a:r>
            <a:endParaRPr lang="en-US" sz="810" dirty="0"/>
          </a:p>
        </p:txBody>
      </p:sp>
      <p:sp>
        <p:nvSpPr>
          <p:cNvPr id="31" name="Text 28"/>
          <p:cNvSpPr/>
          <p:nvPr/>
        </p:nvSpPr>
        <p:spPr>
          <a:xfrm>
            <a:off x="1005840" y="5449824"/>
            <a:ext cx="6547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calidad web no vive en una sola métrica ni en una sola disciplina.</a:t>
            </a:r>
            <a:endParaRPr lang="en-US" sz="840" dirty="0"/>
          </a:p>
        </p:txBody>
      </p:sp>
      <p:sp>
        <p:nvSpPr>
          <p:cNvPr id="32" name="Shape 29"/>
          <p:cNvSpPr/>
          <p:nvPr/>
        </p:nvSpPr>
        <p:spPr>
          <a:xfrm>
            <a:off x="7955280" y="2212848"/>
            <a:ext cx="2121408" cy="932688"/>
          </a:xfrm>
          <a:prstGeom prst="roundRect">
            <a:avLst>
              <a:gd name="adj" fmla="val 294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028432" y="2322576"/>
            <a:ext cx="100584" cy="7132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211312" y="234086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mejora cruza capas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8211312" y="2615184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más claro puede ayudar tanto a visibilidad como a accesibilidad.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7955280" y="3346704"/>
            <a:ext cx="2121408" cy="932688"/>
          </a:xfrm>
          <a:prstGeom prst="roundRect">
            <a:avLst>
              <a:gd name="adj" fmla="val 294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028432" y="3456432"/>
            <a:ext cx="100584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211312" y="347472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recurso pesado impacta dos veces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8211312" y="3749040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empeora carga y también la experiencia percibida.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7955280" y="4480560"/>
            <a:ext cx="2121408" cy="932688"/>
          </a:xfrm>
          <a:prstGeom prst="roundRect">
            <a:avLst>
              <a:gd name="adj" fmla="val 294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028432" y="4590288"/>
            <a:ext cx="100584" cy="7132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211312" y="460857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Auditar no es decorar</a:t>
            </a:r>
            <a:endParaRPr lang="en-US" sz="1250" dirty="0"/>
          </a:p>
        </p:txBody>
      </p:sp>
      <p:sp>
        <p:nvSpPr>
          <p:cNvPr id="43" name="Text 40"/>
          <p:cNvSpPr/>
          <p:nvPr/>
        </p:nvSpPr>
        <p:spPr>
          <a:xfrm>
            <a:off x="8211312" y="4882896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 permite detectar problemas que visualmente pasan desapercibidos.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Estas dimensiones no viven separadas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una página mejora o empeora, normalmente lo hace en varias capas a la vez.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77824" y="2029968"/>
            <a:ext cx="9400032" cy="841248"/>
          </a:xfrm>
          <a:prstGeom prst="roundRect">
            <a:avLst>
              <a:gd name="adj" fmla="val 4348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8992" y="2194560"/>
            <a:ext cx="8997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estructura más clara mejora comprensión. Un recurso mal resuelto empeora carga. Un formulario mal etiquetado afecta uso.</a:t>
            </a:r>
            <a:endParaRPr lang="en-US" sz="1720" dirty="0"/>
          </a:p>
        </p:txBody>
      </p:sp>
      <p:sp>
        <p:nvSpPr>
          <p:cNvPr id="12" name="Shape 9"/>
          <p:cNvSpPr/>
          <p:nvPr/>
        </p:nvSpPr>
        <p:spPr>
          <a:xfrm>
            <a:off x="969264" y="3255264"/>
            <a:ext cx="2560320" cy="1353312"/>
          </a:xfrm>
          <a:prstGeom prst="roundRect">
            <a:avLst>
              <a:gd name="adj" fmla="val 270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60704" y="3383280"/>
            <a:ext cx="109728" cy="10972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25296" y="336499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25296" y="3712464"/>
            <a:ext cx="22128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title, headings, regiones semánticas y enlaces ayudan a entender de qué trata la página.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3712464" y="3785616"/>
            <a:ext cx="384048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96512" y="3255264"/>
            <a:ext cx="2615184" cy="1353312"/>
          </a:xfrm>
          <a:prstGeom prst="roundRect">
            <a:avLst>
              <a:gd name="adj" fmla="val 270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87952" y="3383280"/>
            <a:ext cx="109728" cy="10972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52544" y="336499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Carga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352544" y="3712464"/>
            <a:ext cx="22677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peso, orden de recursos y bloqueo inicial cambian la experiencia antes de leer.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6931152" y="3785616"/>
            <a:ext cx="384048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15200" y="3255264"/>
            <a:ext cx="2615184" cy="1353312"/>
          </a:xfrm>
          <a:prstGeom prst="roundRect">
            <a:avLst>
              <a:gd name="adj" fmla="val 270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06640" y="3383280"/>
            <a:ext cx="109728" cy="109728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71232" y="336499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Uso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571232" y="3712464"/>
            <a:ext cx="22677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contraste, labels, foco y orden de lectura definen qué tan clara resulta la interfaz.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1938528" y="5029200"/>
            <a:ext cx="704088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139696" y="5193792"/>
            <a:ext cx="6638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auditoría sirve justamente para volver visible esa conversación completa.</a:t>
            </a:r>
            <a:endParaRPr lang="en-US" sz="1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Intuición visual no basta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Mirar una pantalla a ojo ayuda, pero no alcanza para diagnosticar calidad técnica.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96112" y="2103120"/>
            <a:ext cx="4553712" cy="3511296"/>
          </a:xfrm>
          <a:prstGeom prst="roundRect">
            <a:avLst>
              <a:gd name="adj" fmla="val 104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230428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intuitiva</a:t>
            </a:r>
            <a:endParaRPr lang="en-US" sz="1480" dirty="0"/>
          </a:p>
        </p:txBody>
      </p:sp>
      <p:sp>
        <p:nvSpPr>
          <p:cNvPr id="12" name="Shape 9"/>
          <p:cNvSpPr/>
          <p:nvPr/>
        </p:nvSpPr>
        <p:spPr>
          <a:xfrm>
            <a:off x="1060704" y="2670048"/>
            <a:ext cx="2889504" cy="2267712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60704" y="2670048"/>
            <a:ext cx="2889504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07008" y="2798064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353312" y="2798064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99616" y="2798064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627632" y="2770632"/>
            <a:ext cx="1975104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773936" y="2807208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https://demo.local/portafolio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1225296" y="3182112"/>
            <a:ext cx="2560320" cy="384048"/>
          </a:xfrm>
          <a:prstGeom prst="roundRect">
            <a:avLst>
              <a:gd name="adj" fmla="val 714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35024" y="3291840"/>
            <a:ext cx="23408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ve ordenada</a:t>
            </a:r>
            <a:endParaRPr lang="en-US" sz="940" dirty="0"/>
          </a:p>
        </p:txBody>
      </p:sp>
      <p:sp>
        <p:nvSpPr>
          <p:cNvPr id="21" name="Shape 18"/>
          <p:cNvSpPr/>
          <p:nvPr/>
        </p:nvSpPr>
        <p:spPr>
          <a:xfrm>
            <a:off x="1225296" y="3749040"/>
            <a:ext cx="1536192" cy="987552"/>
          </a:xfrm>
          <a:prstGeom prst="roundRect">
            <a:avLst>
              <a:gd name="adj" fmla="val 370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926080" y="3749040"/>
            <a:ext cx="859536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926080" y="4352544"/>
            <a:ext cx="859536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926080" y="5120640"/>
            <a:ext cx="859536" cy="475488"/>
          </a:xfrm>
          <a:prstGeom prst="roundRect">
            <a:avLst>
              <a:gd name="adj" fmla="val 769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834640" y="5705856"/>
            <a:ext cx="822960" cy="310896"/>
          </a:xfrm>
          <a:prstGeom prst="roundRect">
            <a:avLst>
              <a:gd name="adj" fmla="val 882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931920" y="2834640"/>
            <a:ext cx="1316736" cy="1005840"/>
          </a:xfrm>
          <a:prstGeom prst="roundRect">
            <a:avLst>
              <a:gd name="adj" fmla="val 272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005072" y="2944368"/>
            <a:ext cx="100584" cy="786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87952" y="2962656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Parece bien</a:t>
            </a:r>
            <a:endParaRPr lang="en-US" sz="1240" dirty="0"/>
          </a:p>
        </p:txBody>
      </p:sp>
      <p:sp>
        <p:nvSpPr>
          <p:cNvPr id="29" name="Text 26"/>
          <p:cNvSpPr/>
          <p:nvPr/>
        </p:nvSpPr>
        <p:spPr>
          <a:xfrm>
            <a:off x="4187952" y="3236976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pero todavía no dice nada sobre estructura o carga.</a:t>
            </a:r>
            <a:endParaRPr lang="en-US" sz="840" dirty="0"/>
          </a:p>
        </p:txBody>
      </p:sp>
      <p:sp>
        <p:nvSpPr>
          <p:cNvPr id="30" name="Shape 27"/>
          <p:cNvSpPr/>
          <p:nvPr/>
        </p:nvSpPr>
        <p:spPr>
          <a:xfrm>
            <a:off x="5742432" y="2103120"/>
            <a:ext cx="4425696" cy="3511296"/>
          </a:xfrm>
          <a:prstGeom prst="roundRect">
            <a:avLst>
              <a:gd name="adj" fmla="val 1042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0" y="230428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técnica</a:t>
            </a:r>
            <a:endParaRPr lang="en-US" sz="1480" dirty="0"/>
          </a:p>
        </p:txBody>
      </p:sp>
      <p:sp>
        <p:nvSpPr>
          <p:cNvPr id="32" name="Shape 29"/>
          <p:cNvSpPr/>
          <p:nvPr/>
        </p:nvSpPr>
        <p:spPr>
          <a:xfrm>
            <a:off x="5961888" y="2779776"/>
            <a:ext cx="3822192" cy="786384"/>
          </a:xfrm>
          <a:prstGeom prst="roundRect">
            <a:avLst>
              <a:gd name="adj" fmla="val 348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035040" y="2889504"/>
            <a:ext cx="100584" cy="5669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217920" y="2907792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Documento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6217920" y="3182112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¿title, headings y links explican bien la página?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5961888" y="3657600"/>
            <a:ext cx="3822192" cy="786384"/>
          </a:xfrm>
          <a:prstGeom prst="roundRect">
            <a:avLst>
              <a:gd name="adj" fmla="val 348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035040" y="3767328"/>
            <a:ext cx="100584" cy="5669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217920" y="3785616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Recursos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6217920" y="4059936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recursos pesan más y qué bloquea el contenido principal?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5961888" y="4535424"/>
            <a:ext cx="3822192" cy="786384"/>
          </a:xfrm>
          <a:prstGeom prst="roundRect">
            <a:avLst>
              <a:gd name="adj" fmla="val 348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035040" y="4645152"/>
            <a:ext cx="100584" cy="5669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217920" y="466344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Uso y señales</a:t>
            </a:r>
            <a:endParaRPr lang="en-US" sz="1250" dirty="0"/>
          </a:p>
        </p:txBody>
      </p:sp>
      <p:sp>
        <p:nvSpPr>
          <p:cNvPr id="43" name="Text 40"/>
          <p:cNvSpPr/>
          <p:nvPr/>
        </p:nvSpPr>
        <p:spPr>
          <a:xfrm>
            <a:off x="6217920" y="4937760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¿hay contraste suficiente, labels claros y alertas que convenga priorizar?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tipo de evidencia empezaremos a leer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objetivo no es memorizar herramientas, sino aprender qué señales vale la pena interpretar.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41248" y="1993392"/>
            <a:ext cx="7223760" cy="3675888"/>
          </a:xfrm>
          <a:prstGeom prst="roundRect">
            <a:avLst>
              <a:gd name="adj" fmla="val 99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121408"/>
            <a:ext cx="6967728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2194560"/>
            <a:ext cx="6748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que conviene leer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87552" y="2560320"/>
            <a:ext cx="2193188" cy="1243584"/>
          </a:xfrm>
          <a:prstGeom prst="roundRect">
            <a:avLst>
              <a:gd name="adj" fmla="val 294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78992" y="2670048"/>
            <a:ext cx="73152" cy="10241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43584" y="2706624"/>
            <a:ext cx="18274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Documento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1243584" y="2926080"/>
            <a:ext cx="18091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title, headings, enlaces y regiones semánticas muestran si la página se deja entender.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345332" y="2560320"/>
            <a:ext cx="2193188" cy="1243584"/>
          </a:xfrm>
          <a:prstGeom prst="roundRect">
            <a:avLst>
              <a:gd name="adj" fmla="val 294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36772" y="2670048"/>
            <a:ext cx="73152" cy="10241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01364" y="2706624"/>
            <a:ext cx="18274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Recursos</a:t>
            </a:r>
            <a:endParaRPr lang="en-US" sz="1120" dirty="0"/>
          </a:p>
        </p:txBody>
      </p:sp>
      <p:sp>
        <p:nvSpPr>
          <p:cNvPr id="20" name="Text 17"/>
          <p:cNvSpPr/>
          <p:nvPr/>
        </p:nvSpPr>
        <p:spPr>
          <a:xfrm>
            <a:off x="3601364" y="2926080"/>
            <a:ext cx="18091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imágenes, CSS, JS y terceros dejan ver dónde se está yendo el peso.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987552" y="3968496"/>
            <a:ext cx="2193188" cy="1243584"/>
          </a:xfrm>
          <a:prstGeom prst="roundRect">
            <a:avLst>
              <a:gd name="adj" fmla="val 294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78992" y="4078224"/>
            <a:ext cx="73152" cy="10241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43584" y="4114800"/>
            <a:ext cx="18274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Métricas</a:t>
            </a:r>
            <a:endParaRPr lang="en-US" sz="1120" dirty="0"/>
          </a:p>
        </p:txBody>
      </p:sp>
      <p:sp>
        <p:nvSpPr>
          <p:cNvPr id="24" name="Text 21"/>
          <p:cNvSpPr/>
          <p:nvPr/>
        </p:nvSpPr>
        <p:spPr>
          <a:xfrm>
            <a:off x="1243584" y="4334256"/>
            <a:ext cx="18091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LCP, CLS e INP conectan el diagnóstico con la experiencia percibida.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345332" y="3968496"/>
            <a:ext cx="2193188" cy="1243584"/>
          </a:xfrm>
          <a:prstGeom prst="roundRect">
            <a:avLst>
              <a:gd name="adj" fmla="val 294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436772" y="4078224"/>
            <a:ext cx="73152" cy="10241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01364" y="4114800"/>
            <a:ext cx="18274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Alertas</a:t>
            </a:r>
            <a:endParaRPr lang="en-US" sz="1120" dirty="0"/>
          </a:p>
        </p:txBody>
      </p:sp>
      <p:sp>
        <p:nvSpPr>
          <p:cNvPr id="28" name="Text 25"/>
          <p:cNvSpPr/>
          <p:nvPr/>
        </p:nvSpPr>
        <p:spPr>
          <a:xfrm>
            <a:off x="3601364" y="4334256"/>
            <a:ext cx="18091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Lighthouse y DevTools revelan problemas que visualmente pasan desapercibidos.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5703113" y="2560320"/>
            <a:ext cx="2215591" cy="2651760"/>
          </a:xfrm>
          <a:prstGeom prst="roundRect">
            <a:avLst>
              <a:gd name="adj" fmla="val 1651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49417" y="2706624"/>
            <a:ext cx="192298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técnica</a:t>
            </a:r>
            <a:endParaRPr lang="en-US" sz="1220" dirty="0"/>
          </a:p>
        </p:txBody>
      </p:sp>
      <p:sp>
        <p:nvSpPr>
          <p:cNvPr id="31" name="Text 28"/>
          <p:cNvSpPr/>
          <p:nvPr/>
        </p:nvSpPr>
        <p:spPr>
          <a:xfrm>
            <a:off x="5849417" y="2907792"/>
            <a:ext cx="192298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calidad web se entiende mejor cuando cruzamos documento, carga, métricas y alertas antes de decidir qué corregir.</a:t>
            </a:r>
            <a:endParaRPr lang="en-US" sz="830" dirty="0"/>
          </a:p>
        </p:txBody>
      </p:sp>
      <p:sp>
        <p:nvSpPr>
          <p:cNvPr id="32" name="Shape 29"/>
          <p:cNvSpPr/>
          <p:nvPr/>
        </p:nvSpPr>
        <p:spPr>
          <a:xfrm>
            <a:off x="5849417" y="3529584"/>
            <a:ext cx="1922983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940857" y="3621024"/>
            <a:ext cx="91440" cy="9144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087161" y="3602736"/>
            <a:ext cx="168523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la señal</a:t>
            </a:r>
            <a:endParaRPr lang="en-US" sz="840" dirty="0"/>
          </a:p>
        </p:txBody>
      </p:sp>
      <p:sp>
        <p:nvSpPr>
          <p:cNvPr id="35" name="Shape 32"/>
          <p:cNvSpPr/>
          <p:nvPr/>
        </p:nvSpPr>
        <p:spPr>
          <a:xfrm>
            <a:off x="5849417" y="3950208"/>
            <a:ext cx="1922983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940857" y="4041648"/>
            <a:ext cx="91440" cy="9144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087161" y="4023360"/>
            <a:ext cx="168523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priorizar impacto</a:t>
            </a:r>
            <a:endParaRPr lang="en-US" sz="840" dirty="0"/>
          </a:p>
        </p:txBody>
      </p:sp>
      <p:sp>
        <p:nvSpPr>
          <p:cNvPr id="38" name="Shape 35"/>
          <p:cNvSpPr/>
          <p:nvPr/>
        </p:nvSpPr>
        <p:spPr>
          <a:xfrm>
            <a:off x="5849417" y="4370832"/>
            <a:ext cx="1922983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940857" y="4462272"/>
            <a:ext cx="91440" cy="9144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087161" y="4443984"/>
            <a:ext cx="168523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en navegador</a:t>
            </a:r>
            <a:endParaRPr lang="en-US" sz="840" dirty="0"/>
          </a:p>
        </p:txBody>
      </p:sp>
      <p:sp>
        <p:nvSpPr>
          <p:cNvPr id="41" name="Text 38"/>
          <p:cNvSpPr/>
          <p:nvPr/>
        </p:nvSpPr>
        <p:spPr>
          <a:xfrm>
            <a:off x="1024128" y="5504688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evidencia sirve cuando se interpreta antes de actuar.</a:t>
            </a:r>
            <a:endParaRPr lang="en-US" sz="840" dirty="0"/>
          </a:p>
        </p:txBody>
      </p:sp>
      <p:sp>
        <p:nvSpPr>
          <p:cNvPr id="42" name="Shape 39"/>
          <p:cNvSpPr/>
          <p:nvPr/>
        </p:nvSpPr>
        <p:spPr>
          <a:xfrm>
            <a:off x="8211312" y="2194560"/>
            <a:ext cx="1901952" cy="1005840"/>
          </a:xfrm>
          <a:prstGeom prst="roundRect">
            <a:avLst>
              <a:gd name="adj" fmla="val 272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284464" y="2304288"/>
            <a:ext cx="100584" cy="786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467344" y="232257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todo pesa igual</a:t>
            </a:r>
            <a:endParaRPr lang="en-US" sz="1160" dirty="0"/>
          </a:p>
        </p:txBody>
      </p:sp>
      <p:sp>
        <p:nvSpPr>
          <p:cNvPr id="45" name="Text 42"/>
          <p:cNvSpPr/>
          <p:nvPr/>
        </p:nvSpPr>
        <p:spPr>
          <a:xfrm>
            <a:off x="8467344" y="2596896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advertencia menor no tiene el mismo impacto que un heading roto o una imagen enorme.</a:t>
            </a:r>
            <a:endParaRPr lang="en-US" sz="830" dirty="0"/>
          </a:p>
        </p:txBody>
      </p:sp>
      <p:sp>
        <p:nvSpPr>
          <p:cNvPr id="46" name="Shape 43"/>
          <p:cNvSpPr/>
          <p:nvPr/>
        </p:nvSpPr>
        <p:spPr>
          <a:xfrm>
            <a:off x="8211312" y="3401568"/>
            <a:ext cx="1901952" cy="1005840"/>
          </a:xfrm>
          <a:prstGeom prst="roundRect">
            <a:avLst>
              <a:gd name="adj" fmla="val 272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284464" y="3511296"/>
            <a:ext cx="100584" cy="7863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467344" y="352958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Leer antes de optimizar</a:t>
            </a:r>
            <a:endParaRPr lang="en-US" sz="1160" dirty="0"/>
          </a:p>
        </p:txBody>
      </p:sp>
      <p:sp>
        <p:nvSpPr>
          <p:cNvPr id="49" name="Text 46"/>
          <p:cNvSpPr/>
          <p:nvPr/>
        </p:nvSpPr>
        <p:spPr>
          <a:xfrm>
            <a:off x="8467344" y="3803904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entender el problema; después decidir la mejora.</a:t>
            </a:r>
            <a:endParaRPr lang="en-US" sz="830" dirty="0"/>
          </a:p>
        </p:txBody>
      </p:sp>
      <p:sp>
        <p:nvSpPr>
          <p:cNvPr id="50" name="Shape 47"/>
          <p:cNvSpPr/>
          <p:nvPr/>
        </p:nvSpPr>
        <p:spPr>
          <a:xfrm>
            <a:off x="8211312" y="4608576"/>
            <a:ext cx="1901952" cy="1005840"/>
          </a:xfrm>
          <a:prstGeom prst="roundRect">
            <a:avLst>
              <a:gd name="adj" fmla="val 272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284464" y="4718304"/>
            <a:ext cx="100584" cy="78638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467344" y="473659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clase sigue este orden</a:t>
            </a:r>
            <a:endParaRPr lang="en-US" sz="1140" dirty="0"/>
          </a:p>
        </p:txBody>
      </p:sp>
      <p:sp>
        <p:nvSpPr>
          <p:cNvPr id="53" name="Text 50"/>
          <p:cNvSpPr/>
          <p:nvPr/>
        </p:nvSpPr>
        <p:spPr>
          <a:xfrm>
            <a:off x="8467344" y="5010912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estructura, rendimiento, accesibilidad y auditoría como lectura conectada.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herramientas ayudan a medir, pero no deciden solas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auditoría ordena señales; el criterio técnico sigue siendo necesario para leer prioridad y contexto.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96112" y="2157984"/>
            <a:ext cx="4882896" cy="2414016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286000"/>
            <a:ext cx="4626864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359152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Auditoría rápida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60704" y="2834640"/>
            <a:ext cx="1014984" cy="1426464"/>
          </a:xfrm>
          <a:prstGeom prst="roundRect">
            <a:avLst>
              <a:gd name="adj" fmla="val 270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68639" y="3005816"/>
            <a:ext cx="599115" cy="59911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16568" y="3185550"/>
            <a:ext cx="503256" cy="179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33856" y="3776106"/>
            <a:ext cx="868680" cy="411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SEO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2240280" y="2834640"/>
            <a:ext cx="1014984" cy="1426464"/>
          </a:xfrm>
          <a:prstGeom prst="roundRect">
            <a:avLst>
              <a:gd name="adj" fmla="val 270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448215" y="3005816"/>
            <a:ext cx="599115" cy="59911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496144" y="3185550"/>
            <a:ext cx="503256" cy="179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313432" y="3776106"/>
            <a:ext cx="868680" cy="411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Rendimiento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3419856" y="2834640"/>
            <a:ext cx="1014984" cy="1426464"/>
          </a:xfrm>
          <a:prstGeom prst="roundRect">
            <a:avLst>
              <a:gd name="adj" fmla="val 2703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27791" y="3005816"/>
            <a:ext cx="599115" cy="59911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75720" y="3185550"/>
            <a:ext cx="503256" cy="179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89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493008" y="3776106"/>
            <a:ext cx="868680" cy="411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Accesibilidad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4599432" y="2834640"/>
            <a:ext cx="1014984" cy="1426464"/>
          </a:xfrm>
          <a:prstGeom prst="roundRect">
            <a:avLst>
              <a:gd name="adj" fmla="val 2703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07367" y="3005816"/>
            <a:ext cx="599115" cy="59911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55296" y="3185550"/>
            <a:ext cx="503256" cy="179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82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672584" y="3776106"/>
            <a:ext cx="868680" cy="411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Buenas prácticas</a:t>
            </a:r>
            <a:endParaRPr lang="en-US" sz="760" dirty="0"/>
          </a:p>
        </p:txBody>
      </p:sp>
      <p:sp>
        <p:nvSpPr>
          <p:cNvPr id="29" name="Text 26"/>
          <p:cNvSpPr/>
          <p:nvPr/>
        </p:nvSpPr>
        <p:spPr>
          <a:xfrm>
            <a:off x="1060704" y="4370832"/>
            <a:ext cx="45537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score orienta, pero no explica por sí solo qué conviene corregir primero.</a:t>
            </a:r>
            <a:endParaRPr lang="en-US" sz="860" dirty="0"/>
          </a:p>
        </p:txBody>
      </p:sp>
      <p:sp>
        <p:nvSpPr>
          <p:cNvPr id="30" name="Shape 27"/>
          <p:cNvSpPr/>
          <p:nvPr/>
        </p:nvSpPr>
        <p:spPr>
          <a:xfrm>
            <a:off x="6053328" y="2267712"/>
            <a:ext cx="3730752" cy="950976"/>
          </a:xfrm>
          <a:prstGeom prst="roundRect">
            <a:avLst>
              <a:gd name="adj" fmla="val 384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144768" y="2395728"/>
            <a:ext cx="109728" cy="6949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09360" y="237744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alerta no equivale automáticamente a prioridad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309360" y="27249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Hay hallazgos pequeños, otros repetidos y otros que sí dañan visibilidad, carga o uso real.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053328" y="3401568"/>
            <a:ext cx="3730752" cy="950976"/>
          </a:xfrm>
          <a:prstGeom prst="roundRect">
            <a:avLst>
              <a:gd name="adj" fmla="val 384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144768" y="3529584"/>
            <a:ext cx="109728" cy="6949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09360" y="351129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contexto decide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309360" y="38587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mismo problema no pesa igual en una landing simple, un catálogo o un formulario clave.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053328" y="4535424"/>
            <a:ext cx="3730752" cy="950976"/>
          </a:xfrm>
          <a:prstGeom prst="roundRect">
            <a:avLst>
              <a:gd name="adj" fmla="val 384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144768" y="4663440"/>
            <a:ext cx="109728" cy="69494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309360" y="464515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Medir no reemplaza leer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6309360" y="49926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herramienta vuelve visible el problema. La interpretación técnica sigue siendo humana.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puede resumir hallazgos; tú validas el problema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Herramientas y agentes ayudan a leer más rápido, pero no reemplazan la decisión técnica final.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139696"/>
            <a:ext cx="8997696" cy="3364992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267712"/>
            <a:ext cx="8741664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340864"/>
            <a:ext cx="8522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puede acelerar un agente y qué sigue siendo tuyo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78992" y="2706624"/>
            <a:ext cx="3493008" cy="2340864"/>
          </a:xfrm>
          <a:prstGeom prst="roundRect">
            <a:avLst>
              <a:gd name="adj" fmla="val 156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88720" y="2834640"/>
            <a:ext cx="109728" cy="20848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89888" y="2834640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Puede ayudar con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89888" y="3108960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inicial de reportes y agrupación de señales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389888" y="3456432"/>
            <a:ext cx="3035808" cy="301752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81328" y="3566160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627632" y="35021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resumir hallazgos de auditoría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389888" y="3849624"/>
            <a:ext cx="3035808" cy="301752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481328" y="395935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627632" y="38953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ordenar alertas por tema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389888" y="4242816"/>
            <a:ext cx="3035808" cy="301752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481328" y="435254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27632" y="428853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 qué significa una métrica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389888" y="4636008"/>
            <a:ext cx="3035808" cy="301752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481328" y="474573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627632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proponer una primera lista de mejoras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291072" y="2706624"/>
            <a:ext cx="3493008" cy="2340864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0800" y="2834640"/>
            <a:ext cx="109728" cy="20848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01968" y="2834640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conviene delegar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601968" y="3108960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validación, prioridad y lectura en contexto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6601968" y="3456432"/>
            <a:ext cx="3035808" cy="301752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693408" y="356616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39712" y="35021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 por buena una mejora solo porque subió el score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01968" y="3849624"/>
            <a:ext cx="3035808" cy="301752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693408" y="3959352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839712" y="38953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 prioridad sin leer la página real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601968" y="4242816"/>
            <a:ext cx="3035808" cy="301752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693408" y="435254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839712" y="428853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aceptar cambios automáticos sin revisar navegador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601968" y="4636008"/>
            <a:ext cx="3035808" cy="301752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693408" y="474573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839712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confundir puntaje con experiencia real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828032" y="3063240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937760" y="3209544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010912" y="3630168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992624" y="325526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real</a:t>
            </a:r>
            <a:endParaRPr lang="en-US" sz="1060" dirty="0"/>
          </a:p>
        </p:txBody>
      </p:sp>
      <p:sp>
        <p:nvSpPr>
          <p:cNvPr id="49" name="Text 46"/>
          <p:cNvSpPr/>
          <p:nvPr/>
        </p:nvSpPr>
        <p:spPr>
          <a:xfrm>
            <a:off x="4956048" y="404164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herramienta y el agente aceleran hipótesis. El desarrollador valida la experiencia.</a:t>
            </a:r>
            <a:endParaRPr lang="en-US" sz="720" dirty="0"/>
          </a:p>
        </p:txBody>
      </p:sp>
      <p:sp>
        <p:nvSpPr>
          <p:cNvPr id="50" name="Shape 47"/>
          <p:cNvSpPr/>
          <p:nvPr/>
        </p:nvSpPr>
        <p:spPr>
          <a:xfrm>
            <a:off x="1133856" y="5102352"/>
            <a:ext cx="8595360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243584" y="5148072"/>
            <a:ext cx="83759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 -&gt; medir -&gt; apoyarse -&gt; validar.</a:t>
            </a:r>
            <a:endParaRPr lang="en-US" sz="8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para cerrar 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pasar a SEO técnico, conviene fijar la diferencia entre apariencia y calidad revisable.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87552" y="2231136"/>
            <a:ext cx="9180576" cy="859536"/>
          </a:xfrm>
          <a:prstGeom prst="roundRect">
            <a:avLst>
              <a:gd name="adj" fmla="val 425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359152"/>
            <a:ext cx="109728" cy="6035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43584" y="2340864"/>
            <a:ext cx="8833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¿Por qué una página puede verse correcta y aun así estar mal resuelta técnicamente?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43584" y="2688336"/>
            <a:ext cx="8833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respuesta ya debería incluir estructura, carga, uso y posibilidad de medición.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987552" y="3310128"/>
            <a:ext cx="9180576" cy="859536"/>
          </a:xfrm>
          <a:prstGeom prst="roundRect">
            <a:avLst>
              <a:gd name="adj" fmla="val 425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78992" y="3438144"/>
            <a:ext cx="109728" cy="6035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43584" y="3419856"/>
            <a:ext cx="8833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¿Qué cambia cuando pasamos de una lectura visual a una lectura basada en evidencia?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243584" y="3767328"/>
            <a:ext cx="8833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Dejamos de confiar solo en impresión y empezamos a leer documento, recursos, métricas y alertas.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987552" y="4389120"/>
            <a:ext cx="9180576" cy="859536"/>
          </a:xfrm>
          <a:prstGeom prst="roundRect">
            <a:avLst>
              <a:gd name="adj" fmla="val 425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78992" y="4517136"/>
            <a:ext cx="109728" cy="6035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43584" y="4498848"/>
            <a:ext cx="8833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¿Por qué una auditoría automática ayuda mucho, pero no debería gobernar sola la decisión final?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43584" y="4846320"/>
            <a:ext cx="8833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Porque detectar problemas no equivale todavía a entender impacto, prioridad ni experiencia real.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del Bloque 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calidad web ya quedó instalada como una lectura múltiple: ahora entraremos al primer eje concreto de esa revisión.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1024128" y="2176272"/>
            <a:ext cx="9015984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25296" y="2340864"/>
            <a:ext cx="86136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página madura no se evalúa solo por cómo se ve, sino por qué tan bien se deja entender, cargar, usar y revisar.</a:t>
            </a:r>
            <a:endParaRPr lang="en-US" sz="2020" dirty="0"/>
          </a:p>
        </p:txBody>
      </p:sp>
      <p:sp>
        <p:nvSpPr>
          <p:cNvPr id="12" name="Shape 9"/>
          <p:cNvSpPr/>
          <p:nvPr/>
        </p:nvSpPr>
        <p:spPr>
          <a:xfrm>
            <a:off x="1170432" y="3694176"/>
            <a:ext cx="2816352" cy="969264"/>
          </a:xfrm>
          <a:prstGeom prst="roundRect">
            <a:avLst>
              <a:gd name="adj" fmla="val 283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43584" y="3803904"/>
            <a:ext cx="100584" cy="7498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26464" y="382219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clave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426464" y="4096512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calidad web no se agota en la apariencia; necesita evidencia técnica.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297680" y="3694176"/>
            <a:ext cx="2816352" cy="969264"/>
          </a:xfrm>
          <a:prstGeom prst="roundRect">
            <a:avLst>
              <a:gd name="adj" fmla="val 283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70832" y="3803904"/>
            <a:ext cx="100584" cy="7498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53712" y="382219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Método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53712" y="4096512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 el problema, medir con herramientas, apoyarse con inteligencia y validar.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424928" y="3694176"/>
            <a:ext cx="2816352" cy="969264"/>
          </a:xfrm>
          <a:prstGeom prst="roundRect">
            <a:avLst>
              <a:gd name="adj" fmla="val 283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98080" y="3803904"/>
            <a:ext cx="100584" cy="7498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80960" y="382219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Puente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680960" y="4096512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Ahora entraremos al primer eje concreto: SEO técnico y estructura que sí se deja entender.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1938528" y="5084064"/>
            <a:ext cx="6583680" cy="621792"/>
          </a:xfrm>
          <a:prstGeom prst="roundRect">
            <a:avLst>
              <a:gd name="adj" fmla="val 5882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139696" y="5248656"/>
            <a:ext cx="6181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siguiente bloque ya no habla de calidad en abstracto: empieza en el propio documento.</a:t>
            </a:r>
            <a:endParaRPr lang="en-US" sz="16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2 · SEO técnico y estructura que sí se deja entender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Ahora la calidad deja de ser marco general y empieza a leerse en el propio documento.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96112" y="2176272"/>
            <a:ext cx="2834640" cy="3401568"/>
          </a:xfrm>
          <a:prstGeom prst="roundRect">
            <a:avLst>
              <a:gd name="adj" fmla="val 129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596896"/>
            <a:ext cx="18288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98448" y="2432304"/>
            <a:ext cx="219456" cy="5852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54480" y="2596896"/>
            <a:ext cx="18288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5568" y="2816352"/>
            <a:ext cx="230428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SEO técnico empieza en una página que se deja entender.</a:t>
            </a:r>
            <a:endParaRPr lang="en-US" sz="1920" dirty="0"/>
          </a:p>
        </p:txBody>
      </p:sp>
      <p:sp>
        <p:nvSpPr>
          <p:cNvPr id="15" name="Shape 12"/>
          <p:cNvSpPr/>
          <p:nvPr/>
        </p:nvSpPr>
        <p:spPr>
          <a:xfrm>
            <a:off x="1078992" y="4882896"/>
            <a:ext cx="932688" cy="201168"/>
          </a:xfrm>
          <a:prstGeom prst="roundRect">
            <a:avLst>
              <a:gd name="adj" fmla="val 22727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52144" y="4919472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título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2157984" y="4882896"/>
            <a:ext cx="93268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31136" y="4919472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jerarquía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1078992" y="5193792"/>
            <a:ext cx="932688" cy="201168"/>
          </a:xfrm>
          <a:prstGeom prst="roundRect">
            <a:avLst>
              <a:gd name="adj" fmla="val 22727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52144" y="5230368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semántica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2157984" y="5193792"/>
            <a:ext cx="93268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231136" y="5230368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intención</a:t>
            </a:r>
            <a:endParaRPr lang="en-US" sz="780" dirty="0"/>
          </a:p>
        </p:txBody>
      </p:sp>
      <p:sp>
        <p:nvSpPr>
          <p:cNvPr id="23" name="Shape 20"/>
          <p:cNvSpPr/>
          <p:nvPr/>
        </p:nvSpPr>
        <p:spPr>
          <a:xfrm>
            <a:off x="3968496" y="2176272"/>
            <a:ext cx="5961888" cy="3401568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224528" y="2487168"/>
            <a:ext cx="2889504" cy="1335024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89120" y="2651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84B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Guía inicial de accesibilidad web | Taller PRO301</a:t>
            </a:r>
            <a:endParaRPr lang="en-US" sz="1320" dirty="0"/>
          </a:p>
        </p:txBody>
      </p:sp>
      <p:sp>
        <p:nvSpPr>
          <p:cNvPr id="26" name="Text 23"/>
          <p:cNvSpPr/>
          <p:nvPr/>
        </p:nvSpPr>
        <p:spPr>
          <a:xfrm>
            <a:off x="4389120" y="3054096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pro301.cl &gt; Guias &gt; Accesibilidad</a:t>
            </a:r>
            <a:endParaRPr lang="en-US" sz="760" dirty="0"/>
          </a:p>
        </p:txBody>
      </p:sp>
      <p:sp>
        <p:nvSpPr>
          <p:cNvPr id="27" name="Text 24"/>
          <p:cNvSpPr/>
          <p:nvPr/>
        </p:nvSpPr>
        <p:spPr>
          <a:xfrm>
            <a:off x="4389120" y="3172968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https://pro301.cl/guias/accesibilidad-inicial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4389120" y="334670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semantica, contraste, formularios y una revision inicial de accesibilidad web.</a:t>
            </a:r>
            <a:endParaRPr lang="en-US" sz="880" dirty="0"/>
          </a:p>
        </p:txBody>
      </p:sp>
      <p:sp>
        <p:nvSpPr>
          <p:cNvPr id="29" name="Shape 26"/>
          <p:cNvSpPr/>
          <p:nvPr/>
        </p:nvSpPr>
        <p:spPr>
          <a:xfrm>
            <a:off x="7388352" y="2487168"/>
            <a:ext cx="2139696" cy="859536"/>
          </a:xfrm>
          <a:prstGeom prst="roundRect">
            <a:avLst>
              <a:gd name="adj" fmla="val 319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461504" y="2596896"/>
            <a:ext cx="100584" cy="6400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644384" y="2615184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Documento legible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7644384" y="2889504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title, description y headings ya empiezan a explicar el contenido.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388352" y="3529584"/>
            <a:ext cx="2139696" cy="859536"/>
          </a:xfrm>
          <a:prstGeom prst="roundRect">
            <a:avLst>
              <a:gd name="adj" fmla="val 319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61504" y="3639312"/>
            <a:ext cx="100584" cy="6400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644384" y="36576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es marketing primero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7644384" y="39319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visibilidad, la pagina debe poder interpretarse.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187952" y="4773168"/>
            <a:ext cx="5394960" cy="640080"/>
          </a:xfrm>
          <a:prstGeom prst="roundRect">
            <a:avLst>
              <a:gd name="adj" fmla="val 571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389120" y="493776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SEO técnico básico = página comprensible desde su estructura y sus señales.</a:t>
            </a:r>
            <a:endParaRPr lang="en-US" sz="18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SEO técnico no empieza en marketing: empieza en entender la página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pensar en posicionamiento, conviene preguntar si el documento deja claro qué ofrece y cómo se organiza.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212848"/>
            <a:ext cx="4078224" cy="2962656"/>
          </a:xfrm>
          <a:prstGeom prst="roundRect">
            <a:avLst>
              <a:gd name="adj" fmla="val 123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42416" y="2359152"/>
            <a:ext cx="91440" cy="2578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61872" y="2359152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Señales frecuentes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261872" y="2688336"/>
            <a:ext cx="331012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títulos genéricos o repetidos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headings mal jerarquizados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bloques sin semántica clara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enlaces vagos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imágenes sin contexto</a:t>
            </a:r>
            <a:endParaRPr lang="en-US" sz="1240" dirty="0"/>
          </a:p>
        </p:txBody>
      </p:sp>
      <p:sp>
        <p:nvSpPr>
          <p:cNvPr id="14" name="Shape 11"/>
          <p:cNvSpPr/>
          <p:nvPr/>
        </p:nvSpPr>
        <p:spPr>
          <a:xfrm>
            <a:off x="5321808" y="2340864"/>
            <a:ext cx="4535424" cy="969264"/>
          </a:xfrm>
          <a:prstGeom prst="roundRect">
            <a:avLst>
              <a:gd name="adj" fmla="val 377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22976" y="2505456"/>
            <a:ext cx="4133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Primero no se trata de “subir en Google”. Se trata de construir una página que sí se deje interpretar.</a:t>
            </a:r>
            <a:endParaRPr lang="en-US" sz="1820" dirty="0"/>
          </a:p>
        </p:txBody>
      </p:sp>
      <p:sp>
        <p:nvSpPr>
          <p:cNvPr id="16" name="Shape 13"/>
          <p:cNvSpPr/>
          <p:nvPr/>
        </p:nvSpPr>
        <p:spPr>
          <a:xfrm>
            <a:off x="5468112" y="3694176"/>
            <a:ext cx="4151376" cy="1353312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32704" y="385876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84B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Portafolio de Ana Pérez | Proyectos web</a:t>
            </a:r>
            <a:endParaRPr lang="en-US" sz="1320" dirty="0"/>
          </a:p>
        </p:txBody>
      </p:sp>
      <p:sp>
        <p:nvSpPr>
          <p:cNvPr id="18" name="Text 15"/>
          <p:cNvSpPr/>
          <p:nvPr/>
        </p:nvSpPr>
        <p:spPr>
          <a:xfrm>
            <a:off x="5632704" y="4261104"/>
            <a:ext cx="3822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anaperez.dev &gt; Proyectos</a:t>
            </a:r>
            <a:endParaRPr lang="en-US" sz="760" dirty="0"/>
          </a:p>
        </p:txBody>
      </p:sp>
      <p:sp>
        <p:nvSpPr>
          <p:cNvPr id="19" name="Text 16"/>
          <p:cNvSpPr/>
          <p:nvPr/>
        </p:nvSpPr>
        <p:spPr>
          <a:xfrm>
            <a:off x="5632704" y="4379976"/>
            <a:ext cx="3822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https://anaperez.dev/proyectos-web</a:t>
            </a:r>
            <a:endParaRPr lang="en-US" sz="840" dirty="0"/>
          </a:p>
        </p:txBody>
      </p:sp>
      <p:sp>
        <p:nvSpPr>
          <p:cNvPr id="20" name="Text 17"/>
          <p:cNvSpPr/>
          <p:nvPr/>
        </p:nvSpPr>
        <p:spPr>
          <a:xfrm>
            <a:off x="5632704" y="4553712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Trabajos de desarrollo web, diseño responsivo y estructura HTML semántica para clientes y práctica.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6473952" y="5157216"/>
            <a:ext cx="2139696" cy="822960"/>
          </a:xfrm>
          <a:prstGeom prst="roundRect">
            <a:avLst>
              <a:gd name="adj" fmla="val 333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47104" y="5266944"/>
            <a:ext cx="100584" cy="6035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29984" y="528523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Cuando se entiende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729984" y="555955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visibilidad tecnica aparece como consecuencia, no como maquillaje.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Hay señales básicas que conviene revisar siempre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vuelven perfecta a una página por sí solas, pero sí mejoran mucho su legibilidad técnica.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96112" y="2139696"/>
            <a:ext cx="6181344" cy="3511296"/>
          </a:xfrm>
          <a:prstGeom prst="roundRect">
            <a:avLst>
              <a:gd name="adj" fmla="val 104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8992" y="2340864"/>
            <a:ext cx="2414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Señales mínimas del documento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078992" y="2816352"/>
            <a:ext cx="1444752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52144" y="2852928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</a:t>
            </a:r>
            <a:endParaRPr lang="en-US" sz="840" dirty="0"/>
          </a:p>
        </p:txBody>
      </p:sp>
      <p:sp>
        <p:nvSpPr>
          <p:cNvPr id="14" name="Shape 11"/>
          <p:cNvSpPr/>
          <p:nvPr/>
        </p:nvSpPr>
        <p:spPr>
          <a:xfrm>
            <a:off x="2834640" y="2816352"/>
            <a:ext cx="1444752" cy="219456"/>
          </a:xfrm>
          <a:prstGeom prst="roundRect">
            <a:avLst>
              <a:gd name="adj" fmla="val 2083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07792" y="2852928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 description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590288" y="2816352"/>
            <a:ext cx="1444752" cy="219456"/>
          </a:xfrm>
          <a:prstGeom prst="roundRect">
            <a:avLst>
              <a:gd name="adj" fmla="val 20833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63440" y="2852928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headings</a:t>
            </a:r>
            <a:endParaRPr lang="en-US" sz="840" dirty="0"/>
          </a:p>
        </p:txBody>
      </p:sp>
      <p:sp>
        <p:nvSpPr>
          <p:cNvPr id="18" name="Shape 15"/>
          <p:cNvSpPr/>
          <p:nvPr/>
        </p:nvSpPr>
        <p:spPr>
          <a:xfrm>
            <a:off x="1078992" y="3200400"/>
            <a:ext cx="1444752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52144" y="3236976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semántico</a:t>
            </a:r>
            <a:endParaRPr lang="en-US" sz="840" dirty="0"/>
          </a:p>
        </p:txBody>
      </p:sp>
      <p:sp>
        <p:nvSpPr>
          <p:cNvPr id="20" name="Shape 17"/>
          <p:cNvSpPr/>
          <p:nvPr/>
        </p:nvSpPr>
        <p:spPr>
          <a:xfrm>
            <a:off x="2834640" y="3200400"/>
            <a:ext cx="1444752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907792" y="3236976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enlaces descriptivos</a:t>
            </a:r>
            <a:endParaRPr lang="en-US" sz="840" dirty="0"/>
          </a:p>
        </p:txBody>
      </p:sp>
      <p:sp>
        <p:nvSpPr>
          <p:cNvPr id="22" name="Shape 19"/>
          <p:cNvSpPr/>
          <p:nvPr/>
        </p:nvSpPr>
        <p:spPr>
          <a:xfrm>
            <a:off x="4590288" y="3200400"/>
            <a:ext cx="1444752" cy="219456"/>
          </a:xfrm>
          <a:prstGeom prst="roundRect">
            <a:avLst>
              <a:gd name="adj" fmla="val 20833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63440" y="3236976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 cuando corresponde</a:t>
            </a:r>
            <a:endParaRPr lang="en-US" sz="840" dirty="0"/>
          </a:p>
        </p:txBody>
      </p:sp>
      <p:sp>
        <p:nvSpPr>
          <p:cNvPr id="24" name="Shape 21"/>
          <p:cNvSpPr/>
          <p:nvPr/>
        </p:nvSpPr>
        <p:spPr>
          <a:xfrm>
            <a:off x="1078992" y="3767328"/>
            <a:ext cx="2615184" cy="1298448"/>
          </a:xfrm>
          <a:prstGeom prst="roundRect">
            <a:avLst>
              <a:gd name="adj" fmla="val 281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170432" y="3895344"/>
            <a:ext cx="109728" cy="10424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335024" y="387705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importante</a:t>
            </a:r>
            <a:endParaRPr lang="en-US" sz="1340" dirty="0"/>
          </a:p>
        </p:txBody>
      </p:sp>
      <p:sp>
        <p:nvSpPr>
          <p:cNvPr id="27" name="Text 24"/>
          <p:cNvSpPr/>
          <p:nvPr/>
        </p:nvSpPr>
        <p:spPr>
          <a:xfrm>
            <a:off x="1335024" y="4224528"/>
            <a:ext cx="2267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estas señales ayudan a personas y buscadores a entender de qué trata la página.</a:t>
            </a:r>
            <a:endParaRPr lang="en-US" sz="940" dirty="0"/>
          </a:p>
        </p:txBody>
      </p:sp>
      <p:sp>
        <p:nvSpPr>
          <p:cNvPr id="28" name="Shape 25"/>
          <p:cNvSpPr/>
          <p:nvPr/>
        </p:nvSpPr>
        <p:spPr>
          <a:xfrm>
            <a:off x="3895344" y="3767328"/>
            <a:ext cx="2834640" cy="1298448"/>
          </a:xfrm>
          <a:prstGeom prst="roundRect">
            <a:avLst>
              <a:gd name="adj" fmla="val 281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986784" y="3895344"/>
            <a:ext cx="109728" cy="104241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151376" y="387705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no conviene</a:t>
            </a:r>
            <a:endParaRPr lang="en-US" sz="1340" dirty="0"/>
          </a:p>
        </p:txBody>
      </p:sp>
      <p:sp>
        <p:nvSpPr>
          <p:cNvPr id="31" name="Text 28"/>
          <p:cNvSpPr/>
          <p:nvPr/>
        </p:nvSpPr>
        <p:spPr>
          <a:xfrm>
            <a:off x="4151376" y="4224528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revisarlas como lista mecánica sin preguntarse si realmente aclaran la intención del contenido.</a:t>
            </a:r>
            <a:endParaRPr lang="en-US" sz="920" dirty="0"/>
          </a:p>
        </p:txBody>
      </p:sp>
      <p:sp>
        <p:nvSpPr>
          <p:cNvPr id="32" name="Shape 29"/>
          <p:cNvSpPr/>
          <p:nvPr/>
        </p:nvSpPr>
        <p:spPr>
          <a:xfrm>
            <a:off x="7333488" y="2322576"/>
            <a:ext cx="2395728" cy="932688"/>
          </a:xfrm>
          <a:prstGeom prst="roundRect">
            <a:avLst>
              <a:gd name="adj" fmla="val 294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406640" y="2432304"/>
            <a:ext cx="100584" cy="7132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89520" y="2450592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SEO técnico mejora cuando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7589520" y="2724912"/>
            <a:ext cx="2066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documento entrega información útil sin pedir contexto extra.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7333488" y="3474720"/>
            <a:ext cx="2395728" cy="932688"/>
          </a:xfrm>
          <a:prstGeom prst="roundRect">
            <a:avLst>
              <a:gd name="adj" fmla="val 294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406640" y="3584448"/>
            <a:ext cx="100584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589520" y="3602736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es magia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7589520" y="3877056"/>
            <a:ext cx="2066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 pequeñas señales consistentes, no un truco aislado.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7333488" y="4626864"/>
            <a:ext cx="2395728" cy="932688"/>
          </a:xfrm>
          <a:prstGeom prst="roundRect">
            <a:avLst>
              <a:gd name="adj" fmla="val 294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406640" y="4736592"/>
            <a:ext cx="100584" cy="7132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589520" y="475488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del bloque</a:t>
            </a:r>
            <a:endParaRPr lang="en-US" sz="1250" dirty="0"/>
          </a:p>
        </p:txBody>
      </p:sp>
      <p:sp>
        <p:nvSpPr>
          <p:cNvPr id="43" name="Text 40"/>
          <p:cNvSpPr/>
          <p:nvPr/>
        </p:nvSpPr>
        <p:spPr>
          <a:xfrm>
            <a:off x="7589520" y="5029200"/>
            <a:ext cx="2066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title, meta, headings, links y alt solo valen si aclaran de verdad.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produce la misma lectura decir poco que decir algo útil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título, un heading y un enlace más descriptivos cambian mucho la comprensión técnica del documento.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286000"/>
            <a:ext cx="4169664" cy="1408176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24505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84B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Inicio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1097280" y="2852928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ejemplo.cl</a:t>
            </a:r>
            <a:endParaRPr lang="en-US" sz="760" dirty="0"/>
          </a:p>
        </p:txBody>
      </p:sp>
      <p:sp>
        <p:nvSpPr>
          <p:cNvPr id="13" name="Text 10"/>
          <p:cNvSpPr/>
          <p:nvPr/>
        </p:nvSpPr>
        <p:spPr>
          <a:xfrm>
            <a:off x="1097280" y="2971800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https://ejemplo.cl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1097280" y="31455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Bienvenido a nuestro sitio. Haz clic aquí para ver más contenido.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1078992" y="3931920"/>
            <a:ext cx="3877056" cy="1042416"/>
          </a:xfrm>
          <a:prstGeom prst="roundRect">
            <a:avLst>
              <a:gd name="adj" fmla="val 263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52144" y="4041648"/>
            <a:ext cx="100584" cy="822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35024" y="405993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pobre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335024" y="4334256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Inicio, Bienvenido y Haz clic aqui obligan a adivinar de qué trata la página.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504688" y="2286000"/>
            <a:ext cx="4169664" cy="1408176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0" y="24505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84B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Portafolio de Ana Pérez | Proyectos web</a:t>
            </a:r>
            <a:endParaRPr lang="en-US" sz="1320" dirty="0"/>
          </a:p>
        </p:txBody>
      </p:sp>
      <p:sp>
        <p:nvSpPr>
          <p:cNvPr id="21" name="Text 18"/>
          <p:cNvSpPr/>
          <p:nvPr/>
        </p:nvSpPr>
        <p:spPr>
          <a:xfrm>
            <a:off x="5669280" y="2852928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anaperez.dev &gt; Proyectos</a:t>
            </a:r>
            <a:endParaRPr lang="en-US" sz="760" dirty="0"/>
          </a:p>
        </p:txBody>
      </p:sp>
      <p:sp>
        <p:nvSpPr>
          <p:cNvPr id="22" name="Text 19"/>
          <p:cNvSpPr/>
          <p:nvPr/>
        </p:nvSpPr>
        <p:spPr>
          <a:xfrm>
            <a:off x="5669280" y="2971800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https://anaperez.dev/proyectos-web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5669280" y="31455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Proyectos de desarrollo web y diseño responsivo con HTML semántico, CSS moderno y auditoría técnica.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5650992" y="3931920"/>
            <a:ext cx="3877056" cy="1042416"/>
          </a:xfrm>
          <a:prstGeom prst="roundRect">
            <a:avLst>
              <a:gd name="adj" fmla="val 263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724144" y="4041648"/>
            <a:ext cx="100584" cy="8229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07024" y="405993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útil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907024" y="4334256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documento ya entrega propósito, tipo de contenido y una promesa técnica más clara.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2103120" y="5212080"/>
            <a:ext cx="6419088" cy="548640"/>
          </a:xfrm>
          <a:prstGeom prst="roundRect">
            <a:avLst>
              <a:gd name="adj" fmla="val 6667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304288" y="5376672"/>
            <a:ext cx="6016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segundo caso comunica más sin necesitar explicación extra.</a:t>
            </a:r>
            <a:endParaRPr lang="en-US" sz="16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estructura HTML sigue siendo una de las bases del SEO técnico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ya vimos en HTML semántico vuelve a aparecer aquí como señal de comprensión y no solo de orden visual.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194560"/>
            <a:ext cx="3858768" cy="3456432"/>
          </a:xfrm>
          <a:prstGeom prst="roundRect">
            <a:avLst>
              <a:gd name="adj" fmla="val 10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2144" y="24140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conviene mirar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133856" y="2816352"/>
            <a:ext cx="3328416" cy="420624"/>
          </a:xfrm>
          <a:prstGeom prst="roundRect">
            <a:avLst>
              <a:gd name="adj" fmla="val 652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07008" y="2926080"/>
            <a:ext cx="100584" cy="2011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89888" y="2944368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head bien resuelto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1133856" y="3346704"/>
            <a:ext cx="3328416" cy="420624"/>
          </a:xfrm>
          <a:prstGeom prst="roundRect">
            <a:avLst>
              <a:gd name="adj" fmla="val 652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207008" y="3456432"/>
            <a:ext cx="100584" cy="2011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89888" y="3474720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title representativo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1133856" y="3877056"/>
            <a:ext cx="3328416" cy="420624"/>
          </a:xfrm>
          <a:prstGeom prst="roundRect">
            <a:avLst>
              <a:gd name="adj" fmla="val 652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07008" y="3986784"/>
            <a:ext cx="100584" cy="2011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89888" y="400507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h1, h2, h3 con jerarquía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1133856" y="4407408"/>
            <a:ext cx="3328416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207008" y="4517136"/>
            <a:ext cx="100584" cy="2011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389888" y="4535424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main, article, nav, footer</a:t>
            </a:r>
            <a:endParaRPr lang="en-US" sz="1120" dirty="0"/>
          </a:p>
        </p:txBody>
      </p:sp>
      <p:sp>
        <p:nvSpPr>
          <p:cNvPr id="24" name="Shape 21"/>
          <p:cNvSpPr/>
          <p:nvPr/>
        </p:nvSpPr>
        <p:spPr>
          <a:xfrm>
            <a:off x="1133856" y="4937760"/>
            <a:ext cx="3328416" cy="420624"/>
          </a:xfrm>
          <a:prstGeom prst="roundRect">
            <a:avLst>
              <a:gd name="adj" fmla="val 652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207008" y="5047488"/>
            <a:ext cx="100584" cy="2011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389888" y="5065776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contenido con sentido propio</a:t>
            </a:r>
            <a:endParaRPr lang="en-US" sz="1120" dirty="0"/>
          </a:p>
        </p:txBody>
      </p:sp>
      <p:sp>
        <p:nvSpPr>
          <p:cNvPr id="27" name="Shape 24"/>
          <p:cNvSpPr/>
          <p:nvPr/>
        </p:nvSpPr>
        <p:spPr>
          <a:xfrm>
            <a:off x="5084064" y="2194560"/>
            <a:ext cx="4754880" cy="3456432"/>
          </a:xfrm>
          <a:prstGeom prst="roundRect">
            <a:avLst>
              <a:gd name="adj" fmla="val 10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212080" y="2322576"/>
            <a:ext cx="4498848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21808" y="2395728"/>
            <a:ext cx="4279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 que sí se deja leer</a:t>
            </a:r>
            <a:endParaRPr lang="en-US" sz="980" dirty="0"/>
          </a:p>
        </p:txBody>
      </p:sp>
      <p:sp>
        <p:nvSpPr>
          <p:cNvPr id="30" name="Shape 27"/>
          <p:cNvSpPr/>
          <p:nvPr/>
        </p:nvSpPr>
        <p:spPr>
          <a:xfrm>
            <a:off x="5248656" y="3017520"/>
            <a:ext cx="0" cy="493776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394960" y="2871216"/>
            <a:ext cx="1042416" cy="292608"/>
          </a:xfrm>
          <a:prstGeom prst="roundRect">
            <a:avLst>
              <a:gd name="adj" fmla="val 9375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86400" y="2944368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</a:t>
            </a:r>
            <a:endParaRPr lang="en-US" sz="940" dirty="0"/>
          </a:p>
        </p:txBody>
      </p:sp>
      <p:sp>
        <p:nvSpPr>
          <p:cNvPr id="33" name="Text 30"/>
          <p:cNvSpPr/>
          <p:nvPr/>
        </p:nvSpPr>
        <p:spPr>
          <a:xfrm>
            <a:off x="7059168" y="2944368"/>
            <a:ext cx="2596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lang=es</a:t>
            </a:r>
            <a:endParaRPr lang="en-US" sz="860" dirty="0"/>
          </a:p>
        </p:txBody>
      </p:sp>
      <p:sp>
        <p:nvSpPr>
          <p:cNvPr id="34" name="Shape 31"/>
          <p:cNvSpPr/>
          <p:nvPr/>
        </p:nvSpPr>
        <p:spPr>
          <a:xfrm>
            <a:off x="6181344" y="3511296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181344" y="3511296"/>
            <a:ext cx="0" cy="493776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327648" y="3364992"/>
            <a:ext cx="1042416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19088" y="3438144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</a:t>
            </a:r>
            <a:endParaRPr lang="en-US" sz="940" dirty="0"/>
          </a:p>
        </p:txBody>
      </p:sp>
      <p:sp>
        <p:nvSpPr>
          <p:cNvPr id="38" name="Text 35"/>
          <p:cNvSpPr/>
          <p:nvPr/>
        </p:nvSpPr>
        <p:spPr>
          <a:xfrm>
            <a:off x="7991856" y="3438144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metadatos y señales de lectura</a:t>
            </a:r>
            <a:endParaRPr lang="en-US" sz="860" dirty="0"/>
          </a:p>
        </p:txBody>
      </p:sp>
      <p:sp>
        <p:nvSpPr>
          <p:cNvPr id="39" name="Shape 36"/>
          <p:cNvSpPr/>
          <p:nvPr/>
        </p:nvSpPr>
        <p:spPr>
          <a:xfrm>
            <a:off x="7114032" y="4005072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260336" y="3858768"/>
            <a:ext cx="1133856" cy="292608"/>
          </a:xfrm>
          <a:prstGeom prst="roundRect">
            <a:avLst>
              <a:gd name="adj" fmla="val 9375"/>
            </a:avLst>
          </a:prstGeom>
          <a:solidFill>
            <a:srgbClr val="EDE6D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351776" y="3931920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</a:t>
            </a:r>
            <a:endParaRPr lang="en-US" sz="940" dirty="0"/>
          </a:p>
        </p:txBody>
      </p:sp>
      <p:sp>
        <p:nvSpPr>
          <p:cNvPr id="42" name="Text 39"/>
          <p:cNvSpPr/>
          <p:nvPr/>
        </p:nvSpPr>
        <p:spPr>
          <a:xfrm>
            <a:off x="8602675" y="3931920"/>
            <a:ext cx="105338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inicial de accesibilidad web</a:t>
            </a:r>
            <a:endParaRPr lang="en-US" sz="860" dirty="0"/>
          </a:p>
        </p:txBody>
      </p:sp>
      <p:sp>
        <p:nvSpPr>
          <p:cNvPr id="43" name="Shape 40"/>
          <p:cNvSpPr/>
          <p:nvPr/>
        </p:nvSpPr>
        <p:spPr>
          <a:xfrm>
            <a:off x="6181344" y="4498848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181344" y="4498848"/>
            <a:ext cx="0" cy="493776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327648" y="4352544"/>
            <a:ext cx="1042416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419088" y="4425696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</a:t>
            </a:r>
            <a:endParaRPr lang="en-US" sz="940" dirty="0"/>
          </a:p>
        </p:txBody>
      </p:sp>
      <p:sp>
        <p:nvSpPr>
          <p:cNvPr id="47" name="Text 44"/>
          <p:cNvSpPr/>
          <p:nvPr/>
        </p:nvSpPr>
        <p:spPr>
          <a:xfrm>
            <a:off x="7991856" y="4425696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contenido visible</a:t>
            </a:r>
            <a:endParaRPr lang="en-US" sz="860" dirty="0"/>
          </a:p>
        </p:txBody>
      </p:sp>
      <p:sp>
        <p:nvSpPr>
          <p:cNvPr id="48" name="Shape 45"/>
          <p:cNvSpPr/>
          <p:nvPr/>
        </p:nvSpPr>
        <p:spPr>
          <a:xfrm>
            <a:off x="7114032" y="4992624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114032" y="4992624"/>
            <a:ext cx="0" cy="493776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260336" y="4846320"/>
            <a:ext cx="1042416" cy="292608"/>
          </a:xfrm>
          <a:prstGeom prst="roundRect">
            <a:avLst>
              <a:gd name="adj" fmla="val 9375"/>
            </a:avLst>
          </a:prstGeom>
          <a:solidFill>
            <a:srgbClr val="EDE6D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351776" y="4919472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</a:t>
            </a:r>
            <a:endParaRPr lang="en-US" sz="940" dirty="0"/>
          </a:p>
        </p:txBody>
      </p:sp>
      <p:sp>
        <p:nvSpPr>
          <p:cNvPr id="52" name="Text 49"/>
          <p:cNvSpPr/>
          <p:nvPr/>
        </p:nvSpPr>
        <p:spPr>
          <a:xfrm>
            <a:off x="8602675" y="4919472"/>
            <a:ext cx="105338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contenido principal</a:t>
            </a:r>
            <a:endParaRPr lang="en-US" sz="860" dirty="0"/>
          </a:p>
        </p:txBody>
      </p:sp>
      <p:sp>
        <p:nvSpPr>
          <p:cNvPr id="53" name="Shape 50"/>
          <p:cNvSpPr/>
          <p:nvPr/>
        </p:nvSpPr>
        <p:spPr>
          <a:xfrm>
            <a:off x="8046720" y="5486400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193024" y="5340096"/>
            <a:ext cx="1316736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284464" y="5413248"/>
            <a:ext cx="1133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article</a:t>
            </a:r>
            <a:endParaRPr lang="en-US" sz="9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parte importante del SEO técnico básico se lee directo en el HTML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Aquí el documento muestra si el contenido tiene intención clara o si obliga a adivinar qué ofrece.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96112" y="2139696"/>
            <a:ext cx="5266944" cy="3566160"/>
          </a:xfrm>
          <a:prstGeom prst="roundRect">
            <a:avLst>
              <a:gd name="adj" fmla="val 102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249424"/>
            <a:ext cx="50109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322576"/>
            <a:ext cx="4791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directa del documento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15568" y="2706624"/>
            <a:ext cx="158433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8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endParaRPr lang="en-US" sz="980" dirty="0"/>
          </a:p>
          <a:p>
            <a:pPr algn="r" indent="0" marL="0">
              <a:buNone/>
            </a:pPr>
            <a:r>
              <a:rPr lang="en-US" sz="98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</a:t>
            </a:r>
            <a:endParaRPr lang="en-US" sz="980" dirty="0"/>
          </a:p>
          <a:p>
            <a:pPr algn="r" indent="0" marL="0">
              <a:buNone/>
            </a:pPr>
            <a:r>
              <a:rPr lang="en-US" sz="98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endParaRPr lang="en-US" sz="980" dirty="0"/>
          </a:p>
          <a:p>
            <a:pPr algn="r" indent="0" marL="0">
              <a:buNone/>
            </a:pPr>
            <a:r>
              <a:rPr lang="en-US" sz="98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</a:t>
            </a:r>
            <a:endParaRPr lang="en-US" sz="980" dirty="0"/>
          </a:p>
          <a:p>
            <a:pPr algn="r" indent="0" marL="0">
              <a:buNone/>
            </a:pPr>
            <a:r>
              <a:rPr lang="en-US" sz="98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endParaRPr lang="en-US" sz="980" dirty="0"/>
          </a:p>
          <a:p>
            <a:pPr algn="r" indent="0" marL="0">
              <a:buNone/>
            </a:pPr>
            <a:r>
              <a:rPr lang="en-US" sz="98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</a:t>
            </a:r>
            <a:endParaRPr lang="en-US" sz="980" dirty="0"/>
          </a:p>
          <a:p>
            <a:pPr algn="r" indent="0" marL="0">
              <a:buNone/>
            </a:pPr>
            <a:r>
              <a:rPr lang="en-US" sz="98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</a:t>
            </a:r>
            <a:endParaRPr lang="en-US" sz="980" dirty="0"/>
          </a:p>
          <a:p>
            <a:pPr algn="r" indent="0" marL="0">
              <a:buNone/>
            </a:pPr>
            <a:r>
              <a:rPr lang="en-US" sz="98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</a:t>
            </a:r>
            <a:endParaRPr lang="en-US" sz="980" dirty="0"/>
          </a:p>
          <a:p>
            <a:pPr algn="r" indent="0" marL="0">
              <a:buNone/>
            </a:pPr>
            <a:r>
              <a:rPr lang="en-US" sz="98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</a:t>
            </a:r>
            <a:endParaRPr lang="en-US" sz="980" dirty="0"/>
          </a:p>
          <a:p>
            <a:pPr algn="r" indent="0" marL="0">
              <a:buNone/>
            </a:pPr>
            <a:r>
              <a:rPr lang="en-US" sz="98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80" dirty="0"/>
          </a:p>
          <a:p>
            <a:pPr algn="r" indent="0" marL="0">
              <a:buNone/>
            </a:pPr>
            <a:r>
              <a:rPr lang="en-US" sz="98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80" dirty="0"/>
          </a:p>
          <a:p>
            <a:pPr algn="r" indent="0" marL="0">
              <a:buNone/>
            </a:pPr>
            <a:r>
              <a:rPr lang="en-US" sz="98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80" dirty="0"/>
          </a:p>
          <a:p>
            <a:pPr algn="r" indent="0" marL="0">
              <a:buNone/>
            </a:pPr>
            <a:r>
              <a:rPr lang="en-US" sz="98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80" dirty="0"/>
          </a:p>
          <a:p>
            <a:pPr algn="r" indent="0" marL="0">
              <a:buNone/>
            </a:pPr>
            <a:r>
              <a:rPr lang="en-US" sz="98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80" dirty="0"/>
          </a:p>
          <a:p>
            <a:pPr algn="r" indent="0" marL="0">
              <a:buNone/>
            </a:pPr>
            <a:r>
              <a:rPr lang="en-US" sz="98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80" dirty="0"/>
          </a:p>
          <a:p>
            <a:pPr algn="r" indent="0" marL="0">
              <a:buNone/>
            </a:pPr>
            <a:r>
              <a:rPr lang="en-US" sz="98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80" dirty="0"/>
          </a:p>
        </p:txBody>
      </p:sp>
      <p:sp>
        <p:nvSpPr>
          <p:cNvPr id="14" name="Text 11"/>
          <p:cNvSpPr/>
          <p:nvPr/>
        </p:nvSpPr>
        <p:spPr>
          <a:xfrm>
            <a:off x="1347153" y="2706624"/>
            <a:ext cx="4614735" cy="14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doctype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80" dirty="0"/>
          </a:p>
        </p:txBody>
      </p:sp>
      <p:sp>
        <p:nvSpPr>
          <p:cNvPr id="15" name="Text 12"/>
          <p:cNvSpPr/>
          <p:nvPr/>
        </p:nvSpPr>
        <p:spPr>
          <a:xfrm>
            <a:off x="1347153" y="2863444"/>
            <a:ext cx="4614735" cy="14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98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1347153" y="3020263"/>
            <a:ext cx="4614735" cy="14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80" dirty="0"/>
          </a:p>
        </p:txBody>
      </p:sp>
      <p:sp>
        <p:nvSpPr>
          <p:cNvPr id="17" name="Text 14"/>
          <p:cNvSpPr/>
          <p:nvPr/>
        </p:nvSpPr>
        <p:spPr>
          <a:xfrm>
            <a:off x="1347153" y="3177083"/>
            <a:ext cx="4614735" cy="14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charset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98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UTF-8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980" dirty="0"/>
          </a:p>
        </p:txBody>
      </p:sp>
      <p:sp>
        <p:nvSpPr>
          <p:cNvPr id="18" name="Text 15"/>
          <p:cNvSpPr/>
          <p:nvPr/>
        </p:nvSpPr>
        <p:spPr>
          <a:xfrm>
            <a:off x="1347153" y="3333902"/>
            <a:ext cx="4614735" cy="14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Guía inicial de accesibilidad web | Taller PRO301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80" dirty="0"/>
          </a:p>
        </p:txBody>
      </p:sp>
      <p:sp>
        <p:nvSpPr>
          <p:cNvPr id="19" name="Text 16"/>
          <p:cNvSpPr/>
          <p:nvPr/>
        </p:nvSpPr>
        <p:spPr>
          <a:xfrm>
            <a:off x="1347153" y="3490722"/>
            <a:ext cx="4614735" cy="14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98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98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Introducción a estructura semántica, contraste y revisión inicial de accesibilidad.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980" dirty="0"/>
          </a:p>
        </p:txBody>
      </p:sp>
      <p:sp>
        <p:nvSpPr>
          <p:cNvPr id="20" name="Text 17"/>
          <p:cNvSpPr/>
          <p:nvPr/>
        </p:nvSpPr>
        <p:spPr>
          <a:xfrm>
            <a:off x="1347153" y="3647542"/>
            <a:ext cx="4614735" cy="14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80" dirty="0"/>
          </a:p>
        </p:txBody>
      </p:sp>
      <p:sp>
        <p:nvSpPr>
          <p:cNvPr id="21" name="Text 18"/>
          <p:cNvSpPr/>
          <p:nvPr/>
        </p:nvSpPr>
        <p:spPr>
          <a:xfrm>
            <a:off x="1347153" y="3804361"/>
            <a:ext cx="4614735" cy="14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80" dirty="0"/>
          </a:p>
        </p:txBody>
      </p:sp>
      <p:sp>
        <p:nvSpPr>
          <p:cNvPr id="22" name="Text 19"/>
          <p:cNvSpPr/>
          <p:nvPr/>
        </p:nvSpPr>
        <p:spPr>
          <a:xfrm>
            <a:off x="1347153" y="3961181"/>
            <a:ext cx="4614735" cy="14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80" dirty="0"/>
          </a:p>
        </p:txBody>
      </p:sp>
      <p:sp>
        <p:nvSpPr>
          <p:cNvPr id="23" name="Text 20"/>
          <p:cNvSpPr/>
          <p:nvPr/>
        </p:nvSpPr>
        <p:spPr>
          <a:xfrm>
            <a:off x="1347153" y="4118000"/>
            <a:ext cx="4614735" cy="14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80" dirty="0"/>
          </a:p>
        </p:txBody>
      </p:sp>
      <p:sp>
        <p:nvSpPr>
          <p:cNvPr id="24" name="Text 21"/>
          <p:cNvSpPr/>
          <p:nvPr/>
        </p:nvSpPr>
        <p:spPr>
          <a:xfrm>
            <a:off x="1347153" y="4274820"/>
            <a:ext cx="4614735" cy="14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Guía inicial de accesibilidad web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80" dirty="0"/>
          </a:p>
        </p:txBody>
      </p:sp>
      <p:sp>
        <p:nvSpPr>
          <p:cNvPr id="25" name="Text 22"/>
          <p:cNvSpPr/>
          <p:nvPr/>
        </p:nvSpPr>
        <p:spPr>
          <a:xfrm>
            <a:off x="1347153" y="4431640"/>
            <a:ext cx="4614735" cy="14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98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accesibilidad-basica.png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98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Esquema de revisión inicial de accesibilidad web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980" dirty="0"/>
          </a:p>
        </p:txBody>
      </p:sp>
      <p:sp>
        <p:nvSpPr>
          <p:cNvPr id="26" name="Text 23"/>
          <p:cNvSpPr/>
          <p:nvPr/>
        </p:nvSpPr>
        <p:spPr>
          <a:xfrm>
            <a:off x="1347153" y="4588459"/>
            <a:ext cx="4614735" cy="14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80" dirty="0"/>
          </a:p>
        </p:txBody>
      </p:sp>
      <p:sp>
        <p:nvSpPr>
          <p:cNvPr id="27" name="Text 24"/>
          <p:cNvSpPr/>
          <p:nvPr/>
        </p:nvSpPr>
        <p:spPr>
          <a:xfrm>
            <a:off x="1347153" y="4745279"/>
            <a:ext cx="4614735" cy="14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80" dirty="0"/>
          </a:p>
        </p:txBody>
      </p:sp>
      <p:sp>
        <p:nvSpPr>
          <p:cNvPr id="28" name="Text 25"/>
          <p:cNvSpPr/>
          <p:nvPr/>
        </p:nvSpPr>
        <p:spPr>
          <a:xfrm>
            <a:off x="1347153" y="4902098"/>
            <a:ext cx="4614735" cy="14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80" dirty="0"/>
          </a:p>
        </p:txBody>
      </p:sp>
      <p:sp>
        <p:nvSpPr>
          <p:cNvPr id="29" name="Text 26"/>
          <p:cNvSpPr/>
          <p:nvPr/>
        </p:nvSpPr>
        <p:spPr>
          <a:xfrm>
            <a:off x="1347153" y="5058918"/>
            <a:ext cx="4614735" cy="14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80" dirty="0"/>
          </a:p>
        </p:txBody>
      </p:sp>
      <p:sp>
        <p:nvSpPr>
          <p:cNvPr id="30" name="Shape 27"/>
          <p:cNvSpPr/>
          <p:nvPr/>
        </p:nvSpPr>
        <p:spPr>
          <a:xfrm>
            <a:off x="6565392" y="2340864"/>
            <a:ext cx="3035808" cy="603504"/>
          </a:xfrm>
          <a:prstGeom prst="roundRect">
            <a:avLst>
              <a:gd name="adj" fmla="val 454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638544" y="2450592"/>
            <a:ext cx="100584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2468880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Title</a:t>
            </a:r>
            <a:endParaRPr lang="en-US" sz="1120" dirty="0"/>
          </a:p>
        </p:txBody>
      </p:sp>
      <p:sp>
        <p:nvSpPr>
          <p:cNvPr id="33" name="Text 30"/>
          <p:cNvSpPr/>
          <p:nvPr/>
        </p:nvSpPr>
        <p:spPr>
          <a:xfrm>
            <a:off x="6821424" y="2743200"/>
            <a:ext cx="2706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 el propósito principal de la pagina.</a:t>
            </a:r>
            <a:endParaRPr lang="en-US" sz="840" dirty="0"/>
          </a:p>
        </p:txBody>
      </p:sp>
      <p:sp>
        <p:nvSpPr>
          <p:cNvPr id="34" name="Shape 31"/>
          <p:cNvSpPr/>
          <p:nvPr/>
        </p:nvSpPr>
        <p:spPr>
          <a:xfrm>
            <a:off x="1487253" y="3199038"/>
            <a:ext cx="530206" cy="164592"/>
          </a:xfrm>
          <a:prstGeom prst="roundRect">
            <a:avLst>
              <a:gd name="adj" fmla="val 22222"/>
            </a:avLst>
          </a:prstGeom>
          <a:solidFill>
            <a:srgbClr val="F8E4E5">
              <a:alpha val="32000"/>
            </a:srgbClr>
          </a:solidFill>
          <a:ln w="12700">
            <a:solidFill>
              <a:srgbClr val="F8E4E5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181344" y="3176333"/>
            <a:ext cx="73152" cy="164592"/>
          </a:xfrm>
          <a:prstGeom prst="roundRect">
            <a:avLst>
              <a:gd name="adj" fmla="val 625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163056" y="3250399"/>
            <a:ext cx="18288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254496" y="3250399"/>
            <a:ext cx="73152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319418" y="2633472"/>
            <a:ext cx="16459" cy="625157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327648" y="2625242"/>
            <a:ext cx="237744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557162" y="2633472"/>
            <a:ext cx="16459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565392" y="3145536"/>
            <a:ext cx="3035808" cy="603504"/>
          </a:xfrm>
          <a:prstGeom prst="roundRect">
            <a:avLst>
              <a:gd name="adj" fmla="val 454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638544" y="3255264"/>
            <a:ext cx="100584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821424" y="3273552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Meta description</a:t>
            </a:r>
            <a:endParaRPr lang="en-US" sz="1120" dirty="0"/>
          </a:p>
        </p:txBody>
      </p:sp>
      <p:sp>
        <p:nvSpPr>
          <p:cNvPr id="44" name="Text 41"/>
          <p:cNvSpPr/>
          <p:nvPr/>
        </p:nvSpPr>
        <p:spPr>
          <a:xfrm>
            <a:off x="6821424" y="3547872"/>
            <a:ext cx="2706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aporta contexto breve sin repetir ruido.</a:t>
            </a:r>
            <a:endParaRPr lang="en-US" sz="840" dirty="0"/>
          </a:p>
        </p:txBody>
      </p:sp>
      <p:sp>
        <p:nvSpPr>
          <p:cNvPr id="45" name="Shape 42"/>
          <p:cNvSpPr/>
          <p:nvPr/>
        </p:nvSpPr>
        <p:spPr>
          <a:xfrm>
            <a:off x="1487253" y="3355857"/>
            <a:ext cx="1139562" cy="164592"/>
          </a:xfrm>
          <a:prstGeom prst="roundRect">
            <a:avLst>
              <a:gd name="adj" fmla="val 22222"/>
            </a:avLst>
          </a:prstGeom>
          <a:solidFill>
            <a:srgbClr val="E6EEF7">
              <a:alpha val="32000"/>
            </a:srgbClr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181344" y="3333153"/>
            <a:ext cx="73152" cy="164592"/>
          </a:xfrm>
          <a:prstGeom prst="roundRect">
            <a:avLst>
              <a:gd name="adj" fmla="val 625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163056" y="3407219"/>
            <a:ext cx="18288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254496" y="3407219"/>
            <a:ext cx="73152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319418" y="3415449"/>
            <a:ext cx="16459" cy="22695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327648" y="3429914"/>
            <a:ext cx="237744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557162" y="3438144"/>
            <a:ext cx="16459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565392" y="3950208"/>
            <a:ext cx="3035808" cy="603504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638544" y="4059936"/>
            <a:ext cx="100584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821424" y="4078224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H1</a:t>
            </a:r>
            <a:endParaRPr lang="en-US" sz="1120" dirty="0"/>
          </a:p>
        </p:txBody>
      </p:sp>
      <p:sp>
        <p:nvSpPr>
          <p:cNvPr id="55" name="Text 52"/>
          <p:cNvSpPr/>
          <p:nvPr/>
        </p:nvSpPr>
        <p:spPr>
          <a:xfrm>
            <a:off x="6821424" y="4352544"/>
            <a:ext cx="2706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 el tema principal del contenido.</a:t>
            </a:r>
            <a:endParaRPr lang="en-US" sz="840" dirty="0"/>
          </a:p>
        </p:txBody>
      </p:sp>
      <p:sp>
        <p:nvSpPr>
          <p:cNvPr id="56" name="Shape 53"/>
          <p:cNvSpPr/>
          <p:nvPr/>
        </p:nvSpPr>
        <p:spPr>
          <a:xfrm>
            <a:off x="1730996" y="4139955"/>
            <a:ext cx="408334" cy="164592"/>
          </a:xfrm>
          <a:prstGeom prst="roundRect">
            <a:avLst>
              <a:gd name="adj" fmla="val 22222"/>
            </a:avLst>
          </a:prstGeom>
          <a:solidFill>
            <a:srgbClr val="F2E7D9">
              <a:alpha val="32000"/>
            </a:srgbClr>
          </a:solidFill>
          <a:ln w="12700">
            <a:solidFill>
              <a:srgbClr val="F2E7D9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6181344" y="4117251"/>
            <a:ext cx="73152" cy="164592"/>
          </a:xfrm>
          <a:prstGeom prst="roundRect">
            <a:avLst>
              <a:gd name="adj" fmla="val 625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163056" y="4191317"/>
            <a:ext cx="18288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6254496" y="4191317"/>
            <a:ext cx="73152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6319418" y="4199547"/>
            <a:ext cx="16459" cy="4326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6327648" y="4234586"/>
            <a:ext cx="237744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6557162" y="4242816"/>
            <a:ext cx="16459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6565392" y="4754880"/>
            <a:ext cx="3035808" cy="603504"/>
          </a:xfrm>
          <a:prstGeom prst="roundRect">
            <a:avLst>
              <a:gd name="adj" fmla="val 454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6638544" y="4864608"/>
            <a:ext cx="100584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821424" y="4882896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Alt</a:t>
            </a:r>
            <a:endParaRPr lang="en-US" sz="1120" dirty="0"/>
          </a:p>
        </p:txBody>
      </p:sp>
      <p:sp>
        <p:nvSpPr>
          <p:cNvPr id="66" name="Text 63"/>
          <p:cNvSpPr/>
          <p:nvPr/>
        </p:nvSpPr>
        <p:spPr>
          <a:xfrm>
            <a:off x="6821424" y="5157216"/>
            <a:ext cx="2706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contexto a la imagen cuando corresponde.</a:t>
            </a:r>
            <a:endParaRPr lang="en-US" sz="840" dirty="0"/>
          </a:p>
        </p:txBody>
      </p:sp>
      <p:sp>
        <p:nvSpPr>
          <p:cNvPr id="67" name="Shape 64"/>
          <p:cNvSpPr/>
          <p:nvPr/>
        </p:nvSpPr>
        <p:spPr>
          <a:xfrm>
            <a:off x="3802807" y="4296775"/>
            <a:ext cx="347399" cy="164592"/>
          </a:xfrm>
          <a:prstGeom prst="roundRect">
            <a:avLst>
              <a:gd name="adj" fmla="val 22222"/>
            </a:avLst>
          </a:prstGeom>
          <a:solidFill>
            <a:srgbClr val="F8E4E5">
              <a:alpha val="32000"/>
            </a:srgbClr>
          </a:solidFill>
          <a:ln w="12700">
            <a:solidFill>
              <a:srgbClr val="F8E4E5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6181344" y="4274070"/>
            <a:ext cx="73152" cy="164592"/>
          </a:xfrm>
          <a:prstGeom prst="roundRect">
            <a:avLst>
              <a:gd name="adj" fmla="val 625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6163056" y="4348137"/>
            <a:ext cx="18288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6254496" y="4348137"/>
            <a:ext cx="73152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6319418" y="4356366"/>
            <a:ext cx="16459" cy="691122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6327648" y="5039258"/>
            <a:ext cx="237744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6557162" y="5047488"/>
            <a:ext cx="16459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Enlaces, imágenes y jerarquía también comunican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pregunta útil no es solo si la etiqueta existe, sino si realmente ayuda a entender qué ofrece la página.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50976" y="2212848"/>
            <a:ext cx="4443984" cy="3456432"/>
          </a:xfrm>
          <a:prstGeom prst="roundRect">
            <a:avLst>
              <a:gd name="adj" fmla="val 10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70432" y="2414016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Señales vagas</a:t>
            </a:r>
            <a:endParaRPr lang="en-US" sz="1460" dirty="0"/>
          </a:p>
        </p:txBody>
      </p:sp>
      <p:sp>
        <p:nvSpPr>
          <p:cNvPr id="12" name="Shape 9"/>
          <p:cNvSpPr/>
          <p:nvPr/>
        </p:nvSpPr>
        <p:spPr>
          <a:xfrm>
            <a:off x="1133856" y="2779776"/>
            <a:ext cx="4041648" cy="676656"/>
          </a:xfrm>
          <a:prstGeom prst="roundRect">
            <a:avLst>
              <a:gd name="adj" fmla="val 540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25296" y="2907792"/>
            <a:ext cx="109728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89888" y="2889504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Link</a:t>
            </a:r>
            <a:endParaRPr lang="en-US" sz="1280" dirty="0"/>
          </a:p>
        </p:txBody>
      </p:sp>
      <p:sp>
        <p:nvSpPr>
          <p:cNvPr id="15" name="Text 12"/>
          <p:cNvSpPr/>
          <p:nvPr/>
        </p:nvSpPr>
        <p:spPr>
          <a:xfrm>
            <a:off x="1389888" y="3236976"/>
            <a:ext cx="36941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Haz clic aqui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133856" y="3639312"/>
            <a:ext cx="4041648" cy="676656"/>
          </a:xfrm>
          <a:prstGeom prst="roundRect">
            <a:avLst>
              <a:gd name="adj" fmla="val 540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225296" y="3767328"/>
            <a:ext cx="109728" cy="4206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89888" y="3749040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Imagen</a:t>
            </a:r>
            <a:endParaRPr lang="en-US" sz="1280" dirty="0"/>
          </a:p>
        </p:txBody>
      </p:sp>
      <p:sp>
        <p:nvSpPr>
          <p:cNvPr id="19" name="Text 16"/>
          <p:cNvSpPr/>
          <p:nvPr/>
        </p:nvSpPr>
        <p:spPr>
          <a:xfrm>
            <a:off x="1389888" y="4096512"/>
            <a:ext cx="36941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alt o con alt generico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133856" y="4498848"/>
            <a:ext cx="4041648" cy="676656"/>
          </a:xfrm>
          <a:prstGeom prst="roundRect">
            <a:avLst>
              <a:gd name="adj" fmla="val 540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225296" y="4626864"/>
            <a:ext cx="109728" cy="4206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389888" y="4608576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Heading</a:t>
            </a:r>
            <a:endParaRPr lang="en-US" sz="1280" dirty="0"/>
          </a:p>
        </p:txBody>
      </p:sp>
      <p:sp>
        <p:nvSpPr>
          <p:cNvPr id="23" name="Text 20"/>
          <p:cNvSpPr/>
          <p:nvPr/>
        </p:nvSpPr>
        <p:spPr>
          <a:xfrm>
            <a:off x="1389888" y="4956048"/>
            <a:ext cx="36941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varios h1 sin intención clara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650992" y="2212848"/>
            <a:ext cx="4334256" cy="3456432"/>
          </a:xfrm>
          <a:prstGeom prst="roundRect">
            <a:avLst>
              <a:gd name="adj" fmla="val 1058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70448" y="241401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Señales que sí ayudan</a:t>
            </a:r>
            <a:endParaRPr lang="en-US" sz="1460" dirty="0"/>
          </a:p>
        </p:txBody>
      </p:sp>
      <p:sp>
        <p:nvSpPr>
          <p:cNvPr id="26" name="Shape 23"/>
          <p:cNvSpPr/>
          <p:nvPr/>
        </p:nvSpPr>
        <p:spPr>
          <a:xfrm>
            <a:off x="5833872" y="2779776"/>
            <a:ext cx="3968496" cy="676656"/>
          </a:xfrm>
          <a:prstGeom prst="roundRect">
            <a:avLst>
              <a:gd name="adj" fmla="val 540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25312" y="2907792"/>
            <a:ext cx="109728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89904" y="2889504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Link</a:t>
            </a:r>
            <a:endParaRPr lang="en-US" sz="1280" dirty="0"/>
          </a:p>
        </p:txBody>
      </p:sp>
      <p:sp>
        <p:nvSpPr>
          <p:cNvPr id="29" name="Text 26"/>
          <p:cNvSpPr/>
          <p:nvPr/>
        </p:nvSpPr>
        <p:spPr>
          <a:xfrm>
            <a:off x="6089904" y="3236976"/>
            <a:ext cx="3621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Descargar guia de auditoria web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833872" y="3639312"/>
            <a:ext cx="3968496" cy="676656"/>
          </a:xfrm>
          <a:prstGeom prst="roundRect">
            <a:avLst>
              <a:gd name="adj" fmla="val 540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925312" y="3767328"/>
            <a:ext cx="109728" cy="4206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089904" y="3749040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Imagen</a:t>
            </a:r>
            <a:endParaRPr lang="en-US" sz="1280" dirty="0"/>
          </a:p>
        </p:txBody>
      </p:sp>
      <p:sp>
        <p:nvSpPr>
          <p:cNvPr id="33" name="Text 30"/>
          <p:cNvSpPr/>
          <p:nvPr/>
        </p:nvSpPr>
        <p:spPr>
          <a:xfrm>
            <a:off x="6089904" y="4096512"/>
            <a:ext cx="3621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 con contexto real del contenido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833872" y="4498848"/>
            <a:ext cx="3968496" cy="676656"/>
          </a:xfrm>
          <a:prstGeom prst="roundRect">
            <a:avLst>
              <a:gd name="adj" fmla="val 540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25312" y="4626864"/>
            <a:ext cx="109728" cy="4206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089904" y="4608576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Heading</a:t>
            </a:r>
            <a:endParaRPr lang="en-US" sz="1280" dirty="0"/>
          </a:p>
        </p:txBody>
      </p:sp>
      <p:sp>
        <p:nvSpPr>
          <p:cNvPr id="37" name="Text 34"/>
          <p:cNvSpPr/>
          <p:nvPr/>
        </p:nvSpPr>
        <p:spPr>
          <a:xfrm>
            <a:off x="6089904" y="4956048"/>
            <a:ext cx="3621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h1 principal y subtítulos con jerarquía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pregunta útil no es solo “¿esto existe en el HTML?”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También conviene preguntar si esa señal ayuda de verdad a entender qué ofrece la página.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1060704" y="2286000"/>
            <a:ext cx="8961120" cy="932688"/>
          </a:xfrm>
          <a:prstGeom prst="roundRect">
            <a:avLst>
              <a:gd name="adj" fmla="val 3922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61872" y="2450592"/>
            <a:ext cx="8558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basta con tener title, meta, heading o alt. Tienen que decir algo útil y coherente con la intención del documento.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1316736" y="3730752"/>
            <a:ext cx="4023360" cy="1298448"/>
          </a:xfrm>
          <a:prstGeom prst="roundRect">
            <a:avLst>
              <a:gd name="adj" fmla="val 281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08176" y="3858768"/>
            <a:ext cx="109728" cy="10424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572768" y="3840480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mecánico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572768" y="4187952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 la etiqueta.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 el atributo.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 la descripción.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Pero nadie valida si comunica algo real.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5650992" y="3730752"/>
            <a:ext cx="4023360" cy="1298448"/>
          </a:xfrm>
          <a:prstGeom prst="roundRect">
            <a:avLst>
              <a:gd name="adj" fmla="val 281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742432" y="3858768"/>
            <a:ext cx="109728" cy="10424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07024" y="3840480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con criterio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907024" y="4187952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señal existe.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 bien la intención.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Ayuda a entender el contenido.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no se vuelve relleno genérico.</a:t>
            </a:r>
            <a:endParaRPr lang="en-US" sz="11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agente puede proponer mejoras SEO; tú validas la intención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ayuda automática acelera una primera pasada, pero no debería volver genérico ni artificial el documento.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139696"/>
            <a:ext cx="8997696" cy="3310128"/>
          </a:xfrm>
          <a:prstGeom prst="roundRect">
            <a:avLst>
              <a:gd name="adj" fmla="val 11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267712"/>
            <a:ext cx="8741664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340864"/>
            <a:ext cx="8522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puede acelerar un agente y qué no conviene delegar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78992" y="2706624"/>
            <a:ext cx="3493008" cy="2286000"/>
          </a:xfrm>
          <a:prstGeom prst="roundRect">
            <a:avLst>
              <a:gd name="adj" fmla="val 16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88720" y="2834640"/>
            <a:ext cx="109728" cy="20299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89888" y="2834640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Puede ayudar con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89888" y="3108960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sugerencias iniciales de estructura y señales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389888" y="3456432"/>
            <a:ext cx="3035808" cy="288036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81328" y="355930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627632" y="3502152"/>
            <a:ext cx="2743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proponer títulos y descripciones iniciales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389888" y="3835908"/>
            <a:ext cx="3035808" cy="288036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481328" y="393877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627632" y="3881628"/>
            <a:ext cx="2743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detectar headings poco claros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389888" y="4215384"/>
            <a:ext cx="3035808" cy="288036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481328" y="431825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27632" y="4261104"/>
            <a:ext cx="2743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sugerir enlaces más descriptivos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389888" y="4594860"/>
            <a:ext cx="3035808" cy="288036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481328" y="4697730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627632" y="4640580"/>
            <a:ext cx="2743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resumir problemas estructurales del HTML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291072" y="2706624"/>
            <a:ext cx="3493008" cy="2286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0800" y="2834640"/>
            <a:ext cx="109728" cy="20299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01968" y="2834640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conviene delegar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601968" y="3108960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intención, sentido y validación final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6601968" y="3456432"/>
            <a:ext cx="3035808" cy="288036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693408" y="3559302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39712" y="3502152"/>
            <a:ext cx="2743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 por bueno un title solo porque suena técnico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01968" y="3835908"/>
            <a:ext cx="3035808" cy="288036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693408" y="393877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839712" y="3881628"/>
            <a:ext cx="2743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aceptar descripciones genéricas sin revisar contexto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601968" y="4215384"/>
            <a:ext cx="3035808" cy="288036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693408" y="431825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839712" y="4261104"/>
            <a:ext cx="2743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suponer que la jerarquía ya tiene sentido por existir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601968" y="4594860"/>
            <a:ext cx="3035808" cy="288036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693408" y="469773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839712" y="4640580"/>
            <a:ext cx="2743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confundir sugerencia automática con mejora real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828032" y="3035808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937760" y="3182112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010912" y="3602736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992624" y="322783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Sentido real</a:t>
            </a:r>
            <a:endParaRPr lang="en-US" sz="1060" dirty="0"/>
          </a:p>
        </p:txBody>
      </p:sp>
      <p:sp>
        <p:nvSpPr>
          <p:cNvPr id="49" name="Text 46"/>
          <p:cNvSpPr/>
          <p:nvPr/>
        </p:nvSpPr>
        <p:spPr>
          <a:xfrm>
            <a:off x="4956048" y="4014216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sugerencia acelera la primera pasada. El desarrollador valida intención y claridad.</a:t>
            </a:r>
            <a:endParaRPr lang="en-US" sz="720" dirty="0"/>
          </a:p>
        </p:txBody>
      </p:sp>
      <p:sp>
        <p:nvSpPr>
          <p:cNvPr id="50" name="Shape 47"/>
          <p:cNvSpPr/>
          <p:nvPr/>
        </p:nvSpPr>
        <p:spPr>
          <a:xfrm>
            <a:off x="1133856" y="5047488"/>
            <a:ext cx="8595360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243584" y="5093208"/>
            <a:ext cx="83759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entender el documento. Después apoyar y revisar.</a:t>
            </a:r>
            <a:endParaRPr lang="en-US" sz="8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para cerrar 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pasar a rendimiento, conviene fijar qué hace que una página se deje interpretar mejor.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87552" y="2231136"/>
            <a:ext cx="9180576" cy="859536"/>
          </a:xfrm>
          <a:prstGeom prst="roundRect">
            <a:avLst>
              <a:gd name="adj" fmla="val 425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359152"/>
            <a:ext cx="109728" cy="6035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43584" y="2340864"/>
            <a:ext cx="8833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¿Por qué conviene entender SEO técnico primero como problema de estructura y comprensión?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43584" y="2688336"/>
            <a:ext cx="8833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respuesta ya debería mover la clase desde marketing hacia documento, señales e intención.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987552" y="3310128"/>
            <a:ext cx="9180576" cy="859536"/>
          </a:xfrm>
          <a:prstGeom prst="roundRect">
            <a:avLst>
              <a:gd name="adj" fmla="val 425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78992" y="3438144"/>
            <a:ext cx="109728" cy="6035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43584" y="3419856"/>
            <a:ext cx="8833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¿Qué señales del documento ayudan a que una página se deje interpretar mejor?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243584" y="3767328"/>
            <a:ext cx="8833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title, description, headings, semántica, enlaces claros, alt y organización general con sentido.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987552" y="4389120"/>
            <a:ext cx="9180576" cy="859536"/>
          </a:xfrm>
          <a:prstGeom prst="roundRect">
            <a:avLst>
              <a:gd name="adj" fmla="val 425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78992" y="4517136"/>
            <a:ext cx="109728" cy="6035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43584" y="4498848"/>
            <a:ext cx="8833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¿Por qué una sugerencia automática puede ser útil y aun así necesitar revisión humana?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43584" y="4846320"/>
            <a:ext cx="8833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Porque puede acelerar una mejora inicial, pero no garantiza intención clara ni comprensión real.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del Bloque 2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estructura, los metadatos y la jerarquía ya quedaron instalados como primera base concreta de calidad.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1133856" y="2212848"/>
            <a:ext cx="8906256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35024" y="2377440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SEO técnico básico empieza en una página que se deja entender desde su documento.</a:t>
            </a:r>
            <a:endParaRPr lang="en-US" sz="2040" dirty="0"/>
          </a:p>
        </p:txBody>
      </p:sp>
      <p:sp>
        <p:nvSpPr>
          <p:cNvPr id="12" name="Shape 9"/>
          <p:cNvSpPr/>
          <p:nvPr/>
        </p:nvSpPr>
        <p:spPr>
          <a:xfrm>
            <a:off x="1243584" y="3675888"/>
            <a:ext cx="2816352" cy="969264"/>
          </a:xfrm>
          <a:prstGeom prst="roundRect">
            <a:avLst>
              <a:gd name="adj" fmla="val 283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316736" y="3785616"/>
            <a:ext cx="100584" cy="7498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99616" y="380390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clave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499616" y="4078224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title, meta, headings y semántica ayudan a que el contenido se deje interpretar.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52544" y="3675888"/>
            <a:ext cx="2816352" cy="969264"/>
          </a:xfrm>
          <a:prstGeom prst="roundRect">
            <a:avLst>
              <a:gd name="adj" fmla="val 283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25696" y="3785616"/>
            <a:ext cx="100584" cy="7498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08576" y="380390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Método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608576" y="4078224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el documento, comparar señales, apoyarse con sugerencias y validar sentido real.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461504" y="3675888"/>
            <a:ext cx="2816352" cy="969264"/>
          </a:xfrm>
          <a:prstGeom prst="roundRect">
            <a:avLst>
              <a:gd name="adj" fmla="val 283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34656" y="3785616"/>
            <a:ext cx="100584" cy="7498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17536" y="380390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Puente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717536" y="4078224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siguiente bloque cambiaremos de comprensión del documento a carga y experiencia percibida.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1865376" y="5102352"/>
            <a:ext cx="6803136" cy="603504"/>
          </a:xfrm>
          <a:prstGeom prst="roundRect">
            <a:avLst>
              <a:gd name="adj" fmla="val 6061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066544" y="52669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Ahora pasamos desde lo que la página dice a cómo se siente cuando intenta cargar y responder.</a:t>
            </a:r>
            <a:endParaRPr lang="en-US" sz="16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3 · Rendimiento y experiencia percibida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Ahora toca leer cómo aparece, se mueve y responde la página cuando intenta cargar y usarse.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77824" y="2103120"/>
            <a:ext cx="2926080" cy="3383280"/>
          </a:xfrm>
          <a:prstGeom prst="roundRect">
            <a:avLst>
              <a:gd name="adj" fmla="val 1250"/>
            </a:avLst>
          </a:prstGeom>
          <a:solidFill>
            <a:srgbClr val="2F5687"/>
          </a:solidFill>
          <a:ln w="12700">
            <a:solidFill>
              <a:srgbClr val="2F568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42416" y="2515332"/>
            <a:ext cx="193853" cy="445861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75039" y="2340864"/>
            <a:ext cx="232623" cy="620329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46433" y="2515332"/>
            <a:ext cx="193853" cy="445861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78992" y="3054096"/>
            <a:ext cx="22311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Rendimiento no es</a:t>
            </a:r>
            <a:endParaRPr lang="en-US" sz="2120" dirty="0"/>
          </a:p>
          <a:p>
            <a:pPr indent="0" marL="0">
              <a:buNone/>
            </a:pPr>
            <a:r>
              <a:rPr lang="en-US" sz="21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solo velocidad.</a:t>
            </a:r>
            <a:endParaRPr lang="en-US" sz="2120" dirty="0"/>
          </a:p>
        </p:txBody>
      </p:sp>
      <p:sp>
        <p:nvSpPr>
          <p:cNvPr id="15" name="Shape 12"/>
          <p:cNvSpPr/>
          <p:nvPr/>
        </p:nvSpPr>
        <p:spPr>
          <a:xfrm>
            <a:off x="1133856" y="4590288"/>
            <a:ext cx="914400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07008" y="4626864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carga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194560" y="4590288"/>
            <a:ext cx="914400" cy="219456"/>
          </a:xfrm>
          <a:prstGeom prst="roundRect">
            <a:avLst>
              <a:gd name="adj" fmla="val 2083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67712" y="4626864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salto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1133856" y="4901184"/>
            <a:ext cx="914400" cy="219456"/>
          </a:xfrm>
          <a:prstGeom prst="roundRect">
            <a:avLst>
              <a:gd name="adj" fmla="val 20833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07008" y="493776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2194560" y="4901184"/>
            <a:ext cx="91440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267712" y="493776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prioridad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151376" y="2139696"/>
            <a:ext cx="5596128" cy="2157984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279392" y="2267712"/>
            <a:ext cx="5340096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89120" y="234086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señales que vuelven visible la experiencia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4297680" y="2743200"/>
            <a:ext cx="1670304" cy="1371600"/>
          </a:xfrm>
          <a:prstGeom prst="roundRect">
            <a:avLst>
              <a:gd name="adj" fmla="val 266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389120" y="2852928"/>
            <a:ext cx="73152" cy="115214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498848" y="2889504"/>
            <a:ext cx="1267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LCP</a:t>
            </a:r>
            <a:endParaRPr lang="en-US" sz="1260" dirty="0"/>
          </a:p>
        </p:txBody>
      </p:sp>
      <p:sp>
        <p:nvSpPr>
          <p:cNvPr id="29" name="Text 26"/>
          <p:cNvSpPr/>
          <p:nvPr/>
        </p:nvSpPr>
        <p:spPr>
          <a:xfrm>
            <a:off x="4498848" y="3127248"/>
            <a:ext cx="1267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2.4 s</a:t>
            </a:r>
            <a:endParaRPr lang="en-US" sz="1820" dirty="0"/>
          </a:p>
        </p:txBody>
      </p:sp>
      <p:sp>
        <p:nvSpPr>
          <p:cNvPr id="30" name="Text 27"/>
          <p:cNvSpPr/>
          <p:nvPr/>
        </p:nvSpPr>
        <p:spPr>
          <a:xfrm>
            <a:off x="4498848" y="3438144"/>
            <a:ext cx="1359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cuándo aparece el contenido principal</a:t>
            </a:r>
            <a:endParaRPr lang="en-US" sz="870" dirty="0"/>
          </a:p>
        </p:txBody>
      </p:sp>
      <p:sp>
        <p:nvSpPr>
          <p:cNvPr id="31" name="Shape 28"/>
          <p:cNvSpPr/>
          <p:nvPr/>
        </p:nvSpPr>
        <p:spPr>
          <a:xfrm>
            <a:off x="6114288" y="2743200"/>
            <a:ext cx="1670304" cy="1371600"/>
          </a:xfrm>
          <a:prstGeom prst="roundRect">
            <a:avLst>
              <a:gd name="adj" fmla="val 2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205728" y="2852928"/>
            <a:ext cx="73152" cy="11521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15456" y="2889504"/>
            <a:ext cx="1267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CLS</a:t>
            </a:r>
            <a:endParaRPr lang="en-US" sz="1260" dirty="0"/>
          </a:p>
        </p:txBody>
      </p:sp>
      <p:sp>
        <p:nvSpPr>
          <p:cNvPr id="34" name="Text 31"/>
          <p:cNvSpPr/>
          <p:nvPr/>
        </p:nvSpPr>
        <p:spPr>
          <a:xfrm>
            <a:off x="6315456" y="3127248"/>
            <a:ext cx="1267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0.05</a:t>
            </a:r>
            <a:endParaRPr lang="en-US" sz="1820" dirty="0"/>
          </a:p>
        </p:txBody>
      </p:sp>
      <p:sp>
        <p:nvSpPr>
          <p:cNvPr id="35" name="Text 32"/>
          <p:cNvSpPr/>
          <p:nvPr/>
        </p:nvSpPr>
        <p:spPr>
          <a:xfrm>
            <a:off x="6315456" y="3438144"/>
            <a:ext cx="1359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 interfaz salta mientras carga</a:t>
            </a:r>
            <a:endParaRPr lang="en-US" sz="870" dirty="0"/>
          </a:p>
        </p:txBody>
      </p:sp>
      <p:sp>
        <p:nvSpPr>
          <p:cNvPr id="36" name="Shape 33"/>
          <p:cNvSpPr/>
          <p:nvPr/>
        </p:nvSpPr>
        <p:spPr>
          <a:xfrm>
            <a:off x="7930896" y="2743200"/>
            <a:ext cx="1670304" cy="1371600"/>
          </a:xfrm>
          <a:prstGeom prst="roundRect">
            <a:avLst>
              <a:gd name="adj" fmla="val 2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022336" y="2852928"/>
            <a:ext cx="73152" cy="11521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132064" y="2889504"/>
            <a:ext cx="1267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</a:t>
            </a:r>
            <a:endParaRPr lang="en-US" sz="1260" dirty="0"/>
          </a:p>
        </p:txBody>
      </p:sp>
      <p:sp>
        <p:nvSpPr>
          <p:cNvPr id="39" name="Text 36"/>
          <p:cNvSpPr/>
          <p:nvPr/>
        </p:nvSpPr>
        <p:spPr>
          <a:xfrm>
            <a:off x="8132064" y="3127248"/>
            <a:ext cx="1267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190 ms</a:t>
            </a:r>
            <a:endParaRPr lang="en-US" sz="1820" dirty="0"/>
          </a:p>
        </p:txBody>
      </p:sp>
      <p:sp>
        <p:nvSpPr>
          <p:cNvPr id="40" name="Text 37"/>
          <p:cNvSpPr/>
          <p:nvPr/>
        </p:nvSpPr>
        <p:spPr>
          <a:xfrm>
            <a:off x="8132064" y="3438144"/>
            <a:ext cx="1359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tan bien responde al interactuar</a:t>
            </a:r>
            <a:endParaRPr lang="en-US" sz="870" dirty="0"/>
          </a:p>
        </p:txBody>
      </p:sp>
      <p:sp>
        <p:nvSpPr>
          <p:cNvPr id="41" name="Shape 38"/>
          <p:cNvSpPr/>
          <p:nvPr/>
        </p:nvSpPr>
        <p:spPr>
          <a:xfrm>
            <a:off x="4334256" y="4553712"/>
            <a:ext cx="1645920" cy="841248"/>
          </a:xfrm>
          <a:prstGeom prst="roundRect">
            <a:avLst>
              <a:gd name="adj" fmla="val 326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407408" y="4663440"/>
            <a:ext cx="100584" cy="6217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590288" y="468172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Carga</a:t>
            </a:r>
            <a:endParaRPr lang="en-US" sz="1250" dirty="0"/>
          </a:p>
        </p:txBody>
      </p:sp>
      <p:sp>
        <p:nvSpPr>
          <p:cNvPr id="44" name="Text 41"/>
          <p:cNvSpPr/>
          <p:nvPr/>
        </p:nvSpPr>
        <p:spPr>
          <a:xfrm>
            <a:off x="4590288" y="495604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cuándo se puede empezar a leer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6144768" y="4553712"/>
            <a:ext cx="1645920" cy="841248"/>
          </a:xfrm>
          <a:prstGeom prst="roundRect">
            <a:avLst>
              <a:gd name="adj" fmla="val 326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217920" y="4663440"/>
            <a:ext cx="100584" cy="6217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400800" y="468172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Estabilidad</a:t>
            </a:r>
            <a:endParaRPr lang="en-US" sz="1250" dirty="0"/>
          </a:p>
        </p:txBody>
      </p:sp>
      <p:sp>
        <p:nvSpPr>
          <p:cNvPr id="48" name="Text 45"/>
          <p:cNvSpPr/>
          <p:nvPr/>
        </p:nvSpPr>
        <p:spPr>
          <a:xfrm>
            <a:off x="6400800" y="495604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layout se mueve sin avisar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7955280" y="4553712"/>
            <a:ext cx="1645920" cy="841248"/>
          </a:xfrm>
          <a:prstGeom prst="roundRect">
            <a:avLst>
              <a:gd name="adj" fmla="val 326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028432" y="4663440"/>
            <a:ext cx="100584" cy="62179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211312" y="468172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Respuesta</a:t>
            </a:r>
            <a:endParaRPr lang="en-US" sz="1250" dirty="0"/>
          </a:p>
        </p:txBody>
      </p:sp>
      <p:sp>
        <p:nvSpPr>
          <p:cNvPr id="52" name="Text 49"/>
          <p:cNvSpPr/>
          <p:nvPr/>
        </p:nvSpPr>
        <p:spPr>
          <a:xfrm>
            <a:off x="8211312" y="495604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 acción se siente torpe o fluida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Rendimiento no significa solo “rápido” o “lento”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Conviene leer cuándo aparece lo útil, cuándo deja de moverse y cuándo se puede interactuar sin atraso.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249424"/>
            <a:ext cx="3547872" cy="3054096"/>
          </a:xfrm>
          <a:prstGeom prst="roundRect">
            <a:avLst>
              <a:gd name="adj" fmla="val 119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377440"/>
            <a:ext cx="109728" cy="27980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35915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pobre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88720" y="2706624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siente lenta.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siente pesada.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siente rara.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Pero no sabemos todavía qué parte del recorrido está fallando.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4791456" y="2249424"/>
            <a:ext cx="4992624" cy="3054096"/>
          </a:xfrm>
          <a:prstGeom prst="roundRect">
            <a:avLst>
              <a:gd name="adj" fmla="val 119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82896" y="2377440"/>
            <a:ext cx="109728" cy="27980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47488" y="2359152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útil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47488" y="2706624"/>
            <a:ext cx="46451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¿Cuándo aparece el contenido principal?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¿La página parece lista para leerse?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¿Se puede interactuar sin atraso?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recursos consumen tiempo antes de aportar valor?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591056" y="5468112"/>
            <a:ext cx="7827264" cy="566928"/>
          </a:xfrm>
          <a:prstGeom prst="roundRect">
            <a:avLst>
              <a:gd name="adj" fmla="val 6452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792224" y="5632704"/>
            <a:ext cx="7424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Rendimiento mejora cuando dejamos de hablar en abstracto y empezamos a leer comportamiento real.</a:t>
            </a:r>
            <a:endParaRPr lang="en-US" sz="16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Muchas veces el problema está en decisiones visibles del proyecto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Imágenes pesadas, terceros, librerías o componentes costosos suelen degradar la carga antes de mostrar lo principal.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14400" y="2139696"/>
            <a:ext cx="9198864" cy="3493008"/>
          </a:xfrm>
          <a:prstGeom prst="roundRect">
            <a:avLst>
              <a:gd name="adj" fmla="val 10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42416" y="2267712"/>
            <a:ext cx="894283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340864"/>
            <a:ext cx="8723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inicial de carga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60704" y="2743200"/>
            <a:ext cx="6293998" cy="539496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70432" y="2852928"/>
            <a:ext cx="493776" cy="182880"/>
          </a:xfrm>
          <a:prstGeom prst="roundRect">
            <a:avLst>
              <a:gd name="adj" fmla="val 150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07008" y="2894076"/>
            <a:ext cx="4206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img</a:t>
            </a:r>
            <a:endParaRPr lang="en-US" sz="760" dirty="0"/>
          </a:p>
        </p:txBody>
      </p:sp>
      <p:sp>
        <p:nvSpPr>
          <p:cNvPr id="16" name="Text 13"/>
          <p:cNvSpPr/>
          <p:nvPr/>
        </p:nvSpPr>
        <p:spPr>
          <a:xfrm>
            <a:off x="1755648" y="2843784"/>
            <a:ext cx="35325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hero-producto.webp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507614" y="2843784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480 KB · 620 ms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1755648" y="3081528"/>
            <a:ext cx="5178430" cy="73152"/>
          </a:xfrm>
          <a:prstGeom prst="roundRect">
            <a:avLst>
              <a:gd name="adj" fmla="val 25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755648" y="3081528"/>
            <a:ext cx="3653708" cy="73152"/>
          </a:xfrm>
          <a:prstGeom prst="roundRect">
            <a:avLst>
              <a:gd name="adj" fmla="val 250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60704" y="3374136"/>
            <a:ext cx="6293998" cy="539496"/>
          </a:xfrm>
          <a:prstGeom prst="roundRect">
            <a:avLst>
              <a:gd name="adj" fmla="val 6780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70432" y="3483864"/>
            <a:ext cx="493776" cy="182880"/>
          </a:xfrm>
          <a:prstGeom prst="roundRect">
            <a:avLst>
              <a:gd name="adj" fmla="val 15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07008" y="3525012"/>
            <a:ext cx="4206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</a:t>
            </a:r>
            <a:endParaRPr lang="en-US" sz="760" dirty="0"/>
          </a:p>
        </p:txBody>
      </p:sp>
      <p:sp>
        <p:nvSpPr>
          <p:cNvPr id="23" name="Text 20"/>
          <p:cNvSpPr/>
          <p:nvPr/>
        </p:nvSpPr>
        <p:spPr>
          <a:xfrm>
            <a:off x="1755648" y="3474720"/>
            <a:ext cx="35325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ui-kit.css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507614" y="3474720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118 KB · 220 ms</a:t>
            </a:r>
            <a:endParaRPr lang="en-US" sz="820" dirty="0"/>
          </a:p>
        </p:txBody>
      </p:sp>
      <p:sp>
        <p:nvSpPr>
          <p:cNvPr id="25" name="Shape 22"/>
          <p:cNvSpPr/>
          <p:nvPr/>
        </p:nvSpPr>
        <p:spPr>
          <a:xfrm>
            <a:off x="1755648" y="3712464"/>
            <a:ext cx="5178430" cy="73152"/>
          </a:xfrm>
          <a:prstGeom prst="roundRect">
            <a:avLst>
              <a:gd name="adj" fmla="val 25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755648" y="3712464"/>
            <a:ext cx="2065139" cy="73152"/>
          </a:xfrm>
          <a:prstGeom prst="roundRect">
            <a:avLst>
              <a:gd name="adj" fmla="val 25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60704" y="4005072"/>
            <a:ext cx="6293998" cy="539496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170432" y="4114800"/>
            <a:ext cx="493776" cy="182880"/>
          </a:xfrm>
          <a:prstGeom prst="roundRect">
            <a:avLst>
              <a:gd name="adj" fmla="val 15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207008" y="4155948"/>
            <a:ext cx="4206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</a:t>
            </a:r>
            <a:endParaRPr lang="en-US" sz="760" dirty="0"/>
          </a:p>
        </p:txBody>
      </p:sp>
      <p:sp>
        <p:nvSpPr>
          <p:cNvPr id="30" name="Text 27"/>
          <p:cNvSpPr/>
          <p:nvPr/>
        </p:nvSpPr>
        <p:spPr>
          <a:xfrm>
            <a:off x="1755648" y="4105656"/>
            <a:ext cx="35325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carousel.js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507614" y="4105656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210 KB · 360 ms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1755648" y="4343400"/>
            <a:ext cx="5178430" cy="73152"/>
          </a:xfrm>
          <a:prstGeom prst="roundRect">
            <a:avLst>
              <a:gd name="adj" fmla="val 25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755648" y="4343400"/>
            <a:ext cx="2779995" cy="73152"/>
          </a:xfrm>
          <a:prstGeom prst="roundRect">
            <a:avLst>
              <a:gd name="adj" fmla="val 250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60704" y="4636008"/>
            <a:ext cx="6293998" cy="539496"/>
          </a:xfrm>
          <a:prstGeom prst="roundRect">
            <a:avLst>
              <a:gd name="adj" fmla="val 6780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170432" y="4745736"/>
            <a:ext cx="493776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207008" y="4786884"/>
            <a:ext cx="4206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3rd</a:t>
            </a:r>
            <a:endParaRPr lang="en-US" sz="760" dirty="0"/>
          </a:p>
        </p:txBody>
      </p:sp>
      <p:sp>
        <p:nvSpPr>
          <p:cNvPr id="37" name="Text 34"/>
          <p:cNvSpPr/>
          <p:nvPr/>
        </p:nvSpPr>
        <p:spPr>
          <a:xfrm>
            <a:off x="1755648" y="4736592"/>
            <a:ext cx="35325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analytics.js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507614" y="4736592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52 KB · 240 ms</a:t>
            </a:r>
            <a:endParaRPr lang="en-US" sz="820" dirty="0"/>
          </a:p>
        </p:txBody>
      </p:sp>
      <p:sp>
        <p:nvSpPr>
          <p:cNvPr id="39" name="Shape 36"/>
          <p:cNvSpPr/>
          <p:nvPr/>
        </p:nvSpPr>
        <p:spPr>
          <a:xfrm>
            <a:off x="1755648" y="4974336"/>
            <a:ext cx="5178430" cy="73152"/>
          </a:xfrm>
          <a:prstGeom prst="roundRect">
            <a:avLst>
              <a:gd name="adj" fmla="val 25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755648" y="4974336"/>
            <a:ext cx="1509140" cy="73152"/>
          </a:xfrm>
          <a:prstGeom prst="roundRect">
            <a:avLst>
              <a:gd name="adj" fmla="val 25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464430" y="2743200"/>
            <a:ext cx="2465954" cy="2432304"/>
          </a:xfrm>
          <a:prstGeom prst="roundRect">
            <a:avLst>
              <a:gd name="adj" fmla="val 150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629022" y="2889504"/>
            <a:ext cx="21367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revela esto</a:t>
            </a:r>
            <a:endParaRPr lang="en-US" sz="1240" dirty="0"/>
          </a:p>
        </p:txBody>
      </p:sp>
      <p:sp>
        <p:nvSpPr>
          <p:cNvPr id="43" name="Text 40"/>
          <p:cNvSpPr/>
          <p:nvPr/>
        </p:nvSpPr>
        <p:spPr>
          <a:xfrm>
            <a:off x="7629022" y="3145536"/>
            <a:ext cx="210019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problema no siempre es “la web” en abstracto, sino una suma de decisiones visibles sobre peso, orden de carga y prioridad real.</a:t>
            </a:r>
            <a:endParaRPr lang="en-US" sz="870" dirty="0"/>
          </a:p>
        </p:txBody>
      </p:sp>
      <p:sp>
        <p:nvSpPr>
          <p:cNvPr id="44" name="Text 41"/>
          <p:cNvSpPr/>
          <p:nvPr/>
        </p:nvSpPr>
        <p:spPr>
          <a:xfrm>
            <a:off x="1097280" y="5468112"/>
            <a:ext cx="8833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Rendimiento también se negocia en qué cargamos primero y qué dejamos de exigir en la primera vista.</a:t>
            </a:r>
            <a:endParaRPr lang="en-US" sz="8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herramientas actuales permiten mirar el problema con más precisión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Network, Performance y Lighthouse ayudan a ver recursos, tiempos, bloqueos y experiencia percibida.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194560"/>
            <a:ext cx="4590288" cy="2139696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322576"/>
            <a:ext cx="4334256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3957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Lighthouse como lectura rápida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97280" y="2871216"/>
            <a:ext cx="941832" cy="1152144"/>
          </a:xfrm>
          <a:prstGeom prst="roundRect">
            <a:avLst>
              <a:gd name="adj" fmla="val 291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326246" y="3009473"/>
            <a:ext cx="483900" cy="483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64958" y="3154643"/>
            <a:ext cx="406476" cy="145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68</a:t>
            </a:r>
            <a:endParaRPr lang="en-US" sz="1160" dirty="0"/>
          </a:p>
        </p:txBody>
      </p:sp>
      <p:sp>
        <p:nvSpPr>
          <p:cNvPr id="16" name="Text 13"/>
          <p:cNvSpPr/>
          <p:nvPr/>
        </p:nvSpPr>
        <p:spPr>
          <a:xfrm>
            <a:off x="1170432" y="3631631"/>
            <a:ext cx="795528" cy="31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2203704" y="2871216"/>
            <a:ext cx="941832" cy="1152144"/>
          </a:xfrm>
          <a:prstGeom prst="roundRect">
            <a:avLst>
              <a:gd name="adj" fmla="val 2913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432670" y="3009473"/>
            <a:ext cx="483900" cy="483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471382" y="3154643"/>
            <a:ext cx="406476" cy="145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92</a:t>
            </a:r>
            <a:endParaRPr lang="en-US" sz="1160" dirty="0"/>
          </a:p>
        </p:txBody>
      </p:sp>
      <p:sp>
        <p:nvSpPr>
          <p:cNvPr id="20" name="Text 17"/>
          <p:cNvSpPr/>
          <p:nvPr/>
        </p:nvSpPr>
        <p:spPr>
          <a:xfrm>
            <a:off x="2276856" y="3631631"/>
            <a:ext cx="795528" cy="31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Accesibilidad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3310128" y="2871216"/>
            <a:ext cx="941832" cy="1152144"/>
          </a:xfrm>
          <a:prstGeom prst="roundRect">
            <a:avLst>
              <a:gd name="adj" fmla="val 2913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539094" y="3009473"/>
            <a:ext cx="483900" cy="483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77806" y="3154643"/>
            <a:ext cx="406476" cy="145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94</a:t>
            </a:r>
            <a:endParaRPr lang="en-US" sz="1160" dirty="0"/>
          </a:p>
        </p:txBody>
      </p:sp>
      <p:sp>
        <p:nvSpPr>
          <p:cNvPr id="24" name="Text 21"/>
          <p:cNvSpPr/>
          <p:nvPr/>
        </p:nvSpPr>
        <p:spPr>
          <a:xfrm>
            <a:off x="3383280" y="3631631"/>
            <a:ext cx="795528" cy="31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SEO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4416552" y="2871216"/>
            <a:ext cx="941832" cy="1152144"/>
          </a:xfrm>
          <a:prstGeom prst="roundRect">
            <a:avLst>
              <a:gd name="adj" fmla="val 2913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645518" y="3009473"/>
            <a:ext cx="483900" cy="483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84230" y="3154643"/>
            <a:ext cx="406476" cy="145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88</a:t>
            </a:r>
            <a:endParaRPr lang="en-US" sz="1160" dirty="0"/>
          </a:p>
        </p:txBody>
      </p:sp>
      <p:sp>
        <p:nvSpPr>
          <p:cNvPr id="28" name="Text 25"/>
          <p:cNvSpPr/>
          <p:nvPr/>
        </p:nvSpPr>
        <p:spPr>
          <a:xfrm>
            <a:off x="4489704" y="3631631"/>
            <a:ext cx="795528" cy="31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Buenas prácticas</a:t>
            </a:r>
            <a:endParaRPr lang="en-US" sz="760" dirty="0"/>
          </a:p>
        </p:txBody>
      </p:sp>
      <p:sp>
        <p:nvSpPr>
          <p:cNvPr id="29" name="Text 26"/>
          <p:cNvSpPr/>
          <p:nvPr/>
        </p:nvSpPr>
        <p:spPr>
          <a:xfrm>
            <a:off x="1097280" y="4133088"/>
            <a:ext cx="4261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 para detectar focos iniciales, no para decidir solo.</a:t>
            </a:r>
            <a:endParaRPr lang="en-US" sz="860" dirty="0"/>
          </a:p>
        </p:txBody>
      </p:sp>
      <p:sp>
        <p:nvSpPr>
          <p:cNvPr id="30" name="Shape 27"/>
          <p:cNvSpPr/>
          <p:nvPr/>
        </p:nvSpPr>
        <p:spPr>
          <a:xfrm>
            <a:off x="5797296" y="2194560"/>
            <a:ext cx="4261104" cy="932688"/>
          </a:xfrm>
          <a:prstGeom prst="roundRect">
            <a:avLst>
              <a:gd name="adj" fmla="val 392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888736" y="2322576"/>
            <a:ext cx="109728" cy="6766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053328" y="2304288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Network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053328" y="2651760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 qué recursos pesan más, qué tarda en descargarse y qué se carga antes de aportar valor.</a:t>
            </a:r>
            <a:endParaRPr lang="en-US" sz="940" dirty="0"/>
          </a:p>
        </p:txBody>
      </p:sp>
      <p:sp>
        <p:nvSpPr>
          <p:cNvPr id="34" name="Shape 31"/>
          <p:cNvSpPr/>
          <p:nvPr/>
        </p:nvSpPr>
        <p:spPr>
          <a:xfrm>
            <a:off x="5797296" y="3273552"/>
            <a:ext cx="4261104" cy="932688"/>
          </a:xfrm>
          <a:prstGeom prst="roundRect">
            <a:avLst>
              <a:gd name="adj" fmla="val 392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888736" y="3401568"/>
            <a:ext cx="109728" cy="6766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053328" y="3383280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053328" y="3730752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ver bloqueo inicial, movimientos visuales y tiempos de interacción con más contexto.</a:t>
            </a:r>
            <a:endParaRPr lang="en-US" sz="940" dirty="0"/>
          </a:p>
        </p:txBody>
      </p:sp>
      <p:sp>
        <p:nvSpPr>
          <p:cNvPr id="38" name="Shape 35"/>
          <p:cNvSpPr/>
          <p:nvPr/>
        </p:nvSpPr>
        <p:spPr>
          <a:xfrm>
            <a:off x="1426464" y="4681728"/>
            <a:ext cx="8174736" cy="841248"/>
          </a:xfrm>
          <a:prstGeom prst="roundRect">
            <a:avLst>
              <a:gd name="adj" fmla="val 434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517904" y="4809744"/>
            <a:ext cx="109728" cy="58521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682496" y="4791456"/>
            <a:ext cx="7827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importante</a:t>
            </a:r>
            <a:endParaRPr lang="en-US" sz="1420" dirty="0"/>
          </a:p>
        </p:txBody>
      </p:sp>
      <p:sp>
        <p:nvSpPr>
          <p:cNvPr id="41" name="Text 38"/>
          <p:cNvSpPr/>
          <p:nvPr/>
        </p:nvSpPr>
        <p:spPr>
          <a:xfrm>
            <a:off x="1682496" y="5138928"/>
            <a:ext cx="7827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hace falta memorizar cada panel hoy; basta con asociar cada herramienta a la evidencia que vuelve visible.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LCP, CLS e INP importan porque describen experiencia real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conviene memorizar siglas vacías: conviene asociarlas a contenido principal, estabilidad visual y respuesta.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157984"/>
            <a:ext cx="6620256" cy="3364992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286000"/>
            <a:ext cx="6364224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359152"/>
            <a:ext cx="6144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Métricas iniciales del bloque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78992" y="2761488"/>
            <a:ext cx="2011680" cy="2322576"/>
          </a:xfrm>
          <a:prstGeom prst="roundRect">
            <a:avLst>
              <a:gd name="adj" fmla="val 181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70432" y="2871216"/>
            <a:ext cx="73152" cy="21031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0160" y="2907792"/>
            <a:ext cx="1609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LCP</a:t>
            </a:r>
            <a:endParaRPr lang="en-US" sz="1260" dirty="0"/>
          </a:p>
        </p:txBody>
      </p:sp>
      <p:sp>
        <p:nvSpPr>
          <p:cNvPr id="16" name="Text 13"/>
          <p:cNvSpPr/>
          <p:nvPr/>
        </p:nvSpPr>
        <p:spPr>
          <a:xfrm>
            <a:off x="1280160" y="3145536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2.5 s</a:t>
            </a:r>
            <a:endParaRPr lang="en-US" sz="1820" dirty="0"/>
          </a:p>
        </p:txBody>
      </p:sp>
      <p:sp>
        <p:nvSpPr>
          <p:cNvPr id="17" name="Text 14"/>
          <p:cNvSpPr/>
          <p:nvPr/>
        </p:nvSpPr>
        <p:spPr>
          <a:xfrm>
            <a:off x="1280160" y="3456432"/>
            <a:ext cx="170078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cuándo aparece el contenido principal más importante</a:t>
            </a:r>
            <a:endParaRPr lang="en-US" sz="870" dirty="0"/>
          </a:p>
        </p:txBody>
      </p:sp>
      <p:sp>
        <p:nvSpPr>
          <p:cNvPr id="18" name="Shape 15"/>
          <p:cNvSpPr/>
          <p:nvPr/>
        </p:nvSpPr>
        <p:spPr>
          <a:xfrm>
            <a:off x="3236976" y="2761488"/>
            <a:ext cx="2011680" cy="2322576"/>
          </a:xfrm>
          <a:prstGeom prst="roundRect">
            <a:avLst>
              <a:gd name="adj" fmla="val 181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328416" y="2871216"/>
            <a:ext cx="73152" cy="21031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38144" y="2907792"/>
            <a:ext cx="1609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CLS</a:t>
            </a:r>
            <a:endParaRPr lang="en-US" sz="1260" dirty="0"/>
          </a:p>
        </p:txBody>
      </p:sp>
      <p:sp>
        <p:nvSpPr>
          <p:cNvPr id="21" name="Text 18"/>
          <p:cNvSpPr/>
          <p:nvPr/>
        </p:nvSpPr>
        <p:spPr>
          <a:xfrm>
            <a:off x="3438144" y="3145536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0.03</a:t>
            </a:r>
            <a:endParaRPr lang="en-US" sz="1820" dirty="0"/>
          </a:p>
        </p:txBody>
      </p:sp>
      <p:sp>
        <p:nvSpPr>
          <p:cNvPr id="22" name="Text 19"/>
          <p:cNvSpPr/>
          <p:nvPr/>
        </p:nvSpPr>
        <p:spPr>
          <a:xfrm>
            <a:off x="3438144" y="3456432"/>
            <a:ext cx="170078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cuánto se mueve la interfaz mientras carga</a:t>
            </a:r>
            <a:endParaRPr lang="en-US" sz="870" dirty="0"/>
          </a:p>
        </p:txBody>
      </p:sp>
      <p:sp>
        <p:nvSpPr>
          <p:cNvPr id="23" name="Shape 20"/>
          <p:cNvSpPr/>
          <p:nvPr/>
        </p:nvSpPr>
        <p:spPr>
          <a:xfrm>
            <a:off x="5394960" y="2761488"/>
            <a:ext cx="2011680" cy="2322576"/>
          </a:xfrm>
          <a:prstGeom prst="roundRect">
            <a:avLst>
              <a:gd name="adj" fmla="val 181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6400" y="2871216"/>
            <a:ext cx="73152" cy="21031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96128" y="2907792"/>
            <a:ext cx="1609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</a:t>
            </a:r>
            <a:endParaRPr lang="en-US" sz="1260" dirty="0"/>
          </a:p>
        </p:txBody>
      </p:sp>
      <p:sp>
        <p:nvSpPr>
          <p:cNvPr id="26" name="Text 23"/>
          <p:cNvSpPr/>
          <p:nvPr/>
        </p:nvSpPr>
        <p:spPr>
          <a:xfrm>
            <a:off x="5596128" y="3145536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170 ms</a:t>
            </a:r>
            <a:endParaRPr lang="en-US" sz="1820" dirty="0"/>
          </a:p>
        </p:txBody>
      </p:sp>
      <p:sp>
        <p:nvSpPr>
          <p:cNvPr id="27" name="Text 24"/>
          <p:cNvSpPr/>
          <p:nvPr/>
        </p:nvSpPr>
        <p:spPr>
          <a:xfrm>
            <a:off x="5596128" y="3456432"/>
            <a:ext cx="170078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tan bien responde la página cuando interactúas</a:t>
            </a:r>
            <a:endParaRPr lang="en-US" sz="870" dirty="0"/>
          </a:p>
        </p:txBody>
      </p:sp>
      <p:sp>
        <p:nvSpPr>
          <p:cNvPr id="28" name="Text 25"/>
          <p:cNvSpPr/>
          <p:nvPr/>
        </p:nvSpPr>
        <p:spPr>
          <a:xfrm>
            <a:off x="1115568" y="5358384"/>
            <a:ext cx="6254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métrica importa cuando puede traducirse a algo que la persona realmente siente.</a:t>
            </a:r>
            <a:endParaRPr lang="en-US" sz="840" dirty="0"/>
          </a:p>
        </p:txBody>
      </p:sp>
      <p:sp>
        <p:nvSpPr>
          <p:cNvPr id="29" name="Shape 26"/>
          <p:cNvSpPr/>
          <p:nvPr/>
        </p:nvSpPr>
        <p:spPr>
          <a:xfrm>
            <a:off x="7882128" y="2395728"/>
            <a:ext cx="2084832" cy="932688"/>
          </a:xfrm>
          <a:prstGeom prst="roundRect">
            <a:avLst>
              <a:gd name="adj" fmla="val 294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955280" y="2505456"/>
            <a:ext cx="100584" cy="7132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138160" y="2523744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LCP alto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8138160" y="2798064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principal aparece tarde y la lectura tarda en empezar.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882128" y="3547872"/>
            <a:ext cx="2084832" cy="932688"/>
          </a:xfrm>
          <a:prstGeom prst="roundRect">
            <a:avLst>
              <a:gd name="adj" fmla="val 294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955280" y="3657600"/>
            <a:ext cx="100584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138160" y="367588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CLS alto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8138160" y="3950208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parece inestable y rompe confianza.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7882128" y="4700016"/>
            <a:ext cx="2084832" cy="932688"/>
          </a:xfrm>
          <a:prstGeom prst="roundRect">
            <a:avLst>
              <a:gd name="adj" fmla="val 294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955280" y="4809744"/>
            <a:ext cx="100584" cy="7132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138160" y="4828032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 alto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8138160" y="5102352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interacción se siente torpe aunque la página ya se vea cargada.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Mejorar rendimiento básico suele empezar con decisiones simples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Formato, dimensiones, lazy loading y defer no resuelven todo, pero suelen limpiar bastante la primera vista.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96112" y="2157984"/>
            <a:ext cx="5340096" cy="3511296"/>
          </a:xfrm>
          <a:prstGeom prst="roundRect">
            <a:avLst>
              <a:gd name="adj" fmla="val 104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267712"/>
            <a:ext cx="508406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340864"/>
            <a:ext cx="4864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Decisiones pequeñas con impacto real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15568" y="2724912"/>
            <a:ext cx="103466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40" dirty="0"/>
          </a:p>
          <a:p>
            <a:pPr algn="r"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40" dirty="0"/>
          </a:p>
          <a:p>
            <a:pPr algn="r"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40" dirty="0"/>
          </a:p>
          <a:p>
            <a:pPr algn="r"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40" dirty="0"/>
          </a:p>
          <a:p>
            <a:pPr algn="r"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40" dirty="0"/>
          </a:p>
          <a:p>
            <a:pPr algn="r"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40" dirty="0"/>
          </a:p>
          <a:p>
            <a:pPr algn="r"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40" dirty="0"/>
          </a:p>
          <a:p>
            <a:pPr algn="r"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40" dirty="0"/>
          </a:p>
          <a:p>
            <a:pPr algn="r"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40" dirty="0"/>
          </a:p>
        </p:txBody>
      </p:sp>
      <p:sp>
        <p:nvSpPr>
          <p:cNvPr id="14" name="Text 11"/>
          <p:cNvSpPr/>
          <p:nvPr/>
        </p:nvSpPr>
        <p:spPr>
          <a:xfrm>
            <a:off x="1292186" y="2724912"/>
            <a:ext cx="4742854" cy="1531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</a:t>
            </a:r>
            <a:endParaRPr lang="en-US" sz="1040" dirty="0"/>
          </a:p>
        </p:txBody>
      </p:sp>
      <p:sp>
        <p:nvSpPr>
          <p:cNvPr id="15" name="Text 12"/>
          <p:cNvSpPr/>
          <p:nvPr/>
        </p:nvSpPr>
        <p:spPr>
          <a:xfrm>
            <a:off x="1292186" y="2891333"/>
            <a:ext cx="4742854" cy="1531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src="hero-producto.webp"</a:t>
            </a:r>
            <a:endParaRPr lang="en-US" sz="1040" dirty="0"/>
          </a:p>
        </p:txBody>
      </p:sp>
      <p:sp>
        <p:nvSpPr>
          <p:cNvPr id="16" name="Text 13"/>
          <p:cNvSpPr/>
          <p:nvPr/>
        </p:nvSpPr>
        <p:spPr>
          <a:xfrm>
            <a:off x="1292186" y="3057754"/>
            <a:ext cx="4742854" cy="1531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alt="Vista principal del producto"</a:t>
            </a:r>
            <a:endParaRPr lang="en-US" sz="1040" dirty="0"/>
          </a:p>
        </p:txBody>
      </p:sp>
      <p:sp>
        <p:nvSpPr>
          <p:cNvPr id="17" name="Text 14"/>
          <p:cNvSpPr/>
          <p:nvPr/>
        </p:nvSpPr>
        <p:spPr>
          <a:xfrm>
            <a:off x="1292186" y="3224174"/>
            <a:ext cx="4742854" cy="1531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width="960"</a:t>
            </a:r>
            <a:endParaRPr lang="en-US" sz="1040" dirty="0"/>
          </a:p>
        </p:txBody>
      </p:sp>
      <p:sp>
        <p:nvSpPr>
          <p:cNvPr id="18" name="Text 15"/>
          <p:cNvSpPr/>
          <p:nvPr/>
        </p:nvSpPr>
        <p:spPr>
          <a:xfrm>
            <a:off x="1292186" y="3390595"/>
            <a:ext cx="4742854" cy="1531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height="540"</a:t>
            </a:r>
            <a:endParaRPr lang="en-US" sz="1040" dirty="0"/>
          </a:p>
        </p:txBody>
      </p:sp>
      <p:sp>
        <p:nvSpPr>
          <p:cNvPr id="19" name="Text 16"/>
          <p:cNvSpPr/>
          <p:nvPr/>
        </p:nvSpPr>
        <p:spPr>
          <a:xfrm>
            <a:off x="1292186" y="3557016"/>
            <a:ext cx="4742854" cy="1531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loading="lazy"</a:t>
            </a:r>
            <a:endParaRPr lang="en-US" sz="1040" dirty="0"/>
          </a:p>
        </p:txBody>
      </p:sp>
      <p:sp>
        <p:nvSpPr>
          <p:cNvPr id="20" name="Text 17"/>
          <p:cNvSpPr/>
          <p:nvPr/>
        </p:nvSpPr>
        <p:spPr>
          <a:xfrm>
            <a:off x="1292186" y="3723437"/>
            <a:ext cx="4742854" cy="1531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040" dirty="0"/>
          </a:p>
        </p:txBody>
      </p:sp>
      <p:sp>
        <p:nvSpPr>
          <p:cNvPr id="21" name="Text 18"/>
          <p:cNvSpPr/>
          <p:nvPr/>
        </p:nvSpPr>
        <p:spPr>
          <a:xfrm>
            <a:off x="1292186" y="3889858"/>
            <a:ext cx="4742854" cy="1531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040" dirty="0"/>
          </a:p>
        </p:txBody>
      </p:sp>
      <p:sp>
        <p:nvSpPr>
          <p:cNvPr id="22" name="Text 19"/>
          <p:cNvSpPr/>
          <p:nvPr/>
        </p:nvSpPr>
        <p:spPr>
          <a:xfrm>
            <a:off x="1292186" y="4056278"/>
            <a:ext cx="4742854" cy="1531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4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</a:t>
            </a:r>
            <a:pPr indent="0" marL="0">
              <a:buNone/>
            </a:pPr>
            <a:r>
              <a:rPr lang="en-US" sz="104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4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4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interacciones-secundarias.js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4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4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defer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4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40" dirty="0"/>
          </a:p>
        </p:txBody>
      </p:sp>
      <p:sp>
        <p:nvSpPr>
          <p:cNvPr id="23" name="Shape 20"/>
          <p:cNvSpPr/>
          <p:nvPr/>
        </p:nvSpPr>
        <p:spPr>
          <a:xfrm>
            <a:off x="6528816" y="2395728"/>
            <a:ext cx="3108960" cy="658368"/>
          </a:xfrm>
          <a:prstGeom prst="roundRect">
            <a:avLst>
              <a:gd name="adj" fmla="val 41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601968" y="2505456"/>
            <a:ext cx="100584" cy="4389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84848" y="2523744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Dimensiones</a:t>
            </a:r>
            <a:endParaRPr lang="en-US" sz="1120" dirty="0"/>
          </a:p>
        </p:txBody>
      </p:sp>
      <p:sp>
        <p:nvSpPr>
          <p:cNvPr id="26" name="Text 23"/>
          <p:cNvSpPr/>
          <p:nvPr/>
        </p:nvSpPr>
        <p:spPr>
          <a:xfrm>
            <a:off x="6784848" y="2798064"/>
            <a:ext cx="2779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reservan espacio y reducen saltos del layout.</a:t>
            </a:r>
            <a:endParaRPr lang="en-US" sz="840" dirty="0"/>
          </a:p>
        </p:txBody>
      </p:sp>
      <p:sp>
        <p:nvSpPr>
          <p:cNvPr id="27" name="Shape 24"/>
          <p:cNvSpPr/>
          <p:nvPr/>
        </p:nvSpPr>
        <p:spPr>
          <a:xfrm>
            <a:off x="1319369" y="3247473"/>
            <a:ext cx="1005255" cy="164592"/>
          </a:xfrm>
          <a:prstGeom prst="roundRect">
            <a:avLst>
              <a:gd name="adj" fmla="val 22222"/>
            </a:avLst>
          </a:prstGeom>
          <a:solidFill>
            <a:srgbClr val="E6EEF7">
              <a:alpha val="32000"/>
            </a:srgbClr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254496" y="3228417"/>
            <a:ext cx="73152" cy="164592"/>
          </a:xfrm>
          <a:prstGeom prst="roundRect">
            <a:avLst>
              <a:gd name="adj" fmla="val 625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36208" y="3302484"/>
            <a:ext cx="18288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327648" y="3302484"/>
            <a:ext cx="73152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392570" y="2706624"/>
            <a:ext cx="16459" cy="60408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400800" y="2698394"/>
            <a:ext cx="128016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520586" y="2706624"/>
            <a:ext cx="16459" cy="18288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528816" y="3255264"/>
            <a:ext cx="3108960" cy="658368"/>
          </a:xfrm>
          <a:prstGeom prst="roundRect">
            <a:avLst>
              <a:gd name="adj" fmla="val 416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601968" y="3364992"/>
            <a:ext cx="100584" cy="4389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784848" y="3383280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loading="lazy"</a:t>
            </a:r>
            <a:endParaRPr lang="en-US" sz="1120" dirty="0"/>
          </a:p>
        </p:txBody>
      </p:sp>
      <p:sp>
        <p:nvSpPr>
          <p:cNvPr id="37" name="Text 34"/>
          <p:cNvSpPr/>
          <p:nvPr/>
        </p:nvSpPr>
        <p:spPr>
          <a:xfrm>
            <a:off x="6784848" y="3657600"/>
            <a:ext cx="2779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 exigir de inmediato recursos que no son críticos.</a:t>
            </a:r>
            <a:endParaRPr lang="en-US" sz="840" dirty="0"/>
          </a:p>
        </p:txBody>
      </p:sp>
      <p:sp>
        <p:nvSpPr>
          <p:cNvPr id="38" name="Shape 35"/>
          <p:cNvSpPr/>
          <p:nvPr/>
        </p:nvSpPr>
        <p:spPr>
          <a:xfrm>
            <a:off x="1319369" y="3580315"/>
            <a:ext cx="1069921" cy="164592"/>
          </a:xfrm>
          <a:prstGeom prst="roundRect">
            <a:avLst>
              <a:gd name="adj" fmla="val 22222"/>
            </a:avLst>
          </a:prstGeom>
          <a:solidFill>
            <a:srgbClr val="F2E7D9">
              <a:alpha val="32000"/>
            </a:srgbClr>
          </a:solidFill>
          <a:ln w="12700">
            <a:solidFill>
              <a:srgbClr val="F2E7D9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254496" y="3561259"/>
            <a:ext cx="73152" cy="164592"/>
          </a:xfrm>
          <a:prstGeom prst="roundRect">
            <a:avLst>
              <a:gd name="adj" fmla="val 625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236208" y="3635325"/>
            <a:ext cx="18288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327648" y="3635325"/>
            <a:ext cx="73152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392570" y="3566160"/>
            <a:ext cx="16459" cy="77395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400800" y="3557930"/>
            <a:ext cx="128016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520586" y="3566160"/>
            <a:ext cx="16459" cy="18288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528816" y="4114800"/>
            <a:ext cx="3108960" cy="658368"/>
          </a:xfrm>
          <a:prstGeom prst="roundRect">
            <a:avLst>
              <a:gd name="adj" fmla="val 41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601968" y="4224528"/>
            <a:ext cx="100584" cy="4389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784848" y="4242816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defer</a:t>
            </a:r>
            <a:endParaRPr lang="en-US" sz="1120" dirty="0"/>
          </a:p>
        </p:txBody>
      </p:sp>
      <p:sp>
        <p:nvSpPr>
          <p:cNvPr id="48" name="Text 45"/>
          <p:cNvSpPr/>
          <p:nvPr/>
        </p:nvSpPr>
        <p:spPr>
          <a:xfrm>
            <a:off x="6784848" y="4517136"/>
            <a:ext cx="2779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bloqueo inicial cuando el script no es la prioridad de la vista.</a:t>
            </a:r>
            <a:endParaRPr lang="en-US" sz="840" dirty="0"/>
          </a:p>
        </p:txBody>
      </p:sp>
      <p:sp>
        <p:nvSpPr>
          <p:cNvPr id="49" name="Shape 46"/>
          <p:cNvSpPr/>
          <p:nvPr/>
        </p:nvSpPr>
        <p:spPr>
          <a:xfrm>
            <a:off x="1319369" y="4079577"/>
            <a:ext cx="552590" cy="164592"/>
          </a:xfrm>
          <a:prstGeom prst="roundRect">
            <a:avLst>
              <a:gd name="adj" fmla="val 22222"/>
            </a:avLst>
          </a:prstGeom>
          <a:solidFill>
            <a:srgbClr val="F8E4E5">
              <a:alpha val="32000"/>
            </a:srgbClr>
          </a:solidFill>
          <a:ln w="12700">
            <a:solidFill>
              <a:srgbClr val="F8E4E5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254496" y="4060521"/>
            <a:ext cx="73152" cy="164592"/>
          </a:xfrm>
          <a:prstGeom prst="roundRect">
            <a:avLst>
              <a:gd name="adj" fmla="val 625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236208" y="4134588"/>
            <a:ext cx="18288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327648" y="4134588"/>
            <a:ext cx="73152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392570" y="4142817"/>
            <a:ext cx="16459" cy="28287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400800" y="4417466"/>
            <a:ext cx="128016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520586" y="4425696"/>
            <a:ext cx="16459" cy="18288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Rendimiento no mejora con magia: mejora cuando dejamos de cargar mal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Muchas veces la ganancia aparece al bajar peso, ordenar prioridad y dejar de defender recursos secundarios en la primera vista.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231136"/>
            <a:ext cx="4297680" cy="2816352"/>
          </a:xfrm>
          <a:prstGeom prst="roundRect">
            <a:avLst>
              <a:gd name="adj" fmla="val 129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359152"/>
            <a:ext cx="109728" cy="25603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340864"/>
            <a:ext cx="3950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Patrón que suele degradar</a:t>
            </a:r>
            <a:endParaRPr lang="en-US" sz="1520" dirty="0"/>
          </a:p>
        </p:txBody>
      </p:sp>
      <p:sp>
        <p:nvSpPr>
          <p:cNvPr id="13" name="Text 10"/>
          <p:cNvSpPr/>
          <p:nvPr/>
        </p:nvSpPr>
        <p:spPr>
          <a:xfrm>
            <a:off x="1188720" y="2688336"/>
            <a:ext cx="3950208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 pesada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slider inicial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 secundario bloqueando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tipografías y terceros cargando antes de lo principal</a:t>
            </a:r>
            <a:endParaRPr lang="en-US" sz="1160" dirty="0"/>
          </a:p>
        </p:txBody>
      </p:sp>
      <p:sp>
        <p:nvSpPr>
          <p:cNvPr id="14" name="Shape 11"/>
          <p:cNvSpPr/>
          <p:nvPr/>
        </p:nvSpPr>
        <p:spPr>
          <a:xfrm>
            <a:off x="5504688" y="2231136"/>
            <a:ext cx="4297680" cy="2816352"/>
          </a:xfrm>
          <a:prstGeom prst="roundRect">
            <a:avLst>
              <a:gd name="adj" fmla="val 129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96128" y="2359152"/>
            <a:ext cx="109728" cy="25603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60720" y="2340864"/>
            <a:ext cx="3950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Patrón más razonable</a:t>
            </a:r>
            <a:endParaRPr lang="en-US" sz="1520" dirty="0"/>
          </a:p>
        </p:txBody>
      </p:sp>
      <p:sp>
        <p:nvSpPr>
          <p:cNvPr id="17" name="Text 14"/>
          <p:cNvSpPr/>
          <p:nvPr/>
        </p:nvSpPr>
        <p:spPr>
          <a:xfrm>
            <a:off x="5760720" y="2688336"/>
            <a:ext cx="3950208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contenido principal primero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imágenes y scripts con prioridad real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costo decorativo al inicio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aire para leer y responder</a:t>
            </a:r>
            <a:endParaRPr lang="en-US" sz="1160" dirty="0"/>
          </a:p>
        </p:txBody>
      </p:sp>
      <p:sp>
        <p:nvSpPr>
          <p:cNvPr id="18" name="Shape 15"/>
          <p:cNvSpPr/>
          <p:nvPr/>
        </p:nvSpPr>
        <p:spPr>
          <a:xfrm>
            <a:off x="1719072" y="5303520"/>
            <a:ext cx="7406640" cy="566928"/>
          </a:xfrm>
          <a:prstGeom prst="roundRect">
            <a:avLst>
              <a:gd name="adj" fmla="val 6452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920240" y="5468112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Mejorar rendimiento básico muchas veces consiste en dejar de exigirle tanto a la primera vista.</a:t>
            </a:r>
            <a:endParaRPr lang="en-US" sz="166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agente puede resumir métricas; tú validas qué importa de verdad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ayuda automática sirve para ordenar hallazgos, pero no debería decidir sola qué optimizar ni qué experiencia realmente mejoró.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139696"/>
            <a:ext cx="8997696" cy="3310128"/>
          </a:xfrm>
          <a:prstGeom prst="roundRect">
            <a:avLst>
              <a:gd name="adj" fmla="val 11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267712"/>
            <a:ext cx="8741664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340864"/>
            <a:ext cx="8522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puede acelerar un agente y qué no conviene delegar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78992" y="2706624"/>
            <a:ext cx="3493008" cy="2286000"/>
          </a:xfrm>
          <a:prstGeom prst="roundRect">
            <a:avLst>
              <a:gd name="adj" fmla="val 16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88720" y="2834640"/>
            <a:ext cx="109728" cy="20299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89888" y="2834640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Puede ayudar con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89888" y="3108960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métricas, hallazgos y primeras propuestas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389888" y="3456432"/>
            <a:ext cx="3035808" cy="288036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81328" y="355930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627632" y="3502152"/>
            <a:ext cx="2743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resumir un reporte de Lighthouse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389888" y="3835908"/>
            <a:ext cx="3035808" cy="288036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481328" y="393877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627632" y="3881628"/>
            <a:ext cx="2743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priorizar recursos sospechosos en Network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389888" y="4215384"/>
            <a:ext cx="3035808" cy="288036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481328" y="431825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27632" y="4261104"/>
            <a:ext cx="2743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sugerir compresión o cambios iniciales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389888" y="4594860"/>
            <a:ext cx="3035808" cy="288036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481328" y="4697730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627632" y="4640580"/>
            <a:ext cx="2743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 LCP, CLS e INP en lenguaje claro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291072" y="2706624"/>
            <a:ext cx="3493008" cy="2286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0800" y="2834640"/>
            <a:ext cx="109728" cy="20299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01968" y="2834640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conviene delegar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601968" y="3108960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contexto, impacto real y decisión final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6601968" y="3456432"/>
            <a:ext cx="3035808" cy="288036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693408" y="3559302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39712" y="3502152"/>
            <a:ext cx="2743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optimizar sin entender qué siente la persona usuaria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01968" y="3835908"/>
            <a:ext cx="3035808" cy="288036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693408" y="393877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839712" y="3881628"/>
            <a:ext cx="2743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aceptar una recomendación sin revisarla en pantalla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601968" y="4215384"/>
            <a:ext cx="3035808" cy="288036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693408" y="431825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839712" y="4261104"/>
            <a:ext cx="2743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creer que mejor puntaje equivale a mejor experiencia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601968" y="4594860"/>
            <a:ext cx="3035808" cy="288036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693408" y="469773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839712" y="4640580"/>
            <a:ext cx="2743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romper contenido principal por perseguir score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828032" y="3035808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937760" y="3182112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010912" y="3602736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992624" y="322783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Experiencia real</a:t>
            </a:r>
            <a:endParaRPr lang="en-US" sz="1060" dirty="0"/>
          </a:p>
        </p:txBody>
      </p:sp>
      <p:sp>
        <p:nvSpPr>
          <p:cNvPr id="49" name="Text 46"/>
          <p:cNvSpPr/>
          <p:nvPr/>
        </p:nvSpPr>
        <p:spPr>
          <a:xfrm>
            <a:off x="4956048" y="4014216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ayuda a leer más rápido. El desarrollador decide qué mejora y qué no.</a:t>
            </a:r>
            <a:endParaRPr lang="en-US" sz="720" dirty="0"/>
          </a:p>
        </p:txBody>
      </p:sp>
      <p:sp>
        <p:nvSpPr>
          <p:cNvPr id="50" name="Shape 47"/>
          <p:cNvSpPr/>
          <p:nvPr/>
        </p:nvSpPr>
        <p:spPr>
          <a:xfrm>
            <a:off x="1133856" y="5047488"/>
            <a:ext cx="8595360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243584" y="5093208"/>
            <a:ext cx="83759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entender el costo. Después priorizar, probar y validar.</a:t>
            </a:r>
            <a:endParaRPr lang="en-US" sz="88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para cerrar 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pasar a accesibilidad, conviene fijar qué hace visible la experiencia de carga y respuesta.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87552" y="2231136"/>
            <a:ext cx="9180576" cy="859536"/>
          </a:xfrm>
          <a:prstGeom prst="roundRect">
            <a:avLst>
              <a:gd name="adj" fmla="val 425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359152"/>
            <a:ext cx="109728" cy="6035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43584" y="2340864"/>
            <a:ext cx="8833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¿Por qué conviene pensar rendimiento como experiencia percibida y no solo como velocidad abstracta?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43584" y="2688336"/>
            <a:ext cx="8833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Porque lo importante es cuándo aparece lo útil, si la interfaz salta y qué tan bien responde al interactuar.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987552" y="3310128"/>
            <a:ext cx="9180576" cy="859536"/>
          </a:xfrm>
          <a:prstGeom prst="roundRect">
            <a:avLst>
              <a:gd name="adj" fmla="val 425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78992" y="3438144"/>
            <a:ext cx="109728" cy="6035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43584" y="3419856"/>
            <a:ext cx="8833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¿Qué decisiones del proyecto suelen degradar la primera vista sin aportar valor inmediato?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243584" y="3767328"/>
            <a:ext cx="8833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imágenes pesadas, terceros, sliders, librerías grandes y scripts secundarios cargando antes de lo principal.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987552" y="4389120"/>
            <a:ext cx="9180576" cy="859536"/>
          </a:xfrm>
          <a:prstGeom prst="roundRect">
            <a:avLst>
              <a:gd name="adj" fmla="val 425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78992" y="4517136"/>
            <a:ext cx="109728" cy="6035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43584" y="4498848"/>
            <a:ext cx="8833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¿Por qué una sugerencia automática sobre métricas puede servir y aun así necesitar validación humana?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43584" y="4846320"/>
            <a:ext cx="8833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Porque ayuda a ordenar hallazgos, pero no reemplaza la lectura de contexto ni la experiencia real en pantalla.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del Bloque 3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Rendimiento ya quedó instalado como lectura de costo, prioridad y experiencia, no como sensación vaga de rapidez.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1133856" y="2212848"/>
            <a:ext cx="8906256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35024" y="2377440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Rendimiento mejora cuando el proyecto deja de cargar mal y empieza a priorizar mejor lo principal.</a:t>
            </a:r>
            <a:endParaRPr lang="en-US" sz="2020" dirty="0"/>
          </a:p>
        </p:txBody>
      </p:sp>
      <p:sp>
        <p:nvSpPr>
          <p:cNvPr id="12" name="Shape 9"/>
          <p:cNvSpPr/>
          <p:nvPr/>
        </p:nvSpPr>
        <p:spPr>
          <a:xfrm>
            <a:off x="1243584" y="3675888"/>
            <a:ext cx="2816352" cy="969264"/>
          </a:xfrm>
          <a:prstGeom prst="roundRect">
            <a:avLst>
              <a:gd name="adj" fmla="val 283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316736" y="3785616"/>
            <a:ext cx="100584" cy="7498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99616" y="380390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clave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499616" y="4078224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LCP, CLS e INP importan porque describen experiencia real y no solo puntajes.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52544" y="3675888"/>
            <a:ext cx="2816352" cy="969264"/>
          </a:xfrm>
          <a:prstGeom prst="roundRect">
            <a:avLst>
              <a:gd name="adj" fmla="val 283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25696" y="3785616"/>
            <a:ext cx="100584" cy="7498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08576" y="380390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Método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608576" y="4078224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recursos, métricas y orden de carga antes de tocar optimizaciones a ciegas.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461504" y="3675888"/>
            <a:ext cx="2816352" cy="969264"/>
          </a:xfrm>
          <a:prstGeom prst="roundRect">
            <a:avLst>
              <a:gd name="adj" fmla="val 283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34656" y="3785616"/>
            <a:ext cx="100584" cy="7498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17536" y="380390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Puente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717536" y="4078224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siguiente bloque cerraremos con accesibilidad, auditoría y criterio frente al puntaje.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1682496" y="5102352"/>
            <a:ext cx="7168896" cy="603504"/>
          </a:xfrm>
          <a:prstGeom prst="roundRect">
            <a:avLst>
              <a:gd name="adj" fmla="val 6061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883664" y="526694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Ahora pasamos desde carga y respuesta hacia accesibilidad, auditoría y revisión humana del resultado.</a:t>
            </a:r>
            <a:endParaRPr lang="en-US" sz="161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4 · Accesibilidad y auditoría con herramientas actuales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Ahora cerramos la clase leyendo calidad web con accesibilidad, reportes y criterio humano frente al puntaje.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77824" y="2103120"/>
            <a:ext cx="2889504" cy="3401568"/>
          </a:xfrm>
          <a:prstGeom prst="roundRect">
            <a:avLst>
              <a:gd name="adj" fmla="val 1266"/>
            </a:avLst>
          </a:prstGeom>
          <a:solidFill>
            <a:srgbClr val="2F5687"/>
          </a:solidFill>
          <a:ln w="12700">
            <a:solidFill>
              <a:srgbClr val="2F568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42416" y="2530328"/>
            <a:ext cx="190195" cy="437449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70650" y="2359152"/>
            <a:ext cx="228234" cy="60862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36924" y="2530328"/>
            <a:ext cx="190195" cy="437449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78992" y="2944368"/>
            <a:ext cx="21396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Accesibilidad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es un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extra.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1115568" y="4626864"/>
            <a:ext cx="896112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4663440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157984" y="4626864"/>
            <a:ext cx="896112" cy="219456"/>
          </a:xfrm>
          <a:prstGeom prst="roundRect">
            <a:avLst>
              <a:gd name="adj" fmla="val 2083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31136" y="4663440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claridad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1115568" y="4937760"/>
            <a:ext cx="896112" cy="219456"/>
          </a:xfrm>
          <a:prstGeom prst="roundRect">
            <a:avLst>
              <a:gd name="adj" fmla="val 20833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88720" y="4974336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foco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2157984" y="4937760"/>
            <a:ext cx="896112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231136" y="4974336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078224" y="2139696"/>
            <a:ext cx="5650992" cy="2231136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206240" y="2267712"/>
            <a:ext cx="5394960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15968" y="2340864"/>
            <a:ext cx="5175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Cuatro lecturas que ayudan a ver la calidad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4224528" y="2706624"/>
            <a:ext cx="2596896" cy="658368"/>
          </a:xfrm>
          <a:prstGeom prst="roundRect">
            <a:avLst>
              <a:gd name="adj" fmla="val 5556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315968" y="2816352"/>
            <a:ext cx="73152" cy="438912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480560" y="2852928"/>
            <a:ext cx="1609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SEO</a:t>
            </a:r>
            <a:endParaRPr lang="en-US" sz="1080" dirty="0"/>
          </a:p>
        </p:txBody>
      </p:sp>
      <p:sp>
        <p:nvSpPr>
          <p:cNvPr id="29" name="Shape 26"/>
          <p:cNvSpPr/>
          <p:nvPr/>
        </p:nvSpPr>
        <p:spPr>
          <a:xfrm>
            <a:off x="6291072" y="281635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91072" y="2922422"/>
            <a:ext cx="36576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94</a:t>
            </a:r>
            <a:endParaRPr lang="en-US" sz="1060" dirty="0"/>
          </a:p>
        </p:txBody>
      </p:sp>
      <p:sp>
        <p:nvSpPr>
          <p:cNvPr id="31" name="Text 28"/>
          <p:cNvSpPr/>
          <p:nvPr/>
        </p:nvSpPr>
        <p:spPr>
          <a:xfrm>
            <a:off x="4480560" y="3218688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estructura se deja entender</a:t>
            </a:r>
            <a:endParaRPr lang="en-US" sz="760" dirty="0"/>
          </a:p>
        </p:txBody>
      </p:sp>
      <p:sp>
        <p:nvSpPr>
          <p:cNvPr id="32" name="Shape 29"/>
          <p:cNvSpPr/>
          <p:nvPr/>
        </p:nvSpPr>
        <p:spPr>
          <a:xfrm>
            <a:off x="6986016" y="2706624"/>
            <a:ext cx="2596896" cy="658368"/>
          </a:xfrm>
          <a:prstGeom prst="roundRect">
            <a:avLst>
              <a:gd name="adj" fmla="val 5556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077456" y="2816352"/>
            <a:ext cx="73152" cy="4389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242048" y="2852928"/>
            <a:ext cx="1609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Rendimiento</a:t>
            </a:r>
            <a:endParaRPr lang="en-US" sz="1080" dirty="0"/>
          </a:p>
        </p:txBody>
      </p:sp>
      <p:sp>
        <p:nvSpPr>
          <p:cNvPr id="35" name="Shape 32"/>
          <p:cNvSpPr/>
          <p:nvPr/>
        </p:nvSpPr>
        <p:spPr>
          <a:xfrm>
            <a:off x="9052560" y="281635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052560" y="2922422"/>
            <a:ext cx="36576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72</a:t>
            </a:r>
            <a:endParaRPr lang="en-US" sz="1060" dirty="0"/>
          </a:p>
        </p:txBody>
      </p:sp>
      <p:sp>
        <p:nvSpPr>
          <p:cNvPr id="37" name="Text 34"/>
          <p:cNvSpPr/>
          <p:nvPr/>
        </p:nvSpPr>
        <p:spPr>
          <a:xfrm>
            <a:off x="7242048" y="3218688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todavía hay costo en la primera vista</a:t>
            </a:r>
            <a:endParaRPr lang="en-US" sz="760" dirty="0"/>
          </a:p>
        </p:txBody>
      </p:sp>
      <p:sp>
        <p:nvSpPr>
          <p:cNvPr id="38" name="Shape 35"/>
          <p:cNvSpPr/>
          <p:nvPr/>
        </p:nvSpPr>
        <p:spPr>
          <a:xfrm>
            <a:off x="4224528" y="3529584"/>
            <a:ext cx="2596896" cy="658368"/>
          </a:xfrm>
          <a:prstGeom prst="roundRect">
            <a:avLst>
              <a:gd name="adj" fmla="val 5556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315968" y="3639312"/>
            <a:ext cx="73152" cy="4389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480560" y="3675888"/>
            <a:ext cx="1609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Accesibilidad</a:t>
            </a:r>
            <a:endParaRPr lang="en-US" sz="1080" dirty="0"/>
          </a:p>
        </p:txBody>
      </p:sp>
      <p:sp>
        <p:nvSpPr>
          <p:cNvPr id="41" name="Shape 38"/>
          <p:cNvSpPr/>
          <p:nvPr/>
        </p:nvSpPr>
        <p:spPr>
          <a:xfrm>
            <a:off x="6291072" y="363931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291072" y="3745382"/>
            <a:ext cx="36576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88</a:t>
            </a:r>
            <a:endParaRPr lang="en-US" sz="1060" dirty="0"/>
          </a:p>
        </p:txBody>
      </p:sp>
      <p:sp>
        <p:nvSpPr>
          <p:cNvPr id="43" name="Text 40"/>
          <p:cNvSpPr/>
          <p:nvPr/>
        </p:nvSpPr>
        <p:spPr>
          <a:xfrm>
            <a:off x="4480560" y="4041648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base está, pero faltan detalles reales</a:t>
            </a:r>
            <a:endParaRPr lang="en-US" sz="760" dirty="0"/>
          </a:p>
        </p:txBody>
      </p:sp>
      <p:sp>
        <p:nvSpPr>
          <p:cNvPr id="44" name="Shape 41"/>
          <p:cNvSpPr/>
          <p:nvPr/>
        </p:nvSpPr>
        <p:spPr>
          <a:xfrm>
            <a:off x="6986016" y="3529584"/>
            <a:ext cx="2596896" cy="658368"/>
          </a:xfrm>
          <a:prstGeom prst="roundRect">
            <a:avLst>
              <a:gd name="adj" fmla="val 5556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077456" y="3639312"/>
            <a:ext cx="73152" cy="4389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242048" y="3675888"/>
            <a:ext cx="1609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Prácticas</a:t>
            </a:r>
            <a:endParaRPr lang="en-US" sz="1080" dirty="0"/>
          </a:p>
        </p:txBody>
      </p:sp>
      <p:sp>
        <p:nvSpPr>
          <p:cNvPr id="47" name="Shape 44"/>
          <p:cNvSpPr/>
          <p:nvPr/>
        </p:nvSpPr>
        <p:spPr>
          <a:xfrm>
            <a:off x="9052560" y="363931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052560" y="3745382"/>
            <a:ext cx="36576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86</a:t>
            </a:r>
            <a:endParaRPr lang="en-US" sz="1060" dirty="0"/>
          </a:p>
        </p:txBody>
      </p:sp>
      <p:sp>
        <p:nvSpPr>
          <p:cNvPr id="49" name="Text 46"/>
          <p:cNvSpPr/>
          <p:nvPr/>
        </p:nvSpPr>
        <p:spPr>
          <a:xfrm>
            <a:off x="7242048" y="4041648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 como lectura inicial, no como cierre</a:t>
            </a:r>
            <a:endParaRPr lang="en-US" sz="760" dirty="0"/>
          </a:p>
        </p:txBody>
      </p:sp>
      <p:sp>
        <p:nvSpPr>
          <p:cNvPr id="50" name="Shape 47"/>
          <p:cNvSpPr/>
          <p:nvPr/>
        </p:nvSpPr>
        <p:spPr>
          <a:xfrm>
            <a:off x="4261104" y="4590288"/>
            <a:ext cx="1645920" cy="822960"/>
          </a:xfrm>
          <a:prstGeom prst="roundRect">
            <a:avLst>
              <a:gd name="adj" fmla="val 33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334256" y="4700016"/>
            <a:ext cx="100584" cy="6035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517136" y="471830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Uso</a:t>
            </a:r>
            <a:endParaRPr lang="en-US" sz="1250" dirty="0"/>
          </a:p>
        </p:txBody>
      </p:sp>
      <p:sp>
        <p:nvSpPr>
          <p:cNvPr id="53" name="Text 50"/>
          <p:cNvSpPr/>
          <p:nvPr/>
        </p:nvSpPr>
        <p:spPr>
          <a:xfrm>
            <a:off x="4517136" y="4992624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debe poder recorrerse con claridad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6071616" y="4590288"/>
            <a:ext cx="1645920" cy="822960"/>
          </a:xfrm>
          <a:prstGeom prst="roundRect">
            <a:avLst>
              <a:gd name="adj" fmla="val 333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144768" y="4700016"/>
            <a:ext cx="100584" cy="6035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327648" y="471830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Reporte</a:t>
            </a:r>
            <a:endParaRPr lang="en-US" sz="1250" dirty="0"/>
          </a:p>
        </p:txBody>
      </p:sp>
      <p:sp>
        <p:nvSpPr>
          <p:cNvPr id="57" name="Text 54"/>
          <p:cNvSpPr/>
          <p:nvPr/>
        </p:nvSpPr>
        <p:spPr>
          <a:xfrm>
            <a:off x="6327648" y="4992624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auditoría vuelve visibles señales útiles</a:t>
            </a:r>
            <a:endParaRPr lang="en-US" sz="1050" dirty="0"/>
          </a:p>
        </p:txBody>
      </p:sp>
      <p:sp>
        <p:nvSpPr>
          <p:cNvPr id="58" name="Shape 55"/>
          <p:cNvSpPr/>
          <p:nvPr/>
        </p:nvSpPr>
        <p:spPr>
          <a:xfrm>
            <a:off x="7882128" y="4590288"/>
            <a:ext cx="1645920" cy="822960"/>
          </a:xfrm>
          <a:prstGeom prst="roundRect">
            <a:avLst>
              <a:gd name="adj" fmla="val 333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955280" y="4700016"/>
            <a:ext cx="100584" cy="6035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138160" y="471830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</a:t>
            </a:r>
            <a:endParaRPr lang="en-US" sz="1250" dirty="0"/>
          </a:p>
        </p:txBody>
      </p:sp>
      <p:sp>
        <p:nvSpPr>
          <p:cNvPr id="61" name="Text 58"/>
          <p:cNvSpPr/>
          <p:nvPr/>
        </p:nvSpPr>
        <p:spPr>
          <a:xfrm>
            <a:off x="8138160" y="4992624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puntaje orienta, pero no reemplaza la revisión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Accesibilidad no es un extra: es parte de la calidad base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interfaz puede verse ordenada y aun así excluir, confundir o dificultar el uso real.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231136"/>
            <a:ext cx="4334256" cy="2834640"/>
          </a:xfrm>
          <a:prstGeom prst="roundRect">
            <a:avLst>
              <a:gd name="adj" fmla="val 129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359152"/>
            <a:ext cx="109728" cy="2578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340864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ve correcta</a:t>
            </a:r>
            <a:endParaRPr lang="en-US" sz="1560" dirty="0"/>
          </a:p>
        </p:txBody>
      </p:sp>
      <p:sp>
        <p:nvSpPr>
          <p:cNvPr id="13" name="Text 10"/>
          <p:cNvSpPr/>
          <p:nvPr/>
        </p:nvSpPr>
        <p:spPr>
          <a:xfrm>
            <a:off x="1188720" y="2688336"/>
            <a:ext cx="398678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contraste aceptable a primera vista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 ordenado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componentes alineados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ninguna alerta visual obvia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5504688" y="2231136"/>
            <a:ext cx="4334256" cy="2834640"/>
          </a:xfrm>
          <a:prstGeom prst="roundRect">
            <a:avLst>
              <a:gd name="adj" fmla="val 129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96128" y="2359152"/>
            <a:ext cx="109728" cy="2578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60720" y="2340864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Pero puede usarse mal</a:t>
            </a:r>
            <a:endParaRPr lang="en-US" sz="1560" dirty="0"/>
          </a:p>
        </p:txBody>
      </p:sp>
      <p:sp>
        <p:nvSpPr>
          <p:cNvPr id="17" name="Text 14"/>
          <p:cNvSpPr/>
          <p:nvPr/>
        </p:nvSpPr>
        <p:spPr>
          <a:xfrm>
            <a:off x="5760720" y="2688336"/>
            <a:ext cx="398678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foco de teclado pobre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labels ausentes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 ambiguo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imágenes sin contexto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1517904" y="5340096"/>
            <a:ext cx="7699248" cy="566928"/>
          </a:xfrm>
          <a:prstGeom prst="roundRect">
            <a:avLst>
              <a:gd name="adj" fmla="val 6452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719072" y="5504688"/>
            <a:ext cx="7296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interfaz mejor no solo se ve mejor: también se entiende y se usa mejor.</a:t>
            </a:r>
            <a:endParaRPr lang="en-US" sz="166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Hay señales iniciales que conviene revisar siempre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Contraste, labels, texto alternativo y foco visible ya permiten leer bastante de la calidad de una interfaz.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121408"/>
            <a:ext cx="8979408" cy="3529584"/>
          </a:xfrm>
          <a:prstGeom prst="roundRect">
            <a:avLst>
              <a:gd name="adj" fmla="val 103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249424"/>
            <a:ext cx="8723376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32257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inicial de accesibilidad del bloque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78992" y="2688336"/>
            <a:ext cx="4261104" cy="1188720"/>
          </a:xfrm>
          <a:prstGeom prst="roundRect">
            <a:avLst>
              <a:gd name="adj" fmla="val 307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70432" y="2798064"/>
            <a:ext cx="73152" cy="9692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35024" y="2834640"/>
            <a:ext cx="3273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Contraste</a:t>
            </a:r>
            <a:endParaRPr lang="en-US" sz="1140" dirty="0"/>
          </a:p>
        </p:txBody>
      </p:sp>
      <p:sp>
        <p:nvSpPr>
          <p:cNvPr id="16" name="Shape 13"/>
          <p:cNvSpPr/>
          <p:nvPr/>
        </p:nvSpPr>
        <p:spPr>
          <a:xfrm>
            <a:off x="4535424" y="2798064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90288" y="2852928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crítico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1335024" y="3090672"/>
            <a:ext cx="38770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texto debe sostener lectura real sobre su fondo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504688" y="2688336"/>
            <a:ext cx="4261104" cy="1188720"/>
          </a:xfrm>
          <a:prstGeom prst="roundRect">
            <a:avLst>
              <a:gd name="adj" fmla="val 307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596128" y="2798064"/>
            <a:ext cx="73152" cy="96926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60720" y="2834640"/>
            <a:ext cx="3273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Labels</a:t>
            </a:r>
            <a:endParaRPr lang="en-US" sz="1140" dirty="0"/>
          </a:p>
        </p:txBody>
      </p:sp>
      <p:sp>
        <p:nvSpPr>
          <p:cNvPr id="22" name="Shape 19"/>
          <p:cNvSpPr/>
          <p:nvPr/>
        </p:nvSpPr>
        <p:spPr>
          <a:xfrm>
            <a:off x="8961120" y="2798064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15984" y="2852928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5760720" y="3090672"/>
            <a:ext cx="38770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campos y controles no pueden quedar anónimos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1078992" y="4023360"/>
            <a:ext cx="4261104" cy="1188720"/>
          </a:xfrm>
          <a:prstGeom prst="roundRect">
            <a:avLst>
              <a:gd name="adj" fmla="val 307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170432" y="4133088"/>
            <a:ext cx="73152" cy="96926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335024" y="4169664"/>
            <a:ext cx="3273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Texto alternativo</a:t>
            </a:r>
            <a:endParaRPr lang="en-US" sz="1140" dirty="0"/>
          </a:p>
        </p:txBody>
      </p:sp>
      <p:sp>
        <p:nvSpPr>
          <p:cNvPr id="28" name="Shape 25"/>
          <p:cNvSpPr/>
          <p:nvPr/>
        </p:nvSpPr>
        <p:spPr>
          <a:xfrm>
            <a:off x="4535424" y="4133088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90288" y="4187952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</a:t>
            </a:r>
            <a:endParaRPr lang="en-US" sz="720" dirty="0"/>
          </a:p>
        </p:txBody>
      </p:sp>
      <p:sp>
        <p:nvSpPr>
          <p:cNvPr id="30" name="Text 27"/>
          <p:cNvSpPr/>
          <p:nvPr/>
        </p:nvSpPr>
        <p:spPr>
          <a:xfrm>
            <a:off x="1335024" y="4425696"/>
            <a:ext cx="38770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imágenes relevantes necesitan contexto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504688" y="4023360"/>
            <a:ext cx="4261104" cy="1188720"/>
          </a:xfrm>
          <a:prstGeom prst="roundRect">
            <a:avLst>
              <a:gd name="adj" fmla="val 3077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596128" y="4133088"/>
            <a:ext cx="73152" cy="969264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760720" y="4169664"/>
            <a:ext cx="3273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Foco visible</a:t>
            </a:r>
            <a:endParaRPr lang="en-US" sz="1140" dirty="0"/>
          </a:p>
        </p:txBody>
      </p:sp>
      <p:sp>
        <p:nvSpPr>
          <p:cNvPr id="34" name="Shape 31"/>
          <p:cNvSpPr/>
          <p:nvPr/>
        </p:nvSpPr>
        <p:spPr>
          <a:xfrm>
            <a:off x="8961120" y="4133088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015984" y="4187952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720" dirty="0"/>
          </a:p>
        </p:txBody>
      </p:sp>
      <p:sp>
        <p:nvSpPr>
          <p:cNvPr id="36" name="Text 33"/>
          <p:cNvSpPr/>
          <p:nvPr/>
        </p:nvSpPr>
        <p:spPr>
          <a:xfrm>
            <a:off x="5760720" y="4425696"/>
            <a:ext cx="38770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teclado necesita un recorrido que se note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1115568" y="5486400"/>
            <a:ext cx="8613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accesibilidad inicial no reemplaza una revisión completa, pero evita dejar la interfaz ciega desde el principio.</a:t>
            </a:r>
            <a:endParaRPr lang="en-US" sz="84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formulario bien etiquetado comunica mejor que un campo suelto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label explícito mejora comprensión, uso y lectura técnica al mismo tiempo.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14400" y="2157984"/>
            <a:ext cx="5212080" cy="3383280"/>
          </a:xfrm>
          <a:prstGeom prst="roundRect">
            <a:avLst>
              <a:gd name="adj" fmla="val 10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42416" y="2267712"/>
            <a:ext cx="495604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340864"/>
            <a:ext cx="4736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pequeño, pero mejor resuelto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" y="2724912"/>
            <a:ext cx="10545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60" dirty="0"/>
          </a:p>
          <a:p>
            <a:pPr algn="r"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60" dirty="0"/>
          </a:p>
          <a:p>
            <a:pPr algn="r"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60" dirty="0"/>
          </a:p>
          <a:p>
            <a:pPr algn="r"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60" dirty="0"/>
          </a:p>
          <a:p>
            <a:pPr algn="r"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60" dirty="0"/>
          </a:p>
          <a:p>
            <a:pPr algn="r"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60" dirty="0"/>
          </a:p>
        </p:txBody>
      </p:sp>
      <p:sp>
        <p:nvSpPr>
          <p:cNvPr id="14" name="Text 11"/>
          <p:cNvSpPr/>
          <p:nvPr/>
        </p:nvSpPr>
        <p:spPr>
          <a:xfrm>
            <a:off x="1312464" y="2724912"/>
            <a:ext cx="4612848" cy="15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60" dirty="0"/>
          </a:p>
        </p:txBody>
      </p:sp>
      <p:sp>
        <p:nvSpPr>
          <p:cNvPr id="15" name="Text 12"/>
          <p:cNvSpPr/>
          <p:nvPr/>
        </p:nvSpPr>
        <p:spPr>
          <a:xfrm>
            <a:off x="1312464" y="2894533"/>
            <a:ext cx="4612848" cy="15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6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6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correo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Correo electrónico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60" dirty="0"/>
          </a:p>
        </p:txBody>
      </p:sp>
      <p:sp>
        <p:nvSpPr>
          <p:cNvPr id="16" name="Text 13"/>
          <p:cNvSpPr/>
          <p:nvPr/>
        </p:nvSpPr>
        <p:spPr>
          <a:xfrm>
            <a:off x="1312464" y="3064154"/>
            <a:ext cx="4612848" cy="15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6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6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correo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6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6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correo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6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6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060" dirty="0"/>
          </a:p>
        </p:txBody>
      </p:sp>
      <p:sp>
        <p:nvSpPr>
          <p:cNvPr id="17" name="Text 14"/>
          <p:cNvSpPr/>
          <p:nvPr/>
        </p:nvSpPr>
        <p:spPr>
          <a:xfrm>
            <a:off x="1312464" y="3233776"/>
            <a:ext cx="4612848" cy="15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060" dirty="0"/>
          </a:p>
        </p:txBody>
      </p:sp>
      <p:sp>
        <p:nvSpPr>
          <p:cNvPr id="18" name="Text 15"/>
          <p:cNvSpPr/>
          <p:nvPr/>
        </p:nvSpPr>
        <p:spPr>
          <a:xfrm>
            <a:off x="1312464" y="3403397"/>
            <a:ext cx="4612848" cy="15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6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6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Enviar formulario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60" dirty="0"/>
          </a:p>
        </p:txBody>
      </p:sp>
      <p:sp>
        <p:nvSpPr>
          <p:cNvPr id="19" name="Text 16"/>
          <p:cNvSpPr/>
          <p:nvPr/>
        </p:nvSpPr>
        <p:spPr>
          <a:xfrm>
            <a:off x="1312464" y="3573018"/>
            <a:ext cx="4612848" cy="15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60" dirty="0"/>
          </a:p>
        </p:txBody>
      </p:sp>
      <p:sp>
        <p:nvSpPr>
          <p:cNvPr id="20" name="Shape 17"/>
          <p:cNvSpPr/>
          <p:nvPr/>
        </p:nvSpPr>
        <p:spPr>
          <a:xfrm>
            <a:off x="6492240" y="2359152"/>
            <a:ext cx="3017520" cy="731520"/>
          </a:xfrm>
          <a:prstGeom prst="roundRect">
            <a:avLst>
              <a:gd name="adj" fmla="val 375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65392" y="2468880"/>
            <a:ext cx="100584" cy="5120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48272" y="2487168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Label real</a:t>
            </a:r>
            <a:endParaRPr lang="en-US" sz="1120" dirty="0"/>
          </a:p>
        </p:txBody>
      </p:sp>
      <p:sp>
        <p:nvSpPr>
          <p:cNvPr id="23" name="Text 20"/>
          <p:cNvSpPr/>
          <p:nvPr/>
        </p:nvSpPr>
        <p:spPr>
          <a:xfrm>
            <a:off x="6748272" y="2761488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campo deja de depender solo del placeholder o del contexto visual.</a:t>
            </a:r>
            <a:endParaRPr lang="en-US" sz="820" dirty="0"/>
          </a:p>
        </p:txBody>
      </p:sp>
      <p:sp>
        <p:nvSpPr>
          <p:cNvPr id="24" name="Shape 21"/>
          <p:cNvSpPr/>
          <p:nvPr/>
        </p:nvSpPr>
        <p:spPr>
          <a:xfrm>
            <a:off x="1342632" y="2918280"/>
            <a:ext cx="2010071" cy="164592"/>
          </a:xfrm>
          <a:prstGeom prst="roundRect">
            <a:avLst>
              <a:gd name="adj" fmla="val 22222"/>
            </a:avLst>
          </a:prstGeom>
          <a:solidFill>
            <a:srgbClr val="F8E4E5">
              <a:alpha val="32000"/>
            </a:srgbClr>
          </a:solidFill>
          <a:ln w="12700">
            <a:solidFill>
              <a:srgbClr val="F8E4E5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44768" y="2900440"/>
            <a:ext cx="73152" cy="164592"/>
          </a:xfrm>
          <a:prstGeom prst="roundRect">
            <a:avLst>
              <a:gd name="adj" fmla="val 625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126480" y="2974507"/>
            <a:ext cx="18288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17920" y="2974507"/>
            <a:ext cx="73152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282842" y="2688336"/>
            <a:ext cx="16459" cy="294400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91072" y="2680106"/>
            <a:ext cx="201168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84010" y="2688336"/>
            <a:ext cx="16459" cy="36576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92240" y="3328416"/>
            <a:ext cx="3017520" cy="731520"/>
          </a:xfrm>
          <a:prstGeom prst="roundRect">
            <a:avLst>
              <a:gd name="adj" fmla="val 375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65392" y="3438144"/>
            <a:ext cx="100584" cy="5120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748272" y="3456432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Control ligado</a:t>
            </a:r>
            <a:endParaRPr lang="en-US" sz="1120" dirty="0"/>
          </a:p>
        </p:txBody>
      </p:sp>
      <p:sp>
        <p:nvSpPr>
          <p:cNvPr id="34" name="Text 31"/>
          <p:cNvSpPr/>
          <p:nvPr/>
        </p:nvSpPr>
        <p:spPr>
          <a:xfrm>
            <a:off x="6748272" y="3730752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y for vuelven explícita la relación entre texto y campo.</a:t>
            </a:r>
            <a:endParaRPr lang="en-US" sz="820" dirty="0"/>
          </a:p>
        </p:txBody>
      </p:sp>
      <p:sp>
        <p:nvSpPr>
          <p:cNvPr id="35" name="Shape 32"/>
          <p:cNvSpPr/>
          <p:nvPr/>
        </p:nvSpPr>
        <p:spPr>
          <a:xfrm>
            <a:off x="1342632" y="3087901"/>
            <a:ext cx="2866900" cy="164592"/>
          </a:xfrm>
          <a:prstGeom prst="roundRect">
            <a:avLst>
              <a:gd name="adj" fmla="val 22222"/>
            </a:avLst>
          </a:prstGeom>
          <a:solidFill>
            <a:srgbClr val="E6EEF7">
              <a:alpha val="32000"/>
            </a:srgbClr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144768" y="3070061"/>
            <a:ext cx="73152" cy="164592"/>
          </a:xfrm>
          <a:prstGeom prst="roundRect">
            <a:avLst>
              <a:gd name="adj" fmla="val 625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126480" y="3144128"/>
            <a:ext cx="18288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217920" y="3144128"/>
            <a:ext cx="73152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282842" y="3152357"/>
            <a:ext cx="16459" cy="505243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291072" y="3649370"/>
            <a:ext cx="201168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484010" y="3657600"/>
            <a:ext cx="16459" cy="36576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492240" y="4297680"/>
            <a:ext cx="3017520" cy="731520"/>
          </a:xfrm>
          <a:prstGeom prst="roundRect">
            <a:avLst>
              <a:gd name="adj" fmla="val 375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565392" y="4407408"/>
            <a:ext cx="100584" cy="51206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748272" y="4425696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Acción clara</a:t>
            </a:r>
            <a:endParaRPr lang="en-US" sz="1120" dirty="0"/>
          </a:p>
        </p:txBody>
      </p:sp>
      <p:sp>
        <p:nvSpPr>
          <p:cNvPr id="45" name="Text 42"/>
          <p:cNvSpPr/>
          <p:nvPr/>
        </p:nvSpPr>
        <p:spPr>
          <a:xfrm>
            <a:off x="6748272" y="4700016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botón dice qué ocurre y no deja la acción escondida.</a:t>
            </a:r>
            <a:endParaRPr lang="en-US" sz="820" dirty="0"/>
          </a:p>
        </p:txBody>
      </p:sp>
      <p:sp>
        <p:nvSpPr>
          <p:cNvPr id="46" name="Shape 43"/>
          <p:cNvSpPr/>
          <p:nvPr/>
        </p:nvSpPr>
        <p:spPr>
          <a:xfrm>
            <a:off x="1342632" y="3427144"/>
            <a:ext cx="2735080" cy="164592"/>
          </a:xfrm>
          <a:prstGeom prst="roundRect">
            <a:avLst>
              <a:gd name="adj" fmla="val 22222"/>
            </a:avLst>
          </a:prstGeom>
          <a:solidFill>
            <a:srgbClr val="F2E7D9">
              <a:alpha val="32000"/>
            </a:srgbClr>
          </a:solidFill>
          <a:ln w="12700">
            <a:solidFill>
              <a:srgbClr val="F2E7D9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144768" y="3409304"/>
            <a:ext cx="73152" cy="164592"/>
          </a:xfrm>
          <a:prstGeom prst="roundRect">
            <a:avLst>
              <a:gd name="adj" fmla="val 625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126480" y="3483370"/>
            <a:ext cx="18288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217920" y="3483370"/>
            <a:ext cx="73152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282842" y="3491600"/>
            <a:ext cx="16459" cy="1135264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291072" y="4618634"/>
            <a:ext cx="201168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484010" y="4626864"/>
            <a:ext cx="16459" cy="36576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auditorías automáticas ayudan mucho, pero no agotan la revisión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Lighthouse y DevTools vuelven visibles varios problemas, aunque la experiencia todavía necesita lectura humana.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176272"/>
            <a:ext cx="4443984" cy="2999232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304288"/>
            <a:ext cx="4187952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377440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el reporte ve rápido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78992" y="2743200"/>
            <a:ext cx="1993392" cy="1042416"/>
          </a:xfrm>
          <a:prstGeom prst="roundRect">
            <a:avLst>
              <a:gd name="adj" fmla="val 3509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70432" y="2852928"/>
            <a:ext cx="73152" cy="8229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35024" y="288950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Contraste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2542032" y="285292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42032" y="2958998"/>
            <a:ext cx="36576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</a:t>
            </a:r>
            <a:endParaRPr lang="en-US" sz="1060" dirty="0"/>
          </a:p>
        </p:txBody>
      </p:sp>
      <p:sp>
        <p:nvSpPr>
          <p:cNvPr id="18" name="Text 15"/>
          <p:cNvSpPr/>
          <p:nvPr/>
        </p:nvSpPr>
        <p:spPr>
          <a:xfrm>
            <a:off x="1335024" y="3255264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 temprana sobre lectura difícil</a:t>
            </a:r>
            <a:endParaRPr lang="en-US" sz="760" dirty="0"/>
          </a:p>
        </p:txBody>
      </p:sp>
      <p:sp>
        <p:nvSpPr>
          <p:cNvPr id="19" name="Shape 16"/>
          <p:cNvSpPr/>
          <p:nvPr/>
        </p:nvSpPr>
        <p:spPr>
          <a:xfrm>
            <a:off x="3236976" y="2743200"/>
            <a:ext cx="1993392" cy="1042416"/>
          </a:xfrm>
          <a:prstGeom prst="roundRect">
            <a:avLst>
              <a:gd name="adj" fmla="val 3509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28416" y="2852928"/>
            <a:ext cx="73152" cy="8229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93008" y="288950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Labels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4700016" y="285292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00016" y="2958998"/>
            <a:ext cx="36576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81</a:t>
            </a:r>
            <a:endParaRPr lang="en-US" sz="1060" dirty="0"/>
          </a:p>
        </p:txBody>
      </p:sp>
      <p:sp>
        <p:nvSpPr>
          <p:cNvPr id="24" name="Text 21"/>
          <p:cNvSpPr/>
          <p:nvPr/>
        </p:nvSpPr>
        <p:spPr>
          <a:xfrm>
            <a:off x="3493008" y="3255264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 controles mal explicados</a:t>
            </a:r>
            <a:endParaRPr lang="en-US" sz="760" dirty="0"/>
          </a:p>
        </p:txBody>
      </p:sp>
      <p:sp>
        <p:nvSpPr>
          <p:cNvPr id="25" name="Shape 22"/>
          <p:cNvSpPr/>
          <p:nvPr/>
        </p:nvSpPr>
        <p:spPr>
          <a:xfrm>
            <a:off x="1078992" y="3950208"/>
            <a:ext cx="1993392" cy="1042416"/>
          </a:xfrm>
          <a:prstGeom prst="roundRect">
            <a:avLst>
              <a:gd name="adj" fmla="val 3509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170432" y="4059936"/>
            <a:ext cx="73152" cy="8229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335024" y="409651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Alt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2542032" y="4059936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542032" y="4166006"/>
            <a:ext cx="36576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79</a:t>
            </a:r>
            <a:endParaRPr lang="en-US" sz="1060" dirty="0"/>
          </a:p>
        </p:txBody>
      </p:sp>
      <p:sp>
        <p:nvSpPr>
          <p:cNvPr id="30" name="Text 27"/>
          <p:cNvSpPr/>
          <p:nvPr/>
        </p:nvSpPr>
        <p:spPr>
          <a:xfrm>
            <a:off x="1335024" y="4462272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señala imágenes sin contexto</a:t>
            </a:r>
            <a:endParaRPr lang="en-US" sz="760" dirty="0"/>
          </a:p>
        </p:txBody>
      </p:sp>
      <p:sp>
        <p:nvSpPr>
          <p:cNvPr id="31" name="Shape 28"/>
          <p:cNvSpPr/>
          <p:nvPr/>
        </p:nvSpPr>
        <p:spPr>
          <a:xfrm>
            <a:off x="3236976" y="3950208"/>
            <a:ext cx="1993392" cy="1042416"/>
          </a:xfrm>
          <a:prstGeom prst="roundRect">
            <a:avLst>
              <a:gd name="adj" fmla="val 3509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328416" y="4059936"/>
            <a:ext cx="73152" cy="82296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493008" y="409651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SEO</a:t>
            </a:r>
            <a:endParaRPr lang="en-US" sz="1080" dirty="0"/>
          </a:p>
        </p:txBody>
      </p:sp>
      <p:sp>
        <p:nvSpPr>
          <p:cNvPr id="34" name="Shape 31"/>
          <p:cNvSpPr/>
          <p:nvPr/>
        </p:nvSpPr>
        <p:spPr>
          <a:xfrm>
            <a:off x="4700016" y="4059936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00016" y="4166006"/>
            <a:ext cx="36576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</a:t>
            </a:r>
            <a:endParaRPr lang="en-US" sz="1060" dirty="0"/>
          </a:p>
        </p:txBody>
      </p:sp>
      <p:sp>
        <p:nvSpPr>
          <p:cNvPr id="36" name="Text 33"/>
          <p:cNvSpPr/>
          <p:nvPr/>
        </p:nvSpPr>
        <p:spPr>
          <a:xfrm>
            <a:off x="3493008" y="4462272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 estructura y metadatos básicos</a:t>
            </a:r>
            <a:endParaRPr lang="en-US" sz="760" dirty="0"/>
          </a:p>
        </p:txBody>
      </p:sp>
      <p:sp>
        <p:nvSpPr>
          <p:cNvPr id="37" name="Shape 34"/>
          <p:cNvSpPr/>
          <p:nvPr/>
        </p:nvSpPr>
        <p:spPr>
          <a:xfrm>
            <a:off x="5742432" y="2377440"/>
            <a:ext cx="3895344" cy="822960"/>
          </a:xfrm>
          <a:prstGeom prst="roundRect">
            <a:avLst>
              <a:gd name="adj" fmla="val 33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815584" y="2487168"/>
            <a:ext cx="100584" cy="6035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998464" y="25054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Sirve para detectar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5998464" y="277977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contraste, labels, alt, headings y varios problemas técnicos rápidos.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5742432" y="3419856"/>
            <a:ext cx="3895344" cy="822960"/>
          </a:xfrm>
          <a:prstGeom prst="roundRect">
            <a:avLst>
              <a:gd name="adj" fmla="val 333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815584" y="3529584"/>
            <a:ext cx="100584" cy="6035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998464" y="354787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sirve para decidir sola</a:t>
            </a:r>
            <a:endParaRPr lang="en-US" sz="1250" dirty="0"/>
          </a:p>
        </p:txBody>
      </p:sp>
      <p:sp>
        <p:nvSpPr>
          <p:cNvPr id="44" name="Text 41"/>
          <p:cNvSpPr/>
          <p:nvPr/>
        </p:nvSpPr>
        <p:spPr>
          <a:xfrm>
            <a:off x="5998464" y="38221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texto realmente comunica, si el recorrido es claro o si la experiencia ya está bien resuelta.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5742432" y="4462272"/>
            <a:ext cx="3895344" cy="822960"/>
          </a:xfrm>
          <a:prstGeom prst="roundRect">
            <a:avLst>
              <a:gd name="adj" fmla="val 333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815584" y="4572000"/>
            <a:ext cx="100584" cy="6035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998464" y="459028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correcto</a:t>
            </a:r>
            <a:endParaRPr lang="en-US" sz="1250" dirty="0"/>
          </a:p>
        </p:txBody>
      </p:sp>
      <p:sp>
        <p:nvSpPr>
          <p:cNvPr id="48" name="Text 45"/>
          <p:cNvSpPr/>
          <p:nvPr/>
        </p:nvSpPr>
        <p:spPr>
          <a:xfrm>
            <a:off x="5998464" y="486460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el reporte como apoyo de lectura, no como juez automático del resultado.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reporte no reemplaza la prueba de uso real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auditoría detecta bastante, pero no puede decidir por sí sola si la interfaz comunica, se recorre bien y mantiene claridad.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50976" y="2249424"/>
            <a:ext cx="4279392" cy="2761488"/>
          </a:xfrm>
          <a:prstGeom prst="roundRect">
            <a:avLst>
              <a:gd name="adj" fmla="val 132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42416" y="2377440"/>
            <a:ext cx="109728" cy="25054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07008" y="235915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sí detecta bien</a:t>
            </a:r>
            <a:endParaRPr lang="en-US" sz="1540" dirty="0"/>
          </a:p>
        </p:txBody>
      </p:sp>
      <p:sp>
        <p:nvSpPr>
          <p:cNvPr id="13" name="Text 10"/>
          <p:cNvSpPr/>
          <p:nvPr/>
        </p:nvSpPr>
        <p:spPr>
          <a:xfrm>
            <a:off x="1207008" y="2706624"/>
            <a:ext cx="393192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contraste insuficiente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labels ausentes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 faltante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buenas prácticas técnicas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5522976" y="2249424"/>
            <a:ext cx="4279392" cy="2761488"/>
          </a:xfrm>
          <a:prstGeom prst="roundRect">
            <a:avLst>
              <a:gd name="adj" fmla="val 132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14416" y="2377440"/>
            <a:ext cx="109728" cy="25054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79008" y="235915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igual hay que probar</a:t>
            </a:r>
            <a:endParaRPr lang="en-US" sz="1540" dirty="0"/>
          </a:p>
        </p:txBody>
      </p:sp>
      <p:sp>
        <p:nvSpPr>
          <p:cNvPr id="17" name="Text 14"/>
          <p:cNvSpPr/>
          <p:nvPr/>
        </p:nvSpPr>
        <p:spPr>
          <a:xfrm>
            <a:off x="5779008" y="2706624"/>
            <a:ext cx="393192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claridad del texto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 de lectura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de teclado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experiencia real en pantalla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1572768" y="5340096"/>
            <a:ext cx="7644384" cy="566928"/>
          </a:xfrm>
          <a:prstGeom prst="roundRect">
            <a:avLst>
              <a:gd name="adj" fmla="val 6452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773936" y="5504688"/>
            <a:ext cx="7242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auditoría automática ayuda a mirar mejor; el uso real sigue necesitando revisión humana.</a:t>
            </a:r>
            <a:endParaRPr lang="en-US" sz="162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Puntaje alto no equivale automáticamente a buena experiencia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Subir el score puede ser útil, pero no debería esconder textos pobres, foco incómodo o recorridos confusos.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50976" y="2212848"/>
            <a:ext cx="4809744" cy="3054096"/>
          </a:xfrm>
          <a:prstGeom prst="roundRect">
            <a:avLst>
              <a:gd name="adj" fmla="val 11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212848"/>
            <a:ext cx="4809744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97280" y="2340864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43584" y="2340864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389888" y="2340864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517904" y="2313432"/>
            <a:ext cx="3895344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664208" y="2350008"/>
            <a:ext cx="3602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https://demo.local/checkout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1152144" y="2779776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Checkout auditado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280160" y="3054096"/>
            <a:ext cx="1920240" cy="694944"/>
          </a:xfrm>
          <a:prstGeom prst="roundRect">
            <a:avLst>
              <a:gd name="adj" fmla="val 394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353312" y="3163824"/>
            <a:ext cx="100584" cy="4754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536192" y="31821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Score razonable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536192" y="3456432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auditoría puede verse bien en papel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089904" y="2340864"/>
            <a:ext cx="3401568" cy="822960"/>
          </a:xfrm>
          <a:prstGeom prst="roundRect">
            <a:avLst>
              <a:gd name="adj" fmla="val 33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63056" y="2450592"/>
            <a:ext cx="100584" cy="6035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45936" y="2468880"/>
            <a:ext cx="3072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Texto ambiguo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345936" y="2743200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mensaje no comunica bien, el uso igual se vuelve torpe.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089904" y="3419856"/>
            <a:ext cx="3401568" cy="822960"/>
          </a:xfrm>
          <a:prstGeom prst="roundRect">
            <a:avLst>
              <a:gd name="adj" fmla="val 333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63056" y="3529584"/>
            <a:ext cx="100584" cy="6035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45936" y="3547872"/>
            <a:ext cx="3072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Foco y recorrido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6345936" y="3822192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nadie entiende dónde está la acción principal, el score no lo compensa.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089904" y="4498848"/>
            <a:ext cx="3401568" cy="822960"/>
          </a:xfrm>
          <a:prstGeom prst="roundRect">
            <a:avLst>
              <a:gd name="adj" fmla="val 333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163056" y="4608576"/>
            <a:ext cx="100584" cy="6035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45936" y="4626864"/>
            <a:ext cx="3072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 final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6345936" y="4901184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 puntaje sirve; mejor experiencia importa más.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todo hallazgo pesa igual: conviene priorizar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Impacto y urgencia ayudan a decidir qué conviene resolver primero y qué puede esperar sin perder criterio.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139696"/>
            <a:ext cx="9034272" cy="3493008"/>
          </a:xfrm>
          <a:prstGeom prst="roundRect">
            <a:avLst>
              <a:gd name="adj" fmla="val 10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267712"/>
            <a:ext cx="8778240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340864"/>
            <a:ext cx="8558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Impacto y prioridad de hallazgos del bloque</a:t>
            </a:r>
            <a:endParaRPr lang="en-US" sz="980" dirty="0"/>
          </a:p>
        </p:txBody>
      </p:sp>
      <p:sp>
        <p:nvSpPr>
          <p:cNvPr id="13" name="Text 10"/>
          <p:cNvSpPr/>
          <p:nvPr/>
        </p:nvSpPr>
        <p:spPr>
          <a:xfrm rot="16200000">
            <a:off x="1005840" y="395020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Impacto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5111496" y="5157216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Urgencia</a:t>
            </a:r>
            <a:endParaRPr lang="en-US" sz="840" dirty="0"/>
          </a:p>
        </p:txBody>
      </p:sp>
      <p:sp>
        <p:nvSpPr>
          <p:cNvPr id="15" name="Shape 12"/>
          <p:cNvSpPr/>
          <p:nvPr/>
        </p:nvSpPr>
        <p:spPr>
          <a:xfrm>
            <a:off x="1426464" y="2962656"/>
            <a:ext cx="4087368" cy="1005840"/>
          </a:xfrm>
          <a:prstGeom prst="roundRect">
            <a:avLst>
              <a:gd name="adj" fmla="val 3636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554480" y="3072384"/>
            <a:ext cx="3831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planificar pronto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5568696" y="2962656"/>
            <a:ext cx="4087368" cy="1005840"/>
          </a:xfrm>
          <a:prstGeom prst="roundRect">
            <a:avLst>
              <a:gd name="adj" fmla="val 3636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96712" y="3072384"/>
            <a:ext cx="3831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resolver primero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1426464" y="4023360"/>
            <a:ext cx="4087368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554480" y="4133088"/>
            <a:ext cx="3831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vigilar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5568696" y="4023360"/>
            <a:ext cx="4087368" cy="1005840"/>
          </a:xfrm>
          <a:prstGeom prst="roundRect">
            <a:avLst>
              <a:gd name="adj" fmla="val 3636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96712" y="4133088"/>
            <a:ext cx="3831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atender rápido</a:t>
            </a:r>
            <a:endParaRPr lang="en-US" sz="820" dirty="0"/>
          </a:p>
        </p:txBody>
      </p:sp>
      <p:sp>
        <p:nvSpPr>
          <p:cNvPr id="23" name="Shape 20"/>
          <p:cNvSpPr/>
          <p:nvPr/>
        </p:nvSpPr>
        <p:spPr>
          <a:xfrm>
            <a:off x="5696712" y="3273552"/>
            <a:ext cx="3831336" cy="201168"/>
          </a:xfrm>
          <a:prstGeom prst="roundRect">
            <a:avLst>
              <a:gd name="adj" fmla="val 13636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9864" y="3319272"/>
            <a:ext cx="3685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Contraste pobre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5696712" y="3566160"/>
            <a:ext cx="3831336" cy="201168"/>
          </a:xfrm>
          <a:prstGeom prst="roundRect">
            <a:avLst>
              <a:gd name="adj" fmla="val 13636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769864" y="3611880"/>
            <a:ext cx="3685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Foco discreto</a:t>
            </a:r>
            <a:endParaRPr lang="en-US" sz="780" dirty="0"/>
          </a:p>
        </p:txBody>
      </p:sp>
      <p:sp>
        <p:nvSpPr>
          <p:cNvPr id="27" name="Shape 24"/>
          <p:cNvSpPr/>
          <p:nvPr/>
        </p:nvSpPr>
        <p:spPr>
          <a:xfrm>
            <a:off x="1554480" y="3273552"/>
            <a:ext cx="3831336" cy="201168"/>
          </a:xfrm>
          <a:prstGeom prst="roundRect">
            <a:avLst>
              <a:gd name="adj" fmla="val 13636"/>
            </a:avLst>
          </a:prstGeom>
          <a:solidFill>
            <a:srgbClr val="F2E7D9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627632" y="3319272"/>
            <a:ext cx="3685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Links ambiguos</a:t>
            </a:r>
            <a:endParaRPr lang="en-US" sz="780" dirty="0"/>
          </a:p>
        </p:txBody>
      </p:sp>
      <p:sp>
        <p:nvSpPr>
          <p:cNvPr id="29" name="Shape 26"/>
          <p:cNvSpPr/>
          <p:nvPr/>
        </p:nvSpPr>
        <p:spPr>
          <a:xfrm>
            <a:off x="5696712" y="4334256"/>
            <a:ext cx="3831336" cy="201168"/>
          </a:xfrm>
          <a:prstGeom prst="roundRect">
            <a:avLst>
              <a:gd name="adj" fmla="val 13636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769864" y="4379976"/>
            <a:ext cx="3685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 ausente</a:t>
            </a:r>
            <a:endParaRPr lang="en-US" sz="780" dirty="0"/>
          </a:p>
        </p:txBody>
      </p:sp>
      <p:sp>
        <p:nvSpPr>
          <p:cNvPr id="31" name="Shape 28"/>
          <p:cNvSpPr/>
          <p:nvPr/>
        </p:nvSpPr>
        <p:spPr>
          <a:xfrm>
            <a:off x="1554480" y="4334256"/>
            <a:ext cx="3831336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627632" y="4379976"/>
            <a:ext cx="3685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Heading debil</a:t>
            </a:r>
            <a:endParaRPr lang="en-US" sz="780" dirty="0"/>
          </a:p>
        </p:txBody>
      </p:sp>
      <p:sp>
        <p:nvSpPr>
          <p:cNvPr id="33" name="Text 30"/>
          <p:cNvSpPr/>
          <p:nvPr/>
        </p:nvSpPr>
        <p:spPr>
          <a:xfrm>
            <a:off x="1207008" y="3054096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</a:t>
            </a:r>
            <a:endParaRPr lang="en-US" sz="760" dirty="0"/>
          </a:p>
        </p:txBody>
      </p:sp>
      <p:sp>
        <p:nvSpPr>
          <p:cNvPr id="34" name="Text 31"/>
          <p:cNvSpPr/>
          <p:nvPr/>
        </p:nvSpPr>
        <p:spPr>
          <a:xfrm>
            <a:off x="1207008" y="4882896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bajo</a:t>
            </a:r>
            <a:endParaRPr lang="en-US" sz="760" dirty="0"/>
          </a:p>
        </p:txBody>
      </p:sp>
      <p:sp>
        <p:nvSpPr>
          <p:cNvPr id="35" name="Text 32"/>
          <p:cNvSpPr/>
          <p:nvPr/>
        </p:nvSpPr>
        <p:spPr>
          <a:xfrm>
            <a:off x="1536192" y="512064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baja</a:t>
            </a:r>
            <a:endParaRPr lang="en-US" sz="760" dirty="0"/>
          </a:p>
        </p:txBody>
      </p:sp>
      <p:sp>
        <p:nvSpPr>
          <p:cNvPr id="36" name="Text 33"/>
          <p:cNvSpPr/>
          <p:nvPr/>
        </p:nvSpPr>
        <p:spPr>
          <a:xfrm>
            <a:off x="9400032" y="5120640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alta</a:t>
            </a:r>
            <a:endParaRPr lang="en-US" sz="760" dirty="0"/>
          </a:p>
        </p:txBody>
      </p:sp>
      <p:sp>
        <p:nvSpPr>
          <p:cNvPr id="37" name="Text 34"/>
          <p:cNvSpPr/>
          <p:nvPr/>
        </p:nvSpPr>
        <p:spPr>
          <a:xfrm>
            <a:off x="1115568" y="5468112"/>
            <a:ext cx="86685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Priorizar mejor evita perseguir reportes completos sin entender donde se rompe primero la experiencia.</a:t>
            </a:r>
            <a:endParaRPr lang="en-US" sz="84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agente puede resumir hallazgos; tú validas la interfaz real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ayuda automática sirve para ordenar advertencias, pero no debería cerrar sola la revisión de accesibilidad ni de calidad.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139696"/>
            <a:ext cx="8997696" cy="3310128"/>
          </a:xfrm>
          <a:prstGeom prst="roundRect">
            <a:avLst>
              <a:gd name="adj" fmla="val 11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267712"/>
            <a:ext cx="8741664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340864"/>
            <a:ext cx="8522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puede acelerar un agente y qué sigue siendo validación humana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78992" y="2706624"/>
            <a:ext cx="3493008" cy="2286000"/>
          </a:xfrm>
          <a:prstGeom prst="roundRect">
            <a:avLst>
              <a:gd name="adj" fmla="val 16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88720" y="2834640"/>
            <a:ext cx="109728" cy="20299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89888" y="2834640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Puede ayudar con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89888" y="3108960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reportes, agrupación y primeras propuestas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389888" y="3456432"/>
            <a:ext cx="3035808" cy="288036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81328" y="355930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627632" y="3502152"/>
            <a:ext cx="2743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resumir hallazgos de accesibilidad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389888" y="3835908"/>
            <a:ext cx="3035808" cy="288036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481328" y="393877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627632" y="3881628"/>
            <a:ext cx="2743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 reportes entre revisiones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389888" y="4215384"/>
            <a:ext cx="3035808" cy="288036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481328" y="431825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27632" y="4261104"/>
            <a:ext cx="2743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proponer labels, alt o mejoras iniciales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389888" y="4594860"/>
            <a:ext cx="3035808" cy="288036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481328" y="4697730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627632" y="4640580"/>
            <a:ext cx="2743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ordenar advertencias por prioridad tentativa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291072" y="2706624"/>
            <a:ext cx="3493008" cy="2286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0800" y="2834640"/>
            <a:ext cx="109728" cy="20299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01968" y="2834640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conviene delegar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601968" y="3108960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real, contexto y cierre técnico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6601968" y="3456432"/>
            <a:ext cx="3035808" cy="288036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693408" y="3559302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39712" y="3502152"/>
            <a:ext cx="2743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 que la interfaz ya esta bien sin probarla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01968" y="3835908"/>
            <a:ext cx="3035808" cy="288036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693408" y="393877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839712" y="3881628"/>
            <a:ext cx="2743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aceptar cambios automaticos que rompen claridad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601968" y="4215384"/>
            <a:ext cx="3035808" cy="288036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693408" y="431825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839712" y="4261104"/>
            <a:ext cx="2743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confundir mejor score con mejor experiencia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601968" y="4594860"/>
            <a:ext cx="3035808" cy="288036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693408" y="469773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839712" y="4640580"/>
            <a:ext cx="2743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 por resuelto el foco o la lectura sin revisarlos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828032" y="3035808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937760" y="3182112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010912" y="3602736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992624" y="322783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Uso real</a:t>
            </a:r>
            <a:endParaRPr lang="en-US" sz="1060" dirty="0"/>
          </a:p>
        </p:txBody>
      </p:sp>
      <p:sp>
        <p:nvSpPr>
          <p:cNvPr id="49" name="Text 46"/>
          <p:cNvSpPr/>
          <p:nvPr/>
        </p:nvSpPr>
        <p:spPr>
          <a:xfrm>
            <a:off x="4956048" y="4014216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auditoría y el agente amplían la lectura. La validación final sigue pasando por la interfaz misma.</a:t>
            </a:r>
            <a:endParaRPr lang="en-US" sz="720" dirty="0"/>
          </a:p>
        </p:txBody>
      </p:sp>
      <p:sp>
        <p:nvSpPr>
          <p:cNvPr id="50" name="Shape 47"/>
          <p:cNvSpPr/>
          <p:nvPr/>
        </p:nvSpPr>
        <p:spPr>
          <a:xfrm>
            <a:off x="1133856" y="5047488"/>
            <a:ext cx="8595360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243584" y="5093208"/>
            <a:ext cx="83759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revisar. Después usar el reporte. Al final decidir con criterio.</a:t>
            </a:r>
            <a:endParaRPr lang="en-US" sz="88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para cerrar 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del cierre general, conviene fijar qué parte del reporte sirve y qué parte todavía exige lectura humana.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87552" y="2231136"/>
            <a:ext cx="9180576" cy="859536"/>
          </a:xfrm>
          <a:prstGeom prst="roundRect">
            <a:avLst>
              <a:gd name="adj" fmla="val 425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359152"/>
            <a:ext cx="109728" cy="6035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43584" y="2340864"/>
            <a:ext cx="8833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¿Por qué accesibilidad y calidad web deberían leerse como parte del mismo problema?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43584" y="2688336"/>
            <a:ext cx="8833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Porque claridad, estructura, uso y experiencia real se afectan entre sí dentro de la misma interfaz.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987552" y="3310128"/>
            <a:ext cx="9180576" cy="859536"/>
          </a:xfrm>
          <a:prstGeom prst="roundRect">
            <a:avLst>
              <a:gd name="adj" fmla="val 425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78992" y="3438144"/>
            <a:ext cx="109728" cy="6035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43584" y="3419856"/>
            <a:ext cx="8833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¿Qué detecta bien una auditoría automática y qué parte sigue necesitando prueba en pantalla?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243584" y="3767328"/>
            <a:ext cx="8833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 varias señales útiles, pero no reemplaza revisar claridad, foco, recorrido y uso real.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987552" y="4389120"/>
            <a:ext cx="9180576" cy="859536"/>
          </a:xfrm>
          <a:prstGeom prst="roundRect">
            <a:avLst>
              <a:gd name="adj" fmla="val 425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78992" y="4517136"/>
            <a:ext cx="109728" cy="6035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43584" y="4498848"/>
            <a:ext cx="8833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¿Por qué una mejora de puntaje puede servir y aun así no cerrar bien el problema?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43584" y="4846320"/>
            <a:ext cx="8833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Porque la experiencia final todavía depende del contexto, del texto y del comportamiento real de la interfaz.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del Bloque 4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Accesibilidad y auditoría ya quedaron instaladas como apoyo fuerte de revisión, no como trámite ni como puntaje vacío.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1078992" y="2212848"/>
            <a:ext cx="9015984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80160" y="2377440"/>
            <a:ext cx="8613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interfaz madura no se juzga solo por apariencia ni por score: se revisa por claridad, uso y evidencia técnica.</a:t>
            </a:r>
            <a:endParaRPr lang="en-US" sz="1940" dirty="0"/>
          </a:p>
        </p:txBody>
      </p:sp>
      <p:sp>
        <p:nvSpPr>
          <p:cNvPr id="12" name="Shape 9"/>
          <p:cNvSpPr/>
          <p:nvPr/>
        </p:nvSpPr>
        <p:spPr>
          <a:xfrm>
            <a:off x="1243584" y="3675888"/>
            <a:ext cx="2816352" cy="969264"/>
          </a:xfrm>
          <a:prstGeom prst="roundRect">
            <a:avLst>
              <a:gd name="adj" fmla="val 283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316736" y="3785616"/>
            <a:ext cx="100584" cy="7498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99616" y="380390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clave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499616" y="4078224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accesibilidad mejora la calidad base y vuelve más clara la interfaz.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52544" y="3675888"/>
            <a:ext cx="2816352" cy="969264"/>
          </a:xfrm>
          <a:prstGeom prst="roundRect">
            <a:avLst>
              <a:gd name="adj" fmla="val 283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25696" y="3785616"/>
            <a:ext cx="100584" cy="7498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08576" y="380390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Método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608576" y="4078224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auditorías para leer mejor y después validar el uso en pantalla.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461504" y="3675888"/>
            <a:ext cx="2816352" cy="969264"/>
          </a:xfrm>
          <a:prstGeom prst="roundRect">
            <a:avLst>
              <a:gd name="adj" fmla="val 283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34656" y="3785616"/>
            <a:ext cx="100584" cy="7498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17536" y="380390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Puente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717536" y="4078224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siguiente paso será movernos desde revisar calidad hacia construir comportamiento con JavaScript.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1572768" y="5102352"/>
            <a:ext cx="7516368" cy="603504"/>
          </a:xfrm>
          <a:prstGeom prst="roundRect">
            <a:avLst>
              <a:gd name="adj" fmla="val 6061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773936" y="5266944"/>
            <a:ext cx="7114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 esto la clase ya cierra el mapa de calidad web: estructura, carga, uso y auditoría leídos como un mismo sistema.</a:t>
            </a:r>
            <a:endParaRPr lang="en-US" sz="158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 la clase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Ahora cerramos la sesión como una lectura integrada de calidad web basada en evidencia, no como una lista de chequeos aislados.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77824" y="2103120"/>
            <a:ext cx="2871216" cy="3383280"/>
          </a:xfrm>
          <a:prstGeom prst="roundRect">
            <a:avLst>
              <a:gd name="adj" fmla="val 1274"/>
            </a:avLst>
          </a:prstGeom>
          <a:solidFill>
            <a:srgbClr val="2F5687"/>
          </a:solidFill>
          <a:ln w="12700">
            <a:solidFill>
              <a:srgbClr val="2F568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527036"/>
            <a:ext cx="186538" cy="4290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84549" y="2359152"/>
            <a:ext cx="223845" cy="5969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45702" y="2527036"/>
            <a:ext cx="186538" cy="4290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78992" y="2944368"/>
            <a:ext cx="212140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Calidad web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lee en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sistema.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1097280" y="4590288"/>
            <a:ext cx="950976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70432" y="462686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194560" y="4590288"/>
            <a:ext cx="950976" cy="219456"/>
          </a:xfrm>
          <a:prstGeom prst="roundRect">
            <a:avLst>
              <a:gd name="adj" fmla="val 20833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67712" y="462686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carga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1097280" y="4901184"/>
            <a:ext cx="950976" cy="219456"/>
          </a:xfrm>
          <a:prstGeom prst="roundRect">
            <a:avLst>
              <a:gd name="adj" fmla="val 2083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70432" y="4937760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2194560" y="4901184"/>
            <a:ext cx="95097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267712" y="4937760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078224" y="2139696"/>
            <a:ext cx="5650992" cy="2487168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206240" y="2267712"/>
            <a:ext cx="5394960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15968" y="2340864"/>
            <a:ext cx="5175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Cuatro dimensiones que ya quedaron conectadas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6117336" y="2596896"/>
            <a:ext cx="1572768" cy="219456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27064" y="2651760"/>
            <a:ext cx="1353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Calidad web</a:t>
            </a:r>
            <a:endParaRPr lang="en-US" sz="860" dirty="0"/>
          </a:p>
        </p:txBody>
      </p:sp>
      <p:sp>
        <p:nvSpPr>
          <p:cNvPr id="28" name="Shape 25"/>
          <p:cNvSpPr/>
          <p:nvPr/>
        </p:nvSpPr>
        <p:spPr>
          <a:xfrm>
            <a:off x="4224528" y="2926080"/>
            <a:ext cx="2596896" cy="658368"/>
          </a:xfrm>
          <a:prstGeom prst="roundRect">
            <a:avLst>
              <a:gd name="adj" fmla="val 555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315968" y="3035808"/>
            <a:ext cx="73152" cy="4389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480560" y="3072384"/>
            <a:ext cx="2212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SEO técnico</a:t>
            </a:r>
            <a:endParaRPr lang="en-US" sz="1160" dirty="0"/>
          </a:p>
        </p:txBody>
      </p:sp>
      <p:sp>
        <p:nvSpPr>
          <p:cNvPr id="31" name="Text 28"/>
          <p:cNvSpPr/>
          <p:nvPr/>
        </p:nvSpPr>
        <p:spPr>
          <a:xfrm>
            <a:off x="4480560" y="331012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documento debe dejar claro qué ofrece y cómo se organiza</a:t>
            </a:r>
            <a:endParaRPr lang="en-US" sz="810" dirty="0"/>
          </a:p>
        </p:txBody>
      </p:sp>
      <p:sp>
        <p:nvSpPr>
          <p:cNvPr id="32" name="Shape 29"/>
          <p:cNvSpPr/>
          <p:nvPr/>
        </p:nvSpPr>
        <p:spPr>
          <a:xfrm>
            <a:off x="6986016" y="2926080"/>
            <a:ext cx="2596896" cy="658368"/>
          </a:xfrm>
          <a:prstGeom prst="roundRect">
            <a:avLst>
              <a:gd name="adj" fmla="val 555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077456" y="3035808"/>
            <a:ext cx="73152" cy="4389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242048" y="3072384"/>
            <a:ext cx="2212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Rendimiento</a:t>
            </a:r>
            <a:endParaRPr lang="en-US" sz="1160" dirty="0"/>
          </a:p>
        </p:txBody>
      </p:sp>
      <p:sp>
        <p:nvSpPr>
          <p:cNvPr id="35" name="Text 32"/>
          <p:cNvSpPr/>
          <p:nvPr/>
        </p:nvSpPr>
        <p:spPr>
          <a:xfrm>
            <a:off x="7242048" y="331012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carga importa cuando afecta lectura, foco y respuesta</a:t>
            </a:r>
            <a:endParaRPr lang="en-US" sz="810" dirty="0"/>
          </a:p>
        </p:txBody>
      </p:sp>
      <p:sp>
        <p:nvSpPr>
          <p:cNvPr id="36" name="Shape 33"/>
          <p:cNvSpPr/>
          <p:nvPr/>
        </p:nvSpPr>
        <p:spPr>
          <a:xfrm>
            <a:off x="4224528" y="3749040"/>
            <a:ext cx="2596896" cy="658368"/>
          </a:xfrm>
          <a:prstGeom prst="roundRect">
            <a:avLst>
              <a:gd name="adj" fmla="val 555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315968" y="3858768"/>
            <a:ext cx="73152" cy="4389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480560" y="3895344"/>
            <a:ext cx="2212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Accesibilidad</a:t>
            </a:r>
            <a:endParaRPr lang="en-US" sz="1160" dirty="0"/>
          </a:p>
        </p:txBody>
      </p:sp>
      <p:sp>
        <p:nvSpPr>
          <p:cNvPr id="39" name="Text 36"/>
          <p:cNvSpPr/>
          <p:nvPr/>
        </p:nvSpPr>
        <p:spPr>
          <a:xfrm>
            <a:off x="4480560" y="413308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interfaz mejor debe poder entenderse y recorrerse mejor</a:t>
            </a:r>
            <a:endParaRPr lang="en-US" sz="810" dirty="0"/>
          </a:p>
        </p:txBody>
      </p:sp>
      <p:sp>
        <p:nvSpPr>
          <p:cNvPr id="40" name="Shape 37"/>
          <p:cNvSpPr/>
          <p:nvPr/>
        </p:nvSpPr>
        <p:spPr>
          <a:xfrm>
            <a:off x="6986016" y="3749040"/>
            <a:ext cx="2596896" cy="658368"/>
          </a:xfrm>
          <a:prstGeom prst="roundRect">
            <a:avLst>
              <a:gd name="adj" fmla="val 555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077456" y="3858768"/>
            <a:ext cx="73152" cy="4389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242048" y="3895344"/>
            <a:ext cx="2212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Auditoría</a:t>
            </a:r>
            <a:endParaRPr lang="en-US" sz="1160" dirty="0"/>
          </a:p>
        </p:txBody>
      </p:sp>
      <p:sp>
        <p:nvSpPr>
          <p:cNvPr id="43" name="Text 40"/>
          <p:cNvSpPr/>
          <p:nvPr/>
        </p:nvSpPr>
        <p:spPr>
          <a:xfrm>
            <a:off x="7242048" y="413308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 ayuda a pasar de impresión general a evidencia técnica</a:t>
            </a:r>
            <a:endParaRPr lang="en-US" sz="810" dirty="0"/>
          </a:p>
        </p:txBody>
      </p:sp>
      <p:sp>
        <p:nvSpPr>
          <p:cNvPr id="44" name="Shape 41"/>
          <p:cNvSpPr/>
          <p:nvPr/>
        </p:nvSpPr>
        <p:spPr>
          <a:xfrm>
            <a:off x="4279392" y="4828032"/>
            <a:ext cx="5321808" cy="640080"/>
          </a:xfrm>
          <a:prstGeom prst="roundRect">
            <a:avLst>
              <a:gd name="adj" fmla="val 571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480560" y="4992624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clase deja instalada una idea simple: calidad web significa entender mejor qué se ve, cómo carga, cómo se usa y cómo se revisa.</a:t>
            </a:r>
            <a:endParaRPr lang="en-US" sz="152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recorrimos hoy forma una sola secuencia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calidad web apareció como una cadena de relaciones: estructura, visibilidad, experiencia, uso y revisión con evidencia.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14400" y="2359152"/>
            <a:ext cx="1993392" cy="2084832"/>
          </a:xfrm>
          <a:prstGeom prst="roundRect">
            <a:avLst>
              <a:gd name="adj" fmla="val 183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523744"/>
            <a:ext cx="19933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1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1078992" y="292608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Documento claro</a:t>
            </a:r>
            <a:endParaRPr lang="en-US" sz="1620" dirty="0"/>
          </a:p>
        </p:txBody>
      </p:sp>
      <p:sp>
        <p:nvSpPr>
          <p:cNvPr id="13" name="Text 10"/>
          <p:cNvSpPr/>
          <p:nvPr/>
        </p:nvSpPr>
        <p:spPr>
          <a:xfrm>
            <a:off x="1097280" y="3438144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title, headings y semántica ordenan lo que la página ofrece.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2999232" y="3273552"/>
            <a:ext cx="164592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10128" y="2359152"/>
            <a:ext cx="1993392" cy="2084832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10128" y="2523744"/>
            <a:ext cx="19933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2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3474720" y="292608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Visibilidad técnica</a:t>
            </a:r>
            <a:endParaRPr lang="en-US" sz="1620" dirty="0"/>
          </a:p>
        </p:txBody>
      </p:sp>
      <p:sp>
        <p:nvSpPr>
          <p:cNvPr id="18" name="Text 15"/>
          <p:cNvSpPr/>
          <p:nvPr/>
        </p:nvSpPr>
        <p:spPr>
          <a:xfrm>
            <a:off x="3493008" y="3438144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estructura deja señales que buscadores y personas pueden leer.</a:t>
            </a:r>
            <a:endParaRPr lang="en-US" sz="860" dirty="0"/>
          </a:p>
        </p:txBody>
      </p:sp>
      <p:sp>
        <p:nvSpPr>
          <p:cNvPr id="19" name="Shape 16"/>
          <p:cNvSpPr/>
          <p:nvPr/>
        </p:nvSpPr>
        <p:spPr>
          <a:xfrm>
            <a:off x="5394960" y="3273552"/>
            <a:ext cx="164592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705856" y="2359152"/>
            <a:ext cx="1993392" cy="2084832"/>
          </a:xfrm>
          <a:prstGeom prst="roundRect">
            <a:avLst>
              <a:gd name="adj" fmla="val 183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05856" y="2523744"/>
            <a:ext cx="19933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3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5870448" y="292608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Experiencia y uso</a:t>
            </a:r>
            <a:endParaRPr lang="en-US" sz="1620" dirty="0"/>
          </a:p>
        </p:txBody>
      </p:sp>
      <p:sp>
        <p:nvSpPr>
          <p:cNvPr id="23" name="Text 20"/>
          <p:cNvSpPr/>
          <p:nvPr/>
        </p:nvSpPr>
        <p:spPr>
          <a:xfrm>
            <a:off x="5888736" y="3438144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carga, foco y claridad sostienen la interacción real.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7790688" y="3273552"/>
            <a:ext cx="164592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101584" y="2359152"/>
            <a:ext cx="1993392" cy="2084832"/>
          </a:xfrm>
          <a:prstGeom prst="roundRect">
            <a:avLst>
              <a:gd name="adj" fmla="val 183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01584" y="2523744"/>
            <a:ext cx="19933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4</a:t>
            </a:r>
            <a:endParaRPr lang="en-US" sz="1080" dirty="0"/>
          </a:p>
        </p:txBody>
      </p:sp>
      <p:sp>
        <p:nvSpPr>
          <p:cNvPr id="27" name="Text 24"/>
          <p:cNvSpPr/>
          <p:nvPr/>
        </p:nvSpPr>
        <p:spPr>
          <a:xfrm>
            <a:off x="8266176" y="292608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Auditoría con evidencia</a:t>
            </a:r>
            <a:endParaRPr lang="en-US" sz="1620" dirty="0"/>
          </a:p>
        </p:txBody>
      </p:sp>
      <p:sp>
        <p:nvSpPr>
          <p:cNvPr id="28" name="Text 25"/>
          <p:cNvSpPr/>
          <p:nvPr/>
        </p:nvSpPr>
        <p:spPr>
          <a:xfrm>
            <a:off x="8284464" y="3438144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métricas y revisión ayudan a priorizar mejoras con criterio.</a:t>
            </a:r>
            <a:endParaRPr lang="en-US" sz="860" dirty="0"/>
          </a:p>
        </p:txBody>
      </p:sp>
      <p:sp>
        <p:nvSpPr>
          <p:cNvPr id="29" name="Shape 26"/>
          <p:cNvSpPr/>
          <p:nvPr/>
        </p:nvSpPr>
        <p:spPr>
          <a:xfrm>
            <a:off x="1152144" y="5010912"/>
            <a:ext cx="8284464" cy="603504"/>
          </a:xfrm>
          <a:prstGeom prst="roundRect">
            <a:avLst>
              <a:gd name="adj" fmla="val 6061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353312" y="5175504"/>
            <a:ext cx="7882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una de estas capas falla, la página puede verse correcta y aun así quedar técnicamente mal resuelta.</a:t>
            </a:r>
            <a:endParaRPr lang="en-US" sz="158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Ideas que deberían quedar instaladas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que memorizar herramientas, conviene salir con una lectura técnica más ordenada de lo que hace madura a una página.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212848"/>
            <a:ext cx="4334256" cy="1225296"/>
          </a:xfrm>
          <a:prstGeom prst="roundRect">
            <a:avLst>
              <a:gd name="adj" fmla="val 298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340864"/>
            <a:ext cx="109728" cy="9692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322576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SEO técnico empieza en estructura</a:t>
            </a:r>
            <a:endParaRPr lang="en-US" sz="1520" dirty="0"/>
          </a:p>
        </p:txBody>
      </p:sp>
      <p:sp>
        <p:nvSpPr>
          <p:cNvPr id="13" name="Text 10"/>
          <p:cNvSpPr/>
          <p:nvPr/>
        </p:nvSpPr>
        <p:spPr>
          <a:xfrm>
            <a:off x="1188720" y="2670048"/>
            <a:ext cx="3986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title, headings, enlaces y semántica ayudan primero a que el documento se deje entender.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5504688" y="2212848"/>
            <a:ext cx="4334256" cy="1225296"/>
          </a:xfrm>
          <a:prstGeom prst="roundRect">
            <a:avLst>
              <a:gd name="adj" fmla="val 298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96128" y="2340864"/>
            <a:ext cx="109728" cy="96926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60720" y="2322576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Rendimiento es experiencia percibida</a:t>
            </a:r>
            <a:endParaRPr lang="en-US" sz="1520" dirty="0"/>
          </a:p>
        </p:txBody>
      </p:sp>
      <p:sp>
        <p:nvSpPr>
          <p:cNvPr id="17" name="Text 14"/>
          <p:cNvSpPr/>
          <p:nvPr/>
        </p:nvSpPr>
        <p:spPr>
          <a:xfrm>
            <a:off x="5760720" y="2670048"/>
            <a:ext cx="3986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LCP, CLS e INP importan cuando explican qué se siente al cargar y al interactuar.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932688" y="3694176"/>
            <a:ext cx="4334256" cy="1225296"/>
          </a:xfrm>
          <a:prstGeom prst="roundRect">
            <a:avLst>
              <a:gd name="adj" fmla="val 298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24128" y="3822192"/>
            <a:ext cx="109728" cy="9692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88720" y="3803904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Accesibilidad mejora claridad de uso</a:t>
            </a:r>
            <a:endParaRPr lang="en-US" sz="1520" dirty="0"/>
          </a:p>
        </p:txBody>
      </p:sp>
      <p:sp>
        <p:nvSpPr>
          <p:cNvPr id="21" name="Text 18"/>
          <p:cNvSpPr/>
          <p:nvPr/>
        </p:nvSpPr>
        <p:spPr>
          <a:xfrm>
            <a:off x="1188720" y="4151376"/>
            <a:ext cx="3986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labels, contraste, foco y texto alternativo ordenan mejor la interfaz para más personas.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5504688" y="3694176"/>
            <a:ext cx="4334256" cy="1225296"/>
          </a:xfrm>
          <a:prstGeom prst="roundRect">
            <a:avLst>
              <a:gd name="adj" fmla="val 298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596128" y="3822192"/>
            <a:ext cx="109728" cy="9692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0" y="3803904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Auditar no es obedecer un score</a:t>
            </a:r>
            <a:endParaRPr lang="en-US" sz="1520" dirty="0"/>
          </a:p>
        </p:txBody>
      </p:sp>
      <p:sp>
        <p:nvSpPr>
          <p:cNvPr id="25" name="Text 22"/>
          <p:cNvSpPr/>
          <p:nvPr/>
        </p:nvSpPr>
        <p:spPr>
          <a:xfrm>
            <a:off x="5760720" y="4151376"/>
            <a:ext cx="3986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reporte ayuda a mirar mejor, pero la validación final sigue ocurriendo en pantalla y con criterio.</a:t>
            </a:r>
            <a:endParaRPr lang="en-US" sz="102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metodología de la clase también importa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Hoy no solo revisamos temas: dejamos una forma de trabajo que mezcla comprensión, medición, apoyo inteligente y validación real.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50976" y="2487168"/>
            <a:ext cx="1938528" cy="1993392"/>
          </a:xfrm>
          <a:prstGeom prst="roundRect">
            <a:avLst>
              <a:gd name="adj" fmla="val 188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50976" y="2688336"/>
            <a:ext cx="19385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15568" y="3310128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Entender el problema</a:t>
            </a:r>
            <a:endParaRPr lang="en-US" sz="1580" dirty="0"/>
          </a:p>
        </p:txBody>
      </p:sp>
      <p:sp>
        <p:nvSpPr>
          <p:cNvPr id="13" name="Text 10"/>
          <p:cNvSpPr/>
          <p:nvPr/>
        </p:nvSpPr>
        <p:spPr>
          <a:xfrm>
            <a:off x="1115568" y="4169664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documento, contexto y experiencia antes de corregir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2980944" y="3310128"/>
            <a:ext cx="201168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10128" y="2487168"/>
            <a:ext cx="1938528" cy="1993392"/>
          </a:xfrm>
          <a:prstGeom prst="roundRect">
            <a:avLst>
              <a:gd name="adj" fmla="val 188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10128" y="2688336"/>
            <a:ext cx="19385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474720" y="3310128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Medir con herramientas</a:t>
            </a:r>
            <a:endParaRPr lang="en-US" sz="1580" dirty="0"/>
          </a:p>
        </p:txBody>
      </p:sp>
      <p:sp>
        <p:nvSpPr>
          <p:cNvPr id="18" name="Text 15"/>
          <p:cNvSpPr/>
          <p:nvPr/>
        </p:nvSpPr>
        <p:spPr>
          <a:xfrm>
            <a:off x="3474720" y="4169664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navegador, Lighthouse y paneles como evidencia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5340096" y="3310128"/>
            <a:ext cx="201168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69280" y="2487168"/>
            <a:ext cx="1938528" cy="1993392"/>
          </a:xfrm>
          <a:prstGeom prst="roundRect">
            <a:avLst>
              <a:gd name="adj" fmla="val 188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69280" y="2688336"/>
            <a:ext cx="19385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833872" y="3310128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Apoyarse con inteligencia</a:t>
            </a:r>
            <a:endParaRPr lang="en-US" sz="1580" dirty="0"/>
          </a:p>
        </p:txBody>
      </p:sp>
      <p:sp>
        <p:nvSpPr>
          <p:cNvPr id="23" name="Text 20"/>
          <p:cNvSpPr/>
          <p:nvPr/>
        </p:nvSpPr>
        <p:spPr>
          <a:xfrm>
            <a:off x="5833872" y="4169664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agentes para resumir, comparar o proponer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7699248" y="3310128"/>
            <a:ext cx="201168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028432" y="2487168"/>
            <a:ext cx="1938528" cy="1993392"/>
          </a:xfrm>
          <a:prstGeom prst="roundRect">
            <a:avLst>
              <a:gd name="adj" fmla="val 188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028432" y="2688336"/>
            <a:ext cx="19385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4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193024" y="3310128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 con criterio</a:t>
            </a:r>
            <a:endParaRPr lang="en-US" sz="1580" dirty="0"/>
          </a:p>
        </p:txBody>
      </p:sp>
      <p:sp>
        <p:nvSpPr>
          <p:cNvPr id="28" name="Text 25"/>
          <p:cNvSpPr/>
          <p:nvPr/>
        </p:nvSpPr>
        <p:spPr>
          <a:xfrm>
            <a:off x="8193024" y="4169664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probar uso real y decidir qué importa de verdad</a:t>
            </a:r>
            <a:endParaRPr lang="en-US" sz="780" dirty="0"/>
          </a:p>
        </p:txBody>
      </p:sp>
      <p:sp>
        <p:nvSpPr>
          <p:cNvPr id="29" name="Shape 26"/>
          <p:cNvSpPr/>
          <p:nvPr/>
        </p:nvSpPr>
        <p:spPr>
          <a:xfrm>
            <a:off x="1408176" y="5065776"/>
            <a:ext cx="7808976" cy="603504"/>
          </a:xfrm>
          <a:prstGeom prst="roundRect">
            <a:avLst>
              <a:gd name="adj" fmla="val 6061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609344" y="523036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Entender -&gt; medir -&gt; apoyarse -&gt; validar. Ese es el hábito técnico que la clase intenta instalar.</a:t>
            </a:r>
            <a:endParaRPr lang="en-US" sz="158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salida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pasar a JavaScript, conviene cerrar la sesión con preguntas que obliguen a leer la calidad web como sistema.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87552" y="2231136"/>
            <a:ext cx="4462272" cy="1170432"/>
          </a:xfrm>
          <a:prstGeom prst="roundRect">
            <a:avLst>
              <a:gd name="adj" fmla="val 312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359152"/>
            <a:ext cx="109728" cy="9144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43584" y="234086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¿Qué diferencia hay entre mirar una página a ojo y leer su calidad con evidencia técnica?</a:t>
            </a:r>
            <a:endParaRPr lang="en-US" sz="1340" dirty="0"/>
          </a:p>
        </p:txBody>
      </p:sp>
      <p:sp>
        <p:nvSpPr>
          <p:cNvPr id="13" name="Shape 10"/>
          <p:cNvSpPr/>
          <p:nvPr/>
        </p:nvSpPr>
        <p:spPr>
          <a:xfrm>
            <a:off x="5486400" y="2231136"/>
            <a:ext cx="4462272" cy="1170432"/>
          </a:xfrm>
          <a:prstGeom prst="roundRect">
            <a:avLst>
              <a:gd name="adj" fmla="val 312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77840" y="2359152"/>
            <a:ext cx="109728" cy="9144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42432" y="234086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¿Qué señales del HTML ayudan a que una página se deje entender mejor por personas y buscadores?</a:t>
            </a:r>
            <a:endParaRPr lang="en-US" sz="1340" dirty="0"/>
          </a:p>
        </p:txBody>
      </p:sp>
      <p:sp>
        <p:nvSpPr>
          <p:cNvPr id="16" name="Shape 13"/>
          <p:cNvSpPr/>
          <p:nvPr/>
        </p:nvSpPr>
        <p:spPr>
          <a:xfrm>
            <a:off x="987552" y="3694176"/>
            <a:ext cx="4462272" cy="1170432"/>
          </a:xfrm>
          <a:prstGeom prst="roundRect">
            <a:avLst>
              <a:gd name="adj" fmla="val 312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78992" y="3822192"/>
            <a:ext cx="109728" cy="9144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43584" y="380390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¿Por qué una puntuación más alta no garantiza por sí sola una mejor experiencia?</a:t>
            </a:r>
            <a:endParaRPr lang="en-US" sz="1340" dirty="0"/>
          </a:p>
        </p:txBody>
      </p:sp>
      <p:sp>
        <p:nvSpPr>
          <p:cNvPr id="19" name="Shape 16"/>
          <p:cNvSpPr/>
          <p:nvPr/>
        </p:nvSpPr>
        <p:spPr>
          <a:xfrm>
            <a:off x="5486400" y="3694176"/>
            <a:ext cx="4462272" cy="1170432"/>
          </a:xfrm>
          <a:prstGeom prst="roundRect">
            <a:avLst>
              <a:gd name="adj" fmla="val 312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577840" y="3822192"/>
            <a:ext cx="109728" cy="9144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42432" y="380390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¿Qué puede acelerar un agente en una auditoría y qué parte sigue necesitando revisión humana?</a:t>
            </a:r>
            <a:endParaRPr lang="en-US" sz="134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06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Puente a la siguiente clase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próximo paso será pasar desde revisar calidad en una interfaz ya hecha hacia construir comportamiento directamente con JavaScript.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212848"/>
            <a:ext cx="4041648" cy="3273552"/>
          </a:xfrm>
          <a:prstGeom prst="roundRect">
            <a:avLst>
              <a:gd name="adj" fmla="val 111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2144" y="24505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Hasta aquí revisamos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70432" y="2834640"/>
            <a:ext cx="349300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43584" y="2944368"/>
            <a:ext cx="100584" cy="3474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26464" y="2962656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1170432" y="3456432"/>
            <a:ext cx="3493008" cy="566928"/>
          </a:xfrm>
          <a:prstGeom prst="roundRect">
            <a:avLst>
              <a:gd name="adj" fmla="val 483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243584" y="3566160"/>
            <a:ext cx="100584" cy="3474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426464" y="3584448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carga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1170432" y="4078224"/>
            <a:ext cx="349300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43584" y="4187952"/>
            <a:ext cx="100584" cy="3474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26464" y="4206240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uso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1170432" y="4700016"/>
            <a:ext cx="3493008" cy="566928"/>
          </a:xfrm>
          <a:prstGeom prst="roundRect">
            <a:avLst>
              <a:gd name="adj" fmla="val 483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243584" y="4809744"/>
            <a:ext cx="100584" cy="3474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426464" y="4828032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evidencia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5358384" y="2249424"/>
            <a:ext cx="4535424" cy="2505456"/>
          </a:xfrm>
          <a:prstGeom prst="roundRect">
            <a:avLst>
              <a:gd name="adj" fmla="val 146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86400" y="2359152"/>
            <a:ext cx="427939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96128" y="2432304"/>
            <a:ext cx="4059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Luego empezamos a construir comportamiento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577840" y="2816352"/>
            <a:ext cx="10545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60" dirty="0"/>
          </a:p>
          <a:p>
            <a:pPr algn="r"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60" dirty="0"/>
          </a:p>
          <a:p>
            <a:pPr algn="r"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60" dirty="0"/>
          </a:p>
          <a:p>
            <a:pPr algn="r"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60" dirty="0"/>
          </a:p>
          <a:p>
            <a:pPr algn="r"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60" dirty="0"/>
          </a:p>
        </p:txBody>
      </p:sp>
      <p:sp>
        <p:nvSpPr>
          <p:cNvPr id="28" name="Text 25"/>
          <p:cNvSpPr/>
          <p:nvPr/>
        </p:nvSpPr>
        <p:spPr>
          <a:xfrm>
            <a:off x="5756448" y="2816352"/>
            <a:ext cx="3936192" cy="15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boton 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document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6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querySelector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6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"#comprar"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60" dirty="0"/>
          </a:p>
        </p:txBody>
      </p:sp>
      <p:sp>
        <p:nvSpPr>
          <p:cNvPr id="29" name="Text 26"/>
          <p:cNvSpPr/>
          <p:nvPr/>
        </p:nvSpPr>
        <p:spPr>
          <a:xfrm>
            <a:off x="5756448" y="2985973"/>
            <a:ext cx="3936192" cy="15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060" dirty="0"/>
          </a:p>
        </p:txBody>
      </p:sp>
      <p:sp>
        <p:nvSpPr>
          <p:cNvPr id="30" name="Text 27"/>
          <p:cNvSpPr/>
          <p:nvPr/>
        </p:nvSpPr>
        <p:spPr>
          <a:xfrm>
            <a:off x="5756448" y="3155594"/>
            <a:ext cx="3936192" cy="15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boton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?.</a:t>
            </a:r>
            <a:pPr indent="0" marL="0">
              <a:buNone/>
            </a:pPr>
            <a:r>
              <a:rPr lang="en-US" sz="106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addEventListener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6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"click"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60" dirty="0"/>
          </a:p>
        </p:txBody>
      </p:sp>
      <p:sp>
        <p:nvSpPr>
          <p:cNvPr id="31" name="Text 28"/>
          <p:cNvSpPr/>
          <p:nvPr/>
        </p:nvSpPr>
        <p:spPr>
          <a:xfrm>
            <a:off x="5756448" y="3325216"/>
            <a:ext cx="3936192" cy="15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6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6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"accion activada"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60" dirty="0"/>
          </a:p>
        </p:txBody>
      </p:sp>
      <p:sp>
        <p:nvSpPr>
          <p:cNvPr id="32" name="Text 29"/>
          <p:cNvSpPr/>
          <p:nvPr/>
        </p:nvSpPr>
        <p:spPr>
          <a:xfrm>
            <a:off x="5756448" y="3494837"/>
            <a:ext cx="3936192" cy="15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60" dirty="0"/>
          </a:p>
        </p:txBody>
      </p:sp>
      <p:sp>
        <p:nvSpPr>
          <p:cNvPr id="33" name="Shape 30"/>
          <p:cNvSpPr/>
          <p:nvPr/>
        </p:nvSpPr>
        <p:spPr>
          <a:xfrm>
            <a:off x="5449824" y="4882896"/>
            <a:ext cx="4315968" cy="566928"/>
          </a:xfrm>
          <a:prstGeom prst="roundRect">
            <a:avLst>
              <a:gd name="adj" fmla="val 483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522976" y="4992624"/>
            <a:ext cx="100584" cy="3474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705856" y="5010912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viene</a:t>
            </a:r>
            <a:endParaRPr lang="en-US" sz="1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AIEP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Calidad Web, SEO Tecnico, Rendimiento y Auditoria - Bloque 1</dc:title>
  <dc:subject>Clase 06</dc:subject>
  <dc:creator>Codex</dc:creator>
  <cp:lastModifiedBy>Codex</cp:lastModifiedBy>
  <cp:revision>1</cp:revision>
  <dcterms:created xsi:type="dcterms:W3CDTF">2026-03-22T06:09:35Z</dcterms:created>
  <dcterms:modified xsi:type="dcterms:W3CDTF">2026-03-22T06:09:35Z</dcterms:modified>
</cp:coreProperties>
</file>