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1014984"/>
            <a:ext cx="274320" cy="6309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" y="768096"/>
            <a:ext cx="329184" cy="8778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014984"/>
            <a:ext cx="274320" cy="6309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727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Evaluación Parcial 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58368" y="213969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4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Landing estática con Codex</a:t>
            </a:r>
            <a:endParaRPr lang="en-US" sz="1940" dirty="0"/>
          </a:p>
        </p:txBody>
      </p:sp>
      <p:sp>
        <p:nvSpPr>
          <p:cNvPr id="8" name="Text 6"/>
          <p:cNvSpPr/>
          <p:nvPr/>
        </p:nvSpPr>
        <p:spPr>
          <a:xfrm>
            <a:off x="676656" y="2761488"/>
            <a:ext cx="4498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Playbook operativo para llegar listos al lunes 30 de marzo de 2026 sin improvisar el flujo de trabajo.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676656" y="3767328"/>
            <a:ext cx="1353312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803904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semántico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2139696" y="3767328"/>
            <a:ext cx="1335024" cy="292608"/>
          </a:xfrm>
          <a:prstGeom prst="roundRect">
            <a:avLst>
              <a:gd name="adj" fmla="val 1562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12848" y="380390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 con tokens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676656" y="4133088"/>
            <a:ext cx="1316736" cy="292608"/>
          </a:xfrm>
          <a:prstGeom prst="roundRect">
            <a:avLst>
              <a:gd name="adj" fmla="val 1562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16966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real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2121408" y="4133088"/>
            <a:ext cx="1426464" cy="292608"/>
          </a:xfrm>
          <a:prstGeom prst="roundRect">
            <a:avLst>
              <a:gd name="adj" fmla="val 156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41696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en GitHub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6236208" y="1225296"/>
            <a:ext cx="5065776" cy="3913632"/>
          </a:xfrm>
          <a:prstGeom prst="roundRect">
            <a:avLst>
              <a:gd name="adj" fmla="val 9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371600"/>
            <a:ext cx="473659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28816" y="1444752"/>
            <a:ext cx="4480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Paquete minimo para llegar ordenado a la prueba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6492240" y="1901952"/>
            <a:ext cx="4553712" cy="566928"/>
          </a:xfrm>
          <a:prstGeom prst="roundRect">
            <a:avLst>
              <a:gd name="adj" fmla="val 645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1901952"/>
            <a:ext cx="82296" cy="5669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2011680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BRIEF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7662672" y="2029968"/>
            <a:ext cx="3328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construyes y para quien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11100816" y="2542032"/>
            <a:ext cx="109728" cy="10972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2633472"/>
            <a:ext cx="4553712" cy="566928"/>
          </a:xfrm>
          <a:prstGeom prst="roundRect">
            <a:avLst>
              <a:gd name="adj" fmla="val 645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2633472"/>
            <a:ext cx="82296" cy="5669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56832" y="2743200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7662672" y="2761488"/>
            <a:ext cx="3328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alcance, restricciones y criterios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11100816" y="3273552"/>
            <a:ext cx="109728" cy="10972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364992"/>
            <a:ext cx="4553712" cy="566928"/>
          </a:xfrm>
          <a:prstGeom prst="roundRect">
            <a:avLst>
              <a:gd name="adj" fmla="val 645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0" y="3364992"/>
            <a:ext cx="82296" cy="5669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3474720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</a:t>
            </a:r>
            <a:endParaRPr lang="en-US" sz="1280" dirty="0"/>
          </a:p>
        </p:txBody>
      </p:sp>
      <p:sp>
        <p:nvSpPr>
          <p:cNvPr id="33" name="Text 31"/>
          <p:cNvSpPr/>
          <p:nvPr/>
        </p:nvSpPr>
        <p:spPr>
          <a:xfrm>
            <a:off x="7662672" y="3493008"/>
            <a:ext cx="3328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jerarquia, CTA y experiencia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11100816" y="4005072"/>
            <a:ext cx="109728" cy="10972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4096512"/>
            <a:ext cx="4553712" cy="566928"/>
          </a:xfrm>
          <a:prstGeom prst="roundRect">
            <a:avLst>
              <a:gd name="adj" fmla="val 645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4096512"/>
            <a:ext cx="82296" cy="5669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56832" y="4206240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AGENTS</a:t>
            </a:r>
            <a:endParaRPr lang="en-US" sz="1280" dirty="0"/>
          </a:p>
        </p:txBody>
      </p:sp>
      <p:sp>
        <p:nvSpPr>
          <p:cNvPr id="38" name="Text 36"/>
          <p:cNvSpPr/>
          <p:nvPr/>
        </p:nvSpPr>
        <p:spPr>
          <a:xfrm>
            <a:off x="7662672" y="4224528"/>
            <a:ext cx="3328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debe trabajar Codex</a:t>
            </a:r>
            <a:endParaRPr lang="en-US" sz="870" dirty="0"/>
          </a:p>
        </p:txBody>
      </p:sp>
      <p:pic>
        <p:nvPicPr>
          <p:cNvPr id="39" name="Image 0" descr="C:\dojo\pro301-taller-de-aplicaciones-para-internet\.agent\skills\slides-aiep\assets\logo-ai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559894"/>
            <a:ext cx="1572768" cy="544420"/>
          </a:xfrm>
          <a:prstGeom prst="rect">
            <a:avLst/>
          </a:prstGeom>
        </p:spPr>
      </p:pic>
      <p:sp>
        <p:nvSpPr>
          <p:cNvPr id="40" name="Shape 37"/>
          <p:cNvSpPr/>
          <p:nvPr/>
        </p:nvSpPr>
        <p:spPr>
          <a:xfrm>
            <a:off x="841248" y="5705856"/>
            <a:ext cx="10570464" cy="530352"/>
          </a:xfrm>
          <a:prstGeom prst="roundRect">
            <a:avLst>
              <a:gd name="adj" fmla="val 6897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42416" y="5870448"/>
            <a:ext cx="10168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se evalúa magia. Se evalúa criterio, claridad visual, estructura y forma de trabajo.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Evaluacion Parcial 1 · Evaluación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va a pasar el lunes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mezcla encuadre corto, demo guiada, trabajo práctico y entrega ordenada.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49808" y="2066544"/>
            <a:ext cx="10698480" cy="3401568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2194560"/>
            <a:ext cx="10442448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2267712"/>
            <a:ext cx="10222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Ritmo de la sesión evaluada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14400" y="2596896"/>
            <a:ext cx="2331720" cy="1243584"/>
          </a:xfrm>
          <a:prstGeom prst="roundRect">
            <a:avLst>
              <a:gd name="adj" fmla="val 2941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87552" y="2688336"/>
            <a:ext cx="82296" cy="10607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78992" y="2706624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78992" y="2752344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10:50</a:t>
            </a:r>
            <a:endParaRPr lang="en-US" sz="620" dirty="0"/>
          </a:p>
        </p:txBody>
      </p:sp>
      <p:sp>
        <p:nvSpPr>
          <p:cNvPr id="17" name="Text 14"/>
          <p:cNvSpPr/>
          <p:nvPr/>
        </p:nvSpPr>
        <p:spPr>
          <a:xfrm>
            <a:off x="1810512" y="2697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Encuadre</a:t>
            </a:r>
            <a:endParaRPr lang="en-US" sz="1240" dirty="0"/>
          </a:p>
        </p:txBody>
      </p:sp>
      <p:sp>
        <p:nvSpPr>
          <p:cNvPr id="18" name="Text 15"/>
          <p:cNvSpPr/>
          <p:nvPr/>
        </p:nvSpPr>
        <p:spPr>
          <a:xfrm>
            <a:off x="1115568" y="2999232"/>
            <a:ext cx="2039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recuerda la consigna, la rúbrica y el método de entrega.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3319272" y="3081528"/>
            <a:ext cx="201168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593592" y="2596896"/>
            <a:ext cx="2331720" cy="1243584"/>
          </a:xfrm>
          <a:prstGeom prst="roundRect">
            <a:avLst>
              <a:gd name="adj" fmla="val 2941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66744" y="2688336"/>
            <a:ext cx="82296" cy="10607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758184" y="2706624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758184" y="2752344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11:05</a:t>
            </a:r>
            <a:endParaRPr lang="en-US" sz="620" dirty="0"/>
          </a:p>
        </p:txBody>
      </p:sp>
      <p:sp>
        <p:nvSpPr>
          <p:cNvPr id="24" name="Text 21"/>
          <p:cNvSpPr/>
          <p:nvPr/>
        </p:nvSpPr>
        <p:spPr>
          <a:xfrm>
            <a:off x="4489704" y="2697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</a:t>
            </a:r>
            <a:endParaRPr lang="en-US" sz="1240" dirty="0"/>
          </a:p>
        </p:txBody>
      </p:sp>
      <p:sp>
        <p:nvSpPr>
          <p:cNvPr id="25" name="Text 22"/>
          <p:cNvSpPr/>
          <p:nvPr/>
        </p:nvSpPr>
        <p:spPr>
          <a:xfrm>
            <a:off x="3794760" y="2999232"/>
            <a:ext cx="2039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muestra un flujo claro con Codex sobre brief, spec, design y agents.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5998464" y="3081528"/>
            <a:ext cx="201168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72784" y="2596896"/>
            <a:ext cx="2331720" cy="1243584"/>
          </a:xfrm>
          <a:prstGeom prst="roundRect">
            <a:avLst>
              <a:gd name="adj" fmla="val 2941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45936" y="2688336"/>
            <a:ext cx="82296" cy="10607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37376" y="2706624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37376" y="2752344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11:35</a:t>
            </a:r>
            <a:endParaRPr lang="en-US" sz="620" dirty="0"/>
          </a:p>
        </p:txBody>
      </p:sp>
      <p:sp>
        <p:nvSpPr>
          <p:cNvPr id="31" name="Text 28"/>
          <p:cNvSpPr/>
          <p:nvPr/>
        </p:nvSpPr>
        <p:spPr>
          <a:xfrm>
            <a:off x="7168896" y="2697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Trabajo</a:t>
            </a:r>
            <a:endParaRPr lang="en-US" sz="1240" dirty="0"/>
          </a:p>
        </p:txBody>
      </p:sp>
      <p:sp>
        <p:nvSpPr>
          <p:cNvPr id="32" name="Text 29"/>
          <p:cNvSpPr/>
          <p:nvPr/>
        </p:nvSpPr>
        <p:spPr>
          <a:xfrm>
            <a:off x="6473952" y="2999232"/>
            <a:ext cx="2039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estudiante construye su página y valida manualmente su resultado.</a:t>
            </a:r>
            <a:endParaRPr lang="en-US" sz="980" dirty="0"/>
          </a:p>
        </p:txBody>
      </p:sp>
      <p:sp>
        <p:nvSpPr>
          <p:cNvPr id="33" name="Shape 30"/>
          <p:cNvSpPr/>
          <p:nvPr/>
        </p:nvSpPr>
        <p:spPr>
          <a:xfrm>
            <a:off x="8677656" y="3081528"/>
            <a:ext cx="201168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951976" y="2596896"/>
            <a:ext cx="2331720" cy="1243584"/>
          </a:xfrm>
          <a:prstGeom prst="roundRect">
            <a:avLst>
              <a:gd name="adj" fmla="val 2941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025128" y="2688336"/>
            <a:ext cx="82296" cy="10607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116568" y="2706624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116568" y="2752344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12:55</a:t>
            </a:r>
            <a:endParaRPr lang="en-US" sz="620" dirty="0"/>
          </a:p>
        </p:txBody>
      </p:sp>
      <p:sp>
        <p:nvSpPr>
          <p:cNvPr id="38" name="Text 35"/>
          <p:cNvSpPr/>
          <p:nvPr/>
        </p:nvSpPr>
        <p:spPr>
          <a:xfrm>
            <a:off x="9848088" y="2697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Entrega</a:t>
            </a:r>
            <a:endParaRPr lang="en-US" sz="1240" dirty="0"/>
          </a:p>
        </p:txBody>
      </p:sp>
      <p:sp>
        <p:nvSpPr>
          <p:cNvPr id="39" name="Text 36"/>
          <p:cNvSpPr/>
          <p:nvPr/>
        </p:nvSpPr>
        <p:spPr>
          <a:xfrm>
            <a:off x="9153144" y="2999232"/>
            <a:ext cx="2039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cierra con GitHub idealmente o, si no se puede, con un comprimido ordenado.</a:t>
            </a:r>
            <a:endParaRPr lang="en-US" sz="980" dirty="0"/>
          </a:p>
        </p:txBody>
      </p:sp>
      <p:sp>
        <p:nvSpPr>
          <p:cNvPr id="40" name="Shape 37"/>
          <p:cNvSpPr/>
          <p:nvPr/>
        </p:nvSpPr>
        <p:spPr>
          <a:xfrm>
            <a:off x="950976" y="5157216"/>
            <a:ext cx="10296144" cy="201168"/>
          </a:xfrm>
          <a:prstGeom prst="roundRect">
            <a:avLst>
              <a:gd name="adj" fmla="val 1363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78992" y="5202936"/>
            <a:ext cx="10040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demo existe para enseñar el flujo. La nota la define tu ejecución.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Evaluacion Parcial 1 · Consigna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tendrás que construir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tema es libre dentro de formatos comparables, pero la base técnica no es negociable.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49808" y="2066544"/>
            <a:ext cx="3291840" cy="4005072"/>
          </a:xfrm>
          <a:prstGeom prst="roundRect">
            <a:avLst>
              <a:gd name="adj" fmla="val 111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21214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Formatos permitidos</a:t>
            </a:r>
            <a:endParaRPr lang="en-US" sz="1720" dirty="0"/>
          </a:p>
        </p:txBody>
      </p:sp>
      <p:sp>
        <p:nvSpPr>
          <p:cNvPr id="12" name="Text 9"/>
          <p:cNvSpPr/>
          <p:nvPr/>
        </p:nvSpPr>
        <p:spPr>
          <a:xfrm>
            <a:off x="950976" y="263347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Puedes elegir un proyecto propio siempre que siga siendo comparable y se sienta como producto o servicio real.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932688" y="3072384"/>
            <a:ext cx="1115568" cy="292608"/>
          </a:xfrm>
          <a:prstGeom prst="roundRect">
            <a:avLst>
              <a:gd name="adj" fmla="val 156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3108960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Portafolio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2176272" y="3072384"/>
            <a:ext cx="1078992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49424" y="3108960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932688" y="3456432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349300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2139696" y="3456432"/>
            <a:ext cx="93268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212848" y="349300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932688" y="3840480"/>
            <a:ext cx="1243584" cy="292608"/>
          </a:xfrm>
          <a:prstGeom prst="roundRect">
            <a:avLst>
              <a:gd name="adj" fmla="val 156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5840" y="387705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o juego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2304288" y="3840480"/>
            <a:ext cx="1261872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377440" y="3877056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 ficticia</a:t>
            </a:r>
            <a:endParaRPr lang="en-US" sz="820" dirty="0"/>
          </a:p>
        </p:txBody>
      </p:sp>
      <p:sp>
        <p:nvSpPr>
          <p:cNvPr id="25" name="Shape 22"/>
          <p:cNvSpPr/>
          <p:nvPr/>
        </p:nvSpPr>
        <p:spPr>
          <a:xfrm>
            <a:off x="932688" y="4535424"/>
            <a:ext cx="2743200" cy="1115568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05840" y="4645152"/>
            <a:ext cx="100584" cy="8961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88720" y="4663440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 clave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1188720" y="4937760"/>
            <a:ext cx="2414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libre no significa trabajo ambiguo. Debe quedar claro qué vende, para quién y cuál es el CTA principal.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242816" y="2066544"/>
            <a:ext cx="7205472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370832" y="2194560"/>
            <a:ext cx="6949440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480560" y="2267712"/>
            <a:ext cx="6729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técnica mínima</a:t>
            </a:r>
            <a:endParaRPr lang="en-US" sz="980" dirty="0"/>
          </a:p>
        </p:txBody>
      </p:sp>
      <p:sp>
        <p:nvSpPr>
          <p:cNvPr id="32" name="Shape 29"/>
          <p:cNvSpPr/>
          <p:nvPr/>
        </p:nvSpPr>
        <p:spPr>
          <a:xfrm>
            <a:off x="4389120" y="2578608"/>
            <a:ext cx="3364992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498848" y="270662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498848" y="275234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</a:t>
            </a:r>
            <a:endParaRPr lang="en-US" sz="780" dirty="0"/>
          </a:p>
        </p:txBody>
      </p:sp>
      <p:sp>
        <p:nvSpPr>
          <p:cNvPr id="35" name="Shape 32"/>
          <p:cNvSpPr/>
          <p:nvPr/>
        </p:nvSpPr>
        <p:spPr>
          <a:xfrm>
            <a:off x="5010912" y="2706624"/>
            <a:ext cx="73152" cy="6766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212080" y="272491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Semántica real</a:t>
            </a:r>
            <a:endParaRPr lang="en-US" sz="1360" dirty="0"/>
          </a:p>
        </p:txBody>
      </p:sp>
      <p:sp>
        <p:nvSpPr>
          <p:cNvPr id="37" name="Text 34"/>
          <p:cNvSpPr/>
          <p:nvPr/>
        </p:nvSpPr>
        <p:spPr>
          <a:xfrm>
            <a:off x="5212080" y="3017520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Header, main, section, footer y headings con jerarquía razonable.</a:t>
            </a:r>
            <a:endParaRPr lang="en-US" sz="1060" dirty="0"/>
          </a:p>
        </p:txBody>
      </p:sp>
      <p:sp>
        <p:nvSpPr>
          <p:cNvPr id="38" name="Shape 35"/>
          <p:cNvSpPr/>
          <p:nvPr/>
        </p:nvSpPr>
        <p:spPr>
          <a:xfrm>
            <a:off x="7936992" y="2578608"/>
            <a:ext cx="3364992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046720" y="270662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046720" y="275234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</a:t>
            </a:r>
            <a:endParaRPr lang="en-US" sz="780" dirty="0"/>
          </a:p>
        </p:txBody>
      </p:sp>
      <p:sp>
        <p:nvSpPr>
          <p:cNvPr id="41" name="Shape 38"/>
          <p:cNvSpPr/>
          <p:nvPr/>
        </p:nvSpPr>
        <p:spPr>
          <a:xfrm>
            <a:off x="8558784" y="2706624"/>
            <a:ext cx="73152" cy="676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759952" y="272491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 visual</a:t>
            </a:r>
            <a:endParaRPr lang="en-US" sz="1360" dirty="0"/>
          </a:p>
        </p:txBody>
      </p:sp>
      <p:sp>
        <p:nvSpPr>
          <p:cNvPr id="43" name="Text 40"/>
          <p:cNvSpPr/>
          <p:nvPr/>
        </p:nvSpPr>
        <p:spPr>
          <a:xfrm>
            <a:off x="8759952" y="3017520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o tokens para color, spacing y radios en vez de repetir valores sueltos.</a:t>
            </a:r>
            <a:endParaRPr lang="en-US" sz="1060" dirty="0"/>
          </a:p>
        </p:txBody>
      </p:sp>
      <p:sp>
        <p:nvSpPr>
          <p:cNvPr id="44" name="Shape 41"/>
          <p:cNvSpPr/>
          <p:nvPr/>
        </p:nvSpPr>
        <p:spPr>
          <a:xfrm>
            <a:off x="4389120" y="3675888"/>
            <a:ext cx="3364992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498848" y="380390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498848" y="384962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Movil</a:t>
            </a:r>
            <a:endParaRPr lang="en-US" sz="780" dirty="0"/>
          </a:p>
        </p:txBody>
      </p:sp>
      <p:sp>
        <p:nvSpPr>
          <p:cNvPr id="47" name="Shape 44"/>
          <p:cNvSpPr/>
          <p:nvPr/>
        </p:nvSpPr>
        <p:spPr>
          <a:xfrm>
            <a:off x="5010912" y="3803904"/>
            <a:ext cx="73152" cy="6766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212080" y="382219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Responsive cuidado</a:t>
            </a:r>
            <a:endParaRPr lang="en-US" sz="1360" dirty="0"/>
          </a:p>
        </p:txBody>
      </p:sp>
      <p:sp>
        <p:nvSpPr>
          <p:cNvPr id="49" name="Text 46"/>
          <p:cNvSpPr/>
          <p:nvPr/>
        </p:nvSpPr>
        <p:spPr>
          <a:xfrm>
            <a:off x="5212080" y="4114800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página debe leerse bien en celular y no solo sobrevivir al achique.</a:t>
            </a:r>
            <a:endParaRPr lang="en-US" sz="1060" dirty="0"/>
          </a:p>
        </p:txBody>
      </p:sp>
      <p:sp>
        <p:nvSpPr>
          <p:cNvPr id="50" name="Shape 47"/>
          <p:cNvSpPr/>
          <p:nvPr/>
        </p:nvSpPr>
        <p:spPr>
          <a:xfrm>
            <a:off x="7936992" y="3675888"/>
            <a:ext cx="3364992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046720" y="380390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046720" y="384962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</a:t>
            </a:r>
            <a:endParaRPr lang="en-US" sz="780" dirty="0"/>
          </a:p>
        </p:txBody>
      </p:sp>
      <p:sp>
        <p:nvSpPr>
          <p:cNvPr id="53" name="Shape 50"/>
          <p:cNvSpPr/>
          <p:nvPr/>
        </p:nvSpPr>
        <p:spPr>
          <a:xfrm>
            <a:off x="8558784" y="3803904"/>
            <a:ext cx="73152" cy="676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759952" y="382219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interaccion visual</a:t>
            </a:r>
            <a:endParaRPr lang="en-US" sz="1360" dirty="0"/>
          </a:p>
        </p:txBody>
      </p:sp>
      <p:sp>
        <p:nvSpPr>
          <p:cNvPr id="55" name="Text 52"/>
          <p:cNvSpPr/>
          <p:nvPr/>
        </p:nvSpPr>
        <p:spPr>
          <a:xfrm>
            <a:off x="8759952" y="4114800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Hover, transición o animación suave si realmente mejora la interfaz.</a:t>
            </a:r>
            <a:endParaRPr lang="en-US" sz="1060" dirty="0"/>
          </a:p>
        </p:txBody>
      </p:sp>
      <p:sp>
        <p:nvSpPr>
          <p:cNvPr id="56" name="Shape 53"/>
          <p:cNvSpPr/>
          <p:nvPr/>
        </p:nvSpPr>
        <p:spPr>
          <a:xfrm>
            <a:off x="4389120" y="4773168"/>
            <a:ext cx="3364992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498848" y="49011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498848" y="49469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A11y</a:t>
            </a:r>
            <a:endParaRPr lang="en-US" sz="780" dirty="0"/>
          </a:p>
        </p:txBody>
      </p:sp>
      <p:sp>
        <p:nvSpPr>
          <p:cNvPr id="59" name="Shape 56"/>
          <p:cNvSpPr/>
          <p:nvPr/>
        </p:nvSpPr>
        <p:spPr>
          <a:xfrm>
            <a:off x="5010912" y="4901184"/>
            <a:ext cx="73152" cy="676656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212080" y="491947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Accesibilidad básica</a:t>
            </a:r>
            <a:endParaRPr lang="en-US" sz="1360" dirty="0"/>
          </a:p>
        </p:txBody>
      </p:sp>
      <p:sp>
        <p:nvSpPr>
          <p:cNvPr id="61" name="Text 58"/>
          <p:cNvSpPr/>
          <p:nvPr/>
        </p:nvSpPr>
        <p:spPr>
          <a:xfrm>
            <a:off x="5212080" y="5212080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Contraste, alt, label y una experiencia razonable de lectura y uso.</a:t>
            </a:r>
            <a:endParaRPr lang="en-US" sz="1060" dirty="0"/>
          </a:p>
        </p:txBody>
      </p:sp>
      <p:sp>
        <p:nvSpPr>
          <p:cNvPr id="62" name="Shape 59"/>
          <p:cNvSpPr/>
          <p:nvPr/>
        </p:nvSpPr>
        <p:spPr>
          <a:xfrm>
            <a:off x="7936992" y="4773168"/>
            <a:ext cx="3364992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8046720" y="4901184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8046720" y="4946904"/>
            <a:ext cx="4754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</a:t>
            </a:r>
            <a:endParaRPr lang="en-US" sz="780" dirty="0"/>
          </a:p>
        </p:txBody>
      </p:sp>
      <p:sp>
        <p:nvSpPr>
          <p:cNvPr id="65" name="Shape 62"/>
          <p:cNvSpPr/>
          <p:nvPr/>
        </p:nvSpPr>
        <p:spPr>
          <a:xfrm>
            <a:off x="8650224" y="4901184"/>
            <a:ext cx="73152" cy="6766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8851392" y="4919472"/>
            <a:ext cx="2322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Proyecto ordenado</a:t>
            </a:r>
            <a:endParaRPr lang="en-US" sz="1360" dirty="0"/>
          </a:p>
        </p:txBody>
      </p:sp>
      <p:sp>
        <p:nvSpPr>
          <p:cNvPr id="67" name="Text 64"/>
          <p:cNvSpPr/>
          <p:nvPr/>
        </p:nvSpPr>
        <p:spPr>
          <a:xfrm>
            <a:off x="8851392" y="521208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Archivos claros, estructura limpia y método de entrega entendible.</a:t>
            </a:r>
            <a:endParaRPr lang="en-US" sz="1060" dirty="0"/>
          </a:p>
        </p:txBody>
      </p:sp>
      <p:sp>
        <p:nvSpPr>
          <p:cNvPr id="68" name="Shape 65"/>
          <p:cNvSpPr/>
          <p:nvPr/>
        </p:nvSpPr>
        <p:spPr>
          <a:xfrm>
            <a:off x="4443984" y="5833872"/>
            <a:ext cx="6803136" cy="219456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4553712" y="5879592"/>
            <a:ext cx="6583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forma visual puede variar. La base técnica no.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Evaluacion Parcial 1 · Criterio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se evalúa realmente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nota no se define por una landing bonita aislada, sino por la calidad completa del trabajo.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49808" y="1975104"/>
            <a:ext cx="10735056" cy="4334256"/>
          </a:xfrm>
          <a:prstGeom prst="roundRect">
            <a:avLst>
              <a:gd name="adj" fmla="val 84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2103120"/>
            <a:ext cx="10479024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2176272"/>
            <a:ext cx="10259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Confusiones que conviene sacar de la cabeza antes de la prueba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896112" y="2523744"/>
            <a:ext cx="5120640" cy="1572768"/>
          </a:xfrm>
          <a:prstGeom prst="roundRect">
            <a:avLst>
              <a:gd name="adj" fmla="val 2326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87552" y="2633472"/>
            <a:ext cx="91440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33856" y="2651760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33856" y="2697480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1133856" y="2944368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se vea bonita basta</a:t>
            </a:r>
            <a:endParaRPr lang="en-US" sz="1380" dirty="0"/>
          </a:p>
        </p:txBody>
      </p:sp>
      <p:sp>
        <p:nvSpPr>
          <p:cNvPr id="18" name="Text 15"/>
          <p:cNvSpPr/>
          <p:nvPr/>
        </p:nvSpPr>
        <p:spPr>
          <a:xfrm>
            <a:off x="1133856" y="3328416"/>
            <a:ext cx="4773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evalúa estructura, responsive, sistema visual, accesibilidad y entrega.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6217920" y="2523744"/>
            <a:ext cx="5120640" cy="1572768"/>
          </a:xfrm>
          <a:prstGeom prst="roundRect">
            <a:avLst>
              <a:gd name="adj" fmla="val 2326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09360" y="2633472"/>
            <a:ext cx="91440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55664" y="2651760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55664" y="2697480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6455664" y="2944368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Copiar una referencia alcanza</a:t>
            </a:r>
            <a:endParaRPr lang="en-US" sz="1380" dirty="0"/>
          </a:p>
        </p:txBody>
      </p:sp>
      <p:sp>
        <p:nvSpPr>
          <p:cNvPr id="24" name="Text 21"/>
          <p:cNvSpPr/>
          <p:nvPr/>
        </p:nvSpPr>
        <p:spPr>
          <a:xfrm>
            <a:off x="6455664" y="3328416"/>
            <a:ext cx="4773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Inspirarse sirve. Copiar sin entender baja criterio y se nota en la validación.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896112" y="4279392"/>
            <a:ext cx="5120640" cy="1572768"/>
          </a:xfrm>
          <a:prstGeom prst="roundRect">
            <a:avLst>
              <a:gd name="adj" fmla="val 2326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87552" y="4389120"/>
            <a:ext cx="91440" cy="13533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33856" y="440740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33856" y="445312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1133856" y="470001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Codex decide todo por mi</a:t>
            </a:r>
            <a:endParaRPr lang="en-US" sz="1380" dirty="0"/>
          </a:p>
        </p:txBody>
      </p:sp>
      <p:sp>
        <p:nvSpPr>
          <p:cNvPr id="30" name="Text 27"/>
          <p:cNvSpPr/>
          <p:nvPr/>
        </p:nvSpPr>
        <p:spPr>
          <a:xfrm>
            <a:off x="1133856" y="5084064"/>
            <a:ext cx="4773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acelera la base. La responsabilidad final sigue siendo revisar, corregir y entregar bien.</a:t>
            </a:r>
            <a:endParaRPr lang="en-US" sz="1040" dirty="0"/>
          </a:p>
        </p:txBody>
      </p:sp>
      <p:sp>
        <p:nvSpPr>
          <p:cNvPr id="31" name="Shape 28"/>
          <p:cNvSpPr/>
          <p:nvPr/>
        </p:nvSpPr>
        <p:spPr>
          <a:xfrm>
            <a:off x="6217920" y="4279392"/>
            <a:ext cx="5120640" cy="1572768"/>
          </a:xfrm>
          <a:prstGeom prst="roundRect">
            <a:avLst>
              <a:gd name="adj" fmla="val 2326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09360" y="4389120"/>
            <a:ext cx="91440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455664" y="440740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55664" y="445312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880" dirty="0"/>
          </a:p>
        </p:txBody>
      </p:sp>
      <p:sp>
        <p:nvSpPr>
          <p:cNvPr id="35" name="Text 32"/>
          <p:cNvSpPr/>
          <p:nvPr/>
        </p:nvSpPr>
        <p:spPr>
          <a:xfrm>
            <a:off x="6455664" y="470001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forma de entrega no importa</a:t>
            </a:r>
            <a:endParaRPr lang="en-US" sz="1380" dirty="0"/>
          </a:p>
        </p:txBody>
      </p:sp>
      <p:sp>
        <p:nvSpPr>
          <p:cNvPr id="36" name="Text 33"/>
          <p:cNvSpPr/>
          <p:nvPr/>
        </p:nvSpPr>
        <p:spPr>
          <a:xfrm>
            <a:off x="6455664" y="5084064"/>
            <a:ext cx="4773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GitHub, orden de archivos y limpieza del proyecto también forman parte de la nota.</a:t>
            </a:r>
            <a:endParaRPr lang="en-US" sz="1040" dirty="0"/>
          </a:p>
        </p:txBody>
      </p:sp>
      <p:sp>
        <p:nvSpPr>
          <p:cNvPr id="37" name="Shape 34"/>
          <p:cNvSpPr/>
          <p:nvPr/>
        </p:nvSpPr>
        <p:spPr>
          <a:xfrm>
            <a:off x="950976" y="5907024"/>
            <a:ext cx="10332720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60704" y="5952744"/>
            <a:ext cx="101132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página final importa, pero también importa cómo llegaste a ella.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Evaluacion Parcial 1 · Rubrica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Rubrica de evaluacion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herramienta esta al servicio de estos criterios; la nota no se decide por la herramienta.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68096" y="1920240"/>
            <a:ext cx="10680192" cy="4480560"/>
          </a:xfrm>
          <a:prstGeom prst="roundRect">
            <a:avLst>
              <a:gd name="adj" fmla="val 81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048256"/>
            <a:ext cx="10424160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2121408"/>
            <a:ext cx="10204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Rúbrica de evaluación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14400" y="2487168"/>
            <a:ext cx="10387584" cy="402336"/>
          </a:xfrm>
          <a:prstGeom prst="roundRect">
            <a:avLst>
              <a:gd name="adj" fmla="val 9091"/>
            </a:avLst>
          </a:prstGeom>
          <a:solidFill>
            <a:srgbClr val="F8F3EC"/>
          </a:solidFill>
          <a:ln w="12700">
            <a:solidFill>
              <a:srgbClr val="F8F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2416" y="2587752"/>
            <a:ext cx="9198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pesa más en la nota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0259568" y="2560320"/>
            <a:ext cx="896112" cy="219456"/>
          </a:xfrm>
          <a:prstGeom prst="roundRect">
            <a:avLst>
              <a:gd name="adj" fmla="val 125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332720" y="2615184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pts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914400" y="2852928"/>
            <a:ext cx="10387584" cy="384048"/>
          </a:xfrm>
          <a:prstGeom prst="roundRect">
            <a:avLst>
              <a:gd name="adj" fmla="val 95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4400" y="2852928"/>
            <a:ext cx="73152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60704" y="2953512"/>
            <a:ext cx="346667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 y semantica</a:t>
            </a:r>
            <a:endParaRPr lang="en-US" sz="1060" dirty="0"/>
          </a:p>
        </p:txBody>
      </p:sp>
      <p:sp>
        <p:nvSpPr>
          <p:cNvPr id="20" name="Shape 17"/>
          <p:cNvSpPr/>
          <p:nvPr/>
        </p:nvSpPr>
        <p:spPr>
          <a:xfrm>
            <a:off x="10497312" y="2944368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552176" y="2999232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4710257" y="2953512"/>
            <a:ext cx="54212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legible, jerarquia clara y uso correcto de tags principales.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1005840" y="3090672"/>
            <a:ext cx="9308592" cy="5486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05840" y="3090672"/>
            <a:ext cx="9308592" cy="54864"/>
          </a:xfrm>
          <a:prstGeom prst="roundRect">
            <a:avLst>
              <a:gd name="adj" fmla="val 333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14400" y="3346704"/>
            <a:ext cx="10387584" cy="384048"/>
          </a:xfrm>
          <a:prstGeom prst="roundRect">
            <a:avLst>
              <a:gd name="adj" fmla="val 95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14400" y="3346704"/>
            <a:ext cx="73152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3447288"/>
            <a:ext cx="346667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 y sistema visual</a:t>
            </a:r>
            <a:endParaRPr lang="en-US" sz="1060" dirty="0"/>
          </a:p>
        </p:txBody>
      </p:sp>
      <p:sp>
        <p:nvSpPr>
          <p:cNvPr id="28" name="Shape 25"/>
          <p:cNvSpPr/>
          <p:nvPr/>
        </p:nvSpPr>
        <p:spPr>
          <a:xfrm>
            <a:off x="10497312" y="3438144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552176" y="3493008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740" dirty="0"/>
          </a:p>
        </p:txBody>
      </p:sp>
      <p:sp>
        <p:nvSpPr>
          <p:cNvPr id="30" name="Text 27"/>
          <p:cNvSpPr/>
          <p:nvPr/>
        </p:nvSpPr>
        <p:spPr>
          <a:xfrm>
            <a:off x="4710257" y="3447288"/>
            <a:ext cx="54212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Tokens, spacing, consistencia, superficie y jerarquia visual bien resueltas.</a:t>
            </a:r>
            <a:endParaRPr lang="en-US" sz="720" dirty="0"/>
          </a:p>
        </p:txBody>
      </p:sp>
      <p:sp>
        <p:nvSpPr>
          <p:cNvPr id="31" name="Shape 28"/>
          <p:cNvSpPr/>
          <p:nvPr/>
        </p:nvSpPr>
        <p:spPr>
          <a:xfrm>
            <a:off x="1005840" y="3584448"/>
            <a:ext cx="9308592" cy="5486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05840" y="3584448"/>
            <a:ext cx="9308592" cy="54864"/>
          </a:xfrm>
          <a:prstGeom prst="roundRect">
            <a:avLst>
              <a:gd name="adj" fmla="val 3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14400" y="3840480"/>
            <a:ext cx="10387584" cy="384048"/>
          </a:xfrm>
          <a:prstGeom prst="roundRect">
            <a:avLst>
              <a:gd name="adj" fmla="val 952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14400" y="3840480"/>
            <a:ext cx="73152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60704" y="3941064"/>
            <a:ext cx="346667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Responsive y version movil</a:t>
            </a:r>
            <a:endParaRPr lang="en-US" sz="1060" dirty="0"/>
          </a:p>
        </p:txBody>
      </p:sp>
      <p:sp>
        <p:nvSpPr>
          <p:cNvPr id="36" name="Shape 33"/>
          <p:cNvSpPr/>
          <p:nvPr/>
        </p:nvSpPr>
        <p:spPr>
          <a:xfrm>
            <a:off x="10497312" y="3931920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552176" y="3986784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740" dirty="0"/>
          </a:p>
        </p:txBody>
      </p:sp>
      <p:sp>
        <p:nvSpPr>
          <p:cNvPr id="38" name="Text 35"/>
          <p:cNvSpPr/>
          <p:nvPr/>
        </p:nvSpPr>
        <p:spPr>
          <a:xfrm>
            <a:off x="4710257" y="3941064"/>
            <a:ext cx="54212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lectura en celular sigue firme y no parece una adaptacion improvisada.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1005840" y="4078224"/>
            <a:ext cx="9308592" cy="5486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05840" y="4078224"/>
            <a:ext cx="9308592" cy="54864"/>
          </a:xfrm>
          <a:prstGeom prst="roundRect">
            <a:avLst>
              <a:gd name="adj" fmla="val 333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14400" y="4334256"/>
            <a:ext cx="10387584" cy="384048"/>
          </a:xfrm>
          <a:prstGeom prst="roundRect">
            <a:avLst>
              <a:gd name="adj" fmla="val 952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14400" y="4334256"/>
            <a:ext cx="73152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60704" y="4434840"/>
            <a:ext cx="346667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Calidad visual general</a:t>
            </a:r>
            <a:endParaRPr lang="en-US" sz="1060" dirty="0"/>
          </a:p>
        </p:txBody>
      </p:sp>
      <p:sp>
        <p:nvSpPr>
          <p:cNvPr id="44" name="Shape 41"/>
          <p:cNvSpPr/>
          <p:nvPr/>
        </p:nvSpPr>
        <p:spPr>
          <a:xfrm>
            <a:off x="10497312" y="4425696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552176" y="4480560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740" dirty="0"/>
          </a:p>
        </p:txBody>
      </p:sp>
      <p:sp>
        <p:nvSpPr>
          <p:cNvPr id="46" name="Text 43"/>
          <p:cNvSpPr/>
          <p:nvPr/>
        </p:nvSpPr>
        <p:spPr>
          <a:xfrm>
            <a:off x="4710257" y="4434840"/>
            <a:ext cx="54212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sentirse como producto real y no como tarea escolar disfrazada.</a:t>
            </a:r>
            <a:endParaRPr lang="en-US" sz="720" dirty="0"/>
          </a:p>
        </p:txBody>
      </p:sp>
      <p:sp>
        <p:nvSpPr>
          <p:cNvPr id="47" name="Shape 44"/>
          <p:cNvSpPr/>
          <p:nvPr/>
        </p:nvSpPr>
        <p:spPr>
          <a:xfrm>
            <a:off x="1005840" y="4572000"/>
            <a:ext cx="9308592" cy="5486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005840" y="4572000"/>
            <a:ext cx="6981444" cy="54864"/>
          </a:xfrm>
          <a:prstGeom prst="roundRect">
            <a:avLst>
              <a:gd name="adj" fmla="val 3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914400" y="4828032"/>
            <a:ext cx="10387584" cy="384048"/>
          </a:xfrm>
          <a:prstGeom prst="roundRect">
            <a:avLst>
              <a:gd name="adj" fmla="val 9524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914400" y="4828032"/>
            <a:ext cx="73152" cy="38404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60704" y="4928616"/>
            <a:ext cx="346667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Accesibilidad basica</a:t>
            </a:r>
            <a:endParaRPr lang="en-US" sz="1060" dirty="0"/>
          </a:p>
        </p:txBody>
      </p:sp>
      <p:sp>
        <p:nvSpPr>
          <p:cNvPr id="52" name="Shape 49"/>
          <p:cNvSpPr/>
          <p:nvPr/>
        </p:nvSpPr>
        <p:spPr>
          <a:xfrm>
            <a:off x="10497312" y="4919472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0552176" y="4974336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740" dirty="0"/>
          </a:p>
        </p:txBody>
      </p:sp>
      <p:sp>
        <p:nvSpPr>
          <p:cNvPr id="54" name="Text 51"/>
          <p:cNvSpPr/>
          <p:nvPr/>
        </p:nvSpPr>
        <p:spPr>
          <a:xfrm>
            <a:off x="4710257" y="4928616"/>
            <a:ext cx="54212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Contraste, alt, label y claridad de uso minimos pero reales.</a:t>
            </a:r>
            <a:endParaRPr lang="en-US" sz="720" dirty="0"/>
          </a:p>
        </p:txBody>
      </p:sp>
      <p:sp>
        <p:nvSpPr>
          <p:cNvPr id="55" name="Shape 52"/>
          <p:cNvSpPr/>
          <p:nvPr/>
        </p:nvSpPr>
        <p:spPr>
          <a:xfrm>
            <a:off x="1005840" y="5065776"/>
            <a:ext cx="9308592" cy="5486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005840" y="5065776"/>
            <a:ext cx="4654296" cy="54864"/>
          </a:xfrm>
          <a:prstGeom prst="roundRect">
            <a:avLst>
              <a:gd name="adj" fmla="val 33333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14400" y="5321808"/>
            <a:ext cx="10387584" cy="384048"/>
          </a:xfrm>
          <a:prstGeom prst="roundRect">
            <a:avLst>
              <a:gd name="adj" fmla="val 95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914400" y="5321808"/>
            <a:ext cx="73152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060704" y="5422392"/>
            <a:ext cx="346667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Uso de Codex con criterio</a:t>
            </a:r>
            <a:endParaRPr lang="en-US" sz="1060" dirty="0"/>
          </a:p>
        </p:txBody>
      </p:sp>
      <p:sp>
        <p:nvSpPr>
          <p:cNvPr id="60" name="Shape 57"/>
          <p:cNvSpPr/>
          <p:nvPr/>
        </p:nvSpPr>
        <p:spPr>
          <a:xfrm>
            <a:off x="10497312" y="5413248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0552176" y="5468112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740" dirty="0"/>
          </a:p>
        </p:txBody>
      </p:sp>
      <p:sp>
        <p:nvSpPr>
          <p:cNvPr id="62" name="Text 59"/>
          <p:cNvSpPr/>
          <p:nvPr/>
        </p:nvSpPr>
        <p:spPr>
          <a:xfrm>
            <a:off x="4710257" y="5422392"/>
            <a:ext cx="54212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Buen contexto, buena iteracion y validacion humana visible.</a:t>
            </a:r>
            <a:endParaRPr lang="en-US" sz="720" dirty="0"/>
          </a:p>
        </p:txBody>
      </p:sp>
      <p:sp>
        <p:nvSpPr>
          <p:cNvPr id="63" name="Shape 60"/>
          <p:cNvSpPr/>
          <p:nvPr/>
        </p:nvSpPr>
        <p:spPr>
          <a:xfrm>
            <a:off x="1005840" y="5559552"/>
            <a:ext cx="9308592" cy="5486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005840" y="5559552"/>
            <a:ext cx="4654296" cy="54864"/>
          </a:xfrm>
          <a:prstGeom prst="roundRect">
            <a:avLst>
              <a:gd name="adj" fmla="val 333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914400" y="5815584"/>
            <a:ext cx="10387584" cy="384048"/>
          </a:xfrm>
          <a:prstGeom prst="roundRect">
            <a:avLst>
              <a:gd name="adj" fmla="val 9524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914400" y="5815584"/>
            <a:ext cx="73152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060704" y="5916168"/>
            <a:ext cx="346667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Orden y entrega</a:t>
            </a:r>
            <a:endParaRPr lang="en-US" sz="1060" dirty="0"/>
          </a:p>
        </p:txBody>
      </p:sp>
      <p:sp>
        <p:nvSpPr>
          <p:cNvPr id="68" name="Shape 65"/>
          <p:cNvSpPr/>
          <p:nvPr/>
        </p:nvSpPr>
        <p:spPr>
          <a:xfrm>
            <a:off x="10497312" y="5907024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0552176" y="5961888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740" dirty="0"/>
          </a:p>
        </p:txBody>
      </p:sp>
      <p:sp>
        <p:nvSpPr>
          <p:cNvPr id="70" name="Text 67"/>
          <p:cNvSpPr/>
          <p:nvPr/>
        </p:nvSpPr>
        <p:spPr>
          <a:xfrm>
            <a:off x="4710257" y="5916168"/>
            <a:ext cx="54212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idealmente, o comprimido claro si no se puede versionar.</a:t>
            </a:r>
            <a:endParaRPr lang="en-US" sz="720" dirty="0"/>
          </a:p>
        </p:txBody>
      </p:sp>
      <p:sp>
        <p:nvSpPr>
          <p:cNvPr id="71" name="Shape 68"/>
          <p:cNvSpPr/>
          <p:nvPr/>
        </p:nvSpPr>
        <p:spPr>
          <a:xfrm>
            <a:off x="1005840" y="6053328"/>
            <a:ext cx="9308592" cy="5486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1005840" y="6053328"/>
            <a:ext cx="2327148" cy="54864"/>
          </a:xfrm>
          <a:prstGeom prst="roundRect">
            <a:avLst>
              <a:gd name="adj" fmla="val 333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950976" y="6236208"/>
            <a:ext cx="10314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entiendes esta rubrica, ya sabes que proteger durante toda la prueba.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Evaluacion Parcial 1 · Criterio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suma puntos y que baja puntos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premia orden, criterio y realismo; castiga improvisacion visible y entrega floja.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68096" y="1920240"/>
            <a:ext cx="10680192" cy="4443984"/>
          </a:xfrm>
          <a:prstGeom prst="roundRect">
            <a:avLst>
              <a:gd name="adj" fmla="val 82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048256"/>
            <a:ext cx="10424160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2121408"/>
            <a:ext cx="10204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suma puntos y qué baja puntos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14400" y="2487168"/>
            <a:ext cx="5111496" cy="3438144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" y="2487168"/>
            <a:ext cx="73152" cy="34381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78992" y="2633472"/>
            <a:ext cx="4800600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70432" y="2706624"/>
            <a:ext cx="4617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Suma puntos</a:t>
            </a:r>
            <a:endParaRPr lang="en-US" sz="1180" dirty="0"/>
          </a:p>
        </p:txBody>
      </p:sp>
      <p:sp>
        <p:nvSpPr>
          <p:cNvPr id="17" name="Text 14"/>
          <p:cNvSpPr/>
          <p:nvPr/>
        </p:nvSpPr>
        <p:spPr>
          <a:xfrm>
            <a:off x="1115568" y="3017520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Refuerza estructura, claridad y forma de trabajo.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1078992" y="3328416"/>
            <a:ext cx="4800600" cy="534924"/>
          </a:xfrm>
          <a:prstGeom prst="roundRect">
            <a:avLst>
              <a:gd name="adj" fmla="val 683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78992" y="3328416"/>
            <a:ext cx="73152" cy="5349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07008" y="3419856"/>
            <a:ext cx="4636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 semantico real</a:t>
            </a:r>
            <a:endParaRPr lang="en-US" sz="1060" dirty="0"/>
          </a:p>
        </p:txBody>
      </p:sp>
      <p:sp>
        <p:nvSpPr>
          <p:cNvPr id="21" name="Text 18"/>
          <p:cNvSpPr/>
          <p:nvPr/>
        </p:nvSpPr>
        <p:spPr>
          <a:xfrm>
            <a:off x="1207008" y="3602736"/>
            <a:ext cx="463600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resolver todo con divs; la estructura tiene que decir algo del documento.</a:t>
            </a:r>
            <a:endParaRPr lang="en-US" sz="760" dirty="0"/>
          </a:p>
        </p:txBody>
      </p:sp>
      <p:sp>
        <p:nvSpPr>
          <p:cNvPr id="22" name="Shape 19"/>
          <p:cNvSpPr/>
          <p:nvPr/>
        </p:nvSpPr>
        <p:spPr>
          <a:xfrm>
            <a:off x="1078992" y="3973068"/>
            <a:ext cx="4800600" cy="534924"/>
          </a:xfrm>
          <a:prstGeom prst="roundRect">
            <a:avLst>
              <a:gd name="adj" fmla="val 683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78992" y="3973068"/>
            <a:ext cx="73152" cy="5349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07008" y="4064508"/>
            <a:ext cx="4636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Tokens y consistencia</a:t>
            </a:r>
            <a:endParaRPr lang="en-US" sz="1060" dirty="0"/>
          </a:p>
        </p:txBody>
      </p:sp>
      <p:sp>
        <p:nvSpPr>
          <p:cNvPr id="25" name="Text 22"/>
          <p:cNvSpPr/>
          <p:nvPr/>
        </p:nvSpPr>
        <p:spPr>
          <a:xfrm>
            <a:off x="1207008" y="4247388"/>
            <a:ext cx="463600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para color, spacing y radios muestran que ya piensas el CSS como sistema.</a:t>
            </a:r>
            <a:endParaRPr lang="en-US" sz="760" dirty="0"/>
          </a:p>
        </p:txBody>
      </p:sp>
      <p:sp>
        <p:nvSpPr>
          <p:cNvPr id="26" name="Shape 23"/>
          <p:cNvSpPr/>
          <p:nvPr/>
        </p:nvSpPr>
        <p:spPr>
          <a:xfrm>
            <a:off x="1078992" y="4617720"/>
            <a:ext cx="4800600" cy="534924"/>
          </a:xfrm>
          <a:prstGeom prst="roundRect">
            <a:avLst>
              <a:gd name="adj" fmla="val 6838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78992" y="4617720"/>
            <a:ext cx="73152" cy="534924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07008" y="4709160"/>
            <a:ext cx="4636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Responsive bien resuelto</a:t>
            </a:r>
            <a:endParaRPr lang="en-US" sz="1060" dirty="0"/>
          </a:p>
        </p:txBody>
      </p:sp>
      <p:sp>
        <p:nvSpPr>
          <p:cNvPr id="29" name="Text 26"/>
          <p:cNvSpPr/>
          <p:nvPr/>
        </p:nvSpPr>
        <p:spPr>
          <a:xfrm>
            <a:off x="1207008" y="4892040"/>
            <a:ext cx="463600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version movil cuidada sube mucho la percepcion de calidad.</a:t>
            </a:r>
            <a:endParaRPr lang="en-US" sz="760" dirty="0"/>
          </a:p>
        </p:txBody>
      </p:sp>
      <p:sp>
        <p:nvSpPr>
          <p:cNvPr id="30" name="Shape 27"/>
          <p:cNvSpPr/>
          <p:nvPr/>
        </p:nvSpPr>
        <p:spPr>
          <a:xfrm>
            <a:off x="1078992" y="5262372"/>
            <a:ext cx="4800600" cy="534924"/>
          </a:xfrm>
          <a:prstGeom prst="roundRect">
            <a:avLst>
              <a:gd name="adj" fmla="val 683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78992" y="5262372"/>
            <a:ext cx="73152" cy="5349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207008" y="5353812"/>
            <a:ext cx="4636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Entrega en GitHub</a:t>
            </a:r>
            <a:endParaRPr lang="en-US" sz="1060" dirty="0"/>
          </a:p>
        </p:txBody>
      </p:sp>
      <p:sp>
        <p:nvSpPr>
          <p:cNvPr id="33" name="Text 30"/>
          <p:cNvSpPr/>
          <p:nvPr/>
        </p:nvSpPr>
        <p:spPr>
          <a:xfrm>
            <a:off x="1207008" y="5536692"/>
            <a:ext cx="463600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repo claro hace ver el trabajo como algo mas profesional y trazable.</a:t>
            </a:r>
            <a:endParaRPr lang="en-US" sz="760" dirty="0"/>
          </a:p>
        </p:txBody>
      </p:sp>
      <p:sp>
        <p:nvSpPr>
          <p:cNvPr id="34" name="Shape 31"/>
          <p:cNvSpPr/>
          <p:nvPr/>
        </p:nvSpPr>
        <p:spPr>
          <a:xfrm>
            <a:off x="6190488" y="2487168"/>
            <a:ext cx="5111496" cy="3438144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190488" y="2487168"/>
            <a:ext cx="73152" cy="34381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355080" y="2633472"/>
            <a:ext cx="4800600" cy="310896"/>
          </a:xfrm>
          <a:prstGeom prst="roundRect">
            <a:avLst>
              <a:gd name="adj" fmla="val 88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46520" y="2706624"/>
            <a:ext cx="4617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Baja puntos</a:t>
            </a:r>
            <a:endParaRPr lang="en-US" sz="1180" dirty="0"/>
          </a:p>
        </p:txBody>
      </p:sp>
      <p:sp>
        <p:nvSpPr>
          <p:cNvPr id="38" name="Text 35"/>
          <p:cNvSpPr/>
          <p:nvPr/>
        </p:nvSpPr>
        <p:spPr>
          <a:xfrm>
            <a:off x="6391656" y="3017520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Rompe profesionalismo, claridad o metodo de entrega.</a:t>
            </a:r>
            <a:endParaRPr lang="en-US" sz="780" dirty="0"/>
          </a:p>
        </p:txBody>
      </p:sp>
      <p:sp>
        <p:nvSpPr>
          <p:cNvPr id="39" name="Shape 36"/>
          <p:cNvSpPr/>
          <p:nvPr/>
        </p:nvSpPr>
        <p:spPr>
          <a:xfrm>
            <a:off x="6355080" y="3328416"/>
            <a:ext cx="4800600" cy="534924"/>
          </a:xfrm>
          <a:prstGeom prst="roundRect">
            <a:avLst>
              <a:gd name="adj" fmla="val 683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355080" y="3328416"/>
            <a:ext cx="73152" cy="5349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483096" y="3419856"/>
            <a:ext cx="4636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Texto meta visible</a:t>
            </a:r>
            <a:endParaRPr lang="en-US" sz="1060" dirty="0"/>
          </a:p>
        </p:txBody>
      </p:sp>
      <p:sp>
        <p:nvSpPr>
          <p:cNvPr id="42" name="Text 39"/>
          <p:cNvSpPr/>
          <p:nvPr/>
        </p:nvSpPr>
        <p:spPr>
          <a:xfrm>
            <a:off x="6483096" y="3602736"/>
            <a:ext cx="463600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Nada de copy que diga ejemplo, demo, evaluacion o comentarios para el profe.</a:t>
            </a:r>
            <a:endParaRPr lang="en-US" sz="760" dirty="0"/>
          </a:p>
        </p:txBody>
      </p:sp>
      <p:sp>
        <p:nvSpPr>
          <p:cNvPr id="43" name="Shape 40"/>
          <p:cNvSpPr/>
          <p:nvPr/>
        </p:nvSpPr>
        <p:spPr>
          <a:xfrm>
            <a:off x="6355080" y="3973068"/>
            <a:ext cx="4800600" cy="534924"/>
          </a:xfrm>
          <a:prstGeom prst="roundRect">
            <a:avLst>
              <a:gd name="adj" fmla="val 683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355080" y="3973068"/>
            <a:ext cx="73152" cy="5349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83096" y="4064508"/>
            <a:ext cx="4636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UI generica o infantil</a:t>
            </a:r>
            <a:endParaRPr lang="en-US" sz="1060" dirty="0"/>
          </a:p>
        </p:txBody>
      </p:sp>
      <p:sp>
        <p:nvSpPr>
          <p:cNvPr id="46" name="Text 43"/>
          <p:cNvSpPr/>
          <p:nvPr/>
        </p:nvSpPr>
        <p:spPr>
          <a:xfrm>
            <a:off x="6483096" y="4247388"/>
            <a:ext cx="463600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parece juguete o template flojo, cae la nota de calidad visual.</a:t>
            </a:r>
            <a:endParaRPr lang="en-US" sz="760" dirty="0"/>
          </a:p>
        </p:txBody>
      </p:sp>
      <p:sp>
        <p:nvSpPr>
          <p:cNvPr id="47" name="Shape 44"/>
          <p:cNvSpPr/>
          <p:nvPr/>
        </p:nvSpPr>
        <p:spPr>
          <a:xfrm>
            <a:off x="6355080" y="4617720"/>
            <a:ext cx="4800600" cy="534924"/>
          </a:xfrm>
          <a:prstGeom prst="roundRect">
            <a:avLst>
              <a:gd name="adj" fmla="val 683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355080" y="4617720"/>
            <a:ext cx="73152" cy="5349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483096" y="4709160"/>
            <a:ext cx="4636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Confiar ciegamente en Codex</a:t>
            </a:r>
            <a:endParaRPr lang="en-US" sz="1060" dirty="0"/>
          </a:p>
        </p:txBody>
      </p:sp>
      <p:sp>
        <p:nvSpPr>
          <p:cNvPr id="50" name="Text 47"/>
          <p:cNvSpPr/>
          <p:nvPr/>
        </p:nvSpPr>
        <p:spPr>
          <a:xfrm>
            <a:off x="6483096" y="4892040"/>
            <a:ext cx="463600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no validas semantica, responsive o accesibilidad, el error sigue siendo tuyo.</a:t>
            </a:r>
            <a:endParaRPr lang="en-US" sz="760" dirty="0"/>
          </a:p>
        </p:txBody>
      </p:sp>
      <p:sp>
        <p:nvSpPr>
          <p:cNvPr id="51" name="Shape 48"/>
          <p:cNvSpPr/>
          <p:nvPr/>
        </p:nvSpPr>
        <p:spPr>
          <a:xfrm>
            <a:off x="6355080" y="5262372"/>
            <a:ext cx="4800600" cy="534924"/>
          </a:xfrm>
          <a:prstGeom prst="roundRect">
            <a:avLst>
              <a:gd name="adj" fmla="val 683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355080" y="5262372"/>
            <a:ext cx="73152" cy="5349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483096" y="5353812"/>
            <a:ext cx="4636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Entrega desordenada</a:t>
            </a:r>
            <a:endParaRPr lang="en-US" sz="1060" dirty="0"/>
          </a:p>
        </p:txBody>
      </p:sp>
      <p:sp>
        <p:nvSpPr>
          <p:cNvPr id="54" name="Text 51"/>
          <p:cNvSpPr/>
          <p:nvPr/>
        </p:nvSpPr>
        <p:spPr>
          <a:xfrm>
            <a:off x="6483096" y="5536692"/>
            <a:ext cx="463600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Mandar archivos sueltos por WhatsApp o correo baja la parte de forma de trabajo.</a:t>
            </a:r>
            <a:endParaRPr lang="en-US" sz="760" dirty="0"/>
          </a:p>
        </p:txBody>
      </p:sp>
      <p:sp>
        <p:nvSpPr>
          <p:cNvPr id="55" name="Text 52"/>
          <p:cNvSpPr/>
          <p:nvPr/>
        </p:nvSpPr>
        <p:spPr>
          <a:xfrm>
            <a:off x="950976" y="6199632"/>
            <a:ext cx="10314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todo lo vistoso suma. Suma lo que mejora claridad, realismo y control del trabajo.</a:t>
            </a:r>
            <a:endParaRPr lang="en-US" sz="8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Evaluacion Parcial 1 · Calidad visual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hace que una pagina se vea profesional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meta no es hacer algo ruidoso; es construir una interfaz creible y del mundo real.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68096" y="1956816"/>
            <a:ext cx="6675120" cy="4224528"/>
          </a:xfrm>
          <a:prstGeom prst="roundRect">
            <a:avLst>
              <a:gd name="adj" fmla="val 86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084832"/>
            <a:ext cx="6419088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2157984"/>
            <a:ext cx="6199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Senales minimas de seriedad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14400" y="2468880"/>
            <a:ext cx="3099816" cy="1517904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24128" y="259689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24128" y="264261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36192" y="2596896"/>
            <a:ext cx="73152" cy="12618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37360" y="261518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entiende rapido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37360" y="2907792"/>
            <a:ext cx="2148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usuario sabe que hace el servicio y que gana si avanza.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4197096" y="2468880"/>
            <a:ext cx="3099816" cy="1517904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06824" y="259689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06824" y="264261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4818888" y="2596896"/>
            <a:ext cx="73152" cy="12618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0056" y="261518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Jerarquia controlada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5020056" y="2907792"/>
            <a:ext cx="2148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Titular, subtitulo, CTA y bloques secundarios no compiten entre si.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14400" y="4151376"/>
            <a:ext cx="3099816" cy="1517904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24128" y="427939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24128" y="432511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Movil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36192" y="4279392"/>
            <a:ext cx="73152" cy="12618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37360" y="42976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 cuidada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37360" y="4590288"/>
            <a:ext cx="2148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celular sigue pareciendo una interfaz diseñada, no una maqueta apretada.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4197096" y="4151376"/>
            <a:ext cx="3099816" cy="1517904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306824" y="4279392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306824" y="4325112"/>
            <a:ext cx="4754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4910328" y="4279392"/>
            <a:ext cx="73152" cy="126187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111496" y="42976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Componentes con peso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5111496" y="4590288"/>
            <a:ext cx="2057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Botones, cards y bloques deben sentirse parte de un mismo producto.</a:t>
            </a:r>
            <a:endParaRPr lang="en-US" sz="1060" dirty="0"/>
          </a:p>
        </p:txBody>
      </p:sp>
      <p:sp>
        <p:nvSpPr>
          <p:cNvPr id="37" name="Shape 34"/>
          <p:cNvSpPr/>
          <p:nvPr/>
        </p:nvSpPr>
        <p:spPr>
          <a:xfrm>
            <a:off x="969264" y="5797296"/>
            <a:ext cx="6272784" cy="219456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78992" y="5843016"/>
            <a:ext cx="6053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ve profesional cuando transmite claridad y control, no cuando agrega adorno porque si.</a:t>
            </a:r>
            <a:endParaRPr lang="en-US" sz="880" dirty="0"/>
          </a:p>
        </p:txBody>
      </p:sp>
      <p:sp>
        <p:nvSpPr>
          <p:cNvPr id="39" name="Shape 36"/>
          <p:cNvSpPr/>
          <p:nvPr/>
        </p:nvSpPr>
        <p:spPr>
          <a:xfrm>
            <a:off x="7699248" y="2029968"/>
            <a:ext cx="3145536" cy="1115568"/>
          </a:xfrm>
          <a:prstGeom prst="roundRect">
            <a:avLst>
              <a:gd name="adj" fmla="val 2459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772400" y="2139696"/>
            <a:ext cx="100584" cy="8961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955280" y="2157984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deberia parecer</a:t>
            </a:r>
            <a:endParaRPr lang="en-US" sz="1250" dirty="0"/>
          </a:p>
        </p:txBody>
      </p:sp>
      <p:sp>
        <p:nvSpPr>
          <p:cNvPr id="42" name="Text 39"/>
          <p:cNvSpPr/>
          <p:nvPr/>
        </p:nvSpPr>
        <p:spPr>
          <a:xfrm>
            <a:off x="7955280" y="2432304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tarea escolar disfrazada de landing, una demo generica o un template sin criterio.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7699248" y="3346704"/>
            <a:ext cx="3145536" cy="1115568"/>
          </a:xfrm>
          <a:prstGeom prst="roundRect">
            <a:avLst>
              <a:gd name="adj" fmla="val 2459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772400" y="3456432"/>
            <a:ext cx="100584" cy="8961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955280" y="3474720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deberia parecer</a:t>
            </a:r>
            <a:endParaRPr lang="en-US" sz="1250" dirty="0"/>
          </a:p>
        </p:txBody>
      </p:sp>
      <p:sp>
        <p:nvSpPr>
          <p:cNvPr id="46" name="Text 43"/>
          <p:cNvSpPr/>
          <p:nvPr/>
        </p:nvSpPr>
        <p:spPr>
          <a:xfrm>
            <a:off x="7955280" y="3749040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servicio real o un producto plausible que podrias mostrar sin vergüenza como trabajo serio.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7680960" y="4882896"/>
            <a:ext cx="3182112" cy="621792"/>
          </a:xfrm>
          <a:prstGeom prst="roundRect">
            <a:avLst>
              <a:gd name="adj" fmla="val 588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882128" y="5047488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Menos ruido. Mas propuesta de valor, jerarquia y version movil cuidada.</a:t>
            </a:r>
            <a:endParaRPr lang="en-US" sz="14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Evaluacion Parcial 1 · Flujo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recomendado de trabajo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forma mas estable de usar Codex no parte pidiendo codigo: parte aclarando el proyecto.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49808" y="1993392"/>
            <a:ext cx="10716768" cy="3255264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2121408"/>
            <a:ext cx="10460736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219456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idea vaga a entrega ordenada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896112" y="2706624"/>
            <a:ext cx="1410789" cy="2048256"/>
          </a:xfrm>
          <a:prstGeom prst="roundRect">
            <a:avLst>
              <a:gd name="adj" fmla="val 259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96112" y="2706624"/>
            <a:ext cx="73152" cy="20482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42416" y="2834640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78992" y="288036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1042416" y="3145536"/>
            <a:ext cx="12096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Brief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1005840" y="4480560"/>
            <a:ext cx="1227909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42416" y="4526280"/>
            <a:ext cx="1154757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encargo</a:t>
            </a:r>
            <a:endParaRPr lang="en-US" sz="660" dirty="0"/>
          </a:p>
        </p:txBody>
      </p:sp>
      <p:sp>
        <p:nvSpPr>
          <p:cNvPr id="20" name="Shape 17"/>
          <p:cNvSpPr/>
          <p:nvPr/>
        </p:nvSpPr>
        <p:spPr>
          <a:xfrm>
            <a:off x="2306901" y="3602736"/>
            <a:ext cx="91440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398341" y="2706624"/>
            <a:ext cx="1410789" cy="2048256"/>
          </a:xfrm>
          <a:prstGeom prst="roundRect">
            <a:avLst>
              <a:gd name="adj" fmla="val 259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398341" y="2706624"/>
            <a:ext cx="73152" cy="20482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44645" y="2834640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581221" y="288036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2544645" y="3145536"/>
            <a:ext cx="12096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2508069" y="4480560"/>
            <a:ext cx="1227909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544645" y="4526280"/>
            <a:ext cx="1154757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660" dirty="0"/>
          </a:p>
        </p:txBody>
      </p:sp>
      <p:sp>
        <p:nvSpPr>
          <p:cNvPr id="28" name="Shape 25"/>
          <p:cNvSpPr/>
          <p:nvPr/>
        </p:nvSpPr>
        <p:spPr>
          <a:xfrm>
            <a:off x="3809129" y="3602736"/>
            <a:ext cx="91440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900569" y="2706624"/>
            <a:ext cx="1410789" cy="2048256"/>
          </a:xfrm>
          <a:prstGeom prst="roundRect">
            <a:avLst>
              <a:gd name="adj" fmla="val 259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900569" y="2706624"/>
            <a:ext cx="73152" cy="20482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046873" y="2834640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083449" y="288036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4046873" y="3145536"/>
            <a:ext cx="12096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</a:t>
            </a:r>
            <a:endParaRPr lang="en-US" sz="920" dirty="0"/>
          </a:p>
        </p:txBody>
      </p:sp>
      <p:sp>
        <p:nvSpPr>
          <p:cNvPr id="34" name="Shape 31"/>
          <p:cNvSpPr/>
          <p:nvPr/>
        </p:nvSpPr>
        <p:spPr>
          <a:xfrm>
            <a:off x="4010297" y="4480560"/>
            <a:ext cx="1227909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046873" y="4526280"/>
            <a:ext cx="1154757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ui/ux</a:t>
            </a:r>
            <a:endParaRPr lang="en-US" sz="660" dirty="0"/>
          </a:p>
        </p:txBody>
      </p:sp>
      <p:sp>
        <p:nvSpPr>
          <p:cNvPr id="36" name="Shape 33"/>
          <p:cNvSpPr/>
          <p:nvPr/>
        </p:nvSpPr>
        <p:spPr>
          <a:xfrm>
            <a:off x="5311358" y="3602736"/>
            <a:ext cx="91440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402798" y="2706624"/>
            <a:ext cx="1410789" cy="2048256"/>
          </a:xfrm>
          <a:prstGeom prst="roundRect">
            <a:avLst>
              <a:gd name="adj" fmla="val 259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402798" y="2706624"/>
            <a:ext cx="73152" cy="20482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549102" y="2834640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85678" y="288036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20" dirty="0"/>
          </a:p>
        </p:txBody>
      </p:sp>
      <p:sp>
        <p:nvSpPr>
          <p:cNvPr id="41" name="Text 38"/>
          <p:cNvSpPr/>
          <p:nvPr/>
        </p:nvSpPr>
        <p:spPr>
          <a:xfrm>
            <a:off x="5549102" y="3145536"/>
            <a:ext cx="12096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Agents</a:t>
            </a:r>
            <a:endParaRPr lang="en-US" sz="920" dirty="0"/>
          </a:p>
        </p:txBody>
      </p:sp>
      <p:sp>
        <p:nvSpPr>
          <p:cNvPr id="42" name="Shape 39"/>
          <p:cNvSpPr/>
          <p:nvPr/>
        </p:nvSpPr>
        <p:spPr>
          <a:xfrm>
            <a:off x="5512526" y="4480560"/>
            <a:ext cx="1227909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549102" y="4526280"/>
            <a:ext cx="1154757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</a:t>
            </a:r>
            <a:endParaRPr lang="en-US" sz="660" dirty="0"/>
          </a:p>
        </p:txBody>
      </p:sp>
      <p:sp>
        <p:nvSpPr>
          <p:cNvPr id="44" name="Shape 41"/>
          <p:cNvSpPr/>
          <p:nvPr/>
        </p:nvSpPr>
        <p:spPr>
          <a:xfrm>
            <a:off x="6813586" y="3602736"/>
            <a:ext cx="91440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905026" y="2706624"/>
            <a:ext cx="1410789" cy="2048256"/>
          </a:xfrm>
          <a:prstGeom prst="roundRect">
            <a:avLst>
              <a:gd name="adj" fmla="val 259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905026" y="2706624"/>
            <a:ext cx="73152" cy="20482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051330" y="2834640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087906" y="288036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7051330" y="3145536"/>
            <a:ext cx="12096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Implementación</a:t>
            </a:r>
            <a:endParaRPr lang="en-US" sz="920" dirty="0"/>
          </a:p>
        </p:txBody>
      </p:sp>
      <p:sp>
        <p:nvSpPr>
          <p:cNvPr id="50" name="Shape 47"/>
          <p:cNvSpPr/>
          <p:nvPr/>
        </p:nvSpPr>
        <p:spPr>
          <a:xfrm>
            <a:off x="7014754" y="4480560"/>
            <a:ext cx="1227909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051330" y="4526280"/>
            <a:ext cx="1154757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</a:t>
            </a:r>
            <a:endParaRPr lang="en-US" sz="660" dirty="0"/>
          </a:p>
        </p:txBody>
      </p:sp>
      <p:sp>
        <p:nvSpPr>
          <p:cNvPr id="52" name="Shape 49"/>
          <p:cNvSpPr/>
          <p:nvPr/>
        </p:nvSpPr>
        <p:spPr>
          <a:xfrm>
            <a:off x="8315815" y="3602736"/>
            <a:ext cx="91440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407255" y="2706624"/>
            <a:ext cx="1410789" cy="2048256"/>
          </a:xfrm>
          <a:prstGeom prst="roundRect">
            <a:avLst>
              <a:gd name="adj" fmla="val 2593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407255" y="2706624"/>
            <a:ext cx="73152" cy="2048256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553559" y="2834640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590135" y="288036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8553559" y="3145536"/>
            <a:ext cx="12096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</a:t>
            </a:r>
            <a:endParaRPr lang="en-US" sz="920" dirty="0"/>
          </a:p>
        </p:txBody>
      </p:sp>
      <p:sp>
        <p:nvSpPr>
          <p:cNvPr id="58" name="Shape 55"/>
          <p:cNvSpPr/>
          <p:nvPr/>
        </p:nvSpPr>
        <p:spPr>
          <a:xfrm>
            <a:off x="8516983" y="4480560"/>
            <a:ext cx="1227909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553559" y="4526280"/>
            <a:ext cx="1154757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navegador</a:t>
            </a:r>
            <a:endParaRPr lang="en-US" sz="660" dirty="0"/>
          </a:p>
        </p:txBody>
      </p:sp>
      <p:sp>
        <p:nvSpPr>
          <p:cNvPr id="60" name="Shape 57"/>
          <p:cNvSpPr/>
          <p:nvPr/>
        </p:nvSpPr>
        <p:spPr>
          <a:xfrm>
            <a:off x="9818043" y="3602736"/>
            <a:ext cx="91440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9909483" y="2706624"/>
            <a:ext cx="1410789" cy="2048256"/>
          </a:xfrm>
          <a:prstGeom prst="roundRect">
            <a:avLst>
              <a:gd name="adj" fmla="val 259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9909483" y="2706624"/>
            <a:ext cx="73152" cy="20482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0055787" y="2834640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10092363" y="288036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10055787" y="3145536"/>
            <a:ext cx="12096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Entrega</a:t>
            </a:r>
            <a:endParaRPr lang="en-US" sz="920" dirty="0"/>
          </a:p>
        </p:txBody>
      </p:sp>
      <p:sp>
        <p:nvSpPr>
          <p:cNvPr id="66" name="Shape 63"/>
          <p:cNvSpPr/>
          <p:nvPr/>
        </p:nvSpPr>
        <p:spPr>
          <a:xfrm>
            <a:off x="10019211" y="4480560"/>
            <a:ext cx="1227909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0055787" y="4526280"/>
            <a:ext cx="1154757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</a:t>
            </a:r>
            <a:endParaRPr lang="en-US" sz="660" dirty="0"/>
          </a:p>
        </p:txBody>
      </p:sp>
      <p:sp>
        <p:nvSpPr>
          <p:cNvPr id="68" name="Text 65"/>
          <p:cNvSpPr/>
          <p:nvPr/>
        </p:nvSpPr>
        <p:spPr>
          <a:xfrm>
            <a:off x="932688" y="5084064"/>
            <a:ext cx="10351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saltas directo a implementacion, Codex empieza a adivinar y la calidad cae.</a:t>
            </a:r>
            <a:endParaRPr lang="en-US" sz="840" dirty="0"/>
          </a:p>
        </p:txBody>
      </p:sp>
      <p:sp>
        <p:nvSpPr>
          <p:cNvPr id="69" name="Shape 66"/>
          <p:cNvSpPr/>
          <p:nvPr/>
        </p:nvSpPr>
        <p:spPr>
          <a:xfrm>
            <a:off x="1042416" y="5449824"/>
            <a:ext cx="10076688" cy="512064"/>
          </a:xfrm>
          <a:prstGeom prst="roundRect">
            <a:avLst>
              <a:gd name="adj" fmla="val 714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1243584" y="5614416"/>
            <a:ext cx="9674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Brief define el producto. Spec fija el alcance. Design ordena la experiencia. Agents gobierna al agente.</a:t>
            </a:r>
            <a:endParaRPr lang="en-US" sz="14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Evaluacion Parcial 1 · Artefactos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hace cada documento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son archivos decorativos: cada uno reduce ambigüedad en un nivel distinto del proyecto.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41248" y="1938528"/>
            <a:ext cx="4773168" cy="1389888"/>
          </a:xfrm>
          <a:prstGeom prst="roundRect">
            <a:avLst>
              <a:gd name="adj" fmla="val 2632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66544"/>
            <a:ext cx="109728" cy="11338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048256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BRIEF</a:t>
            </a:r>
            <a:endParaRPr lang="en-US" sz="1720" dirty="0"/>
          </a:p>
        </p:txBody>
      </p:sp>
      <p:sp>
        <p:nvSpPr>
          <p:cNvPr id="13" name="Text 10"/>
          <p:cNvSpPr/>
          <p:nvPr/>
        </p:nvSpPr>
        <p:spPr>
          <a:xfrm>
            <a:off x="1097280" y="2395728"/>
            <a:ext cx="4425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el negocio, el publico, el objetivo y el mensaje principal del sitio.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6163056" y="1938528"/>
            <a:ext cx="4773168" cy="1389888"/>
          </a:xfrm>
          <a:prstGeom prst="roundRect">
            <a:avLst>
              <a:gd name="adj" fmla="val 2632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54496" y="2066544"/>
            <a:ext cx="109728" cy="11338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19088" y="2048256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</a:t>
            </a:r>
            <a:endParaRPr lang="en-US" sz="1720" dirty="0"/>
          </a:p>
        </p:txBody>
      </p:sp>
      <p:sp>
        <p:nvSpPr>
          <p:cNvPr id="17" name="Text 14"/>
          <p:cNvSpPr/>
          <p:nvPr/>
        </p:nvSpPr>
        <p:spPr>
          <a:xfrm>
            <a:off x="6419088" y="2395728"/>
            <a:ext cx="4425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Fija secciones, restricciones tecnicas, responsive, accesibilidad y criterios de aceptacion.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41248" y="3675888"/>
            <a:ext cx="4773168" cy="1389888"/>
          </a:xfrm>
          <a:prstGeom prst="roundRect">
            <a:avLst>
              <a:gd name="adj" fmla="val 2632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32688" y="3803904"/>
            <a:ext cx="109728" cy="11338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97280" y="3785616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</a:t>
            </a:r>
            <a:endParaRPr lang="en-US" sz="1720" dirty="0"/>
          </a:p>
        </p:txBody>
      </p:sp>
      <p:sp>
        <p:nvSpPr>
          <p:cNvPr id="21" name="Text 18"/>
          <p:cNvSpPr/>
          <p:nvPr/>
        </p:nvSpPr>
        <p:spPr>
          <a:xfrm>
            <a:off x="1097280" y="4133088"/>
            <a:ext cx="4425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Baja el proyecto a decisiones de UI/UX: CTA, jerarquia, senales de confianza y experiencia movil.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6163056" y="3675888"/>
            <a:ext cx="4773168" cy="1389888"/>
          </a:xfrm>
          <a:prstGeom prst="roundRect">
            <a:avLst>
              <a:gd name="adj" fmla="val 2632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54496" y="3803904"/>
            <a:ext cx="109728" cy="11338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19088" y="3785616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AGENTS</a:t>
            </a:r>
            <a:endParaRPr lang="en-US" sz="1720" dirty="0"/>
          </a:p>
        </p:txBody>
      </p:sp>
      <p:sp>
        <p:nvSpPr>
          <p:cNvPr id="25" name="Text 22"/>
          <p:cNvSpPr/>
          <p:nvPr/>
        </p:nvSpPr>
        <p:spPr>
          <a:xfrm>
            <a:off x="6419088" y="4133088"/>
            <a:ext cx="4425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como debe trabajar Codex dentro de ese contexto y que no puede romper.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1042416" y="5468112"/>
            <a:ext cx="10076688" cy="530352"/>
          </a:xfrm>
          <a:prstGeom prst="roundRect">
            <a:avLst>
              <a:gd name="adj" fmla="val 689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243584" y="5632704"/>
            <a:ext cx="9674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Mientras mejor se separan intencion, alcance, experiencia y reglas, mejor trabaja el agente y menos improvisas tu.</a:t>
            </a:r>
            <a:endParaRPr lang="en-US" sz="14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Evaluacion Parcial 1 · Ejemplo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 real: paquete Nodo Web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Este es el caso resuelto que se mostrara como referencia para la prueba. No es un template para copiar sin pensar.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86384" y="1920240"/>
            <a:ext cx="4846320" cy="4352544"/>
          </a:xfrm>
          <a:prstGeom prst="roundRect">
            <a:avLst>
              <a:gd name="adj" fmla="val 84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2048256"/>
            <a:ext cx="4590288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4128" y="2121408"/>
            <a:ext cx="4370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Arbol minimo del ejemplo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743200"/>
            <a:ext cx="0" cy="49377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97280" y="2596896"/>
            <a:ext cx="1499616" cy="292608"/>
          </a:xfrm>
          <a:prstGeom prst="roundRect">
            <a:avLst>
              <a:gd name="adj" fmla="val 9375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88720" y="2670048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ejemplo-web</a:t>
            </a:r>
            <a:endParaRPr lang="en-US" sz="940" dirty="0"/>
          </a:p>
        </p:txBody>
      </p:sp>
      <p:sp>
        <p:nvSpPr>
          <p:cNvPr id="16" name="Text 13"/>
          <p:cNvSpPr/>
          <p:nvPr/>
        </p:nvSpPr>
        <p:spPr>
          <a:xfrm>
            <a:off x="2761488" y="2633472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paquete de referencia para explicar el flujo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1883664" y="3236976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883664" y="3236976"/>
            <a:ext cx="0" cy="49377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029968" y="3090672"/>
            <a:ext cx="1225296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121408" y="3163824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brief/</a:t>
            </a:r>
            <a:endParaRPr lang="en-US" sz="940" dirty="0"/>
          </a:p>
        </p:txBody>
      </p:sp>
      <p:sp>
        <p:nvSpPr>
          <p:cNvPr id="21" name="Text 18"/>
          <p:cNvSpPr/>
          <p:nvPr/>
        </p:nvSpPr>
        <p:spPr>
          <a:xfrm>
            <a:off x="3419856" y="312724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y objetivo del producto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2816352" y="3730752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962656" y="3584448"/>
            <a:ext cx="1499616" cy="292608"/>
          </a:xfrm>
          <a:prstGeom prst="roundRect">
            <a:avLst>
              <a:gd name="adj" fmla="val 9375"/>
            </a:avLst>
          </a:prstGeom>
          <a:solidFill>
            <a:srgbClr val="EDE6D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54096" y="3657600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BRIEF-EJEMPLO.md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4626864" y="362102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negocio, publico, mensaje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1883664" y="4224528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83664" y="4224528"/>
            <a:ext cx="0" cy="49377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029968" y="4078224"/>
            <a:ext cx="1133856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121408" y="4151376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spec/</a:t>
            </a:r>
            <a:endParaRPr lang="en-US" sz="940" dirty="0"/>
          </a:p>
        </p:txBody>
      </p:sp>
      <p:sp>
        <p:nvSpPr>
          <p:cNvPr id="30" name="Text 27"/>
          <p:cNvSpPr/>
          <p:nvPr/>
        </p:nvSpPr>
        <p:spPr>
          <a:xfrm>
            <a:off x="3328416" y="411480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 y restricciones tecnicas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2816352" y="4718304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962656" y="4572000"/>
            <a:ext cx="1316736" cy="292608"/>
          </a:xfrm>
          <a:prstGeom prst="roundRect">
            <a:avLst>
              <a:gd name="adj" fmla="val 9375"/>
            </a:avLst>
          </a:prstGeom>
          <a:solidFill>
            <a:srgbClr val="EDE6D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054096" y="4645152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SPEC.md</a:t>
            </a:r>
            <a:endParaRPr lang="en-US" sz="940" dirty="0"/>
          </a:p>
        </p:txBody>
      </p:sp>
      <p:sp>
        <p:nvSpPr>
          <p:cNvPr id="34" name="Text 31"/>
          <p:cNvSpPr/>
          <p:nvPr/>
        </p:nvSpPr>
        <p:spPr>
          <a:xfrm>
            <a:off x="4443984" y="460857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responsive, tokens, aceptacion</a:t>
            </a:r>
            <a:endParaRPr lang="en-US" sz="720" dirty="0"/>
          </a:p>
        </p:txBody>
      </p:sp>
      <p:sp>
        <p:nvSpPr>
          <p:cNvPr id="35" name="Shape 32"/>
          <p:cNvSpPr/>
          <p:nvPr/>
        </p:nvSpPr>
        <p:spPr>
          <a:xfrm>
            <a:off x="1883664" y="5212080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883664" y="5212080"/>
            <a:ext cx="0" cy="49377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029968" y="5065776"/>
            <a:ext cx="1316736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121408" y="5138928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design/</a:t>
            </a:r>
            <a:endParaRPr lang="en-US" sz="940" dirty="0"/>
          </a:p>
        </p:txBody>
      </p:sp>
      <p:sp>
        <p:nvSpPr>
          <p:cNvPr id="39" name="Text 36"/>
          <p:cNvSpPr/>
          <p:nvPr/>
        </p:nvSpPr>
        <p:spPr>
          <a:xfrm>
            <a:off x="3511296" y="510235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decisiones concretas de UI/UX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2816352" y="5705856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962656" y="5559552"/>
            <a:ext cx="1499616" cy="292608"/>
          </a:xfrm>
          <a:prstGeom prst="roundRect">
            <a:avLst>
              <a:gd name="adj" fmla="val 9375"/>
            </a:avLst>
          </a:prstGeom>
          <a:solidFill>
            <a:srgbClr val="EDE6D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054096" y="563270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DESIGN-EJEMPLO.md</a:t>
            </a:r>
            <a:endParaRPr lang="en-US" sz="940" dirty="0"/>
          </a:p>
        </p:txBody>
      </p:sp>
      <p:sp>
        <p:nvSpPr>
          <p:cNvPr id="43" name="Text 40"/>
          <p:cNvSpPr/>
          <p:nvPr/>
        </p:nvSpPr>
        <p:spPr>
          <a:xfrm>
            <a:off x="4626864" y="559612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jerarquia, CTA y señales premium</a:t>
            </a:r>
            <a:endParaRPr lang="en-US" sz="720" dirty="0"/>
          </a:p>
        </p:txBody>
      </p:sp>
      <p:sp>
        <p:nvSpPr>
          <p:cNvPr id="44" name="Shape 41"/>
          <p:cNvSpPr/>
          <p:nvPr/>
        </p:nvSpPr>
        <p:spPr>
          <a:xfrm>
            <a:off x="1883664" y="6199632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029968" y="6053328"/>
            <a:ext cx="1499616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121408" y="6126480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AGENTS-EJEMPLO.md</a:t>
            </a:r>
            <a:endParaRPr lang="en-US" sz="940" dirty="0"/>
          </a:p>
        </p:txBody>
      </p:sp>
      <p:sp>
        <p:nvSpPr>
          <p:cNvPr id="47" name="Text 44"/>
          <p:cNvSpPr/>
          <p:nvPr/>
        </p:nvSpPr>
        <p:spPr>
          <a:xfrm>
            <a:off x="3694176" y="608990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debe trabajar Codex</a:t>
            </a:r>
            <a:endParaRPr lang="en-US" sz="780" dirty="0"/>
          </a:p>
        </p:txBody>
      </p:sp>
      <p:sp>
        <p:nvSpPr>
          <p:cNvPr id="48" name="Shape 45"/>
          <p:cNvSpPr/>
          <p:nvPr/>
        </p:nvSpPr>
        <p:spPr>
          <a:xfrm>
            <a:off x="5907024" y="1993392"/>
            <a:ext cx="4901184" cy="1078992"/>
          </a:xfrm>
          <a:prstGeom prst="roundRect">
            <a:avLst>
              <a:gd name="adj" fmla="val 2542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980176" y="2103120"/>
            <a:ext cx="100584" cy="8595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163056" y="212140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se conectan</a:t>
            </a:r>
            <a:endParaRPr lang="en-US" sz="1250" dirty="0"/>
          </a:p>
        </p:txBody>
      </p:sp>
      <p:sp>
        <p:nvSpPr>
          <p:cNvPr id="51" name="Text 48"/>
          <p:cNvSpPr/>
          <p:nvPr/>
        </p:nvSpPr>
        <p:spPr>
          <a:xfrm>
            <a:off x="6163056" y="2395728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 dice que negocio es. Spec cierra limites. Design fija experiencia. Agents gobierna implementacion.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5907024" y="3273552"/>
            <a:ext cx="4901184" cy="1078992"/>
          </a:xfrm>
          <a:prstGeom prst="roundRect">
            <a:avLst>
              <a:gd name="adj" fmla="val 2542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980176" y="3383280"/>
            <a:ext cx="100584" cy="8595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163056" y="34015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protege este paquete</a:t>
            </a:r>
            <a:endParaRPr lang="en-US" sz="1250" dirty="0"/>
          </a:p>
        </p:txBody>
      </p:sp>
      <p:sp>
        <p:nvSpPr>
          <p:cNvPr id="55" name="Text 52"/>
          <p:cNvSpPr/>
          <p:nvPr/>
        </p:nvSpPr>
        <p:spPr>
          <a:xfrm>
            <a:off x="6163056" y="3675888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Codex no invente un sitio generico, ni meta texto pedagogico, ni baje la calidad visual por falta de contexto.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5907024" y="4553712"/>
            <a:ext cx="4901184" cy="1078992"/>
          </a:xfrm>
          <a:prstGeom prst="roundRect">
            <a:avLst>
              <a:gd name="adj" fmla="val 2542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980176" y="4663440"/>
            <a:ext cx="100584" cy="8595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163056" y="46817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usarlo bien</a:t>
            </a:r>
            <a:endParaRPr lang="en-US" sz="1250" dirty="0"/>
          </a:p>
        </p:txBody>
      </p:sp>
      <p:sp>
        <p:nvSpPr>
          <p:cNvPr id="59" name="Text 56"/>
          <p:cNvSpPr/>
          <p:nvPr/>
        </p:nvSpPr>
        <p:spPr>
          <a:xfrm>
            <a:off x="6163056" y="4956048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Miralo como modelo de flujo. Tu proyecto puede cambiar de tema, pero no deberia saltarse estas capas.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Evaluacion Parcial 1 · Codex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hace bien Codex y que no conviene delegar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ayuda a acelerar. La validacion final de calidad, semantica y experiencia sigue siendo tuya.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38528"/>
            <a:ext cx="10570464" cy="4096512"/>
          </a:xfrm>
          <a:prstGeom prst="roundRect">
            <a:avLst>
              <a:gd name="adj" fmla="val 89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66544"/>
            <a:ext cx="1031443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139696"/>
            <a:ext cx="10094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Apoyo del agente vs criterio del estudiante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05456"/>
            <a:ext cx="4279392" cy="3072384"/>
          </a:xfrm>
          <a:prstGeom prst="roundRect">
            <a:avLst>
              <a:gd name="adj" fmla="val 119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33472"/>
            <a:ext cx="109728" cy="2816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633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puede acelerar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077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util de trabajo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255264"/>
            <a:ext cx="382219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36956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0098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ordenar la estructura inicial del proyecto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657600"/>
            <a:ext cx="382219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771900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703320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proponer una primera version de HTML y CSS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059936"/>
            <a:ext cx="382219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17423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105656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refactorizar tokens y spacing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261872" y="4462272"/>
            <a:ext cx="382219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353312" y="457657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499616" y="4507992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variantes de hero, cards o cierre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949440" y="2505456"/>
            <a:ext cx="4279392" cy="3072384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059168" y="2633472"/>
            <a:ext cx="109728" cy="2816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260336" y="2633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conviene soltar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7260336" y="29077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Validacion obligatoria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7260336" y="3255264"/>
            <a:ext cx="382219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351776" y="336956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498080" y="330098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HTML realmente es semantico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7260336" y="3657600"/>
            <a:ext cx="382219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351776" y="377190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498080" y="3703320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version movil sigue leyendo bien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7260336" y="4059936"/>
            <a:ext cx="382219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351776" y="417423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498080" y="4105656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copy se siente profesional y no meta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7260336" y="4462272"/>
            <a:ext cx="382219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351776" y="457657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498080" y="4507992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pagina merece la nota que esperas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5486400" y="3227832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596128" y="3374136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669280" y="3794760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650992" y="341985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5614416" y="420624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propone primero. Tu decides si la solucion realmente sirve.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1005840" y="5632704"/>
            <a:ext cx="1016812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115568" y="5678424"/>
            <a:ext cx="9948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error mas comun es aceptar la primera salida sin abrir el navegador ni revisar la consigna.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Evaluacion Parcial 1 · Prompt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pedir una buena primera version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prompt util no pide magia: fija contexto, restricciones, tipo de pagina y estandar visual.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49808" y="1920240"/>
            <a:ext cx="10716768" cy="4425696"/>
          </a:xfrm>
          <a:prstGeom prst="roundRect">
            <a:avLst>
              <a:gd name="adj" fmla="val 8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2048256"/>
            <a:ext cx="10460736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2121408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Malo porque obliga a adivinar · util porque reduce ambigüedad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896112" y="2487168"/>
            <a:ext cx="5129784" cy="3419856"/>
          </a:xfrm>
          <a:prstGeom prst="roundRect">
            <a:avLst>
              <a:gd name="adj" fmla="val 107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96112" y="2487168"/>
            <a:ext cx="73152" cy="34198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60704" y="2633472"/>
            <a:ext cx="4818888" cy="310896"/>
          </a:xfrm>
          <a:prstGeom prst="roundRect">
            <a:avLst>
              <a:gd name="adj" fmla="val 88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52144" y="2706624"/>
            <a:ext cx="4636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flojo</a:t>
            </a:r>
            <a:endParaRPr lang="en-US" sz="1180" dirty="0"/>
          </a:p>
        </p:txBody>
      </p:sp>
      <p:sp>
        <p:nvSpPr>
          <p:cNvPr id="17" name="Text 14"/>
          <p:cNvSpPr/>
          <p:nvPr/>
        </p:nvSpPr>
        <p:spPr>
          <a:xfrm>
            <a:off x="1097280" y="3017520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Pide una página sin contexto ni criterio.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1060704" y="3273552"/>
            <a:ext cx="4818888" cy="932688"/>
          </a:xfrm>
          <a:prstGeom prst="roundRect">
            <a:avLst>
              <a:gd name="adj" fmla="val 39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70432" y="3383280"/>
            <a:ext cx="4599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Hazme una landing moderna y bonita con HTML y CSS. Quiero algo llamativo y rápido.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1115568" y="4547616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25296" y="4370832"/>
            <a:ext cx="4636008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define público ni objetivo</a:t>
            </a:r>
            <a:endParaRPr lang="en-US" sz="740" dirty="0"/>
          </a:p>
        </p:txBody>
      </p:sp>
      <p:sp>
        <p:nvSpPr>
          <p:cNvPr id="22" name="Shape 19"/>
          <p:cNvSpPr/>
          <p:nvPr/>
        </p:nvSpPr>
        <p:spPr>
          <a:xfrm>
            <a:off x="1115568" y="5029200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25296" y="4852416"/>
            <a:ext cx="4636008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fija restricciones técnicas</a:t>
            </a:r>
            <a:endParaRPr lang="en-US" sz="740" dirty="0"/>
          </a:p>
        </p:txBody>
      </p:sp>
      <p:sp>
        <p:nvSpPr>
          <p:cNvPr id="24" name="Shape 21"/>
          <p:cNvSpPr/>
          <p:nvPr/>
        </p:nvSpPr>
        <p:spPr>
          <a:xfrm>
            <a:off x="1115568" y="5510784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25296" y="5334000"/>
            <a:ext cx="4636008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deja abierta una UI genérica</a:t>
            </a:r>
            <a:endParaRPr lang="en-US" sz="740" dirty="0"/>
          </a:p>
        </p:txBody>
      </p:sp>
      <p:sp>
        <p:nvSpPr>
          <p:cNvPr id="26" name="Shape 23"/>
          <p:cNvSpPr/>
          <p:nvPr/>
        </p:nvSpPr>
        <p:spPr>
          <a:xfrm>
            <a:off x="6190488" y="2487168"/>
            <a:ext cx="5129784" cy="3419856"/>
          </a:xfrm>
          <a:prstGeom prst="roundRect">
            <a:avLst>
              <a:gd name="adj" fmla="val 107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90488" y="2487168"/>
            <a:ext cx="73152" cy="34198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55080" y="2633472"/>
            <a:ext cx="4818888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46520" y="2706624"/>
            <a:ext cx="4636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útil</a:t>
            </a:r>
            <a:endParaRPr lang="en-US" sz="1180" dirty="0"/>
          </a:p>
        </p:txBody>
      </p:sp>
      <p:sp>
        <p:nvSpPr>
          <p:cNvPr id="30" name="Text 27"/>
          <p:cNvSpPr/>
          <p:nvPr/>
        </p:nvSpPr>
        <p:spPr>
          <a:xfrm>
            <a:off x="6391656" y="3017520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contexto, criterio y restricciones reales.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6355080" y="3273552"/>
            <a:ext cx="4818888" cy="932688"/>
          </a:xfrm>
          <a:prstGeom prst="roundRect">
            <a:avLst>
              <a:gd name="adj" fmla="val 39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64808" y="3383280"/>
            <a:ext cx="4599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 una landing para un servicio real o ficticio plausible. Usa HTML semantico, CSS con tokens, mobile-first, CTA claro, tono sobrio y nada de texto meta visible.</a:t>
            </a:r>
            <a:endParaRPr lang="en-US" sz="780" dirty="0"/>
          </a:p>
        </p:txBody>
      </p:sp>
      <p:sp>
        <p:nvSpPr>
          <p:cNvPr id="33" name="Shape 30"/>
          <p:cNvSpPr/>
          <p:nvPr/>
        </p:nvSpPr>
        <p:spPr>
          <a:xfrm>
            <a:off x="6409944" y="4547616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19672" y="4370832"/>
            <a:ext cx="4636008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producto y público objetivo</a:t>
            </a:r>
            <a:endParaRPr lang="en-US" sz="740" dirty="0"/>
          </a:p>
        </p:txBody>
      </p:sp>
      <p:sp>
        <p:nvSpPr>
          <p:cNvPr id="35" name="Shape 32"/>
          <p:cNvSpPr/>
          <p:nvPr/>
        </p:nvSpPr>
        <p:spPr>
          <a:xfrm>
            <a:off x="6409944" y="5029200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19672" y="4852416"/>
            <a:ext cx="4636008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fija HTML, CSS y responsive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409944" y="5510784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519672" y="5334000"/>
            <a:ext cx="4636008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protege tono visual y realismo</a:t>
            </a:r>
            <a:endParaRPr lang="en-US" sz="740" dirty="0"/>
          </a:p>
        </p:txBody>
      </p:sp>
      <p:sp>
        <p:nvSpPr>
          <p:cNvPr id="39" name="Text 36"/>
          <p:cNvSpPr/>
          <p:nvPr/>
        </p:nvSpPr>
        <p:spPr>
          <a:xfrm>
            <a:off x="932688" y="6181344"/>
            <a:ext cx="10351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Mientras mejor defines producto, publico, restricciones y tono, menos generico sale el resultado.</a:t>
            </a:r>
            <a:endParaRPr lang="en-US" sz="8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Evaluacion Parcial 1 · Iteracion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iterar sin romper el proyecto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Despues de la primera version, no reinicies todo: mejora por capas y valida cada ajuste.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68096" y="1975104"/>
            <a:ext cx="10680192" cy="3602736"/>
          </a:xfrm>
          <a:prstGeom prst="roundRect">
            <a:avLst>
              <a:gd name="adj" fmla="val 101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03120"/>
            <a:ext cx="10424160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2176272"/>
            <a:ext cx="10204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 sana de refinamiento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32688" y="2505456"/>
            <a:ext cx="1850746" cy="1115568"/>
          </a:xfrm>
          <a:prstGeom prst="roundRect">
            <a:avLst>
              <a:gd name="adj" fmla="val 3279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05840" y="2596896"/>
            <a:ext cx="82296" cy="9326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97280" y="2615184"/>
            <a:ext cx="201168" cy="182880"/>
          </a:xfrm>
          <a:prstGeom prst="roundRect">
            <a:avLst>
              <a:gd name="adj" fmla="val 150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97280" y="2660904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680" dirty="0"/>
          </a:p>
        </p:txBody>
      </p:sp>
      <p:sp>
        <p:nvSpPr>
          <p:cNvPr id="17" name="Text 14"/>
          <p:cNvSpPr/>
          <p:nvPr/>
        </p:nvSpPr>
        <p:spPr>
          <a:xfrm>
            <a:off x="1371600" y="2606040"/>
            <a:ext cx="13021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funcional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1133856" y="2907792"/>
            <a:ext cx="155813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que exista una version visible y estable.</a:t>
            </a:r>
            <a:endParaRPr lang="en-US" sz="910" dirty="0"/>
          </a:p>
        </p:txBody>
      </p:sp>
      <p:sp>
        <p:nvSpPr>
          <p:cNvPr id="19" name="Shape 16"/>
          <p:cNvSpPr/>
          <p:nvPr/>
        </p:nvSpPr>
        <p:spPr>
          <a:xfrm>
            <a:off x="2838298" y="2926080"/>
            <a:ext cx="164592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057754" y="2505456"/>
            <a:ext cx="1850746" cy="1115568"/>
          </a:xfrm>
          <a:prstGeom prst="roundRect">
            <a:avLst>
              <a:gd name="adj" fmla="val 3279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130906" y="2596896"/>
            <a:ext cx="82296" cy="9326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22346" y="2615184"/>
            <a:ext cx="201168" cy="182880"/>
          </a:xfrm>
          <a:prstGeom prst="roundRect">
            <a:avLst>
              <a:gd name="adj" fmla="val 15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22346" y="2660904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>
            <a:off x="3496666" y="2606040"/>
            <a:ext cx="13021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Revisar HTML</a:t>
            </a:r>
            <a:endParaRPr lang="en-US" sz="1140" dirty="0"/>
          </a:p>
        </p:txBody>
      </p:sp>
      <p:sp>
        <p:nvSpPr>
          <p:cNvPr id="25" name="Text 22"/>
          <p:cNvSpPr/>
          <p:nvPr/>
        </p:nvSpPr>
        <p:spPr>
          <a:xfrm>
            <a:off x="3258922" y="2907792"/>
            <a:ext cx="155813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semantica, headings, labels y orden logico.</a:t>
            </a:r>
            <a:endParaRPr lang="en-US" sz="910" dirty="0"/>
          </a:p>
        </p:txBody>
      </p:sp>
      <p:sp>
        <p:nvSpPr>
          <p:cNvPr id="26" name="Shape 23"/>
          <p:cNvSpPr/>
          <p:nvPr/>
        </p:nvSpPr>
        <p:spPr>
          <a:xfrm>
            <a:off x="4963363" y="2926080"/>
            <a:ext cx="164592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182819" y="2505456"/>
            <a:ext cx="1850746" cy="1115568"/>
          </a:xfrm>
          <a:prstGeom prst="roundRect">
            <a:avLst>
              <a:gd name="adj" fmla="val 3279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255971" y="2596896"/>
            <a:ext cx="82296" cy="9326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347411" y="2615184"/>
            <a:ext cx="201168" cy="182880"/>
          </a:xfrm>
          <a:prstGeom prst="roundRect">
            <a:avLst>
              <a:gd name="adj" fmla="val 150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347411" y="2660904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680" dirty="0"/>
          </a:p>
        </p:txBody>
      </p:sp>
      <p:sp>
        <p:nvSpPr>
          <p:cNvPr id="31" name="Text 28"/>
          <p:cNvSpPr/>
          <p:nvPr/>
        </p:nvSpPr>
        <p:spPr>
          <a:xfrm>
            <a:off x="5621731" y="2606040"/>
            <a:ext cx="13021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Revisar CSS</a:t>
            </a:r>
            <a:endParaRPr lang="en-US" sz="1140" dirty="0"/>
          </a:p>
        </p:txBody>
      </p:sp>
      <p:sp>
        <p:nvSpPr>
          <p:cNvPr id="32" name="Text 29"/>
          <p:cNvSpPr/>
          <p:nvPr/>
        </p:nvSpPr>
        <p:spPr>
          <a:xfrm>
            <a:off x="5383987" y="2907792"/>
            <a:ext cx="155813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Tokens, spacing, jerarquia visual y consistencia de componentes.</a:t>
            </a:r>
            <a:endParaRPr lang="en-US" sz="910" dirty="0"/>
          </a:p>
        </p:txBody>
      </p:sp>
      <p:sp>
        <p:nvSpPr>
          <p:cNvPr id="33" name="Shape 30"/>
          <p:cNvSpPr/>
          <p:nvPr/>
        </p:nvSpPr>
        <p:spPr>
          <a:xfrm>
            <a:off x="7088429" y="2926080"/>
            <a:ext cx="164592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307885" y="2505456"/>
            <a:ext cx="1850746" cy="1115568"/>
          </a:xfrm>
          <a:prstGeom prst="roundRect">
            <a:avLst>
              <a:gd name="adj" fmla="val 3279"/>
            </a:avLst>
          </a:prstGeom>
          <a:solidFill>
            <a:srgbClr val="E9F6EE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381037" y="2596896"/>
            <a:ext cx="82296" cy="93268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472477" y="2615184"/>
            <a:ext cx="201168" cy="182880"/>
          </a:xfrm>
          <a:prstGeom prst="roundRect">
            <a:avLst>
              <a:gd name="adj" fmla="val 15000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472477" y="2660904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680" dirty="0"/>
          </a:p>
        </p:txBody>
      </p:sp>
      <p:sp>
        <p:nvSpPr>
          <p:cNvPr id="38" name="Text 35"/>
          <p:cNvSpPr/>
          <p:nvPr/>
        </p:nvSpPr>
        <p:spPr>
          <a:xfrm>
            <a:off x="7746797" y="2606040"/>
            <a:ext cx="13021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Probar movil</a:t>
            </a:r>
            <a:endParaRPr lang="en-US" sz="1140" dirty="0"/>
          </a:p>
        </p:txBody>
      </p:sp>
      <p:sp>
        <p:nvSpPr>
          <p:cNvPr id="39" name="Text 36"/>
          <p:cNvSpPr/>
          <p:nvPr/>
        </p:nvSpPr>
        <p:spPr>
          <a:xfrm>
            <a:off x="7509053" y="2907792"/>
            <a:ext cx="155813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celular, leer la hero y revisar CTA, cards y cierre.</a:t>
            </a:r>
            <a:endParaRPr lang="en-US" sz="910" dirty="0"/>
          </a:p>
        </p:txBody>
      </p:sp>
      <p:sp>
        <p:nvSpPr>
          <p:cNvPr id="40" name="Shape 37"/>
          <p:cNvSpPr/>
          <p:nvPr/>
        </p:nvSpPr>
        <p:spPr>
          <a:xfrm>
            <a:off x="9213494" y="2926080"/>
            <a:ext cx="164592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432950" y="2505456"/>
            <a:ext cx="1850746" cy="1115568"/>
          </a:xfrm>
          <a:prstGeom prst="roundRect">
            <a:avLst>
              <a:gd name="adj" fmla="val 3279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506102" y="2596896"/>
            <a:ext cx="82296" cy="9326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9597542" y="2615184"/>
            <a:ext cx="201168" cy="182880"/>
          </a:xfrm>
          <a:prstGeom prst="roundRect">
            <a:avLst>
              <a:gd name="adj" fmla="val 15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597542" y="2660904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680" dirty="0"/>
          </a:p>
        </p:txBody>
      </p:sp>
      <p:sp>
        <p:nvSpPr>
          <p:cNvPr id="45" name="Text 42"/>
          <p:cNvSpPr/>
          <p:nvPr/>
        </p:nvSpPr>
        <p:spPr>
          <a:xfrm>
            <a:off x="9871862" y="2606040"/>
            <a:ext cx="13021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Pulir entrega</a:t>
            </a:r>
            <a:endParaRPr lang="en-US" sz="1140" dirty="0"/>
          </a:p>
        </p:txBody>
      </p:sp>
      <p:sp>
        <p:nvSpPr>
          <p:cNvPr id="46" name="Text 43"/>
          <p:cNvSpPr/>
          <p:nvPr/>
        </p:nvSpPr>
        <p:spPr>
          <a:xfrm>
            <a:off x="9634118" y="2907792"/>
            <a:ext cx="155813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Ordenar archivos, ultimo repaso y subir o comprimir bien.</a:t>
            </a:r>
            <a:endParaRPr lang="en-US" sz="910" dirty="0"/>
          </a:p>
        </p:txBody>
      </p:sp>
      <p:sp>
        <p:nvSpPr>
          <p:cNvPr id="47" name="Shape 44"/>
          <p:cNvSpPr/>
          <p:nvPr/>
        </p:nvSpPr>
        <p:spPr>
          <a:xfrm>
            <a:off x="969264" y="5266944"/>
            <a:ext cx="10277856" cy="201168"/>
          </a:xfrm>
          <a:prstGeom prst="roundRect">
            <a:avLst>
              <a:gd name="adj" fmla="val 1363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97280" y="5312664"/>
            <a:ext cx="10021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pagina mejora mas cuando corriges con foco que cuando vuelves a pedir todo desde cero.</a:t>
            </a:r>
            <a:endParaRPr lang="en-US" sz="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Evaluacion Parcial 1 · Checklist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antes de entregar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uno de estos puntos cae, no cierres la prueba todavia. Revisa primero y luego entrega.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49808" y="1938528"/>
            <a:ext cx="10716768" cy="4334256"/>
          </a:xfrm>
          <a:prstGeom prst="roundRect">
            <a:avLst>
              <a:gd name="adj" fmla="val 84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2066544"/>
            <a:ext cx="10460736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2139696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Ultima pasada obligatoria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896112" y="2450592"/>
            <a:ext cx="3352800" cy="1572768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05840" y="257860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262432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17904" y="2578608"/>
            <a:ext cx="73152" cy="13167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19072" y="2596896"/>
            <a:ext cx="2401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entiende rapido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19072" y="2889504"/>
            <a:ext cx="24018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¿Queda claro que hace la pagina y cual es el CTA principal?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4431792" y="2450592"/>
            <a:ext cx="3352800" cy="1572768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41520" y="257860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41520" y="262432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5053584" y="2578608"/>
            <a:ext cx="73152" cy="13167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54752" y="2596896"/>
            <a:ext cx="2401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Semantica limpia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5254752" y="2889504"/>
            <a:ext cx="24018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¿Header, main, sections, footer y headings estan bien usados?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7967472" y="2450592"/>
            <a:ext cx="3352800" cy="1572768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077200" y="257860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77200" y="262432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8589264" y="2578608"/>
            <a:ext cx="73152" cy="13167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790432" y="2596896"/>
            <a:ext cx="2401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Tokens activos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8790432" y="2889504"/>
            <a:ext cx="24018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¿Dejaste color, spacing y radios razonablemente centralizados?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896112" y="4187952"/>
            <a:ext cx="3352800" cy="1572768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05840" y="431596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05840" y="43616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Movil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1517904" y="4315968"/>
            <a:ext cx="73152" cy="1316736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719072" y="4334256"/>
            <a:ext cx="2401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 cuidada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1719072" y="4626864"/>
            <a:ext cx="24018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¿La pagina se ve bien en celular y mantiene jerarquia real?</a:t>
            </a:r>
            <a:endParaRPr lang="en-US" sz="1060" dirty="0"/>
          </a:p>
        </p:txBody>
      </p:sp>
      <p:sp>
        <p:nvSpPr>
          <p:cNvPr id="37" name="Shape 34"/>
          <p:cNvSpPr/>
          <p:nvPr/>
        </p:nvSpPr>
        <p:spPr>
          <a:xfrm>
            <a:off x="4431792" y="4187952"/>
            <a:ext cx="3352800" cy="1572768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541520" y="431596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41520" y="43616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A11y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5053584" y="4315968"/>
            <a:ext cx="73152" cy="13167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254752" y="4334256"/>
            <a:ext cx="2401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accesible</a:t>
            </a:r>
            <a:endParaRPr lang="en-US" sz="1360" dirty="0"/>
          </a:p>
        </p:txBody>
      </p:sp>
      <p:sp>
        <p:nvSpPr>
          <p:cNvPr id="42" name="Text 39"/>
          <p:cNvSpPr/>
          <p:nvPr/>
        </p:nvSpPr>
        <p:spPr>
          <a:xfrm>
            <a:off x="5254752" y="4626864"/>
            <a:ext cx="24018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¿Hay contraste razonable, alt, label y lectura clara?</a:t>
            </a:r>
            <a:endParaRPr lang="en-US" sz="1060" dirty="0"/>
          </a:p>
        </p:txBody>
      </p:sp>
      <p:sp>
        <p:nvSpPr>
          <p:cNvPr id="43" name="Shape 40"/>
          <p:cNvSpPr/>
          <p:nvPr/>
        </p:nvSpPr>
        <p:spPr>
          <a:xfrm>
            <a:off x="7967472" y="4187952"/>
            <a:ext cx="3352800" cy="1572768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077200" y="4315968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077200" y="4361688"/>
            <a:ext cx="4754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8680704" y="4315968"/>
            <a:ext cx="73152" cy="13167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881872" y="4334256"/>
            <a:ext cx="2310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Proyecto listo</a:t>
            </a:r>
            <a:endParaRPr lang="en-US" sz="1360" dirty="0"/>
          </a:p>
        </p:txBody>
      </p:sp>
      <p:sp>
        <p:nvSpPr>
          <p:cNvPr id="48" name="Text 45"/>
          <p:cNvSpPr/>
          <p:nvPr/>
        </p:nvSpPr>
        <p:spPr>
          <a:xfrm>
            <a:off x="8881872" y="4626864"/>
            <a:ext cx="23103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¿Nombre, archivos y metodo de entrega estan claros y ordenados?</a:t>
            </a:r>
            <a:endParaRPr lang="en-US" sz="1060" dirty="0"/>
          </a:p>
        </p:txBody>
      </p:sp>
      <p:sp>
        <p:nvSpPr>
          <p:cNvPr id="49" name="Shape 46"/>
          <p:cNvSpPr/>
          <p:nvPr/>
        </p:nvSpPr>
        <p:spPr>
          <a:xfrm>
            <a:off x="950976" y="5888736"/>
            <a:ext cx="10314432" cy="219456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060704" y="5934456"/>
            <a:ext cx="100949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ultima revision vale mas que otro cambio vistoso hecho a la rapida.</a:t>
            </a:r>
            <a:endParaRPr lang="en-US" sz="8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Evaluacion Parcial 1 · Entrega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Metodo de entrega y cierre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forma de entregar tambien comunica criterio profesional y afecta el tramo final de la rubrica.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22960" y="1975104"/>
            <a:ext cx="3255264" cy="2084832"/>
          </a:xfrm>
          <a:prstGeom prst="roundRect">
            <a:avLst>
              <a:gd name="adj" fmla="val 1754"/>
            </a:avLst>
          </a:prstGeom>
          <a:solidFill>
            <a:srgbClr val="E9F6EE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1975104"/>
            <a:ext cx="91440" cy="208483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2103120"/>
            <a:ext cx="2852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3145536" y="2084832"/>
            <a:ext cx="694944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0" y="2139696"/>
            <a:ext cx="5852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5/5 en forma</a:t>
            </a:r>
            <a:endParaRPr lang="en-US" sz="720" dirty="0"/>
          </a:p>
        </p:txBody>
      </p:sp>
      <p:sp>
        <p:nvSpPr>
          <p:cNvPr id="15" name="Text 12"/>
          <p:cNvSpPr/>
          <p:nvPr/>
        </p:nvSpPr>
        <p:spPr>
          <a:xfrm>
            <a:off x="1005840" y="2395728"/>
            <a:ext cx="29443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la entrega ideal: repo claro, estructura ordenada y, si alcanza, uno o mas commits que muestren trabajo real.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462272" y="1975104"/>
            <a:ext cx="3255264" cy="2084832"/>
          </a:xfrm>
          <a:prstGeom prst="roundRect">
            <a:avLst>
              <a:gd name="adj" fmla="val 1754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62272" y="1975104"/>
            <a:ext cx="91440" cy="20848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45152" y="2103120"/>
            <a:ext cx="2852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.zip o .rar</a:t>
            </a:r>
            <a:endParaRPr lang="en-US" sz="1320" dirty="0"/>
          </a:p>
        </p:txBody>
      </p:sp>
      <p:sp>
        <p:nvSpPr>
          <p:cNvPr id="19" name="Shape 16"/>
          <p:cNvSpPr/>
          <p:nvPr/>
        </p:nvSpPr>
        <p:spPr>
          <a:xfrm>
            <a:off x="6784848" y="2084832"/>
            <a:ext cx="694944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39712" y="2139696"/>
            <a:ext cx="5852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aceptable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4645152" y="2395728"/>
            <a:ext cx="29443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si viene limpio y completo, pero pierde parte del flujo profesional que si muestra un repositorio.</a:t>
            </a:r>
            <a:endParaRPr lang="en-US" sz="840" dirty="0"/>
          </a:p>
        </p:txBody>
      </p:sp>
      <p:sp>
        <p:nvSpPr>
          <p:cNvPr id="22" name="Shape 19"/>
          <p:cNvSpPr/>
          <p:nvPr/>
        </p:nvSpPr>
        <p:spPr>
          <a:xfrm>
            <a:off x="8101584" y="1975104"/>
            <a:ext cx="3255264" cy="2084832"/>
          </a:xfrm>
          <a:prstGeom prst="roundRect">
            <a:avLst>
              <a:gd name="adj" fmla="val 1754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101584" y="1975104"/>
            <a:ext cx="91440" cy="20848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84464" y="2103120"/>
            <a:ext cx="2852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WhatsApp o correo</a:t>
            </a:r>
            <a:endParaRPr lang="en-US" sz="1320" dirty="0"/>
          </a:p>
        </p:txBody>
      </p:sp>
      <p:sp>
        <p:nvSpPr>
          <p:cNvPr id="25" name="Shape 22"/>
          <p:cNvSpPr/>
          <p:nvPr/>
        </p:nvSpPr>
        <p:spPr>
          <a:xfrm>
            <a:off x="10424160" y="2084832"/>
            <a:ext cx="694944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479024" y="2139696"/>
            <a:ext cx="5852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puntaje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8284464" y="2395728"/>
            <a:ext cx="29443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seguir evaluandose el contenido, pero baja la parte de orden, forma de trabajo y presentacion.</a:t>
            </a:r>
            <a:endParaRPr lang="en-US" sz="840" dirty="0"/>
          </a:p>
        </p:txBody>
      </p:sp>
      <p:sp>
        <p:nvSpPr>
          <p:cNvPr id="28" name="Shape 25"/>
          <p:cNvSpPr/>
          <p:nvPr/>
        </p:nvSpPr>
        <p:spPr>
          <a:xfrm>
            <a:off x="969264" y="4736592"/>
            <a:ext cx="10241280" cy="621792"/>
          </a:xfrm>
          <a:prstGeom prst="roundRect">
            <a:avLst>
              <a:gd name="adj" fmla="val 588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70432" y="4901184"/>
            <a:ext cx="9838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lunes no llegas a improvisar una landing. Llegas a ejecutar un flujo claro, con criterio tecnico y entrega ordenada.</a:t>
            </a:r>
            <a:endParaRPr lang="en-US" sz="1520" dirty="0"/>
          </a:p>
        </p:txBody>
      </p:sp>
      <p:sp>
        <p:nvSpPr>
          <p:cNvPr id="30" name="Text 27"/>
          <p:cNvSpPr/>
          <p:nvPr/>
        </p:nvSpPr>
        <p:spPr>
          <a:xfrm>
            <a:off x="1188720" y="5559552"/>
            <a:ext cx="9802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entiendes la consigna, la rubrica y el flujo con Codex, ya tienes la mitad de la prueba bajo control.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AIEP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Evaluacion Parcial 1 - Landing Estatica con Codex</dc:title>
  <dc:subject>Guia de evaluacion</dc:subject>
  <dc:creator>Codex</dc:creator>
  <cp:lastModifiedBy>Codex</cp:lastModifiedBy>
  <cp:revision>1</cp:revision>
  <dcterms:created xsi:type="dcterms:W3CDTF">2026-03-22T20:20:15Z</dcterms:created>
  <dcterms:modified xsi:type="dcterms:W3CDTF">2026-03-22T20:20:15Z</dcterms:modified>
</cp:coreProperties>
</file>