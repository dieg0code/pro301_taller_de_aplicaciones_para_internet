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301-taller-de-aplicaciones-para-internet\.agent\skills\slides-aiep\assets\logo-ai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66928"/>
            <a:ext cx="1078992" cy="3840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4672" y="1858061"/>
            <a:ext cx="256032" cy="5888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111910" y="1627632"/>
            <a:ext cx="307238" cy="81930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470355" y="1858061"/>
            <a:ext cx="256032" cy="5888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901952" y="2359152"/>
            <a:ext cx="8174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Agentes de IA en Desarrollo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901952" y="3127248"/>
            <a:ext cx="81747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Prompting, generación y revisión crítica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1901952" y="4151376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05 · Unidad 02 · Trabajo técnico con criterio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04672" y="5321808"/>
            <a:ext cx="3182112" cy="384048"/>
          </a:xfrm>
          <a:prstGeom prst="roundRect">
            <a:avLst>
              <a:gd name="adj" fmla="val 9524"/>
            </a:avLst>
          </a:prstGeom>
          <a:solidFill>
            <a:srgbClr val="173A5A"/>
          </a:solidFill>
          <a:ln w="12700">
            <a:solidFill>
              <a:srgbClr val="173A5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50976" y="5413248"/>
            <a:ext cx="294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A8C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03 · Miércoles 15 de abril de 2026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8796528" y="5303520"/>
            <a:ext cx="749808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12" name="Image 1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Contexto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Semana 5: de backend a agentes con criterio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progresión de esta semana no es accidental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932688"/>
          </a:xfrm>
          <a:prstGeom prst="roundRect">
            <a:avLst>
              <a:gd name="adj" fmla="val 784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94560"/>
            <a:ext cx="8979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Lunes entendimos el backend. Martes modelamos datos. Hoy cerramos el ciclo aprendiendo a trabajar con agentes sin soltar el juicio técnico.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3456432"/>
            <a:ext cx="2926080" cy="237744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6112" y="3584448"/>
            <a:ext cx="109728" cy="21214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56616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Lunes 13/04</a:t>
            </a:r>
            <a:endParaRPr lang="en-US" sz="1240" dirty="0"/>
          </a:p>
        </p:txBody>
      </p:sp>
      <p:sp>
        <p:nvSpPr>
          <p:cNvPr id="14" name="Text 12"/>
          <p:cNvSpPr/>
          <p:nvPr/>
        </p:nvSpPr>
        <p:spPr>
          <a:xfrm>
            <a:off x="1060704" y="3913632"/>
            <a:ext cx="257860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Fundamentos de backend, FastAPI, contratos y flujo request-response.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3950208" y="3456432"/>
            <a:ext cx="2926080" cy="2377440"/>
          </a:xfrm>
          <a:prstGeom prst="roundRect">
            <a:avLst>
              <a:gd name="adj" fmla="val 1538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41648" y="3584448"/>
            <a:ext cx="109728" cy="21214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56616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Martes 14/04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4206240" y="3913632"/>
            <a:ext cx="257860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Persistencia, entidades, relaciones, cardinalidad y diseño de datos.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7095744" y="3456432"/>
            <a:ext cx="2926080" cy="2377440"/>
          </a:xfrm>
          <a:prstGeom prst="roundRect">
            <a:avLst>
              <a:gd name="adj" fmla="val 1538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87184" y="3584448"/>
            <a:ext cx="109728" cy="21214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56616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Miércoles 15/04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7351776" y="3913632"/>
            <a:ext cx="257860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Uso de agentes, prompting útil, revisión crítica, límites y verificación.</a:t>
            </a:r>
            <a:endParaRPr lang="en-US" sz="10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Contexto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tensión central de la clase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Generar rápido no significa integrar bien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75104"/>
            <a:ext cx="9381744" cy="877824"/>
          </a:xfrm>
          <a:prstGeom prst="roundRect">
            <a:avLst>
              <a:gd name="adj" fmla="val 729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39696"/>
            <a:ext cx="8979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código generado por IA puede verse convincente, compilar y aun así estar mal para tu proyecto.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04672" y="3218688"/>
            <a:ext cx="2926080" cy="2651760"/>
          </a:xfrm>
          <a:prstGeom prst="roundRect">
            <a:avLst>
              <a:gd name="adj" fmla="val 103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328416"/>
            <a:ext cx="100584" cy="2432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34670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Parece correcto</a:t>
            </a:r>
            <a:endParaRPr lang="en-US" sz="1240" dirty="0"/>
          </a:p>
        </p:txBody>
      </p:sp>
      <p:sp>
        <p:nvSpPr>
          <p:cNvPr id="14" name="Text 12"/>
          <p:cNvSpPr/>
          <p:nvPr/>
        </p:nvSpPr>
        <p:spPr>
          <a:xfrm>
            <a:off x="1060704" y="3621024"/>
            <a:ext cx="259689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salida suele sonar técnica y segura, incluso cuando inventa campos o reglas.</a:t>
            </a:r>
            <a:endParaRPr lang="en-US" sz="1010" dirty="0"/>
          </a:p>
        </p:txBody>
      </p:sp>
      <p:sp>
        <p:nvSpPr>
          <p:cNvPr id="15" name="Shape 13"/>
          <p:cNvSpPr/>
          <p:nvPr/>
        </p:nvSpPr>
        <p:spPr>
          <a:xfrm>
            <a:off x="3950208" y="3218688"/>
            <a:ext cx="2926080" cy="2651760"/>
          </a:xfrm>
          <a:prstGeom prst="roundRect">
            <a:avLst>
              <a:gd name="adj" fmla="val 103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0" y="3328416"/>
            <a:ext cx="100584" cy="24323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34670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Ahorra tiempo al inicio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4206240" y="3621024"/>
            <a:ext cx="259689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primera versión puede aparecer en segundos y dar sensación de avance.</a:t>
            </a:r>
            <a:endParaRPr lang="en-US" sz="1010" dirty="0"/>
          </a:p>
        </p:txBody>
      </p:sp>
      <p:sp>
        <p:nvSpPr>
          <p:cNvPr id="19" name="Shape 17"/>
          <p:cNvSpPr/>
          <p:nvPr/>
        </p:nvSpPr>
        <p:spPr>
          <a:xfrm>
            <a:off x="7095744" y="3218688"/>
            <a:ext cx="2926080" cy="2651760"/>
          </a:xfrm>
          <a:prstGeom prst="roundRect">
            <a:avLst>
              <a:gd name="adj" fmla="val 103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68896" y="3328416"/>
            <a:ext cx="100584" cy="24323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34670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Puede romper el proyecto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7351776" y="3621024"/>
            <a:ext cx="259689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integras sin revisar, terminas aceptando errores de contrato, lógica o seguridad.</a:t>
            </a:r>
            <a:endParaRPr lang="en-US" sz="101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Objetivos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Objetivos de la clase (1/2)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deberías dominar al abrir la sesión</a:t>
            </a:r>
            <a:endParaRPr lang="en-US" sz="1060" dirty="0"/>
          </a:p>
        </p:txBody>
      </p:sp>
      <p:sp>
        <p:nvSpPr>
          <p:cNvPr id="9" name="Text 7"/>
          <p:cNvSpPr/>
          <p:nvPr/>
        </p:nvSpPr>
        <p:spPr>
          <a:xfrm>
            <a:off x="804672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645920" y="2103120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Formular prompts técnicos efectivos</a:t>
            </a:r>
            <a:endParaRPr lang="en-US" sz="1740" dirty="0"/>
          </a:p>
        </p:txBody>
      </p:sp>
      <p:sp>
        <p:nvSpPr>
          <p:cNvPr id="11" name="Text 9"/>
          <p:cNvSpPr/>
          <p:nvPr/>
        </p:nvSpPr>
        <p:spPr>
          <a:xfrm>
            <a:off x="1645920" y="2414016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contexto, restricción y criterio de aceptación para obtener código más útil desde el primer intento.</a:t>
            </a:r>
            <a:endParaRPr lang="en-US" sz="1120" dirty="0"/>
          </a:p>
        </p:txBody>
      </p:sp>
      <p:sp>
        <p:nvSpPr>
          <p:cNvPr id="12" name="Text 10"/>
          <p:cNvSpPr/>
          <p:nvPr/>
        </p:nvSpPr>
        <p:spPr>
          <a:xfrm>
            <a:off x="804672" y="332841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1645920" y="3401568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Identificar los límites del agente</a:t>
            </a:r>
            <a:endParaRPr lang="en-US" sz="1740" dirty="0"/>
          </a:p>
        </p:txBody>
      </p:sp>
      <p:sp>
        <p:nvSpPr>
          <p:cNvPr id="14" name="Text 12"/>
          <p:cNvSpPr/>
          <p:nvPr/>
        </p:nvSpPr>
        <p:spPr>
          <a:xfrm>
            <a:off x="1645920" y="3712464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Reconocer tipos incorrectos, lógica ausente, dependencias viejas y errores no declarados.</a:t>
            </a:r>
            <a:endParaRPr lang="en-US" sz="1120" dirty="0"/>
          </a:p>
        </p:txBody>
      </p:sp>
      <p:sp>
        <p:nvSpPr>
          <p:cNvPr id="15" name="Text 13"/>
          <p:cNvSpPr/>
          <p:nvPr/>
        </p:nvSpPr>
        <p:spPr>
          <a:xfrm>
            <a:off x="804672" y="462686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1645920" y="4700016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 código generado con criterio técnico</a:t>
            </a:r>
            <a:endParaRPr lang="en-US" sz="1740" dirty="0"/>
          </a:p>
        </p:txBody>
      </p:sp>
      <p:sp>
        <p:nvSpPr>
          <p:cNvPr id="17" name="Text 15"/>
          <p:cNvSpPr/>
          <p:nvPr/>
        </p:nvSpPr>
        <p:spPr>
          <a:xfrm>
            <a:off x="1645920" y="5010912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contratos, reglas de negocio y comportamiento ante entradas inválidas.</a:t>
            </a:r>
            <a:endParaRPr lang="en-US" sz="11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Objetivos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Objetivos de la clase (2/2)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deberías poder transferir a tu proyecto</a:t>
            </a:r>
            <a:endParaRPr lang="en-US" sz="1060" dirty="0"/>
          </a:p>
        </p:txBody>
      </p:sp>
      <p:sp>
        <p:nvSpPr>
          <p:cNvPr id="9" name="Text 7"/>
          <p:cNvSpPr/>
          <p:nvPr/>
        </p:nvSpPr>
        <p:spPr>
          <a:xfrm>
            <a:off x="804672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645920" y="2103120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Integrar agentes en un flujo backend real</a:t>
            </a:r>
            <a:endParaRPr lang="en-US" sz="1740" dirty="0"/>
          </a:p>
        </p:txBody>
      </p:sp>
      <p:sp>
        <p:nvSpPr>
          <p:cNvPr id="11" name="Text 9"/>
          <p:cNvSpPr/>
          <p:nvPr/>
        </p:nvSpPr>
        <p:spPr>
          <a:xfrm>
            <a:off x="1645920" y="2414016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IA para modelos Pydantic, SQL y endpoints, contrastando siempre contra la especificación.</a:t>
            </a:r>
            <a:endParaRPr lang="en-US" sz="1120" dirty="0"/>
          </a:p>
        </p:txBody>
      </p:sp>
      <p:sp>
        <p:nvSpPr>
          <p:cNvPr id="12" name="Text 10"/>
          <p:cNvSpPr/>
          <p:nvPr/>
        </p:nvSpPr>
        <p:spPr>
          <a:xfrm>
            <a:off x="804672" y="332841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1645920" y="3401568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Documentar el uso de agentes</a:t>
            </a:r>
            <a:endParaRPr lang="en-US" sz="1740" dirty="0"/>
          </a:p>
        </p:txBody>
      </p:sp>
      <p:sp>
        <p:nvSpPr>
          <p:cNvPr id="14" name="Text 12"/>
          <p:cNvSpPr/>
          <p:nvPr/>
        </p:nvSpPr>
        <p:spPr>
          <a:xfrm>
            <a:off x="1645920" y="3712464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qué fue generado, qué modificaste y por qué, como práctica de trazabilidad técnica.</a:t>
            </a:r>
            <a:endParaRPr lang="en-US" sz="1120" dirty="0"/>
          </a:p>
        </p:txBody>
      </p:sp>
      <p:sp>
        <p:nvSpPr>
          <p:cNvPr id="15" name="Text 13"/>
          <p:cNvSpPr/>
          <p:nvPr/>
        </p:nvSpPr>
        <p:spPr>
          <a:xfrm>
            <a:off x="804672" y="462686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1645920" y="4700016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Asumir responsabilidad profesional</a:t>
            </a:r>
            <a:endParaRPr lang="en-US" sz="1740" dirty="0"/>
          </a:p>
        </p:txBody>
      </p:sp>
      <p:sp>
        <p:nvSpPr>
          <p:cNvPr id="17" name="Text 15"/>
          <p:cNvSpPr/>
          <p:nvPr/>
        </p:nvSpPr>
        <p:spPr>
          <a:xfrm>
            <a:off x="1645920" y="5010912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que el código integrado sigue siendo responsabilidad del desarrollador, no del agente.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Competencias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Mentalidad de trabajo para hoy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primero, pedir mejor, verificar siempre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IA apoya el trabajo técnico, pero no reemplaza lectura, validación ni criterio.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3182112"/>
            <a:ext cx="2926080" cy="2688336"/>
          </a:xfrm>
          <a:prstGeom prst="roundRect">
            <a:avLst>
              <a:gd name="adj" fmla="val 13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6112" y="3310128"/>
            <a:ext cx="109728" cy="2432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29184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Juicio técnico</a:t>
            </a:r>
            <a:endParaRPr lang="en-US" sz="1260" dirty="0"/>
          </a:p>
        </p:txBody>
      </p:sp>
      <p:sp>
        <p:nvSpPr>
          <p:cNvPr id="14" name="Text 12"/>
          <p:cNvSpPr/>
          <p:nvPr/>
        </p:nvSpPr>
        <p:spPr>
          <a:xfrm>
            <a:off x="1060704" y="3639312"/>
            <a:ext cx="25786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5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Evaluar el output del agente con criterios propios y no por confianza ciega.</a:t>
            </a:r>
            <a:endParaRPr lang="en-US" sz="1025" dirty="0"/>
          </a:p>
        </p:txBody>
      </p:sp>
      <p:sp>
        <p:nvSpPr>
          <p:cNvPr id="15" name="Shape 13"/>
          <p:cNvSpPr/>
          <p:nvPr/>
        </p:nvSpPr>
        <p:spPr>
          <a:xfrm>
            <a:off x="3950208" y="3182112"/>
            <a:ext cx="2926080" cy="2688336"/>
          </a:xfrm>
          <a:prstGeom prst="roundRect">
            <a:avLst>
              <a:gd name="adj" fmla="val 13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41648" y="3310128"/>
            <a:ext cx="109728" cy="24323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29184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Pensamiento especificado</a:t>
            </a:r>
            <a:endParaRPr lang="en-US" sz="1260" dirty="0"/>
          </a:p>
        </p:txBody>
      </p:sp>
      <p:sp>
        <p:nvSpPr>
          <p:cNvPr id="18" name="Text 16"/>
          <p:cNvSpPr/>
          <p:nvPr/>
        </p:nvSpPr>
        <p:spPr>
          <a:xfrm>
            <a:off x="4206240" y="3639312"/>
            <a:ext cx="25786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5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Traducir un requerimiento vago en una instrucción precisa y usable.</a:t>
            </a:r>
            <a:endParaRPr lang="en-US" sz="1025" dirty="0"/>
          </a:p>
        </p:txBody>
      </p:sp>
      <p:sp>
        <p:nvSpPr>
          <p:cNvPr id="19" name="Shape 17"/>
          <p:cNvSpPr/>
          <p:nvPr/>
        </p:nvSpPr>
        <p:spPr>
          <a:xfrm>
            <a:off x="7095744" y="3182112"/>
            <a:ext cx="2926080" cy="2688336"/>
          </a:xfrm>
          <a:prstGeom prst="roundRect">
            <a:avLst>
              <a:gd name="adj" fmla="val 13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87184" y="3310128"/>
            <a:ext cx="109728" cy="24323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29184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Responsabilidad del desarrollador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7351776" y="3639312"/>
            <a:ext cx="25786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5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Responder por el código que integras, aunque haya sido generado con asistencia.</a:t>
            </a:r>
            <a:endParaRPr lang="en-US" sz="10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Mapa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Mapa de la sesión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Cuatro movimientos para trabajar con agentes sin automatismo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121408"/>
            <a:ext cx="9381744" cy="3803904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24942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32257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 de aprendizaje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69264" y="2651760"/>
            <a:ext cx="2002536" cy="1243584"/>
          </a:xfrm>
          <a:prstGeom prst="roundRect">
            <a:avLst>
              <a:gd name="adj" fmla="val 2941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2416" y="2743200"/>
            <a:ext cx="82296" cy="10607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33856" y="2761488"/>
            <a:ext cx="219456" cy="201168"/>
          </a:xfrm>
          <a:prstGeom prst="roundRect">
            <a:avLst>
              <a:gd name="adj" fmla="val 1363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33856" y="2807208"/>
            <a:ext cx="2194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1426464" y="275234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mental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1170432" y="3054096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es un agente, qué no es y cuándo empieza a fallar.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3044952" y="3136392"/>
            <a:ext cx="201168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19272" y="2651760"/>
            <a:ext cx="2002536" cy="1243584"/>
          </a:xfrm>
          <a:prstGeom prst="roundRect">
            <a:avLst>
              <a:gd name="adj" fmla="val 2941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92424" y="2743200"/>
            <a:ext cx="82296" cy="10607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3864" y="2761488"/>
            <a:ext cx="219456" cy="201168"/>
          </a:xfrm>
          <a:prstGeom prst="roundRect">
            <a:avLst>
              <a:gd name="adj" fmla="val 1363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83864" y="2807208"/>
            <a:ext cx="2194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3776472" y="275234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Especificación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3520440" y="3054096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escribir prompts técnicos con contexto y restricciones reales.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5394960" y="3136392"/>
            <a:ext cx="201168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0" y="2651760"/>
            <a:ext cx="2002536" cy="1243584"/>
          </a:xfrm>
          <a:prstGeom prst="roundRect">
            <a:avLst>
              <a:gd name="adj" fmla="val 2941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42432" y="2743200"/>
            <a:ext cx="82296" cy="10607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33872" y="2761488"/>
            <a:ext cx="219456" cy="201168"/>
          </a:xfrm>
          <a:prstGeom prst="roundRect">
            <a:avLst>
              <a:gd name="adj" fmla="val 13636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33872" y="2807208"/>
            <a:ext cx="2194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720" dirty="0"/>
          </a:p>
        </p:txBody>
      </p:sp>
      <p:sp>
        <p:nvSpPr>
          <p:cNvPr id="30" name="Text 28"/>
          <p:cNvSpPr/>
          <p:nvPr/>
        </p:nvSpPr>
        <p:spPr>
          <a:xfrm>
            <a:off x="6126480" y="275234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Contexto de proyecto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5870448" y="3054096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qué `AGENTS.md`, herramientas y contexto cambian el flujo de trabajo.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7744968" y="3136392"/>
            <a:ext cx="201168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19288" y="2651760"/>
            <a:ext cx="2002536" cy="1243584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2440" y="2743200"/>
            <a:ext cx="82296" cy="10607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183880" y="2761488"/>
            <a:ext cx="219456" cy="201168"/>
          </a:xfrm>
          <a:prstGeom prst="roundRect">
            <a:avLst>
              <a:gd name="adj" fmla="val 1363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183880" y="2807208"/>
            <a:ext cx="2194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8476488" y="275234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</a:t>
            </a:r>
            <a:endParaRPr lang="en-US" sz="1240" dirty="0"/>
          </a:p>
        </p:txBody>
      </p:sp>
      <p:sp>
        <p:nvSpPr>
          <p:cNvPr id="38" name="Text 36"/>
          <p:cNvSpPr/>
          <p:nvPr/>
        </p:nvSpPr>
        <p:spPr>
          <a:xfrm>
            <a:off x="8220456" y="3054096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leer, revisar, corregir, integrar y documentar el código generado.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1005840" y="5614416"/>
            <a:ext cx="8979408" cy="201168"/>
          </a:xfrm>
          <a:prstGeom prst="roundRect">
            <a:avLst>
              <a:gd name="adj" fmla="val 13636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33856" y="5660136"/>
            <a:ext cx="8723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este primer tramo construiremos el marco mental y el criterio base del bloque 1.</a:t>
            </a:r>
            <a:endParaRPr lang="en-US" sz="8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25296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20240"/>
            <a:ext cx="8485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como herramienta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desarrollo</a:t>
            </a:r>
            <a:endParaRPr lang="en-US" sz="3700" dirty="0"/>
          </a:p>
        </p:txBody>
      </p:sp>
      <p:sp>
        <p:nvSpPr>
          <p:cNvPr id="10" name="Text 7"/>
          <p:cNvSpPr/>
          <p:nvPr/>
        </p:nvSpPr>
        <p:spPr>
          <a:xfrm>
            <a:off x="804672" y="321868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es, qué no es y cómo encaja en un flujo backend real.</a:t>
            </a:r>
            <a:endParaRPr lang="en-US" sz="1520" dirty="0"/>
          </a:p>
        </p:txBody>
      </p:sp>
      <p:sp>
        <p:nvSpPr>
          <p:cNvPr id="11" name="Shape 8"/>
          <p:cNvSpPr/>
          <p:nvPr/>
        </p:nvSpPr>
        <p:spPr>
          <a:xfrm>
            <a:off x="804672" y="5340096"/>
            <a:ext cx="2926080" cy="365760"/>
          </a:xfrm>
          <a:prstGeom prst="roundRect">
            <a:avLst>
              <a:gd name="adj" fmla="val 10000"/>
            </a:avLst>
          </a:prstGeom>
          <a:solidFill>
            <a:srgbClr val="173A5A"/>
          </a:solidFill>
          <a:ln w="12700">
            <a:solidFill>
              <a:srgbClr val="173A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50976" y="5413248"/>
            <a:ext cx="2670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8C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 minutos · marco mental y criterios base</a:t>
            </a:r>
            <a:endParaRPr lang="en-US" sz="9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es un agente en desarrollo?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1.1 Modelo base para usarlo con criterio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841248"/>
          </a:xfrm>
          <a:prstGeom prst="roundRect">
            <a:avLst>
              <a:gd name="adj" fmla="val 760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agente es un modelo de lenguaje que razona sobre texto y código para producir respuestas coherentes con la instrucción que recibe.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3273552"/>
            <a:ext cx="2926080" cy="2542032"/>
          </a:xfrm>
          <a:prstGeom prst="roundRect">
            <a:avLst>
              <a:gd name="adj" fmla="val 10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383280"/>
            <a:ext cx="100584" cy="23225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401568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es buscador</a:t>
            </a:r>
            <a:endParaRPr lang="en-US" sz="1240" dirty="0"/>
          </a:p>
        </p:txBody>
      </p:sp>
      <p:sp>
        <p:nvSpPr>
          <p:cNvPr id="14" name="Text 12"/>
          <p:cNvSpPr/>
          <p:nvPr/>
        </p:nvSpPr>
        <p:spPr>
          <a:xfrm>
            <a:off x="1060704" y="3675888"/>
            <a:ext cx="259689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parte consultando una web ni validando hechos por sí solo.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3950208" y="3273552"/>
            <a:ext cx="2926080" cy="2542032"/>
          </a:xfrm>
          <a:prstGeom prst="roundRect">
            <a:avLst>
              <a:gd name="adj" fmla="val 10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0" y="3383280"/>
            <a:ext cx="100584" cy="232257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401568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es corrector automático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4206240" y="3675888"/>
            <a:ext cx="259689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entiende tu proyecto por arte de magia ni arregla lógica sin contexto.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7095744" y="3273552"/>
            <a:ext cx="2926080" cy="2542032"/>
          </a:xfrm>
          <a:prstGeom prst="roundRect">
            <a:avLst>
              <a:gd name="adj" fmla="val 10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68896" y="3383280"/>
            <a:ext cx="100584" cy="232257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401568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 es colaborador textual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7351776" y="3675888"/>
            <a:ext cx="259689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explicar, proponer, traducir y generar estructuras a partir de instrucciones.</a:t>
            </a:r>
            <a:endParaRPr lang="en-US" sz="10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hace bien y lo que no sabe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1.1 Capacidades reales versus límites reales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096512"/>
          </a:xfrm>
          <a:prstGeom prst="roundRect">
            <a:avLst>
              <a:gd name="adj" fmla="val 89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Capacidad técnica vs conocimiento del proyecto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96896"/>
            <a:ext cx="3685032" cy="3072384"/>
          </a:xfrm>
          <a:prstGeom prst="roundRect">
            <a:avLst>
              <a:gd name="adj" fmla="val 119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724912"/>
            <a:ext cx="109728" cy="2816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puede hacer bien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la tarea está clara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Generar estructuras repetitivas: modelos, CRUD base, consultas SQL simples.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Explicar código desconocido o traducir entre formatos y lenguajes.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Proponer nombres, alternativas o primeras versiones para iterar.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355080" y="2596896"/>
            <a:ext cx="3685032" cy="3072384"/>
          </a:xfrm>
          <a:prstGeom prst="roundRect">
            <a:avLst>
              <a:gd name="adj" fmla="val 119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4808" y="2724912"/>
            <a:ext cx="109728" cy="2816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no puede saber por sí solo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tú no se lo explicas</a:t>
            </a:r>
            <a:endParaRPr lang="en-US" sz="940" dirty="0"/>
          </a:p>
        </p:txBody>
      </p:sp>
      <p:sp>
        <p:nvSpPr>
          <p:cNvPr id="29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reglas de negocio reales de tu aplicación.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versión exacta de tus librerías y convenciones del repo.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está roto en tu código si no le muestras el contexto suficiente.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92040" y="3319272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01768" y="3465576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3886200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56632" y="3511296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Límite</a:t>
            </a:r>
            <a:endParaRPr lang="en-US" sz="1060" dirty="0"/>
          </a:p>
        </p:txBody>
      </p:sp>
      <p:sp>
        <p:nvSpPr>
          <p:cNvPr id="42" name="Text 40"/>
          <p:cNvSpPr/>
          <p:nvPr/>
        </p:nvSpPr>
        <p:spPr>
          <a:xfrm>
            <a:off x="5020056" y="4297680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contexto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inventa</a:t>
            </a:r>
            <a:endParaRPr lang="en-US" sz="720" dirty="0"/>
          </a:p>
        </p:txBody>
      </p:sp>
      <p:sp>
        <p:nvSpPr>
          <p:cNvPr id="43" name="Shape 41"/>
          <p:cNvSpPr/>
          <p:nvPr/>
        </p:nvSpPr>
        <p:spPr>
          <a:xfrm>
            <a:off x="1005840" y="5724144"/>
            <a:ext cx="8979408" cy="219456"/>
          </a:xfrm>
          <a:prstGeom prst="roundRect">
            <a:avLst>
              <a:gd name="adj" fmla="val 125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15568" y="5769864"/>
            <a:ext cx="87599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puede programar. Lo que no puede hacer es adivinar tu proyecto.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Coherencia textual no es corrección técnica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1.1 El error más común al empezar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Mitos que conviene romper temprano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78608"/>
            <a:ext cx="4443984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2416" y="2688336"/>
            <a:ext cx="91440" cy="12618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suena técnico, debe estar bien.</a:t>
            </a:r>
            <a:endParaRPr lang="en-US" sz="1380" dirty="0"/>
          </a:p>
        </p:txBody>
      </p:sp>
      <p:sp>
        <p:nvSpPr>
          <p:cNvPr id="17" name="Text 15"/>
          <p:cNvSpPr/>
          <p:nvPr/>
        </p:nvSpPr>
        <p:spPr>
          <a:xfrm>
            <a:off x="1188720" y="3383280"/>
            <a:ext cx="4096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salida puede ser coherente y aun así estar equivocada para tu caso.</a:t>
            </a:r>
            <a:endParaRPr lang="en-US" sz="1040" dirty="0"/>
          </a:p>
        </p:txBody>
      </p:sp>
      <p:sp>
        <p:nvSpPr>
          <p:cNvPr id="18" name="Shape 16"/>
          <p:cNvSpPr/>
          <p:nvPr/>
        </p:nvSpPr>
        <p:spPr>
          <a:xfrm>
            <a:off x="5596128" y="2578608"/>
            <a:ext cx="4443984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87568" y="2688336"/>
            <a:ext cx="91440" cy="12618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sabe qué stack uso.</a:t>
            </a:r>
            <a:endParaRPr lang="en-US" sz="1380" dirty="0"/>
          </a:p>
        </p:txBody>
      </p:sp>
      <p:sp>
        <p:nvSpPr>
          <p:cNvPr id="23" name="Text 21"/>
          <p:cNvSpPr/>
          <p:nvPr/>
        </p:nvSpPr>
        <p:spPr>
          <a:xfrm>
            <a:off x="5833872" y="3383280"/>
            <a:ext cx="4096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sabe lo que le indicaste de versión, librerías y contexto.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950976" y="4242816"/>
            <a:ext cx="4443984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42416" y="4352544"/>
            <a:ext cx="91440" cy="12618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4370832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88720" y="4416552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1188720" y="466344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compila, ya sirve.</a:t>
            </a:r>
            <a:endParaRPr lang="en-US" sz="1380" dirty="0"/>
          </a:p>
        </p:txBody>
      </p:sp>
      <p:sp>
        <p:nvSpPr>
          <p:cNvPr id="29" name="Text 27"/>
          <p:cNvSpPr/>
          <p:nvPr/>
        </p:nvSpPr>
        <p:spPr>
          <a:xfrm>
            <a:off x="1188720" y="5047488"/>
            <a:ext cx="4096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Todavía puede fallar en contrato, negocio, seguridad o convenciones.</a:t>
            </a:r>
            <a:endParaRPr lang="en-US" sz="1040" dirty="0"/>
          </a:p>
        </p:txBody>
      </p:sp>
      <p:sp>
        <p:nvSpPr>
          <p:cNvPr id="30" name="Shape 28"/>
          <p:cNvSpPr/>
          <p:nvPr/>
        </p:nvSpPr>
        <p:spPr>
          <a:xfrm>
            <a:off x="5596128" y="4242816"/>
            <a:ext cx="4443984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87568" y="4352544"/>
            <a:ext cx="91440" cy="12618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33872" y="4370832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33872" y="4416552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5833872" y="466344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IA reemplaza mi revisión.</a:t>
            </a:r>
            <a:endParaRPr lang="en-US" sz="1380" dirty="0"/>
          </a:p>
        </p:txBody>
      </p:sp>
      <p:sp>
        <p:nvSpPr>
          <p:cNvPr id="35" name="Text 33"/>
          <p:cNvSpPr/>
          <p:nvPr/>
        </p:nvSpPr>
        <p:spPr>
          <a:xfrm>
            <a:off x="5833872" y="5047488"/>
            <a:ext cx="4096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revisión humana es justamente lo que vuelve útil al agente.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1005840" y="5779008"/>
            <a:ext cx="8979408" cy="219456"/>
          </a:xfrm>
          <a:prstGeom prst="roundRect">
            <a:avLst>
              <a:gd name="adj" fmla="val 125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15568" y="5824728"/>
            <a:ext cx="87599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salida del agente debe leerse como propuesta de trabajo, no como verdad final.</a:t>
            </a:r>
            <a:endParaRPr lang="en-US" sz="8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modelo mental correcto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1.2 Un colaborador capaz, pero sin contexto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121408"/>
            <a:ext cx="109728" cy="12252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103120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Piensa en un programador talentoso que lleva 10 minutos en la empresa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60704" y="2450592"/>
            <a:ext cx="9034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Sabe programar, reconoce patrones y puede avanzar rápido. Pero todavía no conoce tus tablas, tus decisiones previas ni los criterios específicos del proyecto.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78992" y="3822192"/>
            <a:ext cx="8833104" cy="822960"/>
          </a:xfrm>
          <a:prstGeom prst="roundRect">
            <a:avLst>
              <a:gd name="adj" fmla="val 444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80160" y="3986784"/>
            <a:ext cx="84307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 contexto, el agente no completa: rellena. Y suele hacerlo con mucha confianza.</a:t>
            </a:r>
            <a:endParaRPr lang="en-US" sz="1740" dirty="0"/>
          </a:p>
        </p:txBody>
      </p:sp>
      <p:sp>
        <p:nvSpPr>
          <p:cNvPr id="15" name="Shape 13"/>
          <p:cNvSpPr/>
          <p:nvPr/>
        </p:nvSpPr>
        <p:spPr>
          <a:xfrm>
            <a:off x="804672" y="4974336"/>
            <a:ext cx="9381744" cy="768096"/>
          </a:xfrm>
          <a:prstGeom prst="roundRect">
            <a:avLst>
              <a:gd name="adj" fmla="val 357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7824" y="5084064"/>
            <a:ext cx="10058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0704" y="5102352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consecuencia práctica</a:t>
            </a:r>
            <a:endParaRPr lang="en-US" sz="1120" dirty="0"/>
          </a:p>
        </p:txBody>
      </p:sp>
      <p:sp>
        <p:nvSpPr>
          <p:cNvPr id="18" name="Text 16"/>
          <p:cNvSpPr/>
          <p:nvPr/>
        </p:nvSpPr>
        <p:spPr>
          <a:xfrm>
            <a:off x="1060704" y="5376672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tiempo que no inviertes en especificar al inicio termina apareciendo después como revisión, corrección y debugging.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contexto suele faltar?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1.2 Lo que tú sí debes poner sobre la mesa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84832"/>
            <a:ext cx="4553712" cy="1627632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212848"/>
            <a:ext cx="109728" cy="13716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1945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Stack y versión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60704" y="2542032"/>
            <a:ext cx="42062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3.12, FastAPI, Pydantic v2, PostgreSQL, Supabase.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04688" y="2084832"/>
            <a:ext cx="4553712" cy="1627632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96128" y="2212848"/>
            <a:ext cx="109728" cy="137160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0" y="21945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Datos reales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760720" y="2542032"/>
            <a:ext cx="42062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Nombres de tablas, campos, restricciones y contratos que ya existen.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" y="4005072"/>
            <a:ext cx="4553712" cy="1627632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6112" y="4133088"/>
            <a:ext cx="109728" cy="137160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4114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Reglas de negocio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60704" y="4462272"/>
            <a:ext cx="42062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validaciones manda el dominio y qué está permitido o prohibido.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504688" y="4005072"/>
            <a:ext cx="4553712" cy="1627632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96128" y="4133088"/>
            <a:ext cx="109728" cy="13716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0" y="4114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actual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760720" y="4462272"/>
            <a:ext cx="42062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falla, en qué archivo, con qué error y con qué comportamiento esperado.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roles útiles del agente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1.3 No todas las tareas se delegan igual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560320"/>
            <a:ext cx="2926080" cy="3072384"/>
          </a:xfrm>
          <a:prstGeom prst="roundRect">
            <a:avLst>
              <a:gd name="adj" fmla="val 125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688336"/>
            <a:ext cx="109728" cy="2816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670048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Generador de estructura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1060704" y="3017520"/>
            <a:ext cx="257860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45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Útil para modelos Pydantic, SQL base, endpoints CRUD y esqueletos de proyecto.</a:t>
            </a:r>
            <a:endParaRPr lang="en-US" sz="1045" dirty="0"/>
          </a:p>
        </p:txBody>
      </p:sp>
      <p:sp>
        <p:nvSpPr>
          <p:cNvPr id="13" name="Shape 11"/>
          <p:cNvSpPr/>
          <p:nvPr/>
        </p:nvSpPr>
        <p:spPr>
          <a:xfrm>
            <a:off x="3950208" y="2560320"/>
            <a:ext cx="2926080" cy="3072384"/>
          </a:xfrm>
          <a:prstGeom prst="roundRect">
            <a:avLst>
              <a:gd name="adj" fmla="val 1250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41648" y="2688336"/>
            <a:ext cx="109728" cy="2816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2670048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Revisor de código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4206240" y="3017520"/>
            <a:ext cx="257860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45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 para detectar huecos lógicos, tipos dudosos o incoherencias con una especificación.</a:t>
            </a:r>
            <a:endParaRPr lang="en-US" sz="1045" dirty="0"/>
          </a:p>
        </p:txBody>
      </p:sp>
      <p:sp>
        <p:nvSpPr>
          <p:cNvPr id="17" name="Shape 15"/>
          <p:cNvSpPr/>
          <p:nvPr/>
        </p:nvSpPr>
        <p:spPr>
          <a:xfrm>
            <a:off x="7095744" y="2560320"/>
            <a:ext cx="2926080" cy="3072384"/>
          </a:xfrm>
          <a:prstGeom prst="roundRect">
            <a:avLst>
              <a:gd name="adj" fmla="val 1250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87184" y="2688336"/>
            <a:ext cx="109728" cy="28163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51776" y="2670048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Traductor técnico</a:t>
            </a:r>
            <a:endParaRPr lang="en-US" sz="1280" dirty="0"/>
          </a:p>
        </p:txBody>
      </p:sp>
      <p:sp>
        <p:nvSpPr>
          <p:cNvPr id="20" name="Text 18"/>
          <p:cNvSpPr/>
          <p:nvPr/>
        </p:nvSpPr>
        <p:spPr>
          <a:xfrm>
            <a:off x="7351776" y="3017520"/>
            <a:ext cx="257860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45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Ayuda a pasar de pseudocódigo a Python, de DER a SQL o de texto a estructura técnica.</a:t>
            </a:r>
            <a:endParaRPr lang="en-US" sz="104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Cuándo usar cada rol en esta semana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1.3 Aplicado a FastAPI y Supabase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139696"/>
            <a:ext cx="9381744" cy="3895344"/>
          </a:xfrm>
          <a:prstGeom prst="roundRect">
            <a:avLst>
              <a:gd name="adj" fmla="val 93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267712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340864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Casos concretos del módulo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69264" y="2670048"/>
            <a:ext cx="2785872" cy="1243584"/>
          </a:xfrm>
          <a:prstGeom prst="roundRect">
            <a:avLst>
              <a:gd name="adj" fmla="val 2941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2416" y="2761488"/>
            <a:ext cx="82296" cy="10607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33856" y="2779776"/>
            <a:ext cx="219456" cy="201168"/>
          </a:xfrm>
          <a:prstGeom prst="roundRect">
            <a:avLst>
              <a:gd name="adj" fmla="val 1363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33856" y="2825496"/>
            <a:ext cx="2194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1426464" y="2770632"/>
            <a:ext cx="2218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Generar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1170432" y="3072384"/>
            <a:ext cx="2493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Pedir un modelo de Usuario o un SQL base para tablas simples.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3828288" y="3154680"/>
            <a:ext cx="201168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02608" y="2670048"/>
            <a:ext cx="2785872" cy="1243584"/>
          </a:xfrm>
          <a:prstGeom prst="roundRect">
            <a:avLst>
              <a:gd name="adj" fmla="val 2941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75760" y="2761488"/>
            <a:ext cx="82296" cy="10607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67200" y="2779776"/>
            <a:ext cx="219456" cy="201168"/>
          </a:xfrm>
          <a:prstGeom prst="roundRect">
            <a:avLst>
              <a:gd name="adj" fmla="val 1363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67200" y="2825496"/>
            <a:ext cx="2194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4559808" y="2770632"/>
            <a:ext cx="2218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4303776" y="3072384"/>
            <a:ext cx="2493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Entregar el código completo y pedir detección de tipos incorrectos o validaciones faltantes.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961632" y="3154680"/>
            <a:ext cx="201168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5952" y="2670048"/>
            <a:ext cx="2785872" cy="1243584"/>
          </a:xfrm>
          <a:prstGeom prst="roundRect">
            <a:avLst>
              <a:gd name="adj" fmla="val 2941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09104" y="2761488"/>
            <a:ext cx="82296" cy="10607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00544" y="2779776"/>
            <a:ext cx="219456" cy="201168"/>
          </a:xfrm>
          <a:prstGeom prst="roundRect">
            <a:avLst>
              <a:gd name="adj" fmla="val 13636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00544" y="2825496"/>
            <a:ext cx="2194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720" dirty="0"/>
          </a:p>
        </p:txBody>
      </p:sp>
      <p:sp>
        <p:nvSpPr>
          <p:cNvPr id="30" name="Text 28"/>
          <p:cNvSpPr/>
          <p:nvPr/>
        </p:nvSpPr>
        <p:spPr>
          <a:xfrm>
            <a:off x="7693152" y="2770632"/>
            <a:ext cx="2218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Traducir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7437120" y="3072384"/>
            <a:ext cx="2493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Pasar de un DER visto en clase a un esquema SQL compatible con Supabase.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1005840" y="5724144"/>
            <a:ext cx="8979408" cy="201168"/>
          </a:xfrm>
          <a:prstGeom prst="roundRect">
            <a:avLst>
              <a:gd name="adj" fmla="val 13636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33856" y="5769864"/>
            <a:ext cx="8723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clave no es usar más IA: es pedirle lo correcto para la etapa correcta.</a:t>
            </a:r>
            <a:endParaRPr lang="en-US" sz="8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Caso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de apertura: prompt vago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1.4 Cuando pides poco, recibes relleno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48256"/>
            <a:ext cx="9381744" cy="2414016"/>
          </a:xfrm>
          <a:prstGeom prst="roundRect">
            <a:avLst>
              <a:gd name="adj" fmla="val 151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 al agente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2615184"/>
            <a:ext cx="8961120" cy="166420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04672" y="4754880"/>
            <a:ext cx="9381744" cy="969264"/>
          </a:xfrm>
          <a:prstGeom prst="roundRect">
            <a:avLst>
              <a:gd name="adj" fmla="val 283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77824" y="4864608"/>
            <a:ext cx="100584" cy="7498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4882896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de fondo</a:t>
            </a:r>
            <a:endParaRPr lang="en-US" sz="1130" dirty="0"/>
          </a:p>
        </p:txBody>
      </p:sp>
      <p:sp>
        <p:nvSpPr>
          <p:cNvPr id="16" name="Text 13"/>
          <p:cNvSpPr/>
          <p:nvPr/>
        </p:nvSpPr>
        <p:spPr>
          <a:xfrm>
            <a:off x="1060704" y="5157216"/>
            <a:ext cx="9052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hay stack, no hay contexto, no hay restricciones y tampoco hay criterio de uso. El agente llena vacíos con su mejor suposición.</a:t>
            </a:r>
            <a:endParaRPr lang="en-US" sz="10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Caso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de apertura: prompt especificado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1.4 Cuando la instrucción ya contiene ingeniería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3127248"/>
          </a:xfrm>
          <a:prstGeom prst="roundRect">
            <a:avLst>
              <a:gd name="adj" fmla="val 117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03120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176272"/>
            <a:ext cx="88879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 al agente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15568" y="2596896"/>
            <a:ext cx="861364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 un modelo Pydantic para Usuario (Python 3.12, BaseModel)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un sistema de gestión de cursos.</a:t>
            </a:r>
            <a:endParaRPr lang="en-US" sz="1340" dirty="0"/>
          </a:p>
          <a:p>
            <a:pPr indent="0" marL="0">
              <a:buNone/>
            </a:pP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Campos: nombre obligatorio, email válido obligatorio,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rut único obligatorio y fecha_nacimiento opcional.</a:t>
            </a:r>
            <a:endParaRPr lang="en-US" sz="1340" dirty="0"/>
          </a:p>
          <a:p>
            <a:pPr indent="0" marL="0">
              <a:buNone/>
            </a:pP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Debe servir como schema de entrada para POST /usuarios.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incluyas campo id; lo maneja la base de datos.</a:t>
            </a:r>
            <a:endParaRPr lang="en-US" sz="1340" dirty="0"/>
          </a:p>
        </p:txBody>
      </p:sp>
      <p:sp>
        <p:nvSpPr>
          <p:cNvPr id="13" name="Text 11"/>
          <p:cNvSpPr/>
          <p:nvPr/>
        </p:nvSpPr>
        <p:spPr>
          <a:xfrm>
            <a:off x="1115568" y="4736592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8C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con contexto + restricciones + uso esperado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804672" y="5376672"/>
            <a:ext cx="9381744" cy="438912"/>
          </a:xfrm>
          <a:prstGeom prst="roundRect">
            <a:avLst>
              <a:gd name="adj" fmla="val 625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7824" y="5486400"/>
            <a:ext cx="100584" cy="2194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5504688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importante</a:t>
            </a:r>
            <a:endParaRPr lang="en-US" sz="10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Comparación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mismo pedido, dos resultados esperables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1.4 La diferencia entre vaguedad y especificación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malo vs prompt útil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vago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Pide poco y delega demasiado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 un modelo para usuarios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define stack ni versión.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explica para qué se usará el modelo.</a:t>
            </a:r>
            <a:endParaRPr lang="en-US" sz="740" dirty="0"/>
          </a:p>
        </p:txBody>
      </p:sp>
      <p:sp>
        <p:nvSpPr>
          <p:cNvPr id="23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restringe campos inventados por el agente.</a:t>
            </a:r>
            <a:endParaRPr lang="en-US" sz="740" dirty="0"/>
          </a:p>
        </p:txBody>
      </p:sp>
      <p:sp>
        <p:nvSpPr>
          <p:cNvPr id="25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especificado</a:t>
            </a:r>
            <a:endParaRPr lang="en-US" sz="1180" dirty="0"/>
          </a:p>
        </p:txBody>
      </p:sp>
      <p:sp>
        <p:nvSpPr>
          <p:cNvPr id="29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 contexto, límites y uso esperado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3.12 + Pydantic. Modelo Usuario para POST /usuarios, con campos, obligatoriedad y restricción sobre `id` ya definidos.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contexto técnico real.</a:t>
            </a:r>
            <a:endParaRPr lang="en-US" sz="740" dirty="0"/>
          </a:p>
        </p:txBody>
      </p:sp>
      <p:sp>
        <p:nvSpPr>
          <p:cNvPr id="34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Anticipa restricciones concretas.</a:t>
            </a:r>
            <a:endParaRPr lang="en-US" sz="740" dirty="0"/>
          </a:p>
        </p:txBody>
      </p:sp>
      <p:sp>
        <p:nvSpPr>
          <p:cNvPr id="36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Acerca el output a algo que sí puedes revisar y usar.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lección no es 'escribir más'. Es especificar mejor para revisar mejor.</a:t>
            </a:r>
            <a:endParaRPr lang="en-US" sz="84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Síntesis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 cierre del bloque 1 deberías poder...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Evidencia esperada y puente al siguiente paso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3401568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 mínimo de aprendizaje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42032"/>
            <a:ext cx="2907792" cy="2377440"/>
          </a:xfrm>
          <a:prstGeom prst="roundRect">
            <a:avLst>
              <a:gd name="adj" fmla="val 1538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572768" y="2670048"/>
            <a:ext cx="73152" cy="21214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73936" y="268833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Explicar el error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1773936" y="2980944"/>
            <a:ext cx="195681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Decir por qué un prompt incompleto empuja al agente a inventar con confianza.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4041648" y="2542032"/>
            <a:ext cx="2907792" cy="2377440"/>
          </a:xfrm>
          <a:prstGeom prst="roundRect">
            <a:avLst>
              <a:gd name="adj" fmla="val 1538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51376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51376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663440" y="2670048"/>
            <a:ext cx="73152" cy="21214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268833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Detectar contexto faltante</a:t>
            </a:r>
            <a:endParaRPr lang="en-US" sz="1360" dirty="0"/>
          </a:p>
        </p:txBody>
      </p:sp>
      <p:sp>
        <p:nvSpPr>
          <p:cNvPr id="23" name="Text 21"/>
          <p:cNvSpPr/>
          <p:nvPr/>
        </p:nvSpPr>
        <p:spPr>
          <a:xfrm>
            <a:off x="4864608" y="2980944"/>
            <a:ext cx="195681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Reconocer qué datos, restricciones o reglas faltan en un pedido vago.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7132320" y="2542032"/>
            <a:ext cx="2907792" cy="2377440"/>
          </a:xfrm>
          <a:prstGeom prst="roundRect">
            <a:avLst>
              <a:gd name="adj" fmla="val 1538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42048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B8962A"/>
          </a:solidFill>
          <a:ln w="12700">
            <a:solidFill>
              <a:srgbClr val="B896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048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7754112" y="2670048"/>
            <a:ext cx="73152" cy="21214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0" y="268833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Clasificar la tarea</a:t>
            </a:r>
            <a:endParaRPr lang="en-US" sz="1360" dirty="0"/>
          </a:p>
        </p:txBody>
      </p:sp>
      <p:sp>
        <p:nvSpPr>
          <p:cNvPr id="29" name="Text 27"/>
          <p:cNvSpPr/>
          <p:nvPr/>
        </p:nvSpPr>
        <p:spPr>
          <a:xfrm>
            <a:off x="7955280" y="2980944"/>
            <a:ext cx="195681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Decidir si una tarea corresponde al rol de generador, revisor o traductor.</a:t>
            </a:r>
            <a:endParaRPr lang="en-US" sz="1060" dirty="0"/>
          </a:p>
        </p:txBody>
      </p:sp>
      <p:sp>
        <p:nvSpPr>
          <p:cNvPr id="30" name="Shape 28"/>
          <p:cNvSpPr/>
          <p:nvPr/>
        </p:nvSpPr>
        <p:spPr>
          <a:xfrm>
            <a:off x="1005840" y="5047488"/>
            <a:ext cx="8979408" cy="219456"/>
          </a:xfrm>
          <a:prstGeom prst="roundRect">
            <a:avLst>
              <a:gd name="adj" fmla="val 125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15568" y="5093208"/>
            <a:ext cx="87599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2 -&gt; ahora veremos cómo construir prompts técnicos que ya incluyan contexto, restricciones y criterio de aceptación.</a:t>
            </a:r>
            <a:endParaRPr lang="en-US" sz="8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25296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20240"/>
            <a:ext cx="8485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Anatomía de un Prompt Técnico</a:t>
            </a:r>
            <a:endParaRPr lang="en-US" sz="3700" dirty="0"/>
          </a:p>
        </p:txBody>
      </p:sp>
      <p:sp>
        <p:nvSpPr>
          <p:cNvPr id="10" name="Text 7"/>
          <p:cNvSpPr/>
          <p:nvPr/>
        </p:nvSpPr>
        <p:spPr>
          <a:xfrm>
            <a:off x="804672" y="321868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especificar para obtener código usable desde el primer intento.</a:t>
            </a:r>
            <a:endParaRPr lang="en-US" sz="1520" dirty="0"/>
          </a:p>
        </p:txBody>
      </p:sp>
      <p:sp>
        <p:nvSpPr>
          <p:cNvPr id="11" name="Shape 8"/>
          <p:cNvSpPr/>
          <p:nvPr/>
        </p:nvSpPr>
        <p:spPr>
          <a:xfrm>
            <a:off x="804672" y="5340096"/>
            <a:ext cx="2926080" cy="365760"/>
          </a:xfrm>
          <a:prstGeom prst="roundRect">
            <a:avLst>
              <a:gd name="adj" fmla="val 10000"/>
            </a:avLst>
          </a:prstGeom>
          <a:solidFill>
            <a:srgbClr val="173A5A"/>
          </a:solidFill>
          <a:ln w="12700">
            <a:solidFill>
              <a:srgbClr val="173A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50976" y="5413248"/>
            <a:ext cx="2670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8C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 minutos · precisión y especificación técnica</a:t>
            </a:r>
            <a:endParaRPr lang="en-US" sz="93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 cuatro componentes críticos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La estructura mínima de una especificación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prompt técnico tiene 4 partes, no una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42032"/>
            <a:ext cx="4453128" cy="1481328"/>
          </a:xfrm>
          <a:prstGeom prst="roundRect">
            <a:avLst>
              <a:gd name="adj" fmla="val 2469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572768" y="2670048"/>
            <a:ext cx="73152" cy="12252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Contexto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1773936" y="2980944"/>
            <a:ext cx="35021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¿En qué stack y versión trabajo? (Ej: Python 3.12, FastAPI 0.110).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5586984" y="2542032"/>
            <a:ext cx="4453128" cy="1481328"/>
          </a:xfrm>
          <a:prstGeom prst="roundRect">
            <a:avLst>
              <a:gd name="adj" fmla="val 2469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TSK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208776" y="2670048"/>
            <a:ext cx="73152" cy="12252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Tarea</a:t>
            </a:r>
            <a:endParaRPr lang="en-US" sz="1360" dirty="0"/>
          </a:p>
        </p:txBody>
      </p:sp>
      <p:sp>
        <p:nvSpPr>
          <p:cNvPr id="23" name="Text 21"/>
          <p:cNvSpPr/>
          <p:nvPr/>
        </p:nvSpPr>
        <p:spPr>
          <a:xfrm>
            <a:off x="6409944" y="2980944"/>
            <a:ext cx="35021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debe producir exactamente? (Ej: Crea un modelo para Pedido).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950976" y="4187952"/>
            <a:ext cx="4453128" cy="1481328"/>
          </a:xfrm>
          <a:prstGeom prst="roundRect">
            <a:avLst>
              <a:gd name="adj" fmla="val 2469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" y="431596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3616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RST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1572768" y="4315968"/>
            <a:ext cx="73152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73936" y="433425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Restricciones</a:t>
            </a:r>
            <a:endParaRPr lang="en-US" sz="1360" dirty="0"/>
          </a:p>
        </p:txBody>
      </p:sp>
      <p:sp>
        <p:nvSpPr>
          <p:cNvPr id="29" name="Text 27"/>
          <p:cNvSpPr/>
          <p:nvPr/>
        </p:nvSpPr>
        <p:spPr>
          <a:xfrm>
            <a:off x="1773936" y="4626864"/>
            <a:ext cx="35021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NO debe hacer o incluir? (Ej: No uses id, no uses Optional).</a:t>
            </a:r>
            <a:endParaRPr lang="en-US" sz="1060" dirty="0"/>
          </a:p>
        </p:txBody>
      </p:sp>
      <p:sp>
        <p:nvSpPr>
          <p:cNvPr id="30" name="Shape 28"/>
          <p:cNvSpPr/>
          <p:nvPr/>
        </p:nvSpPr>
        <p:spPr>
          <a:xfrm>
            <a:off x="5586984" y="4187952"/>
            <a:ext cx="4453128" cy="1481328"/>
          </a:xfrm>
          <a:prstGeom prst="roundRect">
            <a:avLst>
              <a:gd name="adj" fmla="val 2469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96712" y="431596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96712" y="43616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CRT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6208776" y="4315968"/>
            <a:ext cx="73152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9944" y="433425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 de Aceptación</a:t>
            </a:r>
            <a:endParaRPr lang="en-US" sz="1360" dirty="0"/>
          </a:p>
        </p:txBody>
      </p:sp>
      <p:sp>
        <p:nvSpPr>
          <p:cNvPr id="35" name="Text 33"/>
          <p:cNvSpPr/>
          <p:nvPr/>
        </p:nvSpPr>
        <p:spPr>
          <a:xfrm>
            <a:off x="6409944" y="4626864"/>
            <a:ext cx="35021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sé que el código sirve? (Ej: Debe usarse en un POST).</a:t>
            </a:r>
            <a:endParaRPr lang="en-US" sz="1060" dirty="0"/>
          </a:p>
        </p:txBody>
      </p:sp>
      <p:sp>
        <p:nvSpPr>
          <p:cNvPr id="36" name="Shape 34"/>
          <p:cNvSpPr/>
          <p:nvPr/>
        </p:nvSpPr>
        <p:spPr>
          <a:xfrm>
            <a:off x="1005840" y="5797296"/>
            <a:ext cx="8979408" cy="219456"/>
          </a:xfrm>
          <a:prstGeom prst="roundRect">
            <a:avLst>
              <a:gd name="adj" fmla="val 125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15568" y="5843016"/>
            <a:ext cx="87599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falta alguna, el agente la inventa sin avisarte.</a:t>
            </a:r>
            <a:endParaRPr lang="en-US" sz="8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Componente 1: El Contexto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Por qué las versiones importan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contexto define las herramientas y reglas del juego. Sin él, el agente usa lo que conoce mejor.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2926080"/>
            <a:ext cx="4590288" cy="256032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6112" y="3054096"/>
            <a:ext cx="109728" cy="23042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035808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Legacy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60704" y="3383280"/>
            <a:ext cx="4242816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3.8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Optional[List[str]]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Clases viejas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596128" y="2926080"/>
            <a:ext cx="4590288" cy="256032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87568" y="3054096"/>
            <a:ext cx="109728" cy="23042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52160" y="3035808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Moderno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852160" y="3383280"/>
            <a:ext cx="4242816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3.12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list[str] | None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Modelos optimizados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Componente 2: La Tarea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Verbos de acción versus vaguedad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Prefiere acciones concretas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Produce una estructura nueva desde cero.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Refactoriza</a:t>
            </a:r>
            <a:endParaRPr lang="en-US" sz="1360" dirty="0"/>
          </a:p>
        </p:txBody>
      </p:sp>
      <p:sp>
        <p:nvSpPr>
          <p:cNvPr id="23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Mejora el código existente sin cambiar su función.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Ayúdame con</a:t>
            </a:r>
            <a:endParaRPr lang="en-US" sz="1360" dirty="0"/>
          </a:p>
        </p:txBody>
      </p:sp>
      <p:sp>
        <p:nvSpPr>
          <p:cNvPr id="29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Demasiado vago. El agente no sabe si quieres código o charla.</a:t>
            </a:r>
            <a:endParaRPr lang="en-US" sz="1060" dirty="0"/>
          </a:p>
        </p:txBody>
      </p:sp>
      <p:sp>
        <p:nvSpPr>
          <p:cNvPr id="30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Arregla</a:t>
            </a:r>
            <a:endParaRPr lang="en-US" sz="1360" dirty="0"/>
          </a:p>
        </p:txBody>
      </p:sp>
      <p:sp>
        <p:nvSpPr>
          <p:cNvPr id="35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Incompleto. Requiere que describas el error y el comportamiento esperado.</a:t>
            </a:r>
            <a:endParaRPr lang="en-US" sz="106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Componente 3: Las Restricciones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El arte de decir NO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restricciones son cercas de seguridad que evitan que la IA tome caminos incorrectos.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2926080"/>
            <a:ext cx="2926080" cy="256032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03580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incluyas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" y="3328416"/>
            <a:ext cx="259689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Campos automáticos (id, created_at), comentarios meta o logs innecesarios.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950208" y="2926080"/>
            <a:ext cx="2926080" cy="256032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0" y="3035808"/>
            <a:ext cx="100584" cy="2340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uses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06240" y="3328416"/>
            <a:ext cx="259689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Librerías externas pesadas si el lenguaje tiene soporte nativo.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95744" y="2926080"/>
            <a:ext cx="2926080" cy="256032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68896" y="3035808"/>
            <a:ext cx="100584" cy="234086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Estilo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51776" y="3328416"/>
            <a:ext cx="259689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preámbulos tipo '¡Claro! Aquí tienes el código'. Solo código puro.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Componente 4: Criterio de Aceptación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Definiendo el éxito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157984"/>
            <a:ext cx="109728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¿Cómo debe verse el resultado final?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60704" y="2487168"/>
            <a:ext cx="90342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la prueba unitaria del prompt. 'El código debe compilar con mypy', 'El modelo debe ser compatible con la tabla X de Supabase'.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" y="3840480"/>
            <a:ext cx="9381744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688" y="39684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404164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Ejemplos de criterios útiles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950976" y="4352544"/>
            <a:ext cx="4453128" cy="1517904"/>
          </a:xfrm>
          <a:prstGeom prst="roundRect">
            <a:avLst>
              <a:gd name="adj" fmla="val 241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60704" y="44805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0704" y="45262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572768" y="4480560"/>
            <a:ext cx="73152" cy="12618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73936" y="44988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Endpoint match</a:t>
            </a:r>
            <a:endParaRPr lang="en-US" sz="1360" dirty="0"/>
          </a:p>
        </p:txBody>
      </p:sp>
      <p:sp>
        <p:nvSpPr>
          <p:cNvPr id="21" name="Text 19"/>
          <p:cNvSpPr/>
          <p:nvPr/>
        </p:nvSpPr>
        <p:spPr>
          <a:xfrm>
            <a:off x="1773936" y="4791456"/>
            <a:ext cx="35021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Debe poder usarse como body de un POST /pedidos.</a:t>
            </a:r>
            <a:endParaRPr lang="en-US" sz="1060" dirty="0"/>
          </a:p>
        </p:txBody>
      </p:sp>
      <p:sp>
        <p:nvSpPr>
          <p:cNvPr id="22" name="Shape 20"/>
          <p:cNvSpPr/>
          <p:nvPr/>
        </p:nvSpPr>
        <p:spPr>
          <a:xfrm>
            <a:off x="5586984" y="4352544"/>
            <a:ext cx="4453128" cy="1517904"/>
          </a:xfrm>
          <a:prstGeom prst="roundRect">
            <a:avLst>
              <a:gd name="adj" fmla="val 241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96712" y="44805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96712" y="45262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6208776" y="4480560"/>
            <a:ext cx="73152" cy="12618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9944" y="44988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Trazabilidad</a:t>
            </a:r>
            <a:endParaRPr lang="en-US" sz="1360" dirty="0"/>
          </a:p>
        </p:txBody>
      </p:sp>
      <p:sp>
        <p:nvSpPr>
          <p:cNvPr id="27" name="Text 25"/>
          <p:cNvSpPr/>
          <p:nvPr/>
        </p:nvSpPr>
        <p:spPr>
          <a:xfrm>
            <a:off x="6409944" y="4791456"/>
            <a:ext cx="35021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Incluye comentarios breves sobre validaciones complejas.</a:t>
            </a:r>
            <a:endParaRPr lang="en-US" sz="106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Error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pedagógico: vacíos con confianza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2.2 Qué sucede cuando no restringes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rellena lo que tú omites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sin restricciones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Vago y permisivo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 un modelo Pydantic para un Pedido con productos y total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pone ID aunque no lo pediste.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tipos desactualizados (List, Optional).</a:t>
            </a:r>
            <a:endParaRPr lang="en-US" sz="740" dirty="0"/>
          </a:p>
        </p:txBody>
      </p:sp>
      <p:sp>
        <p:nvSpPr>
          <p:cNvPr id="23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Inventa campos como 'estado' o 'fecha'.</a:t>
            </a:r>
            <a:endParaRPr lang="en-US" sz="740" dirty="0"/>
          </a:p>
        </p:txBody>
      </p:sp>
      <p:sp>
        <p:nvSpPr>
          <p:cNvPr id="25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generado</a:t>
            </a:r>
            <a:endParaRPr lang="en-US" sz="1180" dirty="0"/>
          </a:p>
        </p:txBody>
      </p:sp>
      <p:sp>
        <p:nvSpPr>
          <p:cNvPr id="29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que parece correcto pero no sirve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Pedido(BaseModel):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Optional[int]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total: float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items: List[Item]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calza con tu arquitectura real.</a:t>
            </a:r>
            <a:endParaRPr lang="en-US" sz="740" dirty="0"/>
          </a:p>
        </p:txBody>
      </p:sp>
      <p:sp>
        <p:nvSpPr>
          <p:cNvPr id="34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Acepta IDs que la DB debe generar.</a:t>
            </a:r>
            <a:endParaRPr lang="en-US" sz="740" dirty="0"/>
          </a:p>
        </p:txBody>
      </p:sp>
      <p:sp>
        <p:nvSpPr>
          <p:cNvPr id="36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Requiere refactorización manual inmediata.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no miente: rellena con su mejor suposición estadística.</a:t>
            </a:r>
            <a:endParaRPr lang="en-US" sz="84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Análisis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Análisis crítico del código generado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2.2 Identificando el 'relleno' técnico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problemático (Python)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Lección: el agente no miente, rellena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2.2 La psicología del modelo de lenguaje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1024128"/>
          </a:xfrm>
          <a:prstGeom prst="roundRect">
            <a:avLst>
              <a:gd name="adj" fmla="val 714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94560"/>
            <a:ext cx="89794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IA está entrenada para ser útil y coherente. El silencio en tu instrucción es una invitación a su creatividad.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04672" y="3291840"/>
            <a:ext cx="9381744" cy="256032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6112" y="3419856"/>
            <a:ext cx="109728" cy="23042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401568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¿Cómo evitar el relleno?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60704" y="3749040"/>
            <a:ext cx="903427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Identifica qué datos son obligatorios.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Declara explícitamente qué campos NO quieres.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Especifica el tipo de dato y la versión del lenguaje.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Si el agente inventa algo, no es su culpa: es un vacío en tu especificación.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Demo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 en vivo: del DER al SQL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Especificación real para Supabase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3127248"/>
          </a:xfrm>
          <a:prstGeom prst="roundRect">
            <a:avLst>
              <a:gd name="adj" fmla="val 117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2176272"/>
            <a:ext cx="88879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de especificación completa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15568" y="2596896"/>
            <a:ext cx="861364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Tengo un sistema de cine con el siguiente modelo: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PELÍCULA: id (PK, auto), título (text), duración (int)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SALA: id (PK, auto), nombre (text), capacidad (int)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FUNCIÓN: id (PK, auto), horario (timestamp), FKs a Película y Sala</a:t>
            </a:r>
            <a:endParaRPr lang="en-US" sz="1340" dirty="0"/>
          </a:p>
          <a:p>
            <a:pPr indent="0" marL="0">
              <a:buNone/>
            </a:pP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 el SQL PostgreSQL para Supabase. Usa snake_case.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Incluye ON DELETE RESTRICT. No incluyas RLS ni triggers.</a:t>
            </a:r>
            <a:endParaRPr lang="en-US" sz="1340" dirty="0"/>
          </a:p>
        </p:txBody>
      </p:sp>
      <p:sp>
        <p:nvSpPr>
          <p:cNvPr id="12" name="Shape 10"/>
          <p:cNvSpPr/>
          <p:nvPr/>
        </p:nvSpPr>
        <p:spPr>
          <a:xfrm>
            <a:off x="804672" y="5376672"/>
            <a:ext cx="9381744" cy="438912"/>
          </a:xfrm>
          <a:prstGeom prst="roundRect">
            <a:avLst>
              <a:gd name="adj" fmla="val 6250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" y="5486400"/>
            <a:ext cx="100584" cy="2194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5504688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Contexto compartido</a:t>
            </a:r>
            <a:endParaRPr lang="en-US" sz="108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Demo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Output esperado y correcto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SQL compatible con producción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 Schema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Reflexión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Checkpoint socrático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2.4 Leer antes de ejecutar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¿Es suficiente el código generado?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pasa si ejecuto primero la tabla 'funcion'?</a:t>
            </a:r>
            <a:endParaRPr lang="en-US" sz="1380" dirty="0"/>
          </a:p>
        </p:txBody>
      </p:sp>
      <p:sp>
        <p:nvSpPr>
          <p:cNvPr id="17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Falla. PostgreSQL requiere que el padre (pelicula) exista antes que el hijo.</a:t>
            </a:r>
            <a:endParaRPr lang="en-US" sz="1040" dirty="0"/>
          </a:p>
        </p:txBody>
      </p:sp>
      <p:sp>
        <p:nvSpPr>
          <p:cNvPr id="18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¿El agente avisó sobre el orden de ejecución?</a:t>
            </a:r>
            <a:endParaRPr lang="en-US" sz="1380" dirty="0"/>
          </a:p>
        </p:txBody>
      </p:sp>
      <p:sp>
        <p:nvSpPr>
          <p:cNvPr id="23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No. Eso es responsabilidad técnica del desarrollador.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¿Debo modificar el prompt o el SQL si algo cambia?</a:t>
            </a:r>
            <a:endParaRPr lang="en-US" sz="1380" dirty="0"/>
          </a:p>
        </p:txBody>
      </p:sp>
      <p:sp>
        <p:nvSpPr>
          <p:cNvPr id="29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 de la complejidad. Pequeños ajustes en SQL; grandes cambios en prompt.</a:t>
            </a:r>
            <a:endParaRPr lang="en-US" sz="104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Adaptabilidad del Prompt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2.4 El prompt como documento vivo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el negocio evoluciona, tu especificación técnica debe reflejarlo.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2926080"/>
            <a:ext cx="9381744" cy="32004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2688" y="30540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312724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iterar una especificación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950976" y="3438144"/>
            <a:ext cx="4453128" cy="1133856"/>
          </a:xfrm>
          <a:prstGeom prst="roundRect">
            <a:avLst>
              <a:gd name="adj" fmla="val 3226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0704" y="35661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36118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1572768" y="3566160"/>
            <a:ext cx="73152" cy="8778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73936" y="35844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Añadir Entidad</a:t>
            </a:r>
            <a:endParaRPr lang="en-US" sz="1360" dirty="0"/>
          </a:p>
        </p:txBody>
      </p:sp>
      <p:sp>
        <p:nvSpPr>
          <p:cNvPr id="19" name="Text 17"/>
          <p:cNvSpPr/>
          <p:nvPr/>
        </p:nvSpPr>
        <p:spPr>
          <a:xfrm>
            <a:off x="1773936" y="3877056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Actualiza la lista de entidades y sus relaciones.</a:t>
            </a:r>
            <a:endParaRPr lang="en-US" sz="1060" dirty="0"/>
          </a:p>
        </p:txBody>
      </p:sp>
      <p:sp>
        <p:nvSpPr>
          <p:cNvPr id="20" name="Shape 18"/>
          <p:cNvSpPr/>
          <p:nvPr/>
        </p:nvSpPr>
        <p:spPr>
          <a:xfrm>
            <a:off x="5586984" y="3438144"/>
            <a:ext cx="4453128" cy="1133856"/>
          </a:xfrm>
          <a:prstGeom prst="roundRect">
            <a:avLst>
              <a:gd name="adj" fmla="val 3226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96712" y="35661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96712" y="36118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208776" y="3566160"/>
            <a:ext cx="73152" cy="8778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9944" y="35844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Pedir Migración</a:t>
            </a:r>
            <a:endParaRPr lang="en-US" sz="1360" dirty="0"/>
          </a:p>
        </p:txBody>
      </p:sp>
      <p:sp>
        <p:nvSpPr>
          <p:cNvPr id="25" name="Text 23"/>
          <p:cNvSpPr/>
          <p:nvPr/>
        </p:nvSpPr>
        <p:spPr>
          <a:xfrm>
            <a:off x="6409944" y="3877056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Pide específicamente el SQL para alterar tablas existentes (ALTER TABLE).</a:t>
            </a:r>
            <a:endParaRPr lang="en-US" sz="1060" dirty="0"/>
          </a:p>
        </p:txBody>
      </p:sp>
      <p:sp>
        <p:nvSpPr>
          <p:cNvPr id="26" name="Shape 24"/>
          <p:cNvSpPr/>
          <p:nvPr/>
        </p:nvSpPr>
        <p:spPr>
          <a:xfrm>
            <a:off x="950976" y="4736592"/>
            <a:ext cx="4453128" cy="1133856"/>
          </a:xfrm>
          <a:prstGeom prst="roundRect">
            <a:avLst>
              <a:gd name="adj" fmla="val 3226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60704" y="486460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" y="491032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WARN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1572768" y="4864608"/>
            <a:ext cx="73152" cy="8778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73936" y="488289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Inconsistencia</a:t>
            </a:r>
            <a:endParaRPr lang="en-US" sz="1360" dirty="0"/>
          </a:p>
        </p:txBody>
      </p:sp>
      <p:sp>
        <p:nvSpPr>
          <p:cNvPr id="31" name="Text 29"/>
          <p:cNvSpPr/>
          <p:nvPr/>
        </p:nvSpPr>
        <p:spPr>
          <a:xfrm>
            <a:off x="1773936" y="5175504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cambias el prompt a la mitad, revisa que no se rompan las FKs anteriores.</a:t>
            </a:r>
            <a:endParaRPr lang="en-US" sz="1060" dirty="0"/>
          </a:p>
        </p:txBody>
      </p:sp>
      <p:sp>
        <p:nvSpPr>
          <p:cNvPr id="32" name="Shape 30"/>
          <p:cNvSpPr/>
          <p:nvPr/>
        </p:nvSpPr>
        <p:spPr>
          <a:xfrm>
            <a:off x="5586984" y="4736592"/>
            <a:ext cx="4453128" cy="1133856"/>
          </a:xfrm>
          <a:prstGeom prst="roundRect">
            <a:avLst>
              <a:gd name="adj" fmla="val 3226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696712" y="486460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96712" y="491032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6208776" y="4864608"/>
            <a:ext cx="73152" cy="8778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9944" y="488289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Versión Final</a:t>
            </a:r>
            <a:endParaRPr lang="en-US" sz="1360" dirty="0"/>
          </a:p>
        </p:txBody>
      </p:sp>
      <p:sp>
        <p:nvSpPr>
          <p:cNvPr id="37" name="Text 35"/>
          <p:cNvSpPr/>
          <p:nvPr/>
        </p:nvSpPr>
        <p:spPr>
          <a:xfrm>
            <a:off x="6409944" y="5175504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prompt debe producir el esquema completo y coherente.</a:t>
            </a:r>
            <a:endParaRPr lang="en-US" sz="106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¿Cuáles son los 4 componentes de un prompt técnico y para qué sirve cada uno?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significa que el agente 'rellena' los vacíos de una instrucción?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el orden de ejecución de un SQL generado es responsabilidad tuya y no de la IA?</a:t>
            </a:r>
            <a:endParaRPr lang="en-US" sz="156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ingeniería del prompt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prompt bien estructurado es la diferencia entre programar y solo chatear.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Especificación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Contexto, Tarea, Restricciones y Criterios.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Juicio Crítico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que la IA rellena huecos con suposiciones.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Revisar cada línea antes de considerarla código útil.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Agentes Integrados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25296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20240"/>
            <a:ext cx="8485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Salto Agéntico</a:t>
            </a:r>
            <a:endParaRPr lang="en-US" sz="3700" dirty="0"/>
          </a:p>
        </p:txBody>
      </p:sp>
      <p:sp>
        <p:nvSpPr>
          <p:cNvPr id="10" name="Text 7"/>
          <p:cNvSpPr/>
          <p:nvPr/>
        </p:nvSpPr>
        <p:spPr>
          <a:xfrm>
            <a:off x="804672" y="321868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copiar y pegar código a la orquestación total desde el repositorio.</a:t>
            </a:r>
            <a:endParaRPr lang="en-US" sz="1520" dirty="0"/>
          </a:p>
        </p:txBody>
      </p:sp>
      <p:sp>
        <p:nvSpPr>
          <p:cNvPr id="11" name="Shape 8"/>
          <p:cNvSpPr/>
          <p:nvPr/>
        </p:nvSpPr>
        <p:spPr>
          <a:xfrm>
            <a:off x="804672" y="5340096"/>
            <a:ext cx="2926080" cy="365760"/>
          </a:xfrm>
          <a:prstGeom prst="roundRect">
            <a:avLst>
              <a:gd name="adj" fmla="val 10000"/>
            </a:avLst>
          </a:prstGeom>
          <a:solidFill>
            <a:srgbClr val="173A5A"/>
          </a:solidFill>
          <a:ln w="12700">
            <a:solidFill>
              <a:srgbClr val="173A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50976" y="5413248"/>
            <a:ext cx="2670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8C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 minutos · estado del arte en desarrollo</a:t>
            </a:r>
            <a:endParaRPr lang="en-US" sz="93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Autonomía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Bucle de Razonamiento (ReAct)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3.1 Cómo 'piensa' un agente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377440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50545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57860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Ciclo: Pensamiento -&gt; Acción -&gt; Observación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4581144" y="2807208"/>
            <a:ext cx="182880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81144" y="289864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💭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81144" y="32644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PENSAR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81144" y="353872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Analiza el objetivo y el contexto.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 rot="3600000">
            <a:off x="6577900" y="3794760"/>
            <a:ext cx="274320" cy="274320"/>
          </a:xfrm>
          <a:prstGeom prst="rightArrow">
            <a:avLst/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89795" y="4727448"/>
            <a:ext cx="182880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89795" y="481888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🛠️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89795" y="51846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ACTUAR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89795" y="54589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 una Tool (Read, Write, Terminal).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 rot="10800000">
            <a:off x="5358384" y="5907024"/>
            <a:ext cx="274320" cy="274320"/>
          </a:xfrm>
          <a:prstGeom prst="rightArrow">
            <a:avLst/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2493" y="4727448"/>
            <a:ext cx="182880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2493" y="481888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👁️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472493" y="51846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72493" y="54589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 el resultado del sistema.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 rot="18000000">
            <a:off x="4138868" y="3794760"/>
            <a:ext cx="274320" cy="274320"/>
          </a:xfrm>
          <a:prstGeom prst="rightArrow">
            <a:avLst/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23944" y="43159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REPETIR HASTA CUMPLIR EL OBJETIVO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'Legacy' del Chat Web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3.1 El problema del puente humano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que el chat es ineficiente?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en Navegador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Modo Chatbot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ve tu estructura de carpetas.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sabe que librerías instalaste.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Olvida el contexto al cerrar la pestaña.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Programador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Modo Puente</a:t>
            </a:r>
            <a:endParaRPr lang="en-US" sz="940" dirty="0"/>
          </a:p>
        </p:txBody>
      </p:sp>
      <p:sp>
        <p:nvSpPr>
          <p:cNvPr id="29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Copia y pega manualmente.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Adapta tipos que la IA ignoró.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Corrige errores de importación.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2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desgaste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cognitivo</a:t>
            </a:r>
            <a:endParaRPr lang="en-US" sz="72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Gestión de Contexto Quirúrgica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3.1 Eficiencia de Tokens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qué el agente no lee archivos completos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Límite de Ventana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Leer un archivo de 2000 líneas 'agota' la memoria del agente.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start_line / end_line</a:t>
            </a:r>
            <a:endParaRPr lang="en-US" sz="1360" dirty="0"/>
          </a:p>
        </p:txBody>
      </p:sp>
      <p:sp>
        <p:nvSpPr>
          <p:cNvPr id="23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solo lee las 20 líneas que le interesan para el fix.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GREP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Búsqueda Optimizada</a:t>
            </a:r>
            <a:endParaRPr lang="en-US" sz="1360" dirty="0"/>
          </a:p>
        </p:txBody>
      </p:sp>
      <p:sp>
        <p:nvSpPr>
          <p:cNvPr id="29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herramientas de búsqueda en vez de scroll manual.</a:t>
            </a:r>
            <a:endParaRPr lang="en-US" sz="1060" dirty="0"/>
          </a:p>
        </p:txBody>
      </p:sp>
      <p:sp>
        <p:nvSpPr>
          <p:cNvPr id="30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Ahorro Cognitivo</a:t>
            </a:r>
            <a:endParaRPr lang="en-US" sz="1360" dirty="0"/>
          </a:p>
        </p:txBody>
      </p:sp>
      <p:sp>
        <p:nvSpPr>
          <p:cNvPr id="35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Menos ruido en el contexto = Mayor precisión en la respuesta.</a:t>
            </a:r>
            <a:endParaRPr lang="en-US" sz="106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como Proceso del Sistema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3.1 Integración Nativa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Herramientas como Gemini CLI, Claude Code o Codex no son chats: son procesos que viven DENTRO de tu repo.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2926080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Gemini CLI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" y="3328416"/>
            <a:ext cx="25968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Ejecución de tareas agénticas desde la terminal.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950208" y="2926080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0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Claude Code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06240" y="3328416"/>
            <a:ext cx="25968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Agente con capacidades de lectura y escritura de archivos.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95744" y="2926080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68896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Codex / Cursor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51776" y="3328416"/>
            <a:ext cx="25968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Editores diseñados para la manipulación agéntica de código.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Arquitectura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Orquestación del Ecosistema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La anatomía de un agente moderno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377440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50545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173A5A"/>
          </a:solidFill>
          <a:ln w="12700">
            <a:solidFill>
              <a:srgbClr val="17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57860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como Orquestador de Recursos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4946904" y="4315968"/>
            <a:ext cx="1097280" cy="109728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46904" y="468172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 flipH="1">
            <a:off x="4149325" y="4864608"/>
            <a:ext cx="1346219" cy="777240"/>
          </a:xfrm>
          <a:prstGeom prst="line">
            <a:avLst/>
          </a:prstGeom>
          <a:noFill/>
          <a:ln w="12700">
            <a:solidFill>
              <a:srgbClr val="FFFFFF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3417805" y="5230368"/>
            <a:ext cx="1463040" cy="822960"/>
          </a:xfrm>
          <a:prstGeom prst="roundRect">
            <a:avLst>
              <a:gd name="adj" fmla="val 4444"/>
            </a:avLst>
          </a:prstGeom>
          <a:solidFill>
            <a:srgbClr val="173A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17805" y="5276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🧠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417805" y="5550408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MEMORIA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17805" y="5733288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8C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.md / Contexto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495544" y="4864608"/>
            <a:ext cx="1346219" cy="777240"/>
          </a:xfrm>
          <a:prstGeom prst="line">
            <a:avLst/>
          </a:prstGeom>
          <a:noFill/>
          <a:ln w="12700">
            <a:solidFill>
              <a:srgbClr val="FFFFFF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110243" y="5230368"/>
            <a:ext cx="1463040" cy="822960"/>
          </a:xfrm>
          <a:prstGeom prst="roundRect">
            <a:avLst>
              <a:gd name="adj" fmla="val 4444"/>
            </a:avLst>
          </a:prstGeom>
          <a:solidFill>
            <a:srgbClr val="173A5A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10243" y="5276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🛠️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10243" y="5550408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10243" y="5733288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8C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Filesystem / DB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 flipH="1">
            <a:off x="5495544" y="3310128"/>
            <a:ext cx="0" cy="1554480"/>
          </a:xfrm>
          <a:prstGeom prst="line">
            <a:avLst/>
          </a:prstGeom>
          <a:noFill/>
          <a:ln w="12700">
            <a:solidFill>
              <a:srgbClr val="FFFFFF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64024" y="2898648"/>
            <a:ext cx="1463040" cy="822960"/>
          </a:xfrm>
          <a:prstGeom prst="roundRect">
            <a:avLst>
              <a:gd name="adj" fmla="val 4444"/>
            </a:avLst>
          </a:prstGeom>
          <a:solidFill>
            <a:srgbClr val="173A5A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64024" y="294436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🤖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764024" y="3218688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SUB-AGENTES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64024" y="3401568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8C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Especialistas</a:t>
            </a:r>
            <a:endParaRPr lang="en-US" sz="7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Memoria Institucional (.md)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Instrucciones persistentes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Archivos de Contexto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609344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10512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GEMINI.md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1810512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Reglas de build, estilo pedagógico y convenciones Node/TS.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96712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96712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CLAUDE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245352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CLAUDE.md</a:t>
            </a:r>
            <a:endParaRPr lang="en-US" sz="1360" dirty="0"/>
          </a:p>
        </p:txBody>
      </p:sp>
      <p:sp>
        <p:nvSpPr>
          <p:cNvPr id="23" name="Text 21"/>
          <p:cNvSpPr/>
          <p:nvPr/>
        </p:nvSpPr>
        <p:spPr>
          <a:xfrm>
            <a:off x="6446520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Comandos del repo, stack tecnológico y flujo de trabajo.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" y="444398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489704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ONBOARD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166420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5376" y="4462272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Autónomo</a:t>
            </a:r>
            <a:endParaRPr lang="en-US" sz="1360" dirty="0"/>
          </a:p>
        </p:txBody>
      </p:sp>
      <p:sp>
        <p:nvSpPr>
          <p:cNvPr id="29" name="Text 27"/>
          <p:cNvSpPr/>
          <p:nvPr/>
        </p:nvSpPr>
        <p:spPr>
          <a:xfrm>
            <a:off x="1865376" y="4754880"/>
            <a:ext cx="3410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hace su propio 'onboarding' leyendo estos archivos.</a:t>
            </a:r>
            <a:endParaRPr lang="en-US" sz="1060" dirty="0"/>
          </a:p>
        </p:txBody>
      </p:sp>
      <p:sp>
        <p:nvSpPr>
          <p:cNvPr id="30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 Repetición</a:t>
            </a:r>
            <a:endParaRPr lang="en-US" sz="1360" dirty="0"/>
          </a:p>
        </p:txBody>
      </p:sp>
      <p:sp>
        <p:nvSpPr>
          <p:cNvPr id="35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tienes que explicar el proyecto en cada nueva instrucción.</a:t>
            </a:r>
            <a:endParaRPr lang="en-US" sz="106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Contexto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Anatomía de un GEMINI.md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Personalizando la IA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 de Mandatos de Ingeniería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MCP: El Protocolo de Conexión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Rompiendo la barrera del texto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157984"/>
            <a:ext cx="109728" cy="13898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es Model Context Protocol?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60704" y="2487168"/>
            <a:ext cx="90342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un estándar que permite a un modelo de lenguaje interactuar con herramientas del mundo real (archivos, terminal, bases de datos) sin que el humano actúe de intermediario.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" y="3840480"/>
            <a:ext cx="9381744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688" y="39684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404164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Capacidades MCP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950976" y="4352544"/>
            <a:ext cx="4453128" cy="1517904"/>
          </a:xfrm>
          <a:prstGeom prst="roundRect">
            <a:avLst>
              <a:gd name="adj" fmla="val 241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60704" y="44805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0704" y="45262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572768" y="4480560"/>
            <a:ext cx="73152" cy="12618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73936" y="44988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Filesystem</a:t>
            </a:r>
            <a:endParaRPr lang="en-US" sz="1360" dirty="0"/>
          </a:p>
        </p:txBody>
      </p:sp>
      <p:sp>
        <p:nvSpPr>
          <p:cNvPr id="21" name="Text 19"/>
          <p:cNvSpPr/>
          <p:nvPr/>
        </p:nvSpPr>
        <p:spPr>
          <a:xfrm>
            <a:off x="1773936" y="4791456"/>
            <a:ext cx="35021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 y escribe archivos quirúrgicamente en tu disco.</a:t>
            </a:r>
            <a:endParaRPr lang="en-US" sz="1060" dirty="0"/>
          </a:p>
        </p:txBody>
      </p:sp>
      <p:sp>
        <p:nvSpPr>
          <p:cNvPr id="22" name="Shape 20"/>
          <p:cNvSpPr/>
          <p:nvPr/>
        </p:nvSpPr>
        <p:spPr>
          <a:xfrm>
            <a:off x="5586984" y="4352544"/>
            <a:ext cx="4453128" cy="1517904"/>
          </a:xfrm>
          <a:prstGeom prst="roundRect">
            <a:avLst>
              <a:gd name="adj" fmla="val 241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96712" y="44805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96712" y="45262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6208776" y="4480560"/>
            <a:ext cx="73152" cy="12618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9944" y="44988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Terminal</a:t>
            </a:r>
            <a:endParaRPr lang="en-US" sz="1360" dirty="0"/>
          </a:p>
        </p:txBody>
      </p:sp>
      <p:sp>
        <p:nvSpPr>
          <p:cNvPr id="27" name="Text 25"/>
          <p:cNvSpPr/>
          <p:nvPr/>
        </p:nvSpPr>
        <p:spPr>
          <a:xfrm>
            <a:off x="6409944" y="4791456"/>
            <a:ext cx="35021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 tests y comandos de compilación automáticamente.</a:t>
            </a:r>
            <a:endParaRPr lang="en-US" sz="106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Infraestructura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Arquitectura MCP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La cadena de mando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926080"/>
            <a:ext cx="2011680" cy="274320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3035808"/>
            <a:ext cx="100584" cy="25237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305409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LLM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60704" y="3328416"/>
            <a:ext cx="16824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 la intención técnica (JSON).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862072" y="4023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027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182112" y="2926080"/>
            <a:ext cx="2011680" cy="274320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55264" y="3035808"/>
            <a:ext cx="100584" cy="25237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38144" y="305409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Cliente MCP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38144" y="3328416"/>
            <a:ext cx="16824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 CLI captura la intención.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39512" y="4023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027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559552" y="2926080"/>
            <a:ext cx="2011680" cy="274320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32704" y="3035808"/>
            <a:ext cx="100584" cy="25237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15584" y="305409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 MCP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815584" y="3328416"/>
            <a:ext cx="16824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local que tiene el permiso.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16952" y="4023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027"/>
                </a:solidFill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7936992" y="2926080"/>
            <a:ext cx="2011680" cy="274320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10144" y="3035808"/>
            <a:ext cx="100584" cy="25237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93024" y="305409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193024" y="3328416"/>
            <a:ext cx="16824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Ejecución real (SQL, Bash, FS).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Casos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Inspector de Base de Datos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Caso de uso real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usa el MCP de SQL para consultar el esquema real de Supabase antes de proponer código.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" y="2926080"/>
            <a:ext cx="9381744" cy="3255264"/>
          </a:xfrm>
          <a:prstGeom prst="roundRect">
            <a:avLst>
              <a:gd name="adj" fmla="val 112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2688" y="3035808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3108960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Llamada interna del agente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3493008"/>
            <a:ext cx="8961120" cy="250545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Protocolo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Visualizando el Puente MCP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De la predicción a la acción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377440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2651760"/>
            <a:ext cx="4325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Mundo del Lenguaje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70432" y="3291840"/>
            <a:ext cx="3410712" cy="2688336"/>
          </a:xfrm>
          <a:prstGeom prst="rect">
            <a:avLst/>
          </a:prstGeom>
          <a:solidFill>
            <a:srgbClr val="E6EEF7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0432" y="3474720"/>
            <a:ext cx="3410712" cy="2322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RAZONAMIENTO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Tokens, Patrones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78424" y="2651760"/>
            <a:ext cx="4325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Mundo Fisico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9944" y="3291840"/>
            <a:ext cx="3410712" cy="2688336"/>
          </a:xfrm>
          <a:prstGeom prst="rect">
            <a:avLst/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9944" y="3474720"/>
            <a:ext cx="3410712" cy="2322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ACCION REAL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Terminal, SQL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55464" y="4270248"/>
            <a:ext cx="1280160" cy="548640"/>
          </a:xfrm>
          <a:prstGeom prst="roundRect">
            <a:avLst>
              <a:gd name="adj" fmla="val 33333"/>
            </a:avLst>
          </a:prstGeom>
          <a:solidFill>
            <a:srgbClr val="E0BC5A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55464" y="4361688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Capacidades MCP Reales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Ejemplos en vivo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el agente hace por ti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DB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¿Cómo se llama la tabla?</a:t>
            </a:r>
            <a:endParaRPr lang="en-US" sz="1380" dirty="0"/>
          </a:p>
        </p:txBody>
      </p:sp>
      <p:sp>
        <p:nvSpPr>
          <p:cNvPr id="17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Consultar Supabase directamente vía SQL MCP.</a:t>
            </a:r>
            <a:endParaRPr lang="en-US" sz="1040" dirty="0"/>
          </a:p>
        </p:txBody>
      </p:sp>
      <p:sp>
        <p:nvSpPr>
          <p:cNvPr id="18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¿Compila mi cambio?</a:t>
            </a:r>
            <a:endParaRPr lang="en-US" sz="1380" dirty="0"/>
          </a:p>
        </p:txBody>
      </p:sp>
      <p:sp>
        <p:nvSpPr>
          <p:cNvPr id="23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Correr 'npm run build' y leer el error real.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¿Se ve bien el CSS?</a:t>
            </a:r>
            <a:endParaRPr lang="en-US" sz="1380" dirty="0"/>
          </a:p>
        </p:txBody>
      </p:sp>
      <p:sp>
        <p:nvSpPr>
          <p:cNvPr id="29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Playwright para sacar un screenshot y analizarlo.</a:t>
            </a:r>
            <a:endParaRPr lang="en-US" sz="1040" dirty="0"/>
          </a:p>
        </p:txBody>
      </p:sp>
      <p:sp>
        <p:nvSpPr>
          <p:cNvPr id="30" name="Shape 28"/>
          <p:cNvSpPr/>
          <p:nvPr/>
        </p:nvSpPr>
        <p:spPr>
          <a:xfrm>
            <a:off x="5596128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87568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33872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33872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FILES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5833872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¿Dónde está el error?</a:t>
            </a:r>
            <a:endParaRPr lang="en-US" sz="1380" dirty="0"/>
          </a:p>
        </p:txBody>
      </p:sp>
      <p:sp>
        <p:nvSpPr>
          <p:cNvPr id="35" name="Text 33"/>
          <p:cNvSpPr/>
          <p:nvPr/>
        </p:nvSpPr>
        <p:spPr>
          <a:xfrm>
            <a:off x="5833872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Grep search en todo el proyecto en milisegundos.</a:t>
            </a:r>
            <a:endParaRPr lang="en-US" sz="104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Autocorrección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Bucle de Autocorrección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3.4 Sin intervención humana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926080"/>
            <a:ext cx="2194560" cy="274320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305409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Ejecutar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60704" y="3328416"/>
            <a:ext cx="186537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Lanzar 'npm run build' vía Terminal MCP.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182112" y="2926080"/>
            <a:ext cx="2194560" cy="274320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55264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38144" y="305409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Leer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38144" y="3328416"/>
            <a:ext cx="186537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Capturar el stack trace del error.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59552" y="2926080"/>
            <a:ext cx="2194560" cy="274320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32704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15584" y="305409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Corregir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815584" y="3328416"/>
            <a:ext cx="186537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Localizar el archivo y aplicar el fix quirúrgico.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36992" y="2926080"/>
            <a:ext cx="2194560" cy="274320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10144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93024" y="305409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Validar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193024" y="3328416"/>
            <a:ext cx="186537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Volver a ejecutar el build para confirmar éxito.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la Charla a la Acción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3.4 Slash Commands operativos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una CLI agéntica, los comandos activan cadenas de razonamiento complejas.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2926080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/init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0704" y="3328416"/>
            <a:ext cx="25968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Analiza el repo y crea archivos de contexto.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50208" y="2926080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0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/test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206240" y="3328416"/>
            <a:ext cx="25968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Descubre, ejecuta y repara tests fallidos.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095744" y="2926080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68896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/fix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51776" y="3328416"/>
            <a:ext cx="25968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Propone una solución incremental a un bug reportado.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Acción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Simulacro de Ejecución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3.4 El agente llamando a una herramienta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377440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7552" y="2514600"/>
            <a:ext cx="137160" cy="13716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16152" y="2514600"/>
            <a:ext cx="137160" cy="13716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44752" y="2514600"/>
            <a:ext cx="137160" cy="13716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834640"/>
            <a:ext cx="90159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C9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/test --dir=clases/semana-05/02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70432" y="3291840"/>
            <a:ext cx="86502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Arguments: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70432" y="3566160"/>
            <a:ext cx="86502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"target": "ppt-validation",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"mode": "strict"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70432" y="4754880"/>
            <a:ext cx="8650224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70432" y="4937760"/>
            <a:ext cx="86502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C9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70432" y="5212080"/>
            <a:ext cx="8650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Success: All slides passed structural integrity (.NET validator).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Skills: Tu Manual de Procedimientos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3.5 Especialización bajo demanda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Skills locales en .agent/skills/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609344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10512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clase-design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1810512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Instrucciones para estructurar clases pedagógicamente.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96712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96712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245352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slides-aiep</a:t>
            </a:r>
            <a:endParaRPr lang="en-US" sz="1360" dirty="0"/>
          </a:p>
        </p:txBody>
      </p:sp>
      <p:sp>
        <p:nvSpPr>
          <p:cNvPr id="23" name="Text 21"/>
          <p:cNvSpPr/>
          <p:nvPr/>
        </p:nvSpPr>
        <p:spPr>
          <a:xfrm>
            <a:off x="6446520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Dirección visual institucional y reglas de diseño.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COMMS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cohort-comms</a:t>
            </a:r>
            <a:endParaRPr lang="en-US" sz="1360" dirty="0"/>
          </a:p>
        </p:txBody>
      </p:sp>
      <p:sp>
        <p:nvSpPr>
          <p:cNvPr id="29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Redacción de mensajes para WhatsApp y cohorte.</a:t>
            </a:r>
            <a:endParaRPr lang="en-US" sz="1060" dirty="0"/>
          </a:p>
        </p:txBody>
      </p:sp>
      <p:sp>
        <p:nvSpPr>
          <p:cNvPr id="30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evaluacion-design</a:t>
            </a:r>
            <a:endParaRPr lang="en-US" sz="1360" dirty="0"/>
          </a:p>
        </p:txBody>
      </p:sp>
      <p:sp>
        <p:nvSpPr>
          <p:cNvPr id="35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Creación de rúbricas y criterios de evaluación.</a:t>
            </a:r>
            <a:endParaRPr lang="en-US" sz="106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Skills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Ejemplo Skill: Reducing-Entropy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3.5 Sesgo hacia la simplicidad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de Oro de la Skill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Sub-Agentes: La Fuerza Especial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3.5 Orquestación y delegación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Delegación técnica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Agente Generalista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Orquestador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Entiende tu requerimiento natural.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 a quién llamar.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Sintetiza el resultado final.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Sub-Agentes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Especialistas</a:t>
            </a:r>
            <a:endParaRPr lang="en-US" sz="940" dirty="0"/>
          </a:p>
        </p:txBody>
      </p:sp>
      <p:sp>
        <p:nvSpPr>
          <p:cNvPr id="29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Codebase Investigator: Mapea el repo.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Generalist: Refactorización masiva.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Sub-bots especializados.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1060" dirty="0"/>
          </a:p>
        </p:txBody>
      </p:sp>
      <p:sp>
        <p:nvSpPr>
          <p:cNvPr id="42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divide y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venceras</a:t>
            </a:r>
            <a:endParaRPr lang="en-US" sz="72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Mapeo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Grafo Mental del Repositorio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3.5 Cómo 'entiendo' tu código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Codebase Investigator construye un mapa de símbolos antes de proponer cambios.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" y="2926080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035808"/>
            <a:ext cx="100584" cy="25237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Dependencias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" y="3328416"/>
            <a:ext cx="25968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Relación entre imports y archivos.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950208" y="2926080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0" y="3035808"/>
            <a:ext cx="100584" cy="25237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Arquitectura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06240" y="3328416"/>
            <a:ext cx="25968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Identificación de patrones (MVC, Capas).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95744" y="2926080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68896" y="3035808"/>
            <a:ext cx="100584" cy="25237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Impacto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51776" y="3328416"/>
            <a:ext cx="25968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se rompe si cambio esta función?</a:t>
            </a:r>
            <a:endParaRPr lang="en-US" sz="1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Seguridad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Capas de Seguridad en Terminal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3.6 El Sandbox Operativo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Límites del Agente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Protección .env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tiene prohibido leer o listar archivos de secretos.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WARN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Permisos de Escritura</a:t>
            </a:r>
            <a:endParaRPr lang="en-US" sz="1360" dirty="0"/>
          </a:p>
        </p:txBody>
      </p:sp>
      <p:sp>
        <p:nvSpPr>
          <p:cNvPr id="23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'write_file' genera un diff que tú debes aprobar.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HALT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Comandos Destructivos</a:t>
            </a:r>
            <a:endParaRPr lang="en-US" sz="1360" dirty="0"/>
          </a:p>
        </p:txBody>
      </p:sp>
      <p:sp>
        <p:nvSpPr>
          <p:cNvPr id="29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Operaciones tipo 'rm -rf' o 'drop table' requieren confirmación humana.</a:t>
            </a:r>
            <a:endParaRPr lang="en-US" sz="1060" dirty="0"/>
          </a:p>
        </p:txBody>
      </p:sp>
      <p:sp>
        <p:nvSpPr>
          <p:cNvPr id="30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Logs de Sesión</a:t>
            </a:r>
            <a:endParaRPr lang="en-US" sz="1360" dirty="0"/>
          </a:p>
        </p:txBody>
      </p:sp>
      <p:sp>
        <p:nvSpPr>
          <p:cNvPr id="35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comando ejecutado queda registrado para auditoría técnica.</a:t>
            </a:r>
            <a:endParaRPr lang="en-US" sz="106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 y 'Axioma de Integridad'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Ética y responsabilidad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Reglas de Misión Crítica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AXIOMA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609344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10512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Integridad Técnica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1810512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Prohibido reescribir todo. Siempre ediciones quirúrgicas.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96712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96712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245352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Protección de Datos</a:t>
            </a:r>
            <a:endParaRPr lang="en-US" sz="1360" dirty="0"/>
          </a:p>
        </p:txBody>
      </p:sp>
      <p:sp>
        <p:nvSpPr>
          <p:cNvPr id="23" name="Text 21"/>
          <p:cNvSpPr/>
          <p:nvPr/>
        </p:nvSpPr>
        <p:spPr>
          <a:xfrm>
            <a:off x="6446520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no debe leer .env ni claves de API.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 Final</a:t>
            </a:r>
            <a:endParaRPr lang="en-US" sz="1360" dirty="0"/>
          </a:p>
        </p:txBody>
      </p:sp>
      <p:sp>
        <p:nvSpPr>
          <p:cNvPr id="29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propone, el humano aprueba el diff.</a:t>
            </a:r>
            <a:endParaRPr lang="en-US" sz="1060" dirty="0"/>
          </a:p>
        </p:txBody>
      </p:sp>
      <p:sp>
        <p:nvSpPr>
          <p:cNvPr id="30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Trazabilidad</a:t>
            </a:r>
            <a:endParaRPr lang="en-US" sz="1360" dirty="0"/>
          </a:p>
        </p:txBody>
      </p:sp>
      <p:sp>
        <p:nvSpPr>
          <p:cNvPr id="35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Todo cambio generado debe ser documentado.</a:t>
            </a:r>
            <a:endParaRPr lang="en-US" sz="106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3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un CLAUDE.md bien escrito ahorra 20 minutos de prompting?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capacidad le otorga un MCP de Supabase al agente que antes era imposible?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¿En qué se diferencia una Skill de una instrucción de chat normal?</a:t>
            </a:r>
            <a:endParaRPr lang="en-US" sz="156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3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Orquestadores de Sistemas Agénticos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Dejamos de ser usuarios de chat para ser arquitectos que orquestan agentes integrados.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Integración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vive en el repositorio y lee tu código real.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Capacidad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permite al agente tocar terminal, archivos y bases de datos.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Skills y Axiomas definen cómo debe trabajar la IA.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25296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20240"/>
            <a:ext cx="8485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Juicio Humano</a:t>
            </a:r>
            <a:endParaRPr lang="en-US" sz="3700" dirty="0"/>
          </a:p>
        </p:txBody>
      </p:sp>
      <p:sp>
        <p:nvSpPr>
          <p:cNvPr id="10" name="Text 7"/>
          <p:cNvSpPr/>
          <p:nvPr/>
        </p:nvSpPr>
        <p:spPr>
          <a:xfrm>
            <a:off x="804672" y="321868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Validación, Integración y Trazabilidad: El desarrollador como auditor crítico.</a:t>
            </a:r>
            <a:endParaRPr lang="en-US" sz="152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Riesgos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Ilusión de la Precisión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4.1 Por qué la IA falla en formas extrañas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 LLMs no 'entienden' tu código; predicen patrones estadísticos. Un cambio en la atención puede causar fallos catastróficos.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2926080"/>
            <a:ext cx="9381744" cy="32004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2688" y="30540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312724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Sesgos comunes del agente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950976" y="3438144"/>
            <a:ext cx="4453128" cy="1133856"/>
          </a:xfrm>
          <a:prstGeom prst="roundRect">
            <a:avLst>
              <a:gd name="adj" fmla="val 3226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0704" y="35661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36118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HAPPY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1572768" y="3566160"/>
            <a:ext cx="73152" cy="8778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73936" y="35844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Happy Path Bias</a:t>
            </a:r>
            <a:endParaRPr lang="en-US" sz="1360" dirty="0"/>
          </a:p>
        </p:txBody>
      </p:sp>
      <p:sp>
        <p:nvSpPr>
          <p:cNvPr id="19" name="Text 17"/>
          <p:cNvSpPr/>
          <p:nvPr/>
        </p:nvSpPr>
        <p:spPr>
          <a:xfrm>
            <a:off x="1773936" y="3877056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asume que nada fallará (no incluye try/except o validaciones).</a:t>
            </a:r>
            <a:endParaRPr lang="en-US" sz="1060" dirty="0"/>
          </a:p>
        </p:txBody>
      </p:sp>
      <p:sp>
        <p:nvSpPr>
          <p:cNvPr id="20" name="Shape 18"/>
          <p:cNvSpPr/>
          <p:nvPr/>
        </p:nvSpPr>
        <p:spPr>
          <a:xfrm>
            <a:off x="5586984" y="3438144"/>
            <a:ext cx="4453128" cy="1133856"/>
          </a:xfrm>
          <a:prstGeom prst="roundRect">
            <a:avLst>
              <a:gd name="adj" fmla="val 3226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96712" y="35661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96712" y="36118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208776" y="3566160"/>
            <a:ext cx="73152" cy="8778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9944" y="35844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Exceso de Confianza</a:t>
            </a:r>
            <a:endParaRPr lang="en-US" sz="1360" dirty="0"/>
          </a:p>
        </p:txBody>
      </p:sp>
      <p:sp>
        <p:nvSpPr>
          <p:cNvPr id="25" name="Text 23"/>
          <p:cNvSpPr/>
          <p:nvPr/>
        </p:nvSpPr>
        <p:spPr>
          <a:xfrm>
            <a:off x="6409944" y="3877056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Inventa parámetros o librerías si no recuerda el nombre exacto.</a:t>
            </a:r>
            <a:endParaRPr lang="en-US" sz="1060" dirty="0"/>
          </a:p>
        </p:txBody>
      </p:sp>
      <p:sp>
        <p:nvSpPr>
          <p:cNvPr id="26" name="Shape 24"/>
          <p:cNvSpPr/>
          <p:nvPr/>
        </p:nvSpPr>
        <p:spPr>
          <a:xfrm>
            <a:off x="950976" y="4736592"/>
            <a:ext cx="4453128" cy="1133856"/>
          </a:xfrm>
          <a:prstGeom prst="roundRect">
            <a:avLst>
              <a:gd name="adj" fmla="val 3226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60704" y="486460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" y="491032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DRIFT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1572768" y="4864608"/>
            <a:ext cx="73152" cy="8778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73936" y="488289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Deriva de Atención</a:t>
            </a:r>
            <a:endParaRPr lang="en-US" sz="1360" dirty="0"/>
          </a:p>
        </p:txBody>
      </p:sp>
      <p:sp>
        <p:nvSpPr>
          <p:cNvPr id="31" name="Text 29"/>
          <p:cNvSpPr/>
          <p:nvPr/>
        </p:nvSpPr>
        <p:spPr>
          <a:xfrm>
            <a:off x="1773936" y="5175504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tareas largas, olvida las restricciones del inicio del prompt.</a:t>
            </a:r>
            <a:endParaRPr lang="en-US" sz="1060" dirty="0"/>
          </a:p>
        </p:txBody>
      </p:sp>
      <p:sp>
        <p:nvSpPr>
          <p:cNvPr id="32" name="Shape 30"/>
          <p:cNvSpPr/>
          <p:nvPr/>
        </p:nvSpPr>
        <p:spPr>
          <a:xfrm>
            <a:off x="5586984" y="4736592"/>
            <a:ext cx="4453128" cy="1133856"/>
          </a:xfrm>
          <a:prstGeom prst="roundRect">
            <a:avLst>
              <a:gd name="adj" fmla="val 3226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696712" y="486460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96712" y="491032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LAZY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6208776" y="4864608"/>
            <a:ext cx="73152" cy="8778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9944" y="488289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Pereza Técnica</a:t>
            </a:r>
            <a:endParaRPr lang="en-US" sz="1360" dirty="0"/>
          </a:p>
        </p:txBody>
      </p:sp>
      <p:sp>
        <p:nvSpPr>
          <p:cNvPr id="37" name="Text 35"/>
          <p:cNvSpPr/>
          <p:nvPr/>
        </p:nvSpPr>
        <p:spPr>
          <a:xfrm>
            <a:off x="6409944" y="5175504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Sustituye lógica compleja por '... (implementar aquí)'.</a:t>
            </a:r>
            <a:endParaRPr lang="en-US" sz="106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Integridad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'Trampa de la Reescritura'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4.1 Diagnóstico de un error común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157984"/>
            <a:ext cx="109728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error: 'Borraré todo y lo haré de nuevo'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60704" y="2487168"/>
            <a:ext cx="90342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Ocurre cuando el agente pierde el hilo del contexto o intenta 'simplificar' un bug difícil. El resultado suele ser código incompleto y regresiones masivas.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" y="3840480"/>
            <a:ext cx="9381744" cy="2286000"/>
          </a:xfrm>
          <a:prstGeom prst="roundRect">
            <a:avLst>
              <a:gd name="adj" fmla="val 16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688" y="3950208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4023360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Antídoto: Axioma de Integridad</a:t>
            </a:r>
            <a:endParaRPr lang="en-US" sz="10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4407408"/>
            <a:ext cx="8961120" cy="1536192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Metodología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Domando a la Entidad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4.2 La IA como animal salvaje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Navegando con Agentes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Peligro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arneses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Delegar sin supervisión.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Aceptar cambios sin leer el diff.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Dar instrucciones vagas.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Maestría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control técnico</a:t>
            </a:r>
            <a:endParaRPr lang="en-US" sz="940" dirty="0"/>
          </a:p>
        </p:txBody>
      </p:sp>
      <p:sp>
        <p:nvSpPr>
          <p:cNvPr id="29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MCPs para que la IA vea la realidad.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Definir Skills específicas.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Aplicar el Axioma de Integridad.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practice</a:t>
            </a:r>
            <a:endParaRPr lang="en-US" sz="1060" dirty="0"/>
          </a:p>
        </p:txBody>
      </p:sp>
      <p:sp>
        <p:nvSpPr>
          <p:cNvPr id="42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domar la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potencia</a:t>
            </a:r>
            <a:endParaRPr lang="en-US" sz="72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Validación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Monitor de Validación de 4 Capas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4.3 Checklist de Ingeniería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377440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50545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57860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Auditoría Sistemática de Código Generado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87552" y="3108960"/>
            <a:ext cx="9015984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70432" y="3291840"/>
            <a:ext cx="274320" cy="27432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27632" y="3246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TIPOS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06256" y="3246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5F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FAIL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27632" y="3520440"/>
            <a:ext cx="81015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Uso de 'Any' o tipos legacy. No compila con Mypy.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87552" y="3931920"/>
            <a:ext cx="9015984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70432" y="4114800"/>
            <a:ext cx="274320" cy="27432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27632" y="40690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LOGICA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06256" y="40690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BD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WARN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27632" y="4343400"/>
            <a:ext cx="81015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Faltan validaciones de negocio en Supabase.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87552" y="4754880"/>
            <a:ext cx="9015984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70432" y="4937760"/>
            <a:ext cx="274320" cy="27432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27632" y="4892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06256" y="4892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7C93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OK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627632" y="5166360"/>
            <a:ext cx="81015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hay secrets ni credenciales expuestas.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87552" y="5577840"/>
            <a:ext cx="9015984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70432" y="5760720"/>
            <a:ext cx="274320" cy="27432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27632" y="5715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CONVENCIÓN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906256" y="57150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7C93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OK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627632" y="5989320"/>
            <a:ext cx="81015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Sigue las reglas de GEMINI.md.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Integración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Trazabilidad: ¿Quién escribió esto?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4.4 Documentación y Auditoría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157984"/>
            <a:ext cx="109728" cy="10241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Responsabilidad Técnica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60704" y="2487168"/>
            <a:ext cx="9034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integras código de IA, tú eres el autor legal y técnico. Debes poder explicar cada línea.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" y="3493008"/>
            <a:ext cx="9381744" cy="2688336"/>
          </a:xfrm>
          <a:prstGeom prst="roundRect">
            <a:avLst>
              <a:gd name="adj" fmla="val 136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688" y="360273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67588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Message con IA</a:t>
            </a:r>
            <a:endParaRPr lang="en-US" sz="10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4059936"/>
            <a:ext cx="8961120" cy="1938528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Síntesis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Resumen Semanal de Integración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05 · El Backend Moderno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2926080" cy="4151376"/>
          </a:xfrm>
          <a:prstGeom prst="roundRect">
            <a:avLst>
              <a:gd name="adj" fmla="val 9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2139696"/>
            <a:ext cx="100584" cy="39319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1579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Lunes: Arquitectura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60704" y="2432304"/>
            <a:ext cx="259689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Entendimos el Servidor, HTTP y las Capas.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950208" y="2029968"/>
            <a:ext cx="2926080" cy="4151376"/>
          </a:xfrm>
          <a:prstGeom prst="roundRect">
            <a:avLst>
              <a:gd name="adj" fmla="val 9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23360" y="2139696"/>
            <a:ext cx="100584" cy="39319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21579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Martes: Modelado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06240" y="2432304"/>
            <a:ext cx="259689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Diseñamos DERs y Normalización en Postgres.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95744" y="2029968"/>
            <a:ext cx="2926080" cy="4151376"/>
          </a:xfrm>
          <a:prstGeom prst="roundRect">
            <a:avLst>
              <a:gd name="adj" fmla="val 9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68896" y="2139696"/>
            <a:ext cx="100584" cy="39319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51776" y="21579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Miércoles: Agentes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51776" y="2432304"/>
            <a:ext cx="259689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Orquestamos IAs para acelerar el desarrollo.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fenómeno en la IA provoca la 'Trampa de la Reescritura'?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¿Cuáles son las 4 capas del radar de validación que debemos aplicar?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documentar la ayuda de la IA en los commits es una buena práctica de ingeniería?</a:t>
            </a:r>
            <a:endParaRPr lang="en-US" sz="156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Cierre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Final: La Nueva Era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de Clase · Del chat a la orquestación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4590288" cy="1700784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157984"/>
            <a:ext cx="109728" cy="14447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139696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Especificar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60704" y="2487168"/>
            <a:ext cx="424281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pidas cosas, describe requerimientos técnicos.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96128" y="2029968"/>
            <a:ext cx="4590288" cy="1700784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87568" y="2157984"/>
            <a:ext cx="109728" cy="14447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2139696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Orquestar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52160" y="2487168"/>
            <a:ext cx="424281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MCPs y Skills para que el agente vea tu repo.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" y="3895344"/>
            <a:ext cx="4590288" cy="1700784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6112" y="4023360"/>
            <a:ext cx="109728" cy="14447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4005072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Auditar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60704" y="4352544"/>
            <a:ext cx="424281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 el Radar de 4 Capas antes de integrar.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596128" y="3895344"/>
            <a:ext cx="4590288" cy="1700784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87568" y="4023360"/>
            <a:ext cx="109728" cy="14447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52160" y="4005072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Evolucionar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852160" y="4352544"/>
            <a:ext cx="424281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Aprende a domar el animal salvaje con práctica.</a:t>
            </a:r>
            <a:endParaRPr lang="en-US" sz="11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Cierre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Desafío de Salida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Evaluando tu criterio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1024128"/>
          </a:xfrm>
          <a:prstGeom prst="roundRect">
            <a:avLst>
              <a:gd name="adj" fmla="val 3571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94560"/>
            <a:ext cx="89794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generó un CRUD perfecto pero olvidó el RLS de Supabase.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04672" y="3291840"/>
            <a:ext cx="938174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¿En qué capa del Radar falló la validación?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riesgo de seguridad implica integrarlo así?</a:t>
            </a:r>
            <a:endParaRPr lang="en-US" sz="1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Próxima Semana: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Código Legado y Arquitectura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804672" y="3310128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Exploraremos cómo integrar sistemas existentes, el uso de PHP en entornos reales y el patrón MVC para organizar aplicaciones escalables.</a:t>
            </a:r>
            <a:endParaRPr lang="en-US" sz="1520" dirty="0"/>
          </a:p>
        </p:txBody>
      </p:sp>
      <p:sp>
        <p:nvSpPr>
          <p:cNvPr id="9" name="Shape 6"/>
          <p:cNvSpPr/>
          <p:nvPr/>
        </p:nvSpPr>
        <p:spPr>
          <a:xfrm>
            <a:off x="804672" y="532180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548640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Nos vemos el lunes 20 de abril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AIEP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Agentes de IA en Desarrollo</dc:title>
  <dc:subject>Clase 15</dc:subject>
  <dc:creator>Diego Obando</dc:creator>
  <cp:lastModifiedBy>Diego Obando</cp:lastModifiedBy>
  <cp:revision>1</cp:revision>
  <dcterms:created xsi:type="dcterms:W3CDTF">2026-04-15T05:18:21Z</dcterms:created>
  <dcterms:modified xsi:type="dcterms:W3CDTF">2026-04-15T05:18:21Z</dcterms:modified>
</cp:coreProperties>
</file>