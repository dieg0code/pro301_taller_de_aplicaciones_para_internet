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566928"/>
            <a:ext cx="1078992" cy="38404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04672" y="1858061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111910" y="1627632"/>
            <a:ext cx="307238" cy="81930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470355" y="1858061"/>
            <a:ext cx="256032" cy="58887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901952" y="2359152"/>
            <a:ext cx="817473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0BC5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Agentes de IA en Desarrollo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1901952" y="3127248"/>
            <a:ext cx="81747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Prompting, generación y revisión crítica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1901952" y="4151376"/>
            <a:ext cx="7223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05 · Unidad 02 · Trabajo técnico con criterio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04672" y="5321808"/>
            <a:ext cx="3182112" cy="384048"/>
          </a:xfrm>
          <a:prstGeom prst="roundRect">
            <a:avLst>
              <a:gd name="adj" fmla="val 9524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" y="5413248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03 · Miércoles 15 de abril de 2026</a:t>
            </a:r>
            <a:endParaRPr lang="en-US" sz="940" dirty="0"/>
          </a:p>
        </p:txBody>
      </p:sp>
      <p:sp>
        <p:nvSpPr>
          <p:cNvPr id="11" name="Shape 8"/>
          <p:cNvSpPr/>
          <p:nvPr/>
        </p:nvSpPr>
        <p:spPr>
          <a:xfrm>
            <a:off x="8796528" y="5303520"/>
            <a:ext cx="749808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12" name="Image 1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Semana 5: de backend a agentes con criterio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progresión de esta semana no es accidental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029968"/>
            <a:ext cx="9381744" cy="932688"/>
          </a:xfrm>
          <a:prstGeom prst="roundRect">
            <a:avLst>
              <a:gd name="adj" fmla="val 784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94560"/>
            <a:ext cx="89794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Lunes entendimos el backend. Martes modelamos datos. Hoy cerramos el ciclo aprendiendo a trabajar con agentes sin soltar el juicio técnico.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04672" y="3456432"/>
            <a:ext cx="2926080" cy="237744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3584448"/>
            <a:ext cx="109728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5661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Lunes 13/04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060704" y="3913632"/>
            <a:ext cx="25786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Fundamentos de backend, FastAPI, contratos y flujo request-response.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950208" y="3456432"/>
            <a:ext cx="2926080" cy="2377440"/>
          </a:xfrm>
          <a:prstGeom prst="roundRect">
            <a:avLst>
              <a:gd name="adj" fmla="val 1538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3584448"/>
            <a:ext cx="109728" cy="21214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5661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Martes 14/04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4206240" y="3913632"/>
            <a:ext cx="25786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Persistencia, entidades, relaciones, cardinalidad y diseño de datos.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095744" y="3456432"/>
            <a:ext cx="2926080" cy="2377440"/>
          </a:xfrm>
          <a:prstGeom prst="roundRect">
            <a:avLst>
              <a:gd name="adj" fmla="val 153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87184" y="3584448"/>
            <a:ext cx="109728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356616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Miércoles 15/04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351776" y="3913632"/>
            <a:ext cx="2578608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Uso de agentes, prompting útil, revisión crítica, límites y verificación.</a:t>
            </a:r>
            <a:endParaRPr lang="en-US" sz="10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Contexto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tensión central de la clase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rápido no significa integrar bien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1975104"/>
            <a:ext cx="9381744" cy="877824"/>
          </a:xfrm>
          <a:prstGeom prst="roundRect">
            <a:avLst>
              <a:gd name="adj" fmla="val 72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39696"/>
            <a:ext cx="8979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código generado por IA puede verse convincente, compilar y aun así estar mal para tu proyecto.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04672" y="3218688"/>
            <a:ext cx="2926080" cy="265176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328416"/>
            <a:ext cx="100584" cy="2432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34670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Parece correcto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060704" y="3621024"/>
            <a:ext cx="25968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suele sonar técnica y segura, incluso cuando inventa campos o reglas.</a:t>
            </a:r>
            <a:endParaRPr lang="en-US" sz="1010" dirty="0"/>
          </a:p>
        </p:txBody>
      </p:sp>
      <p:sp>
        <p:nvSpPr>
          <p:cNvPr id="15" name="Shape 13"/>
          <p:cNvSpPr/>
          <p:nvPr/>
        </p:nvSpPr>
        <p:spPr>
          <a:xfrm>
            <a:off x="3950208" y="3218688"/>
            <a:ext cx="2926080" cy="265176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328416"/>
            <a:ext cx="100584" cy="24323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34670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Ahorra tiempo al inicio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4206240" y="3621024"/>
            <a:ext cx="25968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primera versión puede aparecer en segundos y dar sensación de avance.</a:t>
            </a:r>
            <a:endParaRPr lang="en-US" sz="1010" dirty="0"/>
          </a:p>
        </p:txBody>
      </p:sp>
      <p:sp>
        <p:nvSpPr>
          <p:cNvPr id="19" name="Shape 17"/>
          <p:cNvSpPr/>
          <p:nvPr/>
        </p:nvSpPr>
        <p:spPr>
          <a:xfrm>
            <a:off x="7095744" y="3218688"/>
            <a:ext cx="2926080" cy="2651760"/>
          </a:xfrm>
          <a:prstGeom prst="roundRect">
            <a:avLst>
              <a:gd name="adj" fmla="val 103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3328416"/>
            <a:ext cx="100584" cy="2432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3346704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Puede romper el proyecto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351776" y="3621024"/>
            <a:ext cx="2596896" cy="2157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integras sin revisar, terminas aceptando errores de contrato, lógica o seguridad.</a:t>
            </a:r>
            <a:endParaRPr lang="en-US" sz="10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clase (1/2)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deberías dominar al abrir la sesión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804672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Formular prompts técnicos efectivos</a:t>
            </a:r>
            <a:endParaRPr lang="en-US" sz="1740" dirty="0"/>
          </a:p>
        </p:txBody>
      </p:sp>
      <p:sp>
        <p:nvSpPr>
          <p:cNvPr id="11" name="Text 9"/>
          <p:cNvSpPr/>
          <p:nvPr/>
        </p:nvSpPr>
        <p:spPr>
          <a:xfrm>
            <a:off x="1645920" y="2414016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contexto, restricción y criterio de aceptación para obtener código más útil desde el primer intento.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04672" y="3328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3401568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Identificar los límites del agente</a:t>
            </a:r>
            <a:endParaRPr lang="en-US" sz="1740" dirty="0"/>
          </a:p>
        </p:txBody>
      </p:sp>
      <p:sp>
        <p:nvSpPr>
          <p:cNvPr id="14" name="Text 12"/>
          <p:cNvSpPr/>
          <p:nvPr/>
        </p:nvSpPr>
        <p:spPr>
          <a:xfrm>
            <a:off x="1645920" y="3712464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tipos incorrectos, lógica ausente, dependencias viejas y errores no declarados.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04672" y="46268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45920" y="4700016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 código generado con criterio técnico</a:t>
            </a:r>
            <a:endParaRPr lang="en-US" sz="1740" dirty="0"/>
          </a:p>
        </p:txBody>
      </p:sp>
      <p:sp>
        <p:nvSpPr>
          <p:cNvPr id="17" name="Text 15"/>
          <p:cNvSpPr/>
          <p:nvPr/>
        </p:nvSpPr>
        <p:spPr>
          <a:xfrm>
            <a:off x="1645920" y="5010912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contratos, reglas de negocio y comportamiento ante entradas inválidas.</a:t>
            </a:r>
            <a:endParaRPr lang="en-US" sz="11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Objetivos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Objetivos de la clase (2/2)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deberías poder transferir a tu proyecto</a:t>
            </a:r>
            <a:endParaRPr lang="en-US" sz="1060" dirty="0"/>
          </a:p>
        </p:txBody>
      </p:sp>
      <p:sp>
        <p:nvSpPr>
          <p:cNvPr id="9" name="Text 7"/>
          <p:cNvSpPr/>
          <p:nvPr/>
        </p:nvSpPr>
        <p:spPr>
          <a:xfrm>
            <a:off x="804672" y="2029968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Integrar agentes en un flujo backend real</a:t>
            </a:r>
            <a:endParaRPr lang="en-US" sz="1740" dirty="0"/>
          </a:p>
        </p:txBody>
      </p:sp>
      <p:sp>
        <p:nvSpPr>
          <p:cNvPr id="11" name="Text 9"/>
          <p:cNvSpPr/>
          <p:nvPr/>
        </p:nvSpPr>
        <p:spPr>
          <a:xfrm>
            <a:off x="1645920" y="2414016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 IA para modelos Pydantic, SQL y endpoints, contrastando siempre contra la especificación.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804672" y="3328416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1645920" y="3401568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Documentar el uso de agentes</a:t>
            </a:r>
            <a:endParaRPr lang="en-US" sz="1740" dirty="0"/>
          </a:p>
        </p:txBody>
      </p:sp>
      <p:sp>
        <p:nvSpPr>
          <p:cNvPr id="14" name="Text 12"/>
          <p:cNvSpPr/>
          <p:nvPr/>
        </p:nvSpPr>
        <p:spPr>
          <a:xfrm>
            <a:off x="1645920" y="3712464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qué fue generado, qué modificaste y por qué, como práctica de trazabilidad técnica.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804672" y="4626864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20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1645920" y="4700016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Asumir responsabilidad profesional</a:t>
            </a:r>
            <a:endParaRPr lang="en-US" sz="1740" dirty="0"/>
          </a:p>
        </p:txBody>
      </p:sp>
      <p:sp>
        <p:nvSpPr>
          <p:cNvPr id="17" name="Text 15"/>
          <p:cNvSpPr/>
          <p:nvPr/>
        </p:nvSpPr>
        <p:spPr>
          <a:xfrm>
            <a:off x="1645920" y="5010912"/>
            <a:ext cx="8101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que el código integrado sigue siendo responsabilidad del desarrollador, no del agente.</a:t>
            </a:r>
            <a:endParaRPr lang="en-US" sz="11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Competencias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Mentalidad de trabajo para hoy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primero, pedir mejor, verificar siempre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1993392"/>
            <a:ext cx="9381744" cy="749808"/>
          </a:xfrm>
          <a:prstGeom prst="roundRect">
            <a:avLst>
              <a:gd name="adj" fmla="val 4878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57984"/>
            <a:ext cx="89794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apoya el trabajo técnico, pero no reemplaza lectura, validación ni criterio.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04672" y="3182112"/>
            <a:ext cx="2926080" cy="268833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3310128"/>
            <a:ext cx="109728" cy="2432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29184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Juicio técnico</a:t>
            </a:r>
            <a:endParaRPr lang="en-US" sz="1260" dirty="0"/>
          </a:p>
        </p:txBody>
      </p:sp>
      <p:sp>
        <p:nvSpPr>
          <p:cNvPr id="14" name="Text 12"/>
          <p:cNvSpPr/>
          <p:nvPr/>
        </p:nvSpPr>
        <p:spPr>
          <a:xfrm>
            <a:off x="1060704" y="3639312"/>
            <a:ext cx="2578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5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Evaluar el output del agente con criterios propios y no por confianza ciega.</a:t>
            </a:r>
            <a:endParaRPr lang="en-US" sz="1025" dirty="0"/>
          </a:p>
        </p:txBody>
      </p:sp>
      <p:sp>
        <p:nvSpPr>
          <p:cNvPr id="15" name="Shape 13"/>
          <p:cNvSpPr/>
          <p:nvPr/>
        </p:nvSpPr>
        <p:spPr>
          <a:xfrm>
            <a:off x="3950208" y="3182112"/>
            <a:ext cx="2926080" cy="268833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41648" y="3310128"/>
            <a:ext cx="109728" cy="24323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29184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Pensamiento especificado</a:t>
            </a:r>
            <a:endParaRPr lang="en-US" sz="1260" dirty="0"/>
          </a:p>
        </p:txBody>
      </p:sp>
      <p:sp>
        <p:nvSpPr>
          <p:cNvPr id="18" name="Text 16"/>
          <p:cNvSpPr/>
          <p:nvPr/>
        </p:nvSpPr>
        <p:spPr>
          <a:xfrm>
            <a:off x="4206240" y="3639312"/>
            <a:ext cx="2578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5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Traducir un requerimiento vago en una instrucción precisa y usable.</a:t>
            </a:r>
            <a:endParaRPr lang="en-US" sz="1025" dirty="0"/>
          </a:p>
        </p:txBody>
      </p:sp>
      <p:sp>
        <p:nvSpPr>
          <p:cNvPr id="19" name="Shape 17"/>
          <p:cNvSpPr/>
          <p:nvPr/>
        </p:nvSpPr>
        <p:spPr>
          <a:xfrm>
            <a:off x="7095744" y="3182112"/>
            <a:ext cx="2926080" cy="2688336"/>
          </a:xfrm>
          <a:prstGeom prst="roundRect">
            <a:avLst>
              <a:gd name="adj" fmla="val 136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87184" y="3310128"/>
            <a:ext cx="109728" cy="24323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3291840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Responsabilidad del desarrollador</a:t>
            </a:r>
            <a:endParaRPr lang="en-US" sz="1260" dirty="0"/>
          </a:p>
        </p:txBody>
      </p:sp>
      <p:sp>
        <p:nvSpPr>
          <p:cNvPr id="22" name="Text 20"/>
          <p:cNvSpPr/>
          <p:nvPr/>
        </p:nvSpPr>
        <p:spPr>
          <a:xfrm>
            <a:off x="7351776" y="3639312"/>
            <a:ext cx="25786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5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Responder por el código que integras, aunque haya sido generado con asistencia.</a:t>
            </a:r>
            <a:endParaRPr lang="en-US" sz="10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Mapa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Mapa de la sesión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movimientos para trabajar con agentes sin automatismo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121408"/>
            <a:ext cx="9381744" cy="3803904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24942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2257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de aprendizaje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69264" y="265176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274320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276148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072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426464" y="275234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Modelo mental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170432" y="305409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 un agente, qué no es y cuándo empieza a fallar.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044952" y="313639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9272" y="265176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2424" y="2743200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83864" y="276148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83864" y="28072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3776472" y="275234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Especificación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3520440" y="305409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escribir prompts técnicos con contexto y restricciones reales.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394960" y="313639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265176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42432" y="2743200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833872" y="276148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33872" y="28072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6126480" y="275234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Contexto de proyecto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5870448" y="305409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`AGENTS.md`, herramientas y contexto cambian el flujo de trabajo.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7744968" y="3136392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9288" y="2651760"/>
            <a:ext cx="2002536" cy="1243584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092440" y="2743200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83880" y="2761488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83880" y="2807208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20" dirty="0"/>
          </a:p>
        </p:txBody>
      </p:sp>
      <p:sp>
        <p:nvSpPr>
          <p:cNvPr id="37" name="Text 35"/>
          <p:cNvSpPr/>
          <p:nvPr/>
        </p:nvSpPr>
        <p:spPr>
          <a:xfrm>
            <a:off x="8476488" y="2752344"/>
            <a:ext cx="1435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240" dirty="0"/>
          </a:p>
        </p:txBody>
      </p:sp>
      <p:sp>
        <p:nvSpPr>
          <p:cNvPr id="38" name="Text 36"/>
          <p:cNvSpPr/>
          <p:nvPr/>
        </p:nvSpPr>
        <p:spPr>
          <a:xfrm>
            <a:off x="8220456" y="3054096"/>
            <a:ext cx="17099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Cómo leer, revisar, corregir, integrar y documentar el código generado.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1005840" y="5614416"/>
            <a:ext cx="8979408" cy="201168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33856" y="5660136"/>
            <a:ext cx="872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este primer tramo construiremos el marco mental y el criterio base del bloque 1.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25296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20240"/>
            <a:ext cx="8485632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como herramienta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 desarrollo</a:t>
            </a:r>
            <a:endParaRPr lang="en-US" sz="3700" dirty="0"/>
          </a:p>
        </p:txBody>
      </p:sp>
      <p:sp>
        <p:nvSpPr>
          <p:cNvPr id="10" name="Text 7"/>
          <p:cNvSpPr/>
          <p:nvPr/>
        </p:nvSpPr>
        <p:spPr>
          <a:xfrm>
            <a:off x="804672" y="3218688"/>
            <a:ext cx="7589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es, qué no es y cómo encaja en un flujo backend real.</a:t>
            </a:r>
            <a:endParaRPr lang="en-US" sz="152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926080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670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 minutos · marco mental y criterios base</a:t>
            </a:r>
            <a:endParaRPr lang="en-US" sz="9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es un agente en desarrollo?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Modelo base para usarlo con criterio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1993392"/>
            <a:ext cx="9381744" cy="841248"/>
          </a:xfrm>
          <a:prstGeom prst="roundRect">
            <a:avLst>
              <a:gd name="adj" fmla="val 760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157984"/>
            <a:ext cx="89794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agente es un modelo de lenguaje que razona sobre texto y código para producir respuestas coherentes con la instrucción que recibe.</a:t>
            </a:r>
            <a:endParaRPr lang="en-US" sz="1720" dirty="0"/>
          </a:p>
        </p:txBody>
      </p:sp>
      <p:sp>
        <p:nvSpPr>
          <p:cNvPr id="11" name="Shape 9"/>
          <p:cNvSpPr/>
          <p:nvPr/>
        </p:nvSpPr>
        <p:spPr>
          <a:xfrm>
            <a:off x="804672" y="3273552"/>
            <a:ext cx="2926080" cy="2542032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7824" y="3383280"/>
            <a:ext cx="100584" cy="232257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0704" y="34015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buscador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060704" y="3675888"/>
            <a:ext cx="25968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parte consultando una web ni validando hechos por sí solo.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950208" y="3273552"/>
            <a:ext cx="2926080" cy="2542032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23360" y="3383280"/>
            <a:ext cx="100584" cy="232257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0" y="34015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es corrector automático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4206240" y="3675888"/>
            <a:ext cx="25968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entiende tu proyecto por arte de magia ni arregla lógica sin contexto.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095744" y="3273552"/>
            <a:ext cx="2926080" cy="2542032"/>
          </a:xfrm>
          <a:prstGeom prst="roundRect">
            <a:avLst>
              <a:gd name="adj" fmla="val 10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68896" y="3383280"/>
            <a:ext cx="100584" cy="23225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51776" y="3401568"/>
            <a:ext cx="2596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 es colaborador textual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7351776" y="3675888"/>
            <a:ext cx="2596896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Puede explicar, proponer, traducir y generar estructuras a partir de instrucciones.</a:t>
            </a:r>
            <a:endParaRPr lang="en-US" sz="10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hace bien y lo que no sabe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Capacidades reales versus límites reales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029968"/>
            <a:ext cx="9381744" cy="4096512"/>
          </a:xfrm>
          <a:prstGeom prst="roundRect">
            <a:avLst>
              <a:gd name="adj" fmla="val 89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Capacidad técnica vs conocimiento del proyecto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50976" y="2596896"/>
            <a:ext cx="3685032" cy="3072384"/>
          </a:xfrm>
          <a:prstGeom prst="roundRect">
            <a:avLst>
              <a:gd name="adj" fmla="val 119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2724912"/>
            <a:ext cx="109728" cy="2816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61872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puede hacer bien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61872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la tarea está clara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1261872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53312" y="3461004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99616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estructuras repetitivas: modelos, CRUD base, consultas SQL simples.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261872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53312" y="3899916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99616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código desconocido o traducir entre formatos y lenguajes.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261872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53312" y="4338828"/>
            <a:ext cx="82296" cy="82296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499616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nombres, alternativas o primeras versiones para iterar.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355080" y="2596896"/>
            <a:ext cx="3685032" cy="3072384"/>
          </a:xfrm>
          <a:prstGeom prst="roundRect">
            <a:avLst>
              <a:gd name="adj" fmla="val 119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64808" y="2724912"/>
            <a:ext cx="109728" cy="2816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65976" y="2724912"/>
            <a:ext cx="3246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no puede saber por sí solo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665976" y="2999232"/>
            <a:ext cx="3246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tú no se lo explicas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6665976" y="3346704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757416" y="346100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903720" y="3392424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reglas de negocio reales de tu aplicación.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665976" y="3785616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57416" y="389991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03720" y="3831336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versión exacta de tus librerías y convenciones del repo.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6665976" y="4224528"/>
            <a:ext cx="3227832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757416" y="433882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03720" y="4270248"/>
            <a:ext cx="29352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está roto en tu código si no le muestras el contexto suficiente.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892040" y="3319272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01768" y="3465576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74920" y="3886200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56632" y="351129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Límite</a:t>
            </a:r>
            <a:endParaRPr lang="en-US" sz="1060" dirty="0"/>
          </a:p>
        </p:txBody>
      </p:sp>
      <p:sp>
        <p:nvSpPr>
          <p:cNvPr id="42" name="Text 40"/>
          <p:cNvSpPr/>
          <p:nvPr/>
        </p:nvSpPr>
        <p:spPr>
          <a:xfrm>
            <a:off x="5020056" y="429768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contexto</a:t>
            </a:r>
            <a:endParaRPr lang="en-US" sz="720" dirty="0"/>
          </a:p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inventa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1005840" y="5724144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115568" y="5769864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programar. Lo que no puede hacer es adivinar tu proyecto.</a:t>
            </a:r>
            <a:endParaRPr lang="en-US" sz="8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Coherencia textual no es corrección técnica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1.1 El error más común al empezar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029968"/>
            <a:ext cx="9381744" cy="4151376"/>
          </a:xfrm>
          <a:prstGeom prst="roundRect">
            <a:avLst>
              <a:gd name="adj" fmla="val 88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Mitos que conviene romper temprano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50976" y="2578608"/>
            <a:ext cx="444398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2688336"/>
            <a:ext cx="91440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88720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16" name="Text 14"/>
          <p:cNvSpPr/>
          <p:nvPr/>
        </p:nvSpPr>
        <p:spPr>
          <a:xfrm>
            <a:off x="1188720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suena técnico, debe estar bien.</a:t>
            </a:r>
            <a:endParaRPr lang="en-US" sz="1380" dirty="0"/>
          </a:p>
        </p:txBody>
      </p:sp>
      <p:sp>
        <p:nvSpPr>
          <p:cNvPr id="17" name="Text 15"/>
          <p:cNvSpPr/>
          <p:nvPr/>
        </p:nvSpPr>
        <p:spPr>
          <a:xfrm>
            <a:off x="1188720" y="338328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puede ser coherente y aun así estar equivocada para tu caso.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5596128" y="2578608"/>
            <a:ext cx="444398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87568" y="2688336"/>
            <a:ext cx="91440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833872" y="27066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33872" y="27523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5833872" y="2999232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sabe qué stack uso.</a:t>
            </a:r>
            <a:endParaRPr lang="en-US" sz="1380" dirty="0"/>
          </a:p>
        </p:txBody>
      </p:sp>
      <p:sp>
        <p:nvSpPr>
          <p:cNvPr id="23" name="Text 21"/>
          <p:cNvSpPr/>
          <p:nvPr/>
        </p:nvSpPr>
        <p:spPr>
          <a:xfrm>
            <a:off x="5833872" y="3383280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Solo sabe lo que le indicaste de versión, librerías y contexto.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950976" y="4242816"/>
            <a:ext cx="444398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42416" y="4352544"/>
            <a:ext cx="91440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188720" y="4370832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88720" y="441655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28" name="Text 26"/>
          <p:cNvSpPr/>
          <p:nvPr/>
        </p:nvSpPr>
        <p:spPr>
          <a:xfrm>
            <a:off x="1188720" y="466344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compila, ya sirve.</a:t>
            </a:r>
            <a:endParaRPr lang="en-US" sz="1380" dirty="0"/>
          </a:p>
        </p:txBody>
      </p:sp>
      <p:sp>
        <p:nvSpPr>
          <p:cNvPr id="29" name="Text 27"/>
          <p:cNvSpPr/>
          <p:nvPr/>
        </p:nvSpPr>
        <p:spPr>
          <a:xfrm>
            <a:off x="1188720" y="5047488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puede fallar en contrato, negocio, seguridad o convenciones.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5596128" y="4242816"/>
            <a:ext cx="444398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687568" y="4352544"/>
            <a:ext cx="91440" cy="12618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33872" y="4370832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33872" y="4416552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Mito</a:t>
            </a:r>
            <a:endParaRPr lang="en-US" sz="880" dirty="0"/>
          </a:p>
        </p:txBody>
      </p:sp>
      <p:sp>
        <p:nvSpPr>
          <p:cNvPr id="34" name="Text 32"/>
          <p:cNvSpPr/>
          <p:nvPr/>
        </p:nvSpPr>
        <p:spPr>
          <a:xfrm>
            <a:off x="5833872" y="4663440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IA reemplaza mi revisión.</a:t>
            </a:r>
            <a:endParaRPr lang="en-US" sz="1380" dirty="0"/>
          </a:p>
        </p:txBody>
      </p:sp>
      <p:sp>
        <p:nvSpPr>
          <p:cNvPr id="35" name="Text 33"/>
          <p:cNvSpPr/>
          <p:nvPr/>
        </p:nvSpPr>
        <p:spPr>
          <a:xfrm>
            <a:off x="5833872" y="5047488"/>
            <a:ext cx="4096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revisión humana es justamente lo que vuelve útil al agente.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1005840" y="577900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115568" y="582472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salida del agente debe leerse como propuesta de trabajo, no como verdad final.</a:t>
            </a:r>
            <a:endParaRPr lang="en-US" sz="8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modelo mental correcto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Un colaborador capaz, pero sin contexto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1993392"/>
            <a:ext cx="9381744" cy="1481328"/>
          </a:xfrm>
          <a:prstGeom prst="roundRect">
            <a:avLst>
              <a:gd name="adj" fmla="val 246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121408"/>
            <a:ext cx="109728" cy="12252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103120"/>
            <a:ext cx="90342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Piensa en un programador talentoso que lleva 10 minutos en la empresa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0704" y="2450592"/>
            <a:ext cx="903427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Sabe programar, reconoce patrones y puede avanzar rápido. Pero todavía no conoce tus tablas, tus decisiones previas ni los criterios específicos del proyecto.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1078992" y="3822192"/>
            <a:ext cx="8833104" cy="822960"/>
          </a:xfrm>
          <a:prstGeom prst="roundRect">
            <a:avLst>
              <a:gd name="adj" fmla="val 444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80160" y="3986784"/>
            <a:ext cx="843076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contexto, el agente no completa: rellena. Y suele hacerlo con mucha confianza.</a:t>
            </a:r>
            <a:endParaRPr lang="en-US" sz="1740" dirty="0"/>
          </a:p>
        </p:txBody>
      </p:sp>
      <p:sp>
        <p:nvSpPr>
          <p:cNvPr id="15" name="Shape 13"/>
          <p:cNvSpPr/>
          <p:nvPr/>
        </p:nvSpPr>
        <p:spPr>
          <a:xfrm>
            <a:off x="804672" y="4974336"/>
            <a:ext cx="9381744" cy="768096"/>
          </a:xfrm>
          <a:prstGeom prst="roundRect">
            <a:avLst>
              <a:gd name="adj" fmla="val 357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77824" y="5084064"/>
            <a:ext cx="100584" cy="5486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60704" y="5102352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consecuencia práctica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1060704" y="5376672"/>
            <a:ext cx="9052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tiempo que no inviertes en especificar al inicio termina apareciendo después como revisión, corrección y debugging.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¿Qué contexto suele faltar?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1.2 Lo que tú sí debes poner sobre la mesa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084832"/>
            <a:ext cx="455371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212848"/>
            <a:ext cx="109728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194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 y versión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60704" y="2542032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3.12, FastAPI, Pydantic v2, PostgreSQL, Supabase.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504688" y="2084832"/>
            <a:ext cx="455371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96128" y="2212848"/>
            <a:ext cx="109728" cy="137160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19456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 reales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760720" y="2542032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Nombres de tablas, campos, restricciones y contratos que ya existen.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04672" y="4005072"/>
            <a:ext cx="455371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" y="4133088"/>
            <a:ext cx="109728" cy="137160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60704" y="4114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060704" y="4462272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validaciones manda el dominio y qué está permitido o prohibido.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504688" y="4005072"/>
            <a:ext cx="4553712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96128" y="4133088"/>
            <a:ext cx="109728" cy="137160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60720" y="4114800"/>
            <a:ext cx="4206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actual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760720" y="4462272"/>
            <a:ext cx="420624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falla, en qué archivo, con qué error y con qué comportamiento esperado.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Tres roles útiles del agente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No todas las tareas se delegan igual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560320"/>
            <a:ext cx="2926080" cy="3072384"/>
          </a:xfrm>
          <a:prstGeom prst="roundRect">
            <a:avLst>
              <a:gd name="adj" fmla="val 125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96112" y="2688336"/>
            <a:ext cx="109728" cy="2816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60704" y="26700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Generador de estructura</a:t>
            </a:r>
            <a:endParaRPr lang="en-US" sz="1280" dirty="0"/>
          </a:p>
        </p:txBody>
      </p:sp>
      <p:sp>
        <p:nvSpPr>
          <p:cNvPr id="12" name="Text 10"/>
          <p:cNvSpPr/>
          <p:nvPr/>
        </p:nvSpPr>
        <p:spPr>
          <a:xfrm>
            <a:off x="1060704" y="3017520"/>
            <a:ext cx="257860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5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Útil para modelos Pydantic, SQL base, endpoints CRUD y esqueletos de proyecto.</a:t>
            </a:r>
            <a:endParaRPr lang="en-US" sz="1045" dirty="0"/>
          </a:p>
        </p:txBody>
      </p:sp>
      <p:sp>
        <p:nvSpPr>
          <p:cNvPr id="13" name="Shape 11"/>
          <p:cNvSpPr/>
          <p:nvPr/>
        </p:nvSpPr>
        <p:spPr>
          <a:xfrm>
            <a:off x="3950208" y="2560320"/>
            <a:ext cx="2926080" cy="3072384"/>
          </a:xfrm>
          <a:prstGeom prst="roundRect">
            <a:avLst>
              <a:gd name="adj" fmla="val 125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41648" y="2688336"/>
            <a:ext cx="109728" cy="2816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26700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Revisor de código</a:t>
            </a:r>
            <a:endParaRPr lang="en-US" sz="1280" dirty="0"/>
          </a:p>
        </p:txBody>
      </p:sp>
      <p:sp>
        <p:nvSpPr>
          <p:cNvPr id="16" name="Text 14"/>
          <p:cNvSpPr/>
          <p:nvPr/>
        </p:nvSpPr>
        <p:spPr>
          <a:xfrm>
            <a:off x="4206240" y="3017520"/>
            <a:ext cx="257860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5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detectar huecos lógicos, tipos dudosos o incoherencias con una especificación.</a:t>
            </a:r>
            <a:endParaRPr lang="en-US" sz="1045" dirty="0"/>
          </a:p>
        </p:txBody>
      </p:sp>
      <p:sp>
        <p:nvSpPr>
          <p:cNvPr id="17" name="Shape 15"/>
          <p:cNvSpPr/>
          <p:nvPr/>
        </p:nvSpPr>
        <p:spPr>
          <a:xfrm>
            <a:off x="7095744" y="2560320"/>
            <a:ext cx="2926080" cy="3072384"/>
          </a:xfrm>
          <a:prstGeom prst="roundRect">
            <a:avLst>
              <a:gd name="adj" fmla="val 1250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87184" y="2688336"/>
            <a:ext cx="109728" cy="2816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26700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Traductor técnico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7351776" y="3017520"/>
            <a:ext cx="2578608" cy="248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45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a pasar de pseudocódigo a Python, de DER a SQL o de texto a estructura técnica.</a:t>
            </a:r>
            <a:endParaRPr lang="en-US" sz="104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Cuándo usar cada rol en esta semana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1.3 Aplicado a FastAPI y Supabase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139696"/>
            <a:ext cx="9381744" cy="3895344"/>
          </a:xfrm>
          <a:prstGeom prst="roundRect">
            <a:avLst>
              <a:gd name="adj" fmla="val 9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267712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340864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Casos concretos del módulo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69264" y="2670048"/>
            <a:ext cx="2785872" cy="1243584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42416" y="2761488"/>
            <a:ext cx="82296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33856" y="2779776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33856" y="282549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720" dirty="0"/>
          </a:p>
        </p:txBody>
      </p:sp>
      <p:sp>
        <p:nvSpPr>
          <p:cNvPr id="16" name="Text 14"/>
          <p:cNvSpPr/>
          <p:nvPr/>
        </p:nvSpPr>
        <p:spPr>
          <a:xfrm>
            <a:off x="1426464" y="2770632"/>
            <a:ext cx="221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Generar</a:t>
            </a:r>
            <a:endParaRPr lang="en-US" sz="1240" dirty="0"/>
          </a:p>
        </p:txBody>
      </p:sp>
      <p:sp>
        <p:nvSpPr>
          <p:cNvPr id="17" name="Text 15"/>
          <p:cNvSpPr/>
          <p:nvPr/>
        </p:nvSpPr>
        <p:spPr>
          <a:xfrm>
            <a:off x="1170432" y="3072384"/>
            <a:ext cx="2493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un modelo de Usuario o un SQL base para tablas simples.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3828288" y="3154680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02608" y="2670048"/>
            <a:ext cx="2785872" cy="1243584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75760" y="2761488"/>
            <a:ext cx="82296" cy="10607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67200" y="2779776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67200" y="282549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720" dirty="0"/>
          </a:p>
        </p:txBody>
      </p:sp>
      <p:sp>
        <p:nvSpPr>
          <p:cNvPr id="23" name="Text 21"/>
          <p:cNvSpPr/>
          <p:nvPr/>
        </p:nvSpPr>
        <p:spPr>
          <a:xfrm>
            <a:off x="4559808" y="2770632"/>
            <a:ext cx="221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Revisar</a:t>
            </a:r>
            <a:endParaRPr lang="en-US" sz="1240" dirty="0"/>
          </a:p>
        </p:txBody>
      </p:sp>
      <p:sp>
        <p:nvSpPr>
          <p:cNvPr id="24" name="Text 22"/>
          <p:cNvSpPr/>
          <p:nvPr/>
        </p:nvSpPr>
        <p:spPr>
          <a:xfrm>
            <a:off x="4303776" y="3072384"/>
            <a:ext cx="2493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Entregar el código completo y pedir detección de tipos incorrectos o validaciones faltantes.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6961632" y="3154680"/>
            <a:ext cx="201168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35952" y="2670048"/>
            <a:ext cx="2785872" cy="1243584"/>
          </a:xfrm>
          <a:prstGeom prst="roundRect">
            <a:avLst>
              <a:gd name="adj" fmla="val 2941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09104" y="2761488"/>
            <a:ext cx="82296" cy="10607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00544" y="2779776"/>
            <a:ext cx="219456" cy="201168"/>
          </a:xfrm>
          <a:prstGeom prst="roundRect">
            <a:avLst>
              <a:gd name="adj" fmla="val 13636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0544" y="2825496"/>
            <a:ext cx="21945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720" dirty="0"/>
          </a:p>
        </p:txBody>
      </p:sp>
      <p:sp>
        <p:nvSpPr>
          <p:cNvPr id="30" name="Text 28"/>
          <p:cNvSpPr/>
          <p:nvPr/>
        </p:nvSpPr>
        <p:spPr>
          <a:xfrm>
            <a:off x="7693152" y="2770632"/>
            <a:ext cx="2218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Traducir</a:t>
            </a:r>
            <a:endParaRPr lang="en-US" sz="1240" dirty="0"/>
          </a:p>
        </p:txBody>
      </p:sp>
      <p:sp>
        <p:nvSpPr>
          <p:cNvPr id="31" name="Text 29"/>
          <p:cNvSpPr/>
          <p:nvPr/>
        </p:nvSpPr>
        <p:spPr>
          <a:xfrm>
            <a:off x="7437120" y="3072384"/>
            <a:ext cx="249326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Pasar de un DER visto en clase a un esquema SQL compatible con Supabase.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1005840" y="5724144"/>
            <a:ext cx="8979408" cy="201168"/>
          </a:xfrm>
          <a:prstGeom prst="roundRect">
            <a:avLst>
              <a:gd name="adj" fmla="val 1363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133856" y="5769864"/>
            <a:ext cx="87233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clave no es usar más IA: es pedirle lo correcto para la etapa correcta.</a:t>
            </a:r>
            <a:endParaRPr lang="en-US" sz="8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Caso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 apertura: prompt vago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Cuando pides poco, recibes relleno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048256"/>
            <a:ext cx="9381744" cy="2414016"/>
          </a:xfrm>
          <a:prstGeom prst="roundRect">
            <a:avLst>
              <a:gd name="adj" fmla="val 151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231136"/>
            <a:ext cx="89062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al agente</a:t>
            </a:r>
            <a:endParaRPr lang="en-US" sz="1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24128" y="2615184"/>
            <a:ext cx="8961120" cy="16642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804672" y="4754880"/>
            <a:ext cx="9381744" cy="969264"/>
          </a:xfrm>
          <a:prstGeom prst="roundRect">
            <a:avLst>
              <a:gd name="adj" fmla="val 283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77824" y="4864608"/>
            <a:ext cx="100584" cy="7498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60704" y="4882896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Problema de fondo</a:t>
            </a:r>
            <a:endParaRPr lang="en-US" sz="1130" dirty="0"/>
          </a:p>
        </p:txBody>
      </p:sp>
      <p:sp>
        <p:nvSpPr>
          <p:cNvPr id="16" name="Text 13"/>
          <p:cNvSpPr/>
          <p:nvPr/>
        </p:nvSpPr>
        <p:spPr>
          <a:xfrm>
            <a:off x="1060704" y="5157216"/>
            <a:ext cx="90525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3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hay stack, no hay contexto, no hay restricciones y tampoco hay criterio de uso. El agente llena vacíos con su mejor suposición.</a:t>
            </a:r>
            <a:endParaRPr lang="en-US" sz="103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Caso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Caso de apertura: prompt especificado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Cuando la instrucción ya contiene ingeniería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1993392"/>
            <a:ext cx="9381744" cy="3127248"/>
          </a:xfrm>
          <a:prstGeom prst="roundRect">
            <a:avLst>
              <a:gd name="adj" fmla="val 11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03120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176272"/>
            <a:ext cx="8887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Pedido al agente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115568" y="2596896"/>
            <a:ext cx="8613648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 un modelo Pydantic para Usuario (Python 3.12, BaseModel)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un sistema de gestión de cursos.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Campos: nombre obligatorio, email válido obligatorio,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rut único obligatorio y fecha_nacimiento opcional.</a:t>
            </a:r>
            <a:endParaRPr lang="en-US" sz="1340" dirty="0"/>
          </a:p>
          <a:p>
            <a:pPr indent="0" marL="0">
              <a:buNone/>
            </a:pP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Debe servir como schema de entrada para POST /usuarios.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 incluyas campo id; lo maneja la base de datos.</a:t>
            </a:r>
            <a:endParaRPr lang="en-US" sz="1340" dirty="0"/>
          </a:p>
        </p:txBody>
      </p:sp>
      <p:sp>
        <p:nvSpPr>
          <p:cNvPr id="13" name="Text 11"/>
          <p:cNvSpPr/>
          <p:nvPr/>
        </p:nvSpPr>
        <p:spPr>
          <a:xfrm>
            <a:off x="1115568" y="4736592"/>
            <a:ext cx="8412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con contexto + restricciones + uso esperado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804672" y="5376672"/>
            <a:ext cx="9381744" cy="438912"/>
          </a:xfrm>
          <a:prstGeom prst="roundRect">
            <a:avLst>
              <a:gd name="adj" fmla="val 625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5486400"/>
            <a:ext cx="100584" cy="2194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5504688"/>
            <a:ext cx="9052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</a:t>
            </a:r>
            <a:endParaRPr lang="en-US" sz="10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Comparación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mismo pedido, dos resultados esperables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1.4 La diferencia entre vaguedad y especificación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029968"/>
            <a:ext cx="9381744" cy="4078224"/>
          </a:xfrm>
          <a:prstGeom prst="roundRect">
            <a:avLst>
              <a:gd name="adj" fmla="val 89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malo vs prompt útil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50976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50976" y="2596896"/>
            <a:ext cx="73152" cy="3072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15568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vago</a:t>
            </a:r>
            <a:endParaRPr lang="en-US" sz="1180" dirty="0"/>
          </a:p>
        </p:txBody>
      </p:sp>
      <p:sp>
        <p:nvSpPr>
          <p:cNvPr id="16" name="Text 14"/>
          <p:cNvSpPr/>
          <p:nvPr/>
        </p:nvSpPr>
        <p:spPr>
          <a:xfrm>
            <a:off x="1152144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poco y delega demasiado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115568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 un modelo para usuarios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170432" y="459943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define stack ni versión.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1170432" y="496519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280160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explica para qué se usará el modelo.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1170432" y="5330952"/>
            <a:ext cx="54864" cy="54864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restringe campos inventados por el agente.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5577840" y="2596896"/>
            <a:ext cx="4462272" cy="3072384"/>
          </a:xfrm>
          <a:prstGeom prst="roundRect">
            <a:avLst>
              <a:gd name="adj" fmla="val 119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577840" y="2596896"/>
            <a:ext cx="73152" cy="30723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42432" y="2743200"/>
            <a:ext cx="4151376" cy="310896"/>
          </a:xfrm>
          <a:prstGeom prst="roundRect">
            <a:avLst>
              <a:gd name="adj" fmla="val 882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33872" y="2816352"/>
            <a:ext cx="39684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especificado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5779008" y="3127248"/>
            <a:ext cx="4096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 contexto, límites y uso esperado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5742432" y="3383280"/>
            <a:ext cx="4151376" cy="932688"/>
          </a:xfrm>
          <a:prstGeom prst="roundRect">
            <a:avLst>
              <a:gd name="adj" fmla="val 392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3493008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3.12 + Pydantic. Modelo Usuario para POST /usuarios, con campos, obligatoriedad y restricción sobre `id` ya definidos.</a:t>
            </a:r>
            <a:endParaRPr lang="en-US" sz="780" dirty="0"/>
          </a:p>
        </p:txBody>
      </p:sp>
      <p:sp>
        <p:nvSpPr>
          <p:cNvPr id="32" name="Shape 30"/>
          <p:cNvSpPr/>
          <p:nvPr/>
        </p:nvSpPr>
        <p:spPr>
          <a:xfrm>
            <a:off x="5797296" y="459943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07024" y="448056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contexto técnico real.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5797296" y="496519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07024" y="484632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Anticipa restricciones concretas.</a:t>
            </a:r>
            <a:endParaRPr lang="en-US" sz="740" dirty="0"/>
          </a:p>
        </p:txBody>
      </p:sp>
      <p:sp>
        <p:nvSpPr>
          <p:cNvPr id="36" name="Shape 34"/>
          <p:cNvSpPr/>
          <p:nvPr/>
        </p:nvSpPr>
        <p:spPr>
          <a:xfrm>
            <a:off x="5797296" y="5330952"/>
            <a:ext cx="54864" cy="54864"/>
          </a:xfrm>
          <a:prstGeom prst="ellipse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07024" y="5212080"/>
            <a:ext cx="3968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Acerca el output a algo que sí puedes revisar y usar.</a:t>
            </a:r>
            <a:endParaRPr lang="en-US" sz="740" dirty="0"/>
          </a:p>
        </p:txBody>
      </p:sp>
      <p:sp>
        <p:nvSpPr>
          <p:cNvPr id="38" name="Text 36"/>
          <p:cNvSpPr/>
          <p:nvPr/>
        </p:nvSpPr>
        <p:spPr>
          <a:xfrm>
            <a:off x="987552" y="5943600"/>
            <a:ext cx="90159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lección no es 'escribir más'. Es especificar mejor para revisar mejor.</a:t>
            </a:r>
            <a:endParaRPr lang="en-US" sz="8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· Síntesis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649456" y="950976"/>
            <a:ext cx="256032" cy="25603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 cierre del bloque 1 deberías poder...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Evidencia esperada y puente al siguiente paso</a:t>
            </a:r>
            <a:endParaRPr lang="en-US" sz="1060" dirty="0"/>
          </a:p>
        </p:txBody>
      </p:sp>
      <p:sp>
        <p:nvSpPr>
          <p:cNvPr id="9" name="Shape 7"/>
          <p:cNvSpPr/>
          <p:nvPr/>
        </p:nvSpPr>
        <p:spPr>
          <a:xfrm>
            <a:off x="804672" y="2029968"/>
            <a:ext cx="9381744" cy="3401568"/>
          </a:xfrm>
          <a:prstGeom prst="roundRect">
            <a:avLst>
              <a:gd name="adj" fmla="val 107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2688" y="2157984"/>
            <a:ext cx="9125712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42416" y="2231136"/>
            <a:ext cx="89062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mínimo de aprendizaje</a:t>
            </a:r>
            <a:endParaRPr lang="en-US" sz="980" dirty="0"/>
          </a:p>
        </p:txBody>
      </p:sp>
      <p:sp>
        <p:nvSpPr>
          <p:cNvPr id="12" name="Shape 10"/>
          <p:cNvSpPr/>
          <p:nvPr/>
        </p:nvSpPr>
        <p:spPr>
          <a:xfrm>
            <a:off x="950976" y="2542032"/>
            <a:ext cx="2907792" cy="2377440"/>
          </a:xfrm>
          <a:prstGeom prst="roundRect">
            <a:avLst>
              <a:gd name="adj" fmla="val 153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60704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60704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1572768" y="2670048"/>
            <a:ext cx="73152" cy="21214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73936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Explicar el error</a:t>
            </a:r>
            <a:endParaRPr lang="en-US" sz="1360" dirty="0"/>
          </a:p>
        </p:txBody>
      </p:sp>
      <p:sp>
        <p:nvSpPr>
          <p:cNvPr id="17" name="Text 15"/>
          <p:cNvSpPr/>
          <p:nvPr/>
        </p:nvSpPr>
        <p:spPr>
          <a:xfrm>
            <a:off x="1773936" y="2980944"/>
            <a:ext cx="195681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Decir por qué un prompt incompleto empuja al agente a inventar con confianza.</a:t>
            </a:r>
            <a:endParaRPr lang="en-US" sz="1060" dirty="0"/>
          </a:p>
        </p:txBody>
      </p:sp>
      <p:sp>
        <p:nvSpPr>
          <p:cNvPr id="18" name="Shape 16"/>
          <p:cNvSpPr/>
          <p:nvPr/>
        </p:nvSpPr>
        <p:spPr>
          <a:xfrm>
            <a:off x="4041648" y="2542032"/>
            <a:ext cx="2907792" cy="2377440"/>
          </a:xfrm>
          <a:prstGeom prst="roundRect">
            <a:avLst>
              <a:gd name="adj" fmla="val 153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51376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151376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4663440" y="2670048"/>
            <a:ext cx="73152" cy="212140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Detectar contexto faltante</a:t>
            </a:r>
            <a:endParaRPr lang="en-US" sz="1360" dirty="0"/>
          </a:p>
        </p:txBody>
      </p:sp>
      <p:sp>
        <p:nvSpPr>
          <p:cNvPr id="23" name="Text 21"/>
          <p:cNvSpPr/>
          <p:nvPr/>
        </p:nvSpPr>
        <p:spPr>
          <a:xfrm>
            <a:off x="4864608" y="2980944"/>
            <a:ext cx="195681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qué datos, restricciones o reglas faltan en un pedido vago.</a:t>
            </a:r>
            <a:endParaRPr lang="en-US" sz="1060" dirty="0"/>
          </a:p>
        </p:txBody>
      </p:sp>
      <p:sp>
        <p:nvSpPr>
          <p:cNvPr id="24" name="Shape 22"/>
          <p:cNvSpPr/>
          <p:nvPr/>
        </p:nvSpPr>
        <p:spPr>
          <a:xfrm>
            <a:off x="7132320" y="2542032"/>
            <a:ext cx="2907792" cy="2377440"/>
          </a:xfrm>
          <a:prstGeom prst="roundRect">
            <a:avLst>
              <a:gd name="adj" fmla="val 1538"/>
            </a:avLst>
          </a:prstGeom>
          <a:solidFill>
            <a:srgbClr val="EDE6DA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42048" y="2670048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8962A"/>
          </a:solidFill>
          <a:ln w="12700">
            <a:solidFill>
              <a:srgbClr val="B896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2048" y="2715768"/>
            <a:ext cx="384048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7754112" y="2670048"/>
            <a:ext cx="73152" cy="21214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55280" y="268833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Clasificar la tarea</a:t>
            </a:r>
            <a:endParaRPr lang="en-US" sz="1360" dirty="0"/>
          </a:p>
        </p:txBody>
      </p:sp>
      <p:sp>
        <p:nvSpPr>
          <p:cNvPr id="29" name="Text 27"/>
          <p:cNvSpPr/>
          <p:nvPr/>
        </p:nvSpPr>
        <p:spPr>
          <a:xfrm>
            <a:off x="7955280" y="2980944"/>
            <a:ext cx="1956816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si una tarea corresponde al rol de generador, revisor o traductor.</a:t>
            </a:r>
            <a:endParaRPr lang="en-US" sz="1060" dirty="0"/>
          </a:p>
        </p:txBody>
      </p:sp>
      <p:sp>
        <p:nvSpPr>
          <p:cNvPr id="30" name="Shape 28"/>
          <p:cNvSpPr/>
          <p:nvPr/>
        </p:nvSpPr>
        <p:spPr>
          <a:xfrm>
            <a:off x="1005840" y="5047488"/>
            <a:ext cx="8979408" cy="219456"/>
          </a:xfrm>
          <a:prstGeom prst="roundRect">
            <a:avLst>
              <a:gd name="adj" fmla="val 12500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15568" y="5093208"/>
            <a:ext cx="875995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2 -&gt; ahora veremos cómo construir prompts técnicos que ya incluyan contexto, restricciones y criterio de aceptación.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Agentes de IA en Desarrollo</dc:title>
  <dc:subject>Clase 15</dc:subject>
  <dc:creator>Diego Obando</dc:creator>
  <cp:lastModifiedBy>Diego Obando</cp:lastModifiedBy>
  <cp:revision>1</cp:revision>
  <dcterms:created xsi:type="dcterms:W3CDTF">2026-04-13T02:14:24Z</dcterms:created>
  <dcterms:modified xsi:type="dcterms:W3CDTF">2026-04-13T02:14:24Z</dcterms:modified>
</cp:coreProperties>
</file>