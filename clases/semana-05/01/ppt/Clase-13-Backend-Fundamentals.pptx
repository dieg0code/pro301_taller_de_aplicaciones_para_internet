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svg"/><Relationship Id="rId4" Type="http://schemas.openxmlformats.org/officeDocument/2006/relationships/image" Target="../media/image-27-4.png"/><Relationship Id="rId5" Type="http://schemas.openxmlformats.org/officeDocument/2006/relationships/image" Target="../media/image-27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66928"/>
            <a:ext cx="109728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912925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1910" y="1682496"/>
            <a:ext cx="307238" cy="81930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70355" y="1912925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2578608"/>
            <a:ext cx="93817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Moderno con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3.12+ y FastAPI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04672" y="4041648"/>
            <a:ext cx="9381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05 · Unidad 02: Fundamentos, Arquitectura y Contratos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796528" y="5321808"/>
            <a:ext cx="749808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9" name="Image 1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del Módulo: Unidad 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4 → Semana 7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3401568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Semana 4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070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Reactivo (React, State, Props, Fetch).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04672" y="23774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✓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318211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55264" y="3401568"/>
            <a:ext cx="100584" cy="2340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Semana 5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3814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Moderno: Python, FastAPI y Persistencia.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182112" y="23774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20" name="Shape 17"/>
          <p:cNvSpPr/>
          <p:nvPr/>
        </p:nvSpPr>
        <p:spPr>
          <a:xfrm>
            <a:off x="555955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32704" y="3401568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1558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Semana 6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81558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Legado e Integración Profesional.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559552" y="23774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✓</a:t>
            </a:r>
            <a:endParaRPr lang="en-US" sz="3200" dirty="0"/>
          </a:p>
        </p:txBody>
      </p:sp>
      <p:sp>
        <p:nvSpPr>
          <p:cNvPr id="25" name="Shape 22"/>
          <p:cNvSpPr/>
          <p:nvPr/>
        </p:nvSpPr>
        <p:spPr>
          <a:xfrm>
            <a:off x="793699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10144" y="3401568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9302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Semana 7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19302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y Seguridad Aplicada.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936992" y="23774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✓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logramos la semana pasada?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fin del frontend aislado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Pasamos de interfaces estáticas a aplicaciones dinámicas y reactivas.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127248"/>
            <a:ext cx="2926080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3255264"/>
            <a:ext cx="109728" cy="23042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2369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Componentes</a:t>
            </a:r>
            <a:endParaRPr lang="en-US" sz="1380" dirty="0"/>
          </a:p>
        </p:txBody>
      </p:sp>
      <p:sp>
        <p:nvSpPr>
          <p:cNvPr id="15" name="Text 12"/>
          <p:cNvSpPr/>
          <p:nvPr/>
        </p:nvSpPr>
        <p:spPr>
          <a:xfrm>
            <a:off x="1060704" y="3584448"/>
            <a:ext cx="25786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Dividimos la UI en piezas con responsabilidad única.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950208" y="3127248"/>
            <a:ext cx="2926080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41648" y="3255264"/>
            <a:ext cx="109728" cy="23042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2369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Reactividad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4206240" y="3584448"/>
            <a:ext cx="25786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= f(state). El dato manda sobre la vista.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095744" y="3127248"/>
            <a:ext cx="2926080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87184" y="3255264"/>
            <a:ext cx="109728" cy="23042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2369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Consumo API</a:t>
            </a:r>
            <a:endParaRPr lang="en-US" sz="1380" dirty="0"/>
          </a:p>
        </p:txBody>
      </p:sp>
      <p:sp>
        <p:nvSpPr>
          <p:cNvPr id="23" name="Text 20"/>
          <p:cNvSpPr/>
          <p:nvPr/>
        </p:nvSpPr>
        <p:spPr>
          <a:xfrm>
            <a:off x="7351776" y="3584448"/>
            <a:ext cx="25786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Usamos 'fetch' para pedir datos a una caja negra remota.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gran salto: Al otro lado del muro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'Pedir' datos a 'Servir' y 'Proteger' procesos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2412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Hoy dejamos de ser el 'Cliente' para convertirnos en el 'Proveedor'.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04672" y="3493008"/>
            <a:ext cx="2926080" cy="2194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602736"/>
            <a:ext cx="100584" cy="19751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62102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Fundamentos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950208" y="3493008"/>
            <a:ext cx="2926080" cy="2194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23360" y="3602736"/>
            <a:ext cx="100584" cy="19751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06240" y="362102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095744" y="3493008"/>
            <a:ext cx="2926080" cy="2194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68896" y="3602736"/>
            <a:ext cx="100584" cy="19751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51776" y="362102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 Moderno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Objetivos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hoy (1/2)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Hacia el lado del servidor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804672" y="20299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1645920" y="21214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Cambiar el foco: de cliente a servidor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645920" y="23957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el Backend como el guardián de la verdad de los datos.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4672" y="332841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1645920" y="341985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Dominar la gramática REST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645920" y="36941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 URLs semánticas y entender los verbos HTTP.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04672" y="462686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1645920" y="47183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Implementar con FastAPI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645920" y="49926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tus primeros endpoints con tipado estricto en Python 3.12+.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Objetivos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hoy (2/2)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y Contratos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804672" y="20299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1645920" y="21214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Entender la Arquitectura en Capas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645920" y="23957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dividimos la API de la Lógica y los Datos.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4672" y="332841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1645920" y="341985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Diseñar Contratos Interactivos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645920" y="36941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Swagger/OpenAPI para documentar y probar tu trabajo.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04672" y="462686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1645920" y="47183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 Experto de Agentes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645920" y="49926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Delegar modelos de datos (Pydantic) con validación técnica.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mundo detrás del 'Fetch':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Vida del Servidor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Entendiendo al backend como el cerebro y protector de la aplicación. Introducción a Python 3.12 y FastAPI.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804672" y="5340096"/>
            <a:ext cx="2560320" cy="365760"/>
          </a:xfrm>
          <a:prstGeom prst="roundRect">
            <a:avLst>
              <a:gd name="adj" fmla="val 10000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54132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minutos · fundamentos y código</a:t>
            </a:r>
            <a:endParaRPr lang="en-US" sz="9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Servidor: Un programa que 'espera'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1.1 Naturaleza del software de backend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vs Servidor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2871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Script Tradicional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lineal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ejecuta de arriba a abajo.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Realiza una tarea y termina.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Analogía: Una receta de cocina.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2871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Servidor Backend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Bucle infinito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Abre un puerto y espera.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mantiene vivo indefinidamente.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Analogía: Un cajero en el banco.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34670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49300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391363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325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de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</a:t>
            </a:r>
            <a:endParaRPr lang="en-US" sz="720" dirty="0"/>
          </a:p>
        </p:txBody>
      </p:sp>
      <p:sp>
        <p:nvSpPr>
          <p:cNvPr id="44" name="Shape 41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Python, el servidor de aplicaciones (Uvicorn) es quien mantiene vivo este bucle.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Backend como Fuente de Verdad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1.2 Por qué el Frontend nunca tiene la razón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el frontend todo es manipulable. En el backend todo es validado.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127248"/>
            <a:ext cx="2926080" cy="256032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236976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25526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de Saldo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60704" y="3529584"/>
            <a:ext cx="25968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usuario puede hackear el JS para verse millonario. El backend protege la base de datos real.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950208" y="3127248"/>
            <a:ext cx="2926080" cy="256032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236976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25526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 de Negocio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206240" y="3529584"/>
            <a:ext cx="25968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servidor decide si una compra es válida o si un cupón ha expirado.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095744" y="3127248"/>
            <a:ext cx="2926080" cy="256032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236976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25526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351776" y="3529584"/>
            <a:ext cx="25968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backend es la última línea de defensa contra ataques maliciosos.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Analogía: El Mostrador del Banco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1.2 El rol de la API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Cliente nunca entra solo a la bóveda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90342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mostrador es la API. El cajero es el Backend. El cajero revisa tu carnet, valida tu saldo en el sistema interno y solo si todo es correcto, te entrega el dinero (Response).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4672" y="4041648"/>
            <a:ext cx="9381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027"/>
                </a:solidFill>
              </a:rPr>
              <a:t>🛡️ Regla de Oro: Nunca confíes en el cliente.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4 Tareas Universales del Backend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1.3 El ciclo Request-Response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2921508" y="3767328"/>
            <a:ext cx="274320" cy="274320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304288"/>
            <a:ext cx="2071116" cy="3200400"/>
          </a:xfrm>
          <a:prstGeom prst="roundRect">
            <a:avLst>
              <a:gd name="adj" fmla="val 2208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578608"/>
            <a:ext cx="20711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👂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96112" y="3310128"/>
            <a:ext cx="1888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Escuchar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96112" y="3767328"/>
            <a:ext cx="18882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Puerto abierto, esperando HTTP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58384" y="3767328"/>
            <a:ext cx="274320" cy="274320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41548" y="2304288"/>
            <a:ext cx="2071116" cy="3200400"/>
          </a:xfrm>
          <a:prstGeom prst="roundRect">
            <a:avLst>
              <a:gd name="adj" fmla="val 2208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41548" y="2578608"/>
            <a:ext cx="20711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3332988" y="3310128"/>
            <a:ext cx="1888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332988" y="3767328"/>
            <a:ext cx="18882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¿Datos completos y correctos?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95260" y="3767328"/>
            <a:ext cx="274320" cy="274320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78424" y="2304288"/>
            <a:ext cx="2071116" cy="3200400"/>
          </a:xfrm>
          <a:prstGeom prst="roundRect">
            <a:avLst>
              <a:gd name="adj" fmla="val 2208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78424" y="2578608"/>
            <a:ext cx="20711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5769864" y="3310128"/>
            <a:ext cx="1888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Procesar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769864" y="3767328"/>
            <a:ext cx="18882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Cálculos y coordinación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115300" y="2304288"/>
            <a:ext cx="2071116" cy="3200400"/>
          </a:xfrm>
          <a:prstGeom prst="roundRect">
            <a:avLst>
              <a:gd name="adj" fmla="val 2208"/>
            </a:avLst>
          </a:prstGeom>
          <a:solidFill>
            <a:srgbClr val="FFFFFF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15300" y="2578608"/>
            <a:ext cx="20711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8206740" y="3310128"/>
            <a:ext cx="1888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Responder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206740" y="3767328"/>
            <a:ext cx="18882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Enviar JSON + Status Code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04672" y="5687568"/>
            <a:ext cx="9381744" cy="475488"/>
          </a:xfrm>
          <a:prstGeom prst="roundRect">
            <a:avLst>
              <a:gd name="adj" fmla="val 769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5840" y="5852160"/>
            <a:ext cx="8979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Este flujo se repite billones de veces al día en internet.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Python 3.12+ y FastAPI?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1.1 El estándar de la industria hoy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926080"/>
            <a:ext cx="2926080" cy="29260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3054096"/>
            <a:ext cx="64008" cy="2670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303580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Tipado Estricto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60704" y="3383280"/>
            <a:ext cx="257860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Type Hints para detectar errores antes de ejecutar el código.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4672" y="2194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💎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3950208" y="2926080"/>
            <a:ext cx="2926080" cy="29260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41648" y="3054096"/>
            <a:ext cx="64008" cy="2670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06240" y="303580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Asincronía Nativa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206240" y="3383280"/>
            <a:ext cx="257860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Maneja miles de peticiones sin bloquearse (async/await).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950208" y="2194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20" name="Shape 17"/>
          <p:cNvSpPr/>
          <p:nvPr/>
        </p:nvSpPr>
        <p:spPr>
          <a:xfrm>
            <a:off x="7095744" y="2926080"/>
            <a:ext cx="2926080" cy="29260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87184" y="3054096"/>
            <a:ext cx="64008" cy="2670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03580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Autodocumentación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383280"/>
            <a:ext cx="257860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 el manual de la API (Swagger) automáticamente.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095744" y="2194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📖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Moderno: Type Hints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1.1 La base del tipado estricto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2560320"/>
          </a:xfrm>
          <a:prstGeom prst="roundRect">
            <a:avLst>
              <a:gd name="adj" fmla="val 14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Tipado en Python 3.12+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18105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4672" y="4773168"/>
            <a:ext cx="9381744" cy="1097280"/>
          </a:xfrm>
          <a:prstGeom prst="roundRect">
            <a:avLst>
              <a:gd name="adj" fmla="val 2500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77824" y="4882896"/>
            <a:ext cx="100584" cy="8778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60704" y="490118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solo visual.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060704" y="5175504"/>
            <a:ext cx="9052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usa estos tipos para validar automáticamente los datos que llegan del cliente.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 primer Endpoint en FastAPI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1.3 Declarando intenciones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Agente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en Fundamentos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Uso estratégico de la IA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Delegación Inteligente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Explicar Flujos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Pide al agente que narre el viaje de un bit desde el fetch hasta la función de Python.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Boilerplate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Pide la estructura base para iniciar un proyecto de FastAPI siguiendo buenas prácticas.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B8962A"/>
          </a:solidFill>
          <a:ln w="12700">
            <a:solidFill>
              <a:srgbClr val="B896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Versiones Antiguas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aceptes código de Python 3.8. Exige sintaxis moderna (| para uniones).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de Lógica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puede sugerir tipos erróneos. Tú debes validar que el contrato de datos sea correcto.</a:t>
            </a:r>
            <a:endParaRPr lang="en-US" sz="10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GUÍA — BLOQUE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significa que el servidor sea un proceso 'persistente' a diferencia de un script normal?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el Backend es el único que debería tener permiso para escribir en la base de datos?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ventaja real nos da el tipado de Python 3.12+ al momento de recibir datos del cliente?</a:t>
            </a:r>
            <a:endParaRPr lang="en-US" sz="15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pilares del Servidor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backend no muestra pantallas, sirve procesos y protege la integridad de los datos.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Servidor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programa persistente que escucha y responde peticiones HTTP.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419856"/>
            <a:ext cx="100584" cy="16642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confía en el cliente. Valida todo mediante tipado estricto.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419856"/>
            <a:ext cx="100584" cy="1664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Herramienta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nos permite crear APIs rápidas, seguras y autodocumentadas.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" y="541324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522976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5412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2 → REST y Recursos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 y el Lenguaje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los Recursos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gramática universal de la web moderna: cómo estructurar URLs y acciones para que cualquier cliente nos entienda.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804672" y="5340096"/>
            <a:ext cx="2560320" cy="365760"/>
          </a:xfrm>
          <a:prstGeom prst="roundRect">
            <a:avLst>
              <a:gd name="adj" fmla="val 10000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54132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minutos · estándares y protocolos</a:t>
            </a:r>
            <a:endParaRPr lang="en-US" sz="9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un Recurso?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2.1 De archivos a entidades de datos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recurso es cualquier 'entidad' que tu aplicación gestiona.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657600"/>
            <a:ext cx="2926080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3785616"/>
            <a:ext cx="109728" cy="21214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76732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60704" y="4114800"/>
            <a:ext cx="257860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ID, username, email, hashed_password.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4672" y="2743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👤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3950208" y="3657600"/>
            <a:ext cx="2926080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41648" y="3785616"/>
            <a:ext cx="109728" cy="21214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06240" y="376732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206240" y="4114800"/>
            <a:ext cx="257860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SKU, nombre, precio, stock_actual.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950208" y="2743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📦</a:t>
            </a:r>
            <a:endParaRPr lang="en-US" sz="3600" dirty="0"/>
          </a:p>
        </p:txBody>
      </p:sp>
      <p:sp>
        <p:nvSpPr>
          <p:cNvPr id="22" name="Shape 19"/>
          <p:cNvSpPr/>
          <p:nvPr/>
        </p:nvSpPr>
        <p:spPr>
          <a:xfrm>
            <a:off x="7095744" y="3657600"/>
            <a:ext cx="2926080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87184" y="3785616"/>
            <a:ext cx="109728" cy="21214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51776" y="376732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Pedido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351776" y="4114800"/>
            <a:ext cx="257860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ID_Orden, cliente_id, total, status.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095744" y="2743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🛒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Semántica REST: Sustantivos, no acciones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2.2 El diseño de Endpoints profesionales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de URLs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188720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/obtenerUsuarios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188720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/users (GET)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596128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87568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33872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833872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/borrar_post?id=5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5833872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/posts/5 (DELETE)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950976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42416" y="4480560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88720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188720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/nuevoProducto.php</a:t>
            </a:r>
            <a:endParaRPr lang="en-US" sz="1380" dirty="0"/>
          </a:p>
        </p:txBody>
      </p:sp>
      <p:sp>
        <p:nvSpPr>
          <p:cNvPr id="30" name="Text 27"/>
          <p:cNvSpPr/>
          <p:nvPr/>
        </p:nvSpPr>
        <p:spPr>
          <a:xfrm>
            <a:off x="1188720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/products (POST)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5596128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87568" y="4480560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33872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33872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5833872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/actualizar_perfil</a:t>
            </a:r>
            <a:endParaRPr lang="en-US" sz="1380" dirty="0"/>
          </a:p>
        </p:txBody>
      </p:sp>
      <p:sp>
        <p:nvSpPr>
          <p:cNvPr id="36" name="Text 33"/>
          <p:cNvSpPr/>
          <p:nvPr/>
        </p:nvSpPr>
        <p:spPr>
          <a:xfrm>
            <a:off x="5833872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/profile (PATCH)</a:t>
            </a:r>
            <a:endParaRPr lang="en-US" sz="10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Verbos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Verbo HTTP: GET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2.3 Recuperación segura de datos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5486400" cy="36576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1097280" cy="402336"/>
          </a:xfrm>
          <a:prstGeom prst="roundRect">
            <a:avLst>
              <a:gd name="adj" fmla="val 4545"/>
            </a:avLst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216712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121408" y="2157984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/books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32688" y="2688336"/>
            <a:ext cx="5230368" cy="2871216"/>
          </a:xfrm>
          <a:prstGeom prst="rect">
            <a:avLst/>
          </a:prstGeom>
          <a:solidFill>
            <a:srgbClr val="F8F9F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2779776"/>
            <a:ext cx="5047488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"id": 1, "name": "Python Book"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"id": 2, "name": "FastAPI Guide"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92240" y="20299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</a:rPr>
              <a:t>Nivel Técnico: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92240" y="257860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• Seguro: No tiene efectos secundarios.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92240" y="331012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• Idempotente: N llamadas = mismo resultado.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92240" y="404164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• FastAPI: @app.get('/path')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Verbos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Verbo HTTP: POST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2.3 Creación de nuevos recursos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5486400" cy="36576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1097280" cy="402336"/>
          </a:xfrm>
          <a:prstGeom prst="roundRect">
            <a:avLst>
              <a:gd name="adj" fmla="val 454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216712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121408" y="2157984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/books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32688" y="2688336"/>
            <a:ext cx="5230368" cy="2871216"/>
          </a:xfrm>
          <a:prstGeom prst="rect">
            <a:avLst/>
          </a:prstGeom>
          <a:solidFill>
            <a:srgbClr val="F8F9F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2779776"/>
            <a:ext cx="5047488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"Nuevo Libro",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"author": "Diego O."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92240" y="20299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BC5A"/>
                </a:solidFill>
              </a:rPr>
              <a:t>Nivel Técnico: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92240" y="257860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• No es Seguro: Modifica la base de datos.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92240" y="331012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• No es Idempotente: 2 llamadas = 2 registros.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92240" y="404164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• Lleva Body: Los datos viajan en el cuerpo.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Verbos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PUT vs PATCH: ¿Cómo actualizar?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2.3 Precisión en la modificación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Estrategias de Update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2871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PUT (Reemplazo)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Idempotente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Envías el objeto COMPLETO.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Sobreescribe todo el recurso.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falta un campo, se puede perder.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28712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PATCH (Parcial)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siempre idempotente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Envías solo el campo que CAMBIÓ.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para optimizar ancho de banda.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complejo de implementar.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34670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49300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391363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325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tanto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envías?</a:t>
            </a:r>
            <a:endParaRPr lang="en-US" sz="720" dirty="0"/>
          </a:p>
        </p:txBody>
      </p:sp>
      <p:sp>
        <p:nvSpPr>
          <p:cNvPr id="44" name="Shape 41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mundo real, se suele usar PUT por simplicidad salvo en objetos gigantes.</a:t>
            </a:r>
            <a:endParaRPr lang="en-US" sz="8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Verbos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Verbo HTTP: DELETE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2.3 Eliminación de recursos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548640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1097280" cy="402336"/>
          </a:xfrm>
          <a:prstGeom prst="roundRect">
            <a:avLst>
              <a:gd name="adj" fmla="val 454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216712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121408" y="2157984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/books/101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92240" y="20299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2027"/>
                </a:solidFill>
              </a:rPr>
              <a:t>Nivel Técnico: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57860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• Idempotente: Borrar lo borrado no cambia nada.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331012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• Destructivo: ¡Cuidado con el acceso!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92240" y="404164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• Respuesta: Suele ser 204 (No Content).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 una Petición HTTP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2.4 Lo que viaja por los cables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Request Structure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Headers: El sobre del mensaje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2.4 Información de control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212848"/>
            <a:ext cx="4590288" cy="1792224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322576"/>
            <a:ext cx="100584" cy="15727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34086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Content-Type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60704" y="2615184"/>
            <a:ext cx="4261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el formato (ej. application/json).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96128" y="2212848"/>
            <a:ext cx="4590288" cy="1792224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0" y="2322576"/>
            <a:ext cx="100584" cy="15727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34086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Authorization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852160" y="2615184"/>
            <a:ext cx="4261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Demuestra que tienes permiso para entrar.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04672" y="4151376"/>
            <a:ext cx="4590288" cy="1792224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7824" y="4261104"/>
            <a:ext cx="100584" cy="15727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4279392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Accept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060704" y="4553712"/>
            <a:ext cx="4261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dice al servidor qué formato prefiere el cliente.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596128" y="4151376"/>
            <a:ext cx="4590288" cy="1792224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0" y="4261104"/>
            <a:ext cx="100584" cy="15727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4279392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User-Agent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852160" y="4553712"/>
            <a:ext cx="4261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si la petición viene de un App o Web.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Body: El interior del mensaje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2.4 Donde viven los datos reales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Solo los verbos de escritura (POST, PUT, PATCH) suelen llevar un Body.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2944368"/>
            <a:ext cx="4937760" cy="2926080"/>
          </a:xfrm>
          <a:prstGeom prst="roundRect">
            <a:avLst>
              <a:gd name="adj" fmla="val 125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3054096"/>
            <a:ext cx="4681728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3127248"/>
            <a:ext cx="4462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Body (JSON)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3511296"/>
            <a:ext cx="4517136" cy="217627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961888" y="2944368"/>
            <a:ext cx="4224528" cy="2926080"/>
          </a:xfrm>
          <a:prstGeom prst="roundRect">
            <a:avLst>
              <a:gd name="adj" fmla="val 125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89904" y="3054096"/>
            <a:ext cx="3968496" cy="310896"/>
          </a:xfrm>
          <a:prstGeom prst="roundRect">
            <a:avLst>
              <a:gd name="adj" fmla="val 8824"/>
            </a:avLst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99632" y="312724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Body (JSON)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1344" y="3511296"/>
            <a:ext cx="3803904" cy="217627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FastAPI: Identificar vs Filtrar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2.4 Implementación en Python 3.12+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Agente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en el Diseño de APIs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Acelerando la arquitectura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Delegación Inteligente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Endpoints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Pide al agente: 'Genera una estructura REST para una clínica dental'. Te dará nombres de recursos perfectos.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Mocks de JSON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Pide ejemplos de JSON complejos para un recurso 'Historia Clínica'.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B8962A"/>
          </a:solidFill>
          <a:ln w="12700">
            <a:solidFill>
              <a:srgbClr val="B896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Lógica Crítica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dejes que el agente decida si un borrado es físico o lógico sin tu supervisión.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 Real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puede sugerir APIs sin autenticación. Tú debes validar que los headers de seguridad estén presentes.</a:t>
            </a:r>
            <a:endParaRPr lang="en-US" sz="106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GUÍA — BLOQUE 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en REST usamos sustantivos (Cosas) en la URL y no verbos (Acciones)?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técnica hay entre un parámetro de ruta (/user/5) y uno de consulta (?limit=10)?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es fundamental que un desarrollador Frontend conozca los Headers de una petición?</a:t>
            </a:r>
            <a:endParaRPr lang="en-US" sz="156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gramática de los datos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URL identifica al recurso. El Verbo define la acción. El JSON es el mensaje.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basada en entidades y acciones semánticas.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419856"/>
            <a:ext cx="100584" cy="16642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Verbos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(leer), POST (crear), PUT (reemplazar), DELETE (borrar).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419856"/>
            <a:ext cx="100584" cy="1664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Interoperabilidad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como lenguaje común para cualquier cliente.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" y="541324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522976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5412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 → Arquitectura en Capas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en Capas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Modelado de Datos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organizar el código de un servidor profesional para que sea escalable, seguro y fácil de mantener.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804672" y="5340096"/>
            <a:ext cx="2560320" cy="365760"/>
          </a:xfrm>
          <a:prstGeom prst="roundRect">
            <a:avLst>
              <a:gd name="adj" fmla="val 10000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54132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minutos · arquitectura y modelos</a:t>
            </a:r>
            <a:endParaRPr lang="en-US" sz="9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Arquitectura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Caos del Código Mezclado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3.1 Por qué no debemos poner todo en un solo archivo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del 'Código Espagueti'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90342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las rutas de la API, el cálculo de impuestos y el guardado en la base de datos viven en la misma función, el servidor se vuelve imposible de testear y muy frágil ante cambios.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" y="3858768"/>
            <a:ext cx="9381744" cy="2194560"/>
          </a:xfrm>
          <a:prstGeom prst="roundRect">
            <a:avLst>
              <a:gd name="adj" fmla="val 1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2688" y="39684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42416" y="40416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Inmantenible (Anti-patrón)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4425696"/>
            <a:ext cx="8961120" cy="144475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Arquitectura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en Capas: El Orden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3.1 Separación de Responsabilidades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548640" y="2029968"/>
            <a:ext cx="4389120" cy="1261872"/>
          </a:xfrm>
          <a:prstGeom prst="roundRect">
            <a:avLst>
              <a:gd name="adj" fmla="val 4348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2128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 de API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25786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Controladores / HTTP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474720"/>
            <a:ext cx="4389120" cy="1261872"/>
          </a:xfrm>
          <a:prstGeom prst="roundRect">
            <a:avLst>
              <a:gd name="adj" fmla="val 4348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3657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 de Negocio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1520" y="4023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/ Reglas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4919472"/>
            <a:ext cx="4389120" cy="1261872"/>
          </a:xfrm>
          <a:prstGeom prst="roundRect">
            <a:avLst>
              <a:gd name="adj" fmla="val 4348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51023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 de Datos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31520" y="54681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 / SQL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120640" y="2487168"/>
            <a:ext cx="274320" cy="3236976"/>
          </a:xfrm>
          <a:prstGeom prst="downArrow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40680" y="392277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Petición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83680" y="20299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Ventajas Técnicas: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583680" y="257860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• Intercambiabilidad: Puedes cambiar la base de datos sin tocar las rutas.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583680" y="367588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• Testeabilidad: Puedes probar la lógica sin levantar el servidor HTTP.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583680" y="477316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• Legibilidad: Cada archivo tiene un solo propósito claro.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Capas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 1: API (Transporte)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de comunicación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5486400" cy="3657600"/>
          </a:xfrm>
          <a:prstGeom prst="roundRect">
            <a:avLst>
              <a:gd name="adj" fmla="val 1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5230368" cy="310896"/>
          </a:xfrm>
          <a:prstGeom prst="roundRect">
            <a:avLst>
              <a:gd name="adj" fmla="val 88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5010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routers/items.py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5065776" cy="29077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92240" y="2029968"/>
            <a:ext cx="365760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65392" y="2139696"/>
            <a:ext cx="100584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48272" y="215798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Recibir Peticiones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748272" y="2432304"/>
            <a:ext cx="3328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Entiende de Verbos, URLs y Headers.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492240" y="3310128"/>
            <a:ext cx="365760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65392" y="3419856"/>
            <a:ext cx="100584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48272" y="343814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Formato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748272" y="3712464"/>
            <a:ext cx="3328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 que el JSON sea correcto.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492240" y="4590288"/>
            <a:ext cx="365760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565392" y="4700016"/>
            <a:ext cx="100584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48272" y="471830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Responder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748272" y="4992624"/>
            <a:ext cx="3328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Envía el Status Code adecuado (200, 404, etc).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Capas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 2: Negocio (Lógica)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cerebro del sistema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5486400" cy="3657600"/>
          </a:xfrm>
          <a:prstGeom prst="roundRect">
            <a:avLst>
              <a:gd name="adj" fmla="val 1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5230368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5010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services/billing.py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5065776" cy="29077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92240" y="2029968"/>
            <a:ext cx="365760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65392" y="2139696"/>
            <a:ext cx="100584" cy="8778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48272" y="215798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 de Negocio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748272" y="2432304"/>
            <a:ext cx="3328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cómo funciona el mundo real.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492240" y="3310128"/>
            <a:ext cx="365760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65392" y="3419856"/>
            <a:ext cx="100584" cy="8778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48272" y="343814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Cálculos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748272" y="3712464"/>
            <a:ext cx="3328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Impuestos, descuentos, validaciones complejas.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492240" y="4590288"/>
            <a:ext cx="365760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565392" y="4700016"/>
            <a:ext cx="100584" cy="8778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48272" y="471830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Independencia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748272" y="4992624"/>
            <a:ext cx="3328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sabe que existe el WiFi ni el SQL.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Capas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 3: Datos (Persistencia)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brazo ejecutor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5486400" cy="3657600"/>
          </a:xfrm>
          <a:prstGeom prst="roundRect">
            <a:avLst>
              <a:gd name="adj" fmla="val 1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5230368" cy="310896"/>
          </a:xfrm>
          <a:prstGeom prst="roundRect">
            <a:avLst>
              <a:gd name="adj" fmla="val 8824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5010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repositories/user_repo.py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5065776" cy="29077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92240" y="2029968"/>
            <a:ext cx="365760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65392" y="2139696"/>
            <a:ext cx="100584" cy="8778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48272" y="215798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Acceso a DB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748272" y="2432304"/>
            <a:ext cx="3328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Escribe y lee de tablas reales.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492240" y="3310128"/>
            <a:ext cx="365760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65392" y="3419856"/>
            <a:ext cx="100584" cy="8778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48272" y="343814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Manejo de Errores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748272" y="3712464"/>
            <a:ext cx="3328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 si la base de datos se cayó.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492240" y="4590288"/>
            <a:ext cx="3657600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565392" y="4700016"/>
            <a:ext cx="100584" cy="8778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48272" y="471830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Consultas Técnicas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748272" y="4992624"/>
            <a:ext cx="3328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Filtros de SQL, ordenamiento, límites.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Modelado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Pydantic: Modelando la Verdad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3.2 Definición de Esquemas en Python 3.12+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3200400"/>
          </a:xfrm>
          <a:prstGeom prst="roundRect">
            <a:avLst>
              <a:gd name="adj" fmla="val 1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schemas/product.py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24505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4672" y="5413248"/>
            <a:ext cx="9381744" cy="731520"/>
          </a:xfrm>
          <a:prstGeom prst="roundRect">
            <a:avLst>
              <a:gd name="adj" fmla="val 3750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77824" y="5522976"/>
            <a:ext cx="100584" cy="5120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60704" y="55412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Auto-Validación: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060704" y="581558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cliente envía un precio que es un texto, Pydantic lo rechaza antes de que toque tu lógica.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Código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Recibiendo Datos Complejos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3.4 El manejo del Request Body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896112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Lógica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 de Negocio: La Joya de la Corona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3.3 Lo que hace valioso a tu software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Ejemplos de Lógica vs Negocio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de Lógica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¿Es el email un string válido? ¿Viene el campo nombre?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de Negocio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¿Tiene este cliente saldo suficiente para comprar el Monitor?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de Lógica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¿Es la fecha una fecha real en el calendario?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de Negocio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¿Puede este usuario devolver un libro si tiene multas pendientes?</a:t>
            </a:r>
            <a:endParaRPr lang="en-US" sz="106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Arquitectura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Viaje del Bit a través del Servidor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3.4 Trazabilidad en la arquitectura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304288"/>
            <a:ext cx="9381744" cy="2852928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43230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50545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Cadena de etapas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69264" y="283464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926080"/>
            <a:ext cx="82296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33856" y="294436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33856" y="299008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1426464" y="293522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API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1170432" y="323697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POST /buy. Valida tipos JSON.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3044952" y="3319272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19272" y="283464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92424" y="2926080"/>
            <a:ext cx="82296" cy="10607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83864" y="294436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83864" y="299008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3776472" y="293522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NEGOCIO</a:t>
            </a:r>
            <a:endParaRPr lang="en-US" sz="1240" dirty="0"/>
          </a:p>
        </p:txBody>
      </p:sp>
      <p:sp>
        <p:nvSpPr>
          <p:cNvPr id="25" name="Text 22"/>
          <p:cNvSpPr/>
          <p:nvPr/>
        </p:nvSpPr>
        <p:spPr>
          <a:xfrm>
            <a:off x="3520440" y="323697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stock y saldo del usuario.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5394960" y="3319272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69280" y="283464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42432" y="2926080"/>
            <a:ext cx="82296" cy="10607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33872" y="294436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33872" y="299008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6126480" y="293522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DATOS</a:t>
            </a:r>
            <a:endParaRPr lang="en-US" sz="1240" dirty="0"/>
          </a:p>
        </p:txBody>
      </p:sp>
      <p:sp>
        <p:nvSpPr>
          <p:cNvPr id="32" name="Text 29"/>
          <p:cNvSpPr/>
          <p:nvPr/>
        </p:nvSpPr>
        <p:spPr>
          <a:xfrm>
            <a:off x="5870448" y="323697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Descuenta el item de la DB.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7744968" y="3319272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019288" y="283464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92440" y="2926080"/>
            <a:ext cx="82296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183880" y="294436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83880" y="299008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8476488" y="293522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API</a:t>
            </a:r>
            <a:endParaRPr lang="en-US" sz="1240" dirty="0"/>
          </a:p>
        </p:txBody>
      </p:sp>
      <p:sp>
        <p:nvSpPr>
          <p:cNvPr id="39" name="Text 36"/>
          <p:cNvSpPr/>
          <p:nvPr/>
        </p:nvSpPr>
        <p:spPr>
          <a:xfrm>
            <a:off x="8220456" y="323697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201 Created.</a:t>
            </a:r>
            <a:endParaRPr lang="en-US" sz="9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Agente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como Analista de Negocio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Acelerando la lógica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841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Delegando el Modelado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9034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agente es excelente para crear clases Pydantic basadas en requerimientos de negocio complejos.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" y="3310128"/>
            <a:ext cx="4937760" cy="2743200"/>
          </a:xfrm>
          <a:prstGeom prst="roundRect">
            <a:avLst>
              <a:gd name="adj" fmla="val 1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2688" y="3419856"/>
            <a:ext cx="4681728" cy="310896"/>
          </a:xfrm>
          <a:prstGeom prst="roundRect">
            <a:avLst>
              <a:gd name="adj" fmla="val 8824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42416" y="3493008"/>
            <a:ext cx="4462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Sugerido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3877056"/>
            <a:ext cx="4517136" cy="19933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961888" y="3310128"/>
            <a:ext cx="4224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2027"/>
                </a:solidFill>
              </a:rPr>
              <a:t>💡 Consejo de Senior: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961888" y="3767328"/>
            <a:ext cx="42245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• Revisa que los modelos no expongan datos sensibles (como passwords) en el retorno.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961888" y="5047488"/>
            <a:ext cx="42245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• Asegura que el agente use Field(...) para límites de valores (ej. precio &gt; 0).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Arquitectura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Comunes de Arquitectura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Lo que rompe la escalabilidad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Anti-patrones de Backend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188720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Poner SQL directo en el controlador.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188720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Capas: El controlador no debe saber cómo se guardan los datos.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596128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87568" y="2688336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33872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833872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reglas de negocio en el Frontend.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5833872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Seguridad: El cliente miente, el servidor verifica.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950976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42416" y="4480560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88720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188720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Retornar modelos de base de datos a la API.</a:t>
            </a:r>
            <a:endParaRPr lang="en-US" sz="1380" dirty="0"/>
          </a:p>
        </p:txBody>
      </p:sp>
      <p:sp>
        <p:nvSpPr>
          <p:cNvPr id="30" name="Text 27"/>
          <p:cNvSpPr/>
          <p:nvPr/>
        </p:nvSpPr>
        <p:spPr>
          <a:xfrm>
            <a:off x="1188720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Privacidad: Usa Schemas (Pydantic) para filtrar qué datos ve el cliente.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5596128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87568" y="4480560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33872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33872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5833872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Usar diccionarios para todo en Python.</a:t>
            </a:r>
            <a:endParaRPr lang="en-US" sz="1380" dirty="0"/>
          </a:p>
        </p:txBody>
      </p:sp>
      <p:sp>
        <p:nvSpPr>
          <p:cNvPr id="36" name="Text 33"/>
          <p:cNvSpPr/>
          <p:nvPr/>
        </p:nvSpPr>
        <p:spPr>
          <a:xfrm>
            <a:off x="5833872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Rigor: Usa Clases/Modelos para tener ayuda del editor y menos bugs.</a:t>
            </a:r>
            <a:endParaRPr lang="en-US" sz="104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GUÍA — BLOQUE 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componente de nuestra arquitectura es el encargado de 'hablar' el idioma HTTP con el cliente?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es una ventaja técnica usar Pydantic frente a recibir un JSON genérico?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¿En qué capa del servidor pondrías la lógica que calcula si un envío es gratis según el monto?</a:t>
            </a:r>
            <a:endParaRPr lang="en-US" sz="156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y Modelos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Separar responsabilidades no es burocracia, es ingeniería para el largo plazo.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API, Lógica y Datos. Cada pieza en su lugar.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419856"/>
            <a:ext cx="100584" cy="16642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Pydantic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de contratos mediante el poder del tipado.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419856"/>
            <a:ext cx="100584" cy="1664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Negocio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servidor protege las reglas sagradas de la aplicación.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" y="541324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522976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5412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 → El Contrato y Swagger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Contrato Interactivo: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Magia de Swagger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FastAPI documenta y prueba tu trabajo automáticamente, facilitando la integración profesional.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804672" y="5340096"/>
            <a:ext cx="2560320" cy="365760"/>
          </a:xfrm>
          <a:prstGeom prst="roundRect">
            <a:avLst>
              <a:gd name="adj" fmla="val 10000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54132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minutos · documentación y testeo</a:t>
            </a:r>
            <a:endParaRPr lang="en-US" sz="94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Fundamentos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un Contrato de API?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4.1 El pacto entre sistemas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contrato es un acuerdo formal sobre cómo se intercambiarán los datos.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127248"/>
            <a:ext cx="2926080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3255264"/>
            <a:ext cx="109728" cy="23042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2369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Definición</a:t>
            </a:r>
            <a:endParaRPr lang="en-US" sz="1380" dirty="0"/>
          </a:p>
        </p:txBody>
      </p:sp>
      <p:sp>
        <p:nvSpPr>
          <p:cNvPr id="15" name="Text 12"/>
          <p:cNvSpPr/>
          <p:nvPr/>
        </p:nvSpPr>
        <p:spPr>
          <a:xfrm>
            <a:off x="1060704" y="3584448"/>
            <a:ext cx="25786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URL, Método, Headers, Request Body y Response Body.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3950208" y="3127248"/>
            <a:ext cx="2926080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41648" y="3255264"/>
            <a:ext cx="109728" cy="23042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2369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Confianza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4206240" y="3584448"/>
            <a:ext cx="25786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Frontend sabe qué esperar; el Backend sabe qué recibir.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7095744" y="3127248"/>
            <a:ext cx="2926080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87184" y="3255264"/>
            <a:ext cx="109728" cy="23042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2369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Independencia</a:t>
            </a:r>
            <a:endParaRPr lang="en-US" sz="1380" dirty="0"/>
          </a:p>
        </p:txBody>
      </p:sp>
      <p:sp>
        <p:nvSpPr>
          <p:cNvPr id="23" name="Text 20"/>
          <p:cNvSpPr/>
          <p:nvPr/>
        </p:nvSpPr>
        <p:spPr>
          <a:xfrm>
            <a:off x="7351776" y="3584448"/>
            <a:ext cx="25786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Ambos equipos pueden trabajar en paralelo sin estorbarse.</a:t>
            </a:r>
            <a:endParaRPr lang="en-US" sz="112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Herramientas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Swagger UI: Documentación Viva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4.2 La ventaja competitiva de FastAPI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13898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código es el documento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90342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FastAPI, no escribes manuales en PDF. Tu código (clases Pydantic y decoradores) genera automáticamente una página web interactiva en '/docs' bajo el estándar OpenAPI.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" y="3858768"/>
            <a:ext cx="4937760" cy="2194560"/>
          </a:xfrm>
          <a:prstGeom prst="roundRect">
            <a:avLst>
              <a:gd name="adj" fmla="val 1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2688" y="3968496"/>
            <a:ext cx="4681728" cy="310896"/>
          </a:xfrm>
          <a:prstGeom prst="roundRect">
            <a:avLst>
              <a:gd name="adj" fmla="val 88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42416" y="4041648"/>
            <a:ext cx="4462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Tú escribes esto (Python)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4425696"/>
            <a:ext cx="4517136" cy="144475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852160" y="4754880"/>
            <a:ext cx="274320" cy="365760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3858768"/>
            <a:ext cx="3968496" cy="2194560"/>
          </a:xfrm>
          <a:prstGeom prst="roundRect">
            <a:avLst>
              <a:gd name="adj" fmla="val 1250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91072" y="3968496"/>
            <a:ext cx="100584" cy="19751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73952" y="3986784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 genera esto (Swagger)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473952" y="4261104"/>
            <a:ext cx="363931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Formulario interactivo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Modelos de datos visuales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Botón 'Try it out'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Herramientas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 en Vivo: El botón 'Try it out'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4.2 Validando el servidor al instante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2412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Swagger permite probar tu lógica de negocio sin haber escrito una sola línea de HTML/CSS.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9381744" cy="804672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5852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Elegir Endpoint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la ruta que quieres probar en la lista.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4672" y="4261104"/>
            <a:ext cx="9381744" cy="804672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7824" y="4370832"/>
            <a:ext cx="100584" cy="5852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0704" y="4389120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Try it out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60704" y="4663440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 el modo edición para enviar datos reales.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04672" y="5212080"/>
            <a:ext cx="9381744" cy="804672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7824" y="5321808"/>
            <a:ext cx="100584" cy="5852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5340096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Execute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60704" y="561441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procesa y te muestra el JSON de respuesta y el Status Code.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Estrategia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Mentalidad 'API First'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4.3 Diseñar el acuerdo antes de construir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Flujos de Trabajo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2871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Tradicional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Lento y secuencial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programa todo.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49040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6334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7947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espera sentado.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15137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26567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19709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integrar, nada calza.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261872" y="4553712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353312" y="466801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99616" y="45994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de arreglar bugs.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55080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64808" y="2724912"/>
            <a:ext cx="109728" cy="2871216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API First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Rápido y paralelo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diseña el contrato en Swagger.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3749040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3863340"/>
            <a:ext cx="82296" cy="82296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37947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maquetea con Mocks.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65976" y="415137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57416" y="4265676"/>
            <a:ext cx="82296" cy="82296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03720" y="419709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construye la lógica.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65976" y="4553712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57416" y="4668012"/>
            <a:ext cx="82296" cy="82296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03720" y="45994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integración es inmediata.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92040" y="334670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001768" y="349300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74920" y="391363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56632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5020056" y="4325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agilidad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profesional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hace que el diseño del contrato sea ridículamente fácil y rápido.</a:t>
            </a:r>
            <a:endParaRPr lang="en-US" sz="88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Fundamentos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Idioma de la Respuesta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4.4 Los Códigos de Estado HTTP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590288" cy="1792224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139696"/>
            <a:ext cx="100584" cy="157276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5798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200/201 - Éxito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60704" y="2432304"/>
            <a:ext cx="4261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salió perfecto. El recurso fue leído o creado.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96128" y="2029968"/>
            <a:ext cx="4590288" cy="1792224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0" y="2139696"/>
            <a:ext cx="100584" cy="15727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15798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400/422 - Error de Cliente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52160" y="2432304"/>
            <a:ext cx="4261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 enviaste los datos mal. FastAPI da 422 por defecto.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04672" y="3986784"/>
            <a:ext cx="4590288" cy="1792224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7824" y="4096512"/>
            <a:ext cx="100584" cy="15727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4114800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401/403 - Seguridad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60704" y="4389120"/>
            <a:ext cx="4261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tienes permiso o no te has identificado.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596128" y="3986784"/>
            <a:ext cx="4590288" cy="1792224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0" y="4096512"/>
            <a:ext cx="100584" cy="15727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4114800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500 - Error de Servidor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52160" y="4389120"/>
            <a:ext cx="42611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código de Python falló. Es culpa del Backend.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Agente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como Redactor Técnico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Enriqueciendo el Swagger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5486400" cy="3657600"/>
          </a:xfrm>
          <a:prstGeom prst="roundRect">
            <a:avLst>
              <a:gd name="adj" fmla="val 1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5230368" cy="310896"/>
          </a:xfrm>
          <a:prstGeom prst="roundRect">
            <a:avLst>
              <a:gd name="adj" fmla="val 8824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5010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para documentar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5065776" cy="29077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92240" y="20299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💡 ¿Qué ganarás?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492240" y="257860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• Descripciones claras para tu equipo.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92240" y="331012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• Validación de campos obligatorios.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92240" y="404164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• Swagger que parece escrito por un Senior.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GUÍA — BLOQUE 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decimos que Swagger es una 'documentación viva'?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ventaja tiene probar el servidor en /docs antes de conectarlo al Frontend?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¿Cuál es la diferencia entre un error 400 y un error 500 en términos de responsabilidad?</a:t>
            </a:r>
            <a:endParaRPr lang="en-US" sz="156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pacto de la API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API profesional se mide por la claridad de su contrato y la calidad de su respuesta.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Acuerdo formal de datos entre Frontend y Backend.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419856"/>
            <a:ext cx="100584" cy="16642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Swagger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interactiva automática mediante OpenAPI.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419856"/>
            <a:ext cx="100584" cy="1664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381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 Codes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51776" y="3712464"/>
            <a:ext cx="25968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Lenguaje universal para comunicar éxito o fallo.</a:t>
            </a:r>
            <a:endParaRPr lang="en-US" sz="10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Síntesis: De la Pieza al Sistema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Clase · El modelo completo de aplicaciones modernas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59028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64008" cy="14447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Servidor</a:t>
            </a:r>
            <a:endParaRPr lang="en-US" sz="142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42428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 persistente que protege la verdad de los datos.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596128" y="2029968"/>
            <a:ext cx="459028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87568" y="2157984"/>
            <a:ext cx="64008" cy="14447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139696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</a:t>
            </a:r>
            <a:endParaRPr lang="en-US" sz="1420" dirty="0"/>
          </a:p>
        </p:txBody>
      </p:sp>
      <p:sp>
        <p:nvSpPr>
          <p:cNvPr id="17" name="Text 14"/>
          <p:cNvSpPr/>
          <p:nvPr/>
        </p:nvSpPr>
        <p:spPr>
          <a:xfrm>
            <a:off x="5852160" y="2487168"/>
            <a:ext cx="42428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basada en Recursos y Verbos semánticos.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804672" y="3895344"/>
            <a:ext cx="459028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96112" y="4023360"/>
            <a:ext cx="64008" cy="14447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400507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</a:t>
            </a:r>
            <a:endParaRPr lang="en-US" sz="1420" dirty="0"/>
          </a:p>
        </p:txBody>
      </p:sp>
      <p:sp>
        <p:nvSpPr>
          <p:cNvPr id="21" name="Text 18"/>
          <p:cNvSpPr/>
          <p:nvPr/>
        </p:nvSpPr>
        <p:spPr>
          <a:xfrm>
            <a:off x="1060704" y="4352544"/>
            <a:ext cx="42428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División en Capas (API, Lógica, Datos) para el orden.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5596128" y="3895344"/>
            <a:ext cx="459028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87568" y="4023360"/>
            <a:ext cx="64008" cy="14447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400507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Contratos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5852160" y="4352544"/>
            <a:ext cx="42428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interactiva (Swagger) para la integración.</a:t>
            </a:r>
            <a:endParaRPr lang="en-US" sz="108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13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Desafío Mental de Integración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Aplicando lo aprendido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¿Cómo diseñarías el contrato para un sistema de Arriendo de Scooters?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127248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236976"/>
            <a:ext cx="100584" cy="2340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25526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Identificar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60704" y="3529584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¿Cuáles son mis recursos? (Scooter, Viaje, Usuario).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182112" y="3127248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55264" y="3236976"/>
            <a:ext cx="100584" cy="2340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38144" y="325526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Definir URLs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438144" y="3529584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/scooters/{id}, /viajes/iniciar.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559552" y="3127248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32704" y="3236976"/>
            <a:ext cx="100584" cy="2340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15584" y="325526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Elegir Verbos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815584" y="3529584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¿GET para ver mapa? ¿POST para iniciar viaje?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936992" y="3127248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10144" y="3236976"/>
            <a:ext cx="100584" cy="2340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93024" y="325526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Regla Negocio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193024" y="3529584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¿Tiene batería suficiente para este viaje?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2560320" cy="274320"/>
          </a:xfrm>
          <a:prstGeom prst="roundRect">
            <a:avLst>
              <a:gd name="adj" fmla="val 1666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DE SALIDA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el Backend es el único que puede 'escribir' en la base de datos?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¿Para qué sirve el archivo 'schemas.py' en una arquitectura en capas?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le dirías a un desarrollador Frontend que te pide ver tu código Python para saber cómo usar la API?</a:t>
            </a:r>
            <a:endParaRPr lang="en-US" sz="156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Mañana: Modelamiento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Datos y Persistencia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04672" y="3310128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Aprenderemos a diseñar las tablas y relaciones donde guardaremos toda la información de forma permanente.</a:t>
            </a:r>
            <a:endParaRPr lang="en-US" sz="1520" dirty="0"/>
          </a:p>
        </p:txBody>
      </p:sp>
      <p:sp>
        <p:nvSpPr>
          <p:cNvPr id="9" name="Shape 6"/>
          <p:cNvSpPr/>
          <p:nvPr/>
        </p:nvSpPr>
        <p:spPr>
          <a:xfrm>
            <a:off x="804672" y="532180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548640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Nos vemos en la Clase 02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Fundamentals with Python</dc:title>
  <dc:subject>Clase 13</dc:subject>
  <dc:creator>Diego Obando</dc:creator>
  <cp:lastModifiedBy>Diego Obando</cp:lastModifiedBy>
  <cp:revision>1</cp:revision>
  <dcterms:created xsi:type="dcterms:W3CDTF">2026-04-05T18:15:50Z</dcterms:created>
  <dcterms:modified xsi:type="dcterms:W3CDTF">2026-04-05T18:15:50Z</dcterms:modified>
</cp:coreProperties>
</file>