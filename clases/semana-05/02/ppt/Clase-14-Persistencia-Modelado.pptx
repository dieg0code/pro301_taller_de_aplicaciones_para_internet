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"/>
            <a:ext cx="109728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1910" y="1682496"/>
            <a:ext cx="307238" cy="81930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70355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578608"/>
            <a:ext cx="9381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Persistencia y Modelado de Datos: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Esqueleto de la Información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04672" y="4041648"/>
            <a:ext cx="9381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05 · Clase 02: PostgreSQL, Entidades y Supabase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796528" y="5321808"/>
            <a:ext cx="749808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9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pasa si tu app olvida quién eres?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de la volatilidad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2412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¿De qué sirve un sistema si cada reinicio borra pedidos, usuarios o historial?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493008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602736"/>
            <a:ext cx="100584" cy="19751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App recuerda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950208" y="3493008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23360" y="3602736"/>
            <a:ext cx="100584" cy="19751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0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Negocio opera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095744" y="3493008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68896" y="3602736"/>
            <a:ext cx="100584" cy="19751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51776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ayuda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General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Hacia sistemas con memoria real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286000"/>
          </a:xfrm>
          <a:prstGeom prst="roundRect">
            <a:avLst>
              <a:gd name="adj" fmla="val 16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Diseñar modelos de datos coherentes y escalables, transformando ideas en tablas físicas usando PostgreSQL (vía Supabase).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Mapa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Aprendizaje: Hoy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Bloques hacia la persistencia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3401568"/>
            <a:ext cx="100584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070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Memoria vs Persistencia. Entidades y Atributos.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8211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5526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3814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3814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Relaciones y Cardinalidad (1:1, 1:N, N:M).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5955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3270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1558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1558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y Diagramas (DER). Normalización.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93699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1014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9302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9302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 en Supabase (Postgres).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Huella IA: El Agente Arquitecto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Colaboración Inteligente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como apoyo en el modelado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Borradores de Esquemas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propuestas de tablas y atributos iniciales.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Generación de SQL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Traducir el diseño visual a código técnico para Supabase.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5303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719072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20240" y="4462272"/>
            <a:ext cx="3355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de Negocio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920240" y="4754880"/>
            <a:ext cx="3355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no sabe cómo opera TU empresa. Valida cada relación.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5303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355080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56248" y="4462272"/>
            <a:ext cx="3355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Ambigüedades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556248" y="4754880"/>
            <a:ext cx="3355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que los nombres sean claros y las PK sean únicas.</a:t>
            </a:r>
            <a:endParaRPr lang="en-US" sz="10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Memoria Volátil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la Persistencia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Entendiendo por qué el backend necesita una memoria estable para sostener el mundo real.</a:t>
            </a:r>
            <a:endParaRPr lang="en-US" sz="15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Memoria Volátil vs. Persistencia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1.1 Diferencia Operativa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vive el dato?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Memoria Volátil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 / Variables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Rápida pero efímera.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pierde al apagar/reiniciar.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Ej: useState, listas en Python.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Persistencia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 / Bases de Datos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Lenta pero estable.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Sobrevive al paso del tiempo.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Ej: PostgreSQL, Archivos.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durabilidad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dato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Entidad: El Sustantivo del Negocio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1.3 Modelando la realidad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entidad es un objeto relevante para el negocio que queremos representar.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858768"/>
            <a:ext cx="292608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986784"/>
            <a:ext cx="109728" cy="19385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9684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315968"/>
            <a:ext cx="257860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persona que compra.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4672" y="2926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17" name="Shape 14"/>
          <p:cNvSpPr/>
          <p:nvPr/>
        </p:nvSpPr>
        <p:spPr>
          <a:xfrm>
            <a:off x="3950208" y="3858768"/>
            <a:ext cx="292608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41648" y="3986784"/>
            <a:ext cx="109728" cy="19385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06240" y="39684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206240" y="4315968"/>
            <a:ext cx="257860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ítem disponible para venta.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50208" y="2926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22" name="Shape 19"/>
          <p:cNvSpPr/>
          <p:nvPr/>
        </p:nvSpPr>
        <p:spPr>
          <a:xfrm>
            <a:off x="7095744" y="3858768"/>
            <a:ext cx="292608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87184" y="3986784"/>
            <a:ext cx="109728" cy="19385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51776" y="39684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51776" y="4315968"/>
            <a:ext cx="257860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transacción realizada.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095744" y="2926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🛒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Atributos: Describiendo la Entidad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1.3 ¿Qué datos guardamos?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Entidad: Producto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Key (PK): Identidad Única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1.4 Sin ambigüedad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importancia de la Llave Primaria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distinguir una fila de otra aunque tengan datos parecidos. Evita confusiones y es la base de las relaciones.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3858768"/>
            <a:ext cx="2926080" cy="18288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7824" y="3968496"/>
            <a:ext cx="100584" cy="16093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398678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 Serial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60704" y="4261104"/>
            <a:ext cx="25968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 2, 3... Automático.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950208" y="3858768"/>
            <a:ext cx="2926080" cy="18288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23360" y="3968496"/>
            <a:ext cx="100584" cy="16093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06240" y="398678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UUID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206240" y="4261104"/>
            <a:ext cx="25968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Identificadores únicos universales.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095744" y="3858768"/>
            <a:ext cx="2926080" cy="18288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68896" y="3968496"/>
            <a:ext cx="100584" cy="16093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51776" y="398678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351776" y="4261104"/>
            <a:ext cx="25968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RUT, Email (si son estables).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pilares del Modelado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Pasamos de 'variables efímeras' a 'entidades identificables' listas para persistir.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Bloque → Relaciones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 y Cardinalidad: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Conectando el Mundo de los Datos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las entidades se vinculan técnicamente para representar procesos de negocio reales.</a:t>
            </a:r>
            <a:endParaRPr lang="en-US" sz="15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Datos no están aislados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2.1 Los verbos del sistema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entidad sin relaciones es un dato muerto. El Backend gestiona VÍNCULOS.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493008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602736"/>
            <a:ext cx="100584" cy="19751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 → Post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60704" y="3895344"/>
            <a:ext cx="25968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usuario 'crea' o 'escribe' contenido.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493008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602736"/>
            <a:ext cx="100584" cy="19751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 → Producto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206240" y="3895344"/>
            <a:ext cx="25968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pedido 'contiene' uno o más ítems.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493008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602736"/>
            <a:ext cx="100584" cy="19751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Estudiante → Curso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351776" y="3895344"/>
            <a:ext cx="25968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alumno 'se inscribe' en una materia.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Llave Foránea (FK): El Embajador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2.2 Creando el puente técnico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Key vs Foreign Key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Key (PK)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 Interna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quién soy YO.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única en mi tabla.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se repite.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Foreign Key (FK)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Vínculo Externo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Dice a quién PERTENEZCO.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PK de otra tabla.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repetirse.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Visualizando la Conexión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2.2 Mapeo de Tablas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2743200" cy="4151376"/>
          </a:xfrm>
          <a:prstGeom prst="roundRect">
            <a:avLst>
              <a:gd name="adj" fmla="val 1000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139696"/>
            <a:ext cx="100584" cy="3931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5798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del Vínculo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60704" y="2432304"/>
            <a:ext cx="241401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La PK de 'users' identifica al dueño.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La FK en 'orders' apunta a ese ID.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La relación permite saber qué usuario hizo qué compra sin repetir nombres.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40480" y="2029968"/>
            <a:ext cx="310896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0" y="2029968"/>
            <a:ext cx="310896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60520" y="242316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23560" y="24231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931920" y="2633472"/>
            <a:ext cx="292608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26609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23560" y="266090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931920" y="2871216"/>
            <a:ext cx="292608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60520" y="289864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23560" y="289864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046720" y="2029968"/>
            <a:ext cx="274320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46720" y="2029968"/>
            <a:ext cx="274320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66760" y="242316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464040" y="24231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138160" y="2633472"/>
            <a:ext cx="256032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66760" y="266090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464040" y="266090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138160" y="2871216"/>
            <a:ext cx="256032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66760" y="289864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464040" y="289864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949440" y="2743200"/>
            <a:ext cx="1097280" cy="914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086600" y="265176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269480" y="265176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H="1" flipV="1">
            <a:off x="7790688" y="2633472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H="1">
            <a:off x="7790688" y="2743200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607808" y="265176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040880" y="2377440"/>
            <a:ext cx="9144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Cardinalidad: ¿Cuántos con cuántos?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2.3 Reglas de Negocio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el número de elementos que pueden participar en una relación.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4041648"/>
            <a:ext cx="292608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4169664"/>
            <a:ext cx="109728" cy="17556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41513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: 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4498848"/>
            <a:ext cx="257860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registro para un solo registro.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4672" y="31272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↔️</a:t>
            </a:r>
            <a:endParaRPr lang="en-US" sz="3200" dirty="0"/>
          </a:p>
        </p:txBody>
      </p:sp>
      <p:sp>
        <p:nvSpPr>
          <p:cNvPr id="17" name="Shape 14"/>
          <p:cNvSpPr/>
          <p:nvPr/>
        </p:nvSpPr>
        <p:spPr>
          <a:xfrm>
            <a:off x="3950208" y="4041648"/>
            <a:ext cx="292608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41648" y="4169664"/>
            <a:ext cx="109728" cy="17556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06240" y="41513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: 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206240" y="4498848"/>
            <a:ext cx="257860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registro para muchos del otro lado.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950208" y="31272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22" name="Shape 19"/>
          <p:cNvSpPr/>
          <p:nvPr/>
        </p:nvSpPr>
        <p:spPr>
          <a:xfrm>
            <a:off x="7095744" y="4041648"/>
            <a:ext cx="292608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87184" y="4169664"/>
            <a:ext cx="109728" cy="17556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51776" y="41513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 : M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51776" y="4498848"/>
            <a:ext cx="257860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 para muchos (requiere tabla extra).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095744" y="31272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🕸️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Relación 1:N: La Reina de las Relaciones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2.3 Autor → Libros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3659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139696"/>
            <a:ext cx="10058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5798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Técnica de Oro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0704" y="2432304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una relación 1:N, la Foreign Key (FK) siempre viaja hacia la tabla del lado del 'Muchos'.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4672" y="3127248"/>
            <a:ext cx="274320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3127248"/>
            <a:ext cx="274320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24712" y="352044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21992" y="352044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96112" y="3730752"/>
            <a:ext cx="256032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24712" y="375818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221992" y="375818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956048" y="3127248"/>
            <a:ext cx="292608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56048" y="3127248"/>
            <a:ext cx="292608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76088" y="352044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56248" y="352044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47488" y="3730752"/>
            <a:ext cx="274320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76088" y="375818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56248" y="375818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047488" y="3968496"/>
            <a:ext cx="274320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76088" y="399592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autor_id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556248" y="399592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547872" y="3840480"/>
            <a:ext cx="1408176" cy="914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685032" y="374904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867912" y="374904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H="1" flipV="1">
            <a:off x="4700016" y="3730752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H="1">
            <a:off x="4700016" y="3840480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17136" y="374904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794760" y="3474720"/>
            <a:ext cx="9144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8229600" y="3127248"/>
            <a:ext cx="1956816" cy="2560320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02752" y="3236976"/>
            <a:ext cx="100584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85632" y="325526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485632" y="3529584"/>
            <a:ext cx="162763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autor puede escribir 100 libros, pero cada libro tiene un único autor principal en este modelo.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Relación N:M: El Desafío de la Multiplicidad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2.3 Estudiantes ↔ Cursos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relacional prohíbe el N:M directo para evitar redundancia infinita. La 'Tabla Pivot' rompe el ciclo en dos relaciones 1:N.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" y="3127248"/>
            <a:ext cx="274320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3127248"/>
            <a:ext cx="274320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24712" y="352044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221992" y="352044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96112" y="3730752"/>
            <a:ext cx="256032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24712" y="375818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221992" y="375818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0" y="3127248"/>
            <a:ext cx="274320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3127248"/>
            <a:ext cx="274320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inscripciones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92040" y="352044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estudiante_id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89320" y="352044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3730752"/>
            <a:ext cx="256032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92040" y="375818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curso_id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89320" y="375818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339328" y="3127248"/>
            <a:ext cx="274320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39328" y="3127248"/>
            <a:ext cx="274320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659368" y="352044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756648" y="352044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430768" y="3730752"/>
            <a:ext cx="256032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659368" y="375818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756648" y="375818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547872" y="3840480"/>
            <a:ext cx="1024128" cy="914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685032" y="374904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867912" y="374904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H="1" flipV="1">
            <a:off x="4315968" y="3730752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H="1">
            <a:off x="4315968" y="3840480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33088" y="374904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02736" y="3474720"/>
            <a:ext cx="9144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inscribe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 flipH="1">
            <a:off x="7315200" y="3840480"/>
            <a:ext cx="1024128" cy="914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202168" y="374904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019288" y="374904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V="1">
            <a:off x="7315200" y="3730752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315200" y="3840480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754112" y="374904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70064" y="3474720"/>
            <a:ext cx="9144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contiene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Integridad Referencial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2.4 El contrato de seguridad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 Borrado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Borrar al padre con hijos.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DB lo prohíbe para evitar huérfanos.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CASCADE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Limpieza automática.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borras al usuario, se borran todos sus posts.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NULL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Mantener el dato hijo.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borra el padre, pero el hijo queda sin dueño.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596128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87568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33872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ACTION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5833872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Ignorar el vínculo.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5833872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a Restrict, espera al final de la transacción.</a:t>
            </a:r>
            <a:endParaRPr lang="en-US" sz="10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en el Diseño de Relaciones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Huella Metodológica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Prompting para Cardinalidad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Definir Dominio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Dale el contexto del negocio antes de pedir la relación.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Lógica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Pregúntale: '¿Por qué elegiste 1:N y no N:M para este caso?'.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Confianza Ciega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a veces olvida las tablas intermedias. Tú debes exigirlas.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Ambigüedad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aceptes 'se relaciona con'. Exige cardinalidad específica.</a:t>
            </a:r>
            <a:endParaRPr lang="en-US" sz="10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decimos que la Foreign Key es el 'Embajador' de otra tabla?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lado de la relación (1 o N) debe ubicarse siempre la llave foránea?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problema evitamos al usar la regla de integridad 'RESTRICT'?</a:t>
            </a:r>
            <a:endParaRPr lang="en-US" sz="15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poder de los vínculos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relaciones definen cómo fluye la información y cómo se protege la integridad del sistema.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Foreign Key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mecanismo técnico para conectar una fila con otra tabla.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Cardinalidad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de negocio que define cuántos se vinculan con cuántos.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Integridad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reglas (Cascade/Restrict) que aseguran que no haya datos huérfanos.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Bloque → Diagramas DER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y Diagramas: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Mapa de la Información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idea al modelo físico: Normalización y notación profesional DER.</a:t>
            </a:r>
            <a:endParaRPr lang="en-US" sz="15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diseñar antes de programar?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3.1 El costo del error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Diagrama vs. Producción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en DER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de Diseño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arregla con 1 clic.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Costo: 5 segundos.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Impacto: Cero.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en DB Viva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de Producción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Migraciones complejas.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Costo: Miles de dólares.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Riesgo: Pérdida de datos.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deuda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técnica</a:t>
            </a:r>
            <a:endParaRPr lang="en-US" sz="7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Notación Crow's Foot (Pata de Gallo)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3.2 Simbología Estándar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9381744" cy="566928"/>
          </a:xfrm>
          <a:prstGeom prst="roundRect">
            <a:avLst>
              <a:gd name="adj" fmla="val 64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1993392"/>
            <a:ext cx="8979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Simbología universal para representar la cardinalidad y obligatoriedad en diagramas DER.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Uno y solo Uno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2004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obligatoria y única. Un RUT pertenece a una persona.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0" y="3108960"/>
            <a:ext cx="2286000" cy="914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52360" y="301752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35240" y="301752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64040" y="301752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81160" y="301752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Uno a Muchos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0040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registro origen tiene múltiples destinos. Un Autor, muchos Libros.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15200" y="4572000"/>
            <a:ext cx="2286000" cy="914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52360" y="448056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35240" y="448056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H="1" flipV="1">
            <a:off x="9345168" y="4462272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H="1">
            <a:off x="9345168" y="4572000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62288" y="4480560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Diagrama al Código SQL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3.2 Implementación Técnica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256032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1828800"/>
            <a:ext cx="256032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24712" y="222199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39112" y="22219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96112" y="2432304"/>
            <a:ext cx="237744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24712" y="245973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039112" y="245973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1828800"/>
            <a:ext cx="292608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1828800"/>
            <a:ext cx="292608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74920" y="22219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55080" y="22219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846320" y="2432304"/>
            <a:ext cx="274320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74920" y="245973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cat_id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55080" y="245973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364992" y="2176272"/>
            <a:ext cx="1389888" cy="914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02152" y="2084832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85032" y="2084832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H="1" flipV="1">
            <a:off x="4498848" y="2066544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>
            <a:off x="4498848" y="2176272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15968" y="2084832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02736" y="1828800"/>
            <a:ext cx="9144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contiene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04672" y="3474720"/>
            <a:ext cx="9381744" cy="3017520"/>
          </a:xfrm>
          <a:prstGeom prst="roundRect">
            <a:avLst>
              <a:gd name="adj" fmla="val 121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32688" y="358444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42416" y="3657600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Implementation</a:t>
            </a:r>
            <a:endParaRPr lang="en-US" sz="10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4041648"/>
            <a:ext cx="8961120" cy="226771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1FN: Primera Forma Normal (Atomicidad)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3.3 Limpieza de datos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Regla: Un solo dato por celda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Columna 'Telefonos': '9123, 8442'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pueden hacer búsquedas eficientes.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1FN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en filas o tablas.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teléfono es un registro único atómico.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Columna 'Direccion' completa.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 filtrar por ciudad o comuna.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596128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87568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33872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1FN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5833872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Campos separados.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5833872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Calle, Número, Ciudad, Región.</a:t>
            </a:r>
            <a:endParaRPr lang="en-US" sz="10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2FN: Segunda Forma Normal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3.3 Dependencia Funcional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38528"/>
            <a:ext cx="100584" cy="3474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56816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Regla: Dependencia Completa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0" y="2560320"/>
            <a:ext cx="457200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2560320"/>
            <a:ext cx="457200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inscripciones (PK: est_id + cur_id)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20440" y="2953512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est_id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46520" y="295351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91840" y="3163824"/>
            <a:ext cx="438912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20440" y="3191256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cur_id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46520" y="319125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91840" y="3401568"/>
            <a:ext cx="438912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20440" y="342900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nombre_curso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46520" y="342900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193792" y="4023360"/>
            <a:ext cx="60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2027"/>
                </a:solidFill>
              </a:rPr>
              <a:t>↓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1828800" y="4572000"/>
            <a:ext cx="292608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28800" y="4572000"/>
            <a:ext cx="292608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inscripciones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148840" y="49651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est_id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29000" y="49651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920240" y="5175504"/>
            <a:ext cx="274320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148840" y="520293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cur_id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429000" y="520293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217920" y="4572000"/>
            <a:ext cx="292608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17920" y="4572000"/>
            <a:ext cx="292608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537960" y="49651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818120" y="49651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309360" y="5175504"/>
            <a:ext cx="274320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37960" y="520293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818120" y="520293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3FN: Tercera Forma Normal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3.3 Dependencia Transitiva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38528"/>
            <a:ext cx="100584" cy="347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56816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Regla: No dependencias transitivas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0" y="2560320"/>
            <a:ext cx="4572000" cy="1408176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2560320"/>
            <a:ext cx="457200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 (PK: id)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20440" y="2953512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46520" y="295351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91840" y="3163824"/>
            <a:ext cx="438912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20440" y="3191256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46520" y="319125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91840" y="3401568"/>
            <a:ext cx="438912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20440" y="342900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codigo_postal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46520" y="342900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91840" y="3639312"/>
            <a:ext cx="438912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20440" y="3666744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ciudad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46520" y="366674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93792" y="4023360"/>
            <a:ext cx="60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2027"/>
                </a:solidFill>
              </a:rPr>
              <a:t>↓</a:t>
            </a:r>
            <a:endParaRPr lang="en-US" sz="2800" dirty="0"/>
          </a:p>
        </p:txBody>
      </p:sp>
      <p:sp>
        <p:nvSpPr>
          <p:cNvPr id="27" name="Shape 24"/>
          <p:cNvSpPr/>
          <p:nvPr/>
        </p:nvSpPr>
        <p:spPr>
          <a:xfrm>
            <a:off x="1828800" y="4572000"/>
            <a:ext cx="292608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28800" y="4572000"/>
            <a:ext cx="292608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148840" y="49651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429000" y="49651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920240" y="5175504"/>
            <a:ext cx="274320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48840" y="520293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429000" y="520293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920240" y="5413248"/>
            <a:ext cx="274320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148840" y="544068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cp_id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429000" y="544068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217920" y="4572000"/>
            <a:ext cx="292608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17920" y="4572000"/>
            <a:ext cx="2926080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direcciones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537960" y="49651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818120" y="49651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309360" y="5175504"/>
            <a:ext cx="2743200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37960" y="520293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ciudad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818120" y="520293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para Relaciones N:M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3.4 La Tabla Intermedia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Inscripciones (Estudiantes &lt;-&gt; Cursos)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Entidades Fuertes vs. Débiles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3.5 Jerarquía de existencia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depende de quién?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Entidad Fuerte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Independiente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por sí sola.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Ej: 'User', 'Product'.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requiere FK para nacer.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Entidad Débil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Dependiente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PK incluye la FK del padre.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Ej: 'VentaDetalle', 'Comentarios'.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padre muere, ella no tiene sentido.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&lt;-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dependencia</a:t>
            </a:r>
            <a:endParaRPr lang="en-US" sz="7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Huella IA: El Auditor de Normalización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Optimización Asistida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Usando el Agente para validar tu DER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609344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10512" y="2688336"/>
            <a:ext cx="3465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Detectar Redundancia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810512" y="2980944"/>
            <a:ext cx="34655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'Revisa este esquema: ¿Hay datos que se repiten innecesariamente?'.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45352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46520" y="2688336"/>
            <a:ext cx="3465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Sugerir 3FN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46520" y="2980944"/>
            <a:ext cx="34655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'¿Cumple esta tabla con la Tercera Forma Normal? Si no, divídela'.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CAUTION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664208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865376" y="4462272"/>
            <a:ext cx="3410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Sobre-normalización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865376" y="4754880"/>
            <a:ext cx="34107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a veces separa TODO. A veces un poco de redundancia ayuda al performance.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CAUTION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300216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01384" y="4462272"/>
            <a:ext cx="3410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Nombres Genéricos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501384" y="4754880"/>
            <a:ext cx="34107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dejes que la IA llame a todo 'data' o 'info'. Exige nombres de negocio.</a:t>
            </a:r>
            <a:endParaRPr lang="en-US" sz="10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significa que un atributo sea 'Atómico' en el contexto de la 1FN?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SQL, ¿cómo representamos físicamente una relación N:M entre dos tablas?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es peligroso modificar una base de datos sin tener un DER validado?</a:t>
            </a:r>
            <a:endParaRPr lang="en-US" sz="156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14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de Datos Robusta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buen diseño DER es la mitad del éxito de un Backend escalable y libre de errores.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 / Crow's Foot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Lenguaje visual para comunicar la estructura del sistema.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Normalización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Técnica para asegurar que cada dato esté en su lugar correcto.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traducción final del diseño a tablas físicas reales.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Final → Implementación en Supabase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Persistencia y Modelado de Datos</dc:title>
  <dc:subject>Clase 14</dc:subject>
  <dc:creator>Diego Obando</dc:creator>
  <cp:lastModifiedBy>Diego Obando</cp:lastModifiedBy>
  <cp:revision>1</cp:revision>
  <dcterms:created xsi:type="dcterms:W3CDTF">2026-04-13T05:16:44Z</dcterms:created>
  <dcterms:modified xsi:type="dcterms:W3CDTF">2026-04-13T05:16:44Z</dcterms:modified>
</cp:coreProperties>
</file>