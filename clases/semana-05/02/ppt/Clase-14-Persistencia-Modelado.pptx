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301-taller-de-aplicaciones-para-internet\.agent\skills\slides-aiep\assets\logo-ai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66928"/>
            <a:ext cx="1097280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4672" y="1912925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111910" y="1682496"/>
            <a:ext cx="307238" cy="81930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470355" y="1912925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" y="2578608"/>
            <a:ext cx="938174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Persistencia y Modelado de Datos: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Esqueleto de la Información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04672" y="4041648"/>
            <a:ext cx="9381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05 · Clase 02: PostgreSQL, Entidades y Supabase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796528" y="5321808"/>
            <a:ext cx="749808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9" name="Image 1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Contexto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pasa si tu app olvida quién eres?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problema de la volatilidad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24128"/>
          </a:xfrm>
          <a:prstGeom prst="roundRect">
            <a:avLst>
              <a:gd name="adj" fmla="val 714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¿De qué sirve un sistema si cada reinicio borra pedidos, usuarios o historial?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04672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602736"/>
            <a:ext cx="100584" cy="19751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App recuerda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950208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23360" y="3602736"/>
            <a:ext cx="100584" cy="19751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06240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Negocio opera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095744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168896" y="3602736"/>
            <a:ext cx="100584" cy="19751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51776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IA ayuda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Objetivos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 General de la Clase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Hacia sistemas con memoria real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2286000"/>
          </a:xfrm>
          <a:prstGeom prst="roundRect">
            <a:avLst>
              <a:gd name="adj" fmla="val 16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Diseñar modelos de datos coherentes y escalables, transformando ideas en tablas físicas usando PostgreSQL (vía Supabase).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Mapa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 de Aprendizaje: Hoy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Bloques hacia la persistencia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3401568"/>
            <a:ext cx="100584" cy="2340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6070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Memoria vs Persistencia. Entidades y Atributos.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18211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5526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3814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43814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Relaciones y Cardinalidad (1:1, 1:N, N:M).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55955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3270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1558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81558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 y Diagramas (DER). Normalización.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93699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1014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9302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19302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Implementación en Supabase (Postgres).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Huella IA: El Agente Arquitecto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Colaboración Inteligente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como apoyo en el modelado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Borradores de Esquemas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Pedir propuestas de tablas y atributos iniciales.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Generación de SQL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Traducir el diseño visual a código técnico para Supabase.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719072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20240" y="4462272"/>
            <a:ext cx="3355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Reglas de Negocio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920240" y="4754880"/>
            <a:ext cx="3355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no sabe cómo opera TU empresa. Valida cada relación.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355080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556248" y="4462272"/>
            <a:ext cx="3355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Ambigüedades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556248" y="4754880"/>
            <a:ext cx="3355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 que los nombres sean claros y las PK sean únicas.</a:t>
            </a:r>
            <a:endParaRPr lang="en-US" sz="10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la Memoria Volátil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la Persistencia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Entendiendo por qué el backend necesita una memoria estable para sostener el mundo real.</a:t>
            </a:r>
            <a:endParaRPr lang="en-US" sz="15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Memoria Volátil vs. Persistencia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1.1 Diferencia Operativa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¿Dónde vive el dato?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Memoria Volátil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RAM / Variables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Rápida pero efímera.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pierde al apagar/reiniciar.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Ej: useState, listas en Python.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Persistencia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 / Bases de Datos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Lenta pero estable.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Sobrevive al paso del tiempo.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Ej: PostgreSQL, Archivos.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durabilidad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 dato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Entidad: El Sustantivo del Negocio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1.3 Modelando la realidad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entidad es un objeto relevante para el negocio que queremos representar.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858768"/>
            <a:ext cx="2926080" cy="21945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96112" y="3986784"/>
            <a:ext cx="109728" cy="19385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96849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4315968"/>
            <a:ext cx="257860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persona que compra.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04672" y="29260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👤</a:t>
            </a:r>
            <a:endParaRPr lang="en-US" sz="3200" dirty="0"/>
          </a:p>
        </p:txBody>
      </p:sp>
      <p:sp>
        <p:nvSpPr>
          <p:cNvPr id="17" name="Shape 14"/>
          <p:cNvSpPr/>
          <p:nvPr/>
        </p:nvSpPr>
        <p:spPr>
          <a:xfrm>
            <a:off x="3950208" y="3858768"/>
            <a:ext cx="2926080" cy="21945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041648" y="3986784"/>
            <a:ext cx="109728" cy="19385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06240" y="396849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206240" y="4315968"/>
            <a:ext cx="257860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ítem disponible para venta.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950208" y="29260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📦</a:t>
            </a:r>
            <a:endParaRPr lang="en-US" sz="3200" dirty="0"/>
          </a:p>
        </p:txBody>
      </p:sp>
      <p:sp>
        <p:nvSpPr>
          <p:cNvPr id="22" name="Shape 19"/>
          <p:cNvSpPr/>
          <p:nvPr/>
        </p:nvSpPr>
        <p:spPr>
          <a:xfrm>
            <a:off x="7095744" y="3858768"/>
            <a:ext cx="2926080" cy="21945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3986784"/>
            <a:ext cx="109728" cy="19385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51776" y="396849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Pedido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351776" y="4315968"/>
            <a:ext cx="257860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transacción realizada.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095744" y="29260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🛒</a:t>
            </a:r>
            <a:endParaRPr lang="en-US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Atributos: Describiendo la Entidad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1.3 ¿Qué datos guardamos?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Entidad: Producto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Primary Key (PK): Identidad Única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1.4 Sin ambigüedad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importancia de la Llave Primaria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distinguir una fila de otra aunque tengan datos parecidos. Evita confusiones y es la base de las relaciones.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858768"/>
            <a:ext cx="292608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77824" y="3968496"/>
            <a:ext cx="100584" cy="16093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60704" y="39867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 Serial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060704" y="4261104"/>
            <a:ext cx="25968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 2, 3... Automático.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950208" y="3858768"/>
            <a:ext cx="292608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23360" y="3968496"/>
            <a:ext cx="100584" cy="16093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206240" y="39867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UUID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206240" y="4261104"/>
            <a:ext cx="25968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Identificadores únicos universales.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095744" y="3858768"/>
            <a:ext cx="292608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68896" y="3968496"/>
            <a:ext cx="100584" cy="16093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51776" y="39867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Natural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7351776" y="4261104"/>
            <a:ext cx="25968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RUT, Email (si son estables).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pilares del Modelado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Pasamos de 'variables efímeras' a 'entidades identificables' listas para persistir.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Relaciones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Relaciones y Cardinalidad: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Conectando el Mundo de los Datos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las entidades se vinculan técnicamente para representar procesos de negocio reales.</a:t>
            </a:r>
            <a:endParaRPr lang="en-US" sz="15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 Datos no están aislados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Los verbos del sistema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entidad sin relaciones es un dato muerto. El Backend gestiona VÍNCULOS.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602736"/>
            <a:ext cx="100584" cy="19751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Usuario → Post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060704" y="3895344"/>
            <a:ext cx="25968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usuario 'crea' o 'escribe' contenido.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602736"/>
            <a:ext cx="100584" cy="19751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Pedido → Producto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206240" y="3895344"/>
            <a:ext cx="25968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pedido 'contiene' uno o más ítems.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602736"/>
            <a:ext cx="100584" cy="19751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Estudiante → Curso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7351776" y="3895344"/>
            <a:ext cx="25968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alumno 'se inscribe' en una materia.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Llave Foránea (FK): El Embajador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Creando el puente técnico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Key vs Foreign Key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Primary Key (PK)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Identidad Interna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quién soy YO.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única en mi tabla.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Nunca se repite.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Foreign Key (FK)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Vínculo Externo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Dice a quién PERTENEZCO.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PK de otra tabla.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repetirse.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relación</a:t>
            </a:r>
            <a:endParaRPr lang="en-US" sz="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Visualizando la Conexión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Mapeo de Tablas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2743200" cy="4151376"/>
          </a:xfrm>
          <a:prstGeom prst="roundRect">
            <a:avLst>
              <a:gd name="adj" fmla="val 100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139696"/>
            <a:ext cx="100584" cy="39319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57984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Anatomía del Vínculo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60704" y="2432304"/>
            <a:ext cx="241401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La PK de 'users' identifica al dueño.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La FK en 'orders' apunta a ese ID.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La relación permite saber qué usuario hizo qué compra sin repetir nombres.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840480" y="2029968"/>
            <a:ext cx="310896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0480" y="2029968"/>
            <a:ext cx="310896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160520" y="242316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23560" y="242316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931920" y="2633472"/>
            <a:ext cx="292608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26609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23560" y="266090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3931920" y="2871216"/>
            <a:ext cx="292608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60520" y="2898648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23560" y="289864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046720" y="2029968"/>
            <a:ext cx="274320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046720" y="2029968"/>
            <a:ext cx="27432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366760" y="2423160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464040" y="242316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8138160" y="2633472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66760" y="266090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464040" y="266090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138160" y="2871216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66760" y="2898648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464040" y="289864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numeric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6949440" y="2743200"/>
            <a:ext cx="1097280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086600" y="26517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269480" y="26517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7790688" y="263347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7790688" y="2743200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607808" y="26517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040880" y="2377440"/>
            <a:ext cx="91440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Cardinalidad: ¿Cuántos con cuántos?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Reglas de Negocio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Define el número de elementos que pueden participar en una relación.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4041648"/>
            <a:ext cx="292608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96112" y="4169664"/>
            <a:ext cx="109728" cy="17556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415137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: 1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4498848"/>
            <a:ext cx="25786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registro para un solo registro.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4672" y="3127248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↔️</a:t>
            </a:r>
            <a:endParaRPr lang="en-US" sz="3200" dirty="0"/>
          </a:p>
        </p:txBody>
      </p:sp>
      <p:sp>
        <p:nvSpPr>
          <p:cNvPr id="17" name="Shape 14"/>
          <p:cNvSpPr/>
          <p:nvPr/>
        </p:nvSpPr>
        <p:spPr>
          <a:xfrm>
            <a:off x="3950208" y="4041648"/>
            <a:ext cx="292608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041648" y="4169664"/>
            <a:ext cx="109728" cy="17556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06240" y="415137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: 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206240" y="4498848"/>
            <a:ext cx="25786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registro para muchos del otro lado.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3950208" y="3127248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🌿</a:t>
            </a:r>
            <a:endParaRPr lang="en-US" sz="3200" dirty="0"/>
          </a:p>
        </p:txBody>
      </p:sp>
      <p:sp>
        <p:nvSpPr>
          <p:cNvPr id="22" name="Shape 19"/>
          <p:cNvSpPr/>
          <p:nvPr/>
        </p:nvSpPr>
        <p:spPr>
          <a:xfrm>
            <a:off x="7095744" y="4041648"/>
            <a:ext cx="292608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4169664"/>
            <a:ext cx="109728" cy="17556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51776" y="415137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 : M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351776" y="4498848"/>
            <a:ext cx="25786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Muchos para muchos (requiere tabla extra).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7095744" y="3127248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🕸️</a:t>
            </a:r>
            <a:endParaRPr lang="en-US" sz="3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Relación 1:N: La Reina de las Relaciones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Autor → Libros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3659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139696"/>
            <a:ext cx="100584" cy="5303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5798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 Técnica de Oro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60704" y="2432304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una relación 1:N, la Foreign Key (FK) siempre viaja hacia la tabla del lado del 'Muchos'.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4672" y="3127248"/>
            <a:ext cx="274320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4672" y="3127248"/>
            <a:ext cx="27432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autores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24712" y="3520440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221992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96112" y="3730752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24712" y="375818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221992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956048" y="3127248"/>
            <a:ext cx="292608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56048" y="3127248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libros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276088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556248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47488" y="3730752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276088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titulo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556248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047488" y="3968496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276088" y="399592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autor_id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556248" y="399592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547872" y="3840480"/>
            <a:ext cx="1408176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685032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867912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 flipV="1">
            <a:off x="4700016" y="373075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4700016" y="3840480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17136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794760" y="3474720"/>
            <a:ext cx="91440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escribe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8229600" y="3127248"/>
            <a:ext cx="1956816" cy="2560320"/>
          </a:xfrm>
          <a:prstGeom prst="roundRect">
            <a:avLst>
              <a:gd name="adj" fmla="val 140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302752" y="3236976"/>
            <a:ext cx="100584" cy="2340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485632" y="3255264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Análisis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485632" y="3529584"/>
            <a:ext cx="162763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autor puede escribir 100 libros, pero cada libro tiene un único autor principal en este modelo.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Relación N:M: El Desafío de la Multiplicidad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Estudiantes ↔ Cursos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modelo relacional prohíbe el N:M directo para evitar redundancia infinita. La 'Tabla Pivot' rompe el ciclo en dos relaciones 1:N.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4672" y="3127248"/>
            <a:ext cx="274320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4672" y="3127248"/>
            <a:ext cx="27432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estudiantes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24712" y="3520440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221992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96112" y="3730752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24712" y="375818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221992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572000" y="3127248"/>
            <a:ext cx="274320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72000" y="3127248"/>
            <a:ext cx="27432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inscripciones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892040" y="3520440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estudiante_id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989320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663440" y="3730752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92040" y="375818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curso_id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989320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339328" y="3127248"/>
            <a:ext cx="274320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339328" y="3127248"/>
            <a:ext cx="27432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cursos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8659368" y="3520440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756648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8430768" y="3730752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659368" y="375818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titulo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9756648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547872" y="3840480"/>
            <a:ext cx="1024128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685032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867912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 flipV="1">
            <a:off x="4315968" y="373075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>
            <a:off x="4315968" y="3840480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33088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602736" y="3474720"/>
            <a:ext cx="91440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inscribe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 flipH="1">
            <a:off x="7315200" y="3840480"/>
            <a:ext cx="1024128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202168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019288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7315200" y="373075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315200" y="3840480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754112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370064" y="3474720"/>
            <a:ext cx="91440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Integridad Referencial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2.4 El contrato de seguridad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Reglas de Borrado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RESTRICT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Borrar al padre con hijos.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DB lo prohíbe para evitar huérfanos.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CASCADE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Limpieza automática.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borras al usuario, se borran todos sus posts.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NULL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Mantener el dato hijo.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borra el padre, pero el hijo queda sin dueño.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5596128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87568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833872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33872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ACTION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5833872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Ignorar el vínculo.</a:t>
            </a:r>
            <a:endParaRPr lang="en-US" sz="1380" dirty="0"/>
          </a:p>
        </p:txBody>
      </p:sp>
      <p:sp>
        <p:nvSpPr>
          <p:cNvPr id="36" name="Text 33"/>
          <p:cNvSpPr/>
          <p:nvPr/>
        </p:nvSpPr>
        <p:spPr>
          <a:xfrm>
            <a:off x="5833872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a Restrict, espera al final de la transacción.</a:t>
            </a:r>
            <a:endParaRPr lang="en-US" sz="10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en el Diseño de Relaciones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Huella Metodológica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Prompting para Cardinalidad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OK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Definir Dominio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Dale el contexto del negocio antes de pedir la relación.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OK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Validar Lógica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Pregúntale: '¿Por qué elegiste 1:N y no N:M para este caso?'.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Confianza Ciega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a veces olvida las tablas intermedias. Tú debes exigirlas.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Ambigüedad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aceptes 'se relaciona con'. Exige cardinalidad específica.</a:t>
            </a:r>
            <a:endParaRPr lang="en-US" sz="106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decimos que la Foreign Key es el 'Embajador' de otra tabla?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¿En qué lado de la relación (1 o N) debe ubicarse siempre la llave foránea?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problema evitamos al usar la regla de integridad 'RESTRICT'?</a:t>
            </a:r>
            <a:endParaRPr lang="en-US" sz="156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2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poder de los vínculos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relaciones definen cómo fluye la información y cómo se protege la integridad del sistema.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Foreign Key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mecanismo técnico para conectar una fila con otra tabla.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Cardinalidad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regla de negocio que define cuántos se vinculan con cuántos.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Integridad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reglas (Cascade/Restrict) que aseguran que no haya datos huérfanos.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Diagramas DER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Diseño y Diagramas: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Mapa de la Información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la idea al modelo físico: Normalización y notación profesional DER.</a:t>
            </a:r>
            <a:endParaRPr lang="en-US" sz="15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diseñar antes de programar?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El costo del error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Diagrama vs. Producción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en DER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de Diseño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arregla con 1 clic.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Costo: 5 segundos.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Impacto: Cero.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en DB Viva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de Producción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Migraciones complejas.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Costo: Miles de dólares.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Pérdida de datos.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deuda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técnica</a:t>
            </a:r>
            <a:endParaRPr lang="en-US" sz="7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Notación Crow's Foot (Pata de Gallo)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Simbología Estándar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566928"/>
          </a:xfrm>
          <a:prstGeom prst="roundRect">
            <a:avLst>
              <a:gd name="adj" fmla="val 645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1993392"/>
            <a:ext cx="8979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Simbología universal para representar la cardinalidad y obligatoriedad en diagramas DER.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04672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Uno y solo Uno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20040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Relación obligatoria y única. Un RUT pertenece a una persona.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315200" y="3108960"/>
            <a:ext cx="2286000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52360" y="301752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35240" y="301752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64040" y="301752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81160" y="301752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4672" y="4389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Uno a Muchos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20040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registro origen tiene múltiples destinos. Un Autor, muchos Libros.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315200" y="4572000"/>
            <a:ext cx="2286000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52360" y="44805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35240" y="44805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H="1" flipV="1">
            <a:off x="9345168" y="446227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H="1">
            <a:off x="9345168" y="4572000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162288" y="44805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Diagrama al Código SQL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Implementación Técnica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256032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4672" y="1828800"/>
            <a:ext cx="256032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24712" y="2221992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39112" y="22219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96112" y="2432304"/>
            <a:ext cx="237744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24712" y="245973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039112" y="24597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754880" y="1828800"/>
            <a:ext cx="292608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54880" y="1828800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74920" y="22219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355080" y="22219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846320" y="2432304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74920" y="24597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cat_id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355080" y="24597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3364992" y="2176272"/>
            <a:ext cx="1389888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502152" y="2084832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685032" y="2084832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H="1" flipV="1">
            <a:off x="4498848" y="2066544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H="1">
            <a:off x="4498848" y="217627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15968" y="2084832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602736" y="1828800"/>
            <a:ext cx="91440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04672" y="3474720"/>
            <a:ext cx="9381744" cy="3017520"/>
          </a:xfrm>
          <a:prstGeom prst="roundRect">
            <a:avLst>
              <a:gd name="adj" fmla="val 121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32688" y="3584448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42416" y="3657600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 Implementation</a:t>
            </a:r>
            <a:endParaRPr lang="en-US" sz="10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41648"/>
            <a:ext cx="8961120" cy="226771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1FN: Primera Forma Normal (Atomicidad)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Limpieza de datos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Regla: Un solo dato por celda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Columna 'Telefonos': '9123, 8442'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pueden hacer búsquedas eficientes.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1FN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Separar en filas o tablas.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teléfono es un registro único atómico.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Columna 'Direccion' completa.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Dificulta filtrar por ciudad o comuna.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5596128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87568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833872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33872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1FN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5833872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Campos separados.</a:t>
            </a:r>
            <a:endParaRPr lang="en-US" sz="1380" dirty="0"/>
          </a:p>
        </p:txBody>
      </p:sp>
      <p:sp>
        <p:nvSpPr>
          <p:cNvPr id="36" name="Text 33"/>
          <p:cNvSpPr/>
          <p:nvPr/>
        </p:nvSpPr>
        <p:spPr>
          <a:xfrm>
            <a:off x="5833872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Calle, Número, Ciudad, Región.</a:t>
            </a:r>
            <a:endParaRPr lang="en-US" sz="104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Teoría de la 1FN: El Principio de Atomicidad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Fundamentos Relacionales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1956816"/>
            <a:ext cx="109728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1938528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Definición Formal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286000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relación está en 1FN si y solo si todos los dominios de sus atributos contienen valores atómicos (indivisibles) y no existen 'grupos repetitivos' (colecciones o listas) dentro de una misma tupla.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657600"/>
            <a:ext cx="9381744" cy="256032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78561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85876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es obligatoria?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950976" y="4169664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60704" y="4297680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4343400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QUERIES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664208" y="4297680"/>
            <a:ext cx="73152" cy="5577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865376" y="4315968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Predictibilidad</a:t>
            </a:r>
            <a:endParaRPr lang="en-US" sz="1360" dirty="0"/>
          </a:p>
        </p:txBody>
      </p:sp>
      <p:sp>
        <p:nvSpPr>
          <p:cNvPr id="22" name="Text 19"/>
          <p:cNvSpPr/>
          <p:nvPr/>
        </p:nvSpPr>
        <p:spPr>
          <a:xfrm>
            <a:off x="1865376" y="4608576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motor SQL puede indexar y buscar valores exactos.</a:t>
            </a:r>
            <a:endParaRPr lang="en-US" sz="1060" dirty="0"/>
          </a:p>
        </p:txBody>
      </p:sp>
      <p:sp>
        <p:nvSpPr>
          <p:cNvPr id="23" name="Shape 20"/>
          <p:cNvSpPr/>
          <p:nvPr/>
        </p:nvSpPr>
        <p:spPr>
          <a:xfrm>
            <a:off x="5586984" y="4169664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96712" y="429768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696712" y="434340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</a:t>
            </a:r>
            <a:endParaRPr lang="en-US" sz="780" dirty="0"/>
          </a:p>
        </p:txBody>
      </p:sp>
      <p:sp>
        <p:nvSpPr>
          <p:cNvPr id="26" name="Shape 23"/>
          <p:cNvSpPr/>
          <p:nvPr/>
        </p:nvSpPr>
        <p:spPr>
          <a:xfrm>
            <a:off x="6208776" y="4297680"/>
            <a:ext cx="73152" cy="5577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9944" y="431596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Integridad</a:t>
            </a:r>
            <a:endParaRPr lang="en-US" sz="1360" dirty="0"/>
          </a:p>
        </p:txBody>
      </p:sp>
      <p:sp>
        <p:nvSpPr>
          <p:cNvPr id="28" name="Text 25"/>
          <p:cNvSpPr/>
          <p:nvPr/>
        </p:nvSpPr>
        <p:spPr>
          <a:xfrm>
            <a:off x="6409944" y="460857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llaves foráneas solo funcionan con valores únicos, no con listas.</a:t>
            </a:r>
            <a:endParaRPr lang="en-US" sz="1060" dirty="0"/>
          </a:p>
        </p:txBody>
      </p:sp>
      <p:sp>
        <p:nvSpPr>
          <p:cNvPr id="29" name="Shape 26"/>
          <p:cNvSpPr/>
          <p:nvPr/>
        </p:nvSpPr>
        <p:spPr>
          <a:xfrm>
            <a:off x="950976" y="5148072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60704" y="5276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60704" y="5321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1572768" y="5276088"/>
            <a:ext cx="73152" cy="5577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773936" y="529437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Anomalía</a:t>
            </a:r>
            <a:endParaRPr lang="en-US" sz="1360" dirty="0"/>
          </a:p>
        </p:txBody>
      </p:sp>
      <p:sp>
        <p:nvSpPr>
          <p:cNvPr id="34" name="Text 31"/>
          <p:cNvSpPr/>
          <p:nvPr/>
        </p:nvSpPr>
        <p:spPr>
          <a:xfrm>
            <a:off x="1773936" y="558698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Actualizar un solo elemento de una lista obliga a reescribir toda la celda.</a:t>
            </a:r>
            <a:endParaRPr lang="en-US" sz="1060" dirty="0"/>
          </a:p>
        </p:txBody>
      </p:sp>
      <p:sp>
        <p:nvSpPr>
          <p:cNvPr id="35" name="Shape 32"/>
          <p:cNvSpPr/>
          <p:nvPr/>
        </p:nvSpPr>
        <p:spPr>
          <a:xfrm>
            <a:off x="5586984" y="5148072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96712" y="5276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696712" y="5321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780" dirty="0"/>
          </a:p>
        </p:txBody>
      </p:sp>
      <p:sp>
        <p:nvSpPr>
          <p:cNvPr id="38" name="Shape 35"/>
          <p:cNvSpPr/>
          <p:nvPr/>
        </p:nvSpPr>
        <p:spPr>
          <a:xfrm>
            <a:off x="6208776" y="5276088"/>
            <a:ext cx="73152" cy="5577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09944" y="529437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Redundancia</a:t>
            </a:r>
            <a:endParaRPr lang="en-US" sz="1360" dirty="0"/>
          </a:p>
        </p:txBody>
      </p:sp>
      <p:sp>
        <p:nvSpPr>
          <p:cNvPr id="40" name="Text 37"/>
          <p:cNvSpPr/>
          <p:nvPr/>
        </p:nvSpPr>
        <p:spPr>
          <a:xfrm>
            <a:off x="6409944" y="558698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grupos repetitivos violan la estructura de tabla rectangular.</a:t>
            </a:r>
            <a:endParaRPr lang="en-US" sz="106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2FN: Segunda Forma Normal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Dependencia Funcional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1938528"/>
            <a:ext cx="100584" cy="3474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1956816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Regla: Dependencia Completa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0" y="2560320"/>
            <a:ext cx="457200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00400" y="2560320"/>
            <a:ext cx="45720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inscripciones (PK: est_id + cur_id)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20440" y="2953512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est_id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46520" y="295351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91840" y="3163824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20440" y="3191256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cur_id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46520" y="319125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291840" y="3401568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20440" y="3429000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nombre_curso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46520" y="342900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193792" y="4023360"/>
            <a:ext cx="60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62027"/>
                </a:solidFill>
              </a:rPr>
              <a:t>↓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1828800" y="4572000"/>
            <a:ext cx="292608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828800" y="4572000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inscripciones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214884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est_id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42900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920240" y="5175504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14884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cur_id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42900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217920" y="4572000"/>
            <a:ext cx="292608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17920" y="4572000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53796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1812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309360" y="5175504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53796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81812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Teoría de la 2FN: Dependencia Funcional Completa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Eliminando el 'Saber de Más'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4297680"/>
          </a:xfrm>
          <a:prstGeom prst="roundRect">
            <a:avLst>
              <a:gd name="adj" fmla="val 8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195681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02996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problema de las llaves compuestas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395728"/>
            <a:ext cx="3685032" cy="3529584"/>
          </a:xfrm>
          <a:prstGeom prst="roundRect">
            <a:avLst>
              <a:gd name="adj" fmla="val 103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523744"/>
            <a:ext cx="109728" cy="32735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52374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Dependencia Parcial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79806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Enemigo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14553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25983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19125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dato solo necesita 'la mitad' de la PK.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58444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69874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63016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el curso cambia de nombre, debo actualizar mil filas.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355080" y="2395728"/>
            <a:ext cx="3685032" cy="3529584"/>
          </a:xfrm>
          <a:prstGeom prst="roundRect">
            <a:avLst>
              <a:gd name="adj" fmla="val 103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4808" y="2523744"/>
            <a:ext cx="109728" cy="32735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665976" y="252374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Dependencia Total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65976" y="279806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Solución</a:t>
            </a:r>
            <a:endParaRPr lang="en-US" sz="940" dirty="0"/>
          </a:p>
        </p:txBody>
      </p:sp>
      <p:sp>
        <p:nvSpPr>
          <p:cNvPr id="27" name="Shape 24"/>
          <p:cNvSpPr/>
          <p:nvPr/>
        </p:nvSpPr>
        <p:spPr>
          <a:xfrm>
            <a:off x="6665976" y="314553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57416" y="325983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03720" y="319125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 columna depende del 100% de la llave.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665976" y="358444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69874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63016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datos del curso viven en la tabla 'Cursos'.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892040" y="3346704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01768" y="3493008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74920" y="3913632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056632" y="353872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1060" dirty="0"/>
          </a:p>
        </p:txBody>
      </p:sp>
      <p:sp>
        <p:nvSpPr>
          <p:cNvPr id="37" name="Text 34"/>
          <p:cNvSpPr/>
          <p:nvPr/>
        </p:nvSpPr>
        <p:spPr>
          <a:xfrm>
            <a:off x="5020056" y="4325112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normalizar</a:t>
            </a:r>
            <a:endParaRPr lang="en-US" sz="72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3FN: Tercera Forma Normal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Dependencia Transitiva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1938528"/>
            <a:ext cx="100584" cy="3474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1956816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Regla: No dependencias transitivas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0" y="2560320"/>
            <a:ext cx="4572000" cy="1408176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00400" y="2560320"/>
            <a:ext cx="45720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usuarios (PK: id)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20440" y="2953512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46520" y="295351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91840" y="3163824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20440" y="3191256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46520" y="319125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291840" y="3401568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20440" y="3429000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codigo_postal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46520" y="342900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291840" y="3639312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520440" y="3666744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ciudad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46520" y="366674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5193792" y="4023360"/>
            <a:ext cx="60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62027"/>
                </a:solidFill>
              </a:rPr>
              <a:t>↓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1828800" y="4572000"/>
            <a:ext cx="292608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828800" y="4572000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214884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42900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1920240" y="5175504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14884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342900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1920240" y="5413248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148840" y="544068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cp_id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3429000" y="544068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6217920" y="4572000"/>
            <a:ext cx="292608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217920" y="4572000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direcciones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653796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81812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6309360" y="5175504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53796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ciudad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81812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Teoría de la 3FN: La Regla de Oro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'The Key, the Whole Key, and Nothing but the Key'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1024128"/>
          </a:xfrm>
          <a:prstGeom prst="roundRect">
            <a:avLst>
              <a:gd name="adj" fmla="val 357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1993392"/>
            <a:ext cx="89794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tabla está en 3FN si está en 2FN y no existen dependencias transitivas entre atributos no clave.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04672" y="3108960"/>
            <a:ext cx="9381744" cy="310896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23697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31012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Hacia la Arquitectura Profesional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" y="3621024"/>
            <a:ext cx="4453128" cy="1088136"/>
          </a:xfrm>
          <a:prstGeom prst="roundRect">
            <a:avLst>
              <a:gd name="adj" fmla="val 3361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60704" y="374904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79476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572768" y="3749040"/>
            <a:ext cx="73152" cy="8321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376732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Independencia Lógica</a:t>
            </a:r>
            <a:endParaRPr lang="en-US" sz="1360" dirty="0"/>
          </a:p>
        </p:txBody>
      </p:sp>
      <p:sp>
        <p:nvSpPr>
          <p:cNvPr id="20" name="Text 17"/>
          <p:cNvSpPr/>
          <p:nvPr/>
        </p:nvSpPr>
        <p:spPr>
          <a:xfrm>
            <a:off x="1773936" y="4059936"/>
            <a:ext cx="3502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atributos no clave deben ser independientes entre sí. Cambiar un dato solo afecta a una tabla.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5586984" y="3621024"/>
            <a:ext cx="4453128" cy="1088136"/>
          </a:xfrm>
          <a:prstGeom prst="roundRect">
            <a:avLst>
              <a:gd name="adj" fmla="val 3361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96712" y="374904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96712" y="379476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6208776" y="3749040"/>
            <a:ext cx="73152" cy="8321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9944" y="376732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PK manda</a:t>
            </a:r>
            <a:endParaRPr lang="en-US" sz="1360" dirty="0"/>
          </a:p>
        </p:txBody>
      </p:sp>
      <p:sp>
        <p:nvSpPr>
          <p:cNvPr id="26" name="Text 23"/>
          <p:cNvSpPr/>
          <p:nvPr/>
        </p:nvSpPr>
        <p:spPr>
          <a:xfrm>
            <a:off x="6409944" y="4059936"/>
            <a:ext cx="3502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 dato debe depender de la PK, toda la PK y nada más que de la PK.</a:t>
            </a:r>
            <a:endParaRPr lang="en-US" sz="1060" dirty="0"/>
          </a:p>
        </p:txBody>
      </p:sp>
      <p:sp>
        <p:nvSpPr>
          <p:cNvPr id="27" name="Shape 24"/>
          <p:cNvSpPr/>
          <p:nvPr/>
        </p:nvSpPr>
        <p:spPr>
          <a:xfrm>
            <a:off x="950976" y="4873752"/>
            <a:ext cx="4453128" cy="1088136"/>
          </a:xfrm>
          <a:prstGeom prst="roundRect">
            <a:avLst>
              <a:gd name="adj" fmla="val 3361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60704" y="5001768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60704" y="5047488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1664208" y="5001768"/>
            <a:ext cx="73152" cy="8321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865376" y="5020056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Eficiencia Masiva</a:t>
            </a:r>
            <a:endParaRPr lang="en-US" sz="1360" dirty="0"/>
          </a:p>
        </p:txBody>
      </p:sp>
      <p:sp>
        <p:nvSpPr>
          <p:cNvPr id="32" name="Text 29"/>
          <p:cNvSpPr/>
          <p:nvPr/>
        </p:nvSpPr>
        <p:spPr>
          <a:xfrm>
            <a:off x="1865376" y="5312664"/>
            <a:ext cx="3410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Elimina la repetición de cadenas de texto largas (ej: nombres de ciudades o países).</a:t>
            </a:r>
            <a:endParaRPr lang="en-US" sz="1060" dirty="0"/>
          </a:p>
        </p:txBody>
      </p:sp>
      <p:sp>
        <p:nvSpPr>
          <p:cNvPr id="33" name="Shape 30"/>
          <p:cNvSpPr/>
          <p:nvPr/>
        </p:nvSpPr>
        <p:spPr>
          <a:xfrm>
            <a:off x="5586984" y="4873752"/>
            <a:ext cx="4453128" cy="1088136"/>
          </a:xfrm>
          <a:prstGeom prst="roundRect">
            <a:avLst>
              <a:gd name="adj" fmla="val 3361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96712" y="5001768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696712" y="5047488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</a:t>
            </a:r>
            <a:endParaRPr lang="en-US" sz="780" dirty="0"/>
          </a:p>
        </p:txBody>
      </p:sp>
      <p:sp>
        <p:nvSpPr>
          <p:cNvPr id="36" name="Shape 33"/>
          <p:cNvSpPr/>
          <p:nvPr/>
        </p:nvSpPr>
        <p:spPr>
          <a:xfrm>
            <a:off x="6300216" y="5001768"/>
            <a:ext cx="73152" cy="8321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501384" y="5020056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Escalabilidad</a:t>
            </a:r>
            <a:endParaRPr lang="en-US" sz="1360" dirty="0"/>
          </a:p>
        </p:txBody>
      </p:sp>
      <p:sp>
        <p:nvSpPr>
          <p:cNvPr id="38" name="Text 35"/>
          <p:cNvSpPr/>
          <p:nvPr/>
        </p:nvSpPr>
        <p:spPr>
          <a:xfrm>
            <a:off x="6501384" y="5312664"/>
            <a:ext cx="3410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cambiar la lógica de una entidad secundaria sin tocar la tabla principal.</a:t>
            </a:r>
            <a:endParaRPr lang="en-US" sz="106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 para Relaciones N:M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3.4 La Tabla Intermedia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Inscripciones (Estudiantes &lt;-&gt; Cursos)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Entidades Fuertes vs. Débiles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3.5 Jerarquía de existencia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¿Quién depende de quién?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Entidad Fuerte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Independiente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Existe por sí sola.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Ej: 'User', 'Product'.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requiere FK para nacer.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Entidad Débil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Dependiente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 PK incluye la FK del padre.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Ej: 'VentaDetalle', 'Comentarios'.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el padre muere, ella no tiene sentido.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&lt;-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dependencia</a:t>
            </a:r>
            <a:endParaRPr lang="en-US" sz="72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Huella IA: El Auditor de Normalización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Optimización Asistida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Usando el Agente para validar tu DER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609344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810512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Detectar Redundancia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810512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'Revisa este esquema: ¿Hay datos que se repiten innecesariamente?'.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45352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46520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Sugerir 3FN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46520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'¿Cumple esta tabla con la Tercera Forma Normal? Si no, divídela'.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CAUTION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66420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865376" y="4462272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Sobre-normalización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865376" y="4754880"/>
            <a:ext cx="3410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a veces separa TODO. A veces un poco de redundancia ayuda al performance.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CAUTION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30021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501384" y="4462272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Nombres Genéricos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501384" y="4754880"/>
            <a:ext cx="3410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dejes que la IA llame a todo 'data' o 'info'. Exige nombres de negocio.</a:t>
            </a:r>
            <a:endParaRPr lang="en-US" sz="106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significa que un atributo sea 'Atómico' en el contexto de la 1FN?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SQL, ¿cómo representamos físicamente una relación N:M entre dos tablas?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es peligroso modificar una base de datos sin tener un DER validado?</a:t>
            </a:r>
            <a:endParaRPr lang="en-US" sz="156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3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 de Datos Robusta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buen diseño DER es la mitad del éxito de un Backend escalable y libre de errores.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DER / Crow's Foot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Lenguaje visual para comunicar la estructura del sistema.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Normalización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Técnica para asegurar que cada dato esté en su lugar correcto.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traducción final del diseño a tablas físicas reales.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Final → Implementación en Supabase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Implementación en la Nube: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Llevando el DER a la Realidad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Integrando PostgreSQL as a Service con FastAPI y Pydantic.</a:t>
            </a:r>
            <a:endParaRPr lang="en-US" sz="152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es Supabase?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4.1 Backend as a Service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 con Superpoderes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Base de Datos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 100% real.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soporte SQL y relacional.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una base de datos 'de juguete'.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 de Servicios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Ecosistema (BaaS)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 automática (PostgREST).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Autenticación (Auth).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Almacenamiento de archivos (Storage).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ecosistema</a:t>
            </a:r>
            <a:endParaRPr lang="en-US" sz="72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 del Sistema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4.1 Flujo de datos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FastAPI actúa como el 'Cerebro' (Lógica) y Supabase como la 'Memoria' (Persistencia).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04672" y="3127248"/>
            <a:ext cx="2926080" cy="201168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236976"/>
            <a:ext cx="100584" cy="17922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25526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FastAPI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529584"/>
            <a:ext cx="259689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Recibe Request HTTP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 con Pydantic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950208" y="3127248"/>
            <a:ext cx="2926080" cy="201168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236976"/>
            <a:ext cx="100584" cy="17922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25526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Supabase Client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529584"/>
            <a:ext cx="259689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Traduce la petición a un Query REST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095744" y="3127248"/>
            <a:ext cx="2926080" cy="201168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236976"/>
            <a:ext cx="100584" cy="17922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25526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Supabase Cloud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529584"/>
            <a:ext cx="259689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 Query en Postgres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devuelve JSON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Configuración del Proyecto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4.2 Crear instancia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36576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50976" y="2139696"/>
            <a:ext cx="90891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Supabase: crear proyecto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932688" y="2468880"/>
            <a:ext cx="912571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04672" y="2560320"/>
            <a:ext cx="4409420" cy="2999232"/>
          </a:xfrm>
          <a:prstGeom prst="roundRect">
            <a:avLst>
              <a:gd name="adj" fmla="val 1220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9264" y="2706624"/>
            <a:ext cx="40802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Paso 1: formulario base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969264" y="309067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Organization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496312" y="3054096"/>
            <a:ext cx="2553188" cy="25603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69464" y="3090672"/>
            <a:ext cx="24068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AIEP Sandbox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969264" y="347472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name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496312" y="3438144"/>
            <a:ext cx="2553188" cy="25603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569464" y="3474720"/>
            <a:ext cx="24068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 App de E-commerce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69264" y="3858768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DB password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496312" y="3822192"/>
            <a:ext cx="2553188" cy="25603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569464" y="3858768"/>
            <a:ext cx="24068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db-pass-2026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969264" y="42428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Region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496312" y="4206240"/>
            <a:ext cx="2553188" cy="25603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569464" y="4242816"/>
            <a:ext cx="24068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South America (Sao Paulo)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969264" y="462686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496312" y="4590288"/>
            <a:ext cx="2553188" cy="25603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569464" y="4626864"/>
            <a:ext cx="24068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969264" y="5084064"/>
            <a:ext cx="1554480" cy="274320"/>
          </a:xfrm>
          <a:prstGeom prst="roundRect">
            <a:avLst>
              <a:gd name="adj" fmla="val 10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69264" y="512978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project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15260" y="2560320"/>
            <a:ext cx="4771156" cy="1225296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561564" y="2688336"/>
            <a:ext cx="44785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Paso 2: proyecto listo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5579852" y="3008376"/>
            <a:ext cx="10972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62732" y="2980944"/>
            <a:ext cx="42590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provisioned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579852" y="3227832"/>
            <a:ext cx="10972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762732" y="3200400"/>
            <a:ext cx="42590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 online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579852" y="3447288"/>
            <a:ext cx="10972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762732" y="3419856"/>
            <a:ext cx="42590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ready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415260" y="3931920"/>
            <a:ext cx="4771156" cy="1627632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561564" y="4059936"/>
            <a:ext cx="44785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Paso 3: orientarse en el dashboard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5561564" y="4334256"/>
            <a:ext cx="1358737" cy="237744"/>
          </a:xfrm>
          <a:prstGeom prst="roundRect">
            <a:avLst>
              <a:gd name="adj" fmla="val 769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561564" y="4389120"/>
            <a:ext cx="1358737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Editor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6993453" y="4334256"/>
            <a:ext cx="1358737" cy="237744"/>
          </a:xfrm>
          <a:prstGeom prst="roundRect">
            <a:avLst>
              <a:gd name="adj" fmla="val 7692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993453" y="4389120"/>
            <a:ext cx="1358737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Editor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8425343" y="4334256"/>
            <a:ext cx="1358737" cy="237744"/>
          </a:xfrm>
          <a:prstGeom prst="roundRect">
            <a:avLst>
              <a:gd name="adj" fmla="val 7692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425343" y="4389120"/>
            <a:ext cx="1358737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Docs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561564" y="4718304"/>
            <a:ext cx="2193554" cy="694944"/>
          </a:xfrm>
          <a:prstGeom prst="roundRect">
            <a:avLst>
              <a:gd name="adj" fmla="val 3947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561564" y="4718304"/>
            <a:ext cx="73152" cy="6949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707868" y="4846320"/>
            <a:ext cx="197409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Database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5707868" y="5084064"/>
            <a:ext cx="197409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instancia PostgreSQL ya vive aqui.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7846558" y="4718304"/>
            <a:ext cx="2193554" cy="694944"/>
          </a:xfrm>
          <a:prstGeom prst="roundRect">
            <a:avLst>
              <a:gd name="adj" fmla="val 3947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846558" y="4718304"/>
            <a:ext cx="73152" cy="6949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992862" y="4846320"/>
            <a:ext cx="197409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7992862" y="5084064"/>
            <a:ext cx="197409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Supabase prepara acceso REST y metadatos.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 Keys: Pública vs Privada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4.2 Seguridad Crítica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Nunca expongas el Service Role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3401568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31821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ANON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anon_key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Llave pública. Sujeta a Row Level Security (RLS). Segura para usar en Frontend.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3401568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31821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service_role_key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Llave privada. Ignora TODA seguridad. SOLO debe usarse en Backend (FastAPI).</a:t>
            </a:r>
            <a:endParaRPr lang="en-US" sz="104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con Variables de Entorno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4.2 Protegiendo secretos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.env (NO SUBIR A GITHUB)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Mapeo de Tipos: Postgres ↔ Python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Pydantic al rescate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Traducción de Datos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UUID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uuid / UUID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Identificadores en Python usan el módulo nativo `uuid.UUID`.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text / str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Cadenas de texto sin límite de longitud rígido.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timestamp / datetime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Fechas y horas. Siempre usar ISO 8601.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jsonb / dict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Estructuras complejas no relacionales soportadas nativamente.</a:t>
            </a:r>
            <a:endParaRPr lang="en-US" sz="106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Pydantic: El Guardián de los Datos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Validación estricta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no usar diccionarios?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Diccionario Plano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Inseguro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hay autocompletado.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Cualquier tipo de dato es válido.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falta una llave, el sistema falla.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Pydantic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Profesional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Tipado fuerte y validación previa.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FastAPI rechaza datos malos al instante.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limpio.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</a:t>
            </a:r>
            <a:endParaRPr lang="en-US" sz="72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Implementación de Modelos Pydantic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Del DER a Python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schemas/products.py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Modelos para Relaciones (FK)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Pydantic anidado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schemas/categories.py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Inicialización del Cliente Supabase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4.4 Conectando FastAPI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core/database.py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Inyección de Dependencias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4.4 FastAPI Best Practices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Dependency Injection (Depends)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 crear una nueva conexión en cada petición. FastAPI inyecta el cliente Supabase automáticamente donde se necesite.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6027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67588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 de Inyección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59936"/>
            <a:ext cx="896112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Flujo de una Petición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4.4 End to End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926080"/>
            <a:ext cx="2286000" cy="1645920"/>
          </a:xfrm>
          <a:prstGeom prst="roundRect">
            <a:avLst>
              <a:gd name="adj" fmla="val 2222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3054096"/>
            <a:ext cx="109728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3035808"/>
            <a:ext cx="1938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FastAPI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3383280"/>
            <a:ext cx="193852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Recibe JSON y valida con Pydantic.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090672" y="3474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2027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3547872" y="2926080"/>
            <a:ext cx="2286000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39312" y="3054096"/>
            <a:ext cx="109728" cy="13898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803904" y="3035808"/>
            <a:ext cx="1938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Cliente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803904" y="3383280"/>
            <a:ext cx="193852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Traduce a REST Query (.insert, .eq)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833872" y="3474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2027"/>
                </a:solidFill>
              </a:rPr>
              <a:t>→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6291072" y="2926080"/>
            <a:ext cx="3895344" cy="1645920"/>
          </a:xfrm>
          <a:prstGeom prst="roundRect">
            <a:avLst>
              <a:gd name="adj" fmla="val 2222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82512" y="3054096"/>
            <a:ext cx="109728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47104" y="3035808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Supabase Postgres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547104" y="3383280"/>
            <a:ext cx="35478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 SQL y devuelve la tupla física real.</a:t>
            </a:r>
            <a:endParaRPr lang="en-US" sz="12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CREATE: Insertando Datos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Operaciones CRUD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Supabase Python Client: .insert()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Endpoint CREATE (POST)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Integración FastAPI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routers/products.py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READ: Consultando Datos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Operaciones CRUD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método .select()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select('*')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Trae todas las columnas. Útil para desarrollo rápido.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select('id, name')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Trae solo lo necesario. Ahorra ancho de banda (Recomendado).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COUNT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count='exact'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Útil para paginación. Devuelve el número total de filas.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Falta .execute()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no llamas a .execute(), la query no se envía a la nube.</a:t>
            </a:r>
            <a:endParaRPr lang="en-US" sz="106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READ: Aplicando Filtros (WHERE)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Modificadores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Supabase Query Modifiers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READ: Relaciones y Joins Automáticos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Foreign Keys en acción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Supabase resuelve los JOINs automáticamente si configuraste las FKs correctamente.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04672" y="3127248"/>
            <a:ext cx="9381744" cy="3054096"/>
          </a:xfrm>
          <a:prstGeom prst="roundRect">
            <a:avLst>
              <a:gd name="adj" fmla="val 119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23697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31012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Consultando datos anidados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3694176"/>
            <a:ext cx="896112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UPDATE: Actualizando Registros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Operaciones CRUD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 Crítica del Update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¡NUNCA uses .update() sin un filtro .eq()! Si omites el filtro, actualizarás TODA LA TABLA.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6027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67588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Actualización segura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59936"/>
            <a:ext cx="896112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Endpoint UPDATE (PATCH)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Integración FastAPI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routers/users.py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DELETE: Físico vs Lógico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Operaciones CRUD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borramos datos?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Borrado Físico (DELETE)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.delete().eq()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dato se elimina de la base de datos.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Falla si hay Foreign Keys apuntándole (Restrict).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Peligroso en sistemas financieros.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Borrado Lógico (Soft Delete)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.update()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añade una columna 'is_active' = false.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dato sigue ahí para auditorías.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Recomendado para producción.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estrategia</a:t>
            </a:r>
            <a:endParaRPr lang="en-US" sz="72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en Supabase: SQL Assistant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4.6 Generación de código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Supabase incluye un Agente SQL nativo (basado en ChatGPT) en su Table Editor.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04672" y="2926080"/>
            <a:ext cx="9381744" cy="3255264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0540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12724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Casos de Uso del Agente Interno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" y="3438144"/>
            <a:ext cx="4453128" cy="1161288"/>
          </a:xfrm>
          <a:prstGeom prst="roundRect">
            <a:avLst>
              <a:gd name="adj" fmla="val 315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60704" y="35661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6118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572768" y="3566160"/>
            <a:ext cx="73152" cy="9052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35844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Crear Tablas con RLS</a:t>
            </a:r>
            <a:endParaRPr lang="en-US" sz="1360" dirty="0"/>
          </a:p>
        </p:txBody>
      </p:sp>
      <p:sp>
        <p:nvSpPr>
          <p:cNvPr id="20" name="Text 17"/>
          <p:cNvSpPr/>
          <p:nvPr/>
        </p:nvSpPr>
        <p:spPr>
          <a:xfrm>
            <a:off x="1773936" y="3877056"/>
            <a:ext cx="35021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'Create a secure users table with RLS enabled for their own rows'.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5586984" y="3438144"/>
            <a:ext cx="4453128" cy="1161288"/>
          </a:xfrm>
          <a:prstGeom prst="roundRect">
            <a:avLst>
              <a:gd name="adj" fmla="val 315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96712" y="35661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96712" y="36118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6208776" y="3566160"/>
            <a:ext cx="73152" cy="9052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9944" y="35844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Migraciones Complejas</a:t>
            </a:r>
            <a:endParaRPr lang="en-US" sz="1360" dirty="0"/>
          </a:p>
        </p:txBody>
      </p:sp>
      <p:sp>
        <p:nvSpPr>
          <p:cNvPr id="26" name="Text 23"/>
          <p:cNvSpPr/>
          <p:nvPr/>
        </p:nvSpPr>
        <p:spPr>
          <a:xfrm>
            <a:off x="6409944" y="3877056"/>
            <a:ext cx="35021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'Add a new UUID column and backfill it with random UUIDs'.</a:t>
            </a:r>
            <a:endParaRPr lang="en-US" sz="1060" dirty="0"/>
          </a:p>
        </p:txBody>
      </p:sp>
      <p:sp>
        <p:nvSpPr>
          <p:cNvPr id="27" name="Shape 24"/>
          <p:cNvSpPr/>
          <p:nvPr/>
        </p:nvSpPr>
        <p:spPr>
          <a:xfrm>
            <a:off x="950976" y="4764024"/>
            <a:ext cx="4453128" cy="1161288"/>
          </a:xfrm>
          <a:prstGeom prst="roundRect">
            <a:avLst>
              <a:gd name="adj" fmla="val 3150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60704" y="489204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60704" y="4937760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1719072" y="4892040"/>
            <a:ext cx="73152" cy="9052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920240" y="4910328"/>
            <a:ext cx="3355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 el SQL</a:t>
            </a:r>
            <a:endParaRPr lang="en-US" sz="1360" dirty="0"/>
          </a:p>
        </p:txBody>
      </p:sp>
      <p:sp>
        <p:nvSpPr>
          <p:cNvPr id="32" name="Text 29"/>
          <p:cNvSpPr/>
          <p:nvPr/>
        </p:nvSpPr>
        <p:spPr>
          <a:xfrm>
            <a:off x="1920240" y="5202936"/>
            <a:ext cx="33558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genera el SQL, pero TÚ debes revisarlo antes de presionar Run.</a:t>
            </a:r>
            <a:endParaRPr lang="en-US" sz="1060" dirty="0"/>
          </a:p>
        </p:txBody>
      </p:sp>
      <p:sp>
        <p:nvSpPr>
          <p:cNvPr id="33" name="Shape 30"/>
          <p:cNvSpPr/>
          <p:nvPr/>
        </p:nvSpPr>
        <p:spPr>
          <a:xfrm>
            <a:off x="5586984" y="4764024"/>
            <a:ext cx="4453128" cy="1161288"/>
          </a:xfrm>
          <a:prstGeom prst="roundRect">
            <a:avLst>
              <a:gd name="adj" fmla="val 3150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96712" y="489204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696712" y="4937760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780" dirty="0"/>
          </a:p>
        </p:txBody>
      </p:sp>
      <p:sp>
        <p:nvSpPr>
          <p:cNvPr id="36" name="Shape 33"/>
          <p:cNvSpPr/>
          <p:nvPr/>
        </p:nvSpPr>
        <p:spPr>
          <a:xfrm>
            <a:off x="6355080" y="4892040"/>
            <a:ext cx="73152" cy="9052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556248" y="4910328"/>
            <a:ext cx="3355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Tipos de Datos</a:t>
            </a:r>
            <a:endParaRPr lang="en-US" sz="1360" dirty="0"/>
          </a:p>
        </p:txBody>
      </p:sp>
      <p:sp>
        <p:nvSpPr>
          <p:cNvPr id="38" name="Text 35"/>
          <p:cNvSpPr/>
          <p:nvPr/>
        </p:nvSpPr>
        <p:spPr>
          <a:xfrm>
            <a:off x="6556248" y="5202936"/>
            <a:ext cx="33558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Asegúrate de que asigne UUID en vez de Serial si esa es tu arquitectura.</a:t>
            </a:r>
            <a:endParaRPr lang="en-US" sz="106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en FastAPI: Generación de Modelos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4.6 Aceleración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3898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SQL a Pydantic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lugar de escribir los modelos de FastAPI a mano, puedes pasarle tu código SQL de Supabase al Agente y pedirle que genere las clases Pydantic equivalentes.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840480"/>
            <a:ext cx="9381744" cy="2340864"/>
          </a:xfrm>
          <a:prstGeom prst="roundRect">
            <a:avLst>
              <a:gd name="adj" fmla="val 156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950208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4023360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 de Prompt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407408"/>
            <a:ext cx="8961120" cy="159105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crítica de seguridad hay entre la llave anon y la llave service_role?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debemos usar Pydantic en FastAPI antes de insertar datos en Supabase?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método debemos llamar SIEMPRE al final de una consulta en Supabase Python?</a:t>
            </a:r>
            <a:endParaRPr lang="en-US" sz="156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4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conexión final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FastAPI valida y orquesta; Supabase almacena y protege.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Supabase BaaS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de datos Postgres en la nube lista para producción.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Pydantic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Garantiza que la API hable el mismo idioma que la Base de Datos.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Client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Interfaz intuitiva para operar SQL sin escribir SQL puro.</a:t>
            </a:r>
            <a:endParaRPr lang="en-US" sz="10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Síntesis: Los Cimientos del Backend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de Clase · El ciclo de vida del dato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459028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64008" cy="14447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Entidades</a:t>
            </a:r>
            <a:endParaRPr lang="en-US" sz="142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424281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Objetos del negocio con identidad única (Primary Key).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5596128" y="2029968"/>
            <a:ext cx="459028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687568" y="2157984"/>
            <a:ext cx="64008" cy="14447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139696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Relaciones</a:t>
            </a:r>
            <a:endParaRPr lang="en-US" sz="1420" dirty="0"/>
          </a:p>
        </p:txBody>
      </p:sp>
      <p:sp>
        <p:nvSpPr>
          <p:cNvPr id="17" name="Text 14"/>
          <p:cNvSpPr/>
          <p:nvPr/>
        </p:nvSpPr>
        <p:spPr>
          <a:xfrm>
            <a:off x="5852160" y="2487168"/>
            <a:ext cx="424281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Vínculos técnicos (FK) que definen la lógica del sistema.</a:t>
            </a:r>
            <a:endParaRPr lang="en-US" sz="1080" dirty="0"/>
          </a:p>
        </p:txBody>
      </p:sp>
      <p:sp>
        <p:nvSpPr>
          <p:cNvPr id="18" name="Shape 15"/>
          <p:cNvSpPr/>
          <p:nvPr/>
        </p:nvSpPr>
        <p:spPr>
          <a:xfrm>
            <a:off x="804672" y="3895344"/>
            <a:ext cx="459028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6112" y="4023360"/>
            <a:ext cx="64008" cy="14447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60704" y="4005072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Normalización</a:t>
            </a:r>
            <a:endParaRPr lang="en-US" sz="1420" dirty="0"/>
          </a:p>
        </p:txBody>
      </p:sp>
      <p:sp>
        <p:nvSpPr>
          <p:cNvPr id="21" name="Text 18"/>
          <p:cNvSpPr/>
          <p:nvPr/>
        </p:nvSpPr>
        <p:spPr>
          <a:xfrm>
            <a:off x="1060704" y="4352544"/>
            <a:ext cx="424281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 profesional para evitar redundancia y errores.</a:t>
            </a:r>
            <a:endParaRPr lang="en-US" sz="1080" dirty="0"/>
          </a:p>
        </p:txBody>
      </p:sp>
      <p:sp>
        <p:nvSpPr>
          <p:cNvPr id="22" name="Shape 19"/>
          <p:cNvSpPr/>
          <p:nvPr/>
        </p:nvSpPr>
        <p:spPr>
          <a:xfrm>
            <a:off x="5596128" y="3895344"/>
            <a:ext cx="459028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687568" y="4023360"/>
            <a:ext cx="64008" cy="14447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852160" y="4005072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Persistencia</a:t>
            </a:r>
            <a:endParaRPr lang="en-US" sz="1420" dirty="0"/>
          </a:p>
        </p:txBody>
      </p:sp>
      <p:sp>
        <p:nvSpPr>
          <p:cNvPr id="25" name="Text 22"/>
          <p:cNvSpPr/>
          <p:nvPr/>
        </p:nvSpPr>
        <p:spPr>
          <a:xfrm>
            <a:off x="5852160" y="4352544"/>
            <a:ext cx="424281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Implementación en la nube con Supabase y PostgreSQL.</a:t>
            </a:r>
            <a:endParaRPr lang="en-US" sz="108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Desafío Mental de Integración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Aplicando lo aprendido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modelarías una aplicación de Delivery tipo UberEats?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127248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236976"/>
            <a:ext cx="100584" cy="2340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255264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Entidades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60704" y="3529584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Restaurante, Plato, Pedido, Cliente, Rider.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182112" y="3127248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255264" y="3236976"/>
            <a:ext cx="100584" cy="2340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38144" y="3255264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Relaciones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438144" y="3529584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Restaurante tiene muchos Platos (1:N).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559552" y="3127248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32704" y="3236976"/>
            <a:ext cx="100584" cy="2340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15584" y="3255264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Tabla Pivot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815584" y="3529584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relacionas Pedidos con muchos Platos?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936992" y="3127248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010144" y="3236976"/>
            <a:ext cx="100584" cy="2340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193024" y="3255264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Tipos Datos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193024" y="3529584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¿UUID para IDs? ¿Numeric para el total?</a:t>
            </a:r>
            <a:endParaRPr lang="en-US" sz="9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2560320" cy="274320"/>
          </a:xfrm>
          <a:prstGeom prst="roundRect">
            <a:avLst>
              <a:gd name="adj" fmla="val 16667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DE SALIDA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pasaría en una base de datos de millones de usuarios si no usáramos Primary Keys?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el modelo relacional prohíbe las relaciones N:M directas?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¿Cuál es la ventaja de validar datos con Pydantic antes de intentar guardarlos en Supabase?</a:t>
            </a:r>
            <a:endParaRPr lang="en-US" sz="156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Mañana: IA en Desarrollo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Intensivo de Backend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804672" y="3310128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Aprenderemos a usar agentes para acelerar la creación de modelos, validación de reglas y generación de código crítico.</a:t>
            </a:r>
            <a:endParaRPr lang="en-US" sz="1520" dirty="0"/>
          </a:p>
        </p:txBody>
      </p:sp>
      <p:sp>
        <p:nvSpPr>
          <p:cNvPr id="9" name="Shape 6"/>
          <p:cNvSpPr/>
          <p:nvPr/>
        </p:nvSpPr>
        <p:spPr>
          <a:xfrm>
            <a:off x="804672" y="532180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548640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Nos vemos en la Clase 03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AIEP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Persistencia y Modelado de Datos</dc:title>
  <dc:subject>Clase 14</dc:subject>
  <dc:creator>Diego Obando</dc:creator>
  <cp:lastModifiedBy>Diego Obando</cp:lastModifiedBy>
  <cp:revision>1</cp:revision>
  <dcterms:created xsi:type="dcterms:W3CDTF">2026-04-13T06:35:20Z</dcterms:created>
  <dcterms:modified xsi:type="dcterms:W3CDTF">2026-04-13T06:35:20Z</dcterms:modified>
</cp:coreProperties>
</file>