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 y Modelado de Datos: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Esqueleto de la Información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Clase 02: PostgreSQL, Entidades y Supabase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tu app olvida quién eres?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de la volatilidad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¿De qué sirve un sistema si cada reinicio borra pedidos, usuarios o historial?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App recuerda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950208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23360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0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Negocio opera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95744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8896" y="3602736"/>
            <a:ext cx="100584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51776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ayuda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General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Hacia sistemas con memoria real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Diseñar modelos de datos coherentes y escalables, transformando ideas en tablas físicas usando PostgreSQL (vía Supabase).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hacia la persistencia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Memoria vs Persistencia. Entidades y Atributos.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Relaciones y Cardinalidad (1:1, 1:N, N:M).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 y Diagramas (DER). Normalización.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en Supabase (Postgres).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El Agente Arquitecto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Colaboración Inteligente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como apoyo en el modelado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Borradores de Esquemas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propuestas de tablas y atributos iniciales.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Generación de SQL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el diseño visual a código técnico para Supabase.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719072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20240" y="4462272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de Negocio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920240" y="4754880"/>
            <a:ext cx="3355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no sabe cómo opera TU empresa. Valida cada relación.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55080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56248" y="4462272"/>
            <a:ext cx="3355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Ambigüedades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56248" y="4754880"/>
            <a:ext cx="3355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 que los nombres sean claros y las PK sean únicas.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Memoria Volátil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 Persistencia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por qué el backend necesita una memoria estable para sostener el mundo real.</a:t>
            </a:r>
            <a:endParaRPr lang="en-US" sz="15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Volátil vs. Persistencia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Diferencia Operativa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¿Dónde vive el dato?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Volátil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RAM / Variables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Rápida pero efímera.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pierde al apagar/reiniciar.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useState, listas en Python.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 / Bases de Datos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Lenta pero estable.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Sobrevive al paso del tiempo.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PostgreSQL, Archivos.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durabilidad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dato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Entidad: El Sustantivo del Negocio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Modelando la realidad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entidad es un objeto relevante para el negocio que queremos representar.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persona que compra.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04672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950208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0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206240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ítem disponible para venta.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50208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22" name="Shape 19"/>
          <p:cNvSpPr/>
          <p:nvPr/>
        </p:nvSpPr>
        <p:spPr>
          <a:xfrm>
            <a:off x="7095744" y="3858768"/>
            <a:ext cx="292608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3986784"/>
            <a:ext cx="109728" cy="19385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396849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Pedido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351776" y="4315968"/>
            <a:ext cx="257860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transacción realizada.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095744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🛒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Atributos: Describiendo la Entidad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¿Qué datos guardamos?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Entidad: Producto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(PK): Identidad Única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Sin ambigüedad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importancia de la Llave Primaria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distinguir una fila de otra aunque tengan datos parecidos. Evita confusiones y es la base de las relaciones.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7824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0704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 Serial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60704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 2, 3... Automático.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950208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23360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06240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UUID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206240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Identificadores únicos universales.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095744" y="3858768"/>
            <a:ext cx="292608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68896" y="3968496"/>
            <a:ext cx="100584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39867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Natural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351776" y="4261104"/>
            <a:ext cx="25968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RUT, Email (si son estables).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pilares del Modelado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Pasamos de 'variables efímeras' a 'entidades identificables' listas para persistir.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Relaciones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Relaciones y Cardinalidad: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Conectando el Mundo de los Datos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las entidades se vinculan técnicamente para representar procesos de negocio reales.</a:t>
            </a:r>
            <a:endParaRPr lang="en-US" sz="15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Datos no están aislados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Los verbos del sistema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entidad sin relaciones es un dato muerto. El Backend gestiona VÍNCULOS.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 → Post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60704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usuario 'crea' o 'escribe' contenido.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Pedido → Producto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206240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pedido 'contiene' uno o más ítems.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493008"/>
            <a:ext cx="2926080" cy="219456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602736"/>
            <a:ext cx="100584" cy="19751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62102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Estudiante → Curso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351776" y="3895344"/>
            <a:ext cx="25968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alumno 'se inscribe' en una materia.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Llave Foránea (FK): El Embajador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Creando el puente técnico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Key vs Foreign Key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(PK)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Identidad Interna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quién soy YO.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única en mi tabla.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se repite.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Foreign Key (FK)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Vínculo Externo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 a quién PERTENEZCO.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PK de otra tabla.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repetirse.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Visualizando la Conexión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Mapeo de Tablas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2743200" cy="4151376"/>
          </a:xfrm>
          <a:prstGeom prst="roundRect">
            <a:avLst>
              <a:gd name="adj" fmla="val 100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39696"/>
            <a:ext cx="100584" cy="39319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Vínculo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60704" y="2432304"/>
            <a:ext cx="241401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La PK de 'users' identifica al dueño.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La FK en 'orders' apunta a ese ID.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La relación permite saber qué usuario hizo qué compra sin repetir nombres.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40480" y="2029968"/>
            <a:ext cx="310896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029968"/>
            <a:ext cx="310896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160520" y="242316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23560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31920" y="2633472"/>
            <a:ext cx="292608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26609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23560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931920" y="2871216"/>
            <a:ext cx="292608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60520" y="2898648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23560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046720" y="2029968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202996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66760" y="242316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464040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8138160" y="263347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66760" y="266090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464040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138160" y="2871216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66760" y="2898648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464040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numeric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949440" y="2743200"/>
            <a:ext cx="109728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086600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69480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7790688" y="26334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790688" y="274320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607808" y="26517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040880" y="237744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Cardinalidad: ¿Cuántos con cuántos?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Reglas de Negocio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Define el número de elementos que pueden participar en una relación.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6112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para un solo registro.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4672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↔️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3950208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41648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0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206240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para muchos del otro lado.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950208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🌿</a:t>
            </a:r>
            <a:endParaRPr lang="en-US" sz="3200" dirty="0"/>
          </a:p>
        </p:txBody>
      </p:sp>
      <p:sp>
        <p:nvSpPr>
          <p:cNvPr id="22" name="Shape 19"/>
          <p:cNvSpPr/>
          <p:nvPr/>
        </p:nvSpPr>
        <p:spPr>
          <a:xfrm>
            <a:off x="7095744" y="4041648"/>
            <a:ext cx="292608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4169664"/>
            <a:ext cx="109728" cy="1755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51776" y="4151376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 : 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351776" y="4498848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para muchos (requiere tabla extra).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095744" y="3127248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🕸️</a:t>
            </a:r>
            <a:endParaRPr lang="en-US" sz="3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1:N: La Reina de las Relaciones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Autor → Libros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365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39696"/>
            <a:ext cx="100584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Técnica de Oro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2432304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una relación 1:N, la Foreign Key (FK) siempre viaja hacia la tabla del lado del 'Muchos'.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autores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24712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21992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96112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4712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221992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956048" y="3127248"/>
            <a:ext cx="29260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56048" y="3127248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libros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27608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5624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47488" y="3730752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27608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titulo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5624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047488" y="3968496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276088" y="39959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556248" y="39959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547872" y="3840480"/>
            <a:ext cx="1408176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68503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679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 flipV="1">
            <a:off x="4700016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4700016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17136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794760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8229600" y="3127248"/>
            <a:ext cx="1956816" cy="2560320"/>
          </a:xfrm>
          <a:prstGeom prst="roundRect">
            <a:avLst>
              <a:gd name="adj" fmla="val 140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02752" y="3236976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85632" y="3255264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485632" y="3529584"/>
            <a:ext cx="162763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autor puede escribir 100 libros, pero cada libro tiene un único autor principal en este modelo.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N:M: El Desafío de la Multiplicidad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Estudiantes ↔ Cursos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modelo relacional prohíbe el N:M directo para evitar redundancia infinita. La 'Tabla Pivot' rompe el ciclo en dos relaciones 1:N.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estudiantes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21992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96112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24712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221992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0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892040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estudiante_id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89320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63440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92040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curso_id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989320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339328" y="3127248"/>
            <a:ext cx="274320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39328" y="3127248"/>
            <a:ext cx="27432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659368" y="35204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756648" y="35204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430768" y="3730752"/>
            <a:ext cx="25603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659368" y="375818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titulo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756648" y="375818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547872" y="3840480"/>
            <a:ext cx="102412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8503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679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4315968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>
            <a:off x="4315968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3308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02736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inscribe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 flipH="1">
            <a:off x="7315200" y="3840480"/>
            <a:ext cx="102412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0216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19288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7315200" y="373075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315200" y="384048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754112" y="374904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370064" y="347472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 Referencial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El contrato de seguridad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Borrado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Borrar al padre con hijos.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DB lo prohíbe para evitar huérfanos.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CASCADE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Limpieza automática.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borras al usuario, se borran todos sus posts.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NULL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Mantener el dato hijo.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borra el padre, pero el hijo queda sin dueño.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ACTION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Ignorar el vínculo.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a Restrict, espera al final de la transacción.</a:t>
            </a:r>
            <a:endParaRPr lang="en-US" sz="10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el Diseño de Relaciones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Prompting para Cardinalidad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Definir Dominio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Dale el contexto del negocio antes de pedir la relación.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OK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 Lógica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Pregúntale: '¿Por qué elegiste 1:N y no N:M para este caso?'.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Confianza Ciega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 veces olvida las tablas intermedias. Tú debes exigirlas.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Ambigüedad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aceptes 'se relaciona con'. Exige cardinalidad específica.</a:t>
            </a:r>
            <a:endParaRPr lang="en-US" sz="10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decimos que la Foreign Key es el 'Embajador' de otra tabla?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lado de la relación (1 o N) debe ubicarse siempre la llave foránea?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evitamos al usar la regla de integridad 'RESTRICT'?</a:t>
            </a:r>
            <a:endParaRPr lang="en-US" sz="15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poder de los vínculos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relaciones definen cómo fluye la información y cómo se protege la integridad del sistema.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Foreign Key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mecanismo técnico para conectar una fila con otra tabla.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Cardinalidad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regla de negocio que define cuántos se vinculan con cuántos.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reglas (Cascade/Restrict) que aseguran que no haya datos huérfanos.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Diagramas DER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y Diagramas: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Mapa de la Información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idea al modelo físico: Normalización y notación profesional DER.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diseñar antes de programar?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El costo del error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Diagrama vs. Producción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en DER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de Diseño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arregla con 1 clic.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Costo: 5 segundos.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Impacto: Cero.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en DB Viva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de Producción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Migraciones complejas.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Costo: Miles de dólares.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Pérdida de datos.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deuda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técnica</a:t>
            </a:r>
            <a:endParaRPr lang="en-US" sz="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Notación Crow's Foot (Pata de Gallo)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Simbología Estándar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645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993392"/>
            <a:ext cx="8979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Simbología universal para representar la cardinalidad y obligatoriedad en diagramas DER.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04672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Uno y solo Uno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20040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obligatoria y única. Un RUT pertenece a una persona.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3108960"/>
            <a:ext cx="228600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5236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6404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301752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Uno a Muchos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registro origen tiene múltiples destinos. Un Autor, muchos Libros.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5200" y="4572000"/>
            <a:ext cx="2286000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35240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 flipV="1">
            <a:off x="9345168" y="44622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>
            <a:off x="9345168" y="4572000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62288" y="4480560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Diagrama al Código SQL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Implementación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256032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1828800"/>
            <a:ext cx="256032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24712" y="2221992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39112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96112" y="2432304"/>
            <a:ext cx="237744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245973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039112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18288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18288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74920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55080" y="22219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846320" y="24323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74920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cat_id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355080" y="24597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364992" y="2176272"/>
            <a:ext cx="1389888" cy="914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02152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85032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 flipV="1">
            <a:off x="4498848" y="2066544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H="1">
            <a:off x="4498848" y="2176272"/>
            <a:ext cx="256032" cy="10972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15968" y="2084832"/>
            <a:ext cx="0" cy="1828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602736" y="1828800"/>
            <a:ext cx="91440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4672" y="3474720"/>
            <a:ext cx="9381744" cy="3017520"/>
          </a:xfrm>
          <a:prstGeom prst="roundRect">
            <a:avLst>
              <a:gd name="adj" fmla="val 121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32688" y="358444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42416" y="365760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Implementation</a:t>
            </a:r>
            <a:endParaRPr lang="en-US" sz="10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41648"/>
            <a:ext cx="8961120" cy="226771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1FN: Primera Forma Normal (Atomicidad)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Limpieza de datos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Regla: Un solo dato por celda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Columna 'Telefonos': '9123, 8442'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pueden hacer búsquedas eficientes.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1FN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Separar en filas o tablas.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teléfono es un registro único atómico.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Columna 'Direccion' completa.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Dificulta filtrar por ciudad o comuna.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1FN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Campos separados.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Calle, Número, Ciudad, Región.</a:t>
            </a:r>
            <a:endParaRPr lang="en-US" sz="10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1FN: El Principio de Atomicidad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Fundamentos Relacionales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1956816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38528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Definición Formal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286000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relación está en 1FN si y solo si todos los dominios de sus atributos contienen valores atómicos (indivisibles) y no existen 'grupos repetitivos' (colecciones o listas) dentro de una misma tupla.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657600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7856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85876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obligatoria?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169664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297680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343400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664208" y="4297680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65376" y="4315968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Predictibilidad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865376" y="4608576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motor SQL puede indexar y buscar valores exactos.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5586984" y="4169664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96712" y="429768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96712" y="43434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6208776" y="4297680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9944" y="431596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6409944" y="460857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llaves foráneas solo funcionan con valores únicos, no con listas.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950976" y="5148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" y="5276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5321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1572768" y="5276088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773936" y="5294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Anomalía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1773936" y="5586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Actualizar un solo elemento de una lista obliga a reescribir toda la celda.</a:t>
            </a:r>
            <a:endParaRPr lang="en-US" sz="1060" dirty="0"/>
          </a:p>
        </p:txBody>
      </p:sp>
      <p:sp>
        <p:nvSpPr>
          <p:cNvPr id="35" name="Shape 32"/>
          <p:cNvSpPr/>
          <p:nvPr/>
        </p:nvSpPr>
        <p:spPr>
          <a:xfrm>
            <a:off x="5586984" y="5148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96712" y="5276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96712" y="5321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8" name="Shape 35"/>
          <p:cNvSpPr/>
          <p:nvPr/>
        </p:nvSpPr>
        <p:spPr>
          <a:xfrm>
            <a:off x="6208776" y="5276088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9944" y="5294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Redundancia</a:t>
            </a:r>
            <a:endParaRPr lang="en-US" sz="1360" dirty="0"/>
          </a:p>
        </p:txBody>
      </p:sp>
      <p:sp>
        <p:nvSpPr>
          <p:cNvPr id="40" name="Text 37"/>
          <p:cNvSpPr/>
          <p:nvPr/>
        </p:nvSpPr>
        <p:spPr>
          <a:xfrm>
            <a:off x="6409944" y="5586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grupos repetitivos violan la estructura de tabla rectangular.</a:t>
            </a:r>
            <a:endParaRPr lang="en-US" sz="10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2FN: Segunda Forma Normal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Dependencia Funcional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1938528"/>
            <a:ext cx="100584" cy="3474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568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Regla: Dependencia Completa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457200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256032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 (PK: est_id + cur_id)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20440" y="295351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est_id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6520" y="295351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316382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319125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cur_id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319125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91840" y="340156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20440" y="342900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nombre_curso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46520" y="34290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193792" y="4023360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</a:rPr>
              <a:t>↓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182880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inscripciones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214884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est_id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2900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92024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14884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cur_id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2900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21792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53796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1812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30936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53796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81812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2FN: Dependencia Funcional Completa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Eliminando el 'Saber de Más'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4297680"/>
          </a:xfrm>
          <a:prstGeom prst="roundRect">
            <a:avLst>
              <a:gd name="adj" fmla="val 8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19568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02996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de las llaves compuestas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395728"/>
            <a:ext cx="3685032" cy="3529584"/>
          </a:xfrm>
          <a:prstGeom prst="roundRect">
            <a:avLst>
              <a:gd name="adj" fmla="val 103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523744"/>
            <a:ext cx="109728" cy="32735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5237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 Parcial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Enemigo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14553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25983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19125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dato solo necesita 'la mitad' de la PK.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58444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69874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63016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curso cambia de nombre, debo actualizar mil filas.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355080" y="2395728"/>
            <a:ext cx="3685032" cy="3529584"/>
          </a:xfrm>
          <a:prstGeom prst="roundRect">
            <a:avLst>
              <a:gd name="adj" fmla="val 10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2523744"/>
            <a:ext cx="109728" cy="32735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65976" y="25237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 Total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65976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Solución</a:t>
            </a:r>
            <a:endParaRPr lang="en-US" sz="940" dirty="0"/>
          </a:p>
        </p:txBody>
      </p:sp>
      <p:sp>
        <p:nvSpPr>
          <p:cNvPr id="27" name="Shape 24"/>
          <p:cNvSpPr/>
          <p:nvPr/>
        </p:nvSpPr>
        <p:spPr>
          <a:xfrm>
            <a:off x="6665976" y="314553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57416" y="325983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03720" y="319125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columna depende del 100% de la llave.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665976" y="358444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69874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63016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datos del curso viven en la tabla 'Cursos'.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92040" y="3346704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01768" y="3493008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74920" y="3913632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56632" y="353872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37" name="Text 34"/>
          <p:cNvSpPr/>
          <p:nvPr/>
        </p:nvSpPr>
        <p:spPr>
          <a:xfrm>
            <a:off x="5020056" y="4325112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normalizar</a:t>
            </a:r>
            <a:endParaRPr lang="en-US" sz="7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3FN: Tercera Forma Normal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Dependencia Transitiva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1938528"/>
            <a:ext cx="100584" cy="3474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195681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Regla: No dependencias transitivas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2560320"/>
            <a:ext cx="457200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256032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 (PK: id)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20440" y="295351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6520" y="295351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uuid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316382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319125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319125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91840" y="340156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20440" y="342900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codigo_postal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46520" y="34290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91840" y="3639312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20440" y="3666744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46520" y="366674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193792" y="4023360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</a:rPr>
              <a:t>↓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1828800" y="4572000"/>
            <a:ext cx="292608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82880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14884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2900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92024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14884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42900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920240" y="5413248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148840" y="54406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cp_id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429000" y="54406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217920" y="4572000"/>
            <a:ext cx="2926080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0" y="4572000"/>
            <a:ext cx="292608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direcciones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53796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818120" y="49651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309360" y="5175504"/>
            <a:ext cx="274320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53796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ciudad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818120" y="52029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Teoría de la 3FN: La Regla de Oro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'The Key, the Whole Key, and Nothing but the Key'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993392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tabla está en 3FN si está en 2FN y no existen dependencias transitivas entre atributos no clave.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Independencia Lógica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950208" y="3127248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23360" y="3236976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0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Eficiencia de Almacenamiento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095744" y="3127248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8896" y="3236976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51776" y="32552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 Predictivo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para Relaciones N:M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La Tabla Intermedia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Inscripciones (Estudiantes &lt;-&gt; Cursos)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Entidades Fuertes vs. Débiles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Jerarquía de existencia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depende de quién?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 Fuerte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Independiente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por sí sola.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'User', 'Product'.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requiere FK para nacer.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Entidad Débil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Dependiente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PK incluye la FK del padre.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Ej: 'VentaDetalle', 'Comentarios'.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padre muere, ella no tiene sentido.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&lt;-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dependencia</a:t>
            </a:r>
            <a:endParaRPr lang="en-US" sz="7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El Auditor de Normalización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Optimización Asistida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Usando el Agente para validar tu DER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 Redundancia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'Revisa este esquema: ¿Hay datos que se repiten innecesariamente?'.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Sugerir 3FN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'¿Cumple esta tabla con la Tercera Forma Normal? Si no, divídela'.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Sobre-normalización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 veces separa TODO. A veces un poco de redundancia ayuda al performance.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0021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01384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Nombres Genéricos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01384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dejes que la IA llame a todo 'data' o 'info'. Exige nombres de negocio.</a:t>
            </a:r>
            <a:endParaRPr lang="en-US" sz="10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un atributo sea 'Atómico' en el contexto de la 1FN?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SQL, ¿cómo representamos físicamente una relación N:M entre dos tablas?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peligroso modificar una base de datos sin tener un DER validado?</a:t>
            </a:r>
            <a:endParaRPr lang="en-US" sz="156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de Datos Robusta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buen diseño DER es la mitad del éxito de un Backend escalable y libre de errores.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 / Crow's Foot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Lenguaje visual para comunicar la estructura del sistema.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Normalización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Técnica para asegurar que cada dato esté en su lugar correcto.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traducción final del diseño a tablas físicas reales.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Final → Implementación en Supabase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Persistencia y Modelado de Datos</dc:title>
  <dc:subject>Clase 14</dc:subject>
  <dc:creator>Diego Obando</dc:creator>
  <cp:lastModifiedBy>Diego Obando</cp:lastModifiedBy>
  <cp:revision>1</cp:revision>
  <dcterms:created xsi:type="dcterms:W3CDTF">2026-04-13T05:42:25Z</dcterms:created>
  <dcterms:modified xsi:type="dcterms:W3CDTF">2026-04-13T05:42:25Z</dcterms:modified>
</cp:coreProperties>
</file>