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notesMasterIdLst>
    <p:notesMasterId r:id="rId6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notesMaster" Target="notesMasters/notesMaster1.xml"/><Relationship Id="rId66" Type="http://schemas.openxmlformats.org/officeDocument/2006/relationships/presProps" Target="presProps.xml"/><Relationship Id="rId67" Type="http://schemas.openxmlformats.org/officeDocument/2006/relationships/viewProps" Target="viewProps.xml"/><Relationship Id="rId68" Type="http://schemas.openxmlformats.org/officeDocument/2006/relationships/theme" Target="theme/theme1.xml"/><Relationship Id="rId6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image" Target="../media/image-48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image" Target="../media/image-49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image" Target="../media/image-51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image" Target="../media/image-52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image" Target="../media/image-54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image" Target="../media/image-55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image" Target="../media/image-56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image" Target="../media/image-57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image" Target="../media/image-60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iego Obando\dev\pro301-taller-de-aplicaciones-para-internet\.agent\skills\slides-aiep\assets\logo-ai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566928"/>
            <a:ext cx="1097280" cy="38404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04672" y="1912925"/>
            <a:ext cx="256032" cy="58887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1111910" y="1682496"/>
            <a:ext cx="307238" cy="81930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470355" y="1912925"/>
            <a:ext cx="256032" cy="58887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04672" y="2578608"/>
            <a:ext cx="938174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Persistencia y Modelado de Datos: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Esqueleto de la Información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04672" y="4041648"/>
            <a:ext cx="9381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Semana 05 · Clase 02: PostgreSQL, Entidades y Supabase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796528" y="5321808"/>
            <a:ext cx="749808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9" name="Image 1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Contexto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pasa si tu app olvida quién eres?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problema de la volatilidad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024128"/>
          </a:xfrm>
          <a:prstGeom prst="roundRect">
            <a:avLst>
              <a:gd name="adj" fmla="val 714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¿De qué sirve un sistema si cada reinicio borra pedidos, usuarios o historial?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804672" y="3493008"/>
            <a:ext cx="2926080" cy="219456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7824" y="3602736"/>
            <a:ext cx="100584" cy="197510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0704" y="362102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App recuerda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3950208" y="3493008"/>
            <a:ext cx="2926080" cy="219456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023360" y="3602736"/>
            <a:ext cx="100584" cy="197510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206240" y="362102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Negocio opera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095744" y="3493008"/>
            <a:ext cx="2926080" cy="219456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168896" y="3602736"/>
            <a:ext cx="100584" cy="197510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51776" y="362102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IA ayuda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Objetivos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Objetivo General de la Clase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Hacia sistemas con memoria real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2286000"/>
          </a:xfrm>
          <a:prstGeom prst="roundRect">
            <a:avLst>
              <a:gd name="adj" fmla="val 160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Diseñar modelos de datos coherentes y escalables, transformando ideas en tablas físicas usando PostgreSQL (vía Supabase).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Mapa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Ruta de Aprendizaje: Hoy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Bloques hacia la persistencia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3291840"/>
            <a:ext cx="2194560" cy="2560320"/>
          </a:xfrm>
          <a:prstGeom prst="roundRect">
            <a:avLst>
              <a:gd name="adj" fmla="val 1250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7824" y="3401568"/>
            <a:ext cx="100584" cy="234086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341985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060704" y="3694176"/>
            <a:ext cx="1865376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Memoria vs Persistencia. Entidades y Atributos.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3182112" y="3291840"/>
            <a:ext cx="2194560" cy="25603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255264" y="3401568"/>
            <a:ext cx="100584" cy="234086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38144" y="341985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438144" y="3694176"/>
            <a:ext cx="1865376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Relaciones y Cardinalidad (1:1, 1:N, N:M).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559552" y="3291840"/>
            <a:ext cx="2194560" cy="25603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632704" y="3401568"/>
            <a:ext cx="100584" cy="234086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815584" y="341985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815584" y="3694176"/>
            <a:ext cx="1865376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Diseño y Diagramas (DER). Normalización.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7936992" y="3291840"/>
            <a:ext cx="2194560" cy="25603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010144" y="3401568"/>
            <a:ext cx="100584" cy="234086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193024" y="341985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193024" y="3694176"/>
            <a:ext cx="1865376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Implementación en Supabase (Postgres).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IA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Huella IA: El Agente Arquitecto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Colaboración Inteligente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Agente como apoyo en el modelado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Borradores de Esquemas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Pedir propuestas de tablas y atributos iniciales.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Generación de SQL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Traducir el diseño visual a código técnico para Supabase.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530352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53035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719072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920240" y="4462272"/>
            <a:ext cx="3355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Reglas de Negocio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920240" y="4754880"/>
            <a:ext cx="335584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IA no sabe cómo opera TU empresa. Valida cada relación.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530352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53035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355080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556248" y="4462272"/>
            <a:ext cx="3355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Ambigüedades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556248" y="4754880"/>
            <a:ext cx="335584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Revisa que los nombres sean claros y las PK sean únicas.</a:t>
            </a:r>
            <a:endParaRPr lang="en-US" sz="10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621792"/>
            <a:ext cx="1207008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6583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</a:t>
            </a:r>
            <a:endParaRPr lang="en-US" sz="1060" dirty="0"/>
          </a:p>
        </p:txBody>
      </p:sp>
      <p:sp>
        <p:nvSpPr>
          <p:cNvPr id="6" name="Shape 3"/>
          <p:cNvSpPr/>
          <p:nvPr/>
        </p:nvSpPr>
        <p:spPr>
          <a:xfrm>
            <a:off x="804672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46074" y="1115568"/>
            <a:ext cx="241402" cy="64373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27709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1956816"/>
            <a:ext cx="841248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la Memoria Volátil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la Persistencia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804672" y="3310128"/>
            <a:ext cx="7498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Entendiendo por qué el backend necesita una memoria estable para sostener el mundo real.</a:t>
            </a:r>
            <a:endParaRPr lang="en-US" sz="15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Memoria Volátil vs. Persistencia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1.1 Diferencia Operativa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¿Dónde vive el dato?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724912"/>
            <a:ext cx="109728" cy="31272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61872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Memoria Volátil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RAM / Variables</a:t>
            </a:r>
            <a:endParaRPr lang="en-US" sz="940" dirty="0"/>
          </a:p>
        </p:txBody>
      </p:sp>
      <p:sp>
        <p:nvSpPr>
          <p:cNvPr id="17" name="Shape 14"/>
          <p:cNvSpPr/>
          <p:nvPr/>
        </p:nvSpPr>
        <p:spPr>
          <a:xfrm>
            <a:off x="1261872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53312" y="3461004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99616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Rápida pero efímera.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261872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53312" y="3899916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499616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pierde al apagar/reiniciar.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1261872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353312" y="433882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99616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Ej: useState, listas en Python.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355080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64808" y="2724912"/>
            <a:ext cx="109728" cy="3127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665976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Persistencia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665976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Disco / Bases de Datos</a:t>
            </a:r>
            <a:endParaRPr lang="en-US" sz="940" dirty="0"/>
          </a:p>
        </p:txBody>
      </p:sp>
      <p:sp>
        <p:nvSpPr>
          <p:cNvPr id="30" name="Shape 27"/>
          <p:cNvSpPr/>
          <p:nvPr/>
        </p:nvSpPr>
        <p:spPr>
          <a:xfrm>
            <a:off x="6665976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57416" y="3461004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03720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Lenta pero estable.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665976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57416" y="3899916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903720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Sobrevive al paso del tiempo.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665976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757416" y="4338828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903720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Ej: PostgreSQL, Archivos.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892040" y="3474720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001768" y="3621024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4920" y="4041648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56632" y="3666744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vs</a:t>
            </a:r>
            <a:endParaRPr lang="en-US" sz="1060" dirty="0"/>
          </a:p>
        </p:txBody>
      </p:sp>
      <p:sp>
        <p:nvSpPr>
          <p:cNvPr id="43" name="Text 40"/>
          <p:cNvSpPr/>
          <p:nvPr/>
        </p:nvSpPr>
        <p:spPr>
          <a:xfrm>
            <a:off x="5020056" y="445312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durabilidad</a:t>
            </a:r>
            <a:endParaRPr lang="en-US" sz="720" dirty="0"/>
          </a:p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 dato</a:t>
            </a:r>
            <a:endParaRPr lang="en-US" sz="7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Entidad: El Sustantivo del Negocio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1.3 Modelando la realidad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entidad es un objeto relevante para el negocio que queremos representar.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3858768"/>
            <a:ext cx="2926080" cy="219456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96112" y="3986784"/>
            <a:ext cx="109728" cy="19385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0704" y="3968496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Cliente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60704" y="4315968"/>
            <a:ext cx="2578608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persona que compra.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04672" y="292608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👤</a:t>
            </a:r>
            <a:endParaRPr lang="en-US" sz="3200" dirty="0"/>
          </a:p>
        </p:txBody>
      </p:sp>
      <p:sp>
        <p:nvSpPr>
          <p:cNvPr id="17" name="Shape 14"/>
          <p:cNvSpPr/>
          <p:nvPr/>
        </p:nvSpPr>
        <p:spPr>
          <a:xfrm>
            <a:off x="3950208" y="3858768"/>
            <a:ext cx="2926080" cy="219456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041648" y="3986784"/>
            <a:ext cx="109728" cy="19385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206240" y="3968496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Producto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206240" y="4315968"/>
            <a:ext cx="2578608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ítem disponible para venta.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3950208" y="292608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📦</a:t>
            </a:r>
            <a:endParaRPr lang="en-US" sz="3200" dirty="0"/>
          </a:p>
        </p:txBody>
      </p:sp>
      <p:sp>
        <p:nvSpPr>
          <p:cNvPr id="22" name="Shape 19"/>
          <p:cNvSpPr/>
          <p:nvPr/>
        </p:nvSpPr>
        <p:spPr>
          <a:xfrm>
            <a:off x="7095744" y="3858768"/>
            <a:ext cx="2926080" cy="219456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187184" y="3986784"/>
            <a:ext cx="109728" cy="19385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351776" y="3968496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Pedido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7351776" y="4315968"/>
            <a:ext cx="2578608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transacción realizada.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095744" y="292608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🛒</a:t>
            </a:r>
            <a:endParaRPr lang="en-US" sz="3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Atributos: Describiendo la Entidad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1.3 ¿Qué datos guardamos?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Entidad: Producto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Primary Key (PK): Identidad Única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1.4 Sin ambigüedad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6459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6112" y="2157984"/>
            <a:ext cx="109728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139696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importancia de la Llave Primaria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60704" y="2487168"/>
            <a:ext cx="903427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distinguir una fila de otra aunque tengan datos parecidos. Evita confusiones y es la base de las relaciones.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4672" y="3858768"/>
            <a:ext cx="2926080" cy="18288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77824" y="3968496"/>
            <a:ext cx="100584" cy="160934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60704" y="398678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 Serial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1060704" y="4261104"/>
            <a:ext cx="259689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 2, 3... Automático.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3950208" y="3858768"/>
            <a:ext cx="2926080" cy="18288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023360" y="3968496"/>
            <a:ext cx="100584" cy="160934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206240" y="398678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UUID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206240" y="4261104"/>
            <a:ext cx="259689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Identificadores únicos universales.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7095744" y="3858768"/>
            <a:ext cx="2926080" cy="18288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168896" y="3968496"/>
            <a:ext cx="100584" cy="160934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351776" y="398678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Natural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7351776" y="4261104"/>
            <a:ext cx="259689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RUT, Email (si son estables).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Síntesis del Bloque 1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 pilares del Modelado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042416"/>
          </a:xfrm>
          <a:prstGeom prst="roundRect">
            <a:avLst>
              <a:gd name="adj" fmla="val 614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Pasamos de 'variables efímeras' a 'entidades identificables' listas para persistir.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5413248"/>
            <a:ext cx="9381744" cy="566928"/>
          </a:xfrm>
          <a:prstGeom prst="roundRect">
            <a:avLst>
              <a:gd name="adj" fmla="val 4839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7824" y="5522976"/>
            <a:ext cx="100584" cy="34747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0704" y="5541264"/>
            <a:ext cx="9052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 Bloque → Relaciones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621792"/>
            <a:ext cx="1207008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6583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</a:t>
            </a:r>
            <a:endParaRPr lang="en-US" sz="1060" dirty="0"/>
          </a:p>
        </p:txBody>
      </p:sp>
      <p:sp>
        <p:nvSpPr>
          <p:cNvPr id="6" name="Shape 3"/>
          <p:cNvSpPr/>
          <p:nvPr/>
        </p:nvSpPr>
        <p:spPr>
          <a:xfrm>
            <a:off x="804672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46074" y="1115568"/>
            <a:ext cx="241402" cy="64373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27709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1956816"/>
            <a:ext cx="841248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Relaciones y Cardinalidad: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Conectando el Mundo de los Datos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804672" y="3310128"/>
            <a:ext cx="7498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Cómo las entidades se vinculan técnicamente para representar procesos de negocio reales.</a:t>
            </a:r>
            <a:endParaRPr lang="en-US" sz="15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Los Datos no están aislados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2.1 Los verbos del sistema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042416"/>
          </a:xfrm>
          <a:prstGeom prst="roundRect">
            <a:avLst>
              <a:gd name="adj" fmla="val 614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entidad sin relaciones es un dato muerto. El Backend gestiona VÍNCULOS.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3493008"/>
            <a:ext cx="2926080" cy="219456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7824" y="3602736"/>
            <a:ext cx="100584" cy="19751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0704" y="362102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Usuario → Post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1060704" y="3895344"/>
            <a:ext cx="25968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usuario 'crea' o 'escribe' contenido.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950208" y="3493008"/>
            <a:ext cx="2926080" cy="219456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23360" y="3602736"/>
            <a:ext cx="100584" cy="19751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206240" y="362102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Pedido → Producto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4206240" y="3895344"/>
            <a:ext cx="25968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pedido 'contiene' uno o más ítems.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7095744" y="3493008"/>
            <a:ext cx="2926080" cy="219456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68896" y="3602736"/>
            <a:ext cx="100584" cy="19751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51776" y="362102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Estudiante → Curso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7351776" y="3895344"/>
            <a:ext cx="25968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alumno 'se inscribe' en una materia.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Llave Foránea (FK): El Embajador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2.2 Creando el puente técnico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Key vs Foreign Key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724912"/>
            <a:ext cx="109728" cy="31272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61872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Primary Key (PK)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Identidad Interna</a:t>
            </a:r>
            <a:endParaRPr lang="en-US" sz="940" dirty="0"/>
          </a:p>
        </p:txBody>
      </p:sp>
      <p:sp>
        <p:nvSpPr>
          <p:cNvPr id="17" name="Shape 14"/>
          <p:cNvSpPr/>
          <p:nvPr/>
        </p:nvSpPr>
        <p:spPr>
          <a:xfrm>
            <a:off x="1261872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53312" y="3461004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99616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Define quién soy YO.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261872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53312" y="3899916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499616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única en mi tabla.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1261872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353312" y="433882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99616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Nunca se repite.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355080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64808" y="2724912"/>
            <a:ext cx="109728" cy="31272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665976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Foreign Key (FK)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665976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Vínculo Externo</a:t>
            </a:r>
            <a:endParaRPr lang="en-US" sz="940" dirty="0"/>
          </a:p>
        </p:txBody>
      </p:sp>
      <p:sp>
        <p:nvSpPr>
          <p:cNvPr id="30" name="Shape 27"/>
          <p:cNvSpPr/>
          <p:nvPr/>
        </p:nvSpPr>
        <p:spPr>
          <a:xfrm>
            <a:off x="6665976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57416" y="3461004"/>
            <a:ext cx="82296" cy="8229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03720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Dice a quién PERTENEZCO.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665976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57416" y="3899916"/>
            <a:ext cx="82296" cy="8229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903720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la PK de otra tabla.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665976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757416" y="4338828"/>
            <a:ext cx="82296" cy="8229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903720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Puede repetirse.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892040" y="3474720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001768" y="3621024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4920" y="4041648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56632" y="3666744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→</a:t>
            </a:r>
            <a:endParaRPr lang="en-US" sz="1060" dirty="0"/>
          </a:p>
        </p:txBody>
      </p:sp>
      <p:sp>
        <p:nvSpPr>
          <p:cNvPr id="43" name="Text 40"/>
          <p:cNvSpPr/>
          <p:nvPr/>
        </p:nvSpPr>
        <p:spPr>
          <a:xfrm>
            <a:off x="5020056" y="445312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relación</a:t>
            </a:r>
            <a:endParaRPr lang="en-US" sz="7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Visualizando la Conexión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2.2 Mapeo de Tablas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2743200" cy="4151376"/>
          </a:xfrm>
          <a:prstGeom prst="roundRect">
            <a:avLst>
              <a:gd name="adj" fmla="val 1000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7824" y="2139696"/>
            <a:ext cx="100584" cy="393192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157984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Anatomía del Vínculo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60704" y="2432304"/>
            <a:ext cx="2414016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La PK de 'users' identifica al dueño.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La FK en 'orders' apunta a ese ID.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La relación permite saber qué usuario hizo qué compra sin repetir nombres.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840480" y="2029968"/>
            <a:ext cx="3108960" cy="1170432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840480" y="2029968"/>
            <a:ext cx="310896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160520" y="2423160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623560" y="242316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uuid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3931920" y="2633472"/>
            <a:ext cx="292608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2660904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username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623560" y="2660904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3931920" y="2871216"/>
            <a:ext cx="292608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60520" y="2898648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623560" y="2898648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046720" y="2029968"/>
            <a:ext cx="2743200" cy="1170432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046720" y="2029968"/>
            <a:ext cx="274320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8366760" y="2423160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9464040" y="242316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uuid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8138160" y="2633472"/>
            <a:ext cx="256032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366760" y="2660904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user_id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9464040" y="2660904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uuid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8138160" y="2871216"/>
            <a:ext cx="256032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366760" y="2898648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9464040" y="2898648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numeric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6949440" y="2743200"/>
            <a:ext cx="1097280" cy="9144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086600" y="265176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269480" y="265176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H="1" flipV="1">
            <a:off x="7790688" y="2633472"/>
            <a:ext cx="256032" cy="10972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flipH="1">
            <a:off x="7790688" y="2743200"/>
            <a:ext cx="256032" cy="10972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607808" y="265176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040880" y="2377440"/>
            <a:ext cx="914400" cy="1828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Cardinalidad: ¿Cuántos con cuántos?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2.3 Reglas de Negocio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Define el número de elementos que pueden participar en una relación.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4041648"/>
            <a:ext cx="2926080" cy="201168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96112" y="4169664"/>
            <a:ext cx="109728" cy="17556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0704" y="4151376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 : 1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60704" y="4498848"/>
            <a:ext cx="257860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registro para un solo registro.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04672" y="3127248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↔️</a:t>
            </a:r>
            <a:endParaRPr lang="en-US" sz="3200" dirty="0"/>
          </a:p>
        </p:txBody>
      </p:sp>
      <p:sp>
        <p:nvSpPr>
          <p:cNvPr id="17" name="Shape 14"/>
          <p:cNvSpPr/>
          <p:nvPr/>
        </p:nvSpPr>
        <p:spPr>
          <a:xfrm>
            <a:off x="3950208" y="4041648"/>
            <a:ext cx="2926080" cy="201168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041648" y="4169664"/>
            <a:ext cx="109728" cy="17556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206240" y="4151376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 : N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206240" y="4498848"/>
            <a:ext cx="257860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registro para muchos del otro lado.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3950208" y="3127248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🌿</a:t>
            </a:r>
            <a:endParaRPr lang="en-US" sz="3200" dirty="0"/>
          </a:p>
        </p:txBody>
      </p:sp>
      <p:sp>
        <p:nvSpPr>
          <p:cNvPr id="22" name="Shape 19"/>
          <p:cNvSpPr/>
          <p:nvPr/>
        </p:nvSpPr>
        <p:spPr>
          <a:xfrm>
            <a:off x="7095744" y="4041648"/>
            <a:ext cx="2926080" cy="201168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187184" y="4169664"/>
            <a:ext cx="109728" cy="17556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351776" y="4151376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 : M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7351776" y="4498848"/>
            <a:ext cx="257860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Muchos para muchos (requiere tabla extra).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7095744" y="3127248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🕸️</a:t>
            </a:r>
            <a:endParaRPr lang="en-US" sz="3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Relación 1:N: La Reina de las Relaciones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2.3 Autor → Libros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749808"/>
          </a:xfrm>
          <a:prstGeom prst="roundRect">
            <a:avLst>
              <a:gd name="adj" fmla="val 3659"/>
            </a:avLst>
          </a:prstGeom>
          <a:solidFill>
            <a:srgbClr val="EDE6DA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7824" y="2139696"/>
            <a:ext cx="100584" cy="53035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157984"/>
            <a:ext cx="9052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Regla Técnica de Oro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060704" y="2432304"/>
            <a:ext cx="9052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una relación 1:N, la Foreign Key (FK) siempre viaja hacia la tabla del lado del 'Muchos'.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04672" y="3127248"/>
            <a:ext cx="2743200" cy="932688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04672" y="3127248"/>
            <a:ext cx="274320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autores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124712" y="3520440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221992" y="352044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896112" y="3730752"/>
            <a:ext cx="256032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124712" y="3758184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nombre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2221992" y="3758184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956048" y="3127248"/>
            <a:ext cx="2926080" cy="1170432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956048" y="3127248"/>
            <a:ext cx="292608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libros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276088" y="352044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556248" y="352044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047488" y="3730752"/>
            <a:ext cx="274320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276088" y="3758184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titulo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556248" y="3758184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5047488" y="3968496"/>
            <a:ext cx="274320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276088" y="3995928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autor_id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6556248" y="3995928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3547872" y="3840480"/>
            <a:ext cx="1408176" cy="9144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3685032" y="374904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867912" y="374904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H="1" flipV="1">
            <a:off x="4700016" y="3730752"/>
            <a:ext cx="256032" cy="10972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flipH="1">
            <a:off x="4700016" y="3840480"/>
            <a:ext cx="256032" cy="10972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517136" y="374904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3794760" y="3474720"/>
            <a:ext cx="914400" cy="1828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escribe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8229600" y="3127248"/>
            <a:ext cx="1956816" cy="2560320"/>
          </a:xfrm>
          <a:prstGeom prst="roundRect">
            <a:avLst>
              <a:gd name="adj" fmla="val 140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302752" y="3236976"/>
            <a:ext cx="100584" cy="234086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485632" y="3255264"/>
            <a:ext cx="1627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Análisis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8485632" y="3529584"/>
            <a:ext cx="1627632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autor puede escribir 100 libros, pero cada libro tiene un único autor principal en este modelo.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Relación N:M: El Desafío de la Multiplicidad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2.3 Estudiantes ↔ Cursos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modelo relacional prohíbe el N:M directo para evitar redundancia infinita. La 'Tabla Pivot' rompe el ciclo en dos relaciones 1:N.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04672" y="3127248"/>
            <a:ext cx="2743200" cy="932688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04672" y="3127248"/>
            <a:ext cx="274320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estudiantes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24712" y="3520440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221992" y="352044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uuid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896112" y="3730752"/>
            <a:ext cx="256032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124712" y="3758184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nombre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2221992" y="3758184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572000" y="3127248"/>
            <a:ext cx="2743200" cy="932688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72000" y="3127248"/>
            <a:ext cx="274320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inscripciones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892040" y="3520440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estudiante_id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989320" y="352044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uuid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663440" y="3730752"/>
            <a:ext cx="256032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892040" y="3758184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curso_id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989320" y="3758184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uuid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8339328" y="3127248"/>
            <a:ext cx="2743200" cy="932688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339328" y="3127248"/>
            <a:ext cx="274320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cursos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8659368" y="3520440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9756648" y="352044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uuid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8430768" y="3730752"/>
            <a:ext cx="256032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659368" y="3758184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titulo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9756648" y="3758184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3547872" y="3840480"/>
            <a:ext cx="1024128" cy="9144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685032" y="374904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867912" y="374904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H="1" flipV="1">
            <a:off x="4315968" y="3730752"/>
            <a:ext cx="256032" cy="10972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H="1">
            <a:off x="4315968" y="3840480"/>
            <a:ext cx="256032" cy="10972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133088" y="374904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3602736" y="3474720"/>
            <a:ext cx="914400" cy="1828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inscribe</a:t>
            </a:r>
            <a:endParaRPr lang="en-US" sz="700" dirty="0"/>
          </a:p>
        </p:txBody>
      </p:sp>
      <p:sp>
        <p:nvSpPr>
          <p:cNvPr id="40" name="Shape 37"/>
          <p:cNvSpPr/>
          <p:nvPr/>
        </p:nvSpPr>
        <p:spPr>
          <a:xfrm flipH="1">
            <a:off x="7315200" y="3840480"/>
            <a:ext cx="1024128" cy="9144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202168" y="374904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019288" y="374904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V="1">
            <a:off x="7315200" y="3730752"/>
            <a:ext cx="256032" cy="10972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315200" y="3840480"/>
            <a:ext cx="256032" cy="10972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754112" y="374904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7370064" y="3474720"/>
            <a:ext cx="914400" cy="1828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contiene</a:t>
            </a:r>
            <a:endParaRPr lang="en-US" sz="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Integridad Referencial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2.4 El contrato de seguridad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Reglas de Borrado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78608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42416" y="2688336"/>
            <a:ext cx="91440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88720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88720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RESTRICT</a:t>
            </a:r>
            <a:endParaRPr lang="en-US" sz="880" dirty="0"/>
          </a:p>
        </p:txBody>
      </p:sp>
      <p:sp>
        <p:nvSpPr>
          <p:cNvPr id="17" name="Text 14"/>
          <p:cNvSpPr/>
          <p:nvPr/>
        </p:nvSpPr>
        <p:spPr>
          <a:xfrm>
            <a:off x="1188720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Borrar al padre con hijos.</a:t>
            </a:r>
            <a:endParaRPr lang="en-US" sz="1380" dirty="0"/>
          </a:p>
        </p:txBody>
      </p:sp>
      <p:sp>
        <p:nvSpPr>
          <p:cNvPr id="18" name="Text 15"/>
          <p:cNvSpPr/>
          <p:nvPr/>
        </p:nvSpPr>
        <p:spPr>
          <a:xfrm>
            <a:off x="1188720" y="3383280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DB lo prohíbe para evitar huérfanos.</a:t>
            </a:r>
            <a:endParaRPr lang="en-US" sz="1040" dirty="0"/>
          </a:p>
        </p:txBody>
      </p:sp>
      <p:sp>
        <p:nvSpPr>
          <p:cNvPr id="19" name="Shape 16"/>
          <p:cNvSpPr/>
          <p:nvPr/>
        </p:nvSpPr>
        <p:spPr>
          <a:xfrm>
            <a:off x="5596128" y="2578608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87568" y="2688336"/>
            <a:ext cx="91440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833872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833872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CASCADE</a:t>
            </a:r>
            <a:endParaRPr lang="en-US" sz="880" dirty="0"/>
          </a:p>
        </p:txBody>
      </p:sp>
      <p:sp>
        <p:nvSpPr>
          <p:cNvPr id="23" name="Text 20"/>
          <p:cNvSpPr/>
          <p:nvPr/>
        </p:nvSpPr>
        <p:spPr>
          <a:xfrm>
            <a:off x="5833872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Limpieza automática.</a:t>
            </a:r>
            <a:endParaRPr lang="en-US" sz="1380" dirty="0"/>
          </a:p>
        </p:txBody>
      </p:sp>
      <p:sp>
        <p:nvSpPr>
          <p:cNvPr id="24" name="Text 21"/>
          <p:cNvSpPr/>
          <p:nvPr/>
        </p:nvSpPr>
        <p:spPr>
          <a:xfrm>
            <a:off x="5833872" y="3383280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borras al usuario, se borran todos sus posts.</a:t>
            </a:r>
            <a:endParaRPr lang="en-US" sz="1040" dirty="0"/>
          </a:p>
        </p:txBody>
      </p:sp>
      <p:sp>
        <p:nvSpPr>
          <p:cNvPr id="25" name="Shape 22"/>
          <p:cNvSpPr/>
          <p:nvPr/>
        </p:nvSpPr>
        <p:spPr>
          <a:xfrm>
            <a:off x="950976" y="4370832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42416" y="4480560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188720" y="4498848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188720" y="4544568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 NULL</a:t>
            </a:r>
            <a:endParaRPr lang="en-US" sz="880" dirty="0"/>
          </a:p>
        </p:txBody>
      </p:sp>
      <p:sp>
        <p:nvSpPr>
          <p:cNvPr id="29" name="Text 26"/>
          <p:cNvSpPr/>
          <p:nvPr/>
        </p:nvSpPr>
        <p:spPr>
          <a:xfrm>
            <a:off x="1188720" y="4791456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Mantener el dato hijo.</a:t>
            </a:r>
            <a:endParaRPr lang="en-US" sz="1380" dirty="0"/>
          </a:p>
        </p:txBody>
      </p:sp>
      <p:sp>
        <p:nvSpPr>
          <p:cNvPr id="30" name="Text 27"/>
          <p:cNvSpPr/>
          <p:nvPr/>
        </p:nvSpPr>
        <p:spPr>
          <a:xfrm>
            <a:off x="1188720" y="5175504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borra el padre, pero el hijo queda sin dueño.</a:t>
            </a:r>
            <a:endParaRPr lang="en-US" sz="1040" dirty="0"/>
          </a:p>
        </p:txBody>
      </p:sp>
      <p:sp>
        <p:nvSpPr>
          <p:cNvPr id="31" name="Shape 28"/>
          <p:cNvSpPr/>
          <p:nvPr/>
        </p:nvSpPr>
        <p:spPr>
          <a:xfrm>
            <a:off x="5596128" y="4370832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87568" y="4480560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833872" y="4498848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833872" y="4544568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ACTION</a:t>
            </a:r>
            <a:endParaRPr lang="en-US" sz="880" dirty="0"/>
          </a:p>
        </p:txBody>
      </p:sp>
      <p:sp>
        <p:nvSpPr>
          <p:cNvPr id="35" name="Text 32"/>
          <p:cNvSpPr/>
          <p:nvPr/>
        </p:nvSpPr>
        <p:spPr>
          <a:xfrm>
            <a:off x="5833872" y="4791456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Ignorar el vínculo.</a:t>
            </a:r>
            <a:endParaRPr lang="en-US" sz="1380" dirty="0"/>
          </a:p>
        </p:txBody>
      </p:sp>
      <p:sp>
        <p:nvSpPr>
          <p:cNvPr id="36" name="Text 33"/>
          <p:cNvSpPr/>
          <p:nvPr/>
        </p:nvSpPr>
        <p:spPr>
          <a:xfrm>
            <a:off x="5833872" y="5175504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Similar a Restrict, espera al final de la transacción.</a:t>
            </a:r>
            <a:endParaRPr lang="en-US" sz="104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IA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IA en el Diseño de Relaciones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Huella Metodológica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Prompting para Cardinalidad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OK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Definir Dominio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Dale el contexto del negocio antes de pedir la relación.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OK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Validar Lógica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Pregúntale: '¿Por qué elegiste 1:N y no N:M para este caso?'.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572768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773936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Confianza Ciega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773936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IA a veces olvida las tablas intermedias. Tú debes exigirlas.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Ambigüedad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aceptes 'se relaciona con'. Exige cardinalidad específica.</a:t>
            </a:r>
            <a:endParaRPr lang="en-US" sz="106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E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402336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438912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PREGUNTAS GUÍA — BLOQUE 2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04672" y="1060704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1463040" y="1024128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decimos que la Foreign Key es el 'Embajador' de otra tabla?</a:t>
            </a:r>
            <a:endParaRPr lang="en-US" sz="1560" dirty="0"/>
          </a:p>
        </p:txBody>
      </p:sp>
      <p:sp>
        <p:nvSpPr>
          <p:cNvPr id="8" name="Shape 5"/>
          <p:cNvSpPr/>
          <p:nvPr/>
        </p:nvSpPr>
        <p:spPr>
          <a:xfrm>
            <a:off x="804672" y="2596896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2852928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1463040" y="2816352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¿En qué lado de la relación (1 o N) debe ubicarse siempre la llave foránea?</a:t>
            </a:r>
            <a:endParaRPr lang="en-US" sz="1560" dirty="0"/>
          </a:p>
        </p:txBody>
      </p:sp>
      <p:sp>
        <p:nvSpPr>
          <p:cNvPr id="11" name="Shape 8"/>
          <p:cNvSpPr/>
          <p:nvPr/>
        </p:nvSpPr>
        <p:spPr>
          <a:xfrm>
            <a:off x="804672" y="4389120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4672" y="4645152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1463040" y="4608576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problema evitamos al usar la regla de integridad 'RESTRICT'?</a:t>
            </a:r>
            <a:endParaRPr lang="en-US" sz="156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Síntesis del Bloque 2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poder de los vínculos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042416"/>
          </a:xfrm>
          <a:prstGeom prst="roundRect">
            <a:avLst>
              <a:gd name="adj" fmla="val 614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Las relaciones definen cómo fluye la información y cómo se protege la integridad del sistema.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7824" y="3419856"/>
            <a:ext cx="100584" cy="16642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0704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Foreign Key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60704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mecanismo técnico para conectar una fila con otra tabla.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950208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23360" y="3419856"/>
            <a:ext cx="100584" cy="16642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206240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Cardinalidad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206240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regla de negocio que define cuántos se vinculan con cuántos.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7095744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68896" y="3419856"/>
            <a:ext cx="100584" cy="16642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51776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Integridad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7351776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reglas (Cascade/Restrict) que aseguran que no haya datos huérfanos.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04672" y="5413248"/>
            <a:ext cx="9381744" cy="566928"/>
          </a:xfrm>
          <a:prstGeom prst="roundRect">
            <a:avLst>
              <a:gd name="adj" fmla="val 4839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77824" y="5522976"/>
            <a:ext cx="100584" cy="34747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60704" y="5541264"/>
            <a:ext cx="9052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 Bloque → Diagramas DER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621792"/>
            <a:ext cx="1207008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6583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</a:t>
            </a:r>
            <a:endParaRPr lang="en-US" sz="1060" dirty="0"/>
          </a:p>
        </p:txBody>
      </p:sp>
      <p:sp>
        <p:nvSpPr>
          <p:cNvPr id="6" name="Shape 3"/>
          <p:cNvSpPr/>
          <p:nvPr/>
        </p:nvSpPr>
        <p:spPr>
          <a:xfrm>
            <a:off x="804672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46074" y="1115568"/>
            <a:ext cx="241402" cy="64373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27709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1956816"/>
            <a:ext cx="841248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Diseño y Diagramas: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Mapa de la Información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804672" y="3310128"/>
            <a:ext cx="7498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la idea al modelo físico: Normalización y notación profesional DER.</a:t>
            </a:r>
            <a:endParaRPr lang="en-US" sz="152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¿Por qué diseñar antes de programar?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3.1 El costo del error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Diagrama vs. Producción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724912"/>
            <a:ext cx="109728" cy="31272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61872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Error en DER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de Diseño</a:t>
            </a:r>
            <a:endParaRPr lang="en-US" sz="940" dirty="0"/>
          </a:p>
        </p:txBody>
      </p:sp>
      <p:sp>
        <p:nvSpPr>
          <p:cNvPr id="17" name="Shape 14"/>
          <p:cNvSpPr/>
          <p:nvPr/>
        </p:nvSpPr>
        <p:spPr>
          <a:xfrm>
            <a:off x="1261872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53312" y="3461004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99616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arregla con 1 clic.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261872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53312" y="3899916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499616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Costo: 5 segundos.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1261872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353312" y="433882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99616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Impacto: Cero.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355080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64808" y="2724912"/>
            <a:ext cx="109728" cy="3127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665976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Error en DB Viva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665976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de Producción</a:t>
            </a:r>
            <a:endParaRPr lang="en-US" sz="940" dirty="0"/>
          </a:p>
        </p:txBody>
      </p:sp>
      <p:sp>
        <p:nvSpPr>
          <p:cNvPr id="30" name="Shape 27"/>
          <p:cNvSpPr/>
          <p:nvPr/>
        </p:nvSpPr>
        <p:spPr>
          <a:xfrm>
            <a:off x="6665976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57416" y="3461004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03720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Migraciones complejas.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665976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57416" y="3899916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903720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Costo: Miles de dólares.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665976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757416" y="4338828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903720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Riesgo: Pérdida de datos.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892040" y="3474720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001768" y="3621024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4920" y="4041648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56632" y="3666744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vs</a:t>
            </a:r>
            <a:endParaRPr lang="en-US" sz="1060" dirty="0"/>
          </a:p>
        </p:txBody>
      </p:sp>
      <p:sp>
        <p:nvSpPr>
          <p:cNvPr id="43" name="Text 40"/>
          <p:cNvSpPr/>
          <p:nvPr/>
        </p:nvSpPr>
        <p:spPr>
          <a:xfrm>
            <a:off x="5020056" y="445312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deuda</a:t>
            </a:r>
            <a:endParaRPr lang="en-US" sz="720" dirty="0"/>
          </a:p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técnica</a:t>
            </a:r>
            <a:endParaRPr lang="en-US" sz="72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Notación Crow's Foot (Pata de Gallo)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3.2 Simbología Estándar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1828800"/>
            <a:ext cx="9381744" cy="566928"/>
          </a:xfrm>
          <a:prstGeom prst="roundRect">
            <a:avLst>
              <a:gd name="adj" fmla="val 645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1993392"/>
            <a:ext cx="8979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Simbología universal para representar la cardinalidad y obligatoriedad en diagramas DER.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04672" y="29260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Uno y solo Uno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3200400" y="2926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Relación obligatoria y única. Un RUT pertenece a una persona.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315200" y="3108960"/>
            <a:ext cx="2286000" cy="9144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452360" y="301752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35240" y="301752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464040" y="301752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281160" y="301752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04672" y="43891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Uno a Muchos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3200400" y="4389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registro origen tiene múltiples destinos. Un Autor, muchos Libros.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315200" y="4572000"/>
            <a:ext cx="2286000" cy="9144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52360" y="448056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35240" y="448056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H="1" flipV="1">
            <a:off x="9345168" y="4462272"/>
            <a:ext cx="256032" cy="10972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H="1">
            <a:off x="9345168" y="4572000"/>
            <a:ext cx="256032" cy="10972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162288" y="448056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Del Diagrama al Código SQL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3.2 Implementación Técnica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1828800"/>
            <a:ext cx="2560320" cy="932688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4672" y="1828800"/>
            <a:ext cx="256032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categories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24712" y="2221992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039112" y="222199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896112" y="2432304"/>
            <a:ext cx="237744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24712" y="2459736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2039112" y="245973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754880" y="1828800"/>
            <a:ext cx="2926080" cy="932688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754880" y="1828800"/>
            <a:ext cx="292608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products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074920" y="222199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355080" y="222199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846320" y="2432304"/>
            <a:ext cx="274320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074920" y="245973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cat_id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355080" y="245973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3364992" y="2176272"/>
            <a:ext cx="1389888" cy="9144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502152" y="2084832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685032" y="2084832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H="1" flipV="1">
            <a:off x="4498848" y="2066544"/>
            <a:ext cx="256032" cy="10972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H="1">
            <a:off x="4498848" y="2176272"/>
            <a:ext cx="256032" cy="10972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315968" y="2084832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602736" y="1828800"/>
            <a:ext cx="914400" cy="1828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contiene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804672" y="3474720"/>
            <a:ext cx="9381744" cy="3017520"/>
          </a:xfrm>
          <a:prstGeom prst="roundRect">
            <a:avLst>
              <a:gd name="adj" fmla="val 121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932688" y="3584448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042416" y="3657600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PostgreSQL Implementation</a:t>
            </a:r>
            <a:endParaRPr lang="en-US" sz="1000" dirty="0"/>
          </a:p>
        </p:txBody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4041648"/>
            <a:ext cx="8961120" cy="2267712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1FN: Primera Forma Normal (Atomicidad)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3.3 Limpieza de datos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Regla: Un solo dato por celda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78608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42416" y="2688336"/>
            <a:ext cx="91440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88720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88720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</a:t>
            </a:r>
            <a:endParaRPr lang="en-US" sz="880" dirty="0"/>
          </a:p>
        </p:txBody>
      </p:sp>
      <p:sp>
        <p:nvSpPr>
          <p:cNvPr id="17" name="Text 14"/>
          <p:cNvSpPr/>
          <p:nvPr/>
        </p:nvSpPr>
        <p:spPr>
          <a:xfrm>
            <a:off x="1188720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Columna 'Telefonos': '9123, 8442'</a:t>
            </a:r>
            <a:endParaRPr lang="en-US" sz="1380" dirty="0"/>
          </a:p>
        </p:txBody>
      </p:sp>
      <p:sp>
        <p:nvSpPr>
          <p:cNvPr id="18" name="Text 15"/>
          <p:cNvSpPr/>
          <p:nvPr/>
        </p:nvSpPr>
        <p:spPr>
          <a:xfrm>
            <a:off x="1188720" y="3383280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se pueden hacer búsquedas eficientes.</a:t>
            </a:r>
            <a:endParaRPr lang="en-US" sz="1040" dirty="0"/>
          </a:p>
        </p:txBody>
      </p:sp>
      <p:sp>
        <p:nvSpPr>
          <p:cNvPr id="19" name="Shape 16"/>
          <p:cNvSpPr/>
          <p:nvPr/>
        </p:nvSpPr>
        <p:spPr>
          <a:xfrm>
            <a:off x="5596128" y="2578608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87568" y="2688336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833872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833872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1FN</a:t>
            </a:r>
            <a:endParaRPr lang="en-US" sz="880" dirty="0"/>
          </a:p>
        </p:txBody>
      </p:sp>
      <p:sp>
        <p:nvSpPr>
          <p:cNvPr id="23" name="Text 20"/>
          <p:cNvSpPr/>
          <p:nvPr/>
        </p:nvSpPr>
        <p:spPr>
          <a:xfrm>
            <a:off x="5833872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Separar en filas o tablas.</a:t>
            </a:r>
            <a:endParaRPr lang="en-US" sz="1380" dirty="0"/>
          </a:p>
        </p:txBody>
      </p:sp>
      <p:sp>
        <p:nvSpPr>
          <p:cNvPr id="24" name="Text 21"/>
          <p:cNvSpPr/>
          <p:nvPr/>
        </p:nvSpPr>
        <p:spPr>
          <a:xfrm>
            <a:off x="5833872" y="3383280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teléfono es un registro único atómico.</a:t>
            </a:r>
            <a:endParaRPr lang="en-US" sz="1040" dirty="0"/>
          </a:p>
        </p:txBody>
      </p:sp>
      <p:sp>
        <p:nvSpPr>
          <p:cNvPr id="25" name="Shape 22"/>
          <p:cNvSpPr/>
          <p:nvPr/>
        </p:nvSpPr>
        <p:spPr>
          <a:xfrm>
            <a:off x="950976" y="4370832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42416" y="4480560"/>
            <a:ext cx="91440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188720" y="4498848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188720" y="4544568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</a:t>
            </a:r>
            <a:endParaRPr lang="en-US" sz="880" dirty="0"/>
          </a:p>
        </p:txBody>
      </p:sp>
      <p:sp>
        <p:nvSpPr>
          <p:cNvPr id="29" name="Text 26"/>
          <p:cNvSpPr/>
          <p:nvPr/>
        </p:nvSpPr>
        <p:spPr>
          <a:xfrm>
            <a:off x="1188720" y="4791456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Columna 'Direccion' completa.</a:t>
            </a:r>
            <a:endParaRPr lang="en-US" sz="1380" dirty="0"/>
          </a:p>
        </p:txBody>
      </p:sp>
      <p:sp>
        <p:nvSpPr>
          <p:cNvPr id="30" name="Text 27"/>
          <p:cNvSpPr/>
          <p:nvPr/>
        </p:nvSpPr>
        <p:spPr>
          <a:xfrm>
            <a:off x="1188720" y="5175504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Dificulta filtrar por ciudad o comuna.</a:t>
            </a:r>
            <a:endParaRPr lang="en-US" sz="1040" dirty="0"/>
          </a:p>
        </p:txBody>
      </p:sp>
      <p:sp>
        <p:nvSpPr>
          <p:cNvPr id="31" name="Shape 28"/>
          <p:cNvSpPr/>
          <p:nvPr/>
        </p:nvSpPr>
        <p:spPr>
          <a:xfrm>
            <a:off x="5596128" y="4370832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87568" y="4480560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833872" y="4498848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833872" y="4544568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1FN</a:t>
            </a:r>
            <a:endParaRPr lang="en-US" sz="880" dirty="0"/>
          </a:p>
        </p:txBody>
      </p:sp>
      <p:sp>
        <p:nvSpPr>
          <p:cNvPr id="35" name="Text 32"/>
          <p:cNvSpPr/>
          <p:nvPr/>
        </p:nvSpPr>
        <p:spPr>
          <a:xfrm>
            <a:off x="5833872" y="4791456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Campos separados.</a:t>
            </a:r>
            <a:endParaRPr lang="en-US" sz="1380" dirty="0"/>
          </a:p>
        </p:txBody>
      </p:sp>
      <p:sp>
        <p:nvSpPr>
          <p:cNvPr id="36" name="Text 33"/>
          <p:cNvSpPr/>
          <p:nvPr/>
        </p:nvSpPr>
        <p:spPr>
          <a:xfrm>
            <a:off x="5833872" y="5175504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Calle, Número, Ciudad, Región.</a:t>
            </a:r>
            <a:endParaRPr lang="en-US" sz="104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Teoría de la 1FN: El Principio de Atomicidad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Fundamentos Relacionales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1828800"/>
            <a:ext cx="9381744" cy="16459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6112" y="1956816"/>
            <a:ext cx="109728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1938528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Definición Formal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60704" y="2286000"/>
            <a:ext cx="903427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relación está en 1FN si y solo si todos los dominios de sus atributos contienen valores atómicos (indivisibles) y no existen 'grupos repetitivos' (colecciones o listas) dentro de una misma tupla.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4672" y="3657600"/>
            <a:ext cx="9381744" cy="256032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32688" y="378561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42416" y="3858768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es obligatoria?</a:t>
            </a:r>
            <a:endParaRPr lang="en-US" sz="980" dirty="0"/>
          </a:p>
        </p:txBody>
      </p:sp>
      <p:sp>
        <p:nvSpPr>
          <p:cNvPr id="17" name="Shape 14"/>
          <p:cNvSpPr/>
          <p:nvPr/>
        </p:nvSpPr>
        <p:spPr>
          <a:xfrm>
            <a:off x="950976" y="4169664"/>
            <a:ext cx="4453128" cy="813816"/>
          </a:xfrm>
          <a:prstGeom prst="roundRect">
            <a:avLst>
              <a:gd name="adj" fmla="val 4494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60704" y="4297680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60704" y="4343400"/>
            <a:ext cx="47548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QUERIES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1664208" y="4297680"/>
            <a:ext cx="73152" cy="55778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865376" y="4315968"/>
            <a:ext cx="3410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Predictibilidad</a:t>
            </a:r>
            <a:endParaRPr lang="en-US" sz="1360" dirty="0"/>
          </a:p>
        </p:txBody>
      </p:sp>
      <p:sp>
        <p:nvSpPr>
          <p:cNvPr id="22" name="Text 19"/>
          <p:cNvSpPr/>
          <p:nvPr/>
        </p:nvSpPr>
        <p:spPr>
          <a:xfrm>
            <a:off x="1865376" y="4608576"/>
            <a:ext cx="3410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motor SQL puede indexar y buscar valores exactos.</a:t>
            </a:r>
            <a:endParaRPr lang="en-US" sz="1060" dirty="0"/>
          </a:p>
        </p:txBody>
      </p:sp>
      <p:sp>
        <p:nvSpPr>
          <p:cNvPr id="23" name="Shape 20"/>
          <p:cNvSpPr/>
          <p:nvPr/>
        </p:nvSpPr>
        <p:spPr>
          <a:xfrm>
            <a:off x="5586984" y="4169664"/>
            <a:ext cx="4453128" cy="813816"/>
          </a:xfrm>
          <a:prstGeom prst="roundRect">
            <a:avLst>
              <a:gd name="adj" fmla="val 4494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696712" y="429768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696712" y="434340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</a:t>
            </a:r>
            <a:endParaRPr lang="en-US" sz="780" dirty="0"/>
          </a:p>
        </p:txBody>
      </p:sp>
      <p:sp>
        <p:nvSpPr>
          <p:cNvPr id="26" name="Shape 23"/>
          <p:cNvSpPr/>
          <p:nvPr/>
        </p:nvSpPr>
        <p:spPr>
          <a:xfrm>
            <a:off x="6208776" y="4297680"/>
            <a:ext cx="73152" cy="55778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09944" y="4315968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Integridad</a:t>
            </a:r>
            <a:endParaRPr lang="en-US" sz="1360" dirty="0"/>
          </a:p>
        </p:txBody>
      </p:sp>
      <p:sp>
        <p:nvSpPr>
          <p:cNvPr id="28" name="Text 25"/>
          <p:cNvSpPr/>
          <p:nvPr/>
        </p:nvSpPr>
        <p:spPr>
          <a:xfrm>
            <a:off x="6409944" y="4608576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llaves foráneas solo funcionan con valores únicos, no con listas.</a:t>
            </a:r>
            <a:endParaRPr lang="en-US" sz="1060" dirty="0"/>
          </a:p>
        </p:txBody>
      </p:sp>
      <p:sp>
        <p:nvSpPr>
          <p:cNvPr id="29" name="Shape 26"/>
          <p:cNvSpPr/>
          <p:nvPr/>
        </p:nvSpPr>
        <p:spPr>
          <a:xfrm>
            <a:off x="950976" y="5148072"/>
            <a:ext cx="4453128" cy="813816"/>
          </a:xfrm>
          <a:prstGeom prst="roundRect">
            <a:avLst>
              <a:gd name="adj" fmla="val 4494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60704" y="527608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060704" y="532180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</a:t>
            </a:r>
            <a:endParaRPr lang="en-US" sz="780" dirty="0"/>
          </a:p>
        </p:txBody>
      </p:sp>
      <p:sp>
        <p:nvSpPr>
          <p:cNvPr id="32" name="Shape 29"/>
          <p:cNvSpPr/>
          <p:nvPr/>
        </p:nvSpPr>
        <p:spPr>
          <a:xfrm>
            <a:off x="1572768" y="5276088"/>
            <a:ext cx="73152" cy="55778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773936" y="529437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Anomalía</a:t>
            </a:r>
            <a:endParaRPr lang="en-US" sz="1360" dirty="0"/>
          </a:p>
        </p:txBody>
      </p:sp>
      <p:sp>
        <p:nvSpPr>
          <p:cNvPr id="34" name="Text 31"/>
          <p:cNvSpPr/>
          <p:nvPr/>
        </p:nvSpPr>
        <p:spPr>
          <a:xfrm>
            <a:off x="1773936" y="5586984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Actualizar un solo elemento de una lista obliga a reescribir toda la celda.</a:t>
            </a:r>
            <a:endParaRPr lang="en-US" sz="1060" dirty="0"/>
          </a:p>
        </p:txBody>
      </p:sp>
      <p:sp>
        <p:nvSpPr>
          <p:cNvPr id="35" name="Shape 32"/>
          <p:cNvSpPr/>
          <p:nvPr/>
        </p:nvSpPr>
        <p:spPr>
          <a:xfrm>
            <a:off x="5586984" y="5148072"/>
            <a:ext cx="4453128" cy="813816"/>
          </a:xfrm>
          <a:prstGeom prst="roundRect">
            <a:avLst>
              <a:gd name="adj" fmla="val 4494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696712" y="527608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696712" y="532180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</a:t>
            </a:r>
            <a:endParaRPr lang="en-US" sz="780" dirty="0"/>
          </a:p>
        </p:txBody>
      </p:sp>
      <p:sp>
        <p:nvSpPr>
          <p:cNvPr id="38" name="Shape 35"/>
          <p:cNvSpPr/>
          <p:nvPr/>
        </p:nvSpPr>
        <p:spPr>
          <a:xfrm>
            <a:off x="6208776" y="5276088"/>
            <a:ext cx="73152" cy="55778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409944" y="529437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Redundancia</a:t>
            </a:r>
            <a:endParaRPr lang="en-US" sz="1360" dirty="0"/>
          </a:p>
        </p:txBody>
      </p:sp>
      <p:sp>
        <p:nvSpPr>
          <p:cNvPr id="40" name="Text 37"/>
          <p:cNvSpPr/>
          <p:nvPr/>
        </p:nvSpPr>
        <p:spPr>
          <a:xfrm>
            <a:off x="6409944" y="5586984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 grupos repetitivos violan la estructura de tabla rectangular.</a:t>
            </a:r>
            <a:endParaRPr lang="en-US" sz="106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2FN: Segunda Forma Normal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3.3 Dependencia Funcional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1828800"/>
            <a:ext cx="9381744" cy="566928"/>
          </a:xfrm>
          <a:prstGeom prst="roundRect">
            <a:avLst>
              <a:gd name="adj" fmla="val 4839"/>
            </a:avLst>
          </a:prstGeom>
          <a:solidFill>
            <a:srgbClr val="EDE6DA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7824" y="1938528"/>
            <a:ext cx="100584" cy="34747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1956816"/>
            <a:ext cx="9052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Regla: Dependencia Completa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200400" y="2560320"/>
            <a:ext cx="4572000" cy="1170432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200400" y="2560320"/>
            <a:ext cx="457200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inscripciones (PK: est_id + cur_id)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20440" y="2953512"/>
            <a:ext cx="2880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est_id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46520" y="295351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uuid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3291840" y="3163824"/>
            <a:ext cx="438912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520440" y="3191256"/>
            <a:ext cx="2880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cur_id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46520" y="319125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uuid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3291840" y="3401568"/>
            <a:ext cx="438912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520440" y="3429000"/>
            <a:ext cx="2880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nombre_curso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46520" y="342900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5193792" y="4023360"/>
            <a:ext cx="6035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62027"/>
                </a:solidFill>
              </a:rPr>
              <a:t>↓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1828800" y="4572000"/>
            <a:ext cx="2926080" cy="932688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828800" y="4572000"/>
            <a:ext cx="292608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inscripciones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2148840" y="496519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est_id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429000" y="496519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920240" y="5175504"/>
            <a:ext cx="274320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2148840" y="520293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cur_id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3429000" y="520293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6217920" y="4572000"/>
            <a:ext cx="2926080" cy="932688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217920" y="4572000"/>
            <a:ext cx="292608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cursos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6537960" y="496519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7818120" y="496519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6309360" y="5175504"/>
            <a:ext cx="274320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537960" y="520293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nombre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818120" y="520293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Teoría de la 2FN: Dependencia Funcional Completa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Eliminando el 'Saber de Más'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1828800"/>
            <a:ext cx="9381744" cy="4297680"/>
          </a:xfrm>
          <a:prstGeom prst="roundRect">
            <a:avLst>
              <a:gd name="adj" fmla="val 85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195681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029968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problema de las llaves compuestas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395728"/>
            <a:ext cx="3685032" cy="3529584"/>
          </a:xfrm>
          <a:prstGeom prst="roundRect">
            <a:avLst>
              <a:gd name="adj" fmla="val 1036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523744"/>
            <a:ext cx="109728" cy="32735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61872" y="2523744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Dependencia Parcial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279806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Enemigo</a:t>
            </a:r>
            <a:endParaRPr lang="en-US" sz="940" dirty="0"/>
          </a:p>
        </p:txBody>
      </p:sp>
      <p:sp>
        <p:nvSpPr>
          <p:cNvPr id="17" name="Shape 14"/>
          <p:cNvSpPr/>
          <p:nvPr/>
        </p:nvSpPr>
        <p:spPr>
          <a:xfrm>
            <a:off x="1261872" y="314553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53312" y="3259836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99616" y="319125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dato solo necesita 'la mitad' de la PK.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261872" y="358444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53312" y="3698748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499616" y="363016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el curso cambia de nombre, debo actualizar mil filas.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6355080" y="2395728"/>
            <a:ext cx="3685032" cy="3529584"/>
          </a:xfrm>
          <a:prstGeom prst="roundRect">
            <a:avLst>
              <a:gd name="adj" fmla="val 1036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64808" y="2523744"/>
            <a:ext cx="109728" cy="32735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665976" y="2523744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Dependencia Total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665976" y="279806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Solución</a:t>
            </a:r>
            <a:endParaRPr lang="en-US" sz="940" dirty="0"/>
          </a:p>
        </p:txBody>
      </p:sp>
      <p:sp>
        <p:nvSpPr>
          <p:cNvPr id="27" name="Shape 24"/>
          <p:cNvSpPr/>
          <p:nvPr/>
        </p:nvSpPr>
        <p:spPr>
          <a:xfrm>
            <a:off x="6665976" y="314553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757416" y="3259836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903720" y="319125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 columna depende del 100% de la llave.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6665976" y="358444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57416" y="369874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03720" y="363016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 datos del curso viven en la tabla 'Cursos'.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892040" y="3346704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001768" y="3493008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074920" y="3913632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056632" y="3538728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→</a:t>
            </a:r>
            <a:endParaRPr lang="en-US" sz="1060" dirty="0"/>
          </a:p>
        </p:txBody>
      </p:sp>
      <p:sp>
        <p:nvSpPr>
          <p:cNvPr id="37" name="Text 34"/>
          <p:cNvSpPr/>
          <p:nvPr/>
        </p:nvSpPr>
        <p:spPr>
          <a:xfrm>
            <a:off x="5020056" y="4325112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normalizar</a:t>
            </a:r>
            <a:endParaRPr lang="en-US" sz="72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3FN: Tercera Forma Normal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3.3 Dependencia Transitiva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1828800"/>
            <a:ext cx="9381744" cy="566928"/>
          </a:xfrm>
          <a:prstGeom prst="roundRect">
            <a:avLst>
              <a:gd name="adj" fmla="val 4839"/>
            </a:avLst>
          </a:prstGeom>
          <a:solidFill>
            <a:srgbClr val="EDE6DA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7824" y="1938528"/>
            <a:ext cx="100584" cy="34747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1956816"/>
            <a:ext cx="9052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Regla: No dependencias transitivas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200400" y="2560320"/>
            <a:ext cx="4572000" cy="1408176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200400" y="2560320"/>
            <a:ext cx="457200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usuarios (PK: id)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20440" y="2953512"/>
            <a:ext cx="2880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46520" y="295351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uuid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3291840" y="3163824"/>
            <a:ext cx="438912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520440" y="3191256"/>
            <a:ext cx="2880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nombre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46520" y="319125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3291840" y="3401568"/>
            <a:ext cx="438912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520440" y="3429000"/>
            <a:ext cx="2880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codigo_postal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46520" y="342900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3291840" y="3639312"/>
            <a:ext cx="438912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520440" y="3666744"/>
            <a:ext cx="2880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ciudad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46520" y="3666744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5193792" y="4023360"/>
            <a:ext cx="6035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62027"/>
                </a:solidFill>
              </a:rPr>
              <a:t>↓</a:t>
            </a:r>
            <a:endParaRPr lang="en-US" sz="2800" dirty="0"/>
          </a:p>
        </p:txBody>
      </p:sp>
      <p:sp>
        <p:nvSpPr>
          <p:cNvPr id="27" name="Shape 24"/>
          <p:cNvSpPr/>
          <p:nvPr/>
        </p:nvSpPr>
        <p:spPr>
          <a:xfrm>
            <a:off x="1828800" y="4572000"/>
            <a:ext cx="2926080" cy="1170432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828800" y="4572000"/>
            <a:ext cx="292608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usuarios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2148840" y="496519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3429000" y="496519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1920240" y="5175504"/>
            <a:ext cx="274320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2148840" y="520293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nombre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3429000" y="520293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1920240" y="5413248"/>
            <a:ext cx="274320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2148840" y="544068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cp_id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3429000" y="544068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6217920" y="4572000"/>
            <a:ext cx="2926080" cy="932688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217920" y="4572000"/>
            <a:ext cx="292608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direcciones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6537960" y="496519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7818120" y="496519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6309360" y="5175504"/>
            <a:ext cx="274320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537960" y="520293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ciudad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7818120" y="520293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Teoría de la 3FN: La Regla de Oro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'The Key, the Whole Key, and Nothing but the Key'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1828800"/>
            <a:ext cx="9381744" cy="1024128"/>
          </a:xfrm>
          <a:prstGeom prst="roundRect">
            <a:avLst>
              <a:gd name="adj" fmla="val 357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1993392"/>
            <a:ext cx="897940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tabla está en 3FN si está en 2FN y no existen dependencias transitivas entre atributos no clave.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804672" y="3108960"/>
            <a:ext cx="9381744" cy="3108960"/>
          </a:xfrm>
          <a:prstGeom prst="roundRect">
            <a:avLst>
              <a:gd name="adj" fmla="val 117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32688" y="323697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42416" y="3310128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Hacia la Arquitectura Profesional</a:t>
            </a:r>
            <a:endParaRPr lang="en-US" sz="980" dirty="0"/>
          </a:p>
        </p:txBody>
      </p:sp>
      <p:sp>
        <p:nvSpPr>
          <p:cNvPr id="15" name="Shape 12"/>
          <p:cNvSpPr/>
          <p:nvPr/>
        </p:nvSpPr>
        <p:spPr>
          <a:xfrm>
            <a:off x="950976" y="3621024"/>
            <a:ext cx="4453128" cy="1088136"/>
          </a:xfrm>
          <a:prstGeom prst="roundRect">
            <a:avLst>
              <a:gd name="adj" fmla="val 3361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060704" y="374904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60704" y="379476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</a:t>
            </a:r>
            <a:endParaRPr lang="en-US" sz="780" dirty="0"/>
          </a:p>
        </p:txBody>
      </p:sp>
      <p:sp>
        <p:nvSpPr>
          <p:cNvPr id="18" name="Shape 15"/>
          <p:cNvSpPr/>
          <p:nvPr/>
        </p:nvSpPr>
        <p:spPr>
          <a:xfrm>
            <a:off x="1572768" y="3749040"/>
            <a:ext cx="73152" cy="8321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773936" y="3767328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Independencia Lógica</a:t>
            </a:r>
            <a:endParaRPr lang="en-US" sz="1360" dirty="0"/>
          </a:p>
        </p:txBody>
      </p:sp>
      <p:sp>
        <p:nvSpPr>
          <p:cNvPr id="20" name="Text 17"/>
          <p:cNvSpPr/>
          <p:nvPr/>
        </p:nvSpPr>
        <p:spPr>
          <a:xfrm>
            <a:off x="1773936" y="4059936"/>
            <a:ext cx="3502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 atributos no clave deben ser independientes entre sí. Cambiar un dato solo afecta a una tabla.</a:t>
            </a:r>
            <a:endParaRPr lang="en-US" sz="1060" dirty="0"/>
          </a:p>
        </p:txBody>
      </p:sp>
      <p:sp>
        <p:nvSpPr>
          <p:cNvPr id="21" name="Shape 18"/>
          <p:cNvSpPr/>
          <p:nvPr/>
        </p:nvSpPr>
        <p:spPr>
          <a:xfrm>
            <a:off x="5586984" y="3621024"/>
            <a:ext cx="4453128" cy="1088136"/>
          </a:xfrm>
          <a:prstGeom prst="roundRect">
            <a:avLst>
              <a:gd name="adj" fmla="val 3361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696712" y="374904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96712" y="379476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6208776" y="3749040"/>
            <a:ext cx="73152" cy="8321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9944" y="3767328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PK manda</a:t>
            </a:r>
            <a:endParaRPr lang="en-US" sz="1360" dirty="0"/>
          </a:p>
        </p:txBody>
      </p:sp>
      <p:sp>
        <p:nvSpPr>
          <p:cNvPr id="26" name="Text 23"/>
          <p:cNvSpPr/>
          <p:nvPr/>
        </p:nvSpPr>
        <p:spPr>
          <a:xfrm>
            <a:off x="6409944" y="4059936"/>
            <a:ext cx="3502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Todo dato debe depender de la PK, toda la PK y nada más que de la PK.</a:t>
            </a:r>
            <a:endParaRPr lang="en-US" sz="1060" dirty="0"/>
          </a:p>
        </p:txBody>
      </p:sp>
      <p:sp>
        <p:nvSpPr>
          <p:cNvPr id="27" name="Shape 24"/>
          <p:cNvSpPr/>
          <p:nvPr/>
        </p:nvSpPr>
        <p:spPr>
          <a:xfrm>
            <a:off x="950976" y="4873752"/>
            <a:ext cx="4453128" cy="1088136"/>
          </a:xfrm>
          <a:prstGeom prst="roundRect">
            <a:avLst>
              <a:gd name="adj" fmla="val 3361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60704" y="5001768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060704" y="5047488"/>
            <a:ext cx="47548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BENEFIT</a:t>
            </a:r>
            <a:endParaRPr lang="en-US" sz="780" dirty="0"/>
          </a:p>
        </p:txBody>
      </p:sp>
      <p:sp>
        <p:nvSpPr>
          <p:cNvPr id="30" name="Shape 27"/>
          <p:cNvSpPr/>
          <p:nvPr/>
        </p:nvSpPr>
        <p:spPr>
          <a:xfrm>
            <a:off x="1664208" y="5001768"/>
            <a:ext cx="73152" cy="8321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865376" y="5020056"/>
            <a:ext cx="3410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Eficiencia Masiva</a:t>
            </a:r>
            <a:endParaRPr lang="en-US" sz="1360" dirty="0"/>
          </a:p>
        </p:txBody>
      </p:sp>
      <p:sp>
        <p:nvSpPr>
          <p:cNvPr id="32" name="Text 29"/>
          <p:cNvSpPr/>
          <p:nvPr/>
        </p:nvSpPr>
        <p:spPr>
          <a:xfrm>
            <a:off x="1865376" y="5312664"/>
            <a:ext cx="3410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Elimina la repetición de cadenas de texto largas (ej: nombres de ciudades o países).</a:t>
            </a:r>
            <a:endParaRPr lang="en-US" sz="1060" dirty="0"/>
          </a:p>
        </p:txBody>
      </p:sp>
      <p:sp>
        <p:nvSpPr>
          <p:cNvPr id="33" name="Shape 30"/>
          <p:cNvSpPr/>
          <p:nvPr/>
        </p:nvSpPr>
        <p:spPr>
          <a:xfrm>
            <a:off x="5586984" y="4873752"/>
            <a:ext cx="4453128" cy="1088136"/>
          </a:xfrm>
          <a:prstGeom prst="roundRect">
            <a:avLst>
              <a:gd name="adj" fmla="val 3361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96712" y="5001768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696712" y="5047488"/>
            <a:ext cx="47548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BENEFIT</a:t>
            </a:r>
            <a:endParaRPr lang="en-US" sz="780" dirty="0"/>
          </a:p>
        </p:txBody>
      </p:sp>
      <p:sp>
        <p:nvSpPr>
          <p:cNvPr id="36" name="Shape 33"/>
          <p:cNvSpPr/>
          <p:nvPr/>
        </p:nvSpPr>
        <p:spPr>
          <a:xfrm>
            <a:off x="6300216" y="5001768"/>
            <a:ext cx="73152" cy="8321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501384" y="5020056"/>
            <a:ext cx="3410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Escalabilidad</a:t>
            </a:r>
            <a:endParaRPr lang="en-US" sz="1360" dirty="0"/>
          </a:p>
        </p:txBody>
      </p:sp>
      <p:sp>
        <p:nvSpPr>
          <p:cNvPr id="38" name="Text 35"/>
          <p:cNvSpPr/>
          <p:nvPr/>
        </p:nvSpPr>
        <p:spPr>
          <a:xfrm>
            <a:off x="6501384" y="5312664"/>
            <a:ext cx="3410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cambiar la lógica de una entidad secundaria sin tocar la tabla principal.</a:t>
            </a:r>
            <a:endParaRPr lang="en-US" sz="106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SQL para Relaciones N:M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3.4 La Tabla Intermedia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Inscripciones (Estudiantes &lt;-&gt; Cursos)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Entidades Fuertes vs. Débiles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3.5 Jerarquía de existencia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¿Quién depende de quién?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724912"/>
            <a:ext cx="109728" cy="31272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61872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Entidad Fuerte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Independiente</a:t>
            </a:r>
            <a:endParaRPr lang="en-US" sz="940" dirty="0"/>
          </a:p>
        </p:txBody>
      </p:sp>
      <p:sp>
        <p:nvSpPr>
          <p:cNvPr id="17" name="Shape 14"/>
          <p:cNvSpPr/>
          <p:nvPr/>
        </p:nvSpPr>
        <p:spPr>
          <a:xfrm>
            <a:off x="1261872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53312" y="3461004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99616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Existe por sí sola.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261872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53312" y="3899916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499616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Ej: 'User', 'Product'.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1261872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353312" y="433882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99616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requiere FK para nacer.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355080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64808" y="2724912"/>
            <a:ext cx="109728" cy="31272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665976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Entidad Débil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665976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Dependiente</a:t>
            </a:r>
            <a:endParaRPr lang="en-US" sz="940" dirty="0"/>
          </a:p>
        </p:txBody>
      </p:sp>
      <p:sp>
        <p:nvSpPr>
          <p:cNvPr id="30" name="Shape 27"/>
          <p:cNvSpPr/>
          <p:nvPr/>
        </p:nvSpPr>
        <p:spPr>
          <a:xfrm>
            <a:off x="6665976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57416" y="3461004"/>
            <a:ext cx="82296" cy="8229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03720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 PK incluye la FK del padre.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665976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57416" y="3899916"/>
            <a:ext cx="82296" cy="8229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903720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Ej: 'VentaDetalle', 'Comentarios'.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665976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757416" y="4338828"/>
            <a:ext cx="82296" cy="8229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903720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el padre muere, ella no tiene sentido.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892040" y="3474720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001768" y="3621024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4920" y="4041648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56632" y="3666744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&lt;-</a:t>
            </a:r>
            <a:endParaRPr lang="en-US" sz="1060" dirty="0"/>
          </a:p>
        </p:txBody>
      </p:sp>
      <p:sp>
        <p:nvSpPr>
          <p:cNvPr id="43" name="Text 40"/>
          <p:cNvSpPr/>
          <p:nvPr/>
        </p:nvSpPr>
        <p:spPr>
          <a:xfrm>
            <a:off x="5020056" y="445312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dependencia</a:t>
            </a:r>
            <a:endParaRPr lang="en-US" sz="72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IA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Huella IA: El Auditor de Normalización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Optimización Asistida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Usando el Agente para validar tu DER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609344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810512" y="2688336"/>
            <a:ext cx="3465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Detectar Redundancia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810512" y="2980944"/>
            <a:ext cx="34655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'Revisa este esquema: ¿Hay datos que se repiten innecesariamente?'.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45352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46520" y="2688336"/>
            <a:ext cx="3465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Sugerir 3FN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46520" y="2980944"/>
            <a:ext cx="34655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'¿Cumple esta tabla con la Tercera Forma Normal? Si no, divídela'.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47548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CAUTION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664208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865376" y="4462272"/>
            <a:ext cx="3410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Sobre-normalización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865376" y="4754880"/>
            <a:ext cx="34107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IA a veces separa TODO. A veces un poco de redundancia ayuda al performance.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47548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CAUTION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300216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501384" y="4462272"/>
            <a:ext cx="3410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Nombres Genéricos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501384" y="4754880"/>
            <a:ext cx="34107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dejes que la IA llame a todo 'data' o 'info'. Exige nombres de negocio.</a:t>
            </a:r>
            <a:endParaRPr lang="en-US" sz="106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2E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402336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438912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PREGUNTAS GUÍA — BLOQUE 3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04672" y="1060704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1463040" y="1024128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significa que un atributo sea 'Atómico' en el contexto de la 1FN?</a:t>
            </a:r>
            <a:endParaRPr lang="en-US" sz="1560" dirty="0"/>
          </a:p>
        </p:txBody>
      </p:sp>
      <p:sp>
        <p:nvSpPr>
          <p:cNvPr id="8" name="Shape 5"/>
          <p:cNvSpPr/>
          <p:nvPr/>
        </p:nvSpPr>
        <p:spPr>
          <a:xfrm>
            <a:off x="804672" y="2596896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2852928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1463040" y="2816352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SQL, ¿cómo representamos físicamente una relación N:M entre dos tablas?</a:t>
            </a:r>
            <a:endParaRPr lang="en-US" sz="1560" dirty="0"/>
          </a:p>
        </p:txBody>
      </p:sp>
      <p:sp>
        <p:nvSpPr>
          <p:cNvPr id="11" name="Shape 8"/>
          <p:cNvSpPr/>
          <p:nvPr/>
        </p:nvSpPr>
        <p:spPr>
          <a:xfrm>
            <a:off x="804672" y="4389120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4672" y="4645152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1463040" y="4608576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es peligroso modificar una base de datos sin tener un DER validado?</a:t>
            </a:r>
            <a:endParaRPr lang="en-US" sz="156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Síntesis del Bloque 3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Arquitectura de Datos Robusta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042416"/>
          </a:xfrm>
          <a:prstGeom prst="roundRect">
            <a:avLst>
              <a:gd name="adj" fmla="val 614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buen diseño DER es la mitad del éxito de un Backend escalable y libre de errores.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7824" y="3419856"/>
            <a:ext cx="100584" cy="16642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0704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DER / Crow's Foot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60704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Lenguaje visual para comunicar la estructura del sistema.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950208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23360" y="3419856"/>
            <a:ext cx="100584" cy="16642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206240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Normalización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206240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Técnica para asegurar que cada dato esté en su lugar correcto.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7095744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68896" y="3419856"/>
            <a:ext cx="100584" cy="16642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51776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SQL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7351776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traducción final del diseño a tablas físicas reales.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04672" y="5413248"/>
            <a:ext cx="9381744" cy="566928"/>
          </a:xfrm>
          <a:prstGeom prst="roundRect">
            <a:avLst>
              <a:gd name="adj" fmla="val 4839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77824" y="5522976"/>
            <a:ext cx="100584" cy="34747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60704" y="5541264"/>
            <a:ext cx="9052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Final → Implementación en Supabase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621792"/>
            <a:ext cx="1207008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6583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</a:t>
            </a:r>
            <a:endParaRPr lang="en-US" sz="1060" dirty="0"/>
          </a:p>
        </p:txBody>
      </p:sp>
      <p:sp>
        <p:nvSpPr>
          <p:cNvPr id="6" name="Shape 3"/>
          <p:cNvSpPr/>
          <p:nvPr/>
        </p:nvSpPr>
        <p:spPr>
          <a:xfrm>
            <a:off x="804672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46074" y="1115568"/>
            <a:ext cx="241402" cy="64373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27709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1956816"/>
            <a:ext cx="841248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Implementación en la Nube: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Llevando el DER a la Realidad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804672" y="3310128"/>
            <a:ext cx="7498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Integrando PostgreSQL as a Service con FastAPI y Pydantic.</a:t>
            </a:r>
            <a:endParaRPr lang="en-US" sz="152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es Supabase?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4.1 Backend as a Service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PostgreSQL con Superpoderes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724912"/>
            <a:ext cx="109728" cy="31272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61872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Base de Datos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</a:t>
            </a:r>
            <a:endParaRPr lang="en-US" sz="940" dirty="0"/>
          </a:p>
        </p:txBody>
      </p:sp>
      <p:sp>
        <p:nvSpPr>
          <p:cNvPr id="17" name="Shape 14"/>
          <p:cNvSpPr/>
          <p:nvPr/>
        </p:nvSpPr>
        <p:spPr>
          <a:xfrm>
            <a:off x="1261872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53312" y="3461004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99616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PostgreSQL 100% real.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261872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53312" y="3899916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499616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 soporte SQL y relacional.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1261872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353312" y="433882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99616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es una base de datos 'de juguete'.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355080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64808" y="2724912"/>
            <a:ext cx="109728" cy="3127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665976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Capa de Servicios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665976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Ecosistema (BaaS)</a:t>
            </a:r>
            <a:endParaRPr lang="en-US" sz="940" dirty="0"/>
          </a:p>
        </p:txBody>
      </p:sp>
      <p:sp>
        <p:nvSpPr>
          <p:cNvPr id="30" name="Shape 27"/>
          <p:cNvSpPr/>
          <p:nvPr/>
        </p:nvSpPr>
        <p:spPr>
          <a:xfrm>
            <a:off x="6665976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57416" y="3461004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03720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REST automática (PostgREST).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665976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57416" y="3899916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903720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Autenticación (Auth).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665976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757416" y="4338828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903720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Almacenamiento de archivos (Storage).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892040" y="3474720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001768" y="3621024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4920" y="4041648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56632" y="3666744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</a:t>
            </a:r>
            <a:endParaRPr lang="en-US" sz="1060" dirty="0"/>
          </a:p>
        </p:txBody>
      </p:sp>
      <p:sp>
        <p:nvSpPr>
          <p:cNvPr id="43" name="Text 40"/>
          <p:cNvSpPr/>
          <p:nvPr/>
        </p:nvSpPr>
        <p:spPr>
          <a:xfrm>
            <a:off x="5020056" y="445312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ecosistema</a:t>
            </a:r>
            <a:endParaRPr lang="en-US" sz="72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Arquitectura del Sistema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4.1 Flujo de datos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FastAPI actúa como el 'Cerebro' (Lógica) y Supabase como la 'Memoria' (Persistencia).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04672" y="3127248"/>
            <a:ext cx="2926080" cy="201168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7824" y="3236976"/>
            <a:ext cx="100584" cy="179222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0704" y="325526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FastAPI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60704" y="3529584"/>
            <a:ext cx="259689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Recibe Request HTTP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 con Pydantic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950208" y="3127248"/>
            <a:ext cx="2926080" cy="201168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23360" y="3236976"/>
            <a:ext cx="100584" cy="17922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206240" y="325526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Supabase Client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206240" y="3529584"/>
            <a:ext cx="259689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Traduce la petición a un Query REST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095744" y="3127248"/>
            <a:ext cx="2926080" cy="201168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68896" y="3236976"/>
            <a:ext cx="100584" cy="179222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51776" y="325526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Supabase Cloud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7351776" y="3529584"/>
            <a:ext cx="259689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Ejecuta Query en Postgres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 devuelve JSON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Configuración del Proyecto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4.2 Crear instancia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3657600"/>
          </a:xfrm>
          <a:prstGeom prst="roundRect">
            <a:avLst>
              <a:gd name="adj" fmla="val 1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50976" y="2139696"/>
            <a:ext cx="90891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Supabase: crear proyecto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932688" y="2468880"/>
            <a:ext cx="912571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04672" y="2560320"/>
            <a:ext cx="4409420" cy="2999232"/>
          </a:xfrm>
          <a:prstGeom prst="roundRect">
            <a:avLst>
              <a:gd name="adj" fmla="val 1220"/>
            </a:avLst>
          </a:prstGeom>
          <a:solidFill>
            <a:srgbClr val="EDE6DA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69264" y="2706624"/>
            <a:ext cx="40802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Paso 1: formulario base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969264" y="3090672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Organization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2496312" y="3054096"/>
            <a:ext cx="2553188" cy="25603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569464" y="3090672"/>
            <a:ext cx="24068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AIEP Sandbox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969264" y="3474720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name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2496312" y="3438144"/>
            <a:ext cx="2553188" cy="25603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2569464" y="3474720"/>
            <a:ext cx="24068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 App de E-commerce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969264" y="3858768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DB password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2496312" y="3822192"/>
            <a:ext cx="2553188" cy="25603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569464" y="3858768"/>
            <a:ext cx="24068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db-pass-2026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969264" y="4242816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Region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2496312" y="4206240"/>
            <a:ext cx="2553188" cy="25603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2569464" y="4242816"/>
            <a:ext cx="24068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South America (Sao Paulo)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969264" y="4626864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2496312" y="4590288"/>
            <a:ext cx="2553188" cy="25603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2569464" y="4626864"/>
            <a:ext cx="24068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Free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969264" y="5084064"/>
            <a:ext cx="1554480" cy="274320"/>
          </a:xfrm>
          <a:prstGeom prst="roundRect">
            <a:avLst>
              <a:gd name="adj" fmla="val 10000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69264" y="5129784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project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415260" y="2560320"/>
            <a:ext cx="4771156" cy="1225296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561564" y="2688336"/>
            <a:ext cx="44785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Paso 2: proyecto listo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5579852" y="3008376"/>
            <a:ext cx="10972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762732" y="2980944"/>
            <a:ext cx="42590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provisioned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5579852" y="3227832"/>
            <a:ext cx="10972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762732" y="3200400"/>
            <a:ext cx="42590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Database online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5579852" y="3447288"/>
            <a:ext cx="10972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762732" y="3419856"/>
            <a:ext cx="42590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ready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5415260" y="3931920"/>
            <a:ext cx="4771156" cy="1627632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5561564" y="4059936"/>
            <a:ext cx="44785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Paso 3: orientarse en el dashboard</a:t>
            </a:r>
            <a:endParaRPr lang="en-US" sz="1250" dirty="0"/>
          </a:p>
        </p:txBody>
      </p:sp>
      <p:sp>
        <p:nvSpPr>
          <p:cNvPr id="42" name="Shape 39"/>
          <p:cNvSpPr/>
          <p:nvPr/>
        </p:nvSpPr>
        <p:spPr>
          <a:xfrm>
            <a:off x="5561564" y="4334256"/>
            <a:ext cx="1358737" cy="237744"/>
          </a:xfrm>
          <a:prstGeom prst="roundRect">
            <a:avLst>
              <a:gd name="adj" fmla="val 769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5561564" y="4389120"/>
            <a:ext cx="1358737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Table Editor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6993453" y="4334256"/>
            <a:ext cx="1358737" cy="237744"/>
          </a:xfrm>
          <a:prstGeom prst="roundRect">
            <a:avLst>
              <a:gd name="adj" fmla="val 7692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993453" y="4389120"/>
            <a:ext cx="1358737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 Editor</a:t>
            </a:r>
            <a:endParaRPr lang="en-US" sz="900" dirty="0"/>
          </a:p>
        </p:txBody>
      </p:sp>
      <p:sp>
        <p:nvSpPr>
          <p:cNvPr id="46" name="Shape 43"/>
          <p:cNvSpPr/>
          <p:nvPr/>
        </p:nvSpPr>
        <p:spPr>
          <a:xfrm>
            <a:off x="8425343" y="4334256"/>
            <a:ext cx="1358737" cy="237744"/>
          </a:xfrm>
          <a:prstGeom prst="roundRect">
            <a:avLst>
              <a:gd name="adj" fmla="val 7692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8425343" y="4389120"/>
            <a:ext cx="1358737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Docs</a:t>
            </a:r>
            <a:endParaRPr lang="en-US" sz="900" dirty="0"/>
          </a:p>
        </p:txBody>
      </p:sp>
      <p:sp>
        <p:nvSpPr>
          <p:cNvPr id="48" name="Shape 45"/>
          <p:cNvSpPr/>
          <p:nvPr/>
        </p:nvSpPr>
        <p:spPr>
          <a:xfrm>
            <a:off x="5561564" y="4718304"/>
            <a:ext cx="2193554" cy="694944"/>
          </a:xfrm>
          <a:prstGeom prst="roundRect">
            <a:avLst>
              <a:gd name="adj" fmla="val 3947"/>
            </a:avLst>
          </a:prstGeom>
          <a:solidFill>
            <a:srgbClr val="EDE6DA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561564" y="4718304"/>
            <a:ext cx="73152" cy="6949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707868" y="4846320"/>
            <a:ext cx="197409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Database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5707868" y="5084064"/>
            <a:ext cx="197409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instancia PostgreSQL ya vive aqui.</a:t>
            </a:r>
            <a:endParaRPr lang="en-US" sz="950" dirty="0"/>
          </a:p>
        </p:txBody>
      </p:sp>
      <p:sp>
        <p:nvSpPr>
          <p:cNvPr id="52" name="Shape 49"/>
          <p:cNvSpPr/>
          <p:nvPr/>
        </p:nvSpPr>
        <p:spPr>
          <a:xfrm>
            <a:off x="7846558" y="4718304"/>
            <a:ext cx="2193554" cy="694944"/>
          </a:xfrm>
          <a:prstGeom prst="roundRect">
            <a:avLst>
              <a:gd name="adj" fmla="val 3947"/>
            </a:avLst>
          </a:prstGeom>
          <a:solidFill>
            <a:srgbClr val="EDE6DA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7846558" y="4718304"/>
            <a:ext cx="73152" cy="69494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992862" y="4846320"/>
            <a:ext cx="197409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API</a:t>
            </a:r>
            <a:endParaRPr lang="en-US" sz="1100" dirty="0"/>
          </a:p>
        </p:txBody>
      </p:sp>
      <p:sp>
        <p:nvSpPr>
          <p:cNvPr id="55" name="Text 52"/>
          <p:cNvSpPr/>
          <p:nvPr/>
        </p:nvSpPr>
        <p:spPr>
          <a:xfrm>
            <a:off x="7992862" y="5084064"/>
            <a:ext cx="197409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Supabase prepara acceso REST y metadatos.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API Keys: Pública vs Privada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4.2 Seguridad Crítica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Nunca expongas el Service Role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78608"/>
            <a:ext cx="4443984" cy="3401568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42416" y="2688336"/>
            <a:ext cx="91440" cy="31821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88720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88720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ANON</a:t>
            </a:r>
            <a:endParaRPr lang="en-US" sz="880" dirty="0"/>
          </a:p>
        </p:txBody>
      </p:sp>
      <p:sp>
        <p:nvSpPr>
          <p:cNvPr id="17" name="Text 14"/>
          <p:cNvSpPr/>
          <p:nvPr/>
        </p:nvSpPr>
        <p:spPr>
          <a:xfrm>
            <a:off x="1188720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anon_key</a:t>
            </a:r>
            <a:endParaRPr lang="en-US" sz="1380" dirty="0"/>
          </a:p>
        </p:txBody>
      </p:sp>
      <p:sp>
        <p:nvSpPr>
          <p:cNvPr id="18" name="Text 15"/>
          <p:cNvSpPr/>
          <p:nvPr/>
        </p:nvSpPr>
        <p:spPr>
          <a:xfrm>
            <a:off x="1188720" y="3383280"/>
            <a:ext cx="409651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Llave pública. Sujeta a Row Level Security (RLS). Segura para usar en Frontend.</a:t>
            </a:r>
            <a:endParaRPr lang="en-US" sz="1040" dirty="0"/>
          </a:p>
        </p:txBody>
      </p:sp>
      <p:sp>
        <p:nvSpPr>
          <p:cNvPr id="19" name="Shape 16"/>
          <p:cNvSpPr/>
          <p:nvPr/>
        </p:nvSpPr>
        <p:spPr>
          <a:xfrm>
            <a:off x="5596128" y="2578608"/>
            <a:ext cx="4443984" cy="3401568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87568" y="2688336"/>
            <a:ext cx="91440" cy="31821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833872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833872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</a:t>
            </a:r>
            <a:endParaRPr lang="en-US" sz="880" dirty="0"/>
          </a:p>
        </p:txBody>
      </p:sp>
      <p:sp>
        <p:nvSpPr>
          <p:cNvPr id="23" name="Text 20"/>
          <p:cNvSpPr/>
          <p:nvPr/>
        </p:nvSpPr>
        <p:spPr>
          <a:xfrm>
            <a:off x="5833872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service_role_key</a:t>
            </a:r>
            <a:endParaRPr lang="en-US" sz="1380" dirty="0"/>
          </a:p>
        </p:txBody>
      </p:sp>
      <p:sp>
        <p:nvSpPr>
          <p:cNvPr id="24" name="Text 21"/>
          <p:cNvSpPr/>
          <p:nvPr/>
        </p:nvSpPr>
        <p:spPr>
          <a:xfrm>
            <a:off x="5833872" y="3383280"/>
            <a:ext cx="409651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Llave privada. Ignora TODA seguridad. SOLO debe usarse en Backend (FastAPI).</a:t>
            </a:r>
            <a:endParaRPr lang="en-US" sz="104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Seguridad con Variables de Entorno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4.2 Protegiendo secretos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.env (NO SUBIR A GITHUB)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Mapeo de Tipos: Postgres ↔ Python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4.3 Pydantic al rescate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Traducción de Datos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UUID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uuid / UUID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Identificadores en Python usan el módulo nativo `uuid.UUID`.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text / str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Cadenas de texto sin límite de longitud rígido.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572768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773936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timestamp / datetime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773936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Fechas y horas. Siempre usar ISO 8601.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jsonb / dict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Estructuras complejas no relacionales soportadas nativamente.</a:t>
            </a:r>
            <a:endParaRPr lang="en-US" sz="106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Pydantic: El Guardián de los Datos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4.3 Validación estricta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no usar diccionarios?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724912"/>
            <a:ext cx="109728" cy="3127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61872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Diccionario Plano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Inseguro</a:t>
            </a:r>
            <a:endParaRPr lang="en-US" sz="940" dirty="0"/>
          </a:p>
        </p:txBody>
      </p:sp>
      <p:sp>
        <p:nvSpPr>
          <p:cNvPr id="17" name="Shape 14"/>
          <p:cNvSpPr/>
          <p:nvPr/>
        </p:nvSpPr>
        <p:spPr>
          <a:xfrm>
            <a:off x="1261872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53312" y="3461004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99616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hay autocompletado.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261872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53312" y="3899916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499616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Cualquier tipo de dato es válido.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1261872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353312" y="4338828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99616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falta una llave, el sistema falla.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355080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64808" y="2724912"/>
            <a:ext cx="109728" cy="31272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665976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Modelo Pydantic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665976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Profesional</a:t>
            </a:r>
            <a:endParaRPr lang="en-US" sz="940" dirty="0"/>
          </a:p>
        </p:txBody>
      </p:sp>
      <p:sp>
        <p:nvSpPr>
          <p:cNvPr id="30" name="Shape 27"/>
          <p:cNvSpPr/>
          <p:nvPr/>
        </p:nvSpPr>
        <p:spPr>
          <a:xfrm>
            <a:off x="6665976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57416" y="3461004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03720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Tipado fuerte y validación previa.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665976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57416" y="3899916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903720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FastAPI rechaza datos malos al instante.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665976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757416" y="433882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903720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Código limpio.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892040" y="3474720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001768" y="3621024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4920" y="4041648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56632" y="3666744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vs</a:t>
            </a:r>
            <a:endParaRPr lang="en-US" sz="1060" dirty="0"/>
          </a:p>
        </p:txBody>
      </p:sp>
      <p:sp>
        <p:nvSpPr>
          <p:cNvPr id="43" name="Text 40"/>
          <p:cNvSpPr/>
          <p:nvPr/>
        </p:nvSpPr>
        <p:spPr>
          <a:xfrm>
            <a:off x="5020056" y="445312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seguridad</a:t>
            </a:r>
            <a:endParaRPr lang="en-US" sz="72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Implementación de Modelos Pydantic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4.3 Del DER a Python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schemas/products.py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Modelos para Relaciones (FK)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4.3 Pydantic anidado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schemas/categories.py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Inicialización del Cliente Supabase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4.4 Conectando FastAPI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core/database.py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Inyección de Dependencias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4.4 FastAPI Best Practices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2801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6112" y="2157984"/>
            <a:ext cx="109728" cy="10241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139696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Dependency Injection (Depends)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60704" y="2487168"/>
            <a:ext cx="90342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Evita crear una nueva conexión en cada petición. FastAPI inyecta el cliente Supabase automáticamente donde se necesite.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4672" y="3493008"/>
            <a:ext cx="9381744" cy="2688336"/>
          </a:xfrm>
          <a:prstGeom prst="roundRect">
            <a:avLst>
              <a:gd name="adj" fmla="val 136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32688" y="360273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42416" y="367588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Ejemplo de Inyección</a:t>
            </a:r>
            <a:endParaRPr lang="en-US" sz="10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4059936"/>
            <a:ext cx="8961120" cy="1938528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Flujo de una Petición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4.4 End to End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926080"/>
            <a:ext cx="2286000" cy="1645920"/>
          </a:xfrm>
          <a:prstGeom prst="roundRect">
            <a:avLst>
              <a:gd name="adj" fmla="val 2222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6112" y="3054096"/>
            <a:ext cx="109728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3035808"/>
            <a:ext cx="19385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FastAPI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60704" y="3383280"/>
            <a:ext cx="193852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Recibe JSON y valida con Pydantic.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3090672" y="3474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62027"/>
                </a:solidFill>
              </a:rPr>
              <a:t>→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3547872" y="2926080"/>
            <a:ext cx="2286000" cy="16459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39312" y="3054096"/>
            <a:ext cx="109728" cy="138988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803904" y="3035808"/>
            <a:ext cx="19385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Cliente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3803904" y="3383280"/>
            <a:ext cx="193852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Traduce a REST Query (.insert, .eq)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833872" y="3474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62027"/>
                </a:solidFill>
              </a:rPr>
              <a:t>→</a:t>
            </a:r>
            <a:endParaRPr lang="en-US" sz="2400" dirty="0"/>
          </a:p>
        </p:txBody>
      </p:sp>
      <p:sp>
        <p:nvSpPr>
          <p:cNvPr id="20" name="Shape 17"/>
          <p:cNvSpPr/>
          <p:nvPr/>
        </p:nvSpPr>
        <p:spPr>
          <a:xfrm>
            <a:off x="6291072" y="2926080"/>
            <a:ext cx="3895344" cy="1645920"/>
          </a:xfrm>
          <a:prstGeom prst="roundRect">
            <a:avLst>
              <a:gd name="adj" fmla="val 2222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82512" y="3054096"/>
            <a:ext cx="109728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547104" y="3035808"/>
            <a:ext cx="3547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Supabase Postgres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6547104" y="3383280"/>
            <a:ext cx="354787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Ejecuta SQL y devuelve la tupla física real.</a:t>
            </a:r>
            <a:endParaRPr lang="en-US" sz="12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CREATE: Insertando Datos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4.5 Operaciones CRUD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Supabase Python Client: .insert()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Endpoint CREATE (POST)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4.5 Integración FastAPI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routers/products.py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READ: Consultando Datos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4.5 Operaciones CRUD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método .select()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select('*')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Trae todas las columnas. Útil para desarrollo rápido.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select('id, name')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Trae solo lo necesario. Ahorra ancho de banda (Recomendado).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COUNT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572768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773936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count='exact'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773936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Útil para paginación. Devuelve el número total de filas.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Falta .execute()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no llamas a .execute(), la query no se envía a la nube.</a:t>
            </a:r>
            <a:endParaRPr lang="en-US" sz="106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READ: Aplicando Filtros (WHERE)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4.5 Modificadores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Supabase Query Modifiers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READ: Relaciones y Joins Automáticos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4.5 Foreign Keys en acción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Supabase resuelve los JOINs automáticamente si configuraste las FKs correctamente.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04672" y="3127248"/>
            <a:ext cx="9381744" cy="3054096"/>
          </a:xfrm>
          <a:prstGeom prst="roundRect">
            <a:avLst>
              <a:gd name="adj" fmla="val 119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32688" y="323697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42416" y="331012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Consultando datos anidados</a:t>
            </a:r>
            <a:endParaRPr lang="en-US" sz="10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3694176"/>
            <a:ext cx="896112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UPDATE: Actualizando Registros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4.5 Operaciones CRUD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280160"/>
          </a:xfrm>
          <a:prstGeom prst="roundRect">
            <a:avLst>
              <a:gd name="adj" fmla="val 2857"/>
            </a:avLst>
          </a:prstGeom>
          <a:solidFill>
            <a:srgbClr val="F8E4E5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6112" y="2157984"/>
            <a:ext cx="109728" cy="10241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139696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Regla Crítica del Update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60704" y="2487168"/>
            <a:ext cx="90342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¡NUNCA uses .update() sin un filtro .eq()! Si omites el filtro, actualizarás TODA LA TABLA.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4672" y="3493008"/>
            <a:ext cx="9381744" cy="2688336"/>
          </a:xfrm>
          <a:prstGeom prst="roundRect">
            <a:avLst>
              <a:gd name="adj" fmla="val 136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32688" y="360273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42416" y="367588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Actualización segura</a:t>
            </a:r>
            <a:endParaRPr lang="en-US" sz="10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4059936"/>
            <a:ext cx="8961120" cy="1938528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Endpoint UPDATE (PATCH)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4.5 Integración FastAPI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routers/users.py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DELETE: Físico vs Lógico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4.5 Operaciones CRUD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¿Cómo borramos datos?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724912"/>
            <a:ext cx="109728" cy="3127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61872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Borrado Físico (DELETE)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.delete().eq()</a:t>
            </a:r>
            <a:endParaRPr lang="en-US" sz="940" dirty="0"/>
          </a:p>
        </p:txBody>
      </p:sp>
      <p:sp>
        <p:nvSpPr>
          <p:cNvPr id="17" name="Shape 14"/>
          <p:cNvSpPr/>
          <p:nvPr/>
        </p:nvSpPr>
        <p:spPr>
          <a:xfrm>
            <a:off x="1261872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53312" y="3461004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99616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dato se elimina de la base de datos.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261872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53312" y="3899916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499616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Falla si hay Foreign Keys apuntándole (Restrict).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1261872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353312" y="4338828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99616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Peligroso en sistemas financieros.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355080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64808" y="2724912"/>
            <a:ext cx="109728" cy="31272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665976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Borrado Lógico (Soft Delete)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665976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.update()</a:t>
            </a:r>
            <a:endParaRPr lang="en-US" sz="940" dirty="0"/>
          </a:p>
        </p:txBody>
      </p:sp>
      <p:sp>
        <p:nvSpPr>
          <p:cNvPr id="30" name="Shape 27"/>
          <p:cNvSpPr/>
          <p:nvPr/>
        </p:nvSpPr>
        <p:spPr>
          <a:xfrm>
            <a:off x="6665976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57416" y="3461004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03720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añade una columna 'is_active' = false.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665976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57416" y="3899916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903720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dato sigue ahí para auditorías.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665976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757416" y="433882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903720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Recomendado para producción.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892040" y="3474720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001768" y="3621024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4920" y="4041648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56632" y="3666744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vs</a:t>
            </a:r>
            <a:endParaRPr lang="en-US" sz="1060" dirty="0"/>
          </a:p>
        </p:txBody>
      </p:sp>
      <p:sp>
        <p:nvSpPr>
          <p:cNvPr id="43" name="Text 40"/>
          <p:cNvSpPr/>
          <p:nvPr/>
        </p:nvSpPr>
        <p:spPr>
          <a:xfrm>
            <a:off x="5020056" y="445312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estrategia</a:t>
            </a:r>
            <a:endParaRPr lang="en-US" sz="72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IA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IA en Supabase: SQL Assistant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4.6 Generación de código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Supabase incluye un Agente SQL nativo (basado en ChatGPT) en su Table Editor.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04672" y="2926080"/>
            <a:ext cx="9381744" cy="3255264"/>
          </a:xfrm>
          <a:prstGeom prst="roundRect">
            <a:avLst>
              <a:gd name="adj" fmla="val 112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32688" y="30540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42416" y="3127248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Casos de Uso del Agente Interno</a:t>
            </a:r>
            <a:endParaRPr lang="en-US" sz="980" dirty="0"/>
          </a:p>
        </p:txBody>
      </p:sp>
      <p:sp>
        <p:nvSpPr>
          <p:cNvPr id="15" name="Shape 12"/>
          <p:cNvSpPr/>
          <p:nvPr/>
        </p:nvSpPr>
        <p:spPr>
          <a:xfrm>
            <a:off x="950976" y="3438144"/>
            <a:ext cx="4453128" cy="1161288"/>
          </a:xfrm>
          <a:prstGeom prst="roundRect">
            <a:avLst>
              <a:gd name="adj" fmla="val 3150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060704" y="356616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60704" y="361188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</a:t>
            </a:r>
            <a:endParaRPr lang="en-US" sz="780" dirty="0"/>
          </a:p>
        </p:txBody>
      </p:sp>
      <p:sp>
        <p:nvSpPr>
          <p:cNvPr id="18" name="Shape 15"/>
          <p:cNvSpPr/>
          <p:nvPr/>
        </p:nvSpPr>
        <p:spPr>
          <a:xfrm>
            <a:off x="1572768" y="3566160"/>
            <a:ext cx="73152" cy="90525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773936" y="3584448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Crear Tablas con RLS</a:t>
            </a:r>
            <a:endParaRPr lang="en-US" sz="1360" dirty="0"/>
          </a:p>
        </p:txBody>
      </p:sp>
      <p:sp>
        <p:nvSpPr>
          <p:cNvPr id="20" name="Text 17"/>
          <p:cNvSpPr/>
          <p:nvPr/>
        </p:nvSpPr>
        <p:spPr>
          <a:xfrm>
            <a:off x="1773936" y="3877056"/>
            <a:ext cx="350215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'Create a secure users table with RLS enabled for their own rows'.</a:t>
            </a:r>
            <a:endParaRPr lang="en-US" sz="1060" dirty="0"/>
          </a:p>
        </p:txBody>
      </p:sp>
      <p:sp>
        <p:nvSpPr>
          <p:cNvPr id="21" name="Shape 18"/>
          <p:cNvSpPr/>
          <p:nvPr/>
        </p:nvSpPr>
        <p:spPr>
          <a:xfrm>
            <a:off x="5586984" y="3438144"/>
            <a:ext cx="4453128" cy="1161288"/>
          </a:xfrm>
          <a:prstGeom prst="roundRect">
            <a:avLst>
              <a:gd name="adj" fmla="val 3150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696712" y="356616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96712" y="361188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6208776" y="3566160"/>
            <a:ext cx="73152" cy="90525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9944" y="3584448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Migraciones Complejas</a:t>
            </a:r>
            <a:endParaRPr lang="en-US" sz="1360" dirty="0"/>
          </a:p>
        </p:txBody>
      </p:sp>
      <p:sp>
        <p:nvSpPr>
          <p:cNvPr id="26" name="Text 23"/>
          <p:cNvSpPr/>
          <p:nvPr/>
        </p:nvSpPr>
        <p:spPr>
          <a:xfrm>
            <a:off x="6409944" y="3877056"/>
            <a:ext cx="350215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'Add a new UUID column and backfill it with random UUIDs'.</a:t>
            </a:r>
            <a:endParaRPr lang="en-US" sz="1060" dirty="0"/>
          </a:p>
        </p:txBody>
      </p:sp>
      <p:sp>
        <p:nvSpPr>
          <p:cNvPr id="27" name="Shape 24"/>
          <p:cNvSpPr/>
          <p:nvPr/>
        </p:nvSpPr>
        <p:spPr>
          <a:xfrm>
            <a:off x="950976" y="4764024"/>
            <a:ext cx="4453128" cy="1161288"/>
          </a:xfrm>
          <a:prstGeom prst="roundRect">
            <a:avLst>
              <a:gd name="adj" fmla="val 3150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60704" y="4892040"/>
            <a:ext cx="530352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060704" y="4937760"/>
            <a:ext cx="53035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</a:t>
            </a:r>
            <a:endParaRPr lang="en-US" sz="780" dirty="0"/>
          </a:p>
        </p:txBody>
      </p:sp>
      <p:sp>
        <p:nvSpPr>
          <p:cNvPr id="30" name="Shape 27"/>
          <p:cNvSpPr/>
          <p:nvPr/>
        </p:nvSpPr>
        <p:spPr>
          <a:xfrm>
            <a:off x="1719072" y="4892040"/>
            <a:ext cx="73152" cy="90525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920240" y="4910328"/>
            <a:ext cx="3355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Revisar el SQL</a:t>
            </a:r>
            <a:endParaRPr lang="en-US" sz="1360" dirty="0"/>
          </a:p>
        </p:txBody>
      </p:sp>
      <p:sp>
        <p:nvSpPr>
          <p:cNvPr id="32" name="Text 29"/>
          <p:cNvSpPr/>
          <p:nvPr/>
        </p:nvSpPr>
        <p:spPr>
          <a:xfrm>
            <a:off x="1920240" y="5202936"/>
            <a:ext cx="335584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Agente genera el SQL, pero TÚ debes revisarlo antes de presionar Run.</a:t>
            </a:r>
            <a:endParaRPr lang="en-US" sz="1060" dirty="0"/>
          </a:p>
        </p:txBody>
      </p:sp>
      <p:sp>
        <p:nvSpPr>
          <p:cNvPr id="33" name="Shape 30"/>
          <p:cNvSpPr/>
          <p:nvPr/>
        </p:nvSpPr>
        <p:spPr>
          <a:xfrm>
            <a:off x="5586984" y="4764024"/>
            <a:ext cx="4453128" cy="1161288"/>
          </a:xfrm>
          <a:prstGeom prst="roundRect">
            <a:avLst>
              <a:gd name="adj" fmla="val 3150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96712" y="4892040"/>
            <a:ext cx="530352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696712" y="4937760"/>
            <a:ext cx="53035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</a:t>
            </a:r>
            <a:endParaRPr lang="en-US" sz="780" dirty="0"/>
          </a:p>
        </p:txBody>
      </p:sp>
      <p:sp>
        <p:nvSpPr>
          <p:cNvPr id="36" name="Shape 33"/>
          <p:cNvSpPr/>
          <p:nvPr/>
        </p:nvSpPr>
        <p:spPr>
          <a:xfrm>
            <a:off x="6355080" y="4892040"/>
            <a:ext cx="73152" cy="90525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556248" y="4910328"/>
            <a:ext cx="3355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Tipos de Datos</a:t>
            </a:r>
            <a:endParaRPr lang="en-US" sz="1360" dirty="0"/>
          </a:p>
        </p:txBody>
      </p:sp>
      <p:sp>
        <p:nvSpPr>
          <p:cNvPr id="38" name="Text 35"/>
          <p:cNvSpPr/>
          <p:nvPr/>
        </p:nvSpPr>
        <p:spPr>
          <a:xfrm>
            <a:off x="6556248" y="5202936"/>
            <a:ext cx="335584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Asegúrate de que asigne UUID en vez de Serial si esa es tu arquitectura.</a:t>
            </a:r>
            <a:endParaRPr lang="en-US" sz="106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IA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IA en FastAPI: Generación de Modelos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4.6 Aceleración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6459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6112" y="2157984"/>
            <a:ext cx="109728" cy="138988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139696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SQL a Pydantic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60704" y="2487168"/>
            <a:ext cx="903427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lugar de escribir los modelos de FastAPI a mano, puedes pasarle tu código SQL de Supabase al Agente y pedirle que genere las clases Pydantic equivalentes.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4672" y="3840480"/>
            <a:ext cx="9381744" cy="2340864"/>
          </a:xfrm>
          <a:prstGeom prst="roundRect">
            <a:avLst>
              <a:gd name="adj" fmla="val 156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32688" y="3950208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42416" y="4023360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Ejemplo de Prompt</a:t>
            </a:r>
            <a:endParaRPr lang="en-US" sz="10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4407408"/>
            <a:ext cx="8961120" cy="1591056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2E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402336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438912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PREGUNTAS GUÍA — BLOQUE 4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04672" y="1060704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1463040" y="1024128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diferencia crítica de seguridad hay entre la llave anon y la llave service_role?</a:t>
            </a:r>
            <a:endParaRPr lang="en-US" sz="1560" dirty="0"/>
          </a:p>
        </p:txBody>
      </p:sp>
      <p:sp>
        <p:nvSpPr>
          <p:cNvPr id="8" name="Shape 5"/>
          <p:cNvSpPr/>
          <p:nvPr/>
        </p:nvSpPr>
        <p:spPr>
          <a:xfrm>
            <a:off x="804672" y="2596896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2852928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1463040" y="2816352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debemos usar Pydantic en FastAPI antes de insertar datos en Supabase?</a:t>
            </a:r>
            <a:endParaRPr lang="en-US" sz="1560" dirty="0"/>
          </a:p>
        </p:txBody>
      </p:sp>
      <p:sp>
        <p:nvSpPr>
          <p:cNvPr id="11" name="Shape 8"/>
          <p:cNvSpPr/>
          <p:nvPr/>
        </p:nvSpPr>
        <p:spPr>
          <a:xfrm>
            <a:off x="804672" y="4389120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4672" y="4645152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1463040" y="4608576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método debemos llamar SIEMPRE al final de una consulta en Supabase Python?</a:t>
            </a:r>
            <a:endParaRPr lang="en-US" sz="156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Síntesis del Bloque 4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conexión final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042416"/>
          </a:xfrm>
          <a:prstGeom prst="roundRect">
            <a:avLst>
              <a:gd name="adj" fmla="val 614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FastAPI valida y orquesta; Supabase almacena y protege.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7824" y="3419856"/>
            <a:ext cx="100584" cy="16642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0704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Supabase BaaS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60704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de datos Postgres en la nube lista para producción.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950208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23360" y="3419856"/>
            <a:ext cx="100584" cy="16642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206240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Pydantic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206240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Garantiza que la API hable el mismo idioma que la Base de Datos.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7095744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68896" y="3419856"/>
            <a:ext cx="100584" cy="16642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51776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Python Client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7351776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Interfaz intuitiva para operar SQL sin escribir SQL puro.</a:t>
            </a:r>
            <a:endParaRPr lang="en-US" sz="10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621792"/>
            <a:ext cx="146304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658368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 DE CLASE</a:t>
            </a:r>
            <a:endParaRPr lang="en-US" sz="1060" dirty="0"/>
          </a:p>
        </p:txBody>
      </p:sp>
      <p:sp>
        <p:nvSpPr>
          <p:cNvPr id="6" name="Text 3"/>
          <p:cNvSpPr/>
          <p:nvPr/>
        </p:nvSpPr>
        <p:spPr>
          <a:xfrm>
            <a:off x="804672" y="146304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Resumen de la Sesión</a:t>
            </a:r>
            <a:endParaRPr lang="en-US" sz="3800" dirty="0"/>
          </a:p>
        </p:txBody>
      </p:sp>
      <p:sp>
        <p:nvSpPr>
          <p:cNvPr id="7" name="Shape 4"/>
          <p:cNvSpPr/>
          <p:nvPr/>
        </p:nvSpPr>
        <p:spPr>
          <a:xfrm>
            <a:off x="804672" y="2560320"/>
            <a:ext cx="9381744" cy="27432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32688" y="268833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42416" y="2761488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que logramos hoy</a:t>
            </a:r>
            <a:endParaRPr lang="en-US" sz="980" dirty="0"/>
          </a:p>
        </p:txBody>
      </p:sp>
      <p:sp>
        <p:nvSpPr>
          <p:cNvPr id="10" name="Shape 7"/>
          <p:cNvSpPr/>
          <p:nvPr/>
        </p:nvSpPr>
        <p:spPr>
          <a:xfrm>
            <a:off x="950976" y="3072384"/>
            <a:ext cx="4453128" cy="905256"/>
          </a:xfrm>
          <a:prstGeom prst="roundRect">
            <a:avLst>
              <a:gd name="adj" fmla="val 4040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60704" y="320040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324612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OK</a:t>
            </a:r>
            <a:endParaRPr lang="en-US" sz="780" dirty="0"/>
          </a:p>
        </p:txBody>
      </p:sp>
      <p:sp>
        <p:nvSpPr>
          <p:cNvPr id="13" name="Shape 10"/>
          <p:cNvSpPr/>
          <p:nvPr/>
        </p:nvSpPr>
        <p:spPr>
          <a:xfrm>
            <a:off x="1572768" y="3200400"/>
            <a:ext cx="73152" cy="64922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773936" y="3218688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Modelado (B1)</a:t>
            </a:r>
            <a:endParaRPr lang="en-US" sz="1360" dirty="0"/>
          </a:p>
        </p:txBody>
      </p:sp>
      <p:sp>
        <p:nvSpPr>
          <p:cNvPr id="15" name="Text 12"/>
          <p:cNvSpPr/>
          <p:nvPr/>
        </p:nvSpPr>
        <p:spPr>
          <a:xfrm>
            <a:off x="1773936" y="3511296"/>
            <a:ext cx="3502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Entendimos Entidades, Atributos y Primary Keys.</a:t>
            </a:r>
            <a:endParaRPr lang="en-US" sz="1060" dirty="0"/>
          </a:p>
        </p:txBody>
      </p:sp>
      <p:sp>
        <p:nvSpPr>
          <p:cNvPr id="16" name="Shape 13"/>
          <p:cNvSpPr/>
          <p:nvPr/>
        </p:nvSpPr>
        <p:spPr>
          <a:xfrm>
            <a:off x="5586984" y="3072384"/>
            <a:ext cx="4453128" cy="905256"/>
          </a:xfrm>
          <a:prstGeom prst="roundRect">
            <a:avLst>
              <a:gd name="adj" fmla="val 4040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696712" y="320040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96712" y="324612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OK</a:t>
            </a:r>
            <a:endParaRPr lang="en-US" sz="780" dirty="0"/>
          </a:p>
        </p:txBody>
      </p:sp>
      <p:sp>
        <p:nvSpPr>
          <p:cNvPr id="19" name="Shape 16"/>
          <p:cNvSpPr/>
          <p:nvPr/>
        </p:nvSpPr>
        <p:spPr>
          <a:xfrm>
            <a:off x="6208776" y="3200400"/>
            <a:ext cx="73152" cy="64922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09944" y="3218688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Relaciones (B2)</a:t>
            </a:r>
            <a:endParaRPr lang="en-US" sz="1360" dirty="0"/>
          </a:p>
        </p:txBody>
      </p:sp>
      <p:sp>
        <p:nvSpPr>
          <p:cNvPr id="21" name="Text 18"/>
          <p:cNvSpPr/>
          <p:nvPr/>
        </p:nvSpPr>
        <p:spPr>
          <a:xfrm>
            <a:off x="6409944" y="3511296"/>
            <a:ext cx="3502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Conectamos tablas con FK y cardinalidad.</a:t>
            </a:r>
            <a:endParaRPr lang="en-US" sz="1060" dirty="0"/>
          </a:p>
        </p:txBody>
      </p:sp>
      <p:sp>
        <p:nvSpPr>
          <p:cNvPr id="22" name="Shape 19"/>
          <p:cNvSpPr/>
          <p:nvPr/>
        </p:nvSpPr>
        <p:spPr>
          <a:xfrm>
            <a:off x="950976" y="4142232"/>
            <a:ext cx="4453128" cy="905256"/>
          </a:xfrm>
          <a:prstGeom prst="roundRect">
            <a:avLst>
              <a:gd name="adj" fmla="val 4040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60704" y="42702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60704" y="43159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OK</a:t>
            </a:r>
            <a:endParaRPr lang="en-US" sz="780" dirty="0"/>
          </a:p>
        </p:txBody>
      </p:sp>
      <p:sp>
        <p:nvSpPr>
          <p:cNvPr id="25" name="Shape 22"/>
          <p:cNvSpPr/>
          <p:nvPr/>
        </p:nvSpPr>
        <p:spPr>
          <a:xfrm>
            <a:off x="1572768" y="4270248"/>
            <a:ext cx="73152" cy="64922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773936" y="42885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Normalización (B3)</a:t>
            </a:r>
            <a:endParaRPr lang="en-US" sz="1360" dirty="0"/>
          </a:p>
        </p:txBody>
      </p:sp>
      <p:sp>
        <p:nvSpPr>
          <p:cNvPr id="27" name="Text 24"/>
          <p:cNvSpPr/>
          <p:nvPr/>
        </p:nvSpPr>
        <p:spPr>
          <a:xfrm>
            <a:off x="1773936" y="4581144"/>
            <a:ext cx="3502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Limpiamos la arquitectura (1FN, 2FN, 3FN).</a:t>
            </a:r>
            <a:endParaRPr lang="en-US" sz="1060" dirty="0"/>
          </a:p>
        </p:txBody>
      </p:sp>
      <p:sp>
        <p:nvSpPr>
          <p:cNvPr id="28" name="Shape 25"/>
          <p:cNvSpPr/>
          <p:nvPr/>
        </p:nvSpPr>
        <p:spPr>
          <a:xfrm>
            <a:off x="5586984" y="4142232"/>
            <a:ext cx="4453128" cy="905256"/>
          </a:xfrm>
          <a:prstGeom prst="roundRect">
            <a:avLst>
              <a:gd name="adj" fmla="val 4040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696712" y="42702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696712" y="43159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OK</a:t>
            </a:r>
            <a:endParaRPr lang="en-US" sz="780" dirty="0"/>
          </a:p>
        </p:txBody>
      </p:sp>
      <p:sp>
        <p:nvSpPr>
          <p:cNvPr id="31" name="Shape 28"/>
          <p:cNvSpPr/>
          <p:nvPr/>
        </p:nvSpPr>
        <p:spPr>
          <a:xfrm>
            <a:off x="6208776" y="4270248"/>
            <a:ext cx="73152" cy="64922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409944" y="42885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Supabase (B4)</a:t>
            </a:r>
            <a:endParaRPr lang="en-US" sz="1360" dirty="0"/>
          </a:p>
        </p:txBody>
      </p:sp>
      <p:sp>
        <p:nvSpPr>
          <p:cNvPr id="33" name="Text 30"/>
          <p:cNvSpPr/>
          <p:nvPr/>
        </p:nvSpPr>
        <p:spPr>
          <a:xfrm>
            <a:off x="6409944" y="4581144"/>
            <a:ext cx="3502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Implementamos el CRUD en la nube con FastAPI.</a:t>
            </a:r>
            <a:endParaRPr lang="en-US" sz="1060" dirty="0"/>
          </a:p>
        </p:txBody>
      </p:sp>
      <p:sp>
        <p:nvSpPr>
          <p:cNvPr id="34" name="Shape 31"/>
          <p:cNvSpPr/>
          <p:nvPr/>
        </p:nvSpPr>
        <p:spPr>
          <a:xfrm>
            <a:off x="804672" y="5486400"/>
            <a:ext cx="938174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77824" y="5596128"/>
            <a:ext cx="100584" cy="32918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1060704" y="5614416"/>
            <a:ext cx="9052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 Paso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63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</vt:vector>
  </TitlesOfParts>
  <Company>AIEP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Persistencia y Modelado de Datos</dc:title>
  <dc:subject>Clase 14</dc:subject>
  <dc:creator>Diego Obando</dc:creator>
  <cp:lastModifiedBy>Diego Obando</cp:lastModifiedBy>
  <cp:revision>1</cp:revision>
  <dcterms:created xsi:type="dcterms:W3CDTF">2026-04-13T06:16:19Z</dcterms:created>
  <dcterms:modified xsi:type="dcterms:W3CDTF">2026-04-13T06:16:19Z</dcterms:modified>
</cp:coreProperties>
</file>