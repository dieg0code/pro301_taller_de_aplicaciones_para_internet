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20624"/>
            <a:ext cx="1536192" cy="4937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711403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99770" y="530352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81405" y="711403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" y="1170432"/>
            <a:ext cx="192024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125272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26 · Semana 09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749808" y="1627632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Construir IA para un dominio acotado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86384" y="25420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E6EE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Ataxx Zero: reglas, búsqueda, aprendizaje y torneo en vivo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804672" y="565099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C9D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12 de mayo de 2026 · PRO301 Taller de Aplicaciones para Internet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699248" y="1353312"/>
            <a:ext cx="2999232" cy="2999232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99248" y="135331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27710" y="135331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56171" y="135331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984633" y="135331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413095" y="135331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41557" y="135331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70018" y="135331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99248" y="1781774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27710" y="1781774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56171" y="1781774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84633" y="1781774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13095" y="1781774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41557" y="1781774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0018" y="1781774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99248" y="221023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27710" y="221023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56171" y="221023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984633" y="221023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13095" y="221023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41557" y="221023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70018" y="221023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699248" y="263869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27710" y="263869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56171" y="263869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84633" y="263869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413095" y="263869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41557" y="263869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270018" y="263869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99248" y="306715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27710" y="306715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556171" y="306715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984633" y="306715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413095" y="306715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841557" y="306715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270018" y="306715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99248" y="3495621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27710" y="3495621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556171" y="3495621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84633" y="3495621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413095" y="3495621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841557" y="3495621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270018" y="3495621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699248" y="392408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127710" y="392408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556171" y="392408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984633" y="392408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413095" y="392408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841557" y="392408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270018" y="392408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784940" y="1439004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355711" y="4009775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355711" y="1439004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784940" y="4009775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070325" y="2295928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70325" y="2724389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641864" y="3152851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070325" y="3152851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882128" y="4617720"/>
            <a:ext cx="263347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101584" y="47914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se entiende en sala y luego se pone a prueba jugando.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no veremos IA como caja negra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abre un sistema real para leer sus decisiones por capas.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60120" y="1847088"/>
            <a:ext cx="10287000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2011680"/>
            <a:ext cx="9884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IA útil no es solo un modelo: es problema, reglas, datos, búsqueda, evaluación y criterio humano.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87552" y="2999232"/>
            <a:ext cx="1931213" cy="1536192"/>
          </a:xfrm>
          <a:prstGeom prst="roundRect">
            <a:avLst>
              <a:gd name="adj" fmla="val 297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321868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3300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1188720" y="3566160"/>
            <a:ext cx="15288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Dominio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1207008" y="39136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Ataxx define estados, acciones legales y término.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2946197" y="3749040"/>
            <a:ext cx="9144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065069" y="2999232"/>
            <a:ext cx="1931213" cy="1536192"/>
          </a:xfrm>
          <a:prstGeom prst="roundRect">
            <a:avLst>
              <a:gd name="adj" fmla="val 297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66237" y="321868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57677" y="3300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3266237" y="3566160"/>
            <a:ext cx="15288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3284525" y="39136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Heurísticas enseñan qué parece una buena jugada.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5023714" y="3749040"/>
            <a:ext cx="9144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142586" y="2999232"/>
            <a:ext cx="1931213" cy="1536192"/>
          </a:xfrm>
          <a:prstGeom prst="roundRect">
            <a:avLst>
              <a:gd name="adj" fmla="val 297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43754" y="321868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35194" y="3300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5343754" y="3566160"/>
            <a:ext cx="15288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5362042" y="39136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y value aprenden a evaluar posiciones.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7101230" y="3749040"/>
            <a:ext cx="9144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220102" y="2999232"/>
            <a:ext cx="1931213" cy="1536192"/>
          </a:xfrm>
          <a:prstGeom prst="roundRect">
            <a:avLst>
              <a:gd name="adj" fmla="val 297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21270" y="321868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12710" y="3300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7421270" y="3566160"/>
            <a:ext cx="15288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</a:t>
            </a:r>
            <a:endParaRPr lang="en-US" sz="1220" dirty="0"/>
          </a:p>
        </p:txBody>
      </p:sp>
      <p:sp>
        <p:nvSpPr>
          <p:cNvPr id="34" name="Text 31"/>
          <p:cNvSpPr/>
          <p:nvPr/>
        </p:nvSpPr>
        <p:spPr>
          <a:xfrm>
            <a:off x="7439558" y="39136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MCTS no revisa todo: concentra simulaciones.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9178747" y="3749040"/>
            <a:ext cx="9144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297619" y="2999232"/>
            <a:ext cx="1931213" cy="1536192"/>
          </a:xfrm>
          <a:prstGeom prst="roundRect">
            <a:avLst>
              <a:gd name="adj" fmla="val 297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498787" y="321868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590227" y="3300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760" dirty="0"/>
          </a:p>
        </p:txBody>
      </p:sp>
      <p:sp>
        <p:nvSpPr>
          <p:cNvPr id="39" name="Text 36"/>
          <p:cNvSpPr/>
          <p:nvPr/>
        </p:nvSpPr>
        <p:spPr>
          <a:xfrm>
            <a:off x="9498787" y="3566160"/>
            <a:ext cx="15288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</a:t>
            </a:r>
            <a:endParaRPr lang="en-US" sz="1220" dirty="0"/>
          </a:p>
        </p:txBody>
      </p:sp>
      <p:sp>
        <p:nvSpPr>
          <p:cNvPr id="40" name="Text 37"/>
          <p:cNvSpPr/>
          <p:nvPr/>
        </p:nvSpPr>
        <p:spPr>
          <a:xfrm>
            <a:off x="9517075" y="39136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torneo muestra decisiones bajo presión real.</a:t>
            </a:r>
            <a:endParaRPr lang="en-US" sz="810" dirty="0"/>
          </a:p>
        </p:txBody>
      </p:sp>
      <p:sp>
        <p:nvSpPr>
          <p:cNvPr id="41" name="Text 38"/>
          <p:cNvSpPr/>
          <p:nvPr/>
        </p:nvSpPr>
        <p:spPr>
          <a:xfrm>
            <a:off x="1005840" y="5230368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objetivo no es admirar la IA: es aprender a auditarla.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promesa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entendemos el sistema; después el sistema juega contra ustedes.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5138928" cy="3547872"/>
          </a:xfrm>
          <a:prstGeom prst="roundRect">
            <a:avLst>
              <a:gd name="adj" fmla="val 128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2267712"/>
            <a:ext cx="4370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final no basta preguntar quién ganó.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316736" y="3127248"/>
            <a:ext cx="42428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 técnica es mirar qué posición evaluó, qué jugadas consideró, cuánta búsqueda usó y qué señal entregan las métricas.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2432304" y="4133088"/>
            <a:ext cx="950976" cy="950976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32304" y="4133088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8158" y="4133088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04011" y="4133088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9865" y="4133088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75719" y="4133088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11573" y="4133088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47426" y="4133088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32304" y="4268942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68158" y="4268942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04011" y="4268942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39865" y="4268942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75719" y="4268942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11573" y="4268942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47426" y="4268942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32304" y="4404795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68158" y="4404795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04011" y="4404795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839865" y="4404795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75719" y="4404795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11573" y="4404795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47426" y="4404795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432304" y="4540649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568158" y="4540649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04011" y="4540649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39865" y="4540649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975719" y="4540649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111573" y="4540649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47426" y="4540649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432304" y="4676503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8158" y="4676503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704011" y="4676503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39865" y="4676503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975719" y="4676503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111573" y="4676503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247426" y="4676503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432304" y="4812357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568158" y="4812357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04011" y="4812357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839865" y="4812357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975719" y="4812357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111573" y="4812357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247426" y="4812357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432304" y="4948210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568158" y="4948210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04011" y="4948210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839865" y="4948210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975719" y="4948210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111573" y="4948210"/>
            <a:ext cx="135854" cy="135854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247426" y="4948210"/>
            <a:ext cx="135854" cy="13585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459475" y="4160259"/>
            <a:ext cx="81512" cy="815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74597" y="4975381"/>
            <a:ext cx="81512" cy="815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74597" y="4160259"/>
            <a:ext cx="81512" cy="81512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459475" y="4975381"/>
            <a:ext cx="81512" cy="81512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583680" y="1901952"/>
            <a:ext cx="4590288" cy="822960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729984" y="2048256"/>
            <a:ext cx="109728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967728" y="206654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problema está resolviendo?</a:t>
            </a:r>
            <a:endParaRPr lang="en-US" sz="1280" dirty="0"/>
          </a:p>
        </p:txBody>
      </p:sp>
      <p:sp>
        <p:nvSpPr>
          <p:cNvPr id="70" name="Text 67"/>
          <p:cNvSpPr/>
          <p:nvPr/>
        </p:nvSpPr>
        <p:spPr>
          <a:xfrm>
            <a:off x="6967728" y="2386584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estado, acción, transición, recompensa</a:t>
            </a:r>
            <a:endParaRPr lang="en-US" sz="840" dirty="0"/>
          </a:p>
        </p:txBody>
      </p:sp>
      <p:sp>
        <p:nvSpPr>
          <p:cNvPr id="71" name="Shape 68"/>
          <p:cNvSpPr/>
          <p:nvPr/>
        </p:nvSpPr>
        <p:spPr>
          <a:xfrm>
            <a:off x="6583680" y="2999232"/>
            <a:ext cx="4590288" cy="822960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729984" y="3145536"/>
            <a:ext cx="109728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67728" y="316382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decide?</a:t>
            </a:r>
            <a:endParaRPr lang="en-US" sz="1280" dirty="0"/>
          </a:p>
        </p:txBody>
      </p:sp>
      <p:sp>
        <p:nvSpPr>
          <p:cNvPr id="74" name="Text 71"/>
          <p:cNvSpPr/>
          <p:nvPr/>
        </p:nvSpPr>
        <p:spPr>
          <a:xfrm>
            <a:off x="6967728" y="3483864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heurística, policy/value, MCTS</a:t>
            </a:r>
            <a:endParaRPr lang="en-US" sz="840" dirty="0"/>
          </a:p>
        </p:txBody>
      </p:sp>
      <p:sp>
        <p:nvSpPr>
          <p:cNvPr id="75" name="Shape 72"/>
          <p:cNvSpPr/>
          <p:nvPr/>
        </p:nvSpPr>
        <p:spPr>
          <a:xfrm>
            <a:off x="6583680" y="4096512"/>
            <a:ext cx="4590288" cy="822960"/>
          </a:xfrm>
          <a:prstGeom prst="roundRect">
            <a:avLst>
              <a:gd name="adj" fmla="val 555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729984" y="4242816"/>
            <a:ext cx="109728" cy="5303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967728" y="426110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sabemos si mejoró?</a:t>
            </a:r>
            <a:endParaRPr lang="en-US" sz="1280" dirty="0"/>
          </a:p>
        </p:txBody>
      </p:sp>
      <p:sp>
        <p:nvSpPr>
          <p:cNvPr id="78" name="Text 75"/>
          <p:cNvSpPr/>
          <p:nvPr/>
        </p:nvSpPr>
        <p:spPr>
          <a:xfrm>
            <a:off x="6967728" y="4581144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evaluación, head-to-head, torneo</a:t>
            </a:r>
            <a:endParaRPr lang="en-US" sz="840" dirty="0"/>
          </a:p>
        </p:txBody>
      </p:sp>
      <p:sp>
        <p:nvSpPr>
          <p:cNvPr id="79" name="Shape 76"/>
          <p:cNvSpPr/>
          <p:nvPr/>
        </p:nvSpPr>
        <p:spPr>
          <a:xfrm>
            <a:off x="6583680" y="5230368"/>
            <a:ext cx="4590288" cy="438912"/>
          </a:xfrm>
          <a:prstGeom prst="roundRect">
            <a:avLst>
              <a:gd name="adj" fmla="val 104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784848" y="5358384"/>
            <a:ext cx="4187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mirada es la misma que sirve para defender la evaluación final del 19 de mayo.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Ataxx: pequeño en pantalla, grande como problema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tablero 7 x 7 cabe completo, pero sus consecuencias tácticas no caben en intuición simple.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47088"/>
            <a:ext cx="6629400" cy="3794760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75104"/>
            <a:ext cx="6190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Posición inicial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042416" y="2322576"/>
            <a:ext cx="6190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piezas en esquinas opuestas: no hay azar ni información oculta.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05840" y="2542032"/>
            <a:ext cx="3044952" cy="3044952"/>
          </a:xfrm>
          <a:prstGeom prst="rect">
            <a:avLst/>
          </a:prstGeom>
          <a:solidFill>
            <a:srgbClr val="F2F5F8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542032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8489" y="2624681"/>
            <a:ext cx="269696" cy="2696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1307" y="2692105"/>
            <a:ext cx="64727" cy="4854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0833" y="2542032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75826" y="2542032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10819" y="2542032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5813" y="2542032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80806" y="2542032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15799" y="2542032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98448" y="2624681"/>
            <a:ext cx="269696" cy="2696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71265" y="2692105"/>
            <a:ext cx="64727" cy="4854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5840" y="297702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440833" y="297702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75826" y="297702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310819" y="297702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5813" y="297702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180806" y="297702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615799" y="297702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5840" y="341201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40833" y="341201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875826" y="341201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10819" y="341201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5813" y="341201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180806" y="341201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15799" y="341201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5840" y="384701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440833" y="384701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875826" y="384701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10819" y="384701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5813" y="384701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180806" y="384701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15799" y="384701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5840" y="428200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440833" y="428200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875826" y="428200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310819" y="428200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745813" y="428200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180806" y="4282005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615799" y="4282005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05840" y="471699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440833" y="471699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75826" y="471699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310819" y="471699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5813" y="471699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180806" y="4716998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615799" y="4716998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05840" y="515199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88489" y="5234640"/>
            <a:ext cx="269696" cy="2696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161307" y="5302063"/>
            <a:ext cx="64727" cy="4854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440833" y="515199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875826" y="515199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310819" y="515199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5813" y="515199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180806" y="5151991"/>
            <a:ext cx="434993" cy="434993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615799" y="5151991"/>
            <a:ext cx="434993" cy="434993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698448" y="5234640"/>
            <a:ext cx="269696" cy="2696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771265" y="5302063"/>
            <a:ext cx="64727" cy="48545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06824" y="2542032"/>
            <a:ext cx="2962656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453128" y="2642616"/>
            <a:ext cx="12443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5728899" y="2615184"/>
            <a:ext cx="13628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 perfecta</a:t>
            </a:r>
            <a:endParaRPr lang="en-US" sz="1140" dirty="0"/>
          </a:p>
        </p:txBody>
      </p:sp>
      <p:sp>
        <p:nvSpPr>
          <p:cNvPr id="74" name="Shape 71"/>
          <p:cNvSpPr/>
          <p:nvPr/>
        </p:nvSpPr>
        <p:spPr>
          <a:xfrm>
            <a:off x="4306824" y="3108960"/>
            <a:ext cx="2962656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453128" y="3209544"/>
            <a:ext cx="12443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Azar</a:t>
            </a:r>
            <a:endParaRPr lang="en-US" sz="840" dirty="0"/>
          </a:p>
        </p:txBody>
      </p:sp>
      <p:sp>
        <p:nvSpPr>
          <p:cNvPr id="76" name="Text 73"/>
          <p:cNvSpPr/>
          <p:nvPr/>
        </p:nvSpPr>
        <p:spPr>
          <a:xfrm>
            <a:off x="5728899" y="3182112"/>
            <a:ext cx="13628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dados / 0 cartas</a:t>
            </a:r>
            <a:endParaRPr lang="en-US" sz="1140" dirty="0"/>
          </a:p>
        </p:txBody>
      </p:sp>
      <p:sp>
        <p:nvSpPr>
          <p:cNvPr id="77" name="Shape 74"/>
          <p:cNvSpPr/>
          <p:nvPr/>
        </p:nvSpPr>
        <p:spPr>
          <a:xfrm>
            <a:off x="4306824" y="3675888"/>
            <a:ext cx="2962656" cy="420624"/>
          </a:xfrm>
          <a:prstGeom prst="roundRect">
            <a:avLst>
              <a:gd name="adj" fmla="val 869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453128" y="3776472"/>
            <a:ext cx="12443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840" dirty="0"/>
          </a:p>
        </p:txBody>
      </p:sp>
      <p:sp>
        <p:nvSpPr>
          <p:cNvPr id="79" name="Text 76"/>
          <p:cNvSpPr/>
          <p:nvPr/>
        </p:nvSpPr>
        <p:spPr>
          <a:xfrm>
            <a:off x="5728899" y="3749040"/>
            <a:ext cx="13628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ocupar más casillas</a:t>
            </a:r>
            <a:endParaRPr lang="en-US" sz="1140" dirty="0"/>
          </a:p>
        </p:txBody>
      </p:sp>
      <p:sp>
        <p:nvSpPr>
          <p:cNvPr id="80" name="Text 77"/>
          <p:cNvSpPr/>
          <p:nvPr/>
        </p:nvSpPr>
        <p:spPr>
          <a:xfrm>
            <a:off x="4306824" y="4992624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incertidumbre no viene del tablero: viene de anticipar la decisión del rival.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7818120" y="1920240"/>
            <a:ext cx="3401568" cy="1024128"/>
          </a:xfrm>
          <a:prstGeom prst="roundRect">
            <a:avLst>
              <a:gd name="adj" fmla="val 44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946136" y="206654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147304" y="2084832"/>
            <a:ext cx="2889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820" dirty="0"/>
          </a:p>
        </p:txBody>
      </p:sp>
      <p:sp>
        <p:nvSpPr>
          <p:cNvPr id="84" name="Text 81"/>
          <p:cNvSpPr/>
          <p:nvPr/>
        </p:nvSpPr>
        <p:spPr>
          <a:xfrm>
            <a:off x="8147304" y="2359152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≠ trivial</a:t>
            </a:r>
            <a:endParaRPr lang="en-US" sz="1700" dirty="0"/>
          </a:p>
        </p:txBody>
      </p:sp>
      <p:sp>
        <p:nvSpPr>
          <p:cNvPr id="85" name="Text 82"/>
          <p:cNvSpPr/>
          <p:nvPr/>
        </p:nvSpPr>
        <p:spPr>
          <a:xfrm>
            <a:off x="8147304" y="2798064"/>
            <a:ext cx="28895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dominio acotado puede exigir técnicas serias si las combinaciones crecen rápido.</a:t>
            </a:r>
            <a:endParaRPr lang="en-US" sz="860" dirty="0"/>
          </a:p>
        </p:txBody>
      </p:sp>
      <p:sp>
        <p:nvSpPr>
          <p:cNvPr id="86" name="Text 83"/>
          <p:cNvSpPr/>
          <p:nvPr/>
        </p:nvSpPr>
        <p:spPr>
          <a:xfrm>
            <a:off x="7973568" y="3346704"/>
            <a:ext cx="29992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Ataxx sirve como laboratorio: permite ver reglas completas, código real y decisiones de IA sin esconder el sistema detrás de infraestructura enorme.</a:t>
            </a:r>
            <a:endParaRPr lang="en-US" sz="1060" dirty="0"/>
          </a:p>
        </p:txBody>
      </p:sp>
      <p:sp>
        <p:nvSpPr>
          <p:cNvPr id="87" name="Shape 84"/>
          <p:cNvSpPr/>
          <p:nvPr/>
        </p:nvSpPr>
        <p:spPr>
          <a:xfrm>
            <a:off x="7818120" y="4736592"/>
            <a:ext cx="3401568" cy="658368"/>
          </a:xfrm>
          <a:prstGeom prst="roundRect">
            <a:avLst>
              <a:gd name="adj" fmla="val 69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8028432" y="491947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Damas, ajedrez, Go y Ataxx comparten una forma: turnos, estados, acciones legales y resultado.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Convertir un juego en problema de 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entrenar nada, hay que decir con precisión qué existe, qué se puede hacer y qué cuenta como éxito.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1024128" y="1920240"/>
            <a:ext cx="2363724" cy="2212848"/>
          </a:xfrm>
          <a:prstGeom prst="roundRect">
            <a:avLst>
              <a:gd name="adj" fmla="val 206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2121408"/>
            <a:ext cx="109728" cy="18105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08176" y="2139696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99616" y="222199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1408176" y="2578608"/>
            <a:ext cx="1796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408176" y="3054096"/>
            <a:ext cx="17967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tablero, turno, contadores, historial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24428" y="305409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589020" y="1920240"/>
            <a:ext cx="2363724" cy="2212848"/>
          </a:xfrm>
          <a:prstGeom prst="roundRect">
            <a:avLst>
              <a:gd name="adj" fmla="val 206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35324" y="2121408"/>
            <a:ext cx="109728" cy="18105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73068" y="2139696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64508" y="222199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3973068" y="2578608"/>
            <a:ext cx="1796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Acción legal</a:t>
            </a:r>
            <a:endParaRPr lang="en-US" sz="1520" dirty="0"/>
          </a:p>
        </p:txBody>
      </p:sp>
      <p:sp>
        <p:nvSpPr>
          <p:cNvPr id="22" name="Text 19"/>
          <p:cNvSpPr/>
          <p:nvPr/>
        </p:nvSpPr>
        <p:spPr>
          <a:xfrm>
            <a:off x="3973068" y="3054096"/>
            <a:ext cx="17967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origen, destino o pase si no hay movimiento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89320" y="305409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53912" y="1920240"/>
            <a:ext cx="2363724" cy="2212848"/>
          </a:xfrm>
          <a:prstGeom prst="roundRect">
            <a:avLst>
              <a:gd name="adj" fmla="val 206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00216" y="2121408"/>
            <a:ext cx="109728" cy="181051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37960" y="2139696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222199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537960" y="2578608"/>
            <a:ext cx="1796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Transición</a:t>
            </a:r>
            <a:endParaRPr lang="en-US" sz="1520" dirty="0"/>
          </a:p>
        </p:txBody>
      </p:sp>
      <p:sp>
        <p:nvSpPr>
          <p:cNvPr id="29" name="Text 26"/>
          <p:cNvSpPr/>
          <p:nvPr/>
        </p:nvSpPr>
        <p:spPr>
          <a:xfrm>
            <a:off x="6537960" y="3054096"/>
            <a:ext cx="17967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clonar o saltar, infectar vecinos, cambiar turno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54212" y="305409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718804" y="1920240"/>
            <a:ext cx="2363724" cy="2212848"/>
          </a:xfrm>
          <a:prstGeom prst="roundRect">
            <a:avLst>
              <a:gd name="adj" fmla="val 206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5108" y="2121408"/>
            <a:ext cx="109728" cy="18105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02852" y="2139696"/>
            <a:ext cx="475488" cy="274320"/>
          </a:xfrm>
          <a:prstGeom prst="roundRect">
            <a:avLst>
              <a:gd name="adj" fmla="val 13333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94292" y="222199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9102852" y="2578608"/>
            <a:ext cx="1796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Recompensa</a:t>
            </a:r>
            <a:endParaRPr lang="en-US" sz="1520" dirty="0"/>
          </a:p>
        </p:txBody>
      </p:sp>
      <p:sp>
        <p:nvSpPr>
          <p:cNvPr id="36" name="Text 33"/>
          <p:cNvSpPr/>
          <p:nvPr/>
        </p:nvSpPr>
        <p:spPr>
          <a:xfrm>
            <a:off x="9102852" y="3054096"/>
            <a:ext cx="17967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 victoria, 0 empate, -1 derrota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05840" y="4681728"/>
            <a:ext cx="10104120" cy="658368"/>
          </a:xfrm>
          <a:prstGeom prst="roundRect">
            <a:avLst>
              <a:gd name="adj" fmla="val 694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298448" y="4882896"/>
            <a:ext cx="9528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esta especificación, el modelo no sabe qué aprender y el docente no tiene qué auditar.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reglas básicas: clonar, saltar, convertir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reglas simples producen decisiones tácticas difíciles.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68680" y="1901952"/>
            <a:ext cx="3246120" cy="3529584"/>
          </a:xfrm>
          <a:prstGeom prst="roundRect">
            <a:avLst>
              <a:gd name="adj" fmla="val 140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4984" y="2084832"/>
            <a:ext cx="109728" cy="31272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34440" y="212140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25880" y="22037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1764792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Clonar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1234440" y="24871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 vacío a distancia 1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1380744" y="2852928"/>
            <a:ext cx="1298448" cy="1298448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80744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66237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51729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37222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22714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08207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3699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80744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566237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51729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37222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22714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308207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93699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380744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566237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751729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937222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122714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08207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493699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380744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566237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751729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937222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22714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08207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93699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380744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566237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751729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937222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122714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308207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493699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380744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566237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751729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937222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122714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308207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493699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380744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566237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751729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937222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122714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308207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493699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788828" y="3446504"/>
            <a:ext cx="111296" cy="111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417843" y="2890027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530798" y="4002982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844475" y="3502152"/>
            <a:ext cx="185493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triangle"/>
          </a:ln>
        </p:spPr>
      </p:sp>
      <p:sp>
        <p:nvSpPr>
          <p:cNvPr id="70" name="Shape 67"/>
          <p:cNvSpPr/>
          <p:nvPr/>
        </p:nvSpPr>
        <p:spPr>
          <a:xfrm>
            <a:off x="1946496" y="3418680"/>
            <a:ext cx="166943" cy="166943"/>
          </a:xfrm>
          <a:prstGeom prst="rect">
            <a:avLst/>
          </a:prstGeom>
          <a:solidFill>
            <a:srgbClr val="3FAE6A">
              <a:alpha val="20000"/>
            </a:srgbClr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843784" y="2907792"/>
            <a:ext cx="877824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916936" y="30266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1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1234440" y="43708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pieza original permanece y aparece una copia en el destino.</a:t>
            </a:r>
            <a:endParaRPr lang="en-US" sz="870" dirty="0"/>
          </a:p>
        </p:txBody>
      </p:sp>
      <p:sp>
        <p:nvSpPr>
          <p:cNvPr id="74" name="Shape 71"/>
          <p:cNvSpPr/>
          <p:nvPr/>
        </p:nvSpPr>
        <p:spPr>
          <a:xfrm>
            <a:off x="1234440" y="4919472"/>
            <a:ext cx="2615184" cy="2560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344168" y="5001768"/>
            <a:ext cx="2395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el conteo del jugador</a:t>
            </a:r>
            <a:endParaRPr lang="en-US" sz="730" dirty="0"/>
          </a:p>
        </p:txBody>
      </p:sp>
      <p:sp>
        <p:nvSpPr>
          <p:cNvPr id="76" name="Shape 73"/>
          <p:cNvSpPr/>
          <p:nvPr/>
        </p:nvSpPr>
        <p:spPr>
          <a:xfrm>
            <a:off x="4443984" y="1901952"/>
            <a:ext cx="3246120" cy="3529584"/>
          </a:xfrm>
          <a:prstGeom prst="roundRect">
            <a:avLst>
              <a:gd name="adj" fmla="val 140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590288" y="2084832"/>
            <a:ext cx="109728" cy="3127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809744" y="212140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901184" y="22037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40" dirty="0"/>
          </a:p>
        </p:txBody>
      </p:sp>
      <p:sp>
        <p:nvSpPr>
          <p:cNvPr id="80" name="Text 77"/>
          <p:cNvSpPr/>
          <p:nvPr/>
        </p:nvSpPr>
        <p:spPr>
          <a:xfrm>
            <a:off x="5340096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Saltar</a:t>
            </a:r>
            <a:endParaRPr lang="en-US" sz="1480" dirty="0"/>
          </a:p>
        </p:txBody>
      </p:sp>
      <p:sp>
        <p:nvSpPr>
          <p:cNvPr id="81" name="Text 78"/>
          <p:cNvSpPr/>
          <p:nvPr/>
        </p:nvSpPr>
        <p:spPr>
          <a:xfrm>
            <a:off x="4809744" y="24871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 vacío a distancia 2</a:t>
            </a:r>
            <a:endParaRPr lang="en-US" sz="860" dirty="0"/>
          </a:p>
        </p:txBody>
      </p:sp>
      <p:sp>
        <p:nvSpPr>
          <p:cNvPr id="82" name="Shape 79"/>
          <p:cNvSpPr/>
          <p:nvPr/>
        </p:nvSpPr>
        <p:spPr>
          <a:xfrm>
            <a:off x="4956048" y="2852928"/>
            <a:ext cx="1298448" cy="1298448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956048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141541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327033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512526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698018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883511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069003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956048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141541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327033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512526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698018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883511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069003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4956048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5141541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5327033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512526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698018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883511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069003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4956048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141541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5327033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5512526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5698018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883511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069003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956048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5141541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327033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512526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5698018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883511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069003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956048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141541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327033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5512526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5698018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883511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6069003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956048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141541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5327033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5512526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698018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5883511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069003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5178639" y="3446504"/>
            <a:ext cx="111296" cy="111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4993147" y="2890027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6106102" y="4002982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5234287" y="3502152"/>
            <a:ext cx="370985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136" name="Shape 133"/>
          <p:cNvSpPr/>
          <p:nvPr/>
        </p:nvSpPr>
        <p:spPr>
          <a:xfrm>
            <a:off x="5521800" y="3418680"/>
            <a:ext cx="166943" cy="166943"/>
          </a:xfrm>
          <a:prstGeom prst="rect">
            <a:avLst/>
          </a:prstGeom>
          <a:solidFill>
            <a:srgbClr val="E0BC5A">
              <a:alpha val="20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419088" y="2907792"/>
            <a:ext cx="877824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6492240" y="30266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2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4809744" y="43708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pieza se mueve: desaparece del origen y reaparece más lejos.</a:t>
            </a:r>
            <a:endParaRPr lang="en-US" sz="870" dirty="0"/>
          </a:p>
        </p:txBody>
      </p:sp>
      <p:sp>
        <p:nvSpPr>
          <p:cNvPr id="140" name="Shape 137"/>
          <p:cNvSpPr/>
          <p:nvPr/>
        </p:nvSpPr>
        <p:spPr>
          <a:xfrm>
            <a:off x="4809744" y="4919472"/>
            <a:ext cx="2615184" cy="2560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4919472" y="5001768"/>
            <a:ext cx="2395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reposiciona sin ganar piezas</a:t>
            </a:r>
            <a:endParaRPr lang="en-US" sz="730" dirty="0"/>
          </a:p>
        </p:txBody>
      </p:sp>
      <p:sp>
        <p:nvSpPr>
          <p:cNvPr id="142" name="Shape 139"/>
          <p:cNvSpPr/>
          <p:nvPr/>
        </p:nvSpPr>
        <p:spPr>
          <a:xfrm>
            <a:off x="8019288" y="1901952"/>
            <a:ext cx="3246120" cy="3529584"/>
          </a:xfrm>
          <a:prstGeom prst="roundRect">
            <a:avLst>
              <a:gd name="adj" fmla="val 140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8165592" y="208483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385048" y="212140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8476488" y="220370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40" dirty="0"/>
          </a:p>
        </p:txBody>
      </p:sp>
      <p:sp>
        <p:nvSpPr>
          <p:cNvPr id="146" name="Text 143"/>
          <p:cNvSpPr/>
          <p:nvPr/>
        </p:nvSpPr>
        <p:spPr>
          <a:xfrm>
            <a:off x="8915400" y="2084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Convertir</a:t>
            </a:r>
            <a:endParaRPr lang="en-US" sz="1480" dirty="0"/>
          </a:p>
        </p:txBody>
      </p:sp>
      <p:sp>
        <p:nvSpPr>
          <p:cNvPr id="147" name="Text 144"/>
          <p:cNvSpPr/>
          <p:nvPr/>
        </p:nvSpPr>
        <p:spPr>
          <a:xfrm>
            <a:off x="8385048" y="24871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llegar al destino</a:t>
            </a:r>
            <a:endParaRPr lang="en-US" sz="860" dirty="0"/>
          </a:p>
        </p:txBody>
      </p:sp>
      <p:sp>
        <p:nvSpPr>
          <p:cNvPr id="148" name="Shape 145"/>
          <p:cNvSpPr/>
          <p:nvPr/>
        </p:nvSpPr>
        <p:spPr>
          <a:xfrm>
            <a:off x="8531352" y="2852928"/>
            <a:ext cx="1298448" cy="1298448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531352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716845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902337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9087830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9273322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9458815" y="285292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9644307" y="285292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531352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8716845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8902337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087830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9273322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9458815" y="303842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9644307" y="303842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8531352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8716845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337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9087830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9273322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9458815" y="322391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9644307" y="322391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8531352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8716845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8902337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087830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9273322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9458815" y="3409406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9644307" y="3409406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8531352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8716845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8902337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9087830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9273322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9458815" y="3594898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9644307" y="3594898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8531352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8716845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902337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9087830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9273322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9458815" y="3780391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9644307" y="3780391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8531352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8716845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8902337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9087830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9273322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9458815" y="3965883"/>
            <a:ext cx="185493" cy="1854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9644307" y="3965883"/>
            <a:ext cx="185493" cy="185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8939436" y="3261012"/>
            <a:ext cx="111296" cy="111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9124928" y="3261012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8939436" y="3446504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9310421" y="3446504"/>
            <a:ext cx="111296" cy="111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995083" y="3316659"/>
            <a:ext cx="185493" cy="185493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03" name="Shape 200"/>
          <p:cNvSpPr/>
          <p:nvPr/>
        </p:nvSpPr>
        <p:spPr>
          <a:xfrm>
            <a:off x="9097104" y="3418680"/>
            <a:ext cx="166943" cy="166943"/>
          </a:xfrm>
          <a:prstGeom prst="rect">
            <a:avLst/>
          </a:prstGeom>
          <a:solidFill>
            <a:srgbClr val="D62027">
              <a:alpha val="2000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9994392" y="2907792"/>
            <a:ext cx="877824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067544" y="302666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 1</a:t>
            </a:r>
            <a:endParaRPr lang="en-US" sz="800" dirty="0"/>
          </a:p>
        </p:txBody>
      </p:sp>
      <p:sp>
        <p:nvSpPr>
          <p:cNvPr id="206" name="Text 203"/>
          <p:cNvSpPr/>
          <p:nvPr/>
        </p:nvSpPr>
        <p:spPr>
          <a:xfrm>
            <a:off x="8385048" y="43708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las piezas enemigas adyacentes al destino cambian de lado.</a:t>
            </a:r>
            <a:endParaRPr lang="en-US" sz="870" dirty="0"/>
          </a:p>
        </p:txBody>
      </p:sp>
      <p:sp>
        <p:nvSpPr>
          <p:cNvPr id="207" name="Shape 204"/>
          <p:cNvSpPr/>
          <p:nvPr/>
        </p:nvSpPr>
        <p:spPr>
          <a:xfrm>
            <a:off x="8385048" y="4919472"/>
            <a:ext cx="2615184" cy="2560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8494776" y="5001768"/>
            <a:ext cx="2395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invertir una zona completa</a:t>
            </a:r>
            <a:endParaRPr lang="en-US" sz="730" dirty="0"/>
          </a:p>
        </p:txBody>
      </p:sp>
      <p:sp>
        <p:nvSpPr>
          <p:cNvPr id="209" name="Shape 206"/>
          <p:cNvSpPr/>
          <p:nvPr/>
        </p:nvSpPr>
        <p:spPr>
          <a:xfrm>
            <a:off x="950976" y="5650992"/>
            <a:ext cx="10149840" cy="347472"/>
          </a:xfrm>
          <a:prstGeom prst="roundRect">
            <a:avLst>
              <a:gd name="adj" fmla="val 1315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1225296" y="5760720"/>
            <a:ext cx="9601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oro: origen propio, destino vacío, distancia legal; luego se aplica la conversión.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infección es la regla que vuelve interesante el juego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destino de una pieza crea una ventana 3 x 3 que puede cambiar el balance completo.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6446520" cy="3822192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56816"/>
            <a:ext cx="6007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jugada puede cambiar una zona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042416" y="2304288"/>
            <a:ext cx="6007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pieza roja aterriza y convierte rivales adyacentes.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05840" y="2523744"/>
            <a:ext cx="3072384" cy="3072384"/>
          </a:xfrm>
          <a:prstGeom prst="rect">
            <a:avLst/>
          </a:prstGeom>
          <a:solidFill>
            <a:srgbClr val="F2F5F8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5840" y="252374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252374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83664" y="252374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22576" y="252374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61488" y="252374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252374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39312" y="252374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5840" y="296265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44752" y="296265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28145" y="3046049"/>
            <a:ext cx="272125" cy="27212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01619" y="3114081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83664" y="296265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22576" y="296265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61488" y="296265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0" y="296265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39312" y="296265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5840" y="3401568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444752" y="3401568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83664" y="3401568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11096" y="3429000"/>
            <a:ext cx="384048" cy="384048"/>
          </a:xfrm>
          <a:prstGeom prst="rect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967057" y="3484961"/>
            <a:ext cx="272125" cy="27212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40531" y="3552993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3401568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50008" y="3429000"/>
            <a:ext cx="384048" cy="384048"/>
          </a:xfrm>
          <a:prstGeom prst="rect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405969" y="3484961"/>
            <a:ext cx="272125" cy="27212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79443" y="3552993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761488" y="3401568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0" y="3401568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39312" y="3401568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05840" y="3840480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444752" y="3840480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883664" y="3840480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911096" y="3867912"/>
            <a:ext cx="384048" cy="384048"/>
          </a:xfrm>
          <a:prstGeom prst="rect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967057" y="3923873"/>
            <a:ext cx="272125" cy="27212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040531" y="3991905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322576" y="3840480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350008" y="3867912"/>
            <a:ext cx="384048" cy="384048"/>
          </a:xfrm>
          <a:prstGeom prst="rect">
            <a:avLst/>
          </a:prstGeom>
          <a:solidFill>
            <a:srgbClr val="D62027">
              <a:alpha val="82000"/>
            </a:srgbClr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761488" y="3840480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88920" y="3867912"/>
            <a:ext cx="384048" cy="384048"/>
          </a:xfrm>
          <a:prstGeom prst="rect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844881" y="3923873"/>
            <a:ext cx="272125" cy="27212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918355" y="3991905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200400" y="3840480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639312" y="3840480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05840" y="4279392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444752" y="4279392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883664" y="4279392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322576" y="4279392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350008" y="4306824"/>
            <a:ext cx="384048" cy="384048"/>
          </a:xfrm>
          <a:prstGeom prst="rect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405969" y="4362785"/>
            <a:ext cx="272125" cy="27212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479443" y="4430817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61488" y="4279392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200400" y="4279392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639312" y="4279392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05840" y="471830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444752" y="471830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883664" y="471830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322576" y="471830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761488" y="471830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200400" y="4718304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283793" y="4801697"/>
            <a:ext cx="272125" cy="27212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357267" y="4869729"/>
            <a:ext cx="65310" cy="48983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639312" y="4718304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05840" y="515721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444752" y="515721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883664" y="515721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322576" y="515721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761488" y="515721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200400" y="5157216"/>
            <a:ext cx="438912" cy="438912"/>
          </a:xfrm>
          <a:prstGeom prst="rect">
            <a:avLst/>
          </a:prstGeom>
          <a:solidFill>
            <a:srgbClr val="E8EEF5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639312" y="5157216"/>
            <a:ext cx="438912" cy="438912"/>
          </a:xfrm>
          <a:prstGeom prst="rect">
            <a:avLst/>
          </a:prstGeom>
          <a:solidFill>
            <a:srgbClr val="F8FBFD"/>
          </a:solidFill>
          <a:ln w="12700">
            <a:solidFill>
              <a:srgbClr val="D5DFEA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664208" y="3182112"/>
            <a:ext cx="877824" cy="87782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4334256" y="2523744"/>
            <a:ext cx="2752344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480560" y="2624328"/>
            <a:ext cx="115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</a:t>
            </a:r>
            <a:endParaRPr lang="en-US" sz="840" dirty="0"/>
          </a:p>
        </p:txBody>
      </p:sp>
      <p:sp>
        <p:nvSpPr>
          <p:cNvPr id="86" name="Text 83"/>
          <p:cNvSpPr/>
          <p:nvPr/>
        </p:nvSpPr>
        <p:spPr>
          <a:xfrm>
            <a:off x="5655381" y="2596896"/>
            <a:ext cx="12660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x 3</a:t>
            </a:r>
            <a:endParaRPr lang="en-US" sz="1140" dirty="0"/>
          </a:p>
        </p:txBody>
      </p:sp>
      <p:sp>
        <p:nvSpPr>
          <p:cNvPr id="87" name="Shape 84"/>
          <p:cNvSpPr/>
          <p:nvPr/>
        </p:nvSpPr>
        <p:spPr>
          <a:xfrm>
            <a:off x="4334256" y="3090672"/>
            <a:ext cx="2752344" cy="420624"/>
          </a:xfrm>
          <a:prstGeom prst="roundRect">
            <a:avLst>
              <a:gd name="adj" fmla="val 869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480560" y="3191256"/>
            <a:ext cx="115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</a:t>
            </a:r>
            <a:endParaRPr lang="en-US" sz="840" dirty="0"/>
          </a:p>
        </p:txBody>
      </p:sp>
      <p:sp>
        <p:nvSpPr>
          <p:cNvPr id="89" name="Text 86"/>
          <p:cNvSpPr/>
          <p:nvPr/>
        </p:nvSpPr>
        <p:spPr>
          <a:xfrm>
            <a:off x="5655381" y="3163824"/>
            <a:ext cx="12660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conversiones</a:t>
            </a:r>
            <a:endParaRPr lang="en-US" sz="1140" dirty="0"/>
          </a:p>
        </p:txBody>
      </p:sp>
      <p:sp>
        <p:nvSpPr>
          <p:cNvPr id="90" name="Shape 87"/>
          <p:cNvSpPr/>
          <p:nvPr/>
        </p:nvSpPr>
        <p:spPr>
          <a:xfrm>
            <a:off x="4334256" y="3657600"/>
            <a:ext cx="2752344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480560" y="3758184"/>
            <a:ext cx="115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92" name="Text 89"/>
          <p:cNvSpPr/>
          <p:nvPr/>
        </p:nvSpPr>
        <p:spPr>
          <a:xfrm>
            <a:off x="5655381" y="3730752"/>
            <a:ext cx="126607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conteo engañoso</a:t>
            </a:r>
            <a:endParaRPr lang="en-US" sz="1140" dirty="0"/>
          </a:p>
        </p:txBody>
      </p:sp>
      <p:sp>
        <p:nvSpPr>
          <p:cNvPr id="93" name="Text 90"/>
          <p:cNvSpPr/>
          <p:nvPr/>
        </p:nvSpPr>
        <p:spPr>
          <a:xfrm>
            <a:off x="4334256" y="4974336"/>
            <a:ext cx="2752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evaluación correcta debe mirar amenaza, soporte y respuesta rival, no solo cantidad actual de piezas.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7543800" y="1901952"/>
            <a:ext cx="3474720" cy="1874520"/>
          </a:xfrm>
          <a:prstGeom prst="roundRect">
            <a:avLst>
              <a:gd name="adj" fmla="val 195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671816" y="2011680"/>
            <a:ext cx="321868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781544" y="2084832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src/game/board.py</a:t>
            </a:r>
            <a:endParaRPr lang="en-US" sz="1000" dirty="0"/>
          </a:p>
        </p:txBody>
      </p:sp>
      <p:pic>
        <p:nvPicPr>
          <p:cNvPr id="9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3256" y="2468880"/>
            <a:ext cx="3054096" cy="1124712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7543800" y="4169664"/>
            <a:ext cx="3474720" cy="987552"/>
          </a:xfrm>
          <a:prstGeom prst="roundRect">
            <a:avLst>
              <a:gd name="adj" fmla="val 46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7790688" y="4443984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regla crea táctica local, amenazas latentes y posiciones que parecen ganadas hasta que colapsan.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contar piezas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métrica obvia puede ocultar la jugada que viene.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28800"/>
            <a:ext cx="4983480" cy="3547872"/>
          </a:xfrm>
          <a:prstGeom prst="roundRect">
            <a:avLst>
              <a:gd name="adj" fmla="val 12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828800"/>
            <a:ext cx="4983480" cy="3547872"/>
          </a:xfrm>
          <a:prstGeom prst="roundRect">
            <a:avLst>
              <a:gd name="adj" fmla="val 128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25296" y="2084832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16736" y="21671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6620256" y="2084832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11696" y="21671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286000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 visible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36992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Golpe táctico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298448" y="2615184"/>
            <a:ext cx="2048256" cy="2048256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8448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91056" y="261518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83664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76272" y="261518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68880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61488" y="261518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54096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298448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91056" y="290779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83664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76272" y="290779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468880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61488" y="290779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054096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98448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591056" y="3200400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883664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76272" y="3200400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468880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761488" y="3200400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054096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298448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91056" y="349300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883664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76272" y="349300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68880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61488" y="349300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054096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298448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591056" y="3785616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883664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176272" y="3785616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468880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761488" y="3785616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054096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298448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591056" y="40782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883664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176272" y="40782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468880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761488" y="40782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054096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298448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591056" y="437083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883664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176272" y="437083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468880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61488" y="437083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054096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356970" y="2673706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649578" y="2673706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356970" y="2966314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649578" y="2966314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649578" y="3258922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820010" y="4136746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234794" y="3258922"/>
            <a:ext cx="175565" cy="17556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942186" y="3551530"/>
            <a:ext cx="175565" cy="17556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527402" y="3551530"/>
            <a:ext cx="175565" cy="17556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234794" y="3844138"/>
            <a:ext cx="175565" cy="175565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693408" y="2615184"/>
            <a:ext cx="2048256" cy="2048256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693408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986016" y="261518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278624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571232" y="261518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863840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56448" y="261518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449056" y="261518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6693408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986016" y="290779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278624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571232" y="290779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863840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156448" y="290779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449056" y="290779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693408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986016" y="3200400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278624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7571232" y="3200400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863840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8156448" y="3200400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449056" y="3200400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693408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986016" y="349300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278624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571232" y="349300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863840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156448" y="3493008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449056" y="3493008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6693408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6986016" y="3785616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7278624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7571232" y="3785616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863840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8156448" y="3785616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8449056" y="3785616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6693408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986016" y="40782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7278624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7571232" y="40782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863840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156448" y="4078224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8449056" y="4078224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6693408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6986016" y="437083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7278624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7571232" y="437083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7863840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8156448" y="4370832"/>
            <a:ext cx="292608" cy="292608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8449056" y="4370832"/>
            <a:ext cx="2926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6751930" y="2673706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044538" y="2673706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751930" y="2966314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044538" y="2966314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044538" y="3258922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214970" y="4136746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629754" y="3551530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629754" y="3258922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337146" y="3551530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7922362" y="3551530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7629754" y="3844138"/>
            <a:ext cx="175565" cy="175565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639312" y="29077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jugador rojo parece cómodo si solo miramos conteo y centro.</a:t>
            </a:r>
            <a:endParaRPr lang="en-US" sz="930" dirty="0"/>
          </a:p>
        </p:txBody>
      </p:sp>
      <p:sp>
        <p:nvSpPr>
          <p:cNvPr id="140" name="Text 137"/>
          <p:cNvSpPr/>
          <p:nvPr/>
        </p:nvSpPr>
        <p:spPr>
          <a:xfrm>
            <a:off x="9052560" y="29077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jugada correcta puede convertir varias piezas y reescribir el balance.</a:t>
            </a:r>
            <a:endParaRPr lang="en-US" sz="930" dirty="0"/>
          </a:p>
        </p:txBody>
      </p:sp>
      <p:sp>
        <p:nvSpPr>
          <p:cNvPr id="141" name="Shape 138"/>
          <p:cNvSpPr/>
          <p:nvPr/>
        </p:nvSpPr>
        <p:spPr>
          <a:xfrm>
            <a:off x="5925312" y="3639312"/>
            <a:ext cx="34747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42" name="Shape 139"/>
          <p:cNvSpPr/>
          <p:nvPr/>
        </p:nvSpPr>
        <p:spPr>
          <a:xfrm>
            <a:off x="1143000" y="5559552"/>
            <a:ext cx="9921240" cy="493776"/>
          </a:xfrm>
          <a:prstGeom prst="roundRect">
            <a:avLst>
              <a:gd name="adj" fmla="val 925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444752" y="5705856"/>
            <a:ext cx="9326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evaluación seria necesita anticipar respuestas, no fotografiar el tablero.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Terminar una partida también es parte del modelo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condiciones de término no son detalles administrativos: estabilizan juego, evaluación y entrenamiento.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3730752" cy="3730752"/>
          </a:xfrm>
          <a:prstGeom prst="roundRect">
            <a:avLst>
              <a:gd name="adj" fmla="val 12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17627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is_game_over()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25296" y="2907792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partida no termina cuando “se siente resuelta”. Termina cuando una regla verificable lo declara.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298448" y="4096512"/>
            <a:ext cx="288950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81328" y="433425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+1 / 0 / -1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5065776" y="1865376"/>
            <a:ext cx="6144768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85232" y="2002536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2084832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870448" y="19933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Tablero lleno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7571232" y="1993392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casillas ocupadas; gana el mayor conteo.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5065776" y="2587752"/>
            <a:ext cx="6144768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85232" y="2724912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76672" y="280720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870448" y="271576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Eliminación</a:t>
            </a:r>
            <a:endParaRPr lang="en-US" sz="1060" dirty="0"/>
          </a:p>
        </p:txBody>
      </p:sp>
      <p:sp>
        <p:nvSpPr>
          <p:cNvPr id="24" name="Text 21"/>
          <p:cNvSpPr/>
          <p:nvPr/>
        </p:nvSpPr>
        <p:spPr>
          <a:xfrm>
            <a:off x="7571232" y="2715768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lado queda sin piezas tras una conversión.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5065776" y="3310128"/>
            <a:ext cx="6144768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85232" y="3447288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76672" y="352958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870448" y="343814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Tope de jugadas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7571232" y="3438144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medias jugadas cortan bucles en self-play.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5065776" y="4032504"/>
            <a:ext cx="6144768" cy="530352"/>
          </a:xfrm>
          <a:prstGeom prst="roundRect">
            <a:avLst>
              <a:gd name="adj" fmla="val 68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85232" y="4169664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76672" y="4251960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870448" y="416052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Triple repetición</a:t>
            </a:r>
            <a:endParaRPr lang="en-US" sz="1060" dirty="0"/>
          </a:p>
        </p:txBody>
      </p:sp>
      <p:sp>
        <p:nvSpPr>
          <p:cNvPr id="34" name="Text 31"/>
          <p:cNvSpPr/>
          <p:nvPr/>
        </p:nvSpPr>
        <p:spPr>
          <a:xfrm>
            <a:off x="7571232" y="4160520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posición aparece tres veces.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5065776" y="4754880"/>
            <a:ext cx="6144768" cy="530352"/>
          </a:xfrm>
          <a:prstGeom prst="roundRect">
            <a:avLst>
              <a:gd name="adj" fmla="val 689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285232" y="4892040"/>
            <a:ext cx="402336" cy="237744"/>
          </a:xfrm>
          <a:prstGeom prst="roundRect">
            <a:avLst>
              <a:gd name="adj" fmla="val 15385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76672" y="497433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870448" y="48828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Bloqueo total</a:t>
            </a:r>
            <a:endParaRPr lang="en-US" sz="1060" dirty="0"/>
          </a:p>
        </p:txBody>
      </p:sp>
      <p:sp>
        <p:nvSpPr>
          <p:cNvPr id="39" name="Text 36"/>
          <p:cNvSpPr/>
          <p:nvPr/>
        </p:nvSpPr>
        <p:spPr>
          <a:xfrm>
            <a:off x="7571232" y="4882896"/>
            <a:ext cx="3346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Ningún jugador tiene movimiento legal.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5065776" y="5559552"/>
            <a:ext cx="6144768" cy="384048"/>
          </a:xfrm>
          <a:prstGeom prst="roundRect">
            <a:avLst>
              <a:gd name="adj" fmla="val 1190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85232" y="5678424"/>
            <a:ext cx="57058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reglas también protegen el entrenamiento: evitan partidas eternas y resultados ambiguos.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escala del problema no es intuitiva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número no pretende contar partidas legales exactas; sirve para dimensionar por qué no basta enumerar.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32688" y="1847088"/>
            <a:ext cx="5248656" cy="1298448"/>
          </a:xfrm>
          <a:prstGeom prst="roundRect">
            <a:avLst>
              <a:gd name="adj" fmla="val 352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08483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cota simple de estados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1243584" y="232257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1773936" y="22402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59152" y="235915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2.4 × 10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4425696" y="22677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32688" y="3383280"/>
            <a:ext cx="5248656" cy="749808"/>
          </a:xfrm>
          <a:prstGeom prst="roundRect">
            <a:avLst>
              <a:gd name="adj" fmla="val 609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5296" y="3584448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correcta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395728" y="354787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todas esas posiciones son legales, pero el orden de magnitud ya descarta fuerza bruta ingenua.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932688" y="4370832"/>
            <a:ext cx="5248656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42416" y="4421124"/>
            <a:ext cx="50292" cy="11887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5296" y="4437583"/>
            <a:ext cx="20848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en raya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401568" y="4437583"/>
            <a:ext cx="21762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~5.000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932688" y="4663440"/>
            <a:ext cx="52486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2416" y="4713732"/>
            <a:ext cx="50292" cy="118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5296" y="4730191"/>
            <a:ext cx="20848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cuatro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401568" y="4730191"/>
            <a:ext cx="21762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 × 10^12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32688" y="4956048"/>
            <a:ext cx="5248656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2416" y="5006340"/>
            <a:ext cx="50292" cy="11887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25296" y="5022799"/>
            <a:ext cx="20848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Damas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401568" y="5022799"/>
            <a:ext cx="21762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84B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× 10^20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932688" y="5248656"/>
            <a:ext cx="5248656" cy="219456"/>
          </a:xfrm>
          <a:prstGeom prst="roundRect">
            <a:avLst>
              <a:gd name="adj" fmla="val 1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2416" y="5298948"/>
            <a:ext cx="50292" cy="118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25296" y="5315407"/>
            <a:ext cx="20848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Ataxx 7 x 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401568" y="5315407"/>
            <a:ext cx="21762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~10^22 a 10^23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32688" y="5541264"/>
            <a:ext cx="5248656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42416" y="5591556"/>
            <a:ext cx="50292" cy="1188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25296" y="5608015"/>
            <a:ext cx="20848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Ajedrez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3401568" y="5608015"/>
            <a:ext cx="217627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~10^46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803136" y="1828800"/>
            <a:ext cx="2999232" cy="2999232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803136" y="182880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31598" y="1828800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60059" y="182880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88521" y="1828800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516983" y="182880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945445" y="1828800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373906" y="182880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803136" y="225726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231598" y="225726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60059" y="225726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088521" y="225726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516983" y="225726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945445" y="2257262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373906" y="2257262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803136" y="2685723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231598" y="2685723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60059" y="2685723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088521" y="2685723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516983" y="2685723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945445" y="2685723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373906" y="2685723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803136" y="311418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231598" y="311418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660059" y="311418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088521" y="311418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516983" y="311418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945445" y="3114185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373906" y="3114185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803136" y="354264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231598" y="354264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660059" y="354264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088521" y="354264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516983" y="354264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45445" y="3542647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373906" y="3542647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803136" y="397110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231598" y="397110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660059" y="397110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088521" y="397110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516983" y="397110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945445" y="3971109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373906" y="3971109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803136" y="439957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231598" y="4399570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660059" y="439957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088521" y="4399570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516983" y="439957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945445" y="4399570"/>
            <a:ext cx="428462" cy="428462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373906" y="4399570"/>
            <a:ext cx="428462" cy="42846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888828" y="1914492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9459599" y="4485263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9459599" y="1914492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888828" y="4485263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745752" y="2771416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174213" y="2771416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174213" y="3199877"/>
            <a:ext cx="257077" cy="257077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602675" y="3628339"/>
            <a:ext cx="257077" cy="257077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92240" y="5065776"/>
            <a:ext cx="3694176" cy="603504"/>
          </a:xfrm>
          <a:prstGeom prst="roundRect">
            <a:avLst>
              <a:gd name="adj" fmla="val 757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784848" y="5257800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tablero es legible para humanos; el árbol completo no lo es para una máquina en tiempo real.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fuerza bruta se rompe por ramificación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 diez jugadas adelante no suma: multiplica.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2139696"/>
            <a:ext cx="1901952" cy="2029968"/>
          </a:xfrm>
          <a:prstGeom prst="roundRect">
            <a:avLst>
              <a:gd name="adj" fmla="val 24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40864"/>
            <a:ext cx="109728" cy="16276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4323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actual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152144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70432" y="34930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visible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761488" y="296265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×100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2670048" y="3346704"/>
            <a:ext cx="4754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18688" y="2139696"/>
            <a:ext cx="1901952" cy="2029968"/>
          </a:xfrm>
          <a:prstGeom prst="roundRect">
            <a:avLst>
              <a:gd name="adj" fmla="val 24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46704" y="2340864"/>
            <a:ext cx="109728" cy="162763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47872" y="24323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jugada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3511296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529584" y="34930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opciones propias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120640" y="296265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×100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5029200" y="3346704"/>
            <a:ext cx="4754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577840" y="2139696"/>
            <a:ext cx="1901952" cy="2029968"/>
          </a:xfrm>
          <a:prstGeom prst="roundRect">
            <a:avLst>
              <a:gd name="adj" fmla="val 24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05856" y="2340864"/>
            <a:ext cx="109728" cy="16276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07024" y="24323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jugadas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5870448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10.000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888736" y="34930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rival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7479792" y="296265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×100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7388352" y="3346704"/>
            <a:ext cx="4754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936992" y="2139696"/>
            <a:ext cx="1901952" cy="2029968"/>
          </a:xfrm>
          <a:prstGeom prst="roundRect">
            <a:avLst>
              <a:gd name="adj" fmla="val 24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65008" y="2340864"/>
            <a:ext cx="109728" cy="16276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66176" y="24323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jugadas</a:t>
            </a:r>
            <a:endParaRPr lang="en-US" sz="820" dirty="0"/>
          </a:p>
        </p:txBody>
      </p:sp>
      <p:sp>
        <p:nvSpPr>
          <p:cNvPr id="34" name="Text 31"/>
          <p:cNvSpPr/>
          <p:nvPr/>
        </p:nvSpPr>
        <p:spPr>
          <a:xfrm>
            <a:off x="8229600" y="28529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1.000.000</a:t>
            </a:r>
            <a:endParaRPr lang="en-US" sz="1520" dirty="0"/>
          </a:p>
        </p:txBody>
      </p:sp>
      <p:sp>
        <p:nvSpPr>
          <p:cNvPr id="35" name="Text 32"/>
          <p:cNvSpPr/>
          <p:nvPr/>
        </p:nvSpPr>
        <p:spPr>
          <a:xfrm>
            <a:off x="8247888" y="349300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explota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893808" y="2139696"/>
            <a:ext cx="1426464" cy="896112"/>
          </a:xfrm>
          <a:prstGeom prst="roundRect">
            <a:avLst>
              <a:gd name="adj" fmla="val 510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21824" y="2286000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22992" y="2304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jugadas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10222992" y="2578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100^10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9893808" y="3401568"/>
            <a:ext cx="1426464" cy="896112"/>
          </a:xfrm>
          <a:prstGeom prst="roundRect">
            <a:avLst>
              <a:gd name="adj" fmla="val 510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021824" y="3547872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22992" y="35661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ramas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10222992" y="3840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10^20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1005840" y="4882896"/>
            <a:ext cx="10058400" cy="566928"/>
          </a:xfrm>
          <a:prstGeom prst="roundRect">
            <a:avLst>
              <a:gd name="adj" fmla="val 806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298448" y="5065776"/>
            <a:ext cx="947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Conclusión: el sistema debe decidir sin conocer el final. Por eso necesita evaluación, heurísticas y luego búsqueda guiada.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heurísticas, fijamos el problema con precisión.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60120" y="1993392"/>
            <a:ext cx="10241280" cy="841248"/>
          </a:xfrm>
          <a:prstGeom prst="roundRect">
            <a:avLst>
              <a:gd name="adj" fmla="val 54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7008" y="2221992"/>
            <a:ext cx="512064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23042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938528" y="21762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una jugada puede convertir hasta ocho piezas, ¿por qué contar piezas no alcanza?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1938528" y="25237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separa ventaja visible, amenaza local y respuesta del rival.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960120" y="3127248"/>
            <a:ext cx="10241280" cy="841248"/>
          </a:xfrm>
          <a:prstGeom prst="roundRect">
            <a:avLst>
              <a:gd name="adj" fmla="val 543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07008" y="3355848"/>
            <a:ext cx="512064" cy="292608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343814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938528" y="331012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cambia estratégicamente entre clonar y saltar?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1938528" y="365760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una jugada aumenta presencia; la otra cambia geometría.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960120" y="4261104"/>
            <a:ext cx="10241280" cy="841248"/>
          </a:xfrm>
          <a:prstGeom prst="roundRect">
            <a:avLst>
              <a:gd name="adj" fmla="val 54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07008" y="4489704"/>
            <a:ext cx="512064" cy="292608"/>
          </a:xfrm>
          <a:prstGeom prst="roundRect">
            <a:avLst>
              <a:gd name="adj" fmla="val 125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8448" y="45720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938528" y="44439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Ataxx no se resuelve probando todas las jugadas hasta el final?</a:t>
            </a:r>
            <a:endParaRPr lang="en-US" sz="1340" dirty="0"/>
          </a:p>
        </p:txBody>
      </p:sp>
      <p:sp>
        <p:nvSpPr>
          <p:cNvPr id="24" name="Text 21"/>
          <p:cNvSpPr/>
          <p:nvPr/>
        </p:nvSpPr>
        <p:spPr>
          <a:xfrm>
            <a:off x="1938528" y="479145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ramificación, profundidad y tiempo real.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9784080" y="658368"/>
            <a:ext cx="914400" cy="5852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4944" y="781263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1956" y="603504"/>
            <a:ext cx="237012" cy="63203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8471" y="781263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243584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325880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26 · Bloque 2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841248" y="18745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aprender: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41248" y="2542032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escribir criterio a mano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96112" y="3310128"/>
            <a:ext cx="6016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heurística convierte intuición técnica en una función de puntaje. No aprende todavía: ordena jugadas con señales diseñadas por una persona.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914400" y="4315968"/>
            <a:ext cx="404164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4489704"/>
            <a:ext cx="3456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movimiento → número → decisión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498080" y="1865376"/>
            <a:ext cx="3602736" cy="877824"/>
          </a:xfrm>
          <a:prstGeom prst="roundRect">
            <a:avLst>
              <a:gd name="adj" fmla="val 5208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99248" y="2029968"/>
            <a:ext cx="109728" cy="5486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91856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Premia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7991856" y="2340864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ganar piezas, ocupar centro, mantener movilidad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7498080" y="3017520"/>
            <a:ext cx="3602736" cy="877824"/>
          </a:xfrm>
          <a:prstGeom prst="roundRect">
            <a:avLst>
              <a:gd name="adj" fmla="val 520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99248" y="3182112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91856" y="3200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Castiga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7991856" y="349300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dejar respuesta fuerte, aislar piezas, perder soporte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7498080" y="4169664"/>
            <a:ext cx="3602736" cy="877824"/>
          </a:xfrm>
          <a:prstGeom prst="roundRect">
            <a:avLst>
              <a:gd name="adj" fmla="val 520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99248" y="4334256"/>
            <a:ext cx="109728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1856" y="4352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aprende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7991856" y="464515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patrón falla, seguirá aplicando la misma regla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7498080" y="5340096"/>
            <a:ext cx="3602736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5468112"/>
            <a:ext cx="3054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IA en sentido práctico, pero no aprendizaje automático.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anatomía de _score_move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heurística base mira el antes y el después de una jugada candidata.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74520"/>
            <a:ext cx="5650992" cy="3493008"/>
          </a:xfrm>
          <a:prstGeom prst="roundRect">
            <a:avLst>
              <a:gd name="adj" fmla="val 10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84248"/>
            <a:ext cx="53949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057400"/>
            <a:ext cx="5175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src/agents/heuristic.py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704" y="2441448"/>
            <a:ext cx="5230368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31152" y="1920240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50608" y="2139696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42048" y="22219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20" dirty="0"/>
          </a:p>
        </p:txBody>
      </p:sp>
      <p:sp>
        <p:nvSpPr>
          <p:cNvPr id="17" name="Text 13"/>
          <p:cNvSpPr/>
          <p:nvPr/>
        </p:nvSpPr>
        <p:spPr>
          <a:xfrm>
            <a:off x="7790688" y="2039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790688" y="2340864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toca el tablero real; prueba una copia</a:t>
            </a:r>
            <a:endParaRPr lang="en-US" sz="780" dirty="0"/>
          </a:p>
        </p:txBody>
      </p:sp>
      <p:sp>
        <p:nvSpPr>
          <p:cNvPr id="19" name="Shape 15"/>
          <p:cNvSpPr/>
          <p:nvPr/>
        </p:nvSpPr>
        <p:spPr>
          <a:xfrm>
            <a:off x="6931152" y="2999232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50608" y="3218688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42048" y="3300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20" dirty="0"/>
          </a:p>
        </p:txBody>
      </p:sp>
      <p:sp>
        <p:nvSpPr>
          <p:cNvPr id="22" name="Text 18"/>
          <p:cNvSpPr/>
          <p:nvPr/>
        </p:nvSpPr>
        <p:spPr>
          <a:xfrm>
            <a:off x="7790688" y="3118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790688" y="3419856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piezas propias y rivales antes/después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6931152" y="4078224"/>
            <a:ext cx="3986784" cy="804672"/>
          </a:xfrm>
          <a:prstGeom prst="roundRect">
            <a:avLst>
              <a:gd name="adj" fmla="val 56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50608" y="4297680"/>
            <a:ext cx="438912" cy="274320"/>
          </a:xfrm>
          <a:prstGeom prst="roundRect">
            <a:avLst>
              <a:gd name="adj" fmla="val 1333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42048" y="43799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20" dirty="0"/>
          </a:p>
        </p:txBody>
      </p:sp>
      <p:sp>
        <p:nvSpPr>
          <p:cNvPr id="27" name="Text 23"/>
          <p:cNvSpPr/>
          <p:nvPr/>
        </p:nvSpPr>
        <p:spPr>
          <a:xfrm>
            <a:off x="7790688" y="4197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sesgar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790688" y="44988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premia clonar y ocupar centro, pero no ve todo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6931152" y="5175504"/>
            <a:ext cx="3986784" cy="438912"/>
          </a:xfrm>
          <a:prstGeom prst="roundRect">
            <a:avLst>
              <a:gd name="adj" fmla="val 104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87184" y="5321808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no sabe jugar: sabe ordenar señales que una persona decidió valorar.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niveles, seis estilos de decisión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dificultad no sube solo por hacer más cálculo; también cambia el tipo de error que comete la IA.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65376"/>
            <a:ext cx="3163824" cy="969264"/>
          </a:xfrm>
          <a:prstGeom prst="roundRect">
            <a:avLst>
              <a:gd name="adj" fmla="val 471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011680"/>
            <a:ext cx="109728" cy="6766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16736" y="206654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2871216" y="206654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316736" y="2432304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variedad controlada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462272" y="1865376"/>
            <a:ext cx="3163824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08576" y="2011680"/>
            <a:ext cx="109728" cy="676656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01184" y="206654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455664" y="206654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4901184" y="2432304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estable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046720" y="1865376"/>
            <a:ext cx="3163824" cy="969264"/>
          </a:xfrm>
          <a:prstGeom prst="roundRect">
            <a:avLst>
              <a:gd name="adj" fmla="val 47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93024" y="2011680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85632" y="206654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10040112" y="206654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8485632" y="2432304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castiga respuesta rival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77824" y="3035808"/>
            <a:ext cx="3163824" cy="969264"/>
          </a:xfrm>
          <a:prstGeom prst="roundRect">
            <a:avLst>
              <a:gd name="adj" fmla="val 47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4128" y="3182112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16736" y="323697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apex</a:t>
            </a: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2871216" y="32369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1316736" y="3602736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líneas críticas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4462272" y="3035808"/>
            <a:ext cx="3163824" cy="969264"/>
          </a:xfrm>
          <a:prstGeom prst="roundRect">
            <a:avLst>
              <a:gd name="adj" fmla="val 47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08576" y="3182112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01184" y="323697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gambit</a:t>
            </a:r>
            <a:endParaRPr lang="en-US" sz="1440" dirty="0"/>
          </a:p>
        </p:txBody>
      </p:sp>
      <p:sp>
        <p:nvSpPr>
          <p:cNvPr id="33" name="Text 30"/>
          <p:cNvSpPr/>
          <p:nvPr/>
        </p:nvSpPr>
        <p:spPr>
          <a:xfrm>
            <a:off x="6455664" y="32369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ataca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4901184" y="3602736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presión y flancos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8046720" y="3035808"/>
            <a:ext cx="3163824" cy="969264"/>
          </a:xfrm>
          <a:prstGeom prst="roundRect">
            <a:avLst>
              <a:gd name="adj" fmla="val 471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93024" y="3182112"/>
            <a:ext cx="109728" cy="6766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85632" y="323697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1440" dirty="0"/>
          </a:p>
        </p:txBody>
      </p:sp>
      <p:sp>
        <p:nvSpPr>
          <p:cNvPr id="38" name="Text 35"/>
          <p:cNvSpPr/>
          <p:nvPr/>
        </p:nvSpPr>
        <p:spPr>
          <a:xfrm>
            <a:off x="10040112" y="323697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sostiene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8485632" y="3602736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 y movilidad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987552" y="457200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35024" y="4791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heurística fuerte no es una verdad del juego.</a:t>
            </a:r>
            <a:endParaRPr lang="en-US" sz="1440" dirty="0"/>
          </a:p>
        </p:txBody>
      </p:sp>
      <p:sp>
        <p:nvSpPr>
          <p:cNvPr id="42" name="Text 39"/>
          <p:cNvSpPr/>
          <p:nvPr/>
        </p:nvSpPr>
        <p:spPr>
          <a:xfrm>
            <a:off x="1389888" y="5102352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hipótesis escrita por una persona sobre qué señales importan.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36208" y="4572000"/>
            <a:ext cx="4800600" cy="822960"/>
          </a:xfrm>
          <a:prstGeom prst="roundRect">
            <a:avLst>
              <a:gd name="adj" fmla="val 55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01968" y="4809744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rival aprende esa hipótesis, también puede aprender a romperla.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 y normal: variedad controlada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IA de juego no siempre debe elegir la jugada máxima si queremos experiencia y exploración.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83664"/>
            <a:ext cx="4882896" cy="3456432"/>
          </a:xfrm>
          <a:prstGeom prst="roundRect">
            <a:avLst>
              <a:gd name="adj" fmla="val 1323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084832"/>
            <a:ext cx="109728" cy="30540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2651760" y="22128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entre buenas jugadas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1371600" y="284835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1737360" y="2871216"/>
            <a:ext cx="301752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2871216"/>
            <a:ext cx="2715768" cy="11887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324154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737360" y="3264408"/>
            <a:ext cx="301752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37360" y="3264408"/>
            <a:ext cx="2051914" cy="118872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363474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1737360" y="3657600"/>
            <a:ext cx="301752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37360" y="3657600"/>
            <a:ext cx="1267358" cy="1188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71600" y="40279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1737360" y="4050792"/>
            <a:ext cx="3017520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737360" y="4050792"/>
            <a:ext cx="663854" cy="118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71600" y="46085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juega al azar puro: mantiene sesgo hacia opciones razonables.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6327648" y="1883664"/>
            <a:ext cx="4882896" cy="3456432"/>
          </a:xfrm>
          <a:prstGeom prst="roundRect">
            <a:avLst>
              <a:gd name="adj" fmla="val 132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92240" y="2084832"/>
            <a:ext cx="109728" cy="3054096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217627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750" dirty="0"/>
          </a:p>
        </p:txBody>
      </p:sp>
      <p:sp>
        <p:nvSpPr>
          <p:cNvPr id="30" name="Text 27"/>
          <p:cNvSpPr/>
          <p:nvPr/>
        </p:nvSpPr>
        <p:spPr>
          <a:xfrm>
            <a:off x="8229600" y="221284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partidas repetidas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912864" y="2743200"/>
            <a:ext cx="1609344" cy="1609344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12864" y="2743200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42770" y="2743200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72677" y="2743200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602583" y="2743200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32489" y="2743200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62395" y="2743200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92302" y="2743200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912864" y="2973106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142770" y="2973106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72677" y="2973106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02583" y="2973106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832489" y="2973106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62395" y="2973106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292302" y="2973106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12864" y="3203013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142770" y="3203013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372677" y="3203013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02583" y="3203013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832489" y="3203013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62395" y="3203013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292302" y="3203013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912864" y="3432919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42770" y="3432919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72677" y="3432919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02583" y="3432919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32489" y="3432919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62395" y="3432919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292302" y="3432919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912864" y="3662825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42770" y="3662825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372677" y="3662825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602583" y="3662825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832489" y="3662825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062395" y="3662825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292302" y="3662825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912864" y="3892731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142770" y="3892731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372677" y="3892731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602583" y="3892731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832489" y="3892731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062395" y="3892731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292302" y="3892731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912864" y="4122638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142770" y="4122638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372677" y="4122638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602583" y="4122638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832489" y="4122638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062395" y="4122638"/>
            <a:ext cx="229906" cy="229906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292302" y="4122638"/>
            <a:ext cx="229906" cy="22990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418658" y="3248994"/>
            <a:ext cx="137944" cy="13794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18658" y="3478900"/>
            <a:ext cx="137944" cy="13794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648564" y="3478900"/>
            <a:ext cx="137944" cy="137944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878470" y="3708806"/>
            <a:ext cx="137944" cy="13794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759952" y="2798064"/>
            <a:ext cx="1993392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942832" y="301752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pedagógico</a:t>
            </a:r>
            <a:endParaRPr lang="en-US" sz="980" dirty="0"/>
          </a:p>
        </p:txBody>
      </p:sp>
      <p:sp>
        <p:nvSpPr>
          <p:cNvPr id="87" name="Text 84"/>
          <p:cNvSpPr/>
          <p:nvPr/>
        </p:nvSpPr>
        <p:spPr>
          <a:xfrm>
            <a:off x="8961120" y="345643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rival predecible enseña poco; uno caótico tampoco enseña.</a:t>
            </a:r>
            <a:endParaRPr lang="en-US" sz="920" dirty="0"/>
          </a:p>
        </p:txBody>
      </p:sp>
      <p:sp>
        <p:nvSpPr>
          <p:cNvPr id="88" name="Text 85"/>
          <p:cNvSpPr/>
          <p:nvPr/>
        </p:nvSpPr>
        <p:spPr>
          <a:xfrm>
            <a:off x="6858000" y="460857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variedad controlada mejora práctica y evita memorizar una única línea.</a:t>
            </a:r>
            <a:endParaRPr lang="en-US" sz="10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y apex: mirar la respuesta del rival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siguiente salto de calidad es castigar jugadas que permiten un golpe inmediato.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32688" y="1874520"/>
            <a:ext cx="4983480" cy="3529584"/>
          </a:xfrm>
          <a:prstGeom prst="roundRect">
            <a:avLst>
              <a:gd name="adj" fmla="val 129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1214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2560320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penaliza la mejor respuesta rival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1389888" y="2724912"/>
            <a:ext cx="3456432" cy="420624"/>
          </a:xfrm>
          <a:prstGeom prst="roundRect">
            <a:avLst>
              <a:gd name="adj" fmla="val 108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27632" y="28346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evalúa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706624" y="2834640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jugada candidata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127248" y="3145536"/>
            <a:ext cx="0" cy="20116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389888" y="3346704"/>
            <a:ext cx="345643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27632" y="345643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pregunta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2706624" y="3456432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el mejor golpe rival?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127248" y="3767328"/>
            <a:ext cx="0" cy="20116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389888" y="3968496"/>
            <a:ext cx="3456432" cy="420624"/>
          </a:xfrm>
          <a:prstGeom prst="roundRect">
            <a:avLst>
              <a:gd name="adj" fmla="val 108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407822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castiga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2706624" y="4078224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rival gana demasiado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1371600" y="4626864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754880"/>
            <a:ext cx="3511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evita jugadas que “ganan ahora” pero regalan una respuesta fuerte.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327648" y="1874520"/>
            <a:ext cx="4983480" cy="3529584"/>
          </a:xfrm>
          <a:prstGeom prst="roundRect">
            <a:avLst>
              <a:gd name="adj" fmla="val 129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56832" y="21214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apex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8321040" y="21762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lookahead selectivo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6784848" y="2816352"/>
            <a:ext cx="1078992" cy="120700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76288" y="3017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candidatas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6894576" y="341985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mira todas igual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7863840" y="3419856"/>
            <a:ext cx="27432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156448" y="2816352"/>
            <a:ext cx="1078992" cy="1207008"/>
          </a:xfrm>
          <a:prstGeom prst="roundRect">
            <a:avLst>
              <a:gd name="adj" fmla="val 423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47888" y="3017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críticas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8266176" y="341985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 riesgo local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9235440" y="3419856"/>
            <a:ext cx="27432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528048" y="2816352"/>
            <a:ext cx="1078992" cy="1207008"/>
          </a:xfrm>
          <a:prstGeom prst="roundRect">
            <a:avLst>
              <a:gd name="adj" fmla="val 423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19488" y="3017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9637776" y="341985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lo robusto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6784848" y="4224528"/>
            <a:ext cx="382219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04304" y="4302252"/>
            <a:ext cx="3383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no expande el árbol completo: invierte cálculo donde equivocarse cuesta caro.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6784848" y="4626864"/>
            <a:ext cx="40233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22592" y="4754880"/>
            <a:ext cx="3547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no resuelve el árbol: mira las líneas donde el error sería más caro.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Gambit y sentinel: dos estilos especializados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heurística ya no solo calcula; empieza a tener personalidad táctica.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83664"/>
            <a:ext cx="4992624" cy="3584448"/>
          </a:xfrm>
          <a:prstGeom prst="roundRect">
            <a:avLst>
              <a:gd name="adj" fmla="val 127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084832"/>
            <a:ext cx="109728" cy="3182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35024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gambit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24912" y="221284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presión, flancos y saltos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1426464" y="2816352"/>
            <a:ext cx="1444752" cy="1444752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26464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32857" y="2816352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39250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45643" y="2816352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52037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58430" y="2816352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64823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26464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32857" y="302274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39250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45643" y="302274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52037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58430" y="302274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4823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26464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632857" y="322913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39250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45643" y="322913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52037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458430" y="322913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64823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426464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632857" y="343553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839250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045643" y="343553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252037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458430" y="343553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664823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426464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632857" y="364192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839250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45643" y="364192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252037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458430" y="364192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664823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426464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632857" y="384831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839250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045643" y="384831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252037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458430" y="384831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664823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426464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632857" y="405471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839250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045643" y="405471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252037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458430" y="405471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64823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674136" y="3476810"/>
            <a:ext cx="123836" cy="1238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086922" y="3476810"/>
            <a:ext cx="123836" cy="12383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293315" y="3270417"/>
            <a:ext cx="123836" cy="12383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293315" y="3683203"/>
            <a:ext cx="123836" cy="12383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499708" y="3889596"/>
            <a:ext cx="123836" cy="1238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255264" y="2816352"/>
            <a:ext cx="2212848" cy="329184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419856" y="2921508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presión de radio 2</a:t>
            </a:r>
            <a:endParaRPr lang="en-US" sz="740" dirty="0"/>
          </a:p>
        </p:txBody>
      </p:sp>
      <p:sp>
        <p:nvSpPr>
          <p:cNvPr id="71" name="Shape 68"/>
          <p:cNvSpPr/>
          <p:nvPr/>
        </p:nvSpPr>
        <p:spPr>
          <a:xfrm>
            <a:off x="3255264" y="3346704"/>
            <a:ext cx="2212848" cy="329184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419856" y="3451860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 riesgo si gana iniciativa</a:t>
            </a:r>
            <a:endParaRPr lang="en-US" sz="740" dirty="0"/>
          </a:p>
        </p:txBody>
      </p:sp>
      <p:sp>
        <p:nvSpPr>
          <p:cNvPr id="73" name="Shape 70"/>
          <p:cNvSpPr/>
          <p:nvPr/>
        </p:nvSpPr>
        <p:spPr>
          <a:xfrm>
            <a:off x="3255264" y="3877056"/>
            <a:ext cx="2212848" cy="329184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419856" y="3982212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castiga agrupaciones rivales</a:t>
            </a:r>
            <a:endParaRPr lang="en-US" sz="740" dirty="0"/>
          </a:p>
        </p:txBody>
      </p:sp>
      <p:sp>
        <p:nvSpPr>
          <p:cNvPr id="75" name="Shape 72"/>
          <p:cNvSpPr/>
          <p:nvPr/>
        </p:nvSpPr>
        <p:spPr>
          <a:xfrm>
            <a:off x="1426464" y="4773168"/>
            <a:ext cx="40416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645920" y="4892040"/>
            <a:ext cx="3602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agresiva no significa siempre mejor.</a:t>
            </a:r>
            <a:endParaRPr lang="en-US" sz="760" dirty="0"/>
          </a:p>
        </p:txBody>
      </p:sp>
      <p:sp>
        <p:nvSpPr>
          <p:cNvPr id="77" name="Shape 74"/>
          <p:cNvSpPr/>
          <p:nvPr/>
        </p:nvSpPr>
        <p:spPr>
          <a:xfrm>
            <a:off x="6291072" y="1883664"/>
            <a:ext cx="4992624" cy="3584448"/>
          </a:xfrm>
          <a:prstGeom prst="roundRect">
            <a:avLst>
              <a:gd name="adj" fmla="val 127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455664" y="2084832"/>
            <a:ext cx="109728" cy="31821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729984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8119872" y="221284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 local y movilidad</a:t>
            </a:r>
            <a:endParaRPr lang="en-US" sz="840" dirty="0"/>
          </a:p>
        </p:txBody>
      </p:sp>
      <p:sp>
        <p:nvSpPr>
          <p:cNvPr id="81" name="Shape 78"/>
          <p:cNvSpPr/>
          <p:nvPr/>
        </p:nvSpPr>
        <p:spPr>
          <a:xfrm>
            <a:off x="6821424" y="2816352"/>
            <a:ext cx="1444752" cy="1444752"/>
          </a:xfrm>
          <a:prstGeom prst="rect">
            <a:avLst/>
          </a:prstGeom>
          <a:solidFill>
            <a:srgbClr val="F7FAFD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821424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027817" y="2816352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234210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440603" y="2816352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646997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7853390" y="2816352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8059783" y="2816352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821424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027817" y="302274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234210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440603" y="302274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646997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853390" y="302274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059783" y="302274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821424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027817" y="322913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234210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440603" y="322913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646997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853390" y="322913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8059783" y="322913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821424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027817" y="343553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234210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440603" y="343553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646997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7853390" y="343553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8059783" y="343553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821424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027817" y="364192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234210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440603" y="364192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7646997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7853390" y="3641925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8059783" y="3641925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821424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027817" y="384831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234210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440603" y="384831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7646997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7853390" y="3848318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8059783" y="3848318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6821424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7027817" y="405471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7234210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440603" y="405471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646997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853390" y="4054711"/>
            <a:ext cx="206393" cy="206393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8059783" y="4054711"/>
            <a:ext cx="206393" cy="206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481882" y="3476810"/>
            <a:ext cx="123836" cy="1238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275489" y="3270417"/>
            <a:ext cx="123836" cy="1238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275489" y="3683203"/>
            <a:ext cx="123836" cy="1238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481882" y="3270417"/>
            <a:ext cx="123836" cy="12383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7688275" y="3476810"/>
            <a:ext cx="123836" cy="12383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650224" y="2816352"/>
            <a:ext cx="2212848" cy="329184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8814816" y="2921508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prefiere piezas protegidas</a:t>
            </a:r>
            <a:endParaRPr lang="en-US" sz="740" dirty="0"/>
          </a:p>
        </p:txBody>
      </p:sp>
      <p:sp>
        <p:nvSpPr>
          <p:cNvPr id="138" name="Shape 135"/>
          <p:cNvSpPr/>
          <p:nvPr/>
        </p:nvSpPr>
        <p:spPr>
          <a:xfrm>
            <a:off x="8650224" y="3346704"/>
            <a:ext cx="2212848" cy="329184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8814816" y="3451860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frontera vulnerable</a:t>
            </a:r>
            <a:endParaRPr lang="en-US" sz="740" dirty="0"/>
          </a:p>
        </p:txBody>
      </p:sp>
      <p:sp>
        <p:nvSpPr>
          <p:cNvPr id="140" name="Shape 137"/>
          <p:cNvSpPr/>
          <p:nvPr/>
        </p:nvSpPr>
        <p:spPr>
          <a:xfrm>
            <a:off x="8650224" y="3877056"/>
            <a:ext cx="2212848" cy="329184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8814816" y="3982212"/>
            <a:ext cx="18836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opciones futuras</a:t>
            </a:r>
            <a:endParaRPr lang="en-US" sz="740" dirty="0"/>
          </a:p>
        </p:txBody>
      </p:sp>
      <p:sp>
        <p:nvSpPr>
          <p:cNvPr id="142" name="Shape 139"/>
          <p:cNvSpPr/>
          <p:nvPr/>
        </p:nvSpPr>
        <p:spPr>
          <a:xfrm>
            <a:off x="6821424" y="4773168"/>
            <a:ext cx="404164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7040880" y="4892040"/>
            <a:ext cx="3602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defensiva no significa invulnerable.</a:t>
            </a:r>
            <a:endParaRPr lang="en-US" sz="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techo de una heurística: ser explotable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rival descubre el patrón, la fortaleza se convierte en superficie de ataque.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2084832"/>
            <a:ext cx="2139696" cy="1993392"/>
          </a:xfrm>
          <a:prstGeom prst="roundRect">
            <a:avLst>
              <a:gd name="adj" fmla="val 229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86000"/>
            <a:ext cx="109728" cy="15910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4140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fija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243584" y="29260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siempre puntúa igual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3035808" y="3072384"/>
            <a:ext cx="4754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566160" y="2084832"/>
            <a:ext cx="2139696" cy="1993392"/>
          </a:xfrm>
          <a:prstGeom prst="roundRect">
            <a:avLst>
              <a:gd name="adj" fmla="val 229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94176" y="2286000"/>
            <a:ext cx="109728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13632" y="24140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Patrón repetible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3913632" y="29260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parecido ante posiciones parecidas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5705856" y="3072384"/>
            <a:ext cx="4754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36208" y="2084832"/>
            <a:ext cx="2139696" cy="1993392"/>
          </a:xfrm>
          <a:prstGeom prst="roundRect">
            <a:avLst>
              <a:gd name="adj" fmla="val 229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64224" y="2286000"/>
            <a:ext cx="109728" cy="15910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24140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forzada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6583680" y="29260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rival induce la respuesta que quiere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8375904" y="3072384"/>
            <a:ext cx="47548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06256" y="2084832"/>
            <a:ext cx="2139696" cy="1993392"/>
          </a:xfrm>
          <a:prstGeom prst="roundRect">
            <a:avLst>
              <a:gd name="adj" fmla="val 229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34272" y="2286000"/>
            <a:ext cx="109728" cy="15910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53728" y="24140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Exploit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9253728" y="29260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gana por conocer la regla, no por jugar mejor</a:t>
            </a:r>
            <a:endParaRPr lang="en-US" sz="830" dirty="0"/>
          </a:p>
        </p:txBody>
      </p:sp>
      <p:sp>
        <p:nvSpPr>
          <p:cNvPr id="29" name="Shape 26"/>
          <p:cNvSpPr/>
          <p:nvPr/>
        </p:nvSpPr>
        <p:spPr>
          <a:xfrm>
            <a:off x="1005840" y="4681728"/>
            <a:ext cx="4663440" cy="694944"/>
          </a:xfrm>
          <a:prstGeom prst="roundRect">
            <a:avLst>
              <a:gd name="adj" fmla="val 65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98448" y="4901184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 también es ciberseguridad conceptual: una política predecible expone una superficie de ataque.</a:t>
            </a:r>
            <a:endParaRPr lang="en-US" sz="910" dirty="0"/>
          </a:p>
        </p:txBody>
      </p:sp>
      <p:sp>
        <p:nvSpPr>
          <p:cNvPr id="31" name="Shape 28"/>
          <p:cNvSpPr/>
          <p:nvPr/>
        </p:nvSpPr>
        <p:spPr>
          <a:xfrm>
            <a:off x="6199632" y="4681728"/>
            <a:ext cx="4663440" cy="694944"/>
          </a:xfrm>
          <a:prstGeom prst="roundRect">
            <a:avLst>
              <a:gd name="adj" fmla="val 65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490118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es usar reglas. El problema es creer que una regla fija equivale a comprensión.</a:t>
            </a:r>
            <a:endParaRPr lang="en-US" sz="9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una IA aprende a ganarle al examen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postmortem 05 mostró una señal clásica: buen resultado contra un rival visto, mal resultado fuera de esa dieta.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83664"/>
            <a:ext cx="4736592" cy="3657600"/>
          </a:xfrm>
          <a:prstGeom prst="roundRect">
            <a:avLst>
              <a:gd name="adj" fmla="val 1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17627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centinela v6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53312" y="283464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Parecía fuerte porque dominaba el rival que más había visto.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1371600" y="3730752"/>
            <a:ext cx="37673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72768" y="3931920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alto vs sentinel ≠ saber Ataxx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1389888" y="477316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patrón se llama opponent exploitation.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144768" y="1883664"/>
            <a:ext cx="4937760" cy="3657600"/>
          </a:xfrm>
          <a:prstGeom prst="roundRect">
            <a:avLst>
              <a:gd name="adj" fmla="val 1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2139696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perfil por rival</a:t>
            </a:r>
            <a:endParaRPr lang="en-US" sz="1480" dirty="0"/>
          </a:p>
        </p:txBody>
      </p:sp>
      <p:sp>
        <p:nvSpPr>
          <p:cNvPr id="18" name="Text 15"/>
          <p:cNvSpPr/>
          <p:nvPr/>
        </p:nvSpPr>
        <p:spPr>
          <a:xfrm>
            <a:off x="6492240" y="2688336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7452360" y="2697480"/>
            <a:ext cx="2633472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52360" y="2697480"/>
            <a:ext cx="1079724" cy="1005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168128" y="2683764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0.41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6492240" y="308152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452360" y="3090672"/>
            <a:ext cx="2633472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52360" y="3090672"/>
            <a:ext cx="790042" cy="100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68128" y="3076956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6492240" y="347472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720" dirty="0"/>
          </a:p>
        </p:txBody>
      </p:sp>
      <p:sp>
        <p:nvSpPr>
          <p:cNvPr id="27" name="Shape 24"/>
          <p:cNvSpPr/>
          <p:nvPr/>
        </p:nvSpPr>
        <p:spPr>
          <a:xfrm>
            <a:off x="7452360" y="3483864"/>
            <a:ext cx="2633472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52360" y="3483864"/>
            <a:ext cx="1817096" cy="10058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68128" y="3470148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6492240" y="3867912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apex</a:t>
            </a:r>
            <a:endParaRPr lang="en-US" sz="720" dirty="0"/>
          </a:p>
        </p:txBody>
      </p:sp>
      <p:sp>
        <p:nvSpPr>
          <p:cNvPr id="31" name="Shape 28"/>
          <p:cNvSpPr/>
          <p:nvPr/>
        </p:nvSpPr>
        <p:spPr>
          <a:xfrm>
            <a:off x="7452360" y="3877056"/>
            <a:ext cx="2633472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52360" y="3877056"/>
            <a:ext cx="1685422" cy="10058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68128" y="3863340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84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6492240" y="4261104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gambit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7452360" y="4270248"/>
            <a:ext cx="2633472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52360" y="4270248"/>
            <a:ext cx="158008" cy="100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168128" y="4256532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6492240" y="4654296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7452360" y="4663440"/>
            <a:ext cx="2633472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52360" y="4663440"/>
            <a:ext cx="2133112" cy="10058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168128" y="4649724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6473952" y="5065776"/>
            <a:ext cx="431596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5166360"/>
            <a:ext cx="3840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métrica puede celebrar justo lo que deberíamos sospechar.</a:t>
            </a:r>
            <a:endParaRPr lang="en-US" sz="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entrar al modelo, dejamos claro el techo de las reglas fijas.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60120" y="1993392"/>
            <a:ext cx="10241280" cy="841248"/>
          </a:xfrm>
          <a:prstGeom prst="roundRect">
            <a:avLst>
              <a:gd name="adj" fmla="val 543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7008" y="2221992"/>
            <a:ext cx="512064" cy="292608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23042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938528" y="217627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una heurística escrita a mano es suficiente?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1938528" y="25237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costo, riesgo, explicabilidad y profundidad del dominio.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960120" y="3127248"/>
            <a:ext cx="10241280" cy="841248"/>
          </a:xfrm>
          <a:prstGeom prst="roundRect">
            <a:avLst>
              <a:gd name="adj" fmla="val 543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07008" y="3355848"/>
            <a:ext cx="512064" cy="292608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343814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1938528" y="331012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regla fija puede ser explotada por un rival que aprende?</a:t>
            </a:r>
            <a:endParaRPr lang="en-US" sz="1340" dirty="0"/>
          </a:p>
        </p:txBody>
      </p:sp>
      <p:sp>
        <p:nvSpPr>
          <p:cNvPr id="19" name="Text 16"/>
          <p:cNvSpPr/>
          <p:nvPr/>
        </p:nvSpPr>
        <p:spPr>
          <a:xfrm>
            <a:off x="1938528" y="365760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una respuesta determinista deja patrones repetibles.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960120" y="4261104"/>
            <a:ext cx="10241280" cy="841248"/>
          </a:xfrm>
          <a:prstGeom prst="roundRect">
            <a:avLst>
              <a:gd name="adj" fmla="val 543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07008" y="4489704"/>
            <a:ext cx="512064" cy="292608"/>
          </a:xfrm>
          <a:prstGeom prst="roundRect">
            <a:avLst>
              <a:gd name="adj" fmla="val 125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98448" y="457200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938528" y="4443984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hay entre jugar bien y ganarle a un rival específico?</a:t>
            </a:r>
            <a:endParaRPr lang="en-US" sz="1340" dirty="0"/>
          </a:p>
        </p:txBody>
      </p:sp>
      <p:sp>
        <p:nvSpPr>
          <p:cNvPr id="24" name="Text 21"/>
          <p:cNvSpPr/>
          <p:nvPr/>
        </p:nvSpPr>
        <p:spPr>
          <a:xfrm>
            <a:off x="1938528" y="479145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compara evaluación contra un solo oponente versus varios perfiles.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781263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1956" y="603504"/>
            <a:ext cx="237012" cy="63203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8471" y="781263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tretch>
            <a:fillRect/>
          </a:stretch>
        </p:blipFill>
        <p:spPr>
          <a:xfrm>
            <a:off x="9838944" y="676656"/>
            <a:ext cx="914400" cy="5852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1243584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325880"/>
            <a:ext cx="1810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26 · Bloque 3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841248" y="182880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Ataxx Zero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7824" y="2578608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IA deja de obedecer reglas y empieza a aprender de sus propias partidas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6112" y="3895344"/>
            <a:ext cx="1828800" cy="1170432"/>
          </a:xfrm>
          <a:prstGeom prst="roundRect">
            <a:avLst>
              <a:gd name="adj" fmla="val 390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4096512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411480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280160" y="44622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el tablero y estima jugadas + resultado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2999232" y="3895344"/>
            <a:ext cx="1828800" cy="1170432"/>
          </a:xfrm>
          <a:prstGeom prst="roundRect">
            <a:avLst>
              <a:gd name="adj" fmla="val 390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4096512"/>
            <a:ext cx="109728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411480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búsqueda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3383280" y="44622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MCTS prueba líneas prometedoras sin recorrer todo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5102352" y="3895344"/>
            <a:ext cx="1828800" cy="1170432"/>
          </a:xfrm>
          <a:prstGeom prst="roundRect">
            <a:avLst>
              <a:gd name="adj" fmla="val 390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48656" y="4096512"/>
            <a:ext cx="109728" cy="7680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411480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self-play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5486400" y="44622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genera datos jugando contra sí mismo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7699248" y="2048256"/>
            <a:ext cx="3127248" cy="3054096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10144" y="239572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joya técnica no es una red aislada.</a:t>
            </a:r>
            <a:endParaRPr lang="en-US" sz="1540" dirty="0"/>
          </a:p>
        </p:txBody>
      </p:sp>
      <p:sp>
        <p:nvSpPr>
          <p:cNvPr id="24" name="Text 21"/>
          <p:cNvSpPr/>
          <p:nvPr/>
        </p:nvSpPr>
        <p:spPr>
          <a:xfrm>
            <a:off x="8065008" y="299923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 circuito completo: representa el juego, busca mejor que una heurística, aprende de esa búsqueda y se evalúa contra rivales que intentan romperlo.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8101584" y="4224528"/>
            <a:ext cx="2322576" cy="420624"/>
          </a:xfrm>
          <a:prstGeom prst="roundRect">
            <a:avLst>
              <a:gd name="adj" fmla="val 108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436168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+ búsqueda + evidencia</a:t>
            </a:r>
            <a:endParaRPr lang="en-US" sz="8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reemplazos que cambian el juego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 no es cambiar una función por una red: es cambiar todo el sistema de decisión.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938528"/>
            <a:ext cx="4315968" cy="804672"/>
          </a:xfrm>
          <a:prstGeom prst="roundRect">
            <a:avLst>
              <a:gd name="adj" fmla="val 56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39712" y="1938528"/>
            <a:ext cx="4315968" cy="804672"/>
          </a:xfrm>
          <a:prstGeom prst="roundRect">
            <a:avLst>
              <a:gd name="adj" fmla="val 56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084832"/>
            <a:ext cx="109728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22592" y="2084832"/>
            <a:ext cx="109728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2084832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_score_move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1389888" y="2395728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escritos a mano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7333488" y="2084832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AtaxxTransformerNet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333488" y="2395728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aprendidos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5413248" y="2340864"/>
            <a:ext cx="10972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96112" y="3054096"/>
            <a:ext cx="4315968" cy="804672"/>
          </a:xfrm>
          <a:prstGeom prst="roundRect">
            <a:avLst>
              <a:gd name="adj" fmla="val 56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39712" y="3054096"/>
            <a:ext cx="4315968" cy="804672"/>
          </a:xfrm>
          <a:prstGeom prst="roundRect">
            <a:avLst>
              <a:gd name="adj" fmla="val 5682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78992" y="3200400"/>
            <a:ext cx="109728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22592" y="3200400"/>
            <a:ext cx="109728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89888" y="320040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elegir máximo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1389888" y="351129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local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7333488" y="32004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MCTS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7333488" y="3511296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guiada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5413248" y="3456432"/>
            <a:ext cx="109728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96112" y="4169664"/>
            <a:ext cx="4315968" cy="804672"/>
          </a:xfrm>
          <a:prstGeom prst="roundRect">
            <a:avLst>
              <a:gd name="adj" fmla="val 56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39712" y="4169664"/>
            <a:ext cx="4315968" cy="804672"/>
          </a:xfrm>
          <a:prstGeom prst="roundRect">
            <a:avLst>
              <a:gd name="adj" fmla="val 56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8992" y="4315968"/>
            <a:ext cx="109728" cy="51206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022592" y="4315968"/>
            <a:ext cx="109728" cy="51206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89888" y="4315968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rival fijo</a:t>
            </a:r>
            <a:endParaRPr lang="en-US" sz="1180" dirty="0"/>
          </a:p>
        </p:txBody>
      </p:sp>
      <p:sp>
        <p:nvSpPr>
          <p:cNvPr id="33" name="Text 30"/>
          <p:cNvSpPr/>
          <p:nvPr/>
        </p:nvSpPr>
        <p:spPr>
          <a:xfrm>
            <a:off x="1389888" y="4626864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explotable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7333488" y="4315968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self-play + liga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7333488" y="462686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cambian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5413248" y="4572000"/>
            <a:ext cx="1097280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078992" y="5340096"/>
            <a:ext cx="9838944" cy="402336"/>
          </a:xfrm>
          <a:prstGeom prst="roundRect">
            <a:avLst>
              <a:gd name="adj" fmla="val 113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89888" y="5468112"/>
            <a:ext cx="923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tesis del bloque: aprender no elimina el criterio humano; lo desplaza hacia arquitectura, datos, búsqueda y evaluación.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red no ve un tablero: ve once mapas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canal responde una pregunta concreta sobre el estado del juego.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792224"/>
            <a:ext cx="3877056" cy="3767328"/>
          </a:xfrm>
          <a:prstGeom prst="roundRect">
            <a:avLst>
              <a:gd name="adj" fmla="val 12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02996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 desde el jugador actual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1481328" y="2487168"/>
            <a:ext cx="2487168" cy="2487168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81328" y="248716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36638" y="248716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91947" y="248716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47257" y="248716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02567" y="248716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57877" y="248716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13186" y="248716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81328" y="284247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36638" y="284247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91947" y="284247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47257" y="284247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2567" y="284247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57877" y="2842478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13186" y="2842478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319778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836638" y="319778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191947" y="319778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47257" y="319778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02567" y="319778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57877" y="319778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613186" y="319778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481328" y="355309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836638" y="355309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91947" y="355309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547257" y="355309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2567" y="355309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57877" y="355309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613186" y="355309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481328" y="390840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836638" y="390840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91947" y="390840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547257" y="390840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902567" y="390840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57877" y="390840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613186" y="390840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481328" y="426371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836638" y="426371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191947" y="426371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547257" y="426371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902567" y="426371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257877" y="4263717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613186" y="4263717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481328" y="4619026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836638" y="4619026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191947" y="4619026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547257" y="4619026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902567" y="4619026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257877" y="4619026"/>
            <a:ext cx="355310" cy="355310"/>
          </a:xfrm>
          <a:prstGeom prst="rect">
            <a:avLst/>
          </a:prstGeom>
          <a:solidFill>
            <a:srgbClr val="E8EEF5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613186" y="4619026"/>
            <a:ext cx="355310" cy="35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DE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552390" y="2558230"/>
            <a:ext cx="213186" cy="21318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684248" y="4690088"/>
            <a:ext cx="213186" cy="21318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684248" y="2558230"/>
            <a:ext cx="213186" cy="21318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552390" y="4690088"/>
            <a:ext cx="213186" cy="21318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263009" y="3268849"/>
            <a:ext cx="213186" cy="21318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9E171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618319" y="3624159"/>
            <a:ext cx="213186" cy="21318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263009" y="3979469"/>
            <a:ext cx="213186" cy="21318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097280" y="5138928"/>
            <a:ext cx="3218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298448" y="5221224"/>
            <a:ext cx="28163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propias = rojo · rival = azul · vacío = destino</a:t>
            </a:r>
            <a:endParaRPr lang="en-US" sz="760" dirty="0"/>
          </a:p>
        </p:txBody>
      </p:sp>
      <p:sp>
        <p:nvSpPr>
          <p:cNvPr id="71" name="Shape 68"/>
          <p:cNvSpPr/>
          <p:nvPr/>
        </p:nvSpPr>
        <p:spPr>
          <a:xfrm>
            <a:off x="4901184" y="3639312"/>
            <a:ext cx="58521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72" name="Shape 69"/>
          <p:cNvSpPr/>
          <p:nvPr/>
        </p:nvSpPr>
        <p:spPr>
          <a:xfrm>
            <a:off x="5632704" y="1847088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779008" y="2011680"/>
            <a:ext cx="73152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980176" y="201168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0-2 · ocupación</a:t>
            </a:r>
            <a:endParaRPr lang="en-US" sz="1140" dirty="0"/>
          </a:p>
        </p:txBody>
      </p:sp>
      <p:sp>
        <p:nvSpPr>
          <p:cNvPr id="75" name="Text 72"/>
          <p:cNvSpPr/>
          <p:nvPr/>
        </p:nvSpPr>
        <p:spPr>
          <a:xfrm>
            <a:off x="5980176" y="228600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casillas contienen piezas propias, rivales o espacios vacíos</a:t>
            </a:r>
            <a:endParaRPr lang="en-US" sz="760" dirty="0"/>
          </a:p>
        </p:txBody>
      </p:sp>
      <p:sp>
        <p:nvSpPr>
          <p:cNvPr id="76" name="Shape 73"/>
          <p:cNvSpPr/>
          <p:nvPr/>
        </p:nvSpPr>
        <p:spPr>
          <a:xfrm>
            <a:off x="5980176" y="2633472"/>
            <a:ext cx="197510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071616" y="271576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propias · 1 rivales · 2 vacías</a:t>
            </a:r>
            <a:endParaRPr lang="en-US" sz="740" dirty="0"/>
          </a:p>
        </p:txBody>
      </p:sp>
      <p:sp>
        <p:nvSpPr>
          <p:cNvPr id="78" name="Shape 75"/>
          <p:cNvSpPr/>
          <p:nvPr/>
        </p:nvSpPr>
        <p:spPr>
          <a:xfrm>
            <a:off x="8430768" y="1847088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577072" y="2011680"/>
            <a:ext cx="73152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778240" y="201168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3-4 · contexto temporal</a:t>
            </a:r>
            <a:endParaRPr lang="en-US" sz="1140" dirty="0"/>
          </a:p>
        </p:txBody>
      </p:sp>
      <p:sp>
        <p:nvSpPr>
          <p:cNvPr id="81" name="Text 78"/>
          <p:cNvSpPr/>
          <p:nvPr/>
        </p:nvSpPr>
        <p:spPr>
          <a:xfrm>
            <a:off x="8778240" y="228600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 la regla de 100 turnos y presión por repetición de posición</a:t>
            </a:r>
            <a:endParaRPr lang="en-US" sz="760" dirty="0"/>
          </a:p>
        </p:txBody>
      </p:sp>
      <p:sp>
        <p:nvSpPr>
          <p:cNvPr id="82" name="Shape 79"/>
          <p:cNvSpPr/>
          <p:nvPr/>
        </p:nvSpPr>
        <p:spPr>
          <a:xfrm>
            <a:off x="8778240" y="2633472"/>
            <a:ext cx="197510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869680" y="271576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progreso · 4 repetición</a:t>
            </a:r>
            <a:endParaRPr lang="en-US" sz="740" dirty="0"/>
          </a:p>
        </p:txBody>
      </p:sp>
      <p:sp>
        <p:nvSpPr>
          <p:cNvPr id="84" name="Shape 81"/>
          <p:cNvSpPr/>
          <p:nvPr/>
        </p:nvSpPr>
        <p:spPr>
          <a:xfrm>
            <a:off x="5632704" y="3328416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779008" y="3493008"/>
            <a:ext cx="73152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980176" y="349300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5-8 · movilidad legal</a:t>
            </a:r>
            <a:endParaRPr lang="en-US" sz="1140" dirty="0"/>
          </a:p>
        </p:txBody>
      </p:sp>
      <p:sp>
        <p:nvSpPr>
          <p:cNvPr id="87" name="Text 84"/>
          <p:cNvSpPr/>
          <p:nvPr/>
        </p:nvSpPr>
        <p:spPr>
          <a:xfrm>
            <a:off x="5980176" y="376732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destinos posibles de clone y jump, tanto propios como del rival</a:t>
            </a:r>
            <a:endParaRPr lang="en-US" sz="760" dirty="0"/>
          </a:p>
        </p:txBody>
      </p:sp>
      <p:sp>
        <p:nvSpPr>
          <p:cNvPr id="88" name="Shape 85"/>
          <p:cNvSpPr/>
          <p:nvPr/>
        </p:nvSpPr>
        <p:spPr>
          <a:xfrm>
            <a:off x="5980176" y="4114800"/>
            <a:ext cx="197510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6071616" y="419709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clone propia · 6 jump propia</a:t>
            </a:r>
            <a:endParaRPr lang="en-US" sz="690" dirty="0"/>
          </a:p>
          <a:p>
            <a:pPr algn="ctr" indent="0" marL="0">
              <a:buNone/>
            </a:pPr>
            <a:r>
              <a:rPr lang="en-US" sz="69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clone rival · 8 jump rival</a:t>
            </a:r>
            <a:endParaRPr lang="en-US" sz="690" dirty="0"/>
          </a:p>
        </p:txBody>
      </p:sp>
      <p:sp>
        <p:nvSpPr>
          <p:cNvPr id="90" name="Shape 87"/>
          <p:cNvSpPr/>
          <p:nvPr/>
        </p:nvSpPr>
        <p:spPr>
          <a:xfrm>
            <a:off x="8430768" y="3328416"/>
            <a:ext cx="2542032" cy="1188720"/>
          </a:xfrm>
          <a:prstGeom prst="roundRect">
            <a:avLst>
              <a:gd name="adj" fmla="val 384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577072" y="3493008"/>
            <a:ext cx="73152" cy="80467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8778240" y="349300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9-10 · piezas activas</a:t>
            </a:r>
            <a:endParaRPr lang="en-US" sz="1140" dirty="0"/>
          </a:p>
        </p:txBody>
      </p:sp>
      <p:sp>
        <p:nvSpPr>
          <p:cNvPr id="93" name="Text 90"/>
          <p:cNvSpPr/>
          <p:nvPr/>
        </p:nvSpPr>
        <p:spPr>
          <a:xfrm>
            <a:off x="8778240" y="376732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piezas todavía pueden generar jugadas para cada jugador</a:t>
            </a:r>
            <a:endParaRPr lang="en-US" sz="760" dirty="0"/>
          </a:p>
        </p:txBody>
      </p:sp>
      <p:sp>
        <p:nvSpPr>
          <p:cNvPr id="94" name="Shape 91"/>
          <p:cNvSpPr/>
          <p:nvPr/>
        </p:nvSpPr>
        <p:spPr>
          <a:xfrm>
            <a:off x="8778240" y="4114800"/>
            <a:ext cx="1975104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869680" y="419709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activas propias · 10 activas rival</a:t>
            </a:r>
            <a:endParaRPr lang="en-US" sz="740" dirty="0"/>
          </a:p>
        </p:txBody>
      </p:sp>
      <p:sp>
        <p:nvSpPr>
          <p:cNvPr id="96" name="Shape 93"/>
          <p:cNvSpPr/>
          <p:nvPr/>
        </p:nvSpPr>
        <p:spPr>
          <a:xfrm>
            <a:off x="5650992" y="4992624"/>
            <a:ext cx="5340096" cy="512064"/>
          </a:xfrm>
          <a:prstGeom prst="roundRect">
            <a:avLst>
              <a:gd name="adj" fmla="val 89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980176" y="5138928"/>
            <a:ext cx="4681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 real del modelo: obs.shape = (11, 7, 7)</a:t>
            </a:r>
            <a:endParaRPr lang="en-US" sz="1020" dirty="0"/>
          </a:p>
        </p:txBody>
      </p:sp>
      <p:sp>
        <p:nvSpPr>
          <p:cNvPr id="98" name="Text 95"/>
          <p:cNvSpPr/>
          <p:nvPr/>
        </p:nvSpPr>
        <p:spPr>
          <a:xfrm>
            <a:off x="6144768" y="5358384"/>
            <a:ext cx="43525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 esta representación limita qué patrones puede aprender la red.</a:t>
            </a:r>
            <a:endParaRPr lang="en-US" sz="7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y value: dos preguntas, un cerebro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comparte cuerpo y separa salidas: una decide dónde mirar; la otra estima si conviene.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10512"/>
            <a:ext cx="10552176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011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AtaxxTransformerNet</a:t>
            </a:r>
            <a:endParaRPr lang="en-US" sz="1560" dirty="0"/>
          </a:p>
        </p:txBody>
      </p:sp>
      <p:sp>
        <p:nvSpPr>
          <p:cNvPr id="12" name="Text 9"/>
          <p:cNvSpPr/>
          <p:nvPr/>
        </p:nvSpPr>
        <p:spPr>
          <a:xfrm>
            <a:off x="1133856" y="2395728"/>
            <a:ext cx="4187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lectura espacial alimenta dos decisiones distintas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78992" y="2816352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07008" y="3017520"/>
            <a:ext cx="109728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29992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1463040" y="341985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canales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casilla</a:t>
            </a:r>
            <a:endParaRPr lang="en-US" sz="910" dirty="0"/>
          </a:p>
        </p:txBody>
      </p:sp>
      <p:sp>
        <p:nvSpPr>
          <p:cNvPr id="17" name="Shape 14"/>
          <p:cNvSpPr/>
          <p:nvPr/>
        </p:nvSpPr>
        <p:spPr>
          <a:xfrm>
            <a:off x="1280160" y="3822192"/>
            <a:ext cx="11704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35024" y="3904488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× 7 × 7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743200" y="3511296"/>
            <a:ext cx="38404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255264" y="2816352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3017520"/>
            <a:ext cx="109728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39312" y="29992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3639312" y="341985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casillas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token CLS</a:t>
            </a:r>
            <a:endParaRPr lang="en-US" sz="910" dirty="0"/>
          </a:p>
        </p:txBody>
      </p:sp>
      <p:sp>
        <p:nvSpPr>
          <p:cNvPr id="24" name="Shape 21"/>
          <p:cNvSpPr/>
          <p:nvPr/>
        </p:nvSpPr>
        <p:spPr>
          <a:xfrm>
            <a:off x="3456432" y="3822192"/>
            <a:ext cx="11704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11296" y="3904488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Linear(11 → 128)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919472" y="3511296"/>
            <a:ext cx="38404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431536" y="2816352"/>
            <a:ext cx="1572768" cy="137160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59552" y="3017520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15584" y="299923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encoder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5815584" y="341985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capas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cabezas</a:t>
            </a:r>
            <a:endParaRPr lang="en-US" sz="910" dirty="0"/>
          </a:p>
        </p:txBody>
      </p:sp>
      <p:sp>
        <p:nvSpPr>
          <p:cNvPr id="31" name="Shape 28"/>
          <p:cNvSpPr/>
          <p:nvPr/>
        </p:nvSpPr>
        <p:spPr>
          <a:xfrm>
            <a:off x="5632704" y="3822192"/>
            <a:ext cx="11704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87568" y="3904488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 = 128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7735824" y="2779776"/>
            <a:ext cx="621792" cy="475488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triangl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7114032" y="3767328"/>
            <a:ext cx="621792" cy="603504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772400" y="2487168"/>
            <a:ext cx="3163824" cy="1060704"/>
          </a:xfrm>
          <a:prstGeom prst="roundRect">
            <a:avLst>
              <a:gd name="adj" fmla="val 431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73568" y="2651760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84464" y="2651760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head</a:t>
            </a:r>
            <a:endParaRPr lang="en-US" sz="1340" dirty="0"/>
          </a:p>
        </p:txBody>
      </p:sp>
      <p:sp>
        <p:nvSpPr>
          <p:cNvPr id="38" name="Text 35"/>
          <p:cNvSpPr/>
          <p:nvPr/>
        </p:nvSpPr>
        <p:spPr>
          <a:xfrm>
            <a:off x="8284464" y="298094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puntúa acciones legales usando tokens de origen y destino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284464" y="3273552"/>
            <a:ext cx="2139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+ dst → logit · máscara ilegal</a:t>
            </a:r>
            <a:endParaRPr lang="en-US" sz="710" dirty="0"/>
          </a:p>
        </p:txBody>
      </p:sp>
      <p:sp>
        <p:nvSpPr>
          <p:cNvPr id="40" name="Shape 37"/>
          <p:cNvSpPr/>
          <p:nvPr/>
        </p:nvSpPr>
        <p:spPr>
          <a:xfrm>
            <a:off x="7772400" y="3950208"/>
            <a:ext cx="3163824" cy="1060704"/>
          </a:xfrm>
          <a:prstGeom prst="roundRect">
            <a:avLst>
              <a:gd name="adj" fmla="val 431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73568" y="4114800"/>
            <a:ext cx="109728" cy="71323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84464" y="4114800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head</a:t>
            </a:r>
            <a:endParaRPr lang="en-US" sz="1340" dirty="0"/>
          </a:p>
        </p:txBody>
      </p:sp>
      <p:sp>
        <p:nvSpPr>
          <p:cNvPr id="43" name="Text 40"/>
          <p:cNvSpPr/>
          <p:nvPr/>
        </p:nvSpPr>
        <p:spPr>
          <a:xfrm>
            <a:off x="8284464" y="444398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el token CLS y estima el resultado esperado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284464" y="4736592"/>
            <a:ext cx="2139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tanh → valor entre -1 y +1</a:t>
            </a:r>
            <a:endParaRPr lang="en-US" sz="710" dirty="0"/>
          </a:p>
        </p:txBody>
      </p:sp>
      <p:sp>
        <p:nvSpPr>
          <p:cNvPr id="45" name="Shape 42"/>
          <p:cNvSpPr/>
          <p:nvPr/>
        </p:nvSpPr>
        <p:spPr>
          <a:xfrm>
            <a:off x="932688" y="5413248"/>
            <a:ext cx="10131552" cy="384048"/>
          </a:xfrm>
          <a:prstGeom prst="roundRect">
            <a:avLst>
              <a:gd name="adj" fmla="val 1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261872" y="5541264"/>
            <a:ext cx="9473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entrega priors para MCTS; value entrega una evaluación rápida de la hoja. Ninguna salida reemplaza la búsqueda completa.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MCTS: pensar con presupuesto limitado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Monte Carlo Tree Search convierte una red rápida en una decisión investigada.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773936"/>
            <a:ext cx="7004304" cy="4096512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975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de búsqueda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1097280" y="2331720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nodo guarda visitas N, valor medio Q y prior P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1005840" y="2633472"/>
            <a:ext cx="6419088" cy="2651760"/>
          </a:xfrm>
          <a:prstGeom prst="roundRect">
            <a:avLst>
              <a:gd name="adj" fmla="val 1379"/>
            </a:avLst>
          </a:prstGeom>
          <a:solidFill>
            <a:srgbClr val="F7FAFD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39696" y="3730752"/>
            <a:ext cx="2112264" cy="27432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4251960" y="3456432"/>
            <a:ext cx="45720" cy="27432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4251960" y="3456432"/>
            <a:ext cx="2185416" cy="27432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1682496" y="4736592"/>
            <a:ext cx="457200" cy="36576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2139696" y="4370832"/>
            <a:ext cx="841248" cy="36576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4297680" y="4736592"/>
            <a:ext cx="0" cy="36576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6437376" y="4370832"/>
            <a:ext cx="0" cy="36576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3401568" y="2852928"/>
            <a:ext cx="1700784" cy="603504"/>
          </a:xfrm>
          <a:prstGeom prst="roundRect">
            <a:avLst>
              <a:gd name="adj" fmla="val 757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84448" y="2962656"/>
            <a:ext cx="13898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raíz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3566160" y="3182112"/>
            <a:ext cx="14081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N=600</a:t>
            </a:r>
            <a:endParaRPr lang="en-US" sz="630" dirty="0"/>
          </a:p>
        </p:txBody>
      </p:sp>
      <p:sp>
        <p:nvSpPr>
          <p:cNvPr id="24" name="Text 21"/>
          <p:cNvSpPr/>
          <p:nvPr/>
        </p:nvSpPr>
        <p:spPr>
          <a:xfrm>
            <a:off x="3602736" y="3346704"/>
            <a:ext cx="129844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actual</a:t>
            </a:r>
            <a:endParaRPr lang="en-US" sz="580" dirty="0"/>
          </a:p>
        </p:txBody>
      </p:sp>
      <p:sp>
        <p:nvSpPr>
          <p:cNvPr id="25" name="Shape 22"/>
          <p:cNvSpPr/>
          <p:nvPr/>
        </p:nvSpPr>
        <p:spPr>
          <a:xfrm>
            <a:off x="1335024" y="3730752"/>
            <a:ext cx="1609344" cy="640080"/>
          </a:xfrm>
          <a:prstGeom prst="roundRect">
            <a:avLst>
              <a:gd name="adj" fmla="val 7143"/>
            </a:avLst>
          </a:prstGeom>
          <a:solidFill>
            <a:srgbClr val="E9F6EE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426464" y="3849624"/>
            <a:ext cx="54864" cy="40233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17904" y="384048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clonar centro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1499616" y="4059936"/>
            <a:ext cx="1316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N=302 · Q=+.33</a:t>
            </a:r>
            <a:endParaRPr lang="en-US" sz="630" dirty="0"/>
          </a:p>
        </p:txBody>
      </p:sp>
      <p:sp>
        <p:nvSpPr>
          <p:cNvPr id="29" name="Text 26"/>
          <p:cNvSpPr/>
          <p:nvPr/>
        </p:nvSpPr>
        <p:spPr>
          <a:xfrm>
            <a:off x="1536192" y="4224528"/>
            <a:ext cx="12070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P=.41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3493008" y="3730752"/>
            <a:ext cx="1609344" cy="640080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84448" y="3849624"/>
            <a:ext cx="54864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75888" y="384048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saltar flanco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3657600" y="4059936"/>
            <a:ext cx="1316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N=188 · Q=+.11</a:t>
            </a:r>
            <a:endParaRPr lang="en-US" sz="630" dirty="0"/>
          </a:p>
        </p:txBody>
      </p:sp>
      <p:sp>
        <p:nvSpPr>
          <p:cNvPr id="34" name="Text 31"/>
          <p:cNvSpPr/>
          <p:nvPr/>
        </p:nvSpPr>
        <p:spPr>
          <a:xfrm>
            <a:off x="3694176" y="4224528"/>
            <a:ext cx="12070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P=.27</a:t>
            </a:r>
            <a:endParaRPr lang="en-US" sz="580" dirty="0"/>
          </a:p>
        </p:txBody>
      </p:sp>
      <p:sp>
        <p:nvSpPr>
          <p:cNvPr id="35" name="Shape 32"/>
          <p:cNvSpPr/>
          <p:nvPr/>
        </p:nvSpPr>
        <p:spPr>
          <a:xfrm>
            <a:off x="5632704" y="3730752"/>
            <a:ext cx="1609344" cy="640080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24144" y="3849624"/>
            <a:ext cx="54864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15584" y="3840480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salvar pieza</a:t>
            </a:r>
            <a:endParaRPr lang="en-US" sz="780" dirty="0"/>
          </a:p>
        </p:txBody>
      </p:sp>
      <p:sp>
        <p:nvSpPr>
          <p:cNvPr id="38" name="Text 35"/>
          <p:cNvSpPr/>
          <p:nvPr/>
        </p:nvSpPr>
        <p:spPr>
          <a:xfrm>
            <a:off x="5797296" y="4059936"/>
            <a:ext cx="1316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N=110 · Q=-.05</a:t>
            </a:r>
            <a:endParaRPr lang="en-US" sz="630" dirty="0"/>
          </a:p>
        </p:txBody>
      </p:sp>
      <p:sp>
        <p:nvSpPr>
          <p:cNvPr id="39" name="Text 36"/>
          <p:cNvSpPr/>
          <p:nvPr/>
        </p:nvSpPr>
        <p:spPr>
          <a:xfrm>
            <a:off x="5833872" y="4224528"/>
            <a:ext cx="12070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P=.18</a:t>
            </a:r>
            <a:endParaRPr lang="en-US" sz="580" dirty="0"/>
          </a:p>
        </p:txBody>
      </p:sp>
      <p:sp>
        <p:nvSpPr>
          <p:cNvPr id="40" name="Shape 37"/>
          <p:cNvSpPr/>
          <p:nvPr/>
        </p:nvSpPr>
        <p:spPr>
          <a:xfrm>
            <a:off x="1097280" y="4736592"/>
            <a:ext cx="117043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280160" y="484632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A1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1261872" y="499262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N=122</a:t>
            </a:r>
            <a:endParaRPr lang="en-US" sz="580" dirty="0"/>
          </a:p>
        </p:txBody>
      </p:sp>
      <p:sp>
        <p:nvSpPr>
          <p:cNvPr id="43" name="Shape 40"/>
          <p:cNvSpPr/>
          <p:nvPr/>
        </p:nvSpPr>
        <p:spPr>
          <a:xfrm>
            <a:off x="2395728" y="4736592"/>
            <a:ext cx="1170432" cy="402336"/>
          </a:xfrm>
          <a:prstGeom prst="roundRect">
            <a:avLst>
              <a:gd name="adj" fmla="val 11364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578608" y="484632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A2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2560320" y="499262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N=180</a:t>
            </a:r>
            <a:endParaRPr lang="en-US" sz="580" dirty="0"/>
          </a:p>
        </p:txBody>
      </p:sp>
      <p:sp>
        <p:nvSpPr>
          <p:cNvPr id="46" name="Shape 43"/>
          <p:cNvSpPr/>
          <p:nvPr/>
        </p:nvSpPr>
        <p:spPr>
          <a:xfrm>
            <a:off x="3712464" y="4736592"/>
            <a:ext cx="117043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895344" y="484632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B1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3877056" y="499262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N=92</a:t>
            </a:r>
            <a:endParaRPr lang="en-US" sz="580" dirty="0"/>
          </a:p>
        </p:txBody>
      </p:sp>
      <p:sp>
        <p:nvSpPr>
          <p:cNvPr id="49" name="Shape 46"/>
          <p:cNvSpPr/>
          <p:nvPr/>
        </p:nvSpPr>
        <p:spPr>
          <a:xfrm>
            <a:off x="5852160" y="4736592"/>
            <a:ext cx="117043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035040" y="4846320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C1</a:t>
            </a:r>
            <a:endParaRPr lang="en-US" sz="680" dirty="0"/>
          </a:p>
        </p:txBody>
      </p:sp>
      <p:sp>
        <p:nvSpPr>
          <p:cNvPr id="51" name="Text 48"/>
          <p:cNvSpPr/>
          <p:nvPr/>
        </p:nvSpPr>
        <p:spPr>
          <a:xfrm>
            <a:off x="6016752" y="4992624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N=57</a:t>
            </a:r>
            <a:endParaRPr lang="en-US" sz="580" dirty="0"/>
          </a:p>
        </p:txBody>
      </p:sp>
      <p:sp>
        <p:nvSpPr>
          <p:cNvPr id="52" name="Shape 49"/>
          <p:cNvSpPr/>
          <p:nvPr/>
        </p:nvSpPr>
        <p:spPr>
          <a:xfrm>
            <a:off x="1133856" y="5431536"/>
            <a:ext cx="605332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389888" y="5504688"/>
            <a:ext cx="55412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final: la jugada con más visitas, no la primera opinión de la red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8083296" y="1828800"/>
            <a:ext cx="2926080" cy="603504"/>
          </a:xfrm>
          <a:prstGeom prst="roundRect">
            <a:avLst>
              <a:gd name="adj" fmla="val 757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284464" y="2002536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375904" y="20848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8851392" y="195681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Selección</a:t>
            </a:r>
            <a:endParaRPr lang="en-US" sz="1180" dirty="0"/>
          </a:p>
        </p:txBody>
      </p:sp>
      <p:sp>
        <p:nvSpPr>
          <p:cNvPr id="58" name="Text 55"/>
          <p:cNvSpPr/>
          <p:nvPr/>
        </p:nvSpPr>
        <p:spPr>
          <a:xfrm>
            <a:off x="8851392" y="2212848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baja por la rama con mejor PUCT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083296" y="2633472"/>
            <a:ext cx="2926080" cy="603504"/>
          </a:xfrm>
          <a:prstGeom prst="roundRect">
            <a:avLst>
              <a:gd name="adj" fmla="val 757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284464" y="280720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75904" y="288950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8851392" y="276148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Expansión</a:t>
            </a:r>
            <a:endParaRPr lang="en-US" sz="1180" dirty="0"/>
          </a:p>
        </p:txBody>
      </p:sp>
      <p:sp>
        <p:nvSpPr>
          <p:cNvPr id="63" name="Text 60"/>
          <p:cNvSpPr/>
          <p:nvPr/>
        </p:nvSpPr>
        <p:spPr>
          <a:xfrm>
            <a:off x="8851392" y="3017520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hijos para jugadas legales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8083296" y="3438144"/>
            <a:ext cx="2926080" cy="603504"/>
          </a:xfrm>
          <a:prstGeom prst="roundRect">
            <a:avLst>
              <a:gd name="adj" fmla="val 757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284464" y="361188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375904" y="36941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8851392" y="356616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180" dirty="0"/>
          </a:p>
        </p:txBody>
      </p:sp>
      <p:sp>
        <p:nvSpPr>
          <p:cNvPr id="68" name="Text 65"/>
          <p:cNvSpPr/>
          <p:nvPr/>
        </p:nvSpPr>
        <p:spPr>
          <a:xfrm>
            <a:off x="8851392" y="3822192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entrega policy y value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8083296" y="4242816"/>
            <a:ext cx="2926080" cy="603504"/>
          </a:xfrm>
          <a:prstGeom prst="roundRect">
            <a:avLst>
              <a:gd name="adj" fmla="val 757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284464" y="4416552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375904" y="449884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8851392" y="43708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Backprop</a:t>
            </a:r>
            <a:endParaRPr lang="en-US" sz="1180" dirty="0"/>
          </a:p>
        </p:txBody>
      </p:sp>
      <p:sp>
        <p:nvSpPr>
          <p:cNvPr id="73" name="Text 70"/>
          <p:cNvSpPr/>
          <p:nvPr/>
        </p:nvSpPr>
        <p:spPr>
          <a:xfrm>
            <a:off x="8851392" y="4626864"/>
            <a:ext cx="1901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sube N y actualiza Q con signo alternado</a:t>
            </a:r>
            <a:endParaRPr lang="en-US" sz="750" dirty="0"/>
          </a:p>
        </p:txBody>
      </p:sp>
      <p:sp>
        <p:nvSpPr>
          <p:cNvPr id="74" name="Shape 71"/>
          <p:cNvSpPr/>
          <p:nvPr/>
        </p:nvSpPr>
        <p:spPr>
          <a:xfrm>
            <a:off x="8083296" y="5266944"/>
            <a:ext cx="2926080" cy="475488"/>
          </a:xfrm>
          <a:prstGeom prst="roundRect">
            <a:avLst>
              <a:gd name="adj" fmla="val 961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339328" y="5413248"/>
            <a:ext cx="2414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 simulaciones = evidencia acumulada con presupuesto fijo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PUCT: explotar evidencia sin dejar de explorar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PUCT significa Predictor + UCT; UCT es Upper Confidence Trees.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47088"/>
            <a:ext cx="4956048" cy="2011680"/>
          </a:xfrm>
          <a:prstGeom prst="roundRect">
            <a:avLst>
              <a:gd name="adj" fmla="val 22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2128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 = Q + U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444752" y="29077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Q: resultado promedio observado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U: bonus de exploración guiado por el prior P</a:t>
            </a:r>
            <a:endParaRPr lang="en-US" sz="1110" dirty="0"/>
          </a:p>
        </p:txBody>
      </p:sp>
      <p:sp>
        <p:nvSpPr>
          <p:cNvPr id="13" name="Shape 10"/>
          <p:cNvSpPr/>
          <p:nvPr/>
        </p:nvSpPr>
        <p:spPr>
          <a:xfrm>
            <a:off x="1261872" y="3456432"/>
            <a:ext cx="418795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36192" y="3547872"/>
            <a:ext cx="36393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PUCT = Predictor + Upper Confidence Trees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6199632" y="1947672"/>
            <a:ext cx="73152" cy="47548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19088" y="2468880"/>
            <a:ext cx="4553712" cy="0"/>
          </a:xfrm>
          <a:prstGeom prst="line">
            <a:avLst/>
          </a:prstGeom>
          <a:noFill/>
          <a:ln w="12700">
            <a:solidFill>
              <a:srgbClr val="3FAE6A">
                <a:alpha val="6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97510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explotar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7772400" y="200253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rama ya rindió bien, Q sube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199632" y="2788920"/>
            <a:ext cx="73152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19088" y="3310128"/>
            <a:ext cx="4553712" cy="0"/>
          </a:xfrm>
          <a:prstGeom prst="line">
            <a:avLst/>
          </a:prstGeom>
          <a:noFill/>
          <a:ln w="12700">
            <a:solidFill>
              <a:srgbClr val="E0BC5A">
                <a:alpha val="6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281635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explorar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7772400" y="2843784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red le dio prior alto y tiene pocas visitas, U empuja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199632" y="3630168"/>
            <a:ext cx="73152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19088" y="4151376"/>
            <a:ext cx="4553712" cy="0"/>
          </a:xfrm>
          <a:prstGeom prst="line">
            <a:avLst/>
          </a:prstGeom>
          <a:noFill/>
          <a:ln w="12700">
            <a:solidFill>
              <a:srgbClr val="D62027">
                <a:alpha val="6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365760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regular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7772400" y="3685032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`c_puct` decide cuánto se arriesga el buscador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969264" y="4370832"/>
            <a:ext cx="4773168" cy="786384"/>
          </a:xfrm>
          <a:prstGeom prst="roundRect">
            <a:avLst>
              <a:gd name="adj" fmla="val 581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98448" y="4535424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fórmula práctica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1243584" y="4846320"/>
            <a:ext cx="42245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Q(s,a) + c_puct · P(s,a) · sqrt(N(s)) / (1 + N(s,a))</a:t>
            </a:r>
            <a:endParaRPr lang="en-US" sz="690" dirty="0"/>
          </a:p>
        </p:txBody>
      </p:sp>
      <p:sp>
        <p:nvSpPr>
          <p:cNvPr id="30" name="Shape 27"/>
          <p:cNvSpPr/>
          <p:nvPr/>
        </p:nvSpPr>
        <p:spPr>
          <a:xfrm>
            <a:off x="6327648" y="4370832"/>
            <a:ext cx="4590288" cy="786384"/>
          </a:xfrm>
          <a:prstGeom prst="roundRect">
            <a:avLst>
              <a:gd name="adj" fmla="val 581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56832" y="46085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por visitas, no por una opinión instantánea.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6729984" y="4919472"/>
            <a:ext cx="3803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visitas integran valor, exploración y evidencia acumulada.</a:t>
            </a:r>
            <a:endParaRPr lang="en-US" sz="8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Self-play: fabricar datos jugando mejor cada vez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aprende de humanos: aprende de partidas que él mismo produce con MCTS.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773936"/>
            <a:ext cx="6656832" cy="4041648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197510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AlphaZero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1133856" y="2322576"/>
            <a:ext cx="5468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iteración deja ejemplos entrenables: observación, distribución de visitas y resultado</a:t>
            </a:r>
            <a:endParaRPr lang="en-US" sz="810" dirty="0"/>
          </a:p>
        </p:txBody>
      </p:sp>
      <p:sp>
        <p:nvSpPr>
          <p:cNvPr id="13" name="Shape 10"/>
          <p:cNvSpPr/>
          <p:nvPr/>
        </p:nvSpPr>
        <p:spPr>
          <a:xfrm>
            <a:off x="2505456" y="3072384"/>
            <a:ext cx="51206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43984" y="3072384"/>
            <a:ext cx="65836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15584" y="3401568"/>
            <a:ext cx="0" cy="91440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17520" y="4645152"/>
            <a:ext cx="351129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triangl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1078992" y="4645152"/>
            <a:ext cx="336499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triangl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1792224" y="3401568"/>
            <a:ext cx="0" cy="91440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triangl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078992" y="2743200"/>
            <a:ext cx="1426464" cy="658368"/>
          </a:xfrm>
          <a:prstGeom prst="roundRect">
            <a:avLst>
              <a:gd name="adj" fmla="val 69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70432" y="2862072"/>
            <a:ext cx="54864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35024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actual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335024" y="3145536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3017520" y="2743200"/>
            <a:ext cx="1426464" cy="658368"/>
          </a:xfrm>
          <a:prstGeom prst="roundRect">
            <a:avLst>
              <a:gd name="adj" fmla="val 69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08960" y="2862072"/>
            <a:ext cx="54864" cy="420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73552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Self-play + MCTS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3552" y="3145536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partidas propias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5102352" y="2743200"/>
            <a:ext cx="1426464" cy="658368"/>
          </a:xfrm>
          <a:prstGeom prst="roundRect">
            <a:avLst>
              <a:gd name="adj" fmla="val 694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193792" y="2862072"/>
            <a:ext cx="54864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58384" y="287121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Replay buffer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358384" y="3145536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(obs, π, z)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5102352" y="4315968"/>
            <a:ext cx="1426464" cy="658368"/>
          </a:xfrm>
          <a:prstGeom prst="roundRect">
            <a:avLst>
              <a:gd name="adj" fmla="val 69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93792" y="4434840"/>
            <a:ext cx="54864" cy="42062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58384" y="444398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Entrenamiento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358384" y="471830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+ value loss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3017520" y="4315968"/>
            <a:ext cx="1426464" cy="658368"/>
          </a:xfrm>
          <a:prstGeom prst="roundRect">
            <a:avLst>
              <a:gd name="adj" fmla="val 694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108960" y="4434840"/>
            <a:ext cx="54864" cy="42062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73552" y="444398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73552" y="471830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arena controlada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078992" y="4315968"/>
            <a:ext cx="1426464" cy="658368"/>
          </a:xfrm>
          <a:prstGeom prst="roundRect">
            <a:avLst>
              <a:gd name="adj" fmla="val 69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70432" y="4434840"/>
            <a:ext cx="54864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35024" y="444398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Promoción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335024" y="4718304"/>
            <a:ext cx="1005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 mejor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1170432" y="5431536"/>
            <a:ext cx="5888736" cy="256032"/>
          </a:xfrm>
          <a:prstGeom prst="roundRect">
            <a:avLst>
              <a:gd name="adj" fmla="val 178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499616" y="5513832"/>
            <a:ext cx="5230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aprende de la búsqueda; la siguiente búsqueda usa una red mejor</a:t>
            </a:r>
            <a:endParaRPr lang="en-US" sz="740" dirty="0"/>
          </a:p>
        </p:txBody>
      </p:sp>
      <p:sp>
        <p:nvSpPr>
          <p:cNvPr id="45" name="Shape 42"/>
          <p:cNvSpPr/>
          <p:nvPr/>
        </p:nvSpPr>
        <p:spPr>
          <a:xfrm>
            <a:off x="7754112" y="1956816"/>
            <a:ext cx="3236976" cy="786384"/>
          </a:xfrm>
          <a:prstGeom prst="roundRect">
            <a:avLst>
              <a:gd name="adj" fmla="val 581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955280" y="2103120"/>
            <a:ext cx="109728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84464" y="2112264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ruido Dirichlet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8284464" y="2377440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caminos nuevos al inicio del self-play</a:t>
            </a:r>
            <a:endParaRPr lang="en-US" sz="820" dirty="0"/>
          </a:p>
        </p:txBody>
      </p:sp>
      <p:sp>
        <p:nvSpPr>
          <p:cNvPr id="49" name="Shape 46"/>
          <p:cNvSpPr/>
          <p:nvPr/>
        </p:nvSpPr>
        <p:spPr>
          <a:xfrm>
            <a:off x="7754112" y="3017520"/>
            <a:ext cx="3236976" cy="786384"/>
          </a:xfrm>
          <a:prstGeom prst="roundRect">
            <a:avLst>
              <a:gd name="adj" fmla="val 581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955280" y="3163824"/>
            <a:ext cx="109728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84464" y="3172968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temperature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8284464" y="3438144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 temprano; decide fuerte al cierre</a:t>
            </a:r>
            <a:endParaRPr lang="en-US" sz="820" dirty="0"/>
          </a:p>
        </p:txBody>
      </p:sp>
      <p:sp>
        <p:nvSpPr>
          <p:cNvPr id="53" name="Shape 50"/>
          <p:cNvSpPr/>
          <p:nvPr/>
        </p:nvSpPr>
        <p:spPr>
          <a:xfrm>
            <a:off x="7754112" y="4078224"/>
            <a:ext cx="3236976" cy="786384"/>
          </a:xfrm>
          <a:prstGeom prst="roundRect">
            <a:avLst>
              <a:gd name="adj" fmla="val 5814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55280" y="4224528"/>
            <a:ext cx="109728" cy="49377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284464" y="4233672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liga de checkpoints</a:t>
            </a:r>
            <a:endParaRPr lang="en-US" sz="1120" dirty="0"/>
          </a:p>
        </p:txBody>
      </p:sp>
      <p:sp>
        <p:nvSpPr>
          <p:cNvPr id="56" name="Text 53"/>
          <p:cNvSpPr/>
          <p:nvPr/>
        </p:nvSpPr>
        <p:spPr>
          <a:xfrm>
            <a:off x="8284464" y="449884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olvidar cómo vencía a versiones anteriores</a:t>
            </a:r>
            <a:endParaRPr lang="en-US" sz="8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Ocho generaciones: aprender también es fallar bien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real del proyecto no es una línea ascendente perfecta, sino una genealogía con postmortems.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737360"/>
            <a:ext cx="6839712" cy="4078224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865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 por round-robin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1005840" y="22128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honesto que una sola métrica contra heurísticas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987552" y="2487168"/>
            <a:ext cx="6437376" cy="347472"/>
          </a:xfrm>
          <a:prstGeom prst="roundRect">
            <a:avLst>
              <a:gd name="adj" fmla="val 105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596896"/>
            <a:ext cx="11579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generacion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2346716" y="2596896"/>
            <a:ext cx="61081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ver.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3030687" y="2596896"/>
            <a:ext cx="884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3988247" y="2596896"/>
            <a:ext cx="12947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5356189" y="2596896"/>
            <a:ext cx="21155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leccion tecnica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987552" y="2898648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97280" y="2980944"/>
            <a:ext cx="73152" cy="18157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43584" y="2995574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liga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2474732" y="2995574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v8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3158703" y="2985189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0.94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4134551" y="2967881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89415" y="3019806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fuerte</a:t>
            </a:r>
            <a:endParaRPr lang="en-US" sz="690" dirty="0"/>
          </a:p>
        </p:txBody>
      </p:sp>
      <p:sp>
        <p:nvSpPr>
          <p:cNvPr id="26" name="Text 23"/>
          <p:cNvSpPr/>
          <p:nvPr/>
        </p:nvSpPr>
        <p:spPr>
          <a:xfrm>
            <a:off x="5484205" y="2981728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 de checkpoints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987552" y="3308822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97280" y="3391118"/>
            <a:ext cx="73152" cy="1815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43584" y="3405748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centinela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2474732" y="3405748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v6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3158703" y="3395363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0.81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4134551" y="3378055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89415" y="3429980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sobreajuste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5484205" y="3391901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dominaba sentinel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987552" y="3718995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97280" y="3801291"/>
            <a:ext cx="73152" cy="18157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43584" y="3815922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amnesia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2474732" y="3815922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v7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3158703" y="3805537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84B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0.75</a:t>
            </a:r>
            <a:endParaRPr lang="en-US" sz="940" dirty="0"/>
          </a:p>
        </p:txBody>
      </p:sp>
      <p:sp>
        <p:nvSpPr>
          <p:cNvPr id="40" name="Shape 37"/>
          <p:cNvSpPr/>
          <p:nvPr/>
        </p:nvSpPr>
        <p:spPr>
          <a:xfrm>
            <a:off x="4134551" y="3788229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89415" y="3840153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</a:t>
            </a:r>
            <a:endParaRPr lang="en-US" sz="690" dirty="0"/>
          </a:p>
        </p:txBody>
      </p:sp>
      <p:sp>
        <p:nvSpPr>
          <p:cNvPr id="42" name="Text 39"/>
          <p:cNvSpPr/>
          <p:nvPr/>
        </p:nvSpPr>
        <p:spPr>
          <a:xfrm>
            <a:off x="5484205" y="3802075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 sin buffer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987552" y="4129169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97280" y="4211465"/>
            <a:ext cx="73152" cy="18157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243584" y="4226096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chispazo</a:t>
            </a:r>
            <a:endParaRPr lang="en-US" sz="860" dirty="0"/>
          </a:p>
        </p:txBody>
      </p:sp>
      <p:sp>
        <p:nvSpPr>
          <p:cNvPr id="46" name="Text 43"/>
          <p:cNvSpPr/>
          <p:nvPr/>
        </p:nvSpPr>
        <p:spPr>
          <a:xfrm>
            <a:off x="2474732" y="4226096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3158703" y="4215711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0.29</a:t>
            </a:r>
            <a:endParaRPr lang="en-US" sz="940" dirty="0"/>
          </a:p>
        </p:txBody>
      </p:sp>
      <p:sp>
        <p:nvSpPr>
          <p:cNvPr id="48" name="Shape 45"/>
          <p:cNvSpPr/>
          <p:nvPr/>
        </p:nvSpPr>
        <p:spPr>
          <a:xfrm>
            <a:off x="4134551" y="4198402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189415" y="4250327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690" dirty="0"/>
          </a:p>
        </p:txBody>
      </p:sp>
      <p:sp>
        <p:nvSpPr>
          <p:cNvPr id="50" name="Text 47"/>
          <p:cNvSpPr/>
          <p:nvPr/>
        </p:nvSpPr>
        <p:spPr>
          <a:xfrm>
            <a:off x="5484205" y="4212249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abortada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987552" y="4539343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97280" y="4621639"/>
            <a:ext cx="73152" cy="1815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43584" y="4636269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reflejo</a:t>
            </a:r>
            <a:endParaRPr lang="en-US" sz="860" dirty="0"/>
          </a:p>
        </p:txBody>
      </p:sp>
      <p:sp>
        <p:nvSpPr>
          <p:cNvPr id="54" name="Text 51"/>
          <p:cNvSpPr/>
          <p:nvPr/>
        </p:nvSpPr>
        <p:spPr>
          <a:xfrm>
            <a:off x="2474732" y="4636269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3158703" y="4625884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0.29</a:t>
            </a:r>
            <a:endParaRPr lang="en-US" sz="940" dirty="0"/>
          </a:p>
        </p:txBody>
      </p:sp>
      <p:sp>
        <p:nvSpPr>
          <p:cNvPr id="56" name="Shape 53"/>
          <p:cNvSpPr/>
          <p:nvPr/>
        </p:nvSpPr>
        <p:spPr>
          <a:xfrm>
            <a:off x="4134551" y="4608576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189415" y="4660501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MCTS</a:t>
            </a:r>
            <a:endParaRPr lang="en-US" sz="690" dirty="0"/>
          </a:p>
        </p:txBody>
      </p:sp>
      <p:sp>
        <p:nvSpPr>
          <p:cNvPr id="58" name="Text 55"/>
          <p:cNvSpPr/>
          <p:nvPr/>
        </p:nvSpPr>
        <p:spPr>
          <a:xfrm>
            <a:off x="5484205" y="4622423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desempate sesgado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987552" y="4949517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97280" y="5031813"/>
            <a:ext cx="73152" cy="18157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43584" y="5046443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aprendiz</a:t>
            </a:r>
            <a:endParaRPr lang="en-US" sz="860" dirty="0"/>
          </a:p>
        </p:txBody>
      </p:sp>
      <p:sp>
        <p:nvSpPr>
          <p:cNvPr id="62" name="Text 59"/>
          <p:cNvSpPr/>
          <p:nvPr/>
        </p:nvSpPr>
        <p:spPr>
          <a:xfrm>
            <a:off x="2474732" y="5046443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v4a</a:t>
            </a:r>
            <a:endParaRPr lang="en-US" sz="840" dirty="0"/>
          </a:p>
        </p:txBody>
      </p:sp>
      <p:sp>
        <p:nvSpPr>
          <p:cNvPr id="63" name="Text 60"/>
          <p:cNvSpPr/>
          <p:nvPr/>
        </p:nvSpPr>
        <p:spPr>
          <a:xfrm>
            <a:off x="3158703" y="5036058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0.25</a:t>
            </a:r>
            <a:endParaRPr lang="en-US" sz="940" dirty="0"/>
          </a:p>
        </p:txBody>
      </p:sp>
      <p:sp>
        <p:nvSpPr>
          <p:cNvPr id="64" name="Shape 61"/>
          <p:cNvSpPr/>
          <p:nvPr/>
        </p:nvSpPr>
        <p:spPr>
          <a:xfrm>
            <a:off x="4134551" y="5018750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189415" y="5070675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690" dirty="0"/>
          </a:p>
        </p:txBody>
      </p:sp>
      <p:sp>
        <p:nvSpPr>
          <p:cNvPr id="66" name="Text 63"/>
          <p:cNvSpPr/>
          <p:nvPr/>
        </p:nvSpPr>
        <p:spPr>
          <a:xfrm>
            <a:off x="5484205" y="5032596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shaping insuficiente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987552" y="5359690"/>
            <a:ext cx="6437376" cy="346166"/>
          </a:xfrm>
          <a:prstGeom prst="roundRect">
            <a:avLst>
              <a:gd name="adj" fmla="val 9245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97280" y="5441986"/>
            <a:ext cx="73152" cy="18157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43584" y="5456617"/>
            <a:ext cx="11031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bogo</a:t>
            </a:r>
            <a:endParaRPr lang="en-US" sz="860" dirty="0"/>
          </a:p>
        </p:txBody>
      </p:sp>
      <p:sp>
        <p:nvSpPr>
          <p:cNvPr id="70" name="Text 67"/>
          <p:cNvSpPr/>
          <p:nvPr/>
        </p:nvSpPr>
        <p:spPr>
          <a:xfrm>
            <a:off x="2474732" y="5456617"/>
            <a:ext cx="59253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</a:t>
            </a:r>
            <a:endParaRPr lang="en-US" sz="840" dirty="0"/>
          </a:p>
        </p:txBody>
      </p:sp>
      <p:sp>
        <p:nvSpPr>
          <p:cNvPr id="71" name="Text 68"/>
          <p:cNvSpPr/>
          <p:nvPr/>
        </p:nvSpPr>
        <p:spPr>
          <a:xfrm>
            <a:off x="3158703" y="5446232"/>
            <a:ext cx="847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0.17</a:t>
            </a:r>
            <a:endParaRPr lang="en-US" sz="940" dirty="0"/>
          </a:p>
        </p:txBody>
      </p:sp>
      <p:sp>
        <p:nvSpPr>
          <p:cNvPr id="72" name="Shape 69"/>
          <p:cNvSpPr/>
          <p:nvPr/>
        </p:nvSpPr>
        <p:spPr>
          <a:xfrm>
            <a:off x="4134551" y="5428923"/>
            <a:ext cx="1166774" cy="190391"/>
          </a:xfrm>
          <a:prstGeom prst="roundRect">
            <a:avLst>
              <a:gd name="adj" fmla="val 19211"/>
            </a:avLst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189415" y="5480848"/>
            <a:ext cx="105704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 base</a:t>
            </a:r>
            <a:endParaRPr lang="en-US" sz="690" dirty="0"/>
          </a:p>
        </p:txBody>
      </p:sp>
      <p:sp>
        <p:nvSpPr>
          <p:cNvPr id="74" name="Text 71"/>
          <p:cNvSpPr/>
          <p:nvPr/>
        </p:nvSpPr>
        <p:spPr>
          <a:xfrm>
            <a:off x="5484205" y="5442770"/>
            <a:ext cx="2024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plana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7936992" y="1847088"/>
            <a:ext cx="3090672" cy="1042416"/>
          </a:xfrm>
          <a:prstGeom prst="roundRect">
            <a:avLst>
              <a:gd name="adj" fmla="val 43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229600" y="2066544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Composite</a:t>
            </a:r>
            <a:endParaRPr lang="en-US" sz="1480" dirty="0"/>
          </a:p>
        </p:txBody>
      </p:sp>
      <p:sp>
        <p:nvSpPr>
          <p:cNvPr id="77" name="Text 74"/>
          <p:cNvSpPr/>
          <p:nvPr/>
        </p:nvSpPr>
        <p:spPr>
          <a:xfrm>
            <a:off x="8302752" y="2487168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¿gana a heurísticas conocidas?</a:t>
            </a:r>
            <a:endParaRPr lang="en-US" sz="880" dirty="0"/>
          </a:p>
        </p:txBody>
      </p:sp>
      <p:sp>
        <p:nvSpPr>
          <p:cNvPr id="78" name="Shape 75"/>
          <p:cNvSpPr/>
          <p:nvPr/>
        </p:nvSpPr>
        <p:spPr>
          <a:xfrm>
            <a:off x="7936992" y="3127248"/>
            <a:ext cx="3090672" cy="1042416"/>
          </a:xfrm>
          <a:prstGeom prst="roundRect">
            <a:avLst>
              <a:gd name="adj" fmla="val 438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229600" y="3346704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Round-robin</a:t>
            </a:r>
            <a:endParaRPr lang="en-US" sz="1480" dirty="0"/>
          </a:p>
        </p:txBody>
      </p:sp>
      <p:sp>
        <p:nvSpPr>
          <p:cNvPr id="80" name="Text 77"/>
          <p:cNvSpPr/>
          <p:nvPr/>
        </p:nvSpPr>
        <p:spPr>
          <a:xfrm>
            <a:off x="8302752" y="3767328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¿resiste contra otros modelos?</a:t>
            </a:r>
            <a:endParaRPr lang="en-US" sz="880" dirty="0"/>
          </a:p>
        </p:txBody>
      </p:sp>
      <p:sp>
        <p:nvSpPr>
          <p:cNvPr id="81" name="Shape 78"/>
          <p:cNvSpPr/>
          <p:nvPr/>
        </p:nvSpPr>
        <p:spPr>
          <a:xfrm>
            <a:off x="7936992" y="4645152"/>
            <a:ext cx="3090672" cy="640080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8229600" y="4855464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métrica puede celebrar una trampa.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26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786384"/>
            <a:ext cx="8458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417320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torneo, verificamos que el sistema completo se entienda.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87552" y="1901952"/>
            <a:ext cx="10058400" cy="694944"/>
          </a:xfrm>
          <a:prstGeom prst="roundRect">
            <a:avLst>
              <a:gd name="adj" fmla="val 65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584" y="2112264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35024" y="2194560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883664" y="2066544"/>
            <a:ext cx="8156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policy y value comparten el cuerpo de la red?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1883664" y="2340864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ambas salidas necesitan leer los mismos patrones espaciales.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987552" y="2962656"/>
            <a:ext cx="10058400" cy="694944"/>
          </a:xfrm>
          <a:prstGeom prst="roundRect">
            <a:avLst>
              <a:gd name="adj" fmla="val 65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43584" y="31729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35024" y="3255264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1883664" y="3127248"/>
            <a:ext cx="8156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MCTS elige por visitas y no por el valor directo?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1883664" y="3401568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las visitas acumulan búsqueda, prior, exploración y evidencia.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987552" y="4023360"/>
            <a:ext cx="10058400" cy="694944"/>
          </a:xfrm>
          <a:prstGeom prst="roundRect">
            <a:avLst>
              <a:gd name="adj" fmla="val 65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43584" y="4233672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35024" y="431596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883664" y="4187952"/>
            <a:ext cx="8156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nos dice la diferencia entre composite y round-robin?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883664" y="4462272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distingue ganar un examen de jugar mejor contra rivales variados.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987552" y="5376672"/>
            <a:ext cx="10058400" cy="384048"/>
          </a:xfrm>
          <a:prstGeom prst="roundRect">
            <a:avLst>
              <a:gd name="adj" fmla="val 1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98448" y="5504688"/>
            <a:ext cx="9454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viene la prueba honesta: jugar contra el sistema y mirar sus decisiones en vivo.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Construir IA para un dominio acotado: Ataxx Zero</dc:title>
  <dc:subject>Clase 26</dc:subject>
  <dc:creator>Diego Obando</dc:creator>
  <cp:lastModifiedBy>Diego Obando</cp:lastModifiedBy>
  <cp:revision>1</cp:revision>
  <dcterms:created xsi:type="dcterms:W3CDTF">2026-05-12T05:17:57Z</dcterms:created>
  <dcterms:modified xsi:type="dcterms:W3CDTF">2026-05-12T05:17:57Z</dcterms:modified>
</cp:coreProperties>
</file>