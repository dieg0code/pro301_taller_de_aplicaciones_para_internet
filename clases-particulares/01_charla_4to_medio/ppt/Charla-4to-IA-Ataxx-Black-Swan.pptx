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clases-particulares\01_charla_4to_medio\ppt\source\assets\images\curated-2026\young-coders-neon-cafe.jpg">    </p:cNvPr>
          <p:cNvPicPr>
            <a:picLocks noChangeAspect="1"/>
          </p:cNvPicPr>
          <p:nvPr/>
        </p:nvPicPr>
        <p:blipFill>
          <a:blip r:embed="rId1"/>
          <a:srcRect l="21467" r="21467" t="0" b="0"/>
          <a:stretch/>
        </p:blipFill>
        <p:spPr>
          <a:xfrm>
            <a:off x="6309360" y="0"/>
            <a:ext cx="58704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0"/>
            <a:ext cx="1097280" cy="6858000"/>
          </a:xfrm>
          <a:prstGeom prst="rect">
            <a:avLst/>
          </a:prstGeom>
          <a:solidFill>
            <a:srgbClr val="102A43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925830"/>
            <a:ext cx="14859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6978" y="731520"/>
            <a:ext cx="182880" cy="6743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29868" y="925830"/>
            <a:ext cx="14859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02368" y="569123"/>
            <a:ext cx="85588" cy="27651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27458" y="457200"/>
            <a:ext cx="105339" cy="3884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78883" y="569123"/>
            <a:ext cx="85588" cy="27651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51008" y="4297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60152" y="694944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técnico-profesional</a:t>
            </a:r>
            <a:endParaRPr lang="en-US" sz="420" dirty="0"/>
          </a:p>
        </p:txBody>
      </p:sp>
      <p:sp>
        <p:nvSpPr>
          <p:cNvPr id="12" name="Shape 9"/>
          <p:cNvSpPr/>
          <p:nvPr/>
        </p:nvSpPr>
        <p:spPr>
          <a:xfrm>
            <a:off x="841248" y="1572768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668780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minutos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841248" y="208483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con IA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77824" y="28803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una app rápida a una inteligencia que aprende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96112" y="5358384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· código · datos · juego · experimentos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0-2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de hoy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charla con demo, juego y decisiones reales.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2395728"/>
            <a:ext cx="1865376" cy="221284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4128" y="2651760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7477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60704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37673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abre la primera pantalla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2697480" y="3493008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063240" y="2395728"/>
            <a:ext cx="1865376" cy="221284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64408" y="2651760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27477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300984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37560" y="37673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app captura una intención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937760" y="3493008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303520" y="2395728"/>
            <a:ext cx="1865376" cy="2212848"/>
          </a:xfrm>
          <a:prstGeom prst="roundRect">
            <a:avLst>
              <a:gd name="adj" fmla="val 2941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04688" y="2651760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27477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541264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77840" y="37673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convierte datos en preguntas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7178040" y="3493008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543800" y="2395728"/>
            <a:ext cx="1865376" cy="221284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44968" y="2651760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36408" y="27477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781544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jugar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818120" y="37673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Ataxx muestra una IA tomando decisiones</a:t>
            </a:r>
            <a:endParaRPr lang="en-US" sz="870" dirty="0"/>
          </a:p>
        </p:txBody>
      </p:sp>
      <p:sp>
        <p:nvSpPr>
          <p:cNvPr id="32" name="Shape 29"/>
          <p:cNvSpPr/>
          <p:nvPr/>
        </p:nvSpPr>
        <p:spPr>
          <a:xfrm>
            <a:off x="9418320" y="3493008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784080" y="2395728"/>
            <a:ext cx="1865376" cy="2212848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85248" y="2651760"/>
            <a:ext cx="43891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76688" y="2747772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0021824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058400" y="37673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hipótesis, experimentos y evidencia</a:t>
            </a:r>
            <a:endParaRPr lang="en-US" sz="870" dirty="0"/>
          </a:p>
        </p:txBody>
      </p:sp>
      <p:sp>
        <p:nvSpPr>
          <p:cNvPr id="38" name="Text 35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2-5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del día</a:t>
            </a:r>
            <a:endParaRPr lang="en-US" sz="27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33856" y="2414016"/>
            <a:ext cx="9921240" cy="2084832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9344" y="2834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no reemplaza pensar.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Acelera lo que sabes dirigir.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5-12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Laboratorio: partir con Stitch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no es hacer la app perfecta: es ver una idea convertida en interfaz.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creative-studio-laptop-team.jpg">    </p:cNvPr>
          <p:cNvPicPr>
            <a:picLocks noChangeAspect="1"/>
          </p:cNvPicPr>
          <p:nvPr/>
        </p:nvPicPr>
        <p:blipFill>
          <a:blip r:embed="rId2"/>
          <a:srcRect l="10156" r="10156" t="0" b="0"/>
          <a:stretch/>
        </p:blipFill>
        <p:spPr>
          <a:xfrm>
            <a:off x="841248" y="2212848"/>
            <a:ext cx="4663440" cy="3291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80176" y="2304288"/>
            <a:ext cx="4279392" cy="566928"/>
          </a:xfrm>
          <a:prstGeom prst="roundRect">
            <a:avLst>
              <a:gd name="adj" fmla="val 96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99632" y="2441448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91072" y="2537460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7223760" y="250545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quiero construir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3145536"/>
            <a:ext cx="4279392" cy="566928"/>
          </a:xfrm>
          <a:prstGeom prst="roundRect">
            <a:avLst>
              <a:gd name="adj" fmla="val 967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3282696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91072" y="3378708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público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7223760" y="334670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quién existe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80176" y="3986784"/>
            <a:ext cx="4279392" cy="566928"/>
          </a:xfrm>
          <a:prstGeom prst="roundRect">
            <a:avLst>
              <a:gd name="adj" fmla="val 96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9632" y="4123944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1072" y="4219956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7223760" y="418795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lograr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80176" y="5047488"/>
            <a:ext cx="4279392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72784" y="5193792"/>
            <a:ext cx="3694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Actividad: abrir Stitch y generar una primera pantalla.</a:t>
            </a:r>
            <a:endParaRPr lang="en-US" sz="880" dirty="0"/>
          </a:p>
        </p:txBody>
      </p:sp>
      <p:sp>
        <p:nvSpPr>
          <p:cNvPr id="24" name="Text 20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12-16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prompt simple, pero dirigido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Stitch funciona mejor cuando la idea tiene restricciones claras.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2231136"/>
            <a:ext cx="9966960" cy="2377440"/>
          </a:xfrm>
          <a:prstGeom prst="roundRect">
            <a:avLst>
              <a:gd name="adj" fmla="val 23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72768" y="2871216"/>
            <a:ext cx="8887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Diseña una landing para [negocio], pensada para [público], con una acción principal: [reservar / comparar / inscribirse].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084832" y="497433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6272" y="507034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773936" y="539496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846320" y="497433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507034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público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535424" y="539496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607808" y="4974336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99248" y="507034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7296912" y="539496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16-20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rápida: primera pantalla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laboratorio importa que puedan tocar la herramienta.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87552" y="2395728"/>
            <a:ext cx="2907792" cy="219456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3584" y="2670048"/>
            <a:ext cx="42062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76606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1463040" y="321868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elige una idea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17904" y="38221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negocio, club, evento, servicio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507992" y="2395728"/>
            <a:ext cx="2907792" cy="2194560"/>
          </a:xfrm>
          <a:prstGeom prst="roundRect">
            <a:avLst>
              <a:gd name="adj" fmla="val 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64024" y="2670048"/>
            <a:ext cx="420624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5464" y="276606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983480" y="321868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pide una interfaz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038344" y="38221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una acción principal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028432" y="2395728"/>
            <a:ext cx="2907792" cy="219456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84464" y="2670048"/>
            <a:ext cx="42062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75904" y="276606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8503920" y="321868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 y corrige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558784" y="382219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falta, qué sobra, qué confunde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20-23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1: landing de tattoo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visual, una acción concreta: reservar.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tattoo-neon-dreams-interior.jpg">    </p:cNvPr>
          <p:cNvPicPr>
            <a:picLocks noChangeAspect="1"/>
          </p:cNvPicPr>
          <p:nvPr/>
        </p:nvPicPr>
        <p:blipFill>
          <a:blip r:embed="rId2"/>
          <a:srcRect l="0" r="0" t="1653" b="1653"/>
          <a:stretch/>
        </p:blipFill>
        <p:spPr>
          <a:xfrm>
            <a:off x="804672" y="2084832"/>
            <a:ext cx="553212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93408" y="2304288"/>
            <a:ext cx="4005072" cy="932688"/>
          </a:xfrm>
          <a:prstGeom prst="roundRect">
            <a:avLst>
              <a:gd name="adj" fmla="val 58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59168" y="2578608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que se vea bonita.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93408" y="3493008"/>
            <a:ext cx="4005072" cy="932688"/>
          </a:xfrm>
          <a:prstGeom prst="roundRect">
            <a:avLst>
              <a:gd name="adj" fmla="val 58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59168" y="3767328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Tiene que guiar una decisión.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93408" y="4681728"/>
            <a:ext cx="4005072" cy="566928"/>
          </a:xfrm>
          <a:prstGeom prst="roundRect">
            <a:avLst>
              <a:gd name="adj" fmla="val 96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67728" y="4873752"/>
            <a:ext cx="3456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trabajos → confiar → reservar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23-26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2: comparar precios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app también puede responder una pregunta cotidiana.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retail-supermarket-aerial.jpg">    </p:cNvPr>
          <p:cNvPicPr>
            <a:picLocks noChangeAspect="1"/>
          </p:cNvPicPr>
          <p:nvPr/>
        </p:nvPicPr>
        <p:blipFill>
          <a:blip r:embed="rId2"/>
          <a:srcRect l="0" r="0" t="603" b="603"/>
          <a:stretch/>
        </p:blipFill>
        <p:spPr>
          <a:xfrm>
            <a:off x="804672" y="2084832"/>
            <a:ext cx="5303520" cy="34930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73952" y="2286000"/>
            <a:ext cx="4059936" cy="658368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21424" y="24871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conviene comprar?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73952" y="3200400"/>
            <a:ext cx="4059936" cy="658368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21424" y="34015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producto subió más?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73952" y="4114800"/>
            <a:ext cx="4059936" cy="658368"/>
          </a:xfrm>
          <a:prstGeom prst="roundRect">
            <a:avLst>
              <a:gd name="adj" fmla="val 833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21424" y="431596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por semana?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26-30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app empieza a producir datos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Ahí aparece el salto profesional: dejar evidencia.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2743200"/>
            <a:ext cx="2084832" cy="1225296"/>
          </a:xfrm>
          <a:prstGeom prst="roundRect">
            <a:avLst>
              <a:gd name="adj" fmla="val 44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52144" y="30175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pantalla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349300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035808" y="3364992"/>
            <a:ext cx="42062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57600" y="2743200"/>
            <a:ext cx="2084832" cy="1225296"/>
          </a:xfrm>
          <a:prstGeom prst="roundRect">
            <a:avLst>
              <a:gd name="adj" fmla="val 44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95344" y="30175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31920" y="349300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79008" y="3364992"/>
            <a:ext cx="420624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00800" y="2743200"/>
            <a:ext cx="2084832" cy="1225296"/>
          </a:xfrm>
          <a:prstGeom prst="roundRect">
            <a:avLst>
              <a:gd name="adj" fmla="val 447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38544" y="30175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75120" y="349300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8522208" y="3364992"/>
            <a:ext cx="420624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44000" y="2743200"/>
            <a:ext cx="2084832" cy="1225296"/>
          </a:xfrm>
          <a:prstGeom prst="roundRect">
            <a:avLst>
              <a:gd name="adj" fmla="val 44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81744" y="30175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418320" y="3493008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115568" y="4992624"/>
            <a:ext cx="9875520" cy="475488"/>
          </a:xfrm>
          <a:prstGeom prst="roundRect">
            <a:avLst>
              <a:gd name="adj" fmla="val 115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17904" y="5138928"/>
            <a:ext cx="9070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app guarda datos, deja de ser solo una pantalla: empieza a ser un sistema.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30-34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BI: mirar para decidir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no decora datos: ayuda a hacer mejores preguntas.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-particulares\01_charla_4to_medio\ppt\source\assets\images\curated-2026\data-dashboard-monitor.jpg">    </p:cNvPr>
          <p:cNvPicPr>
            <a:picLocks noChangeAspect="1"/>
          </p:cNvPicPr>
          <p:nvPr/>
        </p:nvPicPr>
        <p:blipFill>
          <a:blip r:embed="rId2"/>
          <a:srcRect l="0" r="0" t="7093" b="7093"/>
          <a:stretch/>
        </p:blipFill>
        <p:spPr>
          <a:xfrm>
            <a:off x="804672" y="2084832"/>
            <a:ext cx="5285232" cy="34015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55664" y="2340864"/>
            <a:ext cx="4041648" cy="621792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66560" y="252374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pasa?</a:t>
            </a:r>
            <a:endParaRPr lang="en-US" sz="1120" dirty="0"/>
          </a:p>
        </p:txBody>
      </p:sp>
      <p:sp>
        <p:nvSpPr>
          <p:cNvPr id="12" name="Shape 8"/>
          <p:cNvSpPr/>
          <p:nvPr/>
        </p:nvSpPr>
        <p:spPr>
          <a:xfrm>
            <a:off x="9198864" y="2496312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90304" y="259232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680" dirty="0"/>
          </a:p>
        </p:txBody>
      </p:sp>
      <p:sp>
        <p:nvSpPr>
          <p:cNvPr id="14" name="Shape 10"/>
          <p:cNvSpPr/>
          <p:nvPr/>
        </p:nvSpPr>
        <p:spPr>
          <a:xfrm>
            <a:off x="6455664" y="3218688"/>
            <a:ext cx="4041648" cy="621792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340156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pasa?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9198864" y="3374136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90304" y="347014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680" dirty="0"/>
          </a:p>
        </p:txBody>
      </p:sp>
      <p:sp>
        <p:nvSpPr>
          <p:cNvPr id="18" name="Shape 14"/>
          <p:cNvSpPr/>
          <p:nvPr/>
        </p:nvSpPr>
        <p:spPr>
          <a:xfrm>
            <a:off x="6455664" y="4096512"/>
            <a:ext cx="4041648" cy="621792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66560" y="427939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hacemos?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9198864" y="42519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290304" y="434797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34-36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de escala</a:t>
            </a:r>
            <a:endParaRPr lang="en-US" sz="27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33856" y="2414016"/>
            <a:ext cx="9921240" cy="2084832"/>
          </a:xfrm>
          <a:prstGeom prst="roundRect">
            <a:avLst>
              <a:gd name="adj" fmla="val 2632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9344" y="2834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¿Y si en vez de una app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miramos una IA que aprende jugando?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36-39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Ataxx en 30 segundos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tablero simple, decisiones difíciles.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2103120"/>
            <a:ext cx="4297680" cy="3730752"/>
          </a:xfrm>
          <a:prstGeom prst="roundRect">
            <a:avLst>
              <a:gd name="adj" fmla="val 14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0784" y="2542032"/>
            <a:ext cx="2871216" cy="2871216"/>
          </a:xfrm>
          <a:prstGeom prst="rect">
            <a:avLst/>
          </a:prstGeom>
          <a:solidFill>
            <a:srgbClr val="F8FAFC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0784" y="2542032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10958" y="2542032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1131" y="2542032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31305" y="2542032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41479" y="2542032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51653" y="2542032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1826" y="2542032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00784" y="2952206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10958" y="2952206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21131" y="2952206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31305" y="2952206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41479" y="2952206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51653" y="2952206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1826" y="2952206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00784" y="3362379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10958" y="3362379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21131" y="3362379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31305" y="3362379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41479" y="3362379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51653" y="3362379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61826" y="3362379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00784" y="3772553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110958" y="3772553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21131" y="3772553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31305" y="3772553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341479" y="3772553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51653" y="3772553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61826" y="3772553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700784" y="4182727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110958" y="4182727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521131" y="4182727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931305" y="4182727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41479" y="4182727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751653" y="4182727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61826" y="4182727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00784" y="4592901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110958" y="4592901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521131" y="4592901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31305" y="4592901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341479" y="4592901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751653" y="4592901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61826" y="4592901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700784" y="5003074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110958" y="5003074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521131" y="5003074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931305" y="5003074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341479" y="5003074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751653" y="5003074"/>
            <a:ext cx="410174" cy="410174"/>
          </a:xfrm>
          <a:prstGeom prst="rect">
            <a:avLst/>
          </a:prstGeom>
          <a:solidFill>
            <a:srgbClr val="E7EEF6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161826" y="5003074"/>
            <a:ext cx="410174" cy="41017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782819" y="2624067"/>
            <a:ext cx="246104" cy="2461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243861" y="5085109"/>
            <a:ext cx="246104" cy="2461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243861" y="2624067"/>
            <a:ext cx="246104" cy="24610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782819" y="5085109"/>
            <a:ext cx="246104" cy="24610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03166" y="3444414"/>
            <a:ext cx="246104" cy="24610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013340" y="3854588"/>
            <a:ext cx="246104" cy="24610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603166" y="4264762"/>
            <a:ext cx="246104" cy="24610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943600" y="2249424"/>
            <a:ext cx="4498848" cy="676656"/>
          </a:xfrm>
          <a:prstGeom prst="roundRect">
            <a:avLst>
              <a:gd name="adj" fmla="val 810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199632" y="2432304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291072" y="2528316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clonar</a:t>
            </a:r>
            <a:endParaRPr lang="en-US" sz="780" dirty="0"/>
          </a:p>
        </p:txBody>
      </p:sp>
      <p:sp>
        <p:nvSpPr>
          <p:cNvPr id="70" name="Text 67"/>
          <p:cNvSpPr/>
          <p:nvPr/>
        </p:nvSpPr>
        <p:spPr>
          <a:xfrm>
            <a:off x="7388352" y="2487168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a distancia 1 y sumar pieza</a:t>
            </a:r>
            <a:endParaRPr lang="en-US" sz="960" dirty="0"/>
          </a:p>
        </p:txBody>
      </p:sp>
      <p:sp>
        <p:nvSpPr>
          <p:cNvPr id="71" name="Shape 68"/>
          <p:cNvSpPr/>
          <p:nvPr/>
        </p:nvSpPr>
        <p:spPr>
          <a:xfrm>
            <a:off x="5943600" y="3200400"/>
            <a:ext cx="4498848" cy="676656"/>
          </a:xfrm>
          <a:prstGeom prst="roundRect">
            <a:avLst>
              <a:gd name="adj" fmla="val 810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199632" y="3383280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291072" y="3479292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7388352" y="3438144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a distancia 2 y dejar origen vacío</a:t>
            </a:r>
            <a:endParaRPr lang="en-US" sz="960" dirty="0"/>
          </a:p>
        </p:txBody>
      </p:sp>
      <p:sp>
        <p:nvSpPr>
          <p:cNvPr id="75" name="Shape 72"/>
          <p:cNvSpPr/>
          <p:nvPr/>
        </p:nvSpPr>
        <p:spPr>
          <a:xfrm>
            <a:off x="5943600" y="4151376"/>
            <a:ext cx="4498848" cy="676656"/>
          </a:xfrm>
          <a:prstGeom prst="roundRect">
            <a:avLst>
              <a:gd name="adj" fmla="val 810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199632" y="4334256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291072" y="4430268"/>
            <a:ext cx="731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</a:t>
            </a:r>
            <a:endParaRPr lang="en-US" sz="780" dirty="0"/>
          </a:p>
        </p:txBody>
      </p:sp>
      <p:sp>
        <p:nvSpPr>
          <p:cNvPr id="78" name="Text 75"/>
          <p:cNvSpPr/>
          <p:nvPr/>
        </p:nvSpPr>
        <p:spPr>
          <a:xfrm>
            <a:off x="7388352" y="4389120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piezas rivales vecinas cambian de color</a:t>
            </a:r>
            <a:endParaRPr lang="en-US" sz="960" dirty="0"/>
          </a:p>
        </p:txBody>
      </p:sp>
      <p:sp>
        <p:nvSpPr>
          <p:cNvPr id="79" name="Text 76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39-45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Momento juego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persona juega. El resto observa decisiones.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2267712"/>
            <a:ext cx="4901184" cy="2926080"/>
          </a:xfrm>
          <a:prstGeom prst="roundRect">
            <a:avLst>
              <a:gd name="adj" fmla="val 18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53312" y="29260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 quiere jugar contra la IA?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1554480" y="39136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buscamos ganar rápido.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Buscamos mirar cómo decide.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6492240" y="2267712"/>
            <a:ext cx="4206240" cy="2926080"/>
          </a:xfrm>
          <a:prstGeom prst="roundRect">
            <a:avLst>
              <a:gd name="adj" fmla="val 18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14032" y="3310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movimiento eligió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riesgo tomó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dato nos deja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45-47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real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IA juega, no está adivinando al azar.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2286000"/>
            <a:ext cx="4334256" cy="841248"/>
          </a:xfrm>
          <a:prstGeom prst="roundRect">
            <a:avLst>
              <a:gd name="adj" fmla="val 65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0432" y="254203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638044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395728" y="258775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está pasando ahora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5806440" y="2286000"/>
            <a:ext cx="4334256" cy="841248"/>
          </a:xfrm>
          <a:prstGeom prst="roundRect">
            <a:avLst>
              <a:gd name="adj" fmla="val 65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62472" y="254203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2638044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287768" y="258775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movimientos existen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914400" y="3520440"/>
            <a:ext cx="4334256" cy="841248"/>
          </a:xfrm>
          <a:prstGeom prst="roundRect">
            <a:avLst>
              <a:gd name="adj" fmla="val 6522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70432" y="377647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61872" y="3872484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2395728" y="38221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posición promete más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806440" y="3520440"/>
            <a:ext cx="4334256" cy="841248"/>
          </a:xfrm>
          <a:prstGeom prst="roundRect">
            <a:avLst>
              <a:gd name="adj" fmla="val 65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62472" y="3776472"/>
            <a:ext cx="96012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53912" y="3872484"/>
            <a:ext cx="7772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7287768" y="382219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funcionó antes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1225296" y="5193792"/>
            <a:ext cx="9555480" cy="384048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72768" y="5321808"/>
            <a:ext cx="886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inteligencia aparece cuando esas piezas se combinan y se miden.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47-50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Perceptrón: la idea mínima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neurona artificial no piensa: calcula señales y ajusta pesos.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\semana-09\02\infografia\perceptr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31" y="2011680"/>
            <a:ext cx="2777490" cy="3703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53328" y="2322576"/>
            <a:ext cx="4462272" cy="2578608"/>
          </a:xfrm>
          <a:prstGeom prst="roundRect">
            <a:avLst>
              <a:gd name="adj" fmla="val 212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 → pesos → suma → decisión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65392" y="382219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significa ajustar los pesos para equivocarse menos.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50-52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red mira el tablero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Ataxx Zero convierte una posición en dos respuestas.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\semana-09\02\infografia\red_neuro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975104"/>
            <a:ext cx="2866644" cy="38221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44768" y="2468880"/>
            <a:ext cx="4315968" cy="877824"/>
          </a:xfrm>
          <a:prstGeom prst="roundRect">
            <a:avLst>
              <a:gd name="adj" fmla="val 62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27249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2820924"/>
            <a:ext cx="6035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7443216" y="2761488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jugadas parecen prometedoras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44768" y="3877056"/>
            <a:ext cx="4315968" cy="877824"/>
          </a:xfrm>
          <a:prstGeom prst="roundRect">
            <a:avLst>
              <a:gd name="adj" fmla="val 625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4133088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229100"/>
            <a:ext cx="6035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7443216" y="4169664"/>
            <a:ext cx="2505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tan buena parece la posición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52-54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MCTS: pensar con presupuesto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no revisa todo el futuro: explora ramas prometedoras.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\semana-09\02\infografia\m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938528"/>
            <a:ext cx="2852928" cy="38039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53328" y="2249424"/>
            <a:ext cx="4517136" cy="2487168"/>
          </a:xfrm>
          <a:prstGeom prst="roundRect">
            <a:avLst>
              <a:gd name="adj" fmla="val 22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37376" y="276148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+ exploración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10528" y="35844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elige solo la jugada que se ve mejor.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Invierte simulaciones donde todavía puede descubrir algo.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54-56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 IA se parece a investigar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parte difícil no es escribir una función mágica.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pic>
        <p:nvPicPr>
          <p:cNvPr id="9" name="Image 1" descr="C:\Users\Diego Obando\dev\pro301-taller-de-aplicaciones-para-internet\clases\semana-09\02\infografia\desarrollo_de_ia_ataxx_z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98" y="1901952"/>
            <a:ext cx="2143524" cy="3840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96128" y="232257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15584" y="248716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hipótesis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815584" y="2761488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creo que esto mejora</a:t>
            </a:r>
            <a:endParaRPr lang="en-US" sz="690" dirty="0"/>
          </a:p>
        </p:txBody>
      </p:sp>
      <p:sp>
        <p:nvSpPr>
          <p:cNvPr id="13" name="Shape 9"/>
          <p:cNvSpPr/>
          <p:nvPr/>
        </p:nvSpPr>
        <p:spPr>
          <a:xfrm>
            <a:off x="8156448" y="232257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75904" y="248716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375904" y="2761488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entreno una versión</a:t>
            </a:r>
            <a:endParaRPr lang="en-US" sz="690" dirty="0"/>
          </a:p>
        </p:txBody>
      </p:sp>
      <p:sp>
        <p:nvSpPr>
          <p:cNvPr id="16" name="Shape 12"/>
          <p:cNvSpPr/>
          <p:nvPr/>
        </p:nvSpPr>
        <p:spPr>
          <a:xfrm>
            <a:off x="5596128" y="347472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15584" y="3639312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815584" y="3913632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guardo partidas y métricas</a:t>
            </a:r>
            <a:endParaRPr lang="en-US" sz="690" dirty="0"/>
          </a:p>
        </p:txBody>
      </p:sp>
      <p:sp>
        <p:nvSpPr>
          <p:cNvPr id="19" name="Shape 15"/>
          <p:cNvSpPr/>
          <p:nvPr/>
        </p:nvSpPr>
        <p:spPr>
          <a:xfrm>
            <a:off x="8156448" y="3474720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75904" y="3639312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375904" y="3913632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comparar, corregir, repetir</a:t>
            </a:r>
            <a:endParaRPr lang="en-US" sz="690" dirty="0"/>
          </a:p>
        </p:txBody>
      </p:sp>
      <p:sp>
        <p:nvSpPr>
          <p:cNvPr id="22" name="Text 18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56-57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también sirve para IA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miramos ventas: también miramos aprendizaje.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2048256"/>
            <a:ext cx="5577840" cy="3621024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ataxx_zero.pbip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07008" y="2889504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v6 centinela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2788920" y="2907792"/>
            <a:ext cx="2468880" cy="109728"/>
          </a:xfrm>
          <a:prstGeom prst="rect">
            <a:avLst/>
          </a:prstGeom>
          <a:solidFill>
            <a:srgbClr val="E5EAF1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2907792"/>
            <a:ext cx="1999793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6672" y="2880360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207008" y="345643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v7 amnesia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788920" y="3474720"/>
            <a:ext cx="2468880" cy="109728"/>
          </a:xfrm>
          <a:prstGeom prst="rect">
            <a:avLst/>
          </a:prstGeom>
          <a:solidFill>
            <a:srgbClr val="E5EAF1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88920" y="3474720"/>
            <a:ext cx="1703527" cy="10972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76672" y="344728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207008" y="402336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v8 liga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788920" y="4041648"/>
            <a:ext cx="2468880" cy="109728"/>
          </a:xfrm>
          <a:prstGeom prst="rect">
            <a:avLst/>
          </a:prstGeom>
          <a:solidFill>
            <a:srgbClr val="E5EAF1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88920" y="4041648"/>
            <a:ext cx="1999793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76672" y="401421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6839712" y="2286000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05472" y="254203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¿mejoró realmente?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6839712" y="3419856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05472" y="367588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¿contra quién funciona?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839712" y="4553712"/>
            <a:ext cx="3931920" cy="786384"/>
          </a:xfrm>
          <a:prstGeom prst="roundRect">
            <a:avLst>
              <a:gd name="adj" fmla="val 697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05472" y="48097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experimento sigue?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57-58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como método científico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versión no es verdad: es una hipótesis puesta a prueba.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2743200"/>
            <a:ext cx="1755648" cy="1170432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30175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24128" y="343814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615184" y="3328416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54096" y="2743200"/>
            <a:ext cx="1755648" cy="1170432"/>
          </a:xfrm>
          <a:prstGeom prst="roundRect">
            <a:avLst>
              <a:gd name="adj" fmla="val 468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36976" y="30175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236976" y="343814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828032" y="3328416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66944" y="2743200"/>
            <a:ext cx="1755648" cy="1170432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824" y="30175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9824" y="343814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experimento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040880" y="3328416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79792" y="2743200"/>
            <a:ext cx="1755648" cy="1170432"/>
          </a:xfrm>
          <a:prstGeom prst="roundRect">
            <a:avLst>
              <a:gd name="adj" fmla="val 468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62672" y="30175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662672" y="343814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9253728" y="3328416"/>
            <a:ext cx="2926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692640" y="2743200"/>
            <a:ext cx="1755648" cy="1170432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0" y="30175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decidir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875520" y="3438144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versión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188720" y="5084064"/>
            <a:ext cx="9784080" cy="475488"/>
          </a:xfrm>
          <a:prstGeom prst="roundRect">
            <a:avLst>
              <a:gd name="adj" fmla="val 1153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54480" y="5230368"/>
            <a:ext cx="9052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Programar con IA no elimina el criterio: lo vuelve más importante.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58-59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vieron hoy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fue una herramienta: fue un flujo completo.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276148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4712" y="31821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imaginar</a:t>
            </a:r>
            <a:endParaRPr lang="en-US" sz="1430" dirty="0"/>
          </a:p>
        </p:txBody>
      </p:sp>
      <p:sp>
        <p:nvSpPr>
          <p:cNvPr id="11" name="Shape 8"/>
          <p:cNvSpPr/>
          <p:nvPr/>
        </p:nvSpPr>
        <p:spPr>
          <a:xfrm>
            <a:off x="3108960" y="276148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73552" y="31821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</a:t>
            </a:r>
            <a:endParaRPr lang="en-US" sz="1430" dirty="0"/>
          </a:p>
        </p:txBody>
      </p:sp>
      <p:sp>
        <p:nvSpPr>
          <p:cNvPr id="13" name="Shape 10"/>
          <p:cNvSpPr/>
          <p:nvPr/>
        </p:nvSpPr>
        <p:spPr>
          <a:xfrm>
            <a:off x="5257800" y="276148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2392" y="31821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jugar</a:t>
            </a:r>
            <a:endParaRPr lang="en-US" sz="1430" dirty="0"/>
          </a:p>
        </p:txBody>
      </p:sp>
      <p:sp>
        <p:nvSpPr>
          <p:cNvPr id="15" name="Shape 12"/>
          <p:cNvSpPr/>
          <p:nvPr/>
        </p:nvSpPr>
        <p:spPr>
          <a:xfrm>
            <a:off x="7406640" y="276148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71232" y="31821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430" dirty="0"/>
          </a:p>
        </p:txBody>
      </p:sp>
      <p:sp>
        <p:nvSpPr>
          <p:cNvPr id="17" name="Shape 14"/>
          <p:cNvSpPr/>
          <p:nvPr/>
        </p:nvSpPr>
        <p:spPr>
          <a:xfrm>
            <a:off x="9555480" y="276148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20072" y="318211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mejorar</a:t>
            </a:r>
            <a:endParaRPr lang="en-US" sz="1430" dirty="0"/>
          </a:p>
        </p:txBody>
      </p:sp>
      <p:sp>
        <p:nvSpPr>
          <p:cNvPr id="19" name="Text 16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pueden probar hoy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un computador de laboratorio basta para empezar.</a:t>
            </a:r>
            <a:endParaRPr lang="en-US" sz="1150" dirty="0"/>
          </a:p>
        </p:txBody>
      </p:sp>
      <p:pic>
        <p:nvPicPr>
          <p:cNvPr id="8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78992" y="2395728"/>
            <a:ext cx="4114800" cy="768096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89888" y="2596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Stitch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2743200" y="262432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una pantalla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5925312" y="2395728"/>
            <a:ext cx="4114800" cy="768096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596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7589520" y="262432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idea en código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1078992" y="3621024"/>
            <a:ext cx="4114800" cy="768096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89888" y="3822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2743200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datos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925312" y="3621024"/>
            <a:ext cx="4114800" cy="768096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8221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Juego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7589520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decisiones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917" y="512064"/>
            <a:ext cx="134600" cy="496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3404" y="655076"/>
            <a:ext cx="109362" cy="3533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5303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59-60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8823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final</a:t>
            </a:r>
            <a:endParaRPr lang="en-US" sz="2700" dirty="0"/>
          </a:p>
        </p:txBody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10652760" y="384048"/>
            <a:ext cx="658368" cy="420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33856" y="2414016"/>
            <a:ext cx="9921240" cy="2084832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9344" y="28346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pudieras crear una app o una IA,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te gustaría resolver?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94944" y="6492240"/>
            <a:ext cx="5303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A9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4to medio · IA, web, datos y juego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045952" y="64373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CE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907542"/>
            <a:ext cx="14859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3554" y="713232"/>
            <a:ext cx="182880" cy="67437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6444" y="907542"/>
            <a:ext cx="148590" cy="4800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569123"/>
            <a:ext cx="85588" cy="27651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7458" y="457200"/>
            <a:ext cx="105339" cy="38843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78883" y="569123"/>
            <a:ext cx="85588" cy="27651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51008" y="4297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0152" y="694944"/>
            <a:ext cx="9601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técnico-profesional</a:t>
            </a:r>
            <a:endParaRPr lang="en-US" sz="42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96112" y="27980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imaginar · construir · medir · mejorar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4864608"/>
            <a:ext cx="6035040" cy="530352"/>
          </a:xfrm>
          <a:prstGeom prst="roundRect">
            <a:avLst>
              <a:gd name="adj" fmla="val 1034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5029200"/>
            <a:ext cx="5376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se vuelve poderosa cuando alguien sabe hacerle buenas preguntas y revisar sus respuestas.</a:t>
            </a:r>
            <a:endParaRPr lang="en-US" sz="960" dirty="0"/>
          </a:p>
        </p:txBody>
      </p:sp>
      <p:pic>
        <p:nvPicPr>
          <p:cNvPr id="14" name="Image 0" descr="C:\Users\Diego Obando\dev\pro301-taller-de-aplicaciones-para-internet\clases-particulares\01_charla_4to_medio\ppt\source\assets\images\curated-2026\coding-neon-workstation.jpg">    </p:cNvPr>
          <p:cNvPicPr>
            <a:picLocks noChangeAspect="1"/>
          </p:cNvPicPr>
          <p:nvPr/>
        </p:nvPicPr>
        <p:blipFill>
          <a:blip r:embed="rId1"/>
          <a:srcRect l="26665" r="26665" t="0" b="0"/>
          <a:stretch/>
        </p:blipFill>
        <p:spPr>
          <a:xfrm>
            <a:off x="7406640" y="1481328"/>
            <a:ext cx="3474720" cy="4187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 con IA: de una app rápida a una inteligencia que aprende</dc:title>
  <dc:subject>Charla 4to medio</dc:subject>
  <dc:creator>Diego Obando</dc:creator>
  <cp:lastModifiedBy>Diego Obando</cp:lastModifiedBy>
  <cp:revision>1</cp:revision>
  <dcterms:created xsi:type="dcterms:W3CDTF">2026-05-13T03:16:51Z</dcterms:created>
  <dcterms:modified xsi:type="dcterms:W3CDTF">2026-05-13T03:16:51Z</dcterms:modified>
</cp:coreProperties>
</file>