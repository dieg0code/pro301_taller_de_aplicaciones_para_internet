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png"/><Relationship Id="rId3" Type="http://schemas.openxmlformats.org/officeDocument/2006/relationships/image" Target="../media/image-3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png"/><Relationship Id="rId3" Type="http://schemas.openxmlformats.org/officeDocument/2006/relationships/image" Target="../media/image-4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retail-supermarket-aerial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2">
              <a:alpha val="7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623560" cy="5230368"/>
          </a:xfrm>
          <a:prstGeom prst="rect">
            <a:avLst/>
          </a:prstGeom>
          <a:solidFill>
            <a:srgbClr val="102A43">
              <a:alpha val="9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802368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966960" y="310896"/>
            <a:ext cx="128016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131552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69296" y="32004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AIEP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378440" y="57607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superior técnico-profesional</a:t>
            </a:r>
            <a:endParaRPr lang="en-US" sz="380" dirty="0"/>
          </a:p>
        </p:txBody>
      </p:sp>
      <p:sp>
        <p:nvSpPr>
          <p:cNvPr id="10" name="Shape 7"/>
          <p:cNvSpPr/>
          <p:nvPr/>
        </p:nvSpPr>
        <p:spPr>
          <a:xfrm>
            <a:off x="713232" y="969264"/>
            <a:ext cx="13716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8972" y="786384"/>
            <a:ext cx="182880" cy="6629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70432" y="969264"/>
            <a:ext cx="13716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89888" y="7680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94944" y="1371600"/>
            <a:ext cx="473659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una idea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un producto digital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49808" y="28712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+ desarrollo web + Power BI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49808" y="3675888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3749040"/>
            <a:ext cx="2331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Miércoles 13 de mayo · AIEP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0" y="5230368"/>
            <a:ext cx="12191695" cy="1627632"/>
          </a:xfrm>
          <a:prstGeom prst="rect">
            <a:avLst/>
          </a:prstGeom>
          <a:solidFill>
            <a:srgbClr val="102A43">
              <a:alpha val="96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4944" y="5788152"/>
            <a:ext cx="13716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0684" y="5605272"/>
            <a:ext cx="182880" cy="6629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52144" y="5788152"/>
            <a:ext cx="13716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71600" y="55046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Hoy no vamos a mirar tecnología desde lejos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71600" y="5879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Vamos a convertir una idea de negocio en diseño, web, datos y dashboard.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LES HABLA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Diego Obando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historia corta: estudiar, construir, volver a enseñar.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captures\diego-portfolio.png">    </p:cNvPr>
          <p:cNvPicPr>
            <a:picLocks noChangeAspect="1"/>
          </p:cNvPicPr>
          <p:nvPr/>
        </p:nvPicPr>
        <p:blipFill>
          <a:blip r:embed="rId2"/>
          <a:srcRect l="0" r="0" t="5681" b="5681"/>
          <a:stretch/>
        </p:blipFill>
        <p:spPr>
          <a:xfrm>
            <a:off x="713232" y="1536192"/>
            <a:ext cx="5541264" cy="2761488"/>
          </a:xfrm>
          <a:prstGeom prst="rect">
            <a:avLst/>
          </a:prstGeom>
        </p:spPr>
      </p:pic>
      <p:pic>
        <p:nvPicPr>
          <p:cNvPr id="10" name="Image 2" descr="C:\Users\Diego Obando\dev\pro301-taller-de-aplicaciones-para-internet\clases-particulares\01_charla_4to_medio\ppt\source\assets\captures\diego-github.png">    </p:cNvPr>
          <p:cNvPicPr>
            <a:picLocks noChangeAspect="1"/>
          </p:cNvPicPr>
          <p:nvPr/>
        </p:nvPicPr>
        <p:blipFill>
          <a:blip r:embed="rId3"/>
          <a:srcRect l="4389" r="4389" t="0" b="0"/>
          <a:stretch/>
        </p:blipFill>
        <p:spPr>
          <a:xfrm>
            <a:off x="6601968" y="1536192"/>
            <a:ext cx="4480560" cy="276148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04672" y="4553712"/>
            <a:ext cx="24871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987552" y="472744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2018</a:t>
            </a:r>
            <a:endParaRPr lang="en-US" sz="860" dirty="0"/>
          </a:p>
        </p:txBody>
      </p:sp>
      <p:sp>
        <p:nvSpPr>
          <p:cNvPr id="13" name="Text 8"/>
          <p:cNvSpPr/>
          <p:nvPr/>
        </p:nvSpPr>
        <p:spPr>
          <a:xfrm>
            <a:off x="987552" y="495604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Empiezo en desarrollo</a:t>
            </a:r>
            <a:endParaRPr lang="en-US" sz="1220" dirty="0"/>
          </a:p>
        </p:txBody>
      </p:sp>
      <p:sp>
        <p:nvSpPr>
          <p:cNvPr id="14" name="Text 9"/>
          <p:cNvSpPr/>
          <p:nvPr/>
        </p:nvSpPr>
        <p:spPr>
          <a:xfrm>
            <a:off x="987552" y="52303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Software, backend, APIs y sistemas reales.</a:t>
            </a:r>
            <a:endParaRPr lang="en-US" sz="760" dirty="0"/>
          </a:p>
        </p:txBody>
      </p:sp>
      <p:sp>
        <p:nvSpPr>
          <p:cNvPr id="15" name="Shape 10"/>
          <p:cNvSpPr/>
          <p:nvPr/>
        </p:nvSpPr>
        <p:spPr>
          <a:xfrm>
            <a:off x="3328416" y="5065776"/>
            <a:ext cx="20116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3593592" y="4553712"/>
            <a:ext cx="2487168" cy="987552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3776472" y="472744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AIEP</a:t>
            </a:r>
            <a:endParaRPr lang="en-US" sz="860" dirty="0"/>
          </a:p>
        </p:txBody>
      </p:sp>
      <p:sp>
        <p:nvSpPr>
          <p:cNvPr id="18" name="Text 13"/>
          <p:cNvSpPr/>
          <p:nvPr/>
        </p:nvSpPr>
        <p:spPr>
          <a:xfrm>
            <a:off x="3776472" y="495604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Estudio programación</a:t>
            </a:r>
            <a:endParaRPr lang="en-US" sz="1220" dirty="0"/>
          </a:p>
        </p:txBody>
      </p:sp>
      <p:sp>
        <p:nvSpPr>
          <p:cNvPr id="19" name="Text 14"/>
          <p:cNvSpPr/>
          <p:nvPr/>
        </p:nvSpPr>
        <p:spPr>
          <a:xfrm>
            <a:off x="3776472" y="52303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 formo en la misma institución que hoy represento.</a:t>
            </a:r>
            <a:endParaRPr lang="en-US" sz="760" dirty="0"/>
          </a:p>
        </p:txBody>
      </p:sp>
      <p:sp>
        <p:nvSpPr>
          <p:cNvPr id="20" name="Shape 15"/>
          <p:cNvSpPr/>
          <p:nvPr/>
        </p:nvSpPr>
        <p:spPr>
          <a:xfrm>
            <a:off x="6117336" y="5065776"/>
            <a:ext cx="20116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382512" y="4553712"/>
            <a:ext cx="24871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565392" y="472744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</a:t>
            </a:r>
            <a:endParaRPr lang="en-US" sz="860" dirty="0"/>
          </a:p>
        </p:txBody>
      </p:sp>
      <p:sp>
        <p:nvSpPr>
          <p:cNvPr id="23" name="Text 18"/>
          <p:cNvSpPr/>
          <p:nvPr/>
        </p:nvSpPr>
        <p:spPr>
          <a:xfrm>
            <a:off x="6565392" y="495604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Trabajo con software e IA</a:t>
            </a:r>
            <a:endParaRPr lang="en-US" sz="1220" dirty="0"/>
          </a:p>
        </p:txBody>
      </p:sp>
      <p:sp>
        <p:nvSpPr>
          <p:cNvPr id="24" name="Text 19"/>
          <p:cNvSpPr/>
          <p:nvPr/>
        </p:nvSpPr>
        <p:spPr>
          <a:xfrm>
            <a:off x="6565392" y="52303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Go, Java, TypeScript, agentes, cloud y automatización.</a:t>
            </a:r>
            <a:endParaRPr lang="en-US" sz="760" dirty="0"/>
          </a:p>
        </p:txBody>
      </p:sp>
      <p:sp>
        <p:nvSpPr>
          <p:cNvPr id="25" name="Shape 20"/>
          <p:cNvSpPr/>
          <p:nvPr/>
        </p:nvSpPr>
        <p:spPr>
          <a:xfrm>
            <a:off x="8906256" y="5065776"/>
            <a:ext cx="20116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9171432" y="4553712"/>
            <a:ext cx="2487168" cy="987552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9354312" y="472744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Docencia</a:t>
            </a:r>
            <a:endParaRPr lang="en-US" sz="860" dirty="0"/>
          </a:p>
        </p:txBody>
      </p:sp>
      <p:sp>
        <p:nvSpPr>
          <p:cNvPr id="28" name="Text 23"/>
          <p:cNvSpPr/>
          <p:nvPr/>
        </p:nvSpPr>
        <p:spPr>
          <a:xfrm>
            <a:off x="9354312" y="495604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Vuelvo como profesor</a:t>
            </a:r>
            <a:endParaRPr lang="en-US" sz="1220" dirty="0"/>
          </a:p>
        </p:txBody>
      </p:sp>
      <p:sp>
        <p:nvSpPr>
          <p:cNvPr id="29" name="Text 24"/>
          <p:cNvSpPr/>
          <p:nvPr/>
        </p:nvSpPr>
        <p:spPr>
          <a:xfrm>
            <a:off x="9354312" y="52303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Enseño donde estudié: web, testing, metodologías e IA aplicada.</a:t>
            </a:r>
            <a:endParaRPr lang="en-US" sz="760" dirty="0"/>
          </a:p>
        </p:txBody>
      </p:sp>
      <p:sp>
        <p:nvSpPr>
          <p:cNvPr id="30" name="Shape 25"/>
          <p:cNvSpPr/>
          <p:nvPr/>
        </p:nvSpPr>
        <p:spPr>
          <a:xfrm>
            <a:off x="6601968" y="3822192"/>
            <a:ext cx="4480560" cy="512064"/>
          </a:xfrm>
          <a:prstGeom prst="roundRect">
            <a:avLst>
              <a:gd name="adj" fmla="val 2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6839712" y="4005072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299 seguidores en GitHub · actividad pública · proyectos reales</a:t>
            </a:r>
            <a:endParaRPr lang="en-US" sz="880" dirty="0"/>
          </a:p>
        </p:txBody>
      </p:sp>
      <p:sp>
        <p:nvSpPr>
          <p:cNvPr id="32" name="Text 27"/>
          <p:cNvSpPr/>
          <p:nvPr/>
        </p:nvSpPr>
        <p:spPr>
          <a:xfrm>
            <a:off x="950976" y="5925312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teoría lejana: es una forma concreta de convertir una idea en producto.</a:t>
            </a:r>
            <a:endParaRPr lang="en-US" sz="1460" dirty="0"/>
          </a:p>
        </p:txBody>
      </p:sp>
      <p:sp>
        <p:nvSpPr>
          <p:cNvPr id="33" name="Shape 28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5" name="Shape 30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PROMESA DE LA CHARLA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hora, una idea, varias herramientas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foco no es memorizar conceptos: es ver una transformación completa.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young-creative-team-graffiti.jpg">    </p:cNvPr>
          <p:cNvPicPr>
            <a:picLocks noChangeAspect="1"/>
          </p:cNvPicPr>
          <p:nvPr/>
        </p:nvPicPr>
        <p:blipFill>
          <a:blip r:embed="rId2"/>
          <a:srcRect l="19278" r="19278" t="0" b="0"/>
          <a:stretch/>
        </p:blipFill>
        <p:spPr>
          <a:xfrm>
            <a:off x="713232" y="1700784"/>
            <a:ext cx="3886200" cy="42245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92040" y="1700784"/>
            <a:ext cx="2962656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0056" y="1865376"/>
            <a:ext cx="82296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12664" y="192024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312664" y="215798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312664" y="254203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precios reales de los super de Osorno.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38160" y="1700784"/>
            <a:ext cx="2962656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6176" y="1865376"/>
            <a:ext cx="82296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58784" y="192024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SALTO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558784" y="215798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558784" y="254203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Stitch convierte una descripción en interfaz.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892040" y="3255264"/>
            <a:ext cx="2962656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20056" y="3419856"/>
            <a:ext cx="82296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12664" y="347472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SEGUNDO SALTO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312664" y="371246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5312664" y="409651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crea la app, el catálogo y la lista de compras.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138160" y="3255264"/>
            <a:ext cx="2962656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266176" y="3419856"/>
            <a:ext cx="82296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58784" y="347472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 SALTO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558784" y="371246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558784" y="409651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transforma 34 mil precios en decisiones.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919472" y="506577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magia está en conectar las piezas.</a:t>
            </a:r>
            <a:endParaRPr lang="en-US" sz="2100" dirty="0"/>
          </a:p>
        </p:txBody>
      </p:sp>
      <p:sp>
        <p:nvSpPr>
          <p:cNvPr id="31" name="Shape 27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3" name="Shape 29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RUTA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vamos a construir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etapa tiene una explicación breve y después una demostración en vivo.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" y="2212848"/>
            <a:ext cx="1682496" cy="1280160"/>
          </a:xfrm>
          <a:prstGeom prst="roundRect">
            <a:avLst>
              <a:gd name="adj" fmla="val 857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9264" y="2377440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248716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9264" y="28712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69264" y="320040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Cuenta · Osorno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2505456" y="2852928"/>
            <a:ext cx="914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633472" y="2212848"/>
            <a:ext cx="1682496" cy="1280160"/>
          </a:xfrm>
          <a:prstGeom prst="roundRect">
            <a:avLst>
              <a:gd name="adj" fmla="val 8571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98064" y="2377440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98064" y="248716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798064" y="28712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IA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2798064" y="320040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Stitch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4334256" y="2852928"/>
            <a:ext cx="914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462272" y="2212848"/>
            <a:ext cx="1682496" cy="1280160"/>
          </a:xfrm>
          <a:prstGeom prst="roundRect">
            <a:avLst>
              <a:gd name="adj" fmla="val 857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26864" y="2377440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26864" y="248716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626864" y="28712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4626864" y="320040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+ Tailwind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6163056" y="2852928"/>
            <a:ext cx="914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291072" y="2212848"/>
            <a:ext cx="1682496" cy="1280160"/>
          </a:xfrm>
          <a:prstGeom prst="roundRect">
            <a:avLst>
              <a:gd name="adj" fmla="val 8571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55664" y="2377440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55664" y="248716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455664" y="28712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Catálogo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6455664" y="320040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 mil productos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7991856" y="2852928"/>
            <a:ext cx="914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119872" y="2212848"/>
            <a:ext cx="1682496" cy="1280160"/>
          </a:xfrm>
          <a:prstGeom prst="roundRect">
            <a:avLst>
              <a:gd name="adj" fmla="val 857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284464" y="2377440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84464" y="248716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284464" y="28712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8284464" y="320040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Scraping real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9820656" y="2852928"/>
            <a:ext cx="914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9948672" y="2212848"/>
            <a:ext cx="1682496" cy="1280160"/>
          </a:xfrm>
          <a:prstGeom prst="roundRect">
            <a:avLst>
              <a:gd name="adj" fmla="val 8571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10113264" y="2377440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113264" y="248716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0113264" y="28712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43" name="Text 40"/>
          <p:cNvSpPr/>
          <p:nvPr/>
        </p:nvSpPr>
        <p:spPr>
          <a:xfrm>
            <a:off x="10113264" y="320040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830" dirty="0"/>
          </a:p>
        </p:txBody>
      </p:sp>
      <p:sp>
        <p:nvSpPr>
          <p:cNvPr id="44" name="Shape 41"/>
          <p:cNvSpPr/>
          <p:nvPr/>
        </p:nvSpPr>
        <p:spPr>
          <a:xfrm>
            <a:off x="932688" y="4343400"/>
            <a:ext cx="102870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1060704" y="4507992"/>
            <a:ext cx="82296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243584" y="4562856"/>
            <a:ext cx="9738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DE LA CHARLA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243584" y="4800600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Explico una etapa, la hago en vivo y seguimos con la siguiente.</a:t>
            </a:r>
            <a:endParaRPr lang="en-US" sz="2000" dirty="0"/>
          </a:p>
        </p:txBody>
      </p:sp>
      <p:sp>
        <p:nvSpPr>
          <p:cNvPr id="48" name="Text 45"/>
          <p:cNvSpPr/>
          <p:nvPr/>
        </p:nvSpPr>
        <p:spPr>
          <a:xfrm>
            <a:off x="1243584" y="5175504"/>
            <a:ext cx="9665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PPT será el mapa. La demostración será el recorrido real.</a:t>
            </a:r>
            <a:endParaRPr lang="en-US" sz="1020" dirty="0"/>
          </a:p>
        </p:txBody>
      </p:sp>
      <p:sp>
        <p:nvSpPr>
          <p:cNvPr id="49" name="Shape 46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51" name="Shape 48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ai-neural-brain-deepmind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F1C">
              <a:alpha val="7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02368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0" y="310896"/>
            <a:ext cx="128016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31552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69296" y="32004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AIEP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378440" y="57607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superior técnico-profesional</a:t>
            </a:r>
            <a:endParaRPr lang="en-US" sz="380" dirty="0"/>
          </a:p>
        </p:txBody>
      </p:sp>
      <p:sp>
        <p:nvSpPr>
          <p:cNvPr id="9" name="Shape 6"/>
          <p:cNvSpPr/>
          <p:nvPr/>
        </p:nvSpPr>
        <p:spPr>
          <a:xfrm>
            <a:off x="713232" y="969264"/>
            <a:ext cx="13716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8972" y="786384"/>
            <a:ext cx="182880" cy="6629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70432" y="969264"/>
            <a:ext cx="13716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9888" y="76809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EMPEZAR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13232" y="13716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hay debajo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IA que vamos a usar?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49808" y="30723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minutos para entender la idea que está debajo de Stitch, Codex y Power BI Copilot.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841248" y="39502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1280160" y="3913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Neurona biológica</a:t>
            </a:r>
            <a:endParaRPr lang="en-US" sz="1460" dirty="0"/>
          </a:p>
        </p:txBody>
      </p:sp>
      <p:sp>
        <p:nvSpPr>
          <p:cNvPr id="17" name="Text 14"/>
          <p:cNvSpPr/>
          <p:nvPr/>
        </p:nvSpPr>
        <p:spPr>
          <a:xfrm>
            <a:off x="841248" y="43708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60" dirty="0"/>
          </a:p>
        </p:txBody>
      </p:sp>
      <p:sp>
        <p:nvSpPr>
          <p:cNvPr id="18" name="Text 15"/>
          <p:cNvSpPr/>
          <p:nvPr/>
        </p:nvSpPr>
        <p:spPr>
          <a:xfrm>
            <a:off x="1280160" y="43342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Neurona artificial</a:t>
            </a:r>
            <a:endParaRPr lang="en-US" sz="1460" dirty="0"/>
          </a:p>
        </p:txBody>
      </p:sp>
      <p:sp>
        <p:nvSpPr>
          <p:cNvPr id="19" name="Text 16"/>
          <p:cNvSpPr/>
          <p:nvPr/>
        </p:nvSpPr>
        <p:spPr>
          <a:xfrm>
            <a:off x="841248" y="47914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1280160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Perceptrón</a:t>
            </a:r>
            <a:endParaRPr lang="en-US" sz="1460" dirty="0"/>
          </a:p>
        </p:txBody>
      </p:sp>
      <p:sp>
        <p:nvSpPr>
          <p:cNvPr id="21" name="Text 18"/>
          <p:cNvSpPr/>
          <p:nvPr/>
        </p:nvSpPr>
        <p:spPr>
          <a:xfrm>
            <a:off x="841248" y="5212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60" dirty="0"/>
          </a:p>
        </p:txBody>
      </p:sp>
      <p:sp>
        <p:nvSpPr>
          <p:cNvPr id="22" name="Text 19"/>
          <p:cNvSpPr/>
          <p:nvPr/>
        </p:nvSpPr>
        <p:spPr>
          <a:xfrm>
            <a:off x="1280160" y="51755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Redes profundas</a:t>
            </a:r>
            <a:endParaRPr lang="en-US" sz="1460" dirty="0"/>
          </a:p>
        </p:txBody>
      </p:sp>
      <p:sp>
        <p:nvSpPr>
          <p:cNvPr id="23" name="Text 20"/>
          <p:cNvSpPr/>
          <p:nvPr/>
        </p:nvSpPr>
        <p:spPr>
          <a:xfrm>
            <a:off x="841248" y="5632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1280160" y="55961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Transformers + LLMs</a:t>
            </a:r>
            <a:endParaRPr lang="en-US" sz="1460" dirty="0"/>
          </a:p>
        </p:txBody>
      </p:sp>
      <p:sp>
        <p:nvSpPr>
          <p:cNvPr id="25" name="Shape 22"/>
          <p:cNvSpPr/>
          <p:nvPr/>
        </p:nvSpPr>
        <p:spPr>
          <a:xfrm>
            <a:off x="7004304" y="5285232"/>
            <a:ext cx="4535424" cy="914400"/>
          </a:xfrm>
          <a:prstGeom prst="roundRect">
            <a:avLst>
              <a:gd name="adj" fmla="val 12000"/>
            </a:avLst>
          </a:prstGeom>
          <a:solidFill>
            <a:srgbClr val="10243A"/>
          </a:solidFill>
          <a:ln w="12700">
            <a:solidFill>
              <a:srgbClr val="1D3852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187184" y="55229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esta base, la IA parece magia. Con esta base, se lee como un sistema técnico.</a:t>
            </a:r>
            <a:endParaRPr lang="en-US" sz="1260" dirty="0"/>
          </a:p>
        </p:txBody>
      </p:sp>
      <p:sp>
        <p:nvSpPr>
          <p:cNvPr id="27" name="Shape 24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neurona biológica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cerebro es una red de células que reciben señales, las combinan y activan a otras.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neuron-hippocampal-40x.jpg">    </p:cNvPr>
          <p:cNvPicPr>
            <a:picLocks noChangeAspect="1"/>
          </p:cNvPicPr>
          <p:nvPr/>
        </p:nvPicPr>
        <p:blipFill>
          <a:blip r:embed="rId2"/>
          <a:srcRect l="6804" r="6804" t="0" b="0"/>
          <a:stretch/>
        </p:blipFill>
        <p:spPr>
          <a:xfrm>
            <a:off x="713232" y="1682496"/>
            <a:ext cx="4956048" cy="43708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3232" y="5779008"/>
            <a:ext cx="4956048" cy="329184"/>
          </a:xfrm>
          <a:prstGeom prst="roundRect">
            <a:avLst>
              <a:gd name="adj" fmla="val 3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9536" y="58521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Microscopía: neurona piramidal del hipocampo (tinción de Golgi)</a:t>
            </a:r>
            <a:endParaRPr lang="en-US" sz="840" dirty="0"/>
          </a:p>
        </p:txBody>
      </p:sp>
      <p:sp>
        <p:nvSpPr>
          <p:cNvPr id="12" name="Shape 8"/>
          <p:cNvSpPr/>
          <p:nvPr/>
        </p:nvSpPr>
        <p:spPr>
          <a:xfrm>
            <a:off x="5943600" y="1700784"/>
            <a:ext cx="5175504" cy="1335024"/>
          </a:xfrm>
          <a:prstGeom prst="roundRect">
            <a:avLst>
              <a:gd name="adj" fmla="val 8219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071616" y="1865376"/>
            <a:ext cx="82296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0" y="192024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00800" y="2157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Dendritas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400800" y="2542032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Reciben señales que llegan desde otras neuronas conectadas.</a:t>
            </a:r>
            <a:endParaRPr lang="en-US" sz="1020" dirty="0"/>
          </a:p>
        </p:txBody>
      </p:sp>
      <p:sp>
        <p:nvSpPr>
          <p:cNvPr id="17" name="Shape 13"/>
          <p:cNvSpPr/>
          <p:nvPr/>
        </p:nvSpPr>
        <p:spPr>
          <a:xfrm>
            <a:off x="5943600" y="3163824"/>
            <a:ext cx="5175504" cy="1335024"/>
          </a:xfrm>
          <a:prstGeom prst="roundRect">
            <a:avLst>
              <a:gd name="adj" fmla="val 8219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71616" y="3328416"/>
            <a:ext cx="82296" cy="10058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338328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400800" y="36210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Soma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400800" y="4005072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 todas las señales que llegaron y decide si la activación supera un umbral.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5943600" y="4626864"/>
            <a:ext cx="5175504" cy="1335024"/>
          </a:xfrm>
          <a:prstGeom prst="roundRect">
            <a:avLst>
              <a:gd name="adj" fmla="val 8219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71616" y="4791456"/>
            <a:ext cx="82296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0" y="484632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400800" y="50840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Axón + sinapsis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6400800" y="5468112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neurona se activa, transmite la señal hacia otras neuronas conectadas.</a:t>
            </a:r>
            <a:endParaRPr lang="en-US" sz="1020" dirty="0"/>
          </a:p>
        </p:txBody>
      </p:sp>
      <p:sp>
        <p:nvSpPr>
          <p:cNvPr id="27" name="Shape 23"/>
          <p:cNvSpPr/>
          <p:nvPr/>
        </p:nvSpPr>
        <p:spPr>
          <a:xfrm>
            <a:off x="5943600" y="6053328"/>
            <a:ext cx="5175504" cy="384048"/>
          </a:xfrm>
          <a:prstGeom prst="roundRect">
            <a:avLst>
              <a:gd name="adj" fmla="val 285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89904" y="614476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Recibe → integra → decide → transmite.</a:t>
            </a:r>
            <a:endParaRPr lang="en-US" sz="1340" dirty="0"/>
          </a:p>
        </p:txBody>
      </p:sp>
      <p:sp>
        <p:nvSpPr>
          <p:cNvPr id="29" name="Shape 25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1" name="Shape 27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SALTO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biología a matemática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parte de la neurona se traduce a un número o una operación.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neuron-hippocampal-40x.jpg">    </p:cNvPr>
          <p:cNvPicPr>
            <a:picLocks noChangeAspect="1"/>
          </p:cNvPicPr>
          <p:nvPr/>
        </p:nvPicPr>
        <p:blipFill>
          <a:blip r:embed="rId2"/>
          <a:srcRect l="0" r="0" t="14663" b="14663"/>
          <a:stretch/>
        </p:blipFill>
        <p:spPr>
          <a:xfrm>
            <a:off x="713232" y="1700784"/>
            <a:ext cx="4992624" cy="26883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3232" y="4114800"/>
            <a:ext cx="4992624" cy="310896"/>
          </a:xfrm>
          <a:prstGeom prst="roundRect">
            <a:avLst>
              <a:gd name="adj" fmla="val 3529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9536" y="4187952"/>
            <a:ext cx="4718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BIOLOGÍA · neurona piramidal</a:t>
            </a:r>
            <a:endParaRPr lang="en-US" sz="840" dirty="0"/>
          </a:p>
        </p:txBody>
      </p:sp>
      <p:pic>
        <p:nvPicPr>
          <p:cNvPr id="12" name="Image 2" descr="C:\Users\Diego Obando\dev\pro301-taller-de-aplicaciones-para-internet\clases-particulares\01_charla_4to_medio\ppt\source\assets\images\curated-2026\ai-neural-network-abstract.jpg">    </p:cNvPr>
          <p:cNvPicPr>
            <a:picLocks noChangeAspect="1"/>
          </p:cNvPicPr>
          <p:nvPr/>
        </p:nvPicPr>
        <p:blipFill>
          <a:blip r:embed="rId3"/>
          <a:srcRect l="0" r="0" t="4152" b="4152"/>
          <a:stretch/>
        </p:blipFill>
        <p:spPr>
          <a:xfrm>
            <a:off x="5907024" y="1700784"/>
            <a:ext cx="5212080" cy="268833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907024" y="4114800"/>
            <a:ext cx="5212080" cy="310896"/>
          </a:xfrm>
          <a:prstGeom prst="roundRect">
            <a:avLst>
              <a:gd name="adj" fmla="val 3529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053328" y="4187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MATEMÁTICA · neurona artificial</a:t>
            </a:r>
            <a:endParaRPr lang="en-US" sz="840" dirty="0"/>
          </a:p>
        </p:txBody>
      </p:sp>
      <p:sp>
        <p:nvSpPr>
          <p:cNvPr id="15" name="Shape 10"/>
          <p:cNvSpPr/>
          <p:nvPr/>
        </p:nvSpPr>
        <p:spPr>
          <a:xfrm>
            <a:off x="713232" y="4626864"/>
            <a:ext cx="10405872" cy="365760"/>
          </a:xfrm>
          <a:prstGeom prst="roundRect">
            <a:avLst>
              <a:gd name="adj" fmla="val 3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59536" y="47183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BIOLÓGICA</a:t>
            </a:r>
            <a:endParaRPr lang="en-US" sz="840" dirty="0"/>
          </a:p>
        </p:txBody>
      </p:sp>
      <p:sp>
        <p:nvSpPr>
          <p:cNvPr id="17" name="Text 12"/>
          <p:cNvSpPr/>
          <p:nvPr/>
        </p:nvSpPr>
        <p:spPr>
          <a:xfrm>
            <a:off x="3657600" y="4718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</a:t>
            </a:r>
            <a:endParaRPr lang="en-US" sz="840" dirty="0"/>
          </a:p>
        </p:txBody>
      </p:sp>
      <p:sp>
        <p:nvSpPr>
          <p:cNvPr id="18" name="Text 13"/>
          <p:cNvSpPr/>
          <p:nvPr/>
        </p:nvSpPr>
        <p:spPr>
          <a:xfrm>
            <a:off x="7680960" y="47183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PALABRAS SIMPLES</a:t>
            </a:r>
            <a:endParaRPr lang="en-US" sz="840" dirty="0"/>
          </a:p>
        </p:txBody>
      </p:sp>
      <p:sp>
        <p:nvSpPr>
          <p:cNvPr id="19" name="Shape 14"/>
          <p:cNvSpPr/>
          <p:nvPr/>
        </p:nvSpPr>
        <p:spPr>
          <a:xfrm>
            <a:off x="713232" y="5047488"/>
            <a:ext cx="10405872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59536" y="5138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Dendritas</a:t>
            </a:r>
            <a:endParaRPr lang="en-US" sz="1260" dirty="0"/>
          </a:p>
        </p:txBody>
      </p:sp>
      <p:sp>
        <p:nvSpPr>
          <p:cNvPr id="21" name="Text 16"/>
          <p:cNvSpPr/>
          <p:nvPr/>
        </p:nvSpPr>
        <p:spPr>
          <a:xfrm>
            <a:off x="3657600" y="5138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Entradas (x₁, x₂, x₃ …)</a:t>
            </a:r>
            <a:endParaRPr lang="en-US" sz="1260" dirty="0"/>
          </a:p>
        </p:txBody>
      </p:sp>
      <p:sp>
        <p:nvSpPr>
          <p:cNvPr id="22" name="Text 17"/>
          <p:cNvSpPr/>
          <p:nvPr/>
        </p:nvSpPr>
        <p:spPr>
          <a:xfrm>
            <a:off x="7680960" y="51389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que recibe el modelo</a:t>
            </a:r>
            <a:endParaRPr lang="en-US" sz="1020" dirty="0"/>
          </a:p>
        </p:txBody>
      </p:sp>
      <p:sp>
        <p:nvSpPr>
          <p:cNvPr id="23" name="Shape 18"/>
          <p:cNvSpPr/>
          <p:nvPr/>
        </p:nvSpPr>
        <p:spPr>
          <a:xfrm>
            <a:off x="713232" y="5431536"/>
            <a:ext cx="10405872" cy="347472"/>
          </a:xfrm>
          <a:prstGeom prst="roundRect">
            <a:avLst>
              <a:gd name="adj" fmla="val 31579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9536" y="5522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Sinapsis</a:t>
            </a:r>
            <a:endParaRPr lang="en-US" sz="1260" dirty="0"/>
          </a:p>
        </p:txBody>
      </p:sp>
      <p:sp>
        <p:nvSpPr>
          <p:cNvPr id="25" name="Text 20"/>
          <p:cNvSpPr/>
          <p:nvPr/>
        </p:nvSpPr>
        <p:spPr>
          <a:xfrm>
            <a:off x="3657600" y="55229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Pesos (w₁, w₂, w₃ …)</a:t>
            </a:r>
            <a:endParaRPr lang="en-US" sz="1260" dirty="0"/>
          </a:p>
        </p:txBody>
      </p:sp>
      <p:sp>
        <p:nvSpPr>
          <p:cNvPr id="26" name="Text 21"/>
          <p:cNvSpPr/>
          <p:nvPr/>
        </p:nvSpPr>
        <p:spPr>
          <a:xfrm>
            <a:off x="7680960" y="55229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tan importante es cada entrada</a:t>
            </a:r>
            <a:endParaRPr lang="en-US" sz="1020" dirty="0"/>
          </a:p>
        </p:txBody>
      </p:sp>
      <p:sp>
        <p:nvSpPr>
          <p:cNvPr id="27" name="Shape 22"/>
          <p:cNvSpPr/>
          <p:nvPr/>
        </p:nvSpPr>
        <p:spPr>
          <a:xfrm>
            <a:off x="713232" y="5815584"/>
            <a:ext cx="10405872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59536" y="5907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Soma</a:t>
            </a:r>
            <a:endParaRPr lang="en-US" sz="1260" dirty="0"/>
          </a:p>
        </p:txBody>
      </p:sp>
      <p:sp>
        <p:nvSpPr>
          <p:cNvPr id="29" name="Text 24"/>
          <p:cNvSpPr/>
          <p:nvPr/>
        </p:nvSpPr>
        <p:spPr>
          <a:xfrm>
            <a:off x="3657600" y="5907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Suma + sesgo (z = Σwᵢxᵢ + b)</a:t>
            </a:r>
            <a:endParaRPr lang="en-US" sz="1260" dirty="0"/>
          </a:p>
        </p:txBody>
      </p:sp>
      <p:sp>
        <p:nvSpPr>
          <p:cNvPr id="30" name="Text 25"/>
          <p:cNvSpPr/>
          <p:nvPr/>
        </p:nvSpPr>
        <p:spPr>
          <a:xfrm>
            <a:off x="7680960" y="59070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señales en un solo valor</a:t>
            </a:r>
            <a:endParaRPr lang="en-US" sz="1020" dirty="0"/>
          </a:p>
        </p:txBody>
      </p:sp>
      <p:sp>
        <p:nvSpPr>
          <p:cNvPr id="31" name="Shape 26"/>
          <p:cNvSpPr/>
          <p:nvPr/>
        </p:nvSpPr>
        <p:spPr>
          <a:xfrm>
            <a:off x="713232" y="6199632"/>
            <a:ext cx="10405872" cy="347472"/>
          </a:xfrm>
          <a:prstGeom prst="roundRect">
            <a:avLst>
              <a:gd name="adj" fmla="val 31579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59536" y="6291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Axón</a:t>
            </a:r>
            <a:endParaRPr lang="en-US" sz="1260" dirty="0"/>
          </a:p>
        </p:txBody>
      </p:sp>
      <p:sp>
        <p:nvSpPr>
          <p:cNvPr id="33" name="Text 28"/>
          <p:cNvSpPr/>
          <p:nvPr/>
        </p:nvSpPr>
        <p:spPr>
          <a:xfrm>
            <a:off x="3657600" y="6291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(ŷ)</a:t>
            </a:r>
            <a:endParaRPr lang="en-US" sz="1260" dirty="0"/>
          </a:p>
        </p:txBody>
      </p:sp>
      <p:sp>
        <p:nvSpPr>
          <p:cNvPr id="34" name="Text 29"/>
          <p:cNvSpPr/>
          <p:nvPr/>
        </p:nvSpPr>
        <p:spPr>
          <a:xfrm>
            <a:off x="7680960" y="62910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que produce la neurona</a:t>
            </a:r>
            <a:endParaRPr lang="en-US" sz="1020" dirty="0"/>
          </a:p>
        </p:txBody>
      </p:sp>
      <p:sp>
        <p:nvSpPr>
          <p:cNvPr id="35" name="Shape 30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7" name="Shape 32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PIEZA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perceptrón: una neurona que decide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entradas, las pondera, suma con sesgo y produce una salida según un umbral.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ai-perceptron-3d.jpg">    </p:cNvPr>
          <p:cNvPicPr>
            <a:picLocks noChangeAspect="1"/>
          </p:cNvPicPr>
          <p:nvPr/>
        </p:nvPicPr>
        <p:blipFill>
          <a:blip r:embed="rId2"/>
          <a:srcRect l="19639" r="19639" t="0" b="0"/>
          <a:stretch/>
        </p:blipFill>
        <p:spPr>
          <a:xfrm>
            <a:off x="6400800" y="1700784"/>
            <a:ext cx="4718304" cy="43708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0" y="5779008"/>
            <a:ext cx="4718304" cy="329184"/>
          </a:xfrm>
          <a:prstGeom prst="roundRect">
            <a:avLst>
              <a:gd name="adj" fmla="val 3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47104" y="5852160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mínima de decisión binaria</a:t>
            </a:r>
            <a:endParaRPr lang="en-US" sz="840" dirty="0"/>
          </a:p>
        </p:txBody>
      </p:sp>
      <p:sp>
        <p:nvSpPr>
          <p:cNvPr id="12" name="Shape 8"/>
          <p:cNvSpPr/>
          <p:nvPr/>
        </p:nvSpPr>
        <p:spPr>
          <a:xfrm>
            <a:off x="713232" y="1700784"/>
            <a:ext cx="5449824" cy="1865376"/>
          </a:xfrm>
          <a:prstGeom prst="roundRect">
            <a:avLst>
              <a:gd name="adj" fmla="val 58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50976" y="18288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FÓRMULA · suma ponderada</a:t>
            </a:r>
            <a:endParaRPr lang="en-US" sz="840" dirty="0"/>
          </a:p>
        </p:txBody>
      </p:sp>
      <p:sp>
        <p:nvSpPr>
          <p:cNvPr id="14" name="Text 10"/>
          <p:cNvSpPr/>
          <p:nvPr/>
        </p:nvSpPr>
        <p:spPr>
          <a:xfrm>
            <a:off x="950976" y="208483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 = Σᵢ wᵢ·xᵢ + b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950976" y="277977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 = sumar todas las parejas (peso × entrada). Después se agrega el sesgo b.</a:t>
            </a:r>
            <a:endParaRPr lang="en-US" sz="1060" dirty="0"/>
          </a:p>
        </p:txBody>
      </p:sp>
      <p:sp>
        <p:nvSpPr>
          <p:cNvPr id="16" name="Text 12"/>
          <p:cNvSpPr/>
          <p:nvPr/>
        </p:nvSpPr>
        <p:spPr>
          <a:xfrm>
            <a:off x="950976" y="3163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z supera un umbral, la neurona se activa: salida = 1.</a:t>
            </a:r>
            <a:endParaRPr lang="en-US" sz="1060" dirty="0"/>
          </a:p>
        </p:txBody>
      </p:sp>
      <p:sp>
        <p:nvSpPr>
          <p:cNvPr id="17" name="Shape 13"/>
          <p:cNvSpPr/>
          <p:nvPr/>
        </p:nvSpPr>
        <p:spPr>
          <a:xfrm>
            <a:off x="713232" y="3694176"/>
            <a:ext cx="2670048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1248" y="3858768"/>
            <a:ext cx="82296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24128" y="391363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024128" y="415137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x₁, x₂, …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024128" y="446227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que llegan: precio, edad, hora, palabras, pixeles.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3511296" y="3694176"/>
            <a:ext cx="2670048" cy="1115568"/>
          </a:xfrm>
          <a:prstGeom prst="roundRect">
            <a:avLst>
              <a:gd name="adj" fmla="val 9836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639312" y="3858768"/>
            <a:ext cx="82296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822192" y="391363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822192" y="415137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w₁, w₂, …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822192" y="446227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Importancia de cada entrada. Se ajustan durante el entrenamiento.</a:t>
            </a:r>
            <a:endParaRPr lang="en-US" sz="860" dirty="0"/>
          </a:p>
        </p:txBody>
      </p:sp>
      <p:sp>
        <p:nvSpPr>
          <p:cNvPr id="27" name="Shape 23"/>
          <p:cNvSpPr/>
          <p:nvPr/>
        </p:nvSpPr>
        <p:spPr>
          <a:xfrm>
            <a:off x="713232" y="4919472"/>
            <a:ext cx="2670048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41248" y="5084064"/>
            <a:ext cx="82296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24128" y="5138928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SESGO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024128" y="53766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1024128" y="568756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Empuja la decisión cuando la suma queda en el límite.</a:t>
            </a:r>
            <a:endParaRPr lang="en-US" sz="860" dirty="0"/>
          </a:p>
        </p:txBody>
      </p:sp>
      <p:sp>
        <p:nvSpPr>
          <p:cNvPr id="32" name="Shape 28"/>
          <p:cNvSpPr/>
          <p:nvPr/>
        </p:nvSpPr>
        <p:spPr>
          <a:xfrm>
            <a:off x="3511296" y="4919472"/>
            <a:ext cx="2670048" cy="1115568"/>
          </a:xfrm>
          <a:prstGeom prst="roundRect">
            <a:avLst>
              <a:gd name="adj" fmla="val 9836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639312" y="5084064"/>
            <a:ext cx="82296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822192" y="5138928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822192" y="53766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3822192" y="568756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final: aprobado / rechazado, gato / perro, spam / no spam.</a:t>
            </a:r>
            <a:endParaRPr lang="en-US" sz="860" dirty="0"/>
          </a:p>
        </p:txBody>
      </p:sp>
      <p:sp>
        <p:nvSpPr>
          <p:cNvPr id="37" name="Shape 33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9" name="Shape 35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CIERRA EL CICLO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aprende un modelo?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Predice, mide cuánto se equivocó y ajusta los pesos. Eso es entrenamiento.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3232" y="1719072"/>
            <a:ext cx="10442448" cy="2212848"/>
          </a:xfrm>
          <a:prstGeom prst="roundRect">
            <a:avLst>
              <a:gd name="adj" fmla="val 495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9536" y="1883664"/>
            <a:ext cx="91440" cy="18836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883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 DE PÉRDIDA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" y="2157984"/>
            <a:ext cx="5486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 = (y − ŷ)²</a:t>
            </a:r>
            <a:endParaRPr lang="en-US" sz="5000" dirty="0"/>
          </a:p>
        </p:txBody>
      </p:sp>
      <p:sp>
        <p:nvSpPr>
          <p:cNvPr id="13" name="Text 10"/>
          <p:cNvSpPr/>
          <p:nvPr/>
        </p:nvSpPr>
        <p:spPr>
          <a:xfrm>
            <a:off x="1078992" y="32004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pérdida mide cuánto se equivocó el modelo en una predicción.</a:t>
            </a:r>
            <a:endParaRPr lang="en-US" sz="1160" dirty="0"/>
          </a:p>
        </p:txBody>
      </p:sp>
      <p:sp>
        <p:nvSpPr>
          <p:cNvPr id="14" name="Text 11"/>
          <p:cNvSpPr/>
          <p:nvPr/>
        </p:nvSpPr>
        <p:spPr>
          <a:xfrm>
            <a:off x="1078992" y="3511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i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elevamos al cuadrado para que errores positivos y negativos no se cancelen.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7004304" y="2157984"/>
            <a:ext cx="1243584" cy="1554480"/>
          </a:xfrm>
          <a:prstGeom prst="roundRect">
            <a:avLst>
              <a:gd name="adj" fmla="val 8824"/>
            </a:avLst>
          </a:prstGeom>
          <a:solidFill>
            <a:srgbClr val="10243A"/>
          </a:solidFill>
          <a:ln w="12700">
            <a:solidFill>
              <a:srgbClr val="1D385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04304" y="2377440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095744" y="3163824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pérdida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8375904" y="2157984"/>
            <a:ext cx="1243584" cy="1554480"/>
          </a:xfrm>
          <a:prstGeom prst="roundRect">
            <a:avLst>
              <a:gd name="adj" fmla="val 8824"/>
            </a:avLst>
          </a:prstGeom>
          <a:solidFill>
            <a:srgbClr val="10243A"/>
          </a:solidFill>
          <a:ln w="12700">
            <a:solidFill>
              <a:srgbClr val="1D38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75904" y="2377440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467344" y="3163824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real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9747504" y="2157984"/>
            <a:ext cx="1243584" cy="1554480"/>
          </a:xfrm>
          <a:prstGeom prst="roundRect">
            <a:avLst>
              <a:gd name="adj" fmla="val 8824"/>
            </a:avLst>
          </a:prstGeom>
          <a:solidFill>
            <a:srgbClr val="10243A"/>
          </a:solidFill>
          <a:ln w="12700">
            <a:solidFill>
              <a:srgbClr val="1D385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47504" y="2377440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9838944" y="3163824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713232" y="4114800"/>
            <a:ext cx="3346704" cy="1682496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1248" y="4279392"/>
            <a:ext cx="82296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4128" y="4334256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PREDICE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24128" y="457200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da una salida ŷ</a:t>
            </a:r>
            <a:endParaRPr lang="en-US" sz="1440" dirty="0"/>
          </a:p>
        </p:txBody>
      </p:sp>
      <p:sp>
        <p:nvSpPr>
          <p:cNvPr id="28" name="Text 25"/>
          <p:cNvSpPr/>
          <p:nvPr/>
        </p:nvSpPr>
        <p:spPr>
          <a:xfrm>
            <a:off x="1024128" y="5029200"/>
            <a:ext cx="2724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los pesos actuales calcula z y produce una predicción.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215384" y="4114800"/>
            <a:ext cx="3346704" cy="1682496"/>
          </a:xfrm>
          <a:prstGeom prst="roundRect">
            <a:avLst>
              <a:gd name="adj" fmla="val 6522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343400" y="4279392"/>
            <a:ext cx="82296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334256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MIDE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526280" y="457200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 contra el valor real y</a:t>
            </a:r>
            <a:endParaRPr lang="en-US" sz="1440" dirty="0"/>
          </a:p>
        </p:txBody>
      </p:sp>
      <p:sp>
        <p:nvSpPr>
          <p:cNvPr id="33" name="Text 30"/>
          <p:cNvSpPr/>
          <p:nvPr/>
        </p:nvSpPr>
        <p:spPr>
          <a:xfrm>
            <a:off x="4526280" y="5029200"/>
            <a:ext cx="2724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pérdida L convierte ese error en un solo número.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717536" y="4114800"/>
            <a:ext cx="3346704" cy="1682496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845552" y="4279392"/>
            <a:ext cx="82296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28432" y="4334256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AJUSTA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028432" y="457200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Cambia los pesos</a:t>
            </a:r>
            <a:endParaRPr lang="en-US" sz="1440" dirty="0"/>
          </a:p>
        </p:txBody>
      </p:sp>
      <p:sp>
        <p:nvSpPr>
          <p:cNvPr id="38" name="Text 35"/>
          <p:cNvSpPr/>
          <p:nvPr/>
        </p:nvSpPr>
        <p:spPr>
          <a:xfrm>
            <a:off x="8028432" y="5029200"/>
            <a:ext cx="2724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Mueve cada wᵢ en la dirección que reduce L. Y vuelve a empezar.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SIGUIENTE PASO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neurona no basta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problemas reales necesitan combinar muchas neuronas en capas. Eso es deep learning.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ai-data-flow-algorithms.jpg">    </p:cNvPr>
          <p:cNvPicPr>
            <a:picLocks noChangeAspect="1"/>
          </p:cNvPicPr>
          <p:nvPr/>
        </p:nvPicPr>
        <p:blipFill>
          <a:blip r:embed="rId2"/>
          <a:srcRect l="18109" r="18109" t="0" b="0"/>
          <a:stretch/>
        </p:blipFill>
        <p:spPr>
          <a:xfrm>
            <a:off x="6163056" y="1700784"/>
            <a:ext cx="4956048" cy="43708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63056" y="5779008"/>
            <a:ext cx="4956048" cy="329184"/>
          </a:xfrm>
          <a:prstGeom prst="roundRect">
            <a:avLst>
              <a:gd name="adj" fmla="val 3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09360" y="58521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atravesando múltiples capas: deep learning</a:t>
            </a:r>
            <a:endParaRPr lang="en-US" sz="840" dirty="0"/>
          </a:p>
        </p:txBody>
      </p:sp>
      <p:sp>
        <p:nvSpPr>
          <p:cNvPr id="12" name="Shape 8"/>
          <p:cNvSpPr/>
          <p:nvPr/>
        </p:nvSpPr>
        <p:spPr>
          <a:xfrm>
            <a:off x="713232" y="1700784"/>
            <a:ext cx="5285232" cy="9144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50976" y="1828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LÍMITE</a:t>
            </a:r>
            <a:endParaRPr lang="en-US" sz="840" dirty="0"/>
          </a:p>
        </p:txBody>
      </p:sp>
      <p:sp>
        <p:nvSpPr>
          <p:cNvPr id="14" name="Text 10"/>
          <p:cNvSpPr/>
          <p:nvPr/>
        </p:nvSpPr>
        <p:spPr>
          <a:xfrm>
            <a:off x="950976" y="2066544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sola neurona dibuja una línea recta entre dos opciones. Pero el mundo casi nunca se separa con una línea.</a:t>
            </a:r>
            <a:endParaRPr lang="en-US" sz="1120" dirty="0"/>
          </a:p>
        </p:txBody>
      </p:sp>
      <p:sp>
        <p:nvSpPr>
          <p:cNvPr id="15" name="Shape 11"/>
          <p:cNvSpPr/>
          <p:nvPr/>
        </p:nvSpPr>
        <p:spPr>
          <a:xfrm>
            <a:off x="713232" y="2798064"/>
            <a:ext cx="5285232" cy="987552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2962656"/>
            <a:ext cx="82296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78992" y="3017520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DE ENTRADA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078992" y="3255264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crudos</a:t>
            </a:r>
            <a:endParaRPr lang="en-US" sz="1540" dirty="0"/>
          </a:p>
        </p:txBody>
      </p:sp>
      <p:sp>
        <p:nvSpPr>
          <p:cNvPr id="19" name="Text 15"/>
          <p:cNvSpPr/>
          <p:nvPr/>
        </p:nvSpPr>
        <p:spPr>
          <a:xfrm>
            <a:off x="1078992" y="35478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Texto, imagen, sonido, números: la materia prima del modelo.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13232" y="3877056"/>
            <a:ext cx="528523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1248" y="4041648"/>
            <a:ext cx="82296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78992" y="4096512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CAPAS OCULTAS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078992" y="4334256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Patrones</a:t>
            </a:r>
            <a:endParaRPr lang="en-US" sz="1540" dirty="0"/>
          </a:p>
        </p:txBody>
      </p:sp>
      <p:sp>
        <p:nvSpPr>
          <p:cNvPr id="24" name="Text 20"/>
          <p:cNvSpPr/>
          <p:nvPr/>
        </p:nvSpPr>
        <p:spPr>
          <a:xfrm>
            <a:off x="1078992" y="4626864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capa transforma señales: detecta bordes, formas, palabras, ideas.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13232" y="4956048"/>
            <a:ext cx="5285232" cy="987552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1248" y="5120640"/>
            <a:ext cx="82296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78992" y="5175504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DE SALIDA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078992" y="5413248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</a:t>
            </a:r>
            <a:endParaRPr lang="en-US" sz="1540" dirty="0"/>
          </a:p>
        </p:txBody>
      </p:sp>
      <p:sp>
        <p:nvSpPr>
          <p:cNvPr id="29" name="Text 25"/>
          <p:cNvSpPr/>
          <p:nvPr/>
        </p:nvSpPr>
        <p:spPr>
          <a:xfrm>
            <a:off x="1078992" y="5705856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Probabilidad, clasificación, predicción o palabra siguiente.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ai-llm-prediction-3d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F1C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02368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0" y="310896"/>
            <a:ext cx="128016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31552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69296" y="32004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AIEP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378440" y="57607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superior técnico-profesional</a:t>
            </a:r>
            <a:endParaRPr lang="en-US" sz="380" dirty="0"/>
          </a:p>
        </p:txBody>
      </p:sp>
      <p:sp>
        <p:nvSpPr>
          <p:cNvPr id="9" name="Shape 6"/>
          <p:cNvSpPr/>
          <p:nvPr/>
        </p:nvSpPr>
        <p:spPr>
          <a:xfrm>
            <a:off x="713232" y="969264"/>
            <a:ext cx="13716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8972" y="786384"/>
            <a:ext cx="182880" cy="6629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70432" y="969264"/>
            <a:ext cx="13716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9888" y="76809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GRAN SALTO · 2017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13232" y="1371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Transformers: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mirar todo a la vez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49808" y="290779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arquitectura que procesa el contexto completo en paralelo y aprende qué partes importan más usando atención.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3232" y="3822192"/>
            <a:ext cx="5632704" cy="640080"/>
          </a:xfrm>
          <a:prstGeom prst="roundRect">
            <a:avLst>
              <a:gd name="adj" fmla="val 17143"/>
            </a:avLst>
          </a:prstGeom>
          <a:solidFill>
            <a:srgbClr val="10243A"/>
          </a:solidFill>
          <a:ln w="12700">
            <a:solidFill>
              <a:srgbClr val="1D385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9319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596896" y="3968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decide en qué partes del contexto fijarse para cada palabra.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713232" y="4572000"/>
            <a:ext cx="5632704" cy="640080"/>
          </a:xfrm>
          <a:prstGeom prst="roundRect">
            <a:avLst>
              <a:gd name="adj" fmla="val 17143"/>
            </a:avLst>
          </a:prstGeom>
          <a:solidFill>
            <a:srgbClr val="10243A"/>
          </a:solidFill>
          <a:ln w="12700">
            <a:solidFill>
              <a:srgbClr val="1D38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24" y="46817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PARALELO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96896" y="47183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 secuencias completas a la vez, no palabra por palabra.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713232" y="5321808"/>
            <a:ext cx="5632704" cy="640080"/>
          </a:xfrm>
          <a:prstGeom prst="roundRect">
            <a:avLst>
              <a:gd name="adj" fmla="val 17143"/>
            </a:avLst>
          </a:prstGeom>
          <a:solidFill>
            <a:srgbClr val="10243A"/>
          </a:solidFill>
          <a:ln w="12700">
            <a:solidFill>
              <a:srgbClr val="1D385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7824" y="54315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596896" y="5468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 mejor mientras más datos y parámetros se le entregan.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547104" y="1207008"/>
            <a:ext cx="5029200" cy="3694176"/>
          </a:xfrm>
          <a:prstGeom prst="roundRect">
            <a:avLst>
              <a:gd name="adj" fmla="val 2970"/>
            </a:avLst>
          </a:prstGeom>
          <a:solidFill>
            <a:srgbClr val="10243A"/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711696" y="1371600"/>
            <a:ext cx="91440" cy="33649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0" y="13716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MECANISMO DE ATENCIÓN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949440" y="1627632"/>
            <a:ext cx="444398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Attention(Q,K,V) =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softmax(QKᵀ/√dₖ) · V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94944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· Kᵀ</a:t>
            </a:r>
            <a:endParaRPr lang="en-US" sz="1340" dirty="0"/>
          </a:p>
        </p:txBody>
      </p:sp>
      <p:sp>
        <p:nvSpPr>
          <p:cNvPr id="29" name="Text 26"/>
          <p:cNvSpPr/>
          <p:nvPr/>
        </p:nvSpPr>
        <p:spPr>
          <a:xfrm>
            <a:off x="8366760" y="305409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palabra pregunta a las otras: ¿qué tanto te relacionas conmigo?</a:t>
            </a:r>
            <a:endParaRPr lang="en-US" sz="960" dirty="0"/>
          </a:p>
        </p:txBody>
      </p:sp>
      <p:sp>
        <p:nvSpPr>
          <p:cNvPr id="30" name="Text 27"/>
          <p:cNvSpPr/>
          <p:nvPr/>
        </p:nvSpPr>
        <p:spPr>
          <a:xfrm>
            <a:off x="6949440" y="3639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softmax</a:t>
            </a:r>
            <a:endParaRPr lang="en-US" sz="1340" dirty="0"/>
          </a:p>
        </p:txBody>
      </p:sp>
      <p:sp>
        <p:nvSpPr>
          <p:cNvPr id="31" name="Text 28"/>
          <p:cNvSpPr/>
          <p:nvPr/>
        </p:nvSpPr>
        <p:spPr>
          <a:xfrm>
            <a:off x="8366760" y="36576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Convierte esas relaciones en porcentajes. Suman 100%.</a:t>
            </a:r>
            <a:endParaRPr lang="en-US" sz="960" dirty="0"/>
          </a:p>
        </p:txBody>
      </p:sp>
      <p:sp>
        <p:nvSpPr>
          <p:cNvPr id="32" name="Text 29"/>
          <p:cNvSpPr/>
          <p:nvPr/>
        </p:nvSpPr>
        <p:spPr>
          <a:xfrm>
            <a:off x="6949440" y="4242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… · V</a:t>
            </a:r>
            <a:endParaRPr lang="en-US" sz="1340" dirty="0"/>
          </a:p>
        </p:txBody>
      </p:sp>
      <p:sp>
        <p:nvSpPr>
          <p:cNvPr id="33" name="Text 30"/>
          <p:cNvSpPr/>
          <p:nvPr/>
        </p:nvSpPr>
        <p:spPr>
          <a:xfrm>
            <a:off x="8366760" y="42611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Mezcla los significados de las otras palabras según ese porcentaje.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6547104" y="5120640"/>
            <a:ext cx="5029200" cy="1060704"/>
          </a:xfrm>
          <a:prstGeom prst="roundRect">
            <a:avLst>
              <a:gd name="adj" fmla="val 1034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729984" y="534009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 arquitectura está debajo de ChatGPT, Codex, Stitch y Copilot.</a:t>
            </a:r>
            <a:endParaRPr lang="en-US" sz="1460" dirty="0"/>
          </a:p>
        </p:txBody>
      </p:sp>
      <p:sp>
        <p:nvSpPr>
          <p:cNvPr id="36" name="Shape 33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LLMs: modelos de lenguaje grandes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Predicen la siguiente palabra usando billones de ejemplos. Eso es lo que hay debajo de las herramientas IA.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ai-language-models.jpg">    </p:cNvPr>
          <p:cNvPicPr>
            <a:picLocks noChangeAspect="1"/>
          </p:cNvPicPr>
          <p:nvPr/>
        </p:nvPicPr>
        <p:blipFill>
          <a:blip r:embed="rId2"/>
          <a:srcRect l="18109" r="18109" t="0" b="0"/>
          <a:stretch/>
        </p:blipFill>
        <p:spPr>
          <a:xfrm>
            <a:off x="713232" y="1700784"/>
            <a:ext cx="4956048" cy="43708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3232" y="5779008"/>
            <a:ext cx="4956048" cy="329184"/>
          </a:xfrm>
          <a:prstGeom prst="roundRect">
            <a:avLst>
              <a:gd name="adj" fmla="val 3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9536" y="58521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entrenados sobre lenguaje, código e imágenes</a:t>
            </a:r>
            <a:endParaRPr lang="en-US" sz="840" dirty="0"/>
          </a:p>
        </p:txBody>
      </p:sp>
      <p:sp>
        <p:nvSpPr>
          <p:cNvPr id="12" name="Shape 8"/>
          <p:cNvSpPr/>
          <p:nvPr/>
        </p:nvSpPr>
        <p:spPr>
          <a:xfrm>
            <a:off x="5943600" y="1700784"/>
            <a:ext cx="5175504" cy="1335024"/>
          </a:xfrm>
          <a:prstGeom prst="roundRect">
            <a:avLst>
              <a:gd name="adj" fmla="val 8219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071616" y="1865376"/>
            <a:ext cx="82296" cy="10058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0" y="192024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00800" y="2157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Predicen tokens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00800" y="254203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Producen la siguiente palabra (o pixel, o nota, o píxel del diseño) en función de todo el contexto recibido.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5943600" y="3163824"/>
            <a:ext cx="5175504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71616" y="3328416"/>
            <a:ext cx="82296" cy="10058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338328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FUNCIONAN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400800" y="36210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 + datos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400800" y="400507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 de millones de parámetros entrenados sobre la web, libros y código aprenden patrones muy generales.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5943600" y="4626864"/>
            <a:ext cx="5175504" cy="1335024"/>
          </a:xfrm>
          <a:prstGeom prst="roundRect">
            <a:avLst>
              <a:gd name="adj" fmla="val 8219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71616" y="4791456"/>
            <a:ext cx="82296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0" y="484632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LOS USAREMOS HOY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400800" y="50840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Stitch · Codex · Copilot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6400800" y="546811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desde un brief, código desde una intención, datos desde una pregunta. Todo apoyado por LLMs.</a:t>
            </a:r>
            <a:endParaRPr lang="en-US" sz="980" dirty="0"/>
          </a:p>
        </p:txBody>
      </p:sp>
      <p:sp>
        <p:nvSpPr>
          <p:cNvPr id="27" name="Shape 23"/>
          <p:cNvSpPr/>
          <p:nvPr/>
        </p:nvSpPr>
        <p:spPr>
          <a:xfrm>
            <a:off x="5943600" y="6053328"/>
            <a:ext cx="5175504" cy="384048"/>
          </a:xfrm>
          <a:prstGeom prst="roundRect">
            <a:avLst>
              <a:gd name="adj" fmla="val 28571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89904" y="614476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esta base, las herramientas dejan de ser magia.</a:t>
            </a:r>
            <a:endParaRPr lang="en-US" sz="1340" dirty="0"/>
          </a:p>
        </p:txBody>
      </p:sp>
      <p:sp>
        <p:nvSpPr>
          <p:cNvPr id="29" name="Shape 25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1" name="Shape 27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herramientas, una historia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una cumple una función distinta dentro del producto digital.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6384" y="1828800"/>
            <a:ext cx="3310128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50976" y="2029968"/>
            <a:ext cx="82296" cy="24871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11" name="Image 1" descr="C:\Users\Diego Obando\dev\pro301-taller-de-aplicaciones-para-internet\clases-particulares\01_charla_4to_medio\ppt\source\assets\logos\google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1408" y="2029968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816352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88720" y="3054096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Stitch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1243584" y="35844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escrita convertida en una primera interfaz visual.</a:t>
            </a:r>
            <a:endParaRPr lang="en-US" sz="1020" dirty="0"/>
          </a:p>
        </p:txBody>
      </p:sp>
      <p:sp>
        <p:nvSpPr>
          <p:cNvPr id="15" name="Shape 11"/>
          <p:cNvSpPr/>
          <p:nvPr/>
        </p:nvSpPr>
        <p:spPr>
          <a:xfrm>
            <a:off x="1335024" y="4297680"/>
            <a:ext cx="2212848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426464" y="4370832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-&gt; interfaz</a:t>
            </a:r>
            <a:endParaRPr lang="en-US" sz="840" dirty="0"/>
          </a:p>
        </p:txBody>
      </p:sp>
      <p:sp>
        <p:nvSpPr>
          <p:cNvPr id="17" name="Shape 13"/>
          <p:cNvSpPr/>
          <p:nvPr/>
        </p:nvSpPr>
        <p:spPr>
          <a:xfrm>
            <a:off x="4443984" y="1828800"/>
            <a:ext cx="3310128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08576" y="2029968"/>
            <a:ext cx="82296" cy="2487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9" name="Image 2" descr="C:\Users\Diego Obando\dev\pro301-taller-de-aplicaciones-para-internet\clases-particulares\01_charla_4to_medio\ppt\source\assets\logos\openai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9008" y="2029968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816352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846320" y="3054096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</a:t>
            </a:r>
            <a:endParaRPr lang="en-US" sz="2300" dirty="0"/>
          </a:p>
        </p:txBody>
      </p:sp>
      <p:sp>
        <p:nvSpPr>
          <p:cNvPr id="22" name="Text 17"/>
          <p:cNvSpPr/>
          <p:nvPr/>
        </p:nvSpPr>
        <p:spPr>
          <a:xfrm>
            <a:off x="4901184" y="35844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transformado en archivos, estructura e interacción.</a:t>
            </a:r>
            <a:endParaRPr lang="en-US" sz="1020" dirty="0"/>
          </a:p>
        </p:txBody>
      </p:sp>
      <p:sp>
        <p:nvSpPr>
          <p:cNvPr id="23" name="Shape 18"/>
          <p:cNvSpPr/>
          <p:nvPr/>
        </p:nvSpPr>
        <p:spPr>
          <a:xfrm>
            <a:off x="4992624" y="4297680"/>
            <a:ext cx="2212848" cy="310896"/>
          </a:xfrm>
          <a:prstGeom prst="roundRect">
            <a:avLst>
              <a:gd name="adj" fmla="val 2352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84064" y="4370832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-&gt; web</a:t>
            </a:r>
            <a:endParaRPr lang="en-US" sz="840" dirty="0"/>
          </a:p>
        </p:txBody>
      </p:sp>
      <p:sp>
        <p:nvSpPr>
          <p:cNvPr id="25" name="Shape 20"/>
          <p:cNvSpPr/>
          <p:nvPr/>
        </p:nvSpPr>
        <p:spPr>
          <a:xfrm>
            <a:off x="8101584" y="1828800"/>
            <a:ext cx="3310128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66176" y="2029968"/>
            <a:ext cx="82296" cy="24871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27" name="Image 3" descr="C:\Users\Diego Obando\dev\pro301-taller-de-aplicaciones-para-internet\clases-particulares\01_charla_4to_medio\ppt\source\assets\logos\powerbi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6608" y="2029968"/>
            <a:ext cx="640080" cy="6400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503920" y="2816352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8503920" y="3054096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</a:t>
            </a:r>
            <a:endParaRPr lang="en-US" sz="2300" dirty="0"/>
          </a:p>
        </p:txBody>
      </p:sp>
      <p:sp>
        <p:nvSpPr>
          <p:cNvPr id="30" name="Text 24"/>
          <p:cNvSpPr/>
          <p:nvPr/>
        </p:nvSpPr>
        <p:spPr>
          <a:xfrm>
            <a:off x="8558784" y="35844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 mil precios convertidos en lectura clara y decisiones.</a:t>
            </a:r>
            <a:endParaRPr lang="en-US" sz="1020" dirty="0"/>
          </a:p>
        </p:txBody>
      </p:sp>
      <p:sp>
        <p:nvSpPr>
          <p:cNvPr id="31" name="Shape 25"/>
          <p:cNvSpPr/>
          <p:nvPr/>
        </p:nvSpPr>
        <p:spPr>
          <a:xfrm>
            <a:off x="8650224" y="4297680"/>
            <a:ext cx="2212848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741664" y="4370832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-&gt; decisión</a:t>
            </a:r>
            <a:endParaRPr lang="en-US" sz="840" dirty="0"/>
          </a:p>
        </p:txBody>
      </p:sp>
      <p:sp>
        <p:nvSpPr>
          <p:cNvPr id="33" name="Text 27"/>
          <p:cNvSpPr/>
          <p:nvPr/>
        </p:nvSpPr>
        <p:spPr>
          <a:xfrm>
            <a:off x="987552" y="555955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idea no es usar herramientas sueltas: es encadenarlas para crear valor.</a:t>
            </a:r>
            <a:endParaRPr lang="en-US" sz="1800" dirty="0"/>
          </a:p>
        </p:txBody>
      </p:sp>
      <p:sp>
        <p:nvSpPr>
          <p:cNvPr id="34" name="Shape 28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6" name="Shape 30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coding-neon-workstation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2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13232" y="852221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10742" y="676656"/>
            <a:ext cx="175565" cy="63642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52144" y="852221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353312" y="6766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LÓGICA DEL SHOW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49808" y="142646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vamos a solo mirar slides.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786384" y="20665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Vamos a alternar explicación + acción.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41248" y="28529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298448" y="28254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 el paso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41248" y="341985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298448" y="33924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la herramienta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41248" y="398678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298448" y="39593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Mirar qué cambió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41248" y="455371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298448" y="45262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Conectar con el siguiente paso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retail-aisle-wide.jpg">    </p:cNvPr>
          <p:cNvPicPr>
            <a:picLocks noChangeAspect="1"/>
          </p:cNvPicPr>
          <p:nvPr/>
        </p:nvPicPr>
        <p:blipFill>
          <a:blip r:embed="rId1"/>
          <a:srcRect l="20600" r="20600" t="0" b="0"/>
          <a:stretch/>
        </p:blipFill>
        <p:spPr>
          <a:xfrm>
            <a:off x="6812280" y="0"/>
            <a:ext cx="53766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12280" y="0"/>
            <a:ext cx="5376672" cy="6858000"/>
          </a:xfrm>
          <a:prstGeom prst="rect">
            <a:avLst/>
          </a:prstGeom>
          <a:solidFill>
            <a:srgbClr val="102A43">
              <a:alpha val="3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02368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0" y="310896"/>
            <a:ext cx="128016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31552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69296" y="32004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AIEP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378440" y="57607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superior técnico-profesional</a:t>
            </a:r>
            <a:endParaRPr lang="en-US" sz="380" dirty="0"/>
          </a:p>
        </p:txBody>
      </p:sp>
      <p:sp>
        <p:nvSpPr>
          <p:cNvPr id="9" name="Shape 6"/>
          <p:cNvSpPr/>
          <p:nvPr/>
        </p:nvSpPr>
        <p:spPr>
          <a:xfrm>
            <a:off x="786384" y="1031443"/>
            <a:ext cx="142646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0354" y="841248"/>
            <a:ext cx="190195" cy="6894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61872" y="1031443"/>
            <a:ext cx="142646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81328" y="8229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" y="1572768"/>
            <a:ext cx="58155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un problema cotidiano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un producto digital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822960" y="3035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central: La Cuenta · Osorno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822960" y="3749040"/>
            <a:ext cx="2834640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822192"/>
            <a:ext cx="2651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minutos · contexto + primer encuadre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822960" y="528523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instalamos el problema. Después lo hacemos visible con IA.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pregunta concreta de Osorno</a:t>
            </a:r>
            <a:endParaRPr lang="en-US" sz="2300" dirty="0"/>
          </a:p>
        </p:txBody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2252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supermercado conviene comprar lo que tu familia compra todas las semanas?</a:t>
            </a:r>
            <a:endParaRPr lang="en-US" sz="1050" dirty="0"/>
          </a:p>
        </p:txBody>
      </p:sp>
      <p:pic>
        <p:nvPicPr>
          <p:cNvPr id="9" name="Image 1" descr="C:\Users\Diego Obando\dev\pro301-taller-de-aplicaciones-para-internet\clases-particulares\01_charla_4to_medio\ppt\source\assets\images\curated-2026\retail-receipt-hands.jpg">    </p:cNvPr>
          <p:cNvPicPr>
            <a:picLocks noChangeAspect="1"/>
          </p:cNvPicPr>
          <p:nvPr/>
        </p:nvPicPr>
        <p:blipFill>
          <a:blip r:embed="rId2"/>
          <a:srcRect l="0" r="0" t="18497" b="18497"/>
          <a:stretch/>
        </p:blipFill>
        <p:spPr>
          <a:xfrm>
            <a:off x="694944" y="1645920"/>
            <a:ext cx="4663440" cy="44074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87568" y="1700784"/>
            <a:ext cx="5431536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15584" y="1865376"/>
            <a:ext cx="82296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08192" y="1920240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PERSONAL DE DIEGO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108192" y="2157984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Cuenta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108192" y="2432304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que compara precios reales de los super de Osorno y arma tu lista óptima.</a:t>
            </a:r>
            <a:endParaRPr lang="en-US" sz="920" dirty="0"/>
          </a:p>
        </p:txBody>
      </p:sp>
      <p:sp>
        <p:nvSpPr>
          <p:cNvPr id="15" name="Shape 11"/>
          <p:cNvSpPr/>
          <p:nvPr/>
        </p:nvSpPr>
        <p:spPr>
          <a:xfrm>
            <a:off x="5779008" y="3035808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79008" y="314553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327648" y="3118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Buscar productos</a:t>
            </a:r>
            <a:endParaRPr lang="en-US" sz="1320" dirty="0"/>
          </a:p>
        </p:txBody>
      </p:sp>
      <p:sp>
        <p:nvSpPr>
          <p:cNvPr id="18" name="Shape 14"/>
          <p:cNvSpPr/>
          <p:nvPr/>
        </p:nvSpPr>
        <p:spPr>
          <a:xfrm>
            <a:off x="5779008" y="3529584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79008" y="363931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327648" y="36118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Comparar precios</a:t>
            </a:r>
            <a:endParaRPr lang="en-US" sz="1320" dirty="0"/>
          </a:p>
        </p:txBody>
      </p:sp>
      <p:sp>
        <p:nvSpPr>
          <p:cNvPr id="21" name="Shape 17"/>
          <p:cNvSpPr/>
          <p:nvPr/>
        </p:nvSpPr>
        <p:spPr>
          <a:xfrm>
            <a:off x="5779008" y="4023360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79008" y="413308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327648" y="410565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Armar la lista</a:t>
            </a:r>
            <a:endParaRPr lang="en-US" sz="1320" dirty="0"/>
          </a:p>
        </p:txBody>
      </p:sp>
      <p:sp>
        <p:nvSpPr>
          <p:cNvPr id="24" name="Shape 20"/>
          <p:cNvSpPr/>
          <p:nvPr/>
        </p:nvSpPr>
        <p:spPr>
          <a:xfrm>
            <a:off x="5779008" y="4517136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779008" y="462686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6327648" y="45994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Sugerir mejor super</a:t>
            </a:r>
            <a:endParaRPr lang="en-US" sz="1320" dirty="0"/>
          </a:p>
        </p:txBody>
      </p:sp>
      <p:sp>
        <p:nvSpPr>
          <p:cNvPr id="27" name="Shape 23"/>
          <p:cNvSpPr/>
          <p:nvPr/>
        </p:nvSpPr>
        <p:spPr>
          <a:xfrm>
            <a:off x="5779008" y="5010912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779008" y="5120640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27648" y="509320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Calcular ahorro</a:t>
            </a:r>
            <a:endParaRPr lang="en-US" sz="1320" dirty="0"/>
          </a:p>
        </p:txBody>
      </p:sp>
      <p:sp>
        <p:nvSpPr>
          <p:cNvPr id="30" name="Shape 26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era lento. Hoy se puede prototipar rápido.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charla vende una posibilidad: crear una primera versión visible en poco tiempo.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1847088"/>
            <a:ext cx="507492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9264" y="2011680"/>
            <a:ext cx="82296" cy="307238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2066544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TRADICIONAL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" y="230428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Muchas etapas separadas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291072" y="1847088"/>
            <a:ext cx="507492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19088" y="2011680"/>
            <a:ext cx="82296" cy="3072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2066544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LA DEMO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601968" y="230428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cadena conectada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261872" y="2980944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53312" y="3054096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2221992" y="3136392"/>
            <a:ext cx="21031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523744" y="2980944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15184" y="3054096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3483864" y="3136392"/>
            <a:ext cx="21031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785616" y="2980944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77056" y="3054096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4745736" y="3136392"/>
            <a:ext cx="21031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261872" y="3785616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53312" y="3858768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planilla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2221992" y="3941064"/>
            <a:ext cx="21031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523744" y="3785616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615184" y="3858768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6912864" y="3383280"/>
            <a:ext cx="351129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711696" y="3118104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11696" y="327355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20256" y="38313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589520" y="3118104"/>
            <a:ext cx="530352" cy="5303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89520" y="327355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498080" y="38313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diseño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8467344" y="3118104"/>
            <a:ext cx="530352" cy="5303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67344" y="327355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375904" y="38313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9345168" y="3118104"/>
            <a:ext cx="530352" cy="5303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345168" y="327355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9253728" y="38313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10222992" y="3118104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222992" y="327355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131552" y="38313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PBI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298448" y="45537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espera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534656" y="4553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prototipo visible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005840" y="5797296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velocidad cambia la forma de imaginar proyectos.</a:t>
            </a:r>
            <a:endParaRPr lang="en-US" sz="1900" dirty="0"/>
          </a:p>
        </p:txBody>
      </p:sp>
      <p:sp>
        <p:nvSpPr>
          <p:cNvPr id="50" name="Shape 47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MÍNIMO DE LA DEMO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solo una página bonita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landing será la puerta de entrada a datos útiles.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1828800"/>
            <a:ext cx="495604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9264" y="1993392"/>
            <a:ext cx="82296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2048256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" y="228600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52144" y="2706624"/>
            <a:ext cx="4334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Hero, buscador y propuesta clara: encuentra y ahorra.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6281928" y="1828800"/>
            <a:ext cx="495604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9944" y="1993392"/>
            <a:ext cx="82296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92824" y="2048256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92824" y="228600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Catálogo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92824" y="2706624"/>
            <a:ext cx="4334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 mil productos comparables entre 6 supermercados.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841248" y="3401568"/>
            <a:ext cx="495604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69264" y="3566160"/>
            <a:ext cx="82296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52144" y="3621024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3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52144" y="385876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52144" y="4279392"/>
            <a:ext cx="4334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arma su canasta y ve dónde le sale más barato.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6281928" y="3401568"/>
            <a:ext cx="495604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09944" y="3566160"/>
            <a:ext cx="82296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92824" y="3621024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4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592824" y="385876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592824" y="4279392"/>
            <a:ext cx="4334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explica el ahorro y los patrones por categoría.</a:t>
            </a:r>
            <a:endParaRPr lang="en-US" sz="1060" dirty="0"/>
          </a:p>
        </p:txBody>
      </p:sp>
      <p:sp>
        <p:nvSpPr>
          <p:cNvPr id="29" name="Text 26"/>
          <p:cNvSpPr/>
          <p:nvPr/>
        </p:nvSpPr>
        <p:spPr>
          <a:xfrm>
            <a:off x="1042416" y="530352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web capta. La lista decide. Los datos explican.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DEL USUARIO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visita puede transformarse en información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landing no es el final; es el inicio de una conversación con datos.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" y="2139696"/>
            <a:ext cx="1847088" cy="1993392"/>
          </a:xfrm>
          <a:prstGeom prst="roundRect">
            <a:avLst>
              <a:gd name="adj" fmla="val 5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463040" y="2414016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3040" y="252374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14400" y="299923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Visita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340156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 buscando ahorrar en el super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96896" y="3127248"/>
            <a:ext cx="365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017520" y="2139696"/>
            <a:ext cx="1847088" cy="1993392"/>
          </a:xfrm>
          <a:prstGeom prst="roundRect">
            <a:avLst>
              <a:gd name="adj" fmla="val 5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730752" y="2414016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30752" y="252374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182112" y="299923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182112" y="340156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Pasta, leche, aceite, lo de la semana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64608" y="3127248"/>
            <a:ext cx="365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285232" y="2139696"/>
            <a:ext cx="1847088" cy="1993392"/>
          </a:xfrm>
          <a:prstGeom prst="roundRect">
            <a:avLst>
              <a:gd name="adj" fmla="val 594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98464" y="2414016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98464" y="252374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449824" y="299923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Arma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49824" y="340156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 productos a su lista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132320" y="3127248"/>
            <a:ext cx="365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552944" y="2139696"/>
            <a:ext cx="1847088" cy="1993392"/>
          </a:xfrm>
          <a:prstGeom prst="roundRect">
            <a:avLst>
              <a:gd name="adj" fmla="val 5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266176" y="2414016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66176" y="252374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717536" y="299923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717536" y="340156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app le muestra el super más barato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400032" y="3127248"/>
            <a:ext cx="365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820656" y="2139696"/>
            <a:ext cx="1847088" cy="1993392"/>
          </a:xfrm>
          <a:prstGeom prst="roundRect">
            <a:avLst>
              <a:gd name="adj" fmla="val 5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533888" y="2414016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533888" y="252374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9985248" y="299923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985248" y="340156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ahí y ahorra real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1078992" y="4901184"/>
            <a:ext cx="998524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1207008" y="5065776"/>
            <a:ext cx="82296" cy="585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389888" y="5120640"/>
            <a:ext cx="9436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1389888" y="5358384"/>
            <a:ext cx="9436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lista armada revela qué productos se buscan, en qué super y cuánto ahorro mueven.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6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DE COMPRAS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guarda la app cuando armas tu canasta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fila tiene valor: lo que compras, dónde y cuánto ahorras.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9536" y="1700784"/>
            <a:ext cx="4709160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70432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 canasta del mes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152144" y="2633472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761488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3273552" y="2633472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01568" y="2761488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1152144" y="3291840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80160" y="3419856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273552" y="3291840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01568" y="3419856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1152144" y="3950208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0" y="4078224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elegido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3273552" y="3950208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01568" y="4078224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 CLP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1152144" y="4608576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80160" y="4736592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 CLP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3273552" y="4608576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01568" y="4736592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1152144" y="5431536"/>
            <a:ext cx="3986784" cy="329184"/>
          </a:xfrm>
          <a:prstGeom prst="roundRect">
            <a:avLst>
              <a:gd name="adj" fmla="val 1944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52144" y="5532120"/>
            <a:ext cx="3986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 ahorro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43600" y="1828800"/>
            <a:ext cx="5285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071616" y="1993392"/>
            <a:ext cx="82296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54496" y="2048256"/>
            <a:ext cx="4736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CAMPOS AL AZAR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254496" y="2286000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dato responde una pregunta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254496" y="2706624"/>
            <a:ext cx="466344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Categoría, marca, super y precio revelan dónde se está el ahorro.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5943600" y="3273552"/>
            <a:ext cx="5285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071616" y="3438144"/>
            <a:ext cx="82296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54496" y="3493008"/>
            <a:ext cx="4736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PUENTE A POWER BI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254496" y="3730752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compra = una fila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6254496" y="4151376"/>
            <a:ext cx="466344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hay miles de filas, aparecen patrones que se pueden visualizar.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6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NEGOCIO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podríamos descubrir después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serán la razón para llegar a Power BI.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" y="1828800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60704" y="2084832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super es el más barato esta semana?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6245352" y="1828800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01384" y="2084832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categoría tiene mayor diferencia de precio?</a:t>
            </a:r>
            <a:endParaRPr lang="en-US" sz="1440" dirty="0"/>
          </a:p>
        </p:txBody>
      </p:sp>
      <p:sp>
        <p:nvSpPr>
          <p:cNvPr id="13" name="Shape 10"/>
          <p:cNvSpPr/>
          <p:nvPr/>
        </p:nvSpPr>
        <p:spPr>
          <a:xfrm>
            <a:off x="804672" y="2907792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60704" y="3163824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¿Cuánto se ahorra una familia promedio?</a:t>
            </a:r>
            <a:endParaRPr lang="en-US" sz="1440" dirty="0"/>
          </a:p>
        </p:txBody>
      </p:sp>
      <p:sp>
        <p:nvSpPr>
          <p:cNvPr id="15" name="Shape 12"/>
          <p:cNvSpPr/>
          <p:nvPr/>
        </p:nvSpPr>
        <p:spPr>
          <a:xfrm>
            <a:off x="6245352" y="2907792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01384" y="3163824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marcas dominan en cada super?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804672" y="3986784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60704" y="4242816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productos cambian más de precio?</a:t>
            </a:r>
            <a:endParaRPr lang="en-US" sz="1440" dirty="0"/>
          </a:p>
        </p:txBody>
      </p:sp>
      <p:sp>
        <p:nvSpPr>
          <p:cNvPr id="19" name="Shape 16"/>
          <p:cNvSpPr/>
          <p:nvPr/>
        </p:nvSpPr>
        <p:spPr>
          <a:xfrm>
            <a:off x="6245352" y="3986784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01384" y="4242816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¿Conviene partir la compra entre dos super?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914400" y="54132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datos hacen visible lo que antes era pura intuición.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young-coders-neon-cafe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8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49808" y="870509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47318" y="694944"/>
            <a:ext cx="175565" cy="63642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88720" y="870509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408176" y="69494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DEL BLOQUE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68096" y="1444752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Programar no es solo escribir código.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822960" y="224942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es crear experiencias, conectar herramientas y transformar datos en decisiones.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2960" y="37490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3822192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</a:t>
            </a:r>
            <a:endParaRPr lang="en-US" sz="840" dirty="0"/>
          </a:p>
        </p:txBody>
      </p:sp>
      <p:sp>
        <p:nvSpPr>
          <p:cNvPr id="13" name="Shape 9"/>
          <p:cNvSpPr/>
          <p:nvPr/>
        </p:nvSpPr>
        <p:spPr>
          <a:xfrm>
            <a:off x="1901952" y="37490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993392" y="3822192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automatizar</a:t>
            </a:r>
            <a:endParaRPr lang="en-US" sz="840" dirty="0"/>
          </a:p>
        </p:txBody>
      </p:sp>
      <p:sp>
        <p:nvSpPr>
          <p:cNvPr id="15" name="Shape 11"/>
          <p:cNvSpPr/>
          <p:nvPr/>
        </p:nvSpPr>
        <p:spPr>
          <a:xfrm>
            <a:off x="2980944" y="37490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072384" y="3822192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</a:t>
            </a:r>
            <a:endParaRPr lang="en-US" sz="840" dirty="0"/>
          </a:p>
        </p:txBody>
      </p:sp>
      <p:sp>
        <p:nvSpPr>
          <p:cNvPr id="17" name="Shape 13"/>
          <p:cNvSpPr/>
          <p:nvPr/>
        </p:nvSpPr>
        <p:spPr>
          <a:xfrm>
            <a:off x="4059936" y="37490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51376" y="3822192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analizar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5138928" y="37490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30368" y="3822192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lang="en-US" sz="840" dirty="0"/>
          </a:p>
        </p:txBody>
      </p:sp>
      <p:sp>
        <p:nvSpPr>
          <p:cNvPr id="21" name="Shape 17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PASO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lo hacemos visible con IA</a:t>
            </a:r>
            <a:endParaRPr lang="en-US" sz="2300" dirty="0"/>
          </a:p>
        </p:txBody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2252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demo: pedirle a Stitch que imagine la landing de La Cuenta.</a:t>
            </a:r>
            <a:endParaRPr lang="en-US" sz="1050" dirty="0"/>
          </a:p>
        </p:txBody>
      </p:sp>
      <p:pic>
        <p:nvPicPr>
          <p:cNvPr id="9" name="Image 1" descr="C:\Users\Diego Obando\dev\pro301-taller-de-aplicaciones-para-internet\clases-particulares\01_charla_4to_medio\ppt\source\assets\images\curated-2026\retail-aisle-drinks.jpg">    </p:cNvPr>
          <p:cNvPicPr>
            <a:picLocks noChangeAspect="1"/>
          </p:cNvPicPr>
          <p:nvPr/>
        </p:nvPicPr>
        <p:blipFill>
          <a:blip r:embed="rId2"/>
          <a:srcRect l="21300" r="21300" t="0" b="0"/>
          <a:stretch/>
        </p:blipFill>
        <p:spPr>
          <a:xfrm>
            <a:off x="786384" y="1700784"/>
            <a:ext cx="3794760" cy="44074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56048" y="1755648"/>
            <a:ext cx="6163056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84064" y="1920240"/>
            <a:ext cx="82296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76672" y="1975104"/>
            <a:ext cx="5504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EN VIVO 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376672" y="2212848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Diseñar la landing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376672" y="2487168"/>
            <a:ext cx="543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Describimos el negocio en lenguaje natural y revisamos qué propone la herramienta.</a:t>
            </a:r>
            <a:endParaRPr lang="en-US" sz="940" dirty="0"/>
          </a:p>
        </p:txBody>
      </p:sp>
      <p:sp>
        <p:nvSpPr>
          <p:cNvPr id="15" name="Shape 11"/>
          <p:cNvSpPr/>
          <p:nvPr/>
        </p:nvSpPr>
        <p:spPr>
          <a:xfrm>
            <a:off x="4956048" y="3035808"/>
            <a:ext cx="6163056" cy="2084832"/>
          </a:xfrm>
          <a:prstGeom prst="roundRect">
            <a:avLst>
              <a:gd name="adj" fmla="val 526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285232" y="33467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base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285232" y="3675888"/>
            <a:ext cx="5349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 una landing editorial para La Cuenta, con buscador, lista de compras, comparador de supermercados y panel de ahorro.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285232" y="46268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de la demo: pasar de idea a interfaz visual.</a:t>
            </a:r>
            <a:endParaRPr lang="en-US" sz="1060" dirty="0"/>
          </a:p>
        </p:txBody>
      </p:sp>
      <p:sp>
        <p:nvSpPr>
          <p:cNvPr id="19" name="Shape 15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21" name="Shape 17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laptop-neon-code-open.jpg">    </p:cNvPr>
          <p:cNvPicPr>
            <a:picLocks noChangeAspect="1"/>
          </p:cNvPicPr>
          <p:nvPr/>
        </p:nvPicPr>
        <p:blipFill>
          <a:blip r:embed="rId1"/>
          <a:srcRect l="22311" r="22311" t="0" b="0"/>
          <a:stretch/>
        </p:blipFill>
        <p:spPr>
          <a:xfrm>
            <a:off x="6492240" y="0"/>
            <a:ext cx="56967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92240" y="0"/>
            <a:ext cx="5696712" cy="6858000"/>
          </a:xfrm>
          <a:prstGeom prst="rect">
            <a:avLst/>
          </a:prstGeom>
          <a:solidFill>
            <a:srgbClr val="102A43">
              <a:alpha val="4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02368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0" y="310896"/>
            <a:ext cx="128016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31552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69296" y="32004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AIEP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378440" y="57607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superior técnico-profesional</a:t>
            </a:r>
            <a:endParaRPr lang="en-US" sz="380" dirty="0"/>
          </a:p>
        </p:txBody>
      </p:sp>
      <p:sp>
        <p:nvSpPr>
          <p:cNvPr id="9" name="Shape 6"/>
          <p:cNvSpPr/>
          <p:nvPr/>
        </p:nvSpPr>
        <p:spPr>
          <a:xfrm>
            <a:off x="786384" y="1031443"/>
            <a:ext cx="142646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0354" y="841248"/>
            <a:ext cx="190195" cy="6894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61872" y="1031443"/>
            <a:ext cx="142646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81328" y="8229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" y="1572768"/>
            <a:ext cx="5257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Diseñar la landing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IA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2960" y="30358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idea de negocio a propuesta visual lista para discutir.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822960" y="3730752"/>
            <a:ext cx="2834640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803904"/>
            <a:ext cx="2651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minutos · brief + demo Stitch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3858768" y="3712464"/>
            <a:ext cx="138988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8E4E5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pic>
        <p:nvPicPr>
          <p:cNvPr id="18" name="Image 1" descr="C:\Users\Diego Obando\dev\pro301-taller-de-aplicaciones-para-internet\clases-particulares\01_charla_4to_medio\ppt\source\assets\logos\google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6784" y="3767328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61104" y="3831336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Stitch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22960" y="5266944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objetivo no es tener “la página perfecta”. Es obtener una primera versión visual potente.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Stitch convierte intención en interfaz</a:t>
            </a:r>
            <a:endParaRPr lang="en-US" sz="2300" dirty="0"/>
          </a:p>
        </p:txBody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22529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del resultado depende mucho de la calidad del brief.</a:t>
            </a:r>
            <a:endParaRPr lang="en-US" sz="1050" dirty="0"/>
          </a:p>
        </p:txBody>
      </p:sp>
      <p:pic>
        <p:nvPicPr>
          <p:cNvPr id="9" name="Image 1" descr="C:\Users\Diego Obando\dev\pro301-taller-de-aplicaciones-para-internet\clases-particulares\01_charla_4to_medio\ppt\source\assets\images\curated-2026\retail-receipt-hands.jpg">    </p:cNvPr>
          <p:cNvPicPr>
            <a:picLocks noChangeAspect="1"/>
          </p:cNvPicPr>
          <p:nvPr/>
        </p:nvPicPr>
        <p:blipFill>
          <a:blip r:embed="rId2"/>
          <a:srcRect l="0" r="0" t="12249" b="12249"/>
          <a:stretch/>
        </p:blipFill>
        <p:spPr>
          <a:xfrm>
            <a:off x="786384" y="1792224"/>
            <a:ext cx="3794760" cy="42976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74336" y="1865376"/>
            <a:ext cx="2779776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102352" y="2029968"/>
            <a:ext cx="82296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76672" y="208483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376672" y="232257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376672" y="267004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Negocio, público, estilo, estructura y objetivo.</a:t>
            </a:r>
            <a:endParaRPr lang="en-US" sz="940" dirty="0"/>
          </a:p>
        </p:txBody>
      </p:sp>
      <p:sp>
        <p:nvSpPr>
          <p:cNvPr id="15" name="Shape 11"/>
          <p:cNvSpPr/>
          <p:nvPr/>
        </p:nvSpPr>
        <p:spPr>
          <a:xfrm>
            <a:off x="7900416" y="2542032"/>
            <a:ext cx="530352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522208" y="1865376"/>
            <a:ext cx="2615184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50224" y="2029968"/>
            <a:ext cx="82296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924544" y="2084832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924544" y="2322576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8924544" y="267004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landing visual para revisar y mejorar.</a:t>
            </a:r>
            <a:endParaRPr lang="en-US" sz="940" dirty="0"/>
          </a:p>
        </p:txBody>
      </p:sp>
      <p:sp>
        <p:nvSpPr>
          <p:cNvPr id="21" name="Shape 17"/>
          <p:cNvSpPr/>
          <p:nvPr/>
        </p:nvSpPr>
        <p:spPr>
          <a:xfrm>
            <a:off x="4974336" y="3822192"/>
            <a:ext cx="6163056" cy="1207008"/>
          </a:xfrm>
          <a:prstGeom prst="roundRect">
            <a:avLst>
              <a:gd name="adj" fmla="val 909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321808" y="411480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la demo</a:t>
            </a:r>
            <a:endParaRPr lang="en-US" sz="840" dirty="0"/>
          </a:p>
        </p:txBody>
      </p:sp>
      <p:sp>
        <p:nvSpPr>
          <p:cNvPr id="23" name="Text 19"/>
          <p:cNvSpPr/>
          <p:nvPr/>
        </p:nvSpPr>
        <p:spPr>
          <a:xfrm>
            <a:off x="5321808" y="444398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pedimos una pantalla bonita. Pedimos una landing que resuelva una acción: ahorrar.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6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ONE-SHOT PROMPT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buen prompt funciona como brief de diseño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queremos buen resultado, el contexto debe venir desde el inicio.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" y="1810512"/>
            <a:ext cx="3236976" cy="1097280"/>
          </a:xfrm>
          <a:prstGeom prst="roundRect">
            <a:avLst>
              <a:gd name="adj" fmla="val 1000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" y="19933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463040" y="195681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1463040" y="232257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negocio es y qué problema resuelve.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480560" y="1810512"/>
            <a:ext cx="3236976" cy="1097280"/>
          </a:xfrm>
          <a:prstGeom prst="roundRect">
            <a:avLst>
              <a:gd name="adj" fmla="val 10000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81728" y="19933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5138928" y="195681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5138928" y="232257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acción queremos provocar: ahorrar.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8156448" y="1810512"/>
            <a:ext cx="3236976" cy="1097280"/>
          </a:xfrm>
          <a:prstGeom prst="roundRect">
            <a:avLst>
              <a:gd name="adj" fmla="val 1000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57616" y="19933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814816" y="195681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Público</a:t>
            </a:r>
            <a:endParaRPr lang="en-US" sz="1520" dirty="0"/>
          </a:p>
        </p:txBody>
      </p:sp>
      <p:sp>
        <p:nvSpPr>
          <p:cNvPr id="20" name="Text 17"/>
          <p:cNvSpPr/>
          <p:nvPr/>
        </p:nvSpPr>
        <p:spPr>
          <a:xfrm>
            <a:off x="8814816" y="232257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quién se diseña la experiencia.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804672" y="3383280"/>
            <a:ext cx="3236976" cy="1097280"/>
          </a:xfrm>
          <a:prstGeom prst="roundRect">
            <a:avLst>
              <a:gd name="adj" fmla="val 10000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05840" y="35661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463040" y="35295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Estética</a:t>
            </a:r>
            <a:endParaRPr lang="en-US" sz="1520" dirty="0"/>
          </a:p>
        </p:txBody>
      </p:sp>
      <p:sp>
        <p:nvSpPr>
          <p:cNvPr id="24" name="Text 21"/>
          <p:cNvSpPr/>
          <p:nvPr/>
        </p:nvSpPr>
        <p:spPr>
          <a:xfrm>
            <a:off x="1463040" y="389534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 transmitir visualmente.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4480560" y="3383280"/>
            <a:ext cx="3236976" cy="1097280"/>
          </a:xfrm>
          <a:prstGeom prst="roundRect">
            <a:avLst>
              <a:gd name="adj" fmla="val 1000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681728" y="35661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5138928" y="35295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Secciones</a:t>
            </a:r>
            <a:endParaRPr lang="en-US" sz="1520" dirty="0"/>
          </a:p>
        </p:txBody>
      </p:sp>
      <p:sp>
        <p:nvSpPr>
          <p:cNvPr id="28" name="Text 25"/>
          <p:cNvSpPr/>
          <p:nvPr/>
        </p:nvSpPr>
        <p:spPr>
          <a:xfrm>
            <a:off x="5138928" y="389534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partes debe tener la landing.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8156448" y="3383280"/>
            <a:ext cx="3236976" cy="1097280"/>
          </a:xfrm>
          <a:prstGeom prst="roundRect">
            <a:avLst>
              <a:gd name="adj" fmla="val 10000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357616" y="35661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814816" y="35295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Restricciones</a:t>
            </a:r>
            <a:endParaRPr lang="en-US" sz="1520" dirty="0"/>
          </a:p>
        </p:txBody>
      </p:sp>
      <p:sp>
        <p:nvSpPr>
          <p:cNvPr id="32" name="Text 29"/>
          <p:cNvSpPr/>
          <p:nvPr/>
        </p:nvSpPr>
        <p:spPr>
          <a:xfrm>
            <a:off x="8814816" y="389534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 evitar el diseño.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932688" y="534009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Mientras más claro el brief, menos genérica la interfaz.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6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VISUAL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le vamos a pedir a la IA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solo contenido: también tono, estructura y experiencia.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1737360"/>
            <a:ext cx="4700016" cy="4114800"/>
          </a:xfrm>
          <a:prstGeom prst="roundRect">
            <a:avLst>
              <a:gd name="adj" fmla="val 2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70432" y="2084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Cuenta · Osorno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88720" y="2578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 · útil · honesta · ahorrativa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1207008" y="3108960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26464" y="3090672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con dato fuerte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1207008" y="3456432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26464" y="343814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Buscador unificado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1207008" y="3803904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26464" y="3785616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de ahorros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1207008" y="4151376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26464" y="4133088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 lista de compras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1207008" y="4498848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26464" y="448056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Comparador de super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1207008" y="4846320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26464" y="4828032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de inteligencia</a:t>
            </a:r>
            <a:endParaRPr lang="en-US" sz="980" dirty="0"/>
          </a:p>
        </p:txBody>
      </p:sp>
      <p:pic>
        <p:nvPicPr>
          <p:cNvPr id="24" name="Image 1" descr="C:\Users\Diego Obando\dev\pro301-taller-de-aplicaciones-para-internet\clases-particulares\01_charla_4to_medio\ppt\source\assets\images\curated-2026\retail-aisle-drinks.jpg">    </p:cNvPr>
          <p:cNvPicPr>
            <a:picLocks noChangeAspect="1"/>
          </p:cNvPicPr>
          <p:nvPr/>
        </p:nvPicPr>
        <p:blipFill>
          <a:blip r:embed="rId2"/>
          <a:srcRect l="30593" r="30593" t="0" b="0"/>
          <a:stretch/>
        </p:blipFill>
        <p:spPr>
          <a:xfrm>
            <a:off x="5852160" y="1737360"/>
            <a:ext cx="2395728" cy="4114800"/>
          </a:xfrm>
          <a:prstGeom prst="rect">
            <a:avLst/>
          </a:prstGeom>
        </p:spPr>
      </p:pic>
      <p:pic>
        <p:nvPicPr>
          <p:cNvPr id="25" name="Image 2" descr="C:\Users\Diego Obando\dev\pro301-taller-de-aplicaciones-para-internet\clases-particulares\01_charla_4to_medio\ppt\source\assets\images\curated-2026\retail-receipt-hands.jpg">    </p:cNvPr>
          <p:cNvPicPr>
            <a:picLocks noChangeAspect="1"/>
          </p:cNvPicPr>
          <p:nvPr/>
        </p:nvPicPr>
        <p:blipFill>
          <a:blip r:embed="rId3"/>
          <a:srcRect l="6333" r="6333" t="0" b="0"/>
          <a:stretch/>
        </p:blipFill>
        <p:spPr>
          <a:xfrm>
            <a:off x="8485632" y="1737360"/>
            <a:ext cx="2395728" cy="41148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28" name="Shape 23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6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ANATOMÍA DE LA LANDING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página debe llevar a una acción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sección empuja al usuario a armar su lista, no solo decora.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1792224"/>
            <a:ext cx="3218688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9264" y="1956816"/>
            <a:ext cx="82296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011680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SECCIÓN 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225296" y="224942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25296" y="2596896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Promesa: hasta 41% de diferencia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535424" y="1792224"/>
            <a:ext cx="3218688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956816"/>
            <a:ext cx="82296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9472" y="2011680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SECCIÓN 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919472" y="224942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Buscador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19472" y="2596896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Encuentra cualquier producto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8229600" y="1792224"/>
            <a:ext cx="3218688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57616" y="1956816"/>
            <a:ext cx="82296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13648" y="2011680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SECCIÓN 3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613648" y="224942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ahorros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613648" y="2596896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Donde más vale elegir bien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841248" y="3401568"/>
            <a:ext cx="3218688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69264" y="3566160"/>
            <a:ext cx="82296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25296" y="3621024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SECCIÓN 4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225296" y="385876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Comparador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25296" y="420624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 lado a lado por super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4535424" y="3401568"/>
            <a:ext cx="3218688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63440" y="3566160"/>
            <a:ext cx="82296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19472" y="3621024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SECCIÓN 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919472" y="385876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 lista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919472" y="420624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Arma la canasta del mes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8229600" y="3401568"/>
            <a:ext cx="3218688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357616" y="3566160"/>
            <a:ext cx="82296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13648" y="3621024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SECCIÓN 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613648" y="385876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613648" y="420624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super + ahorro total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1078992" y="5084064"/>
            <a:ext cx="9985248" cy="694944"/>
          </a:xfrm>
          <a:prstGeom prst="roundRect">
            <a:avLst>
              <a:gd name="adj" fmla="val 1578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389888" y="532180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central: ¿dónde queda claro que puedo armar mi lista y ver el ahorro?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43" name="Shape 40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6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ONE-SHOT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importante cabe en una estructura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prompt completo está listo en el guion; esta slide muestra la lógica.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1682496"/>
            <a:ext cx="10561320" cy="4261104"/>
          </a:xfrm>
          <a:prstGeom prst="roundRect">
            <a:avLst>
              <a:gd name="adj" fmla="val 257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70432" y="19933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brief.stitch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1188720" y="2487168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Diseña una landing editorial para La Cuenta · Osorno.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1188720" y="2834640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Objetivo: que el visitante arme su lista y vea cuánto ahorra.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1188720" y="3182112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Público: familias y jóvenes que hacen la compra del mes en Osorno.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188720" y="3529584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Estética: editorial, sobria, premium, tipográfica fuerte, mucho dato visible.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1188720" y="3877056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Debe incluir: hero con dato fuerte, buscador, top de ahorros, comparador, mi lista y panel de resultado.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1188720" y="4224528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La lista debe permitir agregar productos y mostrar el super más conveniente.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1188720" y="4572000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Evita: aspecto corporativo plano, colores saturados o sensación de e-commerce.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6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retail-supermarket-aerial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49808" y="888797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47318" y="713232"/>
            <a:ext cx="175565" cy="63642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88720" y="888797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408176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EN VIVO 1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68096" y="1426464"/>
            <a:ext cx="5212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Abrimos Stitch.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Pegamos el brief.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Miramos qué aparece.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822960" y="307238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buscamos perfección. Buscamos una primera interfaz con dirección.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391363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3986784"/>
            <a:ext cx="1965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acción: generar landing</a:t>
            </a:r>
            <a:endParaRPr lang="en-US" sz="840" dirty="0"/>
          </a:p>
        </p:txBody>
      </p:sp>
      <p:sp>
        <p:nvSpPr>
          <p:cNvPr id="13" name="Shape 9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6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DEL RESULTADO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vamos a mirar cuando aparezca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que se vea cool: debe funcionar como landing.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1773936"/>
            <a:ext cx="4956048" cy="804672"/>
          </a:xfrm>
          <a:prstGeom prst="roundRect">
            <a:avLst>
              <a:gd name="adj" fmla="val 13636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42416" y="1975104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08483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609344" y="1938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Claridad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609344" y="2212848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entiende qué hace la app en segundos?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291072" y="1773936"/>
            <a:ext cx="4956048" cy="804672"/>
          </a:xfrm>
          <a:prstGeom prst="roundRect">
            <a:avLst>
              <a:gd name="adj" fmla="val 13636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0" y="1975104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208483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059168" y="1938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Acción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059168" y="2212848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buscador / botón de armar lista aparece fuerte?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841248" y="2907792"/>
            <a:ext cx="4956048" cy="804672"/>
          </a:xfrm>
          <a:prstGeom prst="roundRect">
            <a:avLst>
              <a:gd name="adj" fmla="val 13636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42416" y="3108960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2416" y="321868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609344" y="30723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609344" y="3346704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ve clarito el ahorro entre supermercados?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6291072" y="2907792"/>
            <a:ext cx="4956048" cy="804672"/>
          </a:xfrm>
          <a:prstGeom prst="roundRect">
            <a:avLst>
              <a:gd name="adj" fmla="val 13636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92240" y="3108960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21868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059168" y="30723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Confianza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7059168" y="3346704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estética se siente profesional, no genérica?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841248" y="4041648"/>
            <a:ext cx="4956048" cy="804672"/>
          </a:xfrm>
          <a:prstGeom prst="roundRect">
            <a:avLst>
              <a:gd name="adj" fmla="val 13636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42416" y="4242816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42416" y="435254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609344" y="42062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609344" y="4480560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¿Armar la canasta se ve simple?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6291072" y="4041648"/>
            <a:ext cx="4956048" cy="804672"/>
          </a:xfrm>
          <a:prstGeom prst="roundRect">
            <a:avLst>
              <a:gd name="adj" fmla="val 13636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492240" y="4242816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92240" y="435254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059168" y="42062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futuro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7059168" y="4480560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¿Esto se puede convertir en web?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6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DEL BLOQUE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diseño a la implementación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ya imaginó una interfaz. Ahora toca construir algo que funcione.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coding-neon-workstation.jpg">    </p:cNvPr>
          <p:cNvPicPr>
            <a:picLocks noChangeAspect="1"/>
          </p:cNvPicPr>
          <p:nvPr/>
        </p:nvPicPr>
        <p:blipFill>
          <a:blip r:embed="rId2"/>
          <a:srcRect l="22888" r="22888" t="0" b="0"/>
          <a:stretch/>
        </p:blipFill>
        <p:spPr>
          <a:xfrm>
            <a:off x="786384" y="1719072"/>
            <a:ext cx="4160520" cy="43159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40096" y="1847088"/>
            <a:ext cx="5413248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68112" y="2011680"/>
            <a:ext cx="82296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60720" y="206654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TENEMOS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760720" y="23042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dirección visual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5760720" y="2724912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Nombre, secciones, buscador, comparador y la lista de compras como acción principal.</a:t>
            </a:r>
            <a:endParaRPr lang="en-US" sz="940" dirty="0"/>
          </a:p>
        </p:txBody>
      </p:sp>
      <p:sp>
        <p:nvSpPr>
          <p:cNvPr id="15" name="Shape 11"/>
          <p:cNvSpPr/>
          <p:nvPr/>
        </p:nvSpPr>
        <p:spPr>
          <a:xfrm>
            <a:off x="5340096" y="3639312"/>
            <a:ext cx="5413248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68112" y="3803904"/>
            <a:ext cx="82296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60720" y="3858768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DEMO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760720" y="40965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Convertirlo en web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5760720" y="4517136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Pasamos de una propuesta visual a HTML, CSS, JavaScript y formulario.</a:t>
            </a:r>
            <a:endParaRPr lang="en-US" sz="940" dirty="0"/>
          </a:p>
        </p:txBody>
      </p:sp>
      <p:sp>
        <p:nvSpPr>
          <p:cNvPr id="20" name="Text 16"/>
          <p:cNvSpPr/>
          <p:nvPr/>
        </p:nvSpPr>
        <p:spPr>
          <a:xfrm>
            <a:off x="5376672" y="52303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diseño abre el camino. La programación lo vuelve interactivo.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23" name="Shape 19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6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coding-neon-workstation.jpg">    </p:cNvPr>
          <p:cNvPicPr>
            <a:picLocks noChangeAspect="1"/>
          </p:cNvPicPr>
          <p:nvPr/>
        </p:nvPicPr>
        <p:blipFill>
          <a:blip r:embed="rId1"/>
          <a:srcRect l="26263" r="26263" t="0" b="0"/>
          <a:stretch/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102A43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02368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0" y="310896"/>
            <a:ext cx="128016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31552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69296" y="32004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AIEP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378440" y="57607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superior técnico-profesional</a:t>
            </a:r>
            <a:endParaRPr lang="en-US" sz="380" dirty="0"/>
          </a:p>
        </p:txBody>
      </p:sp>
      <p:sp>
        <p:nvSpPr>
          <p:cNvPr id="9" name="Shape 6"/>
          <p:cNvSpPr/>
          <p:nvPr/>
        </p:nvSpPr>
        <p:spPr>
          <a:xfrm>
            <a:off x="786384" y="1031443"/>
            <a:ext cx="142646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0354" y="841248"/>
            <a:ext cx="190195" cy="6894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61872" y="1031443"/>
            <a:ext cx="142646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81328" y="8229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" y="1572768"/>
            <a:ext cx="5394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Convertir el diseño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una web funcional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22960" y="30723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la idea deja de ser una maqueta y empieza a responder al usuario.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22960" y="3749040"/>
            <a:ext cx="3401568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822192"/>
            <a:ext cx="3218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minutos · Codex + buscador + lista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4425696" y="3730752"/>
            <a:ext cx="13716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pic>
        <p:nvPicPr>
          <p:cNvPr id="18" name="Image 1" descr="C:\Users\Diego Obando\dev\pro301-taller-de-aplicaciones-para-internet\clases-particulares\01_charla_4to_medio\ppt\source\assets\logos\openai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3712" y="3776472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28032" y="3849624"/>
            <a:ext cx="6583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22960" y="526694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diseño abre el camino. El código lo vuelve interactivo.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6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MAQUETA A ARCHIVOS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web necesita estructura, estilo e interacción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ayuda a crear una primera versión, pero debemos pedirle una salida concreta.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laptop-neon-code-open.jpg">    </p:cNvPr>
          <p:cNvPicPr>
            <a:picLocks noChangeAspect="1"/>
          </p:cNvPicPr>
          <p:nvPr/>
        </p:nvPicPr>
        <p:blipFill>
          <a:blip r:embed="rId2"/>
          <a:srcRect l="20692" r="20692" t="0" b="0"/>
          <a:stretch/>
        </p:blipFill>
        <p:spPr>
          <a:xfrm>
            <a:off x="786384" y="1737360"/>
            <a:ext cx="3794760" cy="43159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10912" y="1810512"/>
            <a:ext cx="5797296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138928" y="1975104"/>
            <a:ext cx="82296" cy="585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49824" y="2029968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449824" y="22677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5449824" y="2523744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secciones, buscador, lista, panel de comparación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5010912" y="3054096"/>
            <a:ext cx="5797296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38928" y="3218688"/>
            <a:ext cx="82296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49824" y="327355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APARIENCIA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449824" y="351129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5449824" y="3767328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tipografía editorial, grillas, responsive, jerarquía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5010912" y="4297680"/>
            <a:ext cx="5797296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38928" y="4462272"/>
            <a:ext cx="82296" cy="585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49824" y="45171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INTERACCIÓN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449824" y="47548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</a:t>
            </a:r>
            <a:endParaRPr lang="en-US" sz="1850" dirty="0"/>
          </a:p>
        </p:txBody>
      </p:sp>
      <p:sp>
        <p:nvSpPr>
          <p:cNvPr id="24" name="Text 20"/>
          <p:cNvSpPr/>
          <p:nvPr/>
        </p:nvSpPr>
        <p:spPr>
          <a:xfrm>
            <a:off x="5449824" y="5010912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productos, sumar a lista, calcular ahorro</a:t>
            </a:r>
            <a:endParaRPr lang="en-US" sz="930" dirty="0"/>
          </a:p>
        </p:txBody>
      </p:sp>
      <p:sp>
        <p:nvSpPr>
          <p:cNvPr id="25" name="Text 21"/>
          <p:cNvSpPr/>
          <p:nvPr/>
        </p:nvSpPr>
        <p:spPr>
          <a:xfrm>
            <a:off x="5047488" y="55321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capas simples. Una experiencia completa.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6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le pedimos “hazme una página”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damos una especificación clara para que construya algo demostrable.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1737360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93852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2249424" y="193852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Cuenta · Osorno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6281928" y="1737360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37960" y="193852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860" dirty="0"/>
          </a:p>
        </p:txBody>
      </p:sp>
      <p:sp>
        <p:nvSpPr>
          <p:cNvPr id="14" name="Text 11"/>
          <p:cNvSpPr/>
          <p:nvPr/>
        </p:nvSpPr>
        <p:spPr>
          <a:xfrm>
            <a:off x="7690104" y="193852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Next.js + Tailwind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41248" y="2798064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97280" y="299923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Secciones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2249424" y="2999232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hero, buscador, top, comparador, lista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6281928" y="2798064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37960" y="299923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7690104" y="2999232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armar lista y ver ahorro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841248" y="3858768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97280" y="405993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2249424" y="4059936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 mil precios reales · CSV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6281928" y="3858768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537960" y="405993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7690104" y="4059936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responsive, editorial, legible y rápida</a:t>
            </a:r>
            <a:endParaRPr lang="en-US" sz="1320" dirty="0"/>
          </a:p>
        </p:txBody>
      </p:sp>
      <p:sp>
        <p:nvSpPr>
          <p:cNvPr id="27" name="Shape 24"/>
          <p:cNvSpPr/>
          <p:nvPr/>
        </p:nvSpPr>
        <p:spPr>
          <a:xfrm>
            <a:off x="1078992" y="5230368"/>
            <a:ext cx="9985248" cy="658368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389888" y="5468112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diferencia entre pedir y dirigir: una especificación reduce improvisación.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6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PARA CODEX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 una versión controlada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prompt de demo debe pedir archivos, comportamiento y criterio visual.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1664208"/>
            <a:ext cx="10561320" cy="4343400"/>
          </a:xfrm>
          <a:prstGeom prst="roundRect">
            <a:avLst>
              <a:gd name="adj" fmla="val 2526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70432" y="19568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codex.task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1188720" y="2468880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Crea una landing en Next.js + Tailwind para La Cuenta · Osorno.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1188720" y="2889504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Usa el dataset db_osorno.csv (34 mil filas · ean, producto, marca, super, precio, ahorro_clp, ahorro_pct).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1188720" y="3310128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Incluye hero con dato fuerte, buscador, top de ahorros, comparador y mi lista.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1188720" y="3730752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Mi lista debe permitir agregar productos y mostrar el super donde sale más barato.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1188720" y="4151376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Al armar la lista, calcular el ahorro total respecto al super más caro.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1188720" y="4572000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Estética editorial, sobria, premium, en español de Chile.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6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ESPERADA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queremos ver en la carpeta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demo debe ser simple de abrir y fácil de explicar.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1737360"/>
            <a:ext cx="4517136" cy="4242816"/>
          </a:xfrm>
          <a:prstGeom prst="roundRect">
            <a:avLst>
              <a:gd name="adj" fmla="val 2586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207008" y="1993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la-cuenta/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25296" y="239572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1225296" y="26334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layout.tsx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1225296" y="287121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page.tsx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225296" y="3108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globals.css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1225296" y="334670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1225296" y="35844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Hero.tsx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1225296" y="382219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Search.tsx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1225296" y="405993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List.tsx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1225296" y="429768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lib/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1225296" y="453542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data.ts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1225296" y="477316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public/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1225296" y="501091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db_osorno.csv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1225296" y="524865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tailwind.config.ts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1225296" y="548640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5852160" y="1737360"/>
            <a:ext cx="52303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980176" y="1901952"/>
            <a:ext cx="82296" cy="9692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72784" y="195681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272784" y="2194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Páginas y rutas</a:t>
            </a:r>
            <a:endParaRPr lang="en-US" sz="1720" dirty="0"/>
          </a:p>
        </p:txBody>
      </p:sp>
      <p:sp>
        <p:nvSpPr>
          <p:cNvPr id="29" name="Text 26"/>
          <p:cNvSpPr/>
          <p:nvPr/>
        </p:nvSpPr>
        <p:spPr>
          <a:xfrm>
            <a:off x="6272784" y="2706624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Router de Next.js: layout, page y estilos globales en un solo lugar.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852160" y="3163824"/>
            <a:ext cx="52303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3328416"/>
            <a:ext cx="82296" cy="9692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72784" y="338328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COMPONENTS/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272784" y="36210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Piezas reutilizables</a:t>
            </a:r>
            <a:endParaRPr lang="en-US" sz="1720" dirty="0"/>
          </a:p>
        </p:txBody>
      </p:sp>
      <p:sp>
        <p:nvSpPr>
          <p:cNvPr id="34" name="Text 31"/>
          <p:cNvSpPr/>
          <p:nvPr/>
        </p:nvSpPr>
        <p:spPr>
          <a:xfrm>
            <a:off x="6272784" y="4133088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Hero, buscador y lista. Cada componente hace una cosa bien y se compone con los demás.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852160" y="4590288"/>
            <a:ext cx="52303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980176" y="4754880"/>
            <a:ext cx="82296" cy="9692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72784" y="480974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+ TS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272784" y="50474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Estilos y tipos</a:t>
            </a:r>
            <a:endParaRPr lang="en-US" sz="1720" dirty="0"/>
          </a:p>
        </p:txBody>
      </p:sp>
      <p:sp>
        <p:nvSpPr>
          <p:cNvPr id="39" name="Text 36"/>
          <p:cNvSpPr/>
          <p:nvPr/>
        </p:nvSpPr>
        <p:spPr>
          <a:xfrm>
            <a:off x="6272784" y="5559552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para diseño rápido y consistente. TypeScript para que el editor te avise si te equivocas.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6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FUNCIONAL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momento en que la web produce datos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lista de compras es el puente entre uso real y análisis.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9536" y="1700784"/>
            <a:ext cx="4590288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52144" y="1993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 lista del mes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133856" y="257860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680" dirty="0"/>
          </a:p>
        </p:txBody>
      </p:sp>
      <p:sp>
        <p:nvSpPr>
          <p:cNvPr id="12" name="Shape 9"/>
          <p:cNvSpPr/>
          <p:nvPr/>
        </p:nvSpPr>
        <p:spPr>
          <a:xfrm>
            <a:off x="1133856" y="2761488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43584" y="2871216"/>
            <a:ext cx="1426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Pasta Carozzi 400g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3108960" y="257860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3108960" y="2761488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18688" y="2871216"/>
            <a:ext cx="1426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Carozzi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1133856" y="327355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1133856" y="3456432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43584" y="3566160"/>
            <a:ext cx="1426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Abarrotes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3108960" y="327355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SUPER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3108960" y="3456432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18688" y="3566160"/>
            <a:ext cx="1426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Unimarc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133856" y="396849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>
            <a:off x="1133856" y="4151376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43584" y="4261104"/>
            <a:ext cx="1426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$2.050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3108960" y="396849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3108960" y="4151376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18688" y="4261104"/>
            <a:ext cx="1426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$810 · 28%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1133856" y="5102352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33856" y="5230368"/>
            <a:ext cx="3749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 ahorro total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5687568" y="3493008"/>
            <a:ext cx="6400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6455664" y="2139696"/>
            <a:ext cx="4535424" cy="274320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784848" y="24688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fila de datos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6784848" y="29443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ean | producto | super | precio | ahorro_clp</a:t>
            </a:r>
            <a:endParaRPr lang="en-US" sz="1120" dirty="0"/>
          </a:p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7802575040213 | Pasta Carozzi 400g | Unimarc | 2050 | 810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6784848" y="39684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precio aislado es una observación. Miles de precios muestran patrones de ahorro reales.</a:t>
            </a:r>
            <a:endParaRPr lang="en-US" sz="1040" dirty="0"/>
          </a:p>
        </p:txBody>
      </p:sp>
      <p:sp>
        <p:nvSpPr>
          <p:cNvPr id="36" name="Shape 33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6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laptop-neon-code-open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8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49808" y="888797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47318" y="713232"/>
            <a:ext cx="175565" cy="63642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88720" y="888797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408176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EN VIVO 2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68096" y="142646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construimos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landing.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822960" y="2788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la página, buscar productos, armar lista y ver el super que conviene.</a:t>
            </a:r>
            <a:endParaRPr lang="en-US" sz="1520" dirty="0"/>
          </a:p>
        </p:txBody>
      </p:sp>
      <p:sp>
        <p:nvSpPr>
          <p:cNvPr id="11" name="Shape 7"/>
          <p:cNvSpPr/>
          <p:nvPr/>
        </p:nvSpPr>
        <p:spPr>
          <a:xfrm>
            <a:off x="822960" y="365760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3730752"/>
            <a:ext cx="21488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acción: Codex + navegador</a:t>
            </a:r>
            <a:endParaRPr lang="en-US" sz="840" dirty="0"/>
          </a:p>
        </p:txBody>
      </p:sp>
      <p:sp>
        <p:nvSpPr>
          <p:cNvPr id="13" name="Shape 9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6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 LA DEMO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debe funcionar antes de seguir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esto falla, Power BI no tiene historia que analizar.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1773936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24128" y="1956816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06654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591056" y="19385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591056" y="22128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abre sin romperse.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254496" y="1773936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55664" y="1956816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55664" y="206654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022592" y="19385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022592" y="22128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entiende qué hace la app a primera vista.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822960" y="2852928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24128" y="3035808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" y="314553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591056" y="3017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591056" y="329184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pueden agregar productos y verlos sumarse.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6254496" y="2852928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55664" y="3035808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55664" y="314553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022592" y="3017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Confirmación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7022592" y="329184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recibe respuesta visible.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822960" y="3931920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24128" y="4114800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24128" y="422452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591056" y="40965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591056" y="43708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solicitud queda representada como objeto/fila.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6254496" y="3931920"/>
            <a:ext cx="4956048" cy="749808"/>
          </a:xfrm>
          <a:prstGeom prst="roundRect">
            <a:avLst>
              <a:gd name="adj" fmla="val 14634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455664" y="4114800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55664" y="422452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022592" y="40965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7022592" y="43708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puede explicar en menos de 2 minutos.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6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DEL BLOQUE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web ya puede producir información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vamos a llevar 34 mil precios reales a Power BI para ver patrones.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data-dashboard-monitor.jpg">    </p:cNvPr>
          <p:cNvPicPr>
            <a:picLocks noChangeAspect="1"/>
          </p:cNvPicPr>
          <p:nvPr/>
        </p:nvPicPr>
        <p:blipFill>
          <a:blip r:embed="rId2"/>
          <a:srcRect l="13851" r="13851" t="0" b="0"/>
          <a:stretch/>
        </p:blipFill>
        <p:spPr>
          <a:xfrm>
            <a:off x="786384" y="1719072"/>
            <a:ext cx="4160520" cy="43159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40096" y="1847088"/>
            <a:ext cx="5413248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68112" y="2011680"/>
            <a:ext cx="82296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60720" y="206654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TENEMOS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760720" y="23042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Catálogo + lista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5760720" y="2724912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landing muestra precios y transforma una canasta en datos analizables.</a:t>
            </a:r>
            <a:endParaRPr lang="en-US" sz="940" dirty="0"/>
          </a:p>
        </p:txBody>
      </p:sp>
      <p:sp>
        <p:nvSpPr>
          <p:cNvPr id="15" name="Shape 11"/>
          <p:cNvSpPr/>
          <p:nvPr/>
        </p:nvSpPr>
        <p:spPr>
          <a:xfrm>
            <a:off x="5340096" y="3639312"/>
            <a:ext cx="5413248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68112" y="3803904"/>
            <a:ext cx="82296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60720" y="3858768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DEMO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760720" y="40965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Convertir 34 mil precios en dashboard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5760720" y="4517136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Cargamos el dataset real de Osorno y lo analizamos en Power BI.</a:t>
            </a:r>
            <a:endParaRPr lang="en-US" sz="940" dirty="0"/>
          </a:p>
        </p:txBody>
      </p:sp>
      <p:sp>
        <p:nvSpPr>
          <p:cNvPr id="20" name="Text 16"/>
          <p:cNvSpPr/>
          <p:nvPr/>
        </p:nvSpPr>
        <p:spPr>
          <a:xfrm>
            <a:off x="5376672" y="53218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registramos cada compra y precio, podemos medir el ahorro real de Osorno.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23" name="Shape 19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6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data-dashboard-monitor.jpg">    </p:cNvPr>
          <p:cNvPicPr>
            <a:picLocks noChangeAspect="1"/>
          </p:cNvPicPr>
          <p:nvPr/>
        </p:nvPicPr>
        <p:blipFill>
          <a:blip r:embed="rId1"/>
          <a:srcRect l="18350" r="18350" t="0" b="0"/>
          <a:stretch/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102A43">
              <a:alpha val="5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02368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0" y="310896"/>
            <a:ext cx="128016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31552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69296" y="32004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AIEP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378440" y="57607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superior técnico-profesional</a:t>
            </a:r>
            <a:endParaRPr lang="en-US" sz="380" dirty="0"/>
          </a:p>
        </p:txBody>
      </p:sp>
      <p:sp>
        <p:nvSpPr>
          <p:cNvPr id="9" name="Shape 6"/>
          <p:cNvSpPr/>
          <p:nvPr/>
        </p:nvSpPr>
        <p:spPr>
          <a:xfrm>
            <a:off x="786384" y="1031443"/>
            <a:ext cx="142646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0354" y="841248"/>
            <a:ext cx="190195" cy="6894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61872" y="1031443"/>
            <a:ext cx="142646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81328" y="8229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" y="1572768"/>
            <a:ext cx="5303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precios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decisiones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822960" y="30540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el comparador empieza a hablar con datos: supermercados, marcas, ahorro y categorías.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22960" y="3767328"/>
            <a:ext cx="2852928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840480"/>
            <a:ext cx="2670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minutos · dataset + Power BI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3858768" y="3749040"/>
            <a:ext cx="148132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8E4E5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pic>
        <p:nvPicPr>
          <p:cNvPr id="18" name="Image 1" descr="C:\Users\Diego Obando\dev\pro301-taller-de-aplicaciones-para-internet\clases-particulares\01_charla_4to_medio\ppt\source\assets\logos\powerbi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6784" y="379476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79392" y="3858768"/>
            <a:ext cx="768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22960" y="526694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precios reales podemos medir cuál super conviene, en qué categoría y cuánto se ahorra.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6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ABRIR POWER BI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no son los gráficos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real es que los datos suelen estar dispersos, desordenados y difíciles de leer.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logos\powerbi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824" y="1792224"/>
            <a:ext cx="658368" cy="6583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65376" y="1627632"/>
            <a:ext cx="2743200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103120" y="190195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2" name="Text 8"/>
          <p:cNvSpPr/>
          <p:nvPr/>
        </p:nvSpPr>
        <p:spPr>
          <a:xfrm>
            <a:off x="2103120" y="21945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repartidos</a:t>
            </a:r>
            <a:endParaRPr lang="en-US" sz="1720" dirty="0"/>
          </a:p>
        </p:txBody>
      </p:sp>
      <p:sp>
        <p:nvSpPr>
          <p:cNvPr id="13" name="Text 9"/>
          <p:cNvSpPr/>
          <p:nvPr/>
        </p:nvSpPr>
        <p:spPr>
          <a:xfrm>
            <a:off x="2103120" y="27614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 en sitios distintos: Unimarc, Jumbo, Lider, Alvi, SantaIsabel.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5029200" y="1627632"/>
            <a:ext cx="2743200" cy="1883664"/>
          </a:xfrm>
          <a:prstGeom prst="roundRect">
            <a:avLst>
              <a:gd name="adj" fmla="val 582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266944" y="190195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16" name="Text 12"/>
          <p:cNvSpPr/>
          <p:nvPr/>
        </p:nvSpPr>
        <p:spPr>
          <a:xfrm>
            <a:off x="5266944" y="21945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Poca lectura</a:t>
            </a:r>
            <a:endParaRPr lang="en-US" sz="1720" dirty="0"/>
          </a:p>
        </p:txBody>
      </p:sp>
      <p:sp>
        <p:nvSpPr>
          <p:cNvPr id="17" name="Text 13"/>
          <p:cNvSpPr/>
          <p:nvPr/>
        </p:nvSpPr>
        <p:spPr>
          <a:xfrm>
            <a:off x="5266944" y="27614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números, pero cuesta entender qué significan.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8193024" y="1627632"/>
            <a:ext cx="2743200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430768" y="190195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0" name="Text 16"/>
          <p:cNvSpPr/>
          <p:nvPr/>
        </p:nvSpPr>
        <p:spPr>
          <a:xfrm>
            <a:off x="8430768" y="21945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Decisiones lentas</a:t>
            </a:r>
            <a:endParaRPr lang="en-US" sz="1720" dirty="0"/>
          </a:p>
        </p:txBody>
      </p:sp>
      <p:sp>
        <p:nvSpPr>
          <p:cNvPr id="21" name="Text 17"/>
          <p:cNvSpPr/>
          <p:nvPr/>
        </p:nvSpPr>
        <p:spPr>
          <a:xfrm>
            <a:off x="8430768" y="27614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negocio decide tarde porque no ve patrones a tiempo.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932688" y="4334256"/>
            <a:ext cx="10222992" cy="1005840"/>
          </a:xfrm>
          <a:prstGeom prst="roundRect">
            <a:avLst>
              <a:gd name="adj" fmla="val 1090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353312" y="4645152"/>
            <a:ext cx="9345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existe para acortar la distancia entre tener datos y entender qué hacer con ellos.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6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 POWER BI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herramienta de inteligencia de negocios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conectar datos, prepararlos, visualizarlos y compartir lecturas para decidir mejor.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96112" y="1700784"/>
            <a:ext cx="2999232" cy="3584448"/>
          </a:xfrm>
          <a:prstGeom prst="roundRect">
            <a:avLst>
              <a:gd name="adj" fmla="val 365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pic>
        <p:nvPicPr>
          <p:cNvPr id="10" name="Image 1" descr="C:\Users\Diego Obando\dev\pro301-taller-de-aplicaciones-para-internet\clases-particulares\01_charla_4to_medio\ppt\source\assets\logos\powerbi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1680" y="1993392"/>
            <a:ext cx="749808" cy="7498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296" y="303580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Intelligence</a:t>
            </a:r>
            <a:endParaRPr lang="en-US" sz="1760" dirty="0"/>
          </a:p>
        </p:txBody>
      </p:sp>
      <p:sp>
        <p:nvSpPr>
          <p:cNvPr id="12" name="Text 8"/>
          <p:cNvSpPr/>
          <p:nvPr/>
        </p:nvSpPr>
        <p:spPr>
          <a:xfrm>
            <a:off x="1225296" y="360273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datos operativos en información útil para el negocio.</a:t>
            </a:r>
            <a:endParaRPr lang="en-US" sz="1120" dirty="0"/>
          </a:p>
        </p:txBody>
      </p:sp>
      <p:sp>
        <p:nvSpPr>
          <p:cNvPr id="13" name="Shape 9"/>
          <p:cNvSpPr/>
          <p:nvPr/>
        </p:nvSpPr>
        <p:spPr>
          <a:xfrm>
            <a:off x="4261104" y="1792224"/>
            <a:ext cx="3035808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89120" y="1956816"/>
            <a:ext cx="82296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45152" y="201168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645152" y="224942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45152" y="25786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Traer datos desde Excel, CSV, bases de datos, web o servicios.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7680960" y="1792224"/>
            <a:ext cx="3035808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808976" y="1956816"/>
            <a:ext cx="82296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065008" y="201168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8065008" y="224942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Preparar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8065008" y="25786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Limpiar columnas, ordenar campos y crear relaciones simples.</a:t>
            </a:r>
            <a:endParaRPr lang="en-US" sz="880" dirty="0"/>
          </a:p>
        </p:txBody>
      </p:sp>
      <p:sp>
        <p:nvSpPr>
          <p:cNvPr id="23" name="Shape 19"/>
          <p:cNvSpPr/>
          <p:nvPr/>
        </p:nvSpPr>
        <p:spPr>
          <a:xfrm>
            <a:off x="4261104" y="3456432"/>
            <a:ext cx="3035808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389120" y="3621024"/>
            <a:ext cx="82296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45152" y="367588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645152" y="39136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Visualizar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4645152" y="42428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KPIs, gráficos, filtros y páginas de análisis.</a:t>
            </a:r>
            <a:endParaRPr lang="en-US" sz="880" dirty="0"/>
          </a:p>
        </p:txBody>
      </p:sp>
      <p:sp>
        <p:nvSpPr>
          <p:cNvPr id="28" name="Shape 24"/>
          <p:cNvSpPr/>
          <p:nvPr/>
        </p:nvSpPr>
        <p:spPr>
          <a:xfrm>
            <a:off x="7680960" y="3456432"/>
            <a:ext cx="3035808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808976" y="3621024"/>
            <a:ext cx="82296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065008" y="367588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8065008" y="39136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Compartir</a:t>
            </a:r>
            <a:endParaRPr lang="en-US" sz="1700" dirty="0"/>
          </a:p>
        </p:txBody>
      </p:sp>
      <p:sp>
        <p:nvSpPr>
          <p:cNvPr id="32" name="Text 28"/>
          <p:cNvSpPr/>
          <p:nvPr/>
        </p:nvSpPr>
        <p:spPr>
          <a:xfrm>
            <a:off x="8065008" y="42428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Publicar lecturas para que otras personas puedan decidir.</a:t>
            </a:r>
            <a:endParaRPr lang="en-US" sz="880" dirty="0"/>
          </a:p>
        </p:txBody>
      </p:sp>
      <p:sp>
        <p:nvSpPr>
          <p:cNvPr id="33" name="Text 29"/>
          <p:cNvSpPr/>
          <p:nvPr/>
        </p:nvSpPr>
        <p:spPr>
          <a:xfrm>
            <a:off x="4425696" y="524865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reemplaza el criterio: lo vuelve visible y discutible.</a:t>
            </a:r>
            <a:endParaRPr lang="en-US" sz="1740" dirty="0"/>
          </a:p>
        </p:txBody>
      </p:sp>
      <p:sp>
        <p:nvSpPr>
          <p:cNvPr id="34" name="Shape 30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6" name="Shape 32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6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QUÉ SIRVE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operación diaria a tablero de decisiones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ayuda a mirar el negocio desde distintas preguntas, no desde una tabla interminable.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1755648"/>
            <a:ext cx="3090672" cy="3273552"/>
          </a:xfrm>
          <a:prstGeom prst="roundRect">
            <a:avLst>
              <a:gd name="adj" fmla="val 35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52144" y="2139696"/>
            <a:ext cx="91440" cy="24688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11" name="Image 1" descr="C:\Users\Diego Obando\dev\pro301-taller-de-aplicaciones-para-internet\clases-particulares\01_charla_4to_medio\ppt\source\assets\logos\powerbi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8256" y="2084832"/>
            <a:ext cx="713232" cy="7132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44752" y="30723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tablero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389888" y="358444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mirar el negocio desde varios ángulos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1316736" y="4315968"/>
            <a:ext cx="2139696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408176" y="4389120"/>
            <a:ext cx="19568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-&gt; preguntas -&gt; decisiones</a:t>
            </a:r>
            <a:endParaRPr lang="en-US" sz="840" dirty="0"/>
          </a:p>
        </p:txBody>
      </p:sp>
      <p:sp>
        <p:nvSpPr>
          <p:cNvPr id="16" name="Text 12"/>
          <p:cNvSpPr/>
          <p:nvPr/>
        </p:nvSpPr>
        <p:spPr>
          <a:xfrm>
            <a:off x="4352544" y="1773936"/>
            <a:ext cx="2688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OPERATIVA</a:t>
            </a:r>
            <a:endParaRPr lang="en-US" sz="820" dirty="0"/>
          </a:p>
        </p:txBody>
      </p:sp>
      <p:sp>
        <p:nvSpPr>
          <p:cNvPr id="17" name="Shape 13"/>
          <p:cNvSpPr/>
          <p:nvPr/>
        </p:nvSpPr>
        <p:spPr>
          <a:xfrm>
            <a:off x="4352544" y="2176272"/>
            <a:ext cx="276148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35424" y="2322576"/>
            <a:ext cx="6400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36592" y="2322576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super</a:t>
            </a:r>
            <a:endParaRPr lang="en-US" sz="1220" dirty="0"/>
          </a:p>
        </p:txBody>
      </p:sp>
      <p:sp>
        <p:nvSpPr>
          <p:cNvPr id="20" name="Text 16"/>
          <p:cNvSpPr/>
          <p:nvPr/>
        </p:nvSpPr>
        <p:spPr>
          <a:xfrm>
            <a:off x="4736592" y="2560320"/>
            <a:ext cx="2103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super es el más barato esta semana?</a:t>
            </a:r>
            <a:endParaRPr lang="en-US" sz="790" dirty="0"/>
          </a:p>
        </p:txBody>
      </p:sp>
      <p:sp>
        <p:nvSpPr>
          <p:cNvPr id="21" name="Shape 17"/>
          <p:cNvSpPr/>
          <p:nvPr/>
        </p:nvSpPr>
        <p:spPr>
          <a:xfrm>
            <a:off x="4352544" y="3035808"/>
            <a:ext cx="2761488" cy="658368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35424" y="3182112"/>
            <a:ext cx="6400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36592" y="3182112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categoría</a:t>
            </a:r>
            <a:endParaRPr lang="en-US" sz="1220" dirty="0"/>
          </a:p>
        </p:txBody>
      </p:sp>
      <p:sp>
        <p:nvSpPr>
          <p:cNvPr id="24" name="Text 20"/>
          <p:cNvSpPr/>
          <p:nvPr/>
        </p:nvSpPr>
        <p:spPr>
          <a:xfrm>
            <a:off x="4736592" y="3419856"/>
            <a:ext cx="2103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se concentra el mayor ahorro?</a:t>
            </a:r>
            <a:endParaRPr lang="en-US" sz="790" dirty="0"/>
          </a:p>
        </p:txBody>
      </p:sp>
      <p:sp>
        <p:nvSpPr>
          <p:cNvPr id="25" name="Shape 21"/>
          <p:cNvSpPr/>
          <p:nvPr/>
        </p:nvSpPr>
        <p:spPr>
          <a:xfrm>
            <a:off x="4352544" y="3895344"/>
            <a:ext cx="276148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535424" y="4041648"/>
            <a:ext cx="6400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36592" y="404164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marca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4736592" y="4279392"/>
            <a:ext cx="2103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marcas son más baratas en cada super?</a:t>
            </a:r>
            <a:endParaRPr lang="en-US" sz="790" dirty="0"/>
          </a:p>
        </p:txBody>
      </p:sp>
      <p:sp>
        <p:nvSpPr>
          <p:cNvPr id="29" name="Text 25"/>
          <p:cNvSpPr/>
          <p:nvPr/>
        </p:nvSpPr>
        <p:spPr>
          <a:xfrm>
            <a:off x="7863840" y="1773936"/>
            <a:ext cx="2688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COMERCIAL</a:t>
            </a:r>
            <a:endParaRPr lang="en-US" sz="820" dirty="0"/>
          </a:p>
        </p:txBody>
      </p:sp>
      <p:sp>
        <p:nvSpPr>
          <p:cNvPr id="30" name="Shape 26"/>
          <p:cNvSpPr/>
          <p:nvPr/>
        </p:nvSpPr>
        <p:spPr>
          <a:xfrm>
            <a:off x="7863840" y="2176272"/>
            <a:ext cx="276148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046720" y="2322576"/>
            <a:ext cx="64008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247888" y="2322576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Canasta</a:t>
            </a:r>
            <a:endParaRPr lang="en-US" sz="1220" dirty="0"/>
          </a:p>
        </p:txBody>
      </p:sp>
      <p:sp>
        <p:nvSpPr>
          <p:cNvPr id="33" name="Text 29"/>
          <p:cNvSpPr/>
          <p:nvPr/>
        </p:nvSpPr>
        <p:spPr>
          <a:xfrm>
            <a:off x="8247888" y="2560320"/>
            <a:ext cx="2103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cuesta lo esencial en cada super?</a:t>
            </a:r>
            <a:endParaRPr lang="en-US" sz="790" dirty="0"/>
          </a:p>
        </p:txBody>
      </p:sp>
      <p:sp>
        <p:nvSpPr>
          <p:cNvPr id="34" name="Shape 30"/>
          <p:cNvSpPr/>
          <p:nvPr/>
        </p:nvSpPr>
        <p:spPr>
          <a:xfrm>
            <a:off x="7863840" y="3035808"/>
            <a:ext cx="2761488" cy="658368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8046720" y="3182112"/>
            <a:ext cx="64008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247888" y="3182112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Variación</a:t>
            </a:r>
            <a:endParaRPr lang="en-US" sz="1220" dirty="0"/>
          </a:p>
        </p:txBody>
      </p:sp>
      <p:sp>
        <p:nvSpPr>
          <p:cNvPr id="37" name="Text 33"/>
          <p:cNvSpPr/>
          <p:nvPr/>
        </p:nvSpPr>
        <p:spPr>
          <a:xfrm>
            <a:off x="8247888" y="3419856"/>
            <a:ext cx="2103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productos cambian más de precio?</a:t>
            </a:r>
            <a:endParaRPr lang="en-US" sz="790" dirty="0"/>
          </a:p>
        </p:txBody>
      </p:sp>
      <p:sp>
        <p:nvSpPr>
          <p:cNvPr id="38" name="Shape 34"/>
          <p:cNvSpPr/>
          <p:nvPr/>
        </p:nvSpPr>
        <p:spPr>
          <a:xfrm>
            <a:off x="7863840" y="3895344"/>
            <a:ext cx="276148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8046720" y="4041648"/>
            <a:ext cx="64008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247888" y="404164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Estrategia</a:t>
            </a:r>
            <a:endParaRPr lang="en-US" sz="1220" dirty="0"/>
          </a:p>
        </p:txBody>
      </p:sp>
      <p:sp>
        <p:nvSpPr>
          <p:cNvPr id="41" name="Text 37"/>
          <p:cNvSpPr/>
          <p:nvPr/>
        </p:nvSpPr>
        <p:spPr>
          <a:xfrm>
            <a:off x="8247888" y="4279392"/>
            <a:ext cx="2103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¿Conviene partir la compra entre dos super?</a:t>
            </a:r>
            <a:endParaRPr lang="en-US" sz="790" dirty="0"/>
          </a:p>
        </p:txBody>
      </p:sp>
      <p:sp>
        <p:nvSpPr>
          <p:cNvPr id="42" name="Shape 38"/>
          <p:cNvSpPr/>
          <p:nvPr/>
        </p:nvSpPr>
        <p:spPr>
          <a:xfrm>
            <a:off x="3931920" y="2816352"/>
            <a:ext cx="29260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3931920" y="3657600"/>
            <a:ext cx="29260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44" name="Shape 40"/>
          <p:cNvSpPr/>
          <p:nvPr/>
        </p:nvSpPr>
        <p:spPr>
          <a:xfrm>
            <a:off x="1024128" y="5321808"/>
            <a:ext cx="10003536" cy="530352"/>
          </a:xfrm>
          <a:prstGeom prst="roundRect">
            <a:avLst>
              <a:gd name="adj" fmla="val 2069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371600" y="5504688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la charla lo usaremos con precios reales de Osorno, pero la lógica sirve para cualquier negocio con datos.</a:t>
            </a:r>
            <a:endParaRPr lang="en-US" sz="1460" dirty="0"/>
          </a:p>
        </p:txBody>
      </p:sp>
      <p:sp>
        <p:nvSpPr>
          <p:cNvPr id="46" name="Shape 42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48" name="Shape 44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6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CENTRAL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dashboard no es una lámina bonita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buen dashboard traduce datos en señales: algo que puedo mirar, comparar y actuar.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6384" y="1920240"/>
            <a:ext cx="2487168" cy="1938528"/>
          </a:xfrm>
          <a:prstGeom prst="roundRect">
            <a:avLst>
              <a:gd name="adj" fmla="val 566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87552" y="2157984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226771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87552" y="27249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1024128" y="314553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 individual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1024128" y="341985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Pasta Carozzi · Unimarc · $2.050</a:t>
            </a:r>
            <a:endParaRPr lang="en-US" sz="810" dirty="0"/>
          </a:p>
        </p:txBody>
      </p:sp>
      <p:sp>
        <p:nvSpPr>
          <p:cNvPr id="15" name="Shape 12"/>
          <p:cNvSpPr/>
          <p:nvPr/>
        </p:nvSpPr>
        <p:spPr>
          <a:xfrm>
            <a:off x="3310128" y="2889504"/>
            <a:ext cx="20116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575304" y="1920240"/>
            <a:ext cx="2487168" cy="1938528"/>
          </a:xfrm>
          <a:prstGeom prst="roundRect">
            <a:avLst>
              <a:gd name="adj" fmla="val 5660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76472" y="2157984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76472" y="226771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776472" y="27249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Indicador</a:t>
            </a:r>
            <a:endParaRPr lang="en-US" sz="1680" dirty="0"/>
          </a:p>
        </p:txBody>
      </p:sp>
      <p:sp>
        <p:nvSpPr>
          <p:cNvPr id="20" name="Text 17"/>
          <p:cNvSpPr/>
          <p:nvPr/>
        </p:nvSpPr>
        <p:spPr>
          <a:xfrm>
            <a:off x="3813048" y="314553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medible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3813048" y="341985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34.398 precios · 6 supermercados</a:t>
            </a:r>
            <a:endParaRPr lang="en-US" sz="810" dirty="0"/>
          </a:p>
        </p:txBody>
      </p:sp>
      <p:sp>
        <p:nvSpPr>
          <p:cNvPr id="22" name="Shape 19"/>
          <p:cNvSpPr/>
          <p:nvPr/>
        </p:nvSpPr>
        <p:spPr>
          <a:xfrm>
            <a:off x="6099048" y="2889504"/>
            <a:ext cx="20116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364224" y="1920240"/>
            <a:ext cx="2487168" cy="1938528"/>
          </a:xfrm>
          <a:prstGeom prst="roundRect">
            <a:avLst>
              <a:gd name="adj" fmla="val 566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65392" y="2157984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65392" y="226771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565392" y="27249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Patrón</a:t>
            </a:r>
            <a:endParaRPr lang="en-US" sz="1680" dirty="0"/>
          </a:p>
        </p:txBody>
      </p:sp>
      <p:sp>
        <p:nvSpPr>
          <p:cNvPr id="27" name="Text 24"/>
          <p:cNvSpPr/>
          <p:nvPr/>
        </p:nvSpPr>
        <p:spPr>
          <a:xfrm>
            <a:off x="6601968" y="314553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visible</a:t>
            </a:r>
            <a:endParaRPr lang="en-US" sz="920" dirty="0"/>
          </a:p>
        </p:txBody>
      </p:sp>
      <p:sp>
        <p:nvSpPr>
          <p:cNvPr id="28" name="Text 25"/>
          <p:cNvSpPr/>
          <p:nvPr/>
        </p:nvSpPr>
        <p:spPr>
          <a:xfrm>
            <a:off x="6601968" y="341985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Unimarc lidera abarrotes · Jumbo en lácteos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8887968" y="2889504"/>
            <a:ext cx="20116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153144" y="1920240"/>
            <a:ext cx="2487168" cy="1938528"/>
          </a:xfrm>
          <a:prstGeom prst="roundRect">
            <a:avLst>
              <a:gd name="adj" fmla="val 566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354312" y="2157984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354312" y="226771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9354312" y="27249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</a:t>
            </a:r>
            <a:endParaRPr lang="en-US" sz="1680" dirty="0"/>
          </a:p>
        </p:txBody>
      </p:sp>
      <p:sp>
        <p:nvSpPr>
          <p:cNvPr id="34" name="Text 31"/>
          <p:cNvSpPr/>
          <p:nvPr/>
        </p:nvSpPr>
        <p:spPr>
          <a:xfrm>
            <a:off x="9390888" y="314553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concreta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9390888" y="341985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Comprar abarrotes en X y lácteos en Y</a:t>
            </a:r>
            <a:endParaRPr lang="en-US" sz="810" dirty="0"/>
          </a:p>
        </p:txBody>
      </p:sp>
      <p:sp>
        <p:nvSpPr>
          <p:cNvPr id="36" name="Text 33"/>
          <p:cNvSpPr/>
          <p:nvPr/>
        </p:nvSpPr>
        <p:spPr>
          <a:xfrm>
            <a:off x="1078992" y="508406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herramienta existe porque las organizaciones no necesitan solo guardar datos: necesitan entenderlos rápido.</a:t>
            </a:r>
            <a:endParaRPr lang="en-US" sz="1820" dirty="0"/>
          </a:p>
        </p:txBody>
      </p:sp>
      <p:sp>
        <p:nvSpPr>
          <p:cNvPr id="37" name="Shape 34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9" name="Shape 36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6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EN SIMPLE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tabla a conversación de negocio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herramienta conecta datos, visualizaciones y decisiones en un mismo lugar.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logos\powerbi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1847088"/>
            <a:ext cx="768096" cy="7680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901952" y="1664208"/>
            <a:ext cx="2761488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029968" y="1828800"/>
            <a:ext cx="82296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12848" y="1883664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DATOS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212848" y="212140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Importar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2212848" y="245059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con 34 mil precios reales: producto, marca, super, ahorro.</a:t>
            </a:r>
            <a:endParaRPr lang="en-US" sz="840" dirty="0"/>
          </a:p>
        </p:txBody>
      </p:sp>
      <p:sp>
        <p:nvSpPr>
          <p:cNvPr id="15" name="Shape 11"/>
          <p:cNvSpPr/>
          <p:nvPr/>
        </p:nvSpPr>
        <p:spPr>
          <a:xfrm>
            <a:off x="4828032" y="2212848"/>
            <a:ext cx="40233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340096" y="1664208"/>
            <a:ext cx="2761488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68112" y="1828800"/>
            <a:ext cx="82296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50992" y="1883664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MODELO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650992" y="212140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Ordenar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5650992" y="245059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campos: producto, marca, super, categoría y ahorro.</a:t>
            </a:r>
            <a:endParaRPr lang="en-US" sz="840" dirty="0"/>
          </a:p>
        </p:txBody>
      </p:sp>
      <p:sp>
        <p:nvSpPr>
          <p:cNvPr id="21" name="Shape 17"/>
          <p:cNvSpPr/>
          <p:nvPr/>
        </p:nvSpPr>
        <p:spPr>
          <a:xfrm>
            <a:off x="8266176" y="2212848"/>
            <a:ext cx="40233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778240" y="1664208"/>
            <a:ext cx="2615184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906256" y="1828800"/>
            <a:ext cx="82296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089136" y="1883664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VISUAL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9089136" y="212140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</a:t>
            </a:r>
            <a:endParaRPr lang="en-US" sz="1650" dirty="0"/>
          </a:p>
        </p:txBody>
      </p:sp>
      <p:sp>
        <p:nvSpPr>
          <p:cNvPr id="26" name="Text 22"/>
          <p:cNvSpPr/>
          <p:nvPr/>
        </p:nvSpPr>
        <p:spPr>
          <a:xfrm>
            <a:off x="9089136" y="245059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Gráficos, filtros y KPIs que resumen lo importante.</a:t>
            </a:r>
            <a:endParaRPr lang="en-US" sz="840" dirty="0"/>
          </a:p>
        </p:txBody>
      </p:sp>
      <p:sp>
        <p:nvSpPr>
          <p:cNvPr id="27" name="Shape 23"/>
          <p:cNvSpPr/>
          <p:nvPr/>
        </p:nvSpPr>
        <p:spPr>
          <a:xfrm>
            <a:off x="932688" y="3730752"/>
            <a:ext cx="10277856" cy="1207008"/>
          </a:xfrm>
          <a:prstGeom prst="roundRect">
            <a:avLst>
              <a:gd name="adj" fmla="val 909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1298448" y="4041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no es solo “hacer gráficos”.</a:t>
            </a:r>
            <a:endParaRPr lang="en-US" sz="1900" dirty="0"/>
          </a:p>
        </p:txBody>
      </p:sp>
      <p:sp>
        <p:nvSpPr>
          <p:cNvPr id="29" name="Text 25"/>
          <p:cNvSpPr/>
          <p:nvPr/>
        </p:nvSpPr>
        <p:spPr>
          <a:xfrm>
            <a:off x="1298448" y="4462272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forma de transformar registros sueltos en lectura de negocio: qué pasa, dónde pasa y qué conviene hacer.</a:t>
            </a:r>
            <a:endParaRPr lang="en-US" sz="1080" dirty="0"/>
          </a:p>
        </p:txBody>
      </p:sp>
      <p:sp>
        <p:nvSpPr>
          <p:cNvPr id="30" name="Text 26"/>
          <p:cNvSpPr/>
          <p:nvPr/>
        </p:nvSpPr>
        <p:spPr>
          <a:xfrm>
            <a:off x="932688" y="546811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esta demo: precios reales de Osorno -&gt; dashboard -&gt; decisión de compra.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3" name="Shape 29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6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REALES DE OSORNO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34.398 precios scrapeados de 6 supermercados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fila muestra un caso. Miles de filas muestran patrones reales.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1792224"/>
            <a:ext cx="4956048" cy="1225296"/>
          </a:xfrm>
          <a:prstGeom prst="roundRect">
            <a:avLst>
              <a:gd name="adj" fmla="val 895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24712" y="1993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Pasta Carozzi 400g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1856232" y="19568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Unimarc</a:t>
            </a:r>
            <a:endParaRPr lang="en-US" sz="1520" dirty="0"/>
          </a:p>
        </p:txBody>
      </p:sp>
      <p:sp>
        <p:nvSpPr>
          <p:cNvPr id="12" name="Shape 9"/>
          <p:cNvSpPr/>
          <p:nvPr/>
        </p:nvSpPr>
        <p:spPr>
          <a:xfrm>
            <a:off x="4361688" y="1938528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53128" y="2011680"/>
            <a:ext cx="10241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barato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1124712" y="239572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Abarrotes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3483864" y="239572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Precio: $2.050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1124712" y="2724912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ahorras $810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6245352" y="1792224"/>
            <a:ext cx="4956048" cy="1225296"/>
          </a:xfrm>
          <a:prstGeom prst="roundRect">
            <a:avLst>
              <a:gd name="adj" fmla="val 8955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01384" y="1993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Pasta Carozzi 400g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7232904" y="19568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Jumbo</a:t>
            </a:r>
            <a:endParaRPr lang="en-US" sz="1520" dirty="0"/>
          </a:p>
        </p:txBody>
      </p:sp>
      <p:sp>
        <p:nvSpPr>
          <p:cNvPr id="20" name="Shape 17"/>
          <p:cNvSpPr/>
          <p:nvPr/>
        </p:nvSpPr>
        <p:spPr>
          <a:xfrm>
            <a:off x="9738360" y="1938528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29800" y="2011680"/>
            <a:ext cx="10241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caro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6501384" y="239572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Abarrotes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8860536" y="239572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Precio: $2.860</a:t>
            </a:r>
            <a:endParaRPr lang="en-US" sz="940" dirty="0"/>
          </a:p>
        </p:txBody>
      </p:sp>
      <p:sp>
        <p:nvSpPr>
          <p:cNvPr id="24" name="Text 21"/>
          <p:cNvSpPr/>
          <p:nvPr/>
        </p:nvSpPr>
        <p:spPr>
          <a:xfrm>
            <a:off x="6501384" y="2724912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868680" y="3474720"/>
            <a:ext cx="4956048" cy="1225296"/>
          </a:xfrm>
          <a:prstGeom prst="roundRect">
            <a:avLst>
              <a:gd name="adj" fmla="val 895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124712" y="367588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Coca Cola 1.5L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1856232" y="36393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Lider</a:t>
            </a:r>
            <a:endParaRPr lang="en-US" sz="1520" dirty="0"/>
          </a:p>
        </p:txBody>
      </p:sp>
      <p:sp>
        <p:nvSpPr>
          <p:cNvPr id="28" name="Shape 25"/>
          <p:cNvSpPr/>
          <p:nvPr/>
        </p:nvSpPr>
        <p:spPr>
          <a:xfrm>
            <a:off x="4361688" y="3621024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53128" y="3694176"/>
            <a:ext cx="10241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barato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1124712" y="4078224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Bebidas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483864" y="4078224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Precio: $1.690</a:t>
            </a:r>
            <a:endParaRPr lang="en-US" sz="940" dirty="0"/>
          </a:p>
        </p:txBody>
      </p:sp>
      <p:sp>
        <p:nvSpPr>
          <p:cNvPr id="32" name="Text 29"/>
          <p:cNvSpPr/>
          <p:nvPr/>
        </p:nvSpPr>
        <p:spPr>
          <a:xfrm>
            <a:off x="1124712" y="4407408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ahorras $310</a:t>
            </a:r>
            <a:endParaRPr lang="en-US" sz="870" dirty="0"/>
          </a:p>
        </p:txBody>
      </p:sp>
      <p:sp>
        <p:nvSpPr>
          <p:cNvPr id="33" name="Shape 30"/>
          <p:cNvSpPr/>
          <p:nvPr/>
        </p:nvSpPr>
        <p:spPr>
          <a:xfrm>
            <a:off x="6245352" y="3474720"/>
            <a:ext cx="4956048" cy="1225296"/>
          </a:xfrm>
          <a:prstGeom prst="roundRect">
            <a:avLst>
              <a:gd name="adj" fmla="val 8955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501384" y="367588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Aceite Maravilla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7232904" y="36393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Alvi</a:t>
            </a:r>
            <a:endParaRPr lang="en-US" sz="1520" dirty="0"/>
          </a:p>
        </p:txBody>
      </p:sp>
      <p:sp>
        <p:nvSpPr>
          <p:cNvPr id="36" name="Shape 33"/>
          <p:cNvSpPr/>
          <p:nvPr/>
        </p:nvSpPr>
        <p:spPr>
          <a:xfrm>
            <a:off x="9738360" y="3621024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29800" y="3694176"/>
            <a:ext cx="10241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barato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6501384" y="4078224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Abarrotes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8860536" y="4078224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Precio: $2.490</a:t>
            </a:r>
            <a:endParaRPr lang="en-US" sz="940" dirty="0"/>
          </a:p>
        </p:txBody>
      </p:sp>
      <p:sp>
        <p:nvSpPr>
          <p:cNvPr id="40" name="Text 37"/>
          <p:cNvSpPr/>
          <p:nvPr/>
        </p:nvSpPr>
        <p:spPr>
          <a:xfrm>
            <a:off x="6501384" y="4407408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ahorras $640</a:t>
            </a:r>
            <a:endParaRPr lang="en-US" sz="870" dirty="0"/>
          </a:p>
        </p:txBody>
      </p:sp>
      <p:sp>
        <p:nvSpPr>
          <p:cNvPr id="41" name="Text 38"/>
          <p:cNvSpPr/>
          <p:nvPr/>
        </p:nvSpPr>
        <p:spPr>
          <a:xfrm>
            <a:off x="1097280" y="523036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campo clave es ahorro_clp: revela cuánto cuesta NO comparar antes de comprar.</a:t>
            </a:r>
            <a:endParaRPr lang="en-US" sz="1520" dirty="0"/>
          </a:p>
        </p:txBody>
      </p:sp>
      <p:sp>
        <p:nvSpPr>
          <p:cNvPr id="42" name="Shape 39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6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NEGOCIO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puede descubrir el dashboard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no es decoración: responde preguntas concretas del negocio.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1755648"/>
            <a:ext cx="4956048" cy="1207008"/>
          </a:xfrm>
          <a:prstGeom prst="roundRect">
            <a:avLst>
              <a:gd name="adj" fmla="val 909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15568" y="2084832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194560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00784" y="2048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700784" y="243230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super es el más barato en abarrotes?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6254496" y="1755648"/>
            <a:ext cx="4956048" cy="1207008"/>
          </a:xfrm>
          <a:prstGeom prst="roundRect">
            <a:avLst>
              <a:gd name="adj" fmla="val 9091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47104" y="2084832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47104" y="2194560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132320" y="2048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Categoría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132320" y="243230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hay mayor diferencia: bebidas, lácteos, abarrotes?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822960" y="3145536"/>
            <a:ext cx="4956048" cy="1207008"/>
          </a:xfrm>
          <a:prstGeom prst="roundRect">
            <a:avLst>
              <a:gd name="adj" fmla="val 909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115568" y="3474720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" y="358444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700784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Marca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700784" y="382219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marcas son las más baratas en cada super?</a:t>
            </a:r>
            <a:endParaRPr lang="en-US" sz="1160" dirty="0"/>
          </a:p>
        </p:txBody>
      </p:sp>
      <p:sp>
        <p:nvSpPr>
          <p:cNvPr id="24" name="Shape 21"/>
          <p:cNvSpPr/>
          <p:nvPr/>
        </p:nvSpPr>
        <p:spPr>
          <a:xfrm>
            <a:off x="6254496" y="3145536"/>
            <a:ext cx="4956048" cy="1207008"/>
          </a:xfrm>
          <a:prstGeom prst="roundRect">
            <a:avLst>
              <a:gd name="adj" fmla="val 9091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547104" y="3474720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47104" y="358444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13232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Variación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7132320" y="382219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productos cambian más de precio?</a:t>
            </a:r>
            <a:endParaRPr lang="en-US" sz="1160" dirty="0"/>
          </a:p>
        </p:txBody>
      </p:sp>
      <p:sp>
        <p:nvSpPr>
          <p:cNvPr id="29" name="Shape 26"/>
          <p:cNvSpPr/>
          <p:nvPr/>
        </p:nvSpPr>
        <p:spPr>
          <a:xfrm>
            <a:off x="822960" y="4535424"/>
            <a:ext cx="4956048" cy="1207008"/>
          </a:xfrm>
          <a:prstGeom prst="roundRect">
            <a:avLst>
              <a:gd name="adj" fmla="val 909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115568" y="4864608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15568" y="497433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700784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Canasta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1700784" y="521208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cuesta lo esencial en cada super?</a:t>
            </a:r>
            <a:endParaRPr lang="en-US" sz="1160" dirty="0"/>
          </a:p>
        </p:txBody>
      </p:sp>
      <p:sp>
        <p:nvSpPr>
          <p:cNvPr id="34" name="Shape 31"/>
          <p:cNvSpPr/>
          <p:nvPr/>
        </p:nvSpPr>
        <p:spPr>
          <a:xfrm>
            <a:off x="6254496" y="4535424"/>
            <a:ext cx="4956048" cy="1207008"/>
          </a:xfrm>
          <a:prstGeom prst="roundRect">
            <a:avLst>
              <a:gd name="adj" fmla="val 9091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547104" y="4864608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47104" y="497433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13232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Ahorro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7132320" y="521208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¿Conviene partir la compra entre dos super?</a:t>
            </a:r>
            <a:endParaRPr lang="en-US" sz="1160" dirty="0"/>
          </a:p>
        </p:txBody>
      </p:sp>
      <p:sp>
        <p:nvSpPr>
          <p:cNvPr id="39" name="Shape 36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</a:t>
            </a:r>
            <a:endParaRPr lang="en-US" sz="6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vamos a construir en Power BI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Pocas visualizaciones, pero con lectura de negocio clara.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1792224"/>
            <a:ext cx="32186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50976" y="1956816"/>
            <a:ext cx="82296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3584" y="2011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243584" y="22494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de productos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243584" y="270662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 rápido para abrir lectura.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4498848" y="1792224"/>
            <a:ext cx="32186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26864" y="1956816"/>
            <a:ext cx="82296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9472" y="2011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919472" y="22494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Ahorro promedio %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4919472" y="270662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 rápido para abrir lectura.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174736" y="1792224"/>
            <a:ext cx="32186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02752" y="1956816"/>
            <a:ext cx="82296" cy="10424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0" y="2011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595360" y="22494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 más barato por categoría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8595360" y="270662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para comparar patrones.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822960" y="3346704"/>
            <a:ext cx="32186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50976" y="3511296"/>
            <a:ext cx="82296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43584" y="35661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243584" y="38039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productos con mayor ahorro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243584" y="426110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para comparar patrones.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4498848" y="3346704"/>
            <a:ext cx="32186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26864" y="3511296"/>
            <a:ext cx="82296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19472" y="35661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Dona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919472" y="38039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Distribución de marcas más baratas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4919472" y="426110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para comparar patrones.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8174736" y="3346704"/>
            <a:ext cx="32186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302752" y="3511296"/>
            <a:ext cx="82296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95360" y="35661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595360" y="38039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 / categoría / marca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8595360" y="426110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para comparar patrones.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1060704" y="5138928"/>
            <a:ext cx="10003536" cy="841248"/>
          </a:xfrm>
          <a:prstGeom prst="roundRect">
            <a:avLst>
              <a:gd name="adj" fmla="val 130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1389888" y="539496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más interesante: ¿en qué super deberías hacer la compra del mes?</a:t>
            </a:r>
            <a:endParaRPr lang="en-US" sz="1640" dirty="0"/>
          </a:p>
        </p:txBody>
      </p:sp>
      <p:sp>
        <p:nvSpPr>
          <p:cNvPr id="41" name="Shape 38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43" name="Shape 40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68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data-dashboard-monitor.jpg">    </p:cNvPr>
          <p:cNvPicPr>
            <a:picLocks noChangeAspect="1"/>
          </p:cNvPicPr>
          <p:nvPr/>
        </p:nvPicPr>
        <p:blipFill>
          <a:blip r:embed="rId1"/>
          <a:srcRect l="0" r="0" t="12499" b="1249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49808" y="888797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47318" y="713232"/>
            <a:ext cx="175565" cy="63642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88720" y="888797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408176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EN VIVO 3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68096" y="1426464"/>
            <a:ext cx="52852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Abrimos Power BI.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Cargamos datos.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Miramos el negocio.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822960" y="30906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foco no es hacer un dashboard enorme. Es mostrar cómo los datos cambian la conversación.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931920"/>
            <a:ext cx="2487168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4005072"/>
            <a:ext cx="2304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acción: cargar CSV y filtrar</a:t>
            </a:r>
            <a:endParaRPr lang="en-US" sz="840" dirty="0"/>
          </a:p>
        </p:txBody>
      </p:sp>
      <p:sp>
        <p:nvSpPr>
          <p:cNvPr id="13" name="Shape 9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6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DEL DASHBOARD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gráfico a decisión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aparece cuando traducimos visualizaciones en acciones.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1828800"/>
            <a:ext cx="495604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9264" y="1993392"/>
            <a:ext cx="82296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048256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225296" y="2286000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Unimarc lidera en abarrotes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1225296" y="2578608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Hacer ahí la compra base del mes.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6291072" y="1828800"/>
            <a:ext cx="495604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19088" y="1993392"/>
            <a:ext cx="82296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2048256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675120" y="2286000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Lider tiene mejores precios en lácteos</a:t>
            </a:r>
            <a:endParaRPr lang="en-US" sz="1480" dirty="0"/>
          </a:p>
        </p:txBody>
      </p:sp>
      <p:sp>
        <p:nvSpPr>
          <p:cNvPr id="18" name="Text 15"/>
          <p:cNvSpPr/>
          <p:nvPr/>
        </p:nvSpPr>
        <p:spPr>
          <a:xfrm>
            <a:off x="6675120" y="2578608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Sumar un viaje específico para ese rubro.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841248" y="3273552"/>
            <a:ext cx="495604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69264" y="3438144"/>
            <a:ext cx="82296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25296" y="349300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3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225296" y="373075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la diferencia promedio supera 15%</a:t>
            </a:r>
            <a:endParaRPr lang="en-US" sz="1480" dirty="0"/>
          </a:p>
        </p:txBody>
      </p:sp>
      <p:sp>
        <p:nvSpPr>
          <p:cNvPr id="23" name="Text 20"/>
          <p:cNvSpPr/>
          <p:nvPr/>
        </p:nvSpPr>
        <p:spPr>
          <a:xfrm>
            <a:off x="1225296" y="4023360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 la pena partir la compra entre dos super.</a:t>
            </a:r>
            <a:endParaRPr lang="en-US" sz="870" dirty="0"/>
          </a:p>
        </p:txBody>
      </p:sp>
      <p:sp>
        <p:nvSpPr>
          <p:cNvPr id="24" name="Shape 21"/>
          <p:cNvSpPr/>
          <p:nvPr/>
        </p:nvSpPr>
        <p:spPr>
          <a:xfrm>
            <a:off x="6291072" y="3273552"/>
            <a:ext cx="495604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19088" y="3438144"/>
            <a:ext cx="82296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75120" y="349300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4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675120" y="373075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una marca cambia de precio bruscamente</a:t>
            </a:r>
            <a:endParaRPr lang="en-US" sz="1480" dirty="0"/>
          </a:p>
        </p:txBody>
      </p:sp>
      <p:sp>
        <p:nvSpPr>
          <p:cNvPr id="28" name="Text 25"/>
          <p:cNvSpPr/>
          <p:nvPr/>
        </p:nvSpPr>
        <p:spPr>
          <a:xfrm>
            <a:off x="6675120" y="4023360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Avisar al usuario antes de que compre.</a:t>
            </a:r>
            <a:endParaRPr lang="en-US" sz="870" dirty="0"/>
          </a:p>
        </p:txBody>
      </p:sp>
      <p:sp>
        <p:nvSpPr>
          <p:cNvPr id="29" name="Text 26"/>
          <p:cNvSpPr/>
          <p:nvPr/>
        </p:nvSpPr>
        <p:spPr>
          <a:xfrm>
            <a:off x="932688" y="517550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dashboard no decide solo. Ayuda a ver dónde conviene actuar.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</a:t>
            </a:r>
            <a:endParaRPr lang="en-US" sz="6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DEL BLOQUE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idea ya tiene modelo de negocio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solo una web: es una herramienta que puede ahorrarle plata a cualquier familia de Osorno.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retail-receipts-laptop.jpg">    </p:cNvPr>
          <p:cNvPicPr>
            <a:picLocks noChangeAspect="1"/>
          </p:cNvPicPr>
          <p:nvPr/>
        </p:nvPicPr>
        <p:blipFill>
          <a:blip r:embed="rId2"/>
          <a:srcRect l="17867" r="17867" t="0" b="0"/>
          <a:stretch/>
        </p:blipFill>
        <p:spPr>
          <a:xfrm>
            <a:off x="786384" y="1719072"/>
            <a:ext cx="4160520" cy="43159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40096" y="1847088"/>
            <a:ext cx="5413248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68112" y="2011680"/>
            <a:ext cx="82296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60720" y="206654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760720" y="23042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pregunta cotidiana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5760720" y="2706624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super conviene comprar lo de la semana?</a:t>
            </a:r>
            <a:endParaRPr lang="en-US" sz="940" dirty="0"/>
          </a:p>
        </p:txBody>
      </p:sp>
      <p:sp>
        <p:nvSpPr>
          <p:cNvPr id="15" name="Shape 11"/>
          <p:cNvSpPr/>
          <p:nvPr/>
        </p:nvSpPr>
        <p:spPr>
          <a:xfrm>
            <a:off x="5340096" y="3493008"/>
            <a:ext cx="541324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68112" y="3657600"/>
            <a:ext cx="82296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60720" y="37124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760720" y="39502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app que decide por ti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5760720" y="4389120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precios reales y te dice dónde comprar para ahorrar más.</a:t>
            </a:r>
            <a:endParaRPr lang="en-US" sz="940" dirty="0"/>
          </a:p>
        </p:txBody>
      </p:sp>
      <p:sp>
        <p:nvSpPr>
          <p:cNvPr id="20" name="Text 16"/>
          <p:cNvSpPr/>
          <p:nvPr/>
        </p:nvSpPr>
        <p:spPr>
          <a:xfrm>
            <a:off x="5376672" y="537667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producto ya no solo se ve bien: empieza a explicar el negocio.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23" name="Shape 19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6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10896"/>
            <a:ext cx="128016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1552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32004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57607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superior técnico-profesional</a:t>
            </a:r>
            <a:endParaRPr lang="en-US" sz="380" dirty="0"/>
          </a:p>
        </p:txBody>
      </p:sp>
      <p:sp>
        <p:nvSpPr>
          <p:cNvPr id="7" name="Shape 5"/>
          <p:cNvSpPr/>
          <p:nvPr/>
        </p:nvSpPr>
        <p:spPr>
          <a:xfrm>
            <a:off x="786384" y="903427"/>
            <a:ext cx="142646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0354" y="713232"/>
            <a:ext cx="190195" cy="6894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1872" y="903427"/>
            <a:ext cx="142646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7132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135331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acabamos de construir</a:t>
            </a:r>
            <a:endParaRPr lang="en-US" sz="3100" dirty="0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1353312" cy="950976"/>
          </a:xfrm>
          <a:prstGeom prst="roundRect">
            <a:avLst>
              <a:gd name="adj" fmla="val 11538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98448" y="2889504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299923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32688" y="3401568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194560" y="3218688"/>
            <a:ext cx="365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15184" y="2743200"/>
            <a:ext cx="1353312" cy="950976"/>
          </a:xfrm>
          <a:prstGeom prst="roundRect">
            <a:avLst>
              <a:gd name="adj" fmla="val 11538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90672" y="2889504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299923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24912" y="3401568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IA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986784" y="3218688"/>
            <a:ext cx="365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07408" y="2743200"/>
            <a:ext cx="1353312" cy="950976"/>
          </a:xfrm>
          <a:prstGeom prst="roundRect">
            <a:avLst>
              <a:gd name="adj" fmla="val 11538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82896" y="2889504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299923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17136" y="3401568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779008" y="3218688"/>
            <a:ext cx="365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99632" y="2743200"/>
            <a:ext cx="1353312" cy="950976"/>
          </a:xfrm>
          <a:prstGeom prst="roundRect">
            <a:avLst>
              <a:gd name="adj" fmla="val 11538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75120" y="2889504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299923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3401568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571232" y="3218688"/>
            <a:ext cx="365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991856" y="2743200"/>
            <a:ext cx="1353312" cy="950976"/>
          </a:xfrm>
          <a:prstGeom prst="roundRect">
            <a:avLst>
              <a:gd name="adj" fmla="val 11538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67344" y="2889504"/>
            <a:ext cx="411480" cy="4114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67344" y="299923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101584" y="3401568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9363456" y="3218688"/>
            <a:ext cx="365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84080" y="2743200"/>
            <a:ext cx="1353312" cy="950976"/>
          </a:xfrm>
          <a:prstGeom prst="roundRect">
            <a:avLst>
              <a:gd name="adj" fmla="val 11538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259568" y="2889504"/>
            <a:ext cx="411480" cy="4114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59568" y="299923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893808" y="3401568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914400" y="49926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fue una herramienta aislada. Fue una cadena de creación digital.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371600" y="55046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Diseñar, programar, capturar datos y decidir: ese es el tipo de problema que se aprende a resolver estudiando tecnología.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6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1190" y="411480"/>
            <a:ext cx="153619" cy="5568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565099"/>
            <a:ext cx="115214" cy="40325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931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HAY DETRÁS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Programar no es solo escribir código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parte interesante es conectar intención, herramientas y criterio.</a:t>
            </a:r>
            <a:endParaRPr lang="en-US" sz="10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1828800"/>
            <a:ext cx="331012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50976" y="1993392"/>
            <a:ext cx="82296" cy="22311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2048256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261872" y="228600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de producto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261872" y="2944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una idea en una experiencia que alguien pueda usar.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4443984" y="1828800"/>
            <a:ext cx="331012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993392"/>
            <a:ext cx="82296" cy="22311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82896" y="2048256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82896" y="228600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882896" y="2944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esa experiencia en archivos, lógica e interacción real.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8065008" y="1828800"/>
            <a:ext cx="331012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193024" y="1993392"/>
            <a:ext cx="82296" cy="22311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03920" y="2048256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503920" y="228600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503920" y="2944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lo que ocurre y usarlo para mejorar el negocio.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914400" y="52303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acelera. El criterio técnico dirige.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658368" y="6455664"/>
            <a:ext cx="1086307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652881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 + Web + Power BI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11137392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137392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68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young-coders-neon-cafe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10896"/>
            <a:ext cx="512064" cy="2926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49808" y="888797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47318" y="713232"/>
            <a:ext cx="175565" cy="63642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88720" y="888797"/>
            <a:ext cx="131674" cy="4608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408176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FINAL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68096" y="1444752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pudieras crear una solución así,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¿para qué negocio la harías?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822960" y="3182112"/>
            <a:ext cx="1042416" cy="310896"/>
          </a:xfrm>
          <a:prstGeom prst="roundRect">
            <a:avLst>
              <a:gd name="adj" fmla="val 235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3255264"/>
            <a:ext cx="859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barbería</a:t>
            </a:r>
            <a:endParaRPr lang="en-US" sz="840" dirty="0"/>
          </a:p>
        </p:txBody>
      </p:sp>
      <p:sp>
        <p:nvSpPr>
          <p:cNvPr id="12" name="Shape 8"/>
          <p:cNvSpPr/>
          <p:nvPr/>
        </p:nvSpPr>
        <p:spPr>
          <a:xfrm>
            <a:off x="2066544" y="3182112"/>
            <a:ext cx="1042416" cy="310896"/>
          </a:xfrm>
          <a:prstGeom prst="roundRect">
            <a:avLst>
              <a:gd name="adj" fmla="val 2352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157984" y="3255264"/>
            <a:ext cx="859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cafetería</a:t>
            </a:r>
            <a:endParaRPr lang="en-US" sz="840" dirty="0"/>
          </a:p>
        </p:txBody>
      </p:sp>
      <p:sp>
        <p:nvSpPr>
          <p:cNvPr id="14" name="Shape 10"/>
          <p:cNvSpPr/>
          <p:nvPr/>
        </p:nvSpPr>
        <p:spPr>
          <a:xfrm>
            <a:off x="3310128" y="3182112"/>
            <a:ext cx="1042416" cy="310896"/>
          </a:xfrm>
          <a:prstGeom prst="roundRect">
            <a:avLst>
              <a:gd name="adj" fmla="val 2352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01568" y="3255264"/>
            <a:ext cx="859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gimnasio</a:t>
            </a:r>
            <a:endParaRPr lang="en-US" sz="840" dirty="0"/>
          </a:p>
        </p:txBody>
      </p:sp>
      <p:sp>
        <p:nvSpPr>
          <p:cNvPr id="16" name="Shape 12"/>
          <p:cNvSpPr/>
          <p:nvPr/>
        </p:nvSpPr>
        <p:spPr>
          <a:xfrm>
            <a:off x="4553712" y="3182112"/>
            <a:ext cx="1042416" cy="310896"/>
          </a:xfrm>
          <a:prstGeom prst="roundRect">
            <a:avLst>
              <a:gd name="adj" fmla="val 2352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45152" y="3255264"/>
            <a:ext cx="859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tienda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5797296" y="3182112"/>
            <a:ext cx="1042416" cy="310896"/>
          </a:xfrm>
          <a:prstGeom prst="roundRect">
            <a:avLst>
              <a:gd name="adj" fmla="val 2352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88736" y="3255264"/>
            <a:ext cx="859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emprendimiento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822960" y="52303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punto no es copiar este ejemplo. Es ver que una idea puede convertirse en producto.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</a:t>
            </a:r>
            <a:endParaRPr lang="en-US" sz="6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10896"/>
            <a:ext cx="128016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1552" y="420624"/>
            <a:ext cx="128016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32004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57607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superior técnico-profesional</a:t>
            </a:r>
            <a:endParaRPr lang="en-US" sz="380" dirty="0"/>
          </a:p>
        </p:txBody>
      </p:sp>
      <p:sp>
        <p:nvSpPr>
          <p:cNvPr id="7" name="Shape 5"/>
          <p:cNvSpPr/>
          <p:nvPr/>
        </p:nvSpPr>
        <p:spPr>
          <a:xfrm>
            <a:off x="786384" y="997793"/>
            <a:ext cx="144841" cy="50694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3645" y="804672"/>
            <a:ext cx="193121" cy="70006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9187" y="997793"/>
            <a:ext cx="144841" cy="50694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8046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577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próxima app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ser tuya.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1248" y="31272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te interesa crear productos, automatizar procesos, trabajar con IA, construir sitios o entender datos, programación es un camino que vale la pena mirar en serio.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39712" y="1353312"/>
            <a:ext cx="3895344" cy="4005072"/>
          </a:xfrm>
          <a:prstGeom prst="roundRect">
            <a:avLst>
              <a:gd name="adj" fmla="val 2817"/>
            </a:avLst>
          </a:prstGeom>
          <a:solidFill>
            <a:srgbClr val="10243A"/>
          </a:solidFill>
          <a:ln w="12700">
            <a:solidFill>
              <a:srgbClr val="1D3852"/>
            </a:solidFill>
            <a:prstDash val="solid"/>
          </a:ln>
          <a:effectLst>
            <a:outerShdw sx="100000" sy="100000" kx="0" ky="0" algn="bl" rotWithShape="0" blurRad="25400" dist="50800" dir="2700000">
              <a:srgbClr val="D9D0C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68896" y="1700784"/>
            <a:ext cx="91440" cy="2834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166420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82128" y="1645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Pensar una idea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82128" y="199339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un problema cercano.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479792" y="2688336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2128" y="26700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 una versión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82128" y="301752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IA, código y criterio.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7479792" y="3712464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2128" y="36941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 lo que pasa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82128" y="404164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datos para mejorar.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7498080" y="4736592"/>
            <a:ext cx="2578608" cy="384048"/>
          </a:xfrm>
          <a:prstGeom prst="roundRect">
            <a:avLst>
              <a:gd name="adj" fmla="val 28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4873752"/>
            <a:ext cx="22494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próxima demo puede partir hoy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41248" y="51023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· construir · medir · mejorar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1082528" y="6455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082528" y="65151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IA, desarrollo web y Power BI: de una idea a un producto digital</dc:title>
  <dc:subject>Charla 4to medio</dc:subject>
  <dc:creator>Diego Obando</dc:creator>
  <cp:lastModifiedBy>Diego Obando</cp:lastModifiedBy>
  <cp:revision>1</cp:revision>
  <dcterms:created xsi:type="dcterms:W3CDTF">2026-05-03T17:54:53Z</dcterms:created>
  <dcterms:modified xsi:type="dcterms:W3CDTF">2026-05-03T17:54:53Z</dcterms:modified>
</cp:coreProperties>
</file>